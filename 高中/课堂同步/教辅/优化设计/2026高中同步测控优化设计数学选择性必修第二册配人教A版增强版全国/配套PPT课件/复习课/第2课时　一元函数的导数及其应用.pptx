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1"/>
  </p:notesMasterIdLst>
  <p:sldIdLst>
    <p:sldId id="677" r:id="rId2"/>
    <p:sldId id="488" r:id="rId3"/>
    <p:sldId id="392" r:id="rId4"/>
    <p:sldId id="686" r:id="rId5"/>
    <p:sldId id="765" r:id="rId6"/>
    <p:sldId id="766" r:id="rId7"/>
    <p:sldId id="767" r:id="rId8"/>
    <p:sldId id="768" r:id="rId9"/>
    <p:sldId id="769" r:id="rId10"/>
    <p:sldId id="770" r:id="rId11"/>
    <p:sldId id="407" r:id="rId12"/>
    <p:sldId id="394" r:id="rId13"/>
    <p:sldId id="699" r:id="rId14"/>
    <p:sldId id="700" r:id="rId15"/>
    <p:sldId id="701" r:id="rId16"/>
    <p:sldId id="702" r:id="rId17"/>
    <p:sldId id="706" r:id="rId18"/>
    <p:sldId id="707" r:id="rId19"/>
    <p:sldId id="710" r:id="rId20"/>
    <p:sldId id="711" r:id="rId21"/>
    <p:sldId id="771" r:id="rId22"/>
    <p:sldId id="772" r:id="rId23"/>
    <p:sldId id="773" r:id="rId24"/>
    <p:sldId id="774" r:id="rId25"/>
    <p:sldId id="775" r:id="rId26"/>
    <p:sldId id="776" r:id="rId27"/>
    <p:sldId id="777" r:id="rId28"/>
    <p:sldId id="778" r:id="rId29"/>
    <p:sldId id="779" r:id="rId30"/>
    <p:sldId id="780" r:id="rId31"/>
    <p:sldId id="781" r:id="rId32"/>
    <p:sldId id="782" r:id="rId33"/>
    <p:sldId id="783" r:id="rId34"/>
    <p:sldId id="784" r:id="rId35"/>
    <p:sldId id="402" r:id="rId36"/>
    <p:sldId id="810" r:id="rId37"/>
    <p:sldId id="811" r:id="rId38"/>
    <p:sldId id="825" r:id="rId39"/>
    <p:sldId id="826" r:id="rId40"/>
    <p:sldId id="812" r:id="rId41"/>
    <p:sldId id="815" r:id="rId42"/>
    <p:sldId id="828" r:id="rId43"/>
    <p:sldId id="829" r:id="rId44"/>
    <p:sldId id="827" r:id="rId45"/>
    <p:sldId id="816" r:id="rId46"/>
    <p:sldId id="819" r:id="rId47"/>
    <p:sldId id="831" r:id="rId48"/>
    <p:sldId id="832" r:id="rId49"/>
    <p:sldId id="833" r:id="rId50"/>
    <p:sldId id="714" r:id="rId51"/>
    <p:sldId id="821" r:id="rId52"/>
    <p:sldId id="715" r:id="rId53"/>
    <p:sldId id="830" r:id="rId54"/>
    <p:sldId id="834" r:id="rId55"/>
    <p:sldId id="835" r:id="rId56"/>
    <p:sldId id="719" r:id="rId57"/>
    <p:sldId id="720" r:id="rId58"/>
    <p:sldId id="721" r:id="rId59"/>
    <p:sldId id="822" r:id="rId60"/>
    <p:sldId id="799" r:id="rId61"/>
    <p:sldId id="800" r:id="rId62"/>
    <p:sldId id="801" r:id="rId63"/>
    <p:sldId id="823" r:id="rId64"/>
    <p:sldId id="824" r:id="rId65"/>
    <p:sldId id="802" r:id="rId66"/>
    <p:sldId id="803" r:id="rId67"/>
    <p:sldId id="804" r:id="rId68"/>
    <p:sldId id="805" r:id="rId69"/>
    <p:sldId id="490" r:id="rId7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14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23"/>
        <p:guide pos="211"/>
        <p:guide orient="horz" pos="414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2024-07-17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5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hlinkClick r:id="rId2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知识网络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圆角矩形 2">
            <a:hlinkClick r:id="rId3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要点梳理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专题整合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高考体验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package" Target="../embeddings/Microsoft_Word___2.docx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package" Target="../embeddings/Microsoft_Word___3.docx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Word___9.docx"/><Relationship Id="rId4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13.docx"/><Relationship Id="rId4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__15.docx"/><Relationship Id="rId4" Type="http://schemas.openxmlformats.org/officeDocument/2006/relationships/image" Target="../media/image1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emf"/><Relationship Id="rId5" Type="http://schemas.openxmlformats.org/officeDocument/2006/relationships/package" Target="../embeddings/Microsoft_Word___17.docx"/><Relationship Id="rId4" Type="http://schemas.openxmlformats.org/officeDocument/2006/relationships/image" Target="../media/image17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package" Target="../embeddings/Microsoft_Word___18.docx"/><Relationship Id="rId7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Word___19.docx"/><Relationship Id="rId4" Type="http://schemas.openxmlformats.org/officeDocument/2006/relationships/image" Target="../media/image1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2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package" Target="../embeddings/Microsoft_Word___22.docx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Word___23.docx"/><Relationship Id="rId4" Type="http://schemas.openxmlformats.org/officeDocument/2006/relationships/image" Target="../media/image22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5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7.emf"/><Relationship Id="rId5" Type="http://schemas.openxmlformats.org/officeDocument/2006/relationships/package" Target="../embeddings/Microsoft_Word___27.docx"/><Relationship Id="rId4" Type="http://schemas.openxmlformats.org/officeDocument/2006/relationships/image" Target="../media/image2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9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Word___31.docx"/><Relationship Id="rId4" Type="http://schemas.openxmlformats.org/officeDocument/2006/relationships/image" Target="../media/image30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2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3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5.emf"/><Relationship Id="rId5" Type="http://schemas.openxmlformats.org/officeDocument/2006/relationships/package" Target="../embeddings/Microsoft_Word___35.docx"/><Relationship Id="rId4" Type="http://schemas.openxmlformats.org/officeDocument/2006/relationships/image" Target="../media/image34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7.emf"/><Relationship Id="rId5" Type="http://schemas.openxmlformats.org/officeDocument/2006/relationships/package" Target="../embeddings/Microsoft_Word___37.docx"/><Relationship Id="rId4" Type="http://schemas.openxmlformats.org/officeDocument/2006/relationships/image" Target="../media/image36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38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39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40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42.emf"/><Relationship Id="rId5" Type="http://schemas.openxmlformats.org/officeDocument/2006/relationships/package" Target="../embeddings/Microsoft_Word___42.docx"/><Relationship Id="rId4" Type="http://schemas.openxmlformats.org/officeDocument/2006/relationships/image" Target="../media/image4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43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44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45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46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48.emf"/><Relationship Id="rId5" Type="http://schemas.openxmlformats.org/officeDocument/2006/relationships/package" Target="../embeddings/Microsoft_Word___48.docx"/><Relationship Id="rId4" Type="http://schemas.openxmlformats.org/officeDocument/2006/relationships/image" Target="../media/image47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49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50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51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52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54.emf"/><Relationship Id="rId5" Type="http://schemas.openxmlformats.org/officeDocument/2006/relationships/package" Target="../embeddings/Microsoft_Word___54.docx"/><Relationship Id="rId4" Type="http://schemas.openxmlformats.org/officeDocument/2006/relationships/image" Target="../media/image53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55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56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57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58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59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60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62.emf"/><Relationship Id="rId5" Type="http://schemas.openxmlformats.org/officeDocument/2006/relationships/package" Target="../embeddings/Microsoft_Word___62.docx"/><Relationship Id="rId4" Type="http://schemas.openxmlformats.org/officeDocument/2006/relationships/image" Target="../media/image61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64.emf"/><Relationship Id="rId5" Type="http://schemas.openxmlformats.org/officeDocument/2006/relationships/package" Target="../embeddings/Microsoft_Word___64.docx"/><Relationship Id="rId4" Type="http://schemas.openxmlformats.org/officeDocument/2006/relationships/image" Target="../media/image63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66.emf"/><Relationship Id="rId5" Type="http://schemas.openxmlformats.org/officeDocument/2006/relationships/package" Target="../embeddings/Microsoft_Word___66.docx"/><Relationship Id="rId4" Type="http://schemas.openxmlformats.org/officeDocument/2006/relationships/image" Target="../media/image65.e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67.e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68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一元函数的导数及其应用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复习课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973601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3540178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2066067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知识梳理 构建体系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3650925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专题归纳 核心突破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知识梳理 构建体系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知识网络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310152"/>
              </p:ext>
            </p:extLst>
          </p:nvPr>
        </p:nvGraphicFramePr>
        <p:xfrm>
          <a:off x="-31173" y="849891"/>
          <a:ext cx="11275153" cy="5100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3" name="文档" r:id="rId3" imgW="4510061" imgH="2040196" progId="Word.Document.12">
                  <p:embed/>
                </p:oleObj>
              </mc:Choice>
              <mc:Fallback>
                <p:oleObj name="文档" r:id="rId3" imgW="4510061" imgH="20401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31173" y="849891"/>
                        <a:ext cx="11275153" cy="5100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要点梳理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8882" y="591393"/>
            <a:ext cx="11752118" cy="4694083"/>
            <a:chOff x="58882" y="591393"/>
            <a:chExt cx="11752118" cy="469408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91393"/>
              <a:ext cx="9178795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的平均变化率的表达式是什么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1024759"/>
                </p:ext>
              </p:extLst>
            </p:nvPr>
          </p:nvGraphicFramePr>
          <p:xfrm>
            <a:off x="58882" y="1088014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82" y="1088014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1994917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处的导数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也称为瞬时变化率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的表达式是什么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4386667"/>
                </p:ext>
              </p:extLst>
            </p:nvPr>
          </p:nvGraphicFramePr>
          <p:xfrm>
            <a:off x="58882" y="2559050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3" name="文档" r:id="rId5" imgW="4510061" imgH="396786" progId="Word.Document.12">
                    <p:embed/>
                  </p:oleObj>
                </mc:Choice>
                <mc:Fallback>
                  <p:oleObj name="文档" r:id="rId5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882" y="2559050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3512683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导数的几何意义是什么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导数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的几何意义是</a:t>
              </a:r>
              <a:r>
                <a:rPr lang="zh-CN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曲线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在点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))</a:t>
              </a:r>
              <a:r>
                <a:rPr lang="zh-CN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处的切线的斜率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基本初等函数的导数公式有哪些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 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4317099" y="4162547"/>
            <a:ext cx="618811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4328739" y="4599507"/>
            <a:ext cx="61621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563268"/>
              </p:ext>
            </p:extLst>
          </p:nvPr>
        </p:nvGraphicFramePr>
        <p:xfrm>
          <a:off x="381000" y="5255897"/>
          <a:ext cx="11430000" cy="124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" name="文档" r:id="rId7" imgW="4510061" imgH="490193" progId="Word.Document.12">
                  <p:embed/>
                </p:oleObj>
              </mc:Choice>
              <mc:Fallback>
                <p:oleObj name="文档" r:id="rId7" imgW="4510061" imgH="4901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000" y="5255897"/>
                        <a:ext cx="11430000" cy="1242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5969223" y="5194140"/>
            <a:ext cx="61864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931677" y="5190779"/>
            <a:ext cx="72540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0007071" y="5190780"/>
            <a:ext cx="80130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127655" y="5808234"/>
            <a:ext cx="81740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841397" y="5808235"/>
            <a:ext cx="27878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44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518800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导数的运算法则有哪些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+f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419360"/>
              </p:ext>
            </p:extLst>
          </p:nvPr>
        </p:nvGraphicFramePr>
        <p:xfrm>
          <a:off x="41564" y="2211540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2211540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3127397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为常数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的单调性与导函数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的正负之间具有怎样的关系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某个区间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在某个区间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27289" y="1165235"/>
            <a:ext cx="173041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738929" y="1612586"/>
            <a:ext cx="17231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394780" y="1727714"/>
            <a:ext cx="265520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406420" y="2164674"/>
            <a:ext cx="26440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844061" y="2362756"/>
            <a:ext cx="3382565" cy="708388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1855702" y="3077059"/>
            <a:ext cx="33683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453143" y="3217128"/>
            <a:ext cx="83679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3464783" y="3654088"/>
            <a:ext cx="8332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374571" y="4339347"/>
            <a:ext cx="112221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4386212" y="4776307"/>
            <a:ext cx="11175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9871361" y="4868304"/>
            <a:ext cx="140277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9883002" y="5305264"/>
            <a:ext cx="13968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65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5" grpId="0" animBg="1"/>
      <p:bldP spid="18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59638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函数的极值与极值点的概念是什么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一般用什么方法求函数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x=a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比它在点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附近其他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函数值都小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而且在点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附近的左侧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类似地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x=b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比它在点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附近其他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函数值都大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而且在点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左侧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右侧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的极大值点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的极大值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极小值点、极大值点统称为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极小值和极大值统称为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极值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12434" y="2655986"/>
            <a:ext cx="140138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724103" y="3092946"/>
            <a:ext cx="13954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429907" y="2655986"/>
            <a:ext cx="104115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441576" y="3092946"/>
            <a:ext cx="10367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239595" y="3778205"/>
            <a:ext cx="113628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251311" y="4215165"/>
            <a:ext cx="11315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9203477" y="3778205"/>
            <a:ext cx="113628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9215193" y="4215165"/>
            <a:ext cx="11315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033678" y="4885391"/>
            <a:ext cx="104934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5045213" y="5322351"/>
            <a:ext cx="10449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9723982" y="4885391"/>
            <a:ext cx="70481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9735588" y="5322351"/>
            <a:ext cx="7018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32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14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06418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可按如下方法求函数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附近的左侧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左侧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右侧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95581" y="2697551"/>
            <a:ext cx="103421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8807221" y="3134511"/>
            <a:ext cx="10298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233972" y="3264919"/>
            <a:ext cx="113812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245612" y="3701879"/>
            <a:ext cx="1133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197854" y="3264919"/>
            <a:ext cx="113812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6209494" y="3701879"/>
            <a:ext cx="1133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8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0389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上的最大值与最小值的步骤是怎样的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的各极值与区间端点处的函数值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其中最大的一个是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最小的一个是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解决实际问题的基本思路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用函数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实际问题的答案</a:t>
            </a:r>
            <a:r>
              <a:rPr lang="en-US" altLang="zh-CN" sz="2800" dirty="0">
                <a:solidFill>
                  <a:srgbClr val="000000"/>
                </a:solidFill>
                <a:latin typeface="NEU-BZ-S92"/>
                <a:ea typeface="NEU-BZ-S92"/>
                <a:cs typeface="Times New Roman" panose="02020603050405020304" pitchFamily="18" charset="0"/>
              </a:rPr>
              <a:t>←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用导数解决数学问题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84789" y="1138916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596429" y="1586267"/>
            <a:ext cx="7067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906508" y="2250743"/>
            <a:ext cx="104440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918192" y="2698094"/>
            <a:ext cx="10400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184814" y="2250743"/>
            <a:ext cx="105485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5196520" y="2698094"/>
            <a:ext cx="10504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73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56656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函数在闭区间上的极大值就是最大值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在闭区间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上连续的函数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必存在最大值与最小值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在开区间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内连续的函数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若只有某一点处存在极大值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或极小值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在该点处取得最大值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或最小值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7256699" y="2115263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9846599" y="2653146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7842002" y="3776413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0780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专题归纳 核心突破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专题整合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942540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专题一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导数的几何意义及其应用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求函数的图象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的切线方程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处的切线斜率为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y'|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所以函数的图象在点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218337"/>
              </p:ext>
            </p:extLst>
          </p:nvPr>
        </p:nvGraphicFramePr>
        <p:xfrm>
          <a:off x="48490" y="341726"/>
          <a:ext cx="11430000" cy="5431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9" name="文档" r:id="rId3" imgW="4510061" imgH="2142978" progId="Word.Document.12">
                  <p:embed/>
                </p:oleObj>
              </mc:Choice>
              <mc:Fallback>
                <p:oleObj name="文档" r:id="rId3" imgW="4510061" imgH="21429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90" y="341726"/>
                        <a:ext cx="11430000" cy="54310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明确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的切线方程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处的曲线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的切线方程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的异同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围绕切点有三个关系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一是切点在曲线上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二是切点在切线上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三是曲线所对应的函数在切点的横坐标处的导数等于切线的斜率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这三个关系在求解与切线有关的参数问题中经常用到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68284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所以曲线在点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处切线的斜率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所以切点的坐标为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(1,6),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所以切线的方程为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215392"/>
              </p:ext>
            </p:extLst>
          </p:nvPr>
        </p:nvGraphicFramePr>
        <p:xfrm>
          <a:off x="3073134" y="2010161"/>
          <a:ext cx="527417" cy="829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文档" r:id="rId3" imgW="262691" imgH="397868" progId="Word.Document.12">
                  <p:embed/>
                </p:oleObj>
              </mc:Choice>
              <mc:Fallback>
                <p:oleObj name="文档" r:id="rId3" imgW="262691" imgH="3978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3134" y="2010161"/>
                        <a:ext cx="527417" cy="8291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8883" y="122874"/>
            <a:ext cx="11430000" cy="1525401"/>
            <a:chOff x="58883" y="185220"/>
            <a:chExt cx="11430000" cy="152540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85220"/>
              <a:ext cx="6311343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专题二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利用导数判断函数的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单调性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1777477"/>
                </p:ext>
              </p:extLst>
            </p:nvPr>
          </p:nvGraphicFramePr>
          <p:xfrm>
            <a:off x="58883" y="705033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8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83" y="705033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>
            <a:spLocks noChangeAspect="1"/>
          </p:cNvSpPr>
          <p:nvPr/>
        </p:nvSpPr>
        <p:spPr>
          <a:xfrm>
            <a:off x="381000" y="149507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&lt;k&lt;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四种情况讨论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8883" y="2616264"/>
            <a:ext cx="11752117" cy="3613485"/>
            <a:chOff x="58883" y="2678610"/>
            <a:chExt cx="11752117" cy="3613485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4191455"/>
                </p:ext>
              </p:extLst>
            </p:nvPr>
          </p:nvGraphicFramePr>
          <p:xfrm>
            <a:off x="58883" y="2678610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9" name="文档" r:id="rId5" imgW="4510061" imgH="794654" progId="Word.Document.12">
                    <p:embed/>
                  </p:oleObj>
                </mc:Choice>
                <mc:Fallback>
                  <p:oleObj name="文档" r:id="rId5" imgW="4510061" imgH="7946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883" y="2678610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4519302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的单调递增区间是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单调递减区间是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858248"/>
              </p:ext>
            </p:extLst>
          </p:nvPr>
        </p:nvGraphicFramePr>
        <p:xfrm>
          <a:off x="33338" y="570202"/>
          <a:ext cx="11401425" cy="459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" name="文档" r:id="rId3" imgW="4510061" imgH="1822412" progId="Word.Document.12">
                  <p:embed/>
                </p:oleObj>
              </mc:Choice>
              <mc:Fallback>
                <p:oleObj name="文档" r:id="rId3" imgW="4510061" imgH="18224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38" y="570202"/>
                        <a:ext cx="11401425" cy="4594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329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4450" y="683060"/>
            <a:ext cx="11766550" cy="4253294"/>
            <a:chOff x="44450" y="662278"/>
            <a:chExt cx="11766550" cy="4253294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8647678"/>
                </p:ext>
              </p:extLst>
            </p:nvPr>
          </p:nvGraphicFramePr>
          <p:xfrm>
            <a:off x="44450" y="662278"/>
            <a:ext cx="11401425" cy="3305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5" name="文档" r:id="rId3" imgW="4510061" imgH="1310656" progId="Word.Document.12">
                    <p:embed/>
                  </p:oleObj>
                </mc:Choice>
                <mc:Fallback>
                  <p:oleObj name="文档" r:id="rId3" imgW="4510061" imgH="131065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450" y="662278"/>
                          <a:ext cx="11401425" cy="33051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702932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借助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导数研究函数的单调性是近几年高考的一个重点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集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分类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讨论、数形结合于一体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769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360477"/>
              </p:ext>
            </p:extLst>
          </p:nvPr>
        </p:nvGraphicFramePr>
        <p:xfrm>
          <a:off x="41564" y="195704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2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195704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55563" y="1111395"/>
            <a:ext cx="11755437" cy="4674826"/>
            <a:chOff x="55563" y="1111395"/>
            <a:chExt cx="11755437" cy="4674826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5596000"/>
                </p:ext>
              </p:extLst>
            </p:nvPr>
          </p:nvGraphicFramePr>
          <p:xfrm>
            <a:off x="55563" y="1111395"/>
            <a:ext cx="11401425" cy="3548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3" name="文档" r:id="rId5" imgW="4510061" imgH="1407329" progId="Word.Document.12">
                    <p:embed/>
                  </p:oleObj>
                </mc:Choice>
                <mc:Fallback>
                  <p:oleObj name="文档" r:id="rId5" imgW="4510061" imgH="140732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5563" y="1111395"/>
                          <a:ext cx="11401425" cy="35480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81000" y="4573581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有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对其余的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都有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递增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425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070035"/>
              </p:ext>
            </p:extLst>
          </p:nvPr>
        </p:nvGraphicFramePr>
        <p:xfrm>
          <a:off x="51955" y="64650"/>
          <a:ext cx="11430000" cy="2211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文档" r:id="rId3" imgW="4510061" imgH="875741" progId="Word.Document.12">
                  <p:embed/>
                </p:oleObj>
              </mc:Choice>
              <mc:Fallback>
                <p:oleObj name="文档" r:id="rId3" imgW="4510061" imgH="8757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64650"/>
                        <a:ext cx="11430000" cy="2211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26757129"/>
              </p:ext>
            </p:extLst>
          </p:nvPr>
        </p:nvGraphicFramePr>
        <p:xfrm>
          <a:off x="381000" y="2255069"/>
          <a:ext cx="11430000" cy="1536192"/>
        </p:xfrm>
        <a:graphic>
          <a:graphicData uri="http://schemas.openxmlformats.org/drawingml/2006/table">
            <a:tbl>
              <a:tblPr firstRow="1" firstCol="1" bandRow="1"/>
              <a:tblGrid>
                <a:gridCol w="1677924"/>
                <a:gridCol w="1702585"/>
                <a:gridCol w="1511531"/>
                <a:gridCol w="2420874"/>
                <a:gridCol w="2063150"/>
                <a:gridCol w="2053936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(0,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+∞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极大值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极小值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629084"/>
              </p:ext>
            </p:extLst>
          </p:nvPr>
        </p:nvGraphicFramePr>
        <p:xfrm>
          <a:off x="55563" y="3833813"/>
          <a:ext cx="8272462" cy="304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文档" r:id="rId5" imgW="3279584" imgH="1207658" progId="Word.Document.12">
                  <p:embed/>
                </p:oleObj>
              </mc:Choice>
              <mc:Fallback>
                <p:oleObj name="文档" r:id="rId5" imgW="3279584" imgH="12076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563" y="3833813"/>
                        <a:ext cx="8272462" cy="3040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0593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81000" y="607649"/>
            <a:ext cx="11430000" cy="1272459"/>
            <a:chOff x="381000" y="1184060"/>
            <a:chExt cx="11430000" cy="1272459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1243879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zh-CN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递增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的取值范围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5223867"/>
                </p:ext>
              </p:extLst>
            </p:nvPr>
          </p:nvGraphicFramePr>
          <p:xfrm>
            <a:off x="4693916" y="1184060"/>
            <a:ext cx="554968" cy="829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4" name="文档" r:id="rId3" imgW="272258" imgH="397868" progId="Word.Document.12">
                    <p:embed/>
                  </p:oleObj>
                </mc:Choice>
                <mc:Fallback>
                  <p:oleObj name="文档" r:id="rId3" imgW="272258" imgH="39786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693916" y="1184060"/>
                          <a:ext cx="554968" cy="8291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51955" y="1754483"/>
            <a:ext cx="11759045" cy="3154256"/>
            <a:chOff x="51955" y="2330894"/>
            <a:chExt cx="11759045" cy="3154256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6686298"/>
                </p:ext>
              </p:extLst>
            </p:nvPr>
          </p:nvGraphicFramePr>
          <p:xfrm>
            <a:off x="51955" y="2330894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5" name="文档" r:id="rId5" imgW="4510061" imgH="396786" progId="Word.Document.12">
                    <p:embed/>
                  </p:oleObj>
                </mc:Choice>
                <mc:Fallback>
                  <p:oleObj name="文档" r:id="rId5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955" y="2330894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81000" y="3152204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递增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恒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恒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成立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实数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,16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235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77623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函数的单调性求参数的取值范围的两种思路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转化为不等式在某区间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成立问题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用分离参数求最值或函数的性质求解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注意验证使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的参数是否符合题意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构造关于参数的不等式求解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求得用参数表示的单调区间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结合所给区间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利用区间端点列不等式求参数的取值范围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43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1898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991284"/>
              </p:ext>
            </p:extLst>
          </p:nvPr>
        </p:nvGraphicFramePr>
        <p:xfrm>
          <a:off x="4971362" y="62528"/>
          <a:ext cx="1119122" cy="829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3" name="文档" r:id="rId3" imgW="545551" imgH="397868" progId="Word.Document.12">
                  <p:embed/>
                </p:oleObj>
              </mc:Choice>
              <mc:Fallback>
                <p:oleObj name="文档" r:id="rId3" imgW="545551" imgH="3978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71362" y="62528"/>
                        <a:ext cx="1119122" cy="8291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58882" y="1272261"/>
            <a:ext cx="11752118" cy="5289195"/>
            <a:chOff x="58882" y="1272261"/>
            <a:chExt cx="11752118" cy="5289195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0126291"/>
                </p:ext>
              </p:extLst>
            </p:nvPr>
          </p:nvGraphicFramePr>
          <p:xfrm>
            <a:off x="58882" y="1272261"/>
            <a:ext cx="11430000" cy="26139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44" name="文档" r:id="rId5" imgW="4510061" imgH="1031428" progId="Word.Document.12">
                    <p:embed/>
                  </p:oleObj>
                </mc:Choice>
                <mc:Fallback>
                  <p:oleObj name="文档" r:id="rId5" imgW="4510061" imgH="103142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882" y="1272261"/>
                          <a:ext cx="11430000" cy="261398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791938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1,1]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恒成立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为二次函数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其图象为一开口向上的抛物线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7587973"/>
                </p:ext>
              </p:extLst>
            </p:nvPr>
          </p:nvGraphicFramePr>
          <p:xfrm>
            <a:off x="58882" y="5555868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45" name="文档" r:id="rId7" imgW="4510061" imgH="396786" progId="Word.Document.12">
                    <p:embed/>
                  </p:oleObj>
                </mc:Choice>
                <mc:Fallback>
                  <p:oleObj name="文档" r:id="rId7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882" y="5555868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5597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5764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专题三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利用导数求函数的极值和最值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恒成立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试确定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情况</a:t>
            </a:r>
            <a:endParaRPr lang="en-US" altLang="zh-CN" sz="2800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如下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表所示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的极大值是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极小值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1003"/>
              </p:ext>
            </p:extLst>
          </p:nvPr>
        </p:nvGraphicFramePr>
        <p:xfrm>
          <a:off x="1832801" y="1769495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8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2801" y="1769495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表格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064087376"/>
              </p:ext>
            </p:extLst>
          </p:nvPr>
        </p:nvGraphicFramePr>
        <p:xfrm>
          <a:off x="5805056" y="3410147"/>
          <a:ext cx="6019798" cy="2562661"/>
        </p:xfrm>
        <a:graphic>
          <a:graphicData uri="http://schemas.openxmlformats.org/drawingml/2006/table">
            <a:tbl>
              <a:tblPr firstRow="1" firstCol="1" bandRow="1"/>
              <a:tblGrid>
                <a:gridCol w="741216"/>
                <a:gridCol w="1153391"/>
                <a:gridCol w="737755"/>
                <a:gridCol w="1070263"/>
                <a:gridCol w="1163782"/>
                <a:gridCol w="1153391"/>
              </a:tblGrid>
              <a:tr h="820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-∞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1,3)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(3,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+∞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035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</a:t>
                      </a:r>
                      <a:endParaRPr lang="en-US" altLang="zh-CN" sz="280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递增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极大值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</a:t>
                      </a:r>
                      <a:endParaRPr lang="en-US" altLang="zh-CN" sz="280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递减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极小值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</a:t>
                      </a:r>
                      <a:endParaRPr lang="en-US" altLang="zh-CN" sz="280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递增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42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8490" y="54264"/>
            <a:ext cx="11762510" cy="6687464"/>
            <a:chOff x="48490" y="54264"/>
            <a:chExt cx="11762510" cy="668746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4264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的图象是一条开口向上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且对称轴为直线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x=a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的抛物线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[1,4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上单调递增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[1,4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上的最小值为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最大值为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7896317"/>
                </p:ext>
              </p:extLst>
            </p:nvPr>
          </p:nvGraphicFramePr>
          <p:xfrm>
            <a:off x="980746" y="1113525"/>
            <a:ext cx="527178" cy="753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20" name="文档" r:id="rId3" imgW="285035" imgH="397130" progId="Word.Document.12">
                    <p:embed/>
                  </p:oleObj>
                </mc:Choice>
                <mc:Fallback>
                  <p:oleObj name="文档" r:id="rId3" imgW="285035" imgH="39713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80746" y="1113525"/>
                          <a:ext cx="527178" cy="7537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9866206"/>
                </p:ext>
              </p:extLst>
            </p:nvPr>
          </p:nvGraphicFramePr>
          <p:xfrm>
            <a:off x="48490" y="2812281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21" name="文档" r:id="rId5" imgW="4510061" imgH="793212" progId="Word.Document.12">
                    <p:embed/>
                  </p:oleObj>
                </mc:Choice>
                <mc:Fallback>
                  <p:oleObj name="文档" r:id="rId5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490" y="2812281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4604555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[1,4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不恒成立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4910190"/>
                </p:ext>
              </p:extLst>
            </p:nvPr>
          </p:nvGraphicFramePr>
          <p:xfrm>
            <a:off x="48490" y="5736140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22" name="文档" r:id="rId7" imgW="4510061" imgH="396786" progId="Word.Document.12">
                    <p:embed/>
                  </p:oleObj>
                </mc:Choice>
                <mc:Fallback>
                  <p:oleObj name="文档" r:id="rId7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490" y="5736140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0705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3154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极值和最值是两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个不同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的概念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前者是函数的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局部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性质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而后者是函数的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整体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性质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另函数有极值未必有最值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反之亦然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判断函数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是否存在时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务必把握以下原则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的定义域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检验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的根的两侧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的符号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若左正右负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在此根处取得极大值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若左负右正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在此根处取得极小值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339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4841"/>
            <a:ext cx="11430000" cy="67539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的图象上一点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处的切线与直线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的解析式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](0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上的最大值和最小值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的结论下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[1,3]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上恰有两个相异的实根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处的切线斜率为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又因为函数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03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26955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且不恒等于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f‘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的变化情况如下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中较大的一个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93595389"/>
              </p:ext>
            </p:extLst>
          </p:nvPr>
        </p:nvGraphicFramePr>
        <p:xfrm>
          <a:off x="5202383" y="3689904"/>
          <a:ext cx="6269182" cy="1536192"/>
        </p:xfrm>
        <a:graphic>
          <a:graphicData uri="http://schemas.openxmlformats.org/drawingml/2006/table">
            <a:tbl>
              <a:tblPr firstRow="1" firstCol="1" bandRow="1"/>
              <a:tblGrid>
                <a:gridCol w="741217"/>
                <a:gridCol w="436418"/>
                <a:gridCol w="1704109"/>
                <a:gridCol w="571500"/>
                <a:gridCol w="1537855"/>
                <a:gridCol w="1278083"/>
              </a:tblGrid>
              <a:tr h="43925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(0,2)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(2,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5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NEU-BZ-S92"/>
                          <a:ea typeface="方正书宋_GBK" panose="03000509000000000000" pitchFamily="65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NEU-BZ-S92"/>
                          <a:ea typeface="方正书宋_GBK" panose="03000509000000000000" pitchFamily="65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5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28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2800" baseline="30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06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9273" y="289211"/>
            <a:ext cx="11741727" cy="5491047"/>
            <a:chOff x="69273" y="455467"/>
            <a:chExt cx="11741727" cy="549104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55467"/>
              <a:ext cx="11430000" cy="345325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-c=x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舍去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[1,2)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g'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1,2)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递减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(2,3]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(2,3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递增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的极小值点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要使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[1,3]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上恰有两个相异的实根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9986835"/>
                </p:ext>
              </p:extLst>
            </p:nvPr>
          </p:nvGraphicFramePr>
          <p:xfrm>
            <a:off x="69273" y="3817274"/>
            <a:ext cx="11430000" cy="1507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25" name="文档" r:id="rId3" imgW="4510061" imgH="594999" progId="Word.Document.12">
                    <p:embed/>
                  </p:oleObj>
                </mc:Choice>
                <mc:Fallback>
                  <p:oleObj name="文档" r:id="rId3" imgW="4510061" imgH="59499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9273" y="3817274"/>
                          <a:ext cx="11430000" cy="15079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5294028"/>
              <a:ext cx="484619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故实数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2,0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62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3388" y="604981"/>
            <a:ext cx="11767612" cy="3216310"/>
            <a:chOff x="43388" y="594591"/>
            <a:chExt cx="11767612" cy="321631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94591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专题四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利用导数证明不等式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处的切线方程为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的值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5793781"/>
                </p:ext>
              </p:extLst>
            </p:nvPr>
          </p:nvGraphicFramePr>
          <p:xfrm>
            <a:off x="4089020" y="1068680"/>
            <a:ext cx="1721323" cy="829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45" name="文档" r:id="rId3" imgW="835603" imgH="397868" progId="Word.Document.12">
                    <p:embed/>
                  </p:oleObj>
                </mc:Choice>
                <mc:Fallback>
                  <p:oleObj name="文档" r:id="rId3" imgW="835603" imgH="39786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89020" y="1068680"/>
                          <a:ext cx="1721323" cy="8291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2197350"/>
                </p:ext>
              </p:extLst>
            </p:nvPr>
          </p:nvGraphicFramePr>
          <p:xfrm>
            <a:off x="43388" y="2805313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46" name="文档" r:id="rId5" imgW="4510061" imgH="396786" progId="Word.Document.12">
                    <p:embed/>
                  </p:oleObj>
                </mc:Choice>
                <mc:Fallback>
                  <p:oleObj name="文档" r:id="rId5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388" y="2805313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81000" y="367581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再根据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列方程组求解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构造函数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利用导数证明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2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588613"/>
              </p:ext>
            </p:extLst>
          </p:nvPr>
        </p:nvGraphicFramePr>
        <p:xfrm>
          <a:off x="51955" y="558072"/>
          <a:ext cx="11430000" cy="462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4" name="文档" r:id="rId3" imgW="4510061" imgH="1824641" progId="Word.Document.12">
                  <p:embed/>
                </p:oleObj>
              </mc:Choice>
              <mc:Fallback>
                <p:oleObj name="文档" r:id="rId3" imgW="4510061" imgH="18246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558072"/>
                        <a:ext cx="11430000" cy="462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576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726550"/>
              </p:ext>
            </p:extLst>
          </p:nvPr>
        </p:nvGraphicFramePr>
        <p:xfrm>
          <a:off x="51955" y="65232"/>
          <a:ext cx="11430000" cy="6634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0" name="文档" r:id="rId3" imgW="4510061" imgH="2620736" progId="Word.Document.12">
                  <p:embed/>
                </p:oleObj>
              </mc:Choice>
              <mc:Fallback>
                <p:oleObj name="文档" r:id="rId3" imgW="4510061" imgH="26207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955" y="65232"/>
                        <a:ext cx="11430000" cy="66345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19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导数解决不等式问题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证明不等式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比较大小等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其实质就是利用导数研究函数的单调性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而证明不等式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或比较大小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常与函数的最值问题有关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解决该类问题通常是先构造一个函数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再考察这个函数的单调性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最后结合给定的区间和函数在该区间端点的函数值使问题得以解决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0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116715"/>
              </p:ext>
            </p:extLst>
          </p:nvPr>
        </p:nvGraphicFramePr>
        <p:xfrm>
          <a:off x="48491" y="330790"/>
          <a:ext cx="11430000" cy="10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7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91" y="330790"/>
                        <a:ext cx="11430000" cy="10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297963"/>
              </p:ext>
            </p:extLst>
          </p:nvPr>
        </p:nvGraphicFramePr>
        <p:xfrm>
          <a:off x="79663" y="1284423"/>
          <a:ext cx="11430000" cy="4216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8" name="文档" r:id="rId5" imgW="4510061" imgH="1663926" progId="Word.Document.12">
                  <p:embed/>
                </p:oleObj>
              </mc:Choice>
              <mc:Fallback>
                <p:oleObj name="文档" r:id="rId5" imgW="4510061" imgH="16639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663" y="1284423"/>
                        <a:ext cx="11430000" cy="4216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177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高考体验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705838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考点一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导数的几何意义的</a:t>
            </a: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</a:t>
            </a:r>
            <a:endParaRPr lang="en-US" altLang="zh-CN" sz="2800" dirty="0" smtClean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新高考</a:t>
            </a:r>
            <a:r>
              <a:rPr lang="zh-CN" altLang="zh-CN" sz="2800" i="1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可以作曲线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的两条切线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B.e</a:t>
            </a:r>
            <a:r>
              <a:rPr lang="en-US" altLang="zh-CN" sz="2800" i="1" baseline="30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&lt;a&lt;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&lt;b&lt;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289709"/>
              </p:ext>
            </p:extLst>
          </p:nvPr>
        </p:nvGraphicFramePr>
        <p:xfrm>
          <a:off x="468815" y="2988902"/>
          <a:ext cx="11275153" cy="271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3" name="文档" r:id="rId3" imgW="4510061" imgH="1085325" progId="Word.Document.12">
                  <p:embed/>
                </p:oleObj>
              </mc:Choice>
              <mc:Fallback>
                <p:oleObj name="文档" r:id="rId3" imgW="4510061" imgH="10853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815" y="2988902"/>
                        <a:ext cx="11275153" cy="2713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3154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有两个交点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x=a.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内单调递减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处取得极大值也即最大值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)→0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)→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在同一直角坐标系内作出函数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&lt;b&lt;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57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3154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(2020·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处的切线方程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由导数的几何意义知在点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所以切线方程为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化简得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08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51955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(2022·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新高考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有两条过坐标原点的切线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由题意可得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226651"/>
              </p:ext>
            </p:extLst>
          </p:nvPr>
        </p:nvGraphicFramePr>
        <p:xfrm>
          <a:off x="479206" y="1799892"/>
          <a:ext cx="11275153" cy="4114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4" name="文档" r:id="rId3" imgW="4510061" imgH="1645957" progId="Word.Document.12">
                  <p:embed/>
                </p:oleObj>
              </mc:Choice>
              <mc:Fallback>
                <p:oleObj name="文档" r:id="rId3" imgW="4510061" imgH="16459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1799892"/>
                        <a:ext cx="11275153" cy="41148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1000" y="5807065"/>
            <a:ext cx="3466013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490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18324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(2022·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新高考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经过坐标原点的两条切线方程分别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512014"/>
              </p:ext>
            </p:extLst>
          </p:nvPr>
        </p:nvGraphicFramePr>
        <p:xfrm>
          <a:off x="479206" y="1761326"/>
          <a:ext cx="11275153" cy="294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8" name="文档" r:id="rId3" imgW="4510061" imgH="1178045" progId="Word.Document.12">
                  <p:embed/>
                </p:oleObj>
              </mc:Choice>
              <mc:Fallback>
                <p:oleObj name="文档" r:id="rId3" imgW="4510061" imgH="11780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1761326"/>
                        <a:ext cx="11275153" cy="294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290554"/>
              </p:ext>
            </p:extLst>
          </p:nvPr>
        </p:nvGraphicFramePr>
        <p:xfrm>
          <a:off x="479206" y="4685657"/>
          <a:ext cx="11275153" cy="649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9" name="文档" r:id="rId5" imgW="4510061" imgH="259831" progId="Word.Document.12">
                  <p:embed/>
                </p:oleObj>
              </mc:Choice>
              <mc:Fallback>
                <p:oleObj name="文档" r:id="rId5" imgW="4510061" imgH="2598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206" y="4685657"/>
                        <a:ext cx="11275153" cy="649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062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181886"/>
              </p:ext>
            </p:extLst>
          </p:nvPr>
        </p:nvGraphicFramePr>
        <p:xfrm>
          <a:off x="484188" y="1559938"/>
          <a:ext cx="1123791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0" name="文档" r:id="rId3" imgW="4510061" imgH="304394" progId="Word.Document.12">
                  <p:embed/>
                </p:oleObj>
              </mc:Choice>
              <mc:Fallback>
                <p:oleObj name="文档" r:id="rId3" imgW="4510061" imgH="3043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188" y="1559938"/>
                        <a:ext cx="11237912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111868"/>
              </p:ext>
            </p:extLst>
          </p:nvPr>
        </p:nvGraphicFramePr>
        <p:xfrm>
          <a:off x="479206" y="2242327"/>
          <a:ext cx="11275153" cy="814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1" name="文档" r:id="rId5" imgW="4510061" imgH="325957" progId="Word.Document.12">
                  <p:embed/>
                </p:oleObj>
              </mc:Choice>
              <mc:Fallback>
                <p:oleObj name="文档" r:id="rId5" imgW="4510061" imgH="3259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206" y="2242327"/>
                        <a:ext cx="11275153" cy="8148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02604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所以切线方程为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293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293546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考点二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利用导数判断函数的单调性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(2022·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新高考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317836"/>
              </p:ext>
            </p:extLst>
          </p:nvPr>
        </p:nvGraphicFramePr>
        <p:xfrm>
          <a:off x="479206" y="2644947"/>
          <a:ext cx="11275153" cy="699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9" name="文档" r:id="rId3" imgW="4510061" imgH="279956" progId="Word.Document.12">
                  <p:embed/>
                </p:oleObj>
              </mc:Choice>
              <mc:Fallback>
                <p:oleObj name="文档" r:id="rId3" imgW="4510061" imgH="2799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2644947"/>
                        <a:ext cx="11275153" cy="699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81000" y="3344837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单调递增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38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5559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=g'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472869"/>
              </p:ext>
            </p:extLst>
          </p:nvPr>
        </p:nvGraphicFramePr>
        <p:xfrm>
          <a:off x="479206" y="1830425"/>
          <a:ext cx="11275153" cy="4659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4" name="文档" r:id="rId3" imgW="4510061" imgH="1863741" progId="Word.Document.12">
                  <p:embed/>
                </p:oleObj>
              </mc:Choice>
              <mc:Fallback>
                <p:oleObj name="文档" r:id="rId3" imgW="4510061" imgH="18637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1830425"/>
                        <a:ext cx="11275153" cy="46593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400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076317"/>
              </p:ext>
            </p:extLst>
          </p:nvPr>
        </p:nvGraphicFramePr>
        <p:xfrm>
          <a:off x="479206" y="999574"/>
          <a:ext cx="11275153" cy="3720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7" name="文档" r:id="rId3" imgW="4510061" imgH="1488189" progId="Word.Document.12">
                  <p:embed/>
                </p:oleObj>
              </mc:Choice>
              <mc:Fallback>
                <p:oleObj name="文档" r:id="rId3" imgW="4510061" imgH="14881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999574"/>
                        <a:ext cx="11275153" cy="37204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322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338302"/>
            <a:ext cx="11430000" cy="1804853"/>
            <a:chOff x="381000" y="733160"/>
            <a:chExt cx="11430000" cy="1804853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8549880"/>
                </p:ext>
              </p:extLst>
            </p:nvPr>
          </p:nvGraphicFramePr>
          <p:xfrm>
            <a:off x="479206" y="733160"/>
            <a:ext cx="11275153" cy="722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22" name="文档" r:id="rId3" imgW="4510061" imgH="288941" progId="Word.Document.12">
                    <p:embed/>
                  </p:oleObj>
                </mc:Choice>
                <mc:Fallback>
                  <p:oleObj name="文档" r:id="rId3" imgW="4510061" imgH="28894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9206" y="733160"/>
                          <a:ext cx="11275153" cy="72235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1385646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的单调区间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有且仅有两个交点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的取值范围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25338"/>
              </p:ext>
            </p:extLst>
          </p:nvPr>
        </p:nvGraphicFramePr>
        <p:xfrm>
          <a:off x="479206" y="2217594"/>
          <a:ext cx="11275153" cy="3804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3" name="文档" r:id="rId5" imgW="4510061" imgH="1521971" progId="Word.Document.12">
                  <p:embed/>
                </p:oleObj>
              </mc:Choice>
              <mc:Fallback>
                <p:oleObj name="文档" r:id="rId5" imgW="4510061" imgH="15219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206" y="2217594"/>
                        <a:ext cx="11275153" cy="38049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686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79357"/>
              </p:ext>
            </p:extLst>
          </p:nvPr>
        </p:nvGraphicFramePr>
        <p:xfrm>
          <a:off x="479206" y="595891"/>
          <a:ext cx="11275153" cy="4477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4" name="文档" r:id="rId3" imgW="4510061" imgH="1791146" progId="Word.Document.12">
                  <p:embed/>
                </p:oleObj>
              </mc:Choice>
              <mc:Fallback>
                <p:oleObj name="文档" r:id="rId3" imgW="4510061" imgH="17911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595891"/>
                        <a:ext cx="11275153" cy="44778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836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81000" y="1630156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新高考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651590"/>
              </p:ext>
            </p:extLst>
          </p:nvPr>
        </p:nvGraphicFramePr>
        <p:xfrm>
          <a:off x="479206" y="2699395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1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2699395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570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19798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对任意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恒成立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在定义域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上为减函数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的变化如下表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综上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在定义域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上为减函数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内单调递减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838667"/>
              </p:ext>
            </p:extLst>
          </p:nvPr>
        </p:nvGraphicFramePr>
        <p:xfrm>
          <a:off x="4605917" y="1282628"/>
          <a:ext cx="497360" cy="745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98" name="文档" r:id="rId3" imgW="271543" imgH="398906" progId="Word.Document.12">
                  <p:embed/>
                </p:oleObj>
              </mc:Choice>
              <mc:Fallback>
                <p:oleObj name="文档" r:id="rId3" imgW="271543" imgH="3989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05917" y="1282628"/>
                        <a:ext cx="497360" cy="745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表格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271550863"/>
              </p:ext>
            </p:extLst>
          </p:nvPr>
        </p:nvGraphicFramePr>
        <p:xfrm>
          <a:off x="381000" y="4304977"/>
          <a:ext cx="11430000" cy="1536192"/>
        </p:xfrm>
        <a:graphic>
          <a:graphicData uri="http://schemas.openxmlformats.org/drawingml/2006/table">
            <a:tbl>
              <a:tblPr firstRow="1" firstCol="1" bandRow="1"/>
              <a:tblGrid>
                <a:gridCol w="2857500"/>
                <a:gridCol w="2857500"/>
                <a:gridCol w="2857500"/>
                <a:gridCol w="2857500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-∞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ln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ln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ln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+∞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极小值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036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128040"/>
              </p:ext>
            </p:extLst>
          </p:nvPr>
        </p:nvGraphicFramePr>
        <p:xfrm>
          <a:off x="479206" y="191737"/>
          <a:ext cx="11275153" cy="5751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3" name="文档" r:id="rId3" imgW="4510061" imgH="2300712" progId="Word.Document.12">
                  <p:embed/>
                </p:oleObj>
              </mc:Choice>
              <mc:Fallback>
                <p:oleObj name="文档" r:id="rId3" imgW="4510061" imgH="23007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191737"/>
                        <a:ext cx="11275153" cy="5751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5943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57677"/>
              </p:ext>
            </p:extLst>
          </p:nvPr>
        </p:nvGraphicFramePr>
        <p:xfrm>
          <a:off x="387069" y="169860"/>
          <a:ext cx="11417863" cy="3379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0" name="文档" r:id="rId3" imgW="4567145" imgH="1351813" progId="Word.Document.12">
                  <p:embed/>
                </p:oleObj>
              </mc:Choice>
              <mc:Fallback>
                <p:oleObj name="文档" r:id="rId3" imgW="4567145" imgH="13518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7069" y="169860"/>
                        <a:ext cx="11417863" cy="3379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65426"/>
              </p:ext>
            </p:extLst>
          </p:nvPr>
        </p:nvGraphicFramePr>
        <p:xfrm>
          <a:off x="479206" y="2610480"/>
          <a:ext cx="11275153" cy="396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1" name="文档" r:id="rId5" imgW="4510061" imgH="1586785" progId="Word.Document.12">
                  <p:embed/>
                </p:oleObj>
              </mc:Choice>
              <mc:Fallback>
                <p:oleObj name="文档" r:id="rId5" imgW="4510061" imgH="1586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206" y="2610480"/>
                        <a:ext cx="11275153" cy="3966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9215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12538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考点三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利用导数判断函数的极值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(2021·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乙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的极大值点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)[(2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740947"/>
              </p:ext>
            </p:extLst>
          </p:nvPr>
        </p:nvGraphicFramePr>
        <p:xfrm>
          <a:off x="468815" y="4057732"/>
          <a:ext cx="11275153" cy="2092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5" name="文档" r:id="rId3" imgW="4510061" imgH="836994" progId="Word.Document.12">
                  <p:embed/>
                </p:oleObj>
              </mc:Choice>
              <mc:Fallback>
                <p:oleObj name="文档" r:id="rId3" imgW="4510061" imgH="836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815" y="4057732"/>
                        <a:ext cx="11275153" cy="2092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936227"/>
              </p:ext>
            </p:extLst>
          </p:nvPr>
        </p:nvGraphicFramePr>
        <p:xfrm>
          <a:off x="468815" y="423471"/>
          <a:ext cx="11275153" cy="4644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7" name="文档" r:id="rId3" imgW="4510061" imgH="1857631" progId="Word.Document.12">
                  <p:embed/>
                </p:oleObj>
              </mc:Choice>
              <mc:Fallback>
                <p:oleObj name="文档" r:id="rId3" imgW="4510061" imgH="18576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815" y="423471"/>
                        <a:ext cx="11275153" cy="46440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4979466"/>
            <a:ext cx="1351652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162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81000" y="1288685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)(2022·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新高考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有两个极值点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有三个零点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的对称中心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的切线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09920" y="1405143"/>
            <a:ext cx="6832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AC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054682"/>
              </p:ext>
            </p:extLst>
          </p:nvPr>
        </p:nvGraphicFramePr>
        <p:xfrm>
          <a:off x="479206" y="42748"/>
          <a:ext cx="11275153" cy="4054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77" name="文档" r:id="rId3" imgW="4510061" imgH="1621879" progId="Word.Document.12">
                  <p:embed/>
                </p:oleObj>
              </mc:Choice>
              <mc:Fallback>
                <p:oleObj name="文档" r:id="rId3" imgW="4510061" imgH="16218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42748"/>
                        <a:ext cx="11275153" cy="40546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952436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的对称中心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不相切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20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32528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)(2023·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新高考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既有极大值也有极小值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	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	D.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870979"/>
              </p:ext>
            </p:extLst>
          </p:nvPr>
        </p:nvGraphicFramePr>
        <p:xfrm>
          <a:off x="7506999" y="1462088"/>
          <a:ext cx="102552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1" name="文档" r:id="rId3" imgW="418175" imgH="398949" progId="Word.Document.12">
                  <p:embed/>
                </p:oleObj>
              </mc:Choice>
              <mc:Fallback>
                <p:oleObj name="文档" r:id="rId3" imgW="418175" imgH="3989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06999" y="1462088"/>
                        <a:ext cx="1025525" cy="992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1627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83804"/>
              </p:ext>
            </p:extLst>
          </p:nvPr>
        </p:nvGraphicFramePr>
        <p:xfrm>
          <a:off x="479206" y="171633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96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171633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079723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既有极大值也有极小值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上有两个不同的零点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即一元二次方程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有两个不同的正实数根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211527"/>
              </p:ext>
            </p:extLst>
          </p:nvPr>
        </p:nvGraphicFramePr>
        <p:xfrm>
          <a:off x="479206" y="2221699"/>
          <a:ext cx="11275153" cy="198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97" name="文档" r:id="rId5" imgW="4510061" imgH="793212" progId="Word.Document.12">
                  <p:embed/>
                </p:oleObj>
              </mc:Choice>
              <mc:Fallback>
                <p:oleObj name="文档" r:id="rId5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206" y="2221699"/>
                        <a:ext cx="11275153" cy="1983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12160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,B,C,D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315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1794602"/>
            <a:ext cx="11543868" cy="2074033"/>
            <a:chOff x="381000" y="2112240"/>
            <a:chExt cx="11543868" cy="207403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112240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2019·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全国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Ⅰ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高考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 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的导数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证明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7209943"/>
                </p:ext>
              </p:extLst>
            </p:nvPr>
          </p:nvGraphicFramePr>
          <p:xfrm>
            <a:off x="494868" y="2662934"/>
            <a:ext cx="11430000" cy="100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96" name="文档" r:id="rId3" imgW="4510061" imgH="396786" progId="Word.Document.12">
                    <p:embed/>
                  </p:oleObj>
                </mc:Choice>
                <mc:Fallback>
                  <p:oleObj name="文档" r:id="rId3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4868" y="2662934"/>
                          <a:ext cx="11430000" cy="1005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533787"/>
              <a:ext cx="397576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有且仅有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个零点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410973"/>
              </p:ext>
            </p:extLst>
          </p:nvPr>
        </p:nvGraphicFramePr>
        <p:xfrm>
          <a:off x="468815" y="523154"/>
          <a:ext cx="11275153" cy="486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8" name="文档" r:id="rId3" imgW="4510061" imgH="1945320" progId="Word.Document.12">
                  <p:embed/>
                </p:oleObj>
              </mc:Choice>
              <mc:Fallback>
                <p:oleObj name="文档" r:id="rId3" imgW="4510061" imgH="19453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815" y="523154"/>
                        <a:ext cx="11275153" cy="486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53542"/>
            <a:ext cx="11430000" cy="6589424"/>
            <a:chOff x="381000" y="53542"/>
            <a:chExt cx="11430000" cy="658942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53542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的定义域为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内单调递增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内单调递减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内的唯一零点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6748991"/>
                </p:ext>
              </p:extLst>
            </p:nvPr>
          </p:nvGraphicFramePr>
          <p:xfrm>
            <a:off x="473075" y="2367829"/>
            <a:ext cx="11237913" cy="4275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53" name="文档" r:id="rId3" imgW="4510061" imgH="1719630" progId="Word.Document.12">
                    <p:embed/>
                  </p:oleObj>
                </mc:Choice>
                <mc:Fallback>
                  <p:oleObj name="文档" r:id="rId3" imgW="4510061" imgH="171963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3075" y="2367829"/>
                          <a:ext cx="11237913" cy="42751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59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1397289"/>
            <a:ext cx="11430000" cy="2510518"/>
            <a:chOff x="381000" y="1355725"/>
            <a:chExt cx="11430000" cy="2510518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9521946"/>
                </p:ext>
              </p:extLst>
            </p:nvPr>
          </p:nvGraphicFramePr>
          <p:xfrm>
            <a:off x="473075" y="1355725"/>
            <a:ext cx="11237913" cy="1420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6" name="文档" r:id="rId3" imgW="4510061" imgH="573210" progId="Word.Document.12">
                    <p:embed/>
                  </p:oleObj>
                </mc:Choice>
                <mc:Fallback>
                  <p:oleObj name="文档" r:id="rId3" imgW="4510061" imgH="5732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3075" y="1355725"/>
                          <a:ext cx="11237913" cy="14208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713876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内没有零点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综上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有且仅有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个零点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634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484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2018·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Ⅲ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+x+ax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&lt;x&lt;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的极大值点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1000" y="1736188"/>
            <a:ext cx="11533909" cy="4783076"/>
            <a:chOff x="381000" y="1736188"/>
            <a:chExt cx="11533909" cy="4783076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7547894"/>
                </p:ext>
              </p:extLst>
            </p:nvPr>
          </p:nvGraphicFramePr>
          <p:xfrm>
            <a:off x="484909" y="1736188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14" name="文档" r:id="rId3" imgW="4510061" imgH="793212" progId="Word.Document.12">
                    <p:embed/>
                  </p:oleObj>
                </mc:Choice>
                <mc:Fallback>
                  <p:oleObj name="文档" r:id="rId3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909" y="1736188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626164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&lt;x&lt;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且仅当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且仅当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内单调递增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&lt;x&lt;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770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147139"/>
            <a:ext cx="11544299" cy="6326016"/>
            <a:chOff x="381000" y="147139"/>
            <a:chExt cx="11544299" cy="632601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47139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)·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这与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的极大值点矛盾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7391098"/>
                </p:ext>
              </p:extLst>
            </p:nvPr>
          </p:nvGraphicFramePr>
          <p:xfrm>
            <a:off x="495299" y="1278724"/>
            <a:ext cx="11430000" cy="4624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5" name="文档" r:id="rId3" imgW="4510061" imgH="1824641" progId="Word.Document.12">
                    <p:embed/>
                  </p:oleObj>
                </mc:Choice>
                <mc:Fallback>
                  <p:oleObj name="文档" r:id="rId3" imgW="4510061" imgH="182464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5299" y="1278724"/>
                          <a:ext cx="11430000" cy="46242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5820669"/>
              <a:ext cx="4395755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的极大值点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240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315334"/>
            <a:ext cx="11544300" cy="5544605"/>
            <a:chOff x="381000" y="523154"/>
            <a:chExt cx="11544300" cy="554460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23154"/>
              <a:ext cx="7293984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如果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存在根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2850363"/>
                </p:ext>
              </p:extLst>
            </p:nvPr>
          </p:nvGraphicFramePr>
          <p:xfrm>
            <a:off x="495300" y="1113294"/>
            <a:ext cx="11430000" cy="2010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94" name="文档" r:id="rId3" imgW="4510061" imgH="793212" progId="Word.Document.12">
                    <p:embed/>
                  </p:oleObj>
                </mc:Choice>
                <mc:Fallback>
                  <p:oleObj name="文档" r:id="rId3" imgW="4510061" imgH="7932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5300" y="1113294"/>
                          <a:ext cx="11430000" cy="20102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055726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(0,1)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的极大值点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的极大值点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综上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   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9677086"/>
                </p:ext>
              </p:extLst>
            </p:nvPr>
          </p:nvGraphicFramePr>
          <p:xfrm>
            <a:off x="1710683" y="5238585"/>
            <a:ext cx="446075" cy="829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95" name="文档" r:id="rId5" imgW="222591" imgH="397868" progId="Word.Document.12">
                    <p:embed/>
                  </p:oleObj>
                </mc:Choice>
                <mc:Fallback>
                  <p:oleObj name="文档" r:id="rId5" imgW="222591" imgH="39786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10683" y="5238585"/>
                          <a:ext cx="446075" cy="8291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8763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6279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考点四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利用导数判断函数的最值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2021·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乙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的极值点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495433"/>
              </p:ext>
            </p:extLst>
          </p:nvPr>
        </p:nvGraphicFramePr>
        <p:xfrm>
          <a:off x="479206" y="1869972"/>
          <a:ext cx="11275153" cy="751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4" name="文档" r:id="rId3" imgW="4510061" imgH="300441" progId="Word.Document.12">
                  <p:embed/>
                </p:oleObj>
              </mc:Choice>
              <mc:Fallback>
                <p:oleObj name="文档" r:id="rId3" imgW="4510061" imgH="3004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1869972"/>
                        <a:ext cx="11275153" cy="751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381000" y="2546883"/>
            <a:ext cx="11430000" cy="3843609"/>
            <a:chOff x="381000" y="2546883"/>
            <a:chExt cx="11430000" cy="3843609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546883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由题意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的定义域为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a-x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3396176"/>
                </p:ext>
              </p:extLst>
            </p:nvPr>
          </p:nvGraphicFramePr>
          <p:xfrm>
            <a:off x="468815" y="3688859"/>
            <a:ext cx="11275153" cy="2701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15" name="文档" r:id="rId5" imgW="4510061" imgH="1080653" progId="Word.Document.12">
                    <p:embed/>
                  </p:oleObj>
                </mc:Choice>
                <mc:Fallback>
                  <p:oleObj name="文档" r:id="rId5" imgW="4510061" imgH="108065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8815" y="3688859"/>
                          <a:ext cx="11275153" cy="27016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9131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81000" y="126279"/>
            <a:ext cx="11430000" cy="6291554"/>
            <a:chOff x="381000" y="502372"/>
            <a:chExt cx="11430000" cy="6291554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9603409"/>
                </p:ext>
              </p:extLst>
            </p:nvPr>
          </p:nvGraphicFramePr>
          <p:xfrm>
            <a:off x="468815" y="1123685"/>
            <a:ext cx="11275153" cy="813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39" name="文档" r:id="rId3" imgW="4510061" imgH="325238" progId="Word.Document.12">
                    <p:embed/>
                  </p:oleObj>
                </mc:Choice>
                <mc:Fallback>
                  <p:oleObj name="文档" r:id="rId3" imgW="4510061" imgH="32523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68815" y="1123685"/>
                          <a:ext cx="11275153" cy="8130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组合 5"/>
            <p:cNvGrpSpPr/>
            <p:nvPr/>
          </p:nvGrpSpPr>
          <p:grpSpPr>
            <a:xfrm>
              <a:off x="381000" y="502372"/>
              <a:ext cx="11430000" cy="6291554"/>
              <a:chOff x="381000" y="502372"/>
              <a:chExt cx="11430000" cy="6291554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502372"/>
                <a:ext cx="5224507" cy="6524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可知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xf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-x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81000" y="1828126"/>
                <a:ext cx="11430000" cy="171252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因为当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∈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-∞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,0)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∈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(0,1)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所以需证明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x+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令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=x+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x&lt;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5" name="对象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0340762"/>
                  </p:ext>
                </p:extLst>
              </p:nvPr>
            </p:nvGraphicFramePr>
            <p:xfrm>
              <a:off x="468815" y="3540646"/>
              <a:ext cx="11275153" cy="3253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740" name="文档" r:id="rId5" imgW="4510061" imgH="1301312" progId="Word.Document.12">
                      <p:embed/>
                    </p:oleObj>
                  </mc:Choice>
                  <mc:Fallback>
                    <p:oleObj name="文档" r:id="rId5" imgW="4510061" imgH="1301312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68815" y="3540646"/>
                            <a:ext cx="11275153" cy="325328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280661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2019·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Ⅲ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的单调性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是否存在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且最大值为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的所有值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说明理由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70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178405"/>
              </p:ext>
            </p:extLst>
          </p:nvPr>
        </p:nvGraphicFramePr>
        <p:xfrm>
          <a:off x="468815" y="636443"/>
          <a:ext cx="11275153" cy="460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4" name="文档" r:id="rId3" imgW="4510061" imgH="1840381" progId="Word.Document.12">
                  <p:embed/>
                </p:oleObj>
              </mc:Choice>
              <mc:Fallback>
                <p:oleObj name="文档" r:id="rId3" imgW="4510061" imgH="18403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815" y="636443"/>
                        <a:ext cx="11275153" cy="46009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782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667616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满足题设条件的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的最小值为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-a+b.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满足题设条件当且仅当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-a+b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上的最大值为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最小值为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-a+b.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满足题设条件当且仅当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-a+b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81000" y="646834"/>
            <a:ext cx="11430000" cy="3864731"/>
            <a:chOff x="381000" y="1172617"/>
            <a:chExt cx="11430000" cy="3864731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8143341"/>
                </p:ext>
              </p:extLst>
            </p:nvPr>
          </p:nvGraphicFramePr>
          <p:xfrm>
            <a:off x="468815" y="1172617"/>
            <a:ext cx="11275153" cy="2771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07" name="文档" r:id="rId3" imgW="4510061" imgH="1108685" progId="Word.Document.12">
                    <p:embed/>
                  </p:oleObj>
                </mc:Choice>
                <mc:Fallback>
                  <p:oleObj name="文档" r:id="rId3" imgW="4510061" imgH="11086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68815" y="1172617"/>
                          <a:ext cx="11275153" cy="27717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3884981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综上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当且仅当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[0,1]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上的最小值为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最大值为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587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236</TotalTime>
  <Words>3837</Words>
  <Application>Microsoft Office PowerPoint</Application>
  <PresentationFormat>宽屏</PresentationFormat>
  <Paragraphs>330</Paragraphs>
  <Slides>69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69</vt:i4>
      </vt:variant>
    </vt:vector>
  </HeadingPairs>
  <TitlesOfParts>
    <vt:vector size="89" baseType="lpstr">
      <vt:lpstr>NEU-BZ-S92</vt:lpstr>
      <vt:lpstr>Open Sans</vt:lpstr>
      <vt:lpstr>方正书宋_GBK</vt:lpstr>
      <vt:lpstr>方正姚体</vt:lpstr>
      <vt:lpstr>仿宋</vt:lpstr>
      <vt:lpstr>黑体</vt:lpstr>
      <vt:lpstr>华文细黑</vt:lpstr>
      <vt:lpstr>华文新魏</vt:lpstr>
      <vt:lpstr>楷体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115</cp:revision>
  <dcterms:created xsi:type="dcterms:W3CDTF">2021-08-30T08:30:26Z</dcterms:created>
  <dcterms:modified xsi:type="dcterms:W3CDTF">2024-07-17T09:30:04Z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