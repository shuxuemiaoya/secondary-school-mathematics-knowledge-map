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4"/>
  </p:notesMasterIdLst>
  <p:sldIdLst>
    <p:sldId id="677" r:id="rId2"/>
    <p:sldId id="488" r:id="rId3"/>
    <p:sldId id="392" r:id="rId4"/>
    <p:sldId id="686" r:id="rId5"/>
    <p:sldId id="765" r:id="rId6"/>
    <p:sldId id="766" r:id="rId7"/>
    <p:sldId id="767" r:id="rId8"/>
    <p:sldId id="768" r:id="rId9"/>
    <p:sldId id="769" r:id="rId10"/>
    <p:sldId id="770" r:id="rId11"/>
    <p:sldId id="771" r:id="rId12"/>
    <p:sldId id="772" r:id="rId13"/>
    <p:sldId id="773" r:id="rId14"/>
    <p:sldId id="407" r:id="rId15"/>
    <p:sldId id="394" r:id="rId16"/>
    <p:sldId id="699" r:id="rId17"/>
    <p:sldId id="774" r:id="rId18"/>
    <p:sldId id="775" r:id="rId19"/>
    <p:sldId id="776" r:id="rId20"/>
    <p:sldId id="777" r:id="rId21"/>
    <p:sldId id="778" r:id="rId22"/>
    <p:sldId id="779" r:id="rId23"/>
    <p:sldId id="780" r:id="rId24"/>
    <p:sldId id="781" r:id="rId25"/>
    <p:sldId id="782" r:id="rId26"/>
    <p:sldId id="783" r:id="rId27"/>
    <p:sldId id="789" r:id="rId28"/>
    <p:sldId id="784" r:id="rId29"/>
    <p:sldId id="785" r:id="rId30"/>
    <p:sldId id="786" r:id="rId31"/>
    <p:sldId id="787" r:id="rId32"/>
    <p:sldId id="788" r:id="rId33"/>
    <p:sldId id="700" r:id="rId34"/>
    <p:sldId id="701" r:id="rId35"/>
    <p:sldId id="702" r:id="rId36"/>
    <p:sldId id="706" r:id="rId37"/>
    <p:sldId id="707" r:id="rId38"/>
    <p:sldId id="708" r:id="rId39"/>
    <p:sldId id="710" r:id="rId40"/>
    <p:sldId id="711" r:id="rId41"/>
    <p:sldId id="790" r:id="rId42"/>
    <p:sldId id="791" r:id="rId43"/>
    <p:sldId id="792" r:id="rId44"/>
    <p:sldId id="793" r:id="rId45"/>
    <p:sldId id="794" r:id="rId46"/>
    <p:sldId id="795" r:id="rId47"/>
    <p:sldId id="796" r:id="rId48"/>
    <p:sldId id="797" r:id="rId49"/>
    <p:sldId id="798" r:id="rId50"/>
    <p:sldId id="801" r:id="rId51"/>
    <p:sldId id="799" r:id="rId52"/>
    <p:sldId id="800" r:id="rId53"/>
    <p:sldId id="802" r:id="rId54"/>
    <p:sldId id="803" r:id="rId55"/>
    <p:sldId id="804" r:id="rId56"/>
    <p:sldId id="805" r:id="rId57"/>
    <p:sldId id="806" r:id="rId58"/>
    <p:sldId id="807" r:id="rId59"/>
    <p:sldId id="808" r:id="rId60"/>
    <p:sldId id="809" r:id="rId61"/>
    <p:sldId id="810" r:id="rId62"/>
    <p:sldId id="402" r:id="rId63"/>
    <p:sldId id="712" r:id="rId64"/>
    <p:sldId id="811" r:id="rId65"/>
    <p:sldId id="812" r:id="rId66"/>
    <p:sldId id="826" r:id="rId67"/>
    <p:sldId id="813" r:id="rId68"/>
    <p:sldId id="835" r:id="rId69"/>
    <p:sldId id="816" r:id="rId70"/>
    <p:sldId id="827" r:id="rId71"/>
    <p:sldId id="828" r:id="rId72"/>
    <p:sldId id="817" r:id="rId73"/>
    <p:sldId id="820" r:id="rId74"/>
    <p:sldId id="829" r:id="rId75"/>
    <p:sldId id="821" r:id="rId76"/>
    <p:sldId id="830" r:id="rId77"/>
    <p:sldId id="839" r:id="rId78"/>
    <p:sldId id="840" r:id="rId79"/>
    <p:sldId id="841" r:id="rId80"/>
    <p:sldId id="824" r:id="rId81"/>
    <p:sldId id="843" r:id="rId82"/>
    <p:sldId id="842" r:id="rId83"/>
    <p:sldId id="818" r:id="rId84"/>
    <p:sldId id="831" r:id="rId85"/>
    <p:sldId id="832" r:id="rId86"/>
    <p:sldId id="844" r:id="rId87"/>
    <p:sldId id="845" r:id="rId88"/>
    <p:sldId id="846" r:id="rId89"/>
    <p:sldId id="833" r:id="rId90"/>
    <p:sldId id="819" r:id="rId91"/>
    <p:sldId id="834" r:id="rId92"/>
    <p:sldId id="490" r:id="rId9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28"/>
        <p:guide pos="279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image" Target="../media/image47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image" Target="../media/image52.e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image" Target="../media/image54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e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image" Target="../media/image60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e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image" Target="../media/image65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e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image" Target="../media/image69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emf"/></Relationships>
</file>

<file path=ppt/drawings/_rels/vmlDrawing5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image" Target="../media/image77.emf"/></Relationships>
</file>

<file path=ppt/drawings/_rels/vmlDrawing5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image" Target="../media/image79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e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e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e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e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e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emf"/></Relationships>
</file>

<file path=ppt/drawings/_rels/vmlDrawing6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9.emf"/><Relationship Id="rId1" Type="http://schemas.openxmlformats.org/officeDocument/2006/relationships/image" Target="../media/image88.e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e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e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e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e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emf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emf"/></Relationships>
</file>

<file path=ppt/drawings/_rels/vmlDrawing6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e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7.e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2.xml"/><Relationship Id="rId2" Type="http://schemas.openxmlformats.org/officeDocument/2006/relationships/slide" Target="../slides/slide1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hlinkClick r:id="rId2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知识网络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圆角矩形 2">
            <a:hlinkClick r:id="rId3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要点梳理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专题整合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高考体验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9.emf"/><Relationship Id="rId5" Type="http://schemas.openxmlformats.org/officeDocument/2006/relationships/package" Target="../embeddings/Microsoft_Word___7.docx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Word___10.docx"/><Relationship Id="rId4" Type="http://schemas.openxmlformats.org/officeDocument/2006/relationships/image" Target="../media/image12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5.emf"/><Relationship Id="rId5" Type="http://schemas.openxmlformats.org/officeDocument/2006/relationships/package" Target="../embeddings/Microsoft_Word___12.docx"/><Relationship Id="rId4" Type="http://schemas.openxmlformats.org/officeDocument/2006/relationships/image" Target="../media/image1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7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8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0.emf"/><Relationship Id="rId5" Type="http://schemas.openxmlformats.org/officeDocument/2006/relationships/package" Target="../embeddings/Microsoft_Word___17.docx"/><Relationship Id="rId4" Type="http://schemas.openxmlformats.org/officeDocument/2006/relationships/image" Target="../media/image19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2.emf"/><Relationship Id="rId5" Type="http://schemas.openxmlformats.org/officeDocument/2006/relationships/package" Target="../embeddings/Microsoft_Word___19.docx"/><Relationship Id="rId4" Type="http://schemas.openxmlformats.org/officeDocument/2006/relationships/image" Target="../media/image2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5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7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8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9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30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1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3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33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5.emf"/><Relationship Id="rId5" Type="http://schemas.openxmlformats.org/officeDocument/2006/relationships/package" Target="../embeddings/Microsoft_Word___30.docx"/><Relationship Id="rId4" Type="http://schemas.openxmlformats.org/officeDocument/2006/relationships/image" Target="../media/image34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37.emf"/><Relationship Id="rId5" Type="http://schemas.openxmlformats.org/officeDocument/2006/relationships/package" Target="../embeddings/Microsoft_Word___32.docx"/><Relationship Id="rId4" Type="http://schemas.openxmlformats.org/officeDocument/2006/relationships/image" Target="../media/image36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38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39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40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41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43.emf"/><Relationship Id="rId5" Type="http://schemas.openxmlformats.org/officeDocument/2006/relationships/package" Target="../embeddings/Microsoft_Word___38.docx"/><Relationship Id="rId4" Type="http://schemas.openxmlformats.org/officeDocument/2006/relationships/image" Target="../media/image42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45.emf"/><Relationship Id="rId5" Type="http://schemas.openxmlformats.org/officeDocument/2006/relationships/package" Target="../embeddings/Microsoft_Word___40.docx"/><Relationship Id="rId4" Type="http://schemas.openxmlformats.org/officeDocument/2006/relationships/image" Target="../media/image44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46.e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package" Target="../embeddings/Microsoft_Word___42.docx"/><Relationship Id="rId7" Type="http://schemas.openxmlformats.org/officeDocument/2006/relationships/package" Target="../embeddings/Microsoft_Word___4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48.emf"/><Relationship Id="rId5" Type="http://schemas.openxmlformats.org/officeDocument/2006/relationships/package" Target="../embeddings/Microsoft_Word___43.docx"/><Relationship Id="rId4" Type="http://schemas.openxmlformats.org/officeDocument/2006/relationships/image" Target="../media/image47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4.vml"/><Relationship Id="rId4" Type="http://schemas.openxmlformats.org/officeDocument/2006/relationships/image" Target="../media/image50.e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51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53.emf"/><Relationship Id="rId5" Type="http://schemas.openxmlformats.org/officeDocument/2006/relationships/package" Target="../embeddings/Microsoft_Word___48.docx"/><Relationship Id="rId4" Type="http://schemas.openxmlformats.org/officeDocument/2006/relationships/image" Target="../media/image52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55.emf"/><Relationship Id="rId5" Type="http://schemas.openxmlformats.org/officeDocument/2006/relationships/package" Target="../embeddings/Microsoft_Word___50.docx"/><Relationship Id="rId4" Type="http://schemas.openxmlformats.org/officeDocument/2006/relationships/image" Target="../media/image54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package" Target="../embeddings/Microsoft_Word___51.docx"/><Relationship Id="rId7" Type="http://schemas.openxmlformats.org/officeDocument/2006/relationships/package" Target="../embeddings/Microsoft_Word___5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57.emf"/><Relationship Id="rId5" Type="http://schemas.openxmlformats.org/officeDocument/2006/relationships/package" Target="../embeddings/Microsoft_Word___52.docx"/><Relationship Id="rId4" Type="http://schemas.openxmlformats.org/officeDocument/2006/relationships/image" Target="../media/image56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9.vml"/><Relationship Id="rId4" Type="http://schemas.openxmlformats.org/officeDocument/2006/relationships/image" Target="../media/image59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61.emf"/><Relationship Id="rId5" Type="http://schemas.openxmlformats.org/officeDocument/2006/relationships/package" Target="../embeddings/Microsoft_Word___56.docx"/><Relationship Id="rId4" Type="http://schemas.openxmlformats.org/officeDocument/2006/relationships/image" Target="../media/image60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62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8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63.e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3.vml"/><Relationship Id="rId4" Type="http://schemas.openxmlformats.org/officeDocument/2006/relationships/image" Target="../media/image64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66.emf"/><Relationship Id="rId5" Type="http://schemas.openxmlformats.org/officeDocument/2006/relationships/package" Target="../embeddings/Microsoft_Word___61.docx"/><Relationship Id="rId4" Type="http://schemas.openxmlformats.org/officeDocument/2006/relationships/image" Target="../media/image65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5.vml"/><Relationship Id="rId4" Type="http://schemas.openxmlformats.org/officeDocument/2006/relationships/image" Target="../media/image67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6.vml"/><Relationship Id="rId4" Type="http://schemas.openxmlformats.org/officeDocument/2006/relationships/image" Target="../media/image68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70.emf"/><Relationship Id="rId5" Type="http://schemas.openxmlformats.org/officeDocument/2006/relationships/package" Target="../embeddings/Microsoft_Word___65.docx"/><Relationship Id="rId4" Type="http://schemas.openxmlformats.org/officeDocument/2006/relationships/image" Target="../media/image69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8.vml"/><Relationship Id="rId4" Type="http://schemas.openxmlformats.org/officeDocument/2006/relationships/image" Target="../media/image71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9.vml"/><Relationship Id="rId4" Type="http://schemas.openxmlformats.org/officeDocument/2006/relationships/image" Target="../media/image72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8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75.jpeg"/><Relationship Id="rId5" Type="http://schemas.openxmlformats.org/officeDocument/2006/relationships/image" Target="../media/image74.jpeg"/><Relationship Id="rId4" Type="http://schemas.openxmlformats.org/officeDocument/2006/relationships/image" Target="../media/image73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1.vml"/><Relationship Id="rId4" Type="http://schemas.openxmlformats.org/officeDocument/2006/relationships/image" Target="../media/image76.e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78.emf"/><Relationship Id="rId5" Type="http://schemas.openxmlformats.org/officeDocument/2006/relationships/package" Target="../embeddings/Microsoft_Word___71.docx"/><Relationship Id="rId4" Type="http://schemas.openxmlformats.org/officeDocument/2006/relationships/image" Target="../media/image77.e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80.emf"/><Relationship Id="rId5" Type="http://schemas.openxmlformats.org/officeDocument/2006/relationships/package" Target="../embeddings/Microsoft_Word___73.docx"/><Relationship Id="rId4" Type="http://schemas.openxmlformats.org/officeDocument/2006/relationships/image" Target="../media/image79.e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4.vml"/><Relationship Id="rId4" Type="http://schemas.openxmlformats.org/officeDocument/2006/relationships/image" Target="../media/image81.e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5.vml"/><Relationship Id="rId4" Type="http://schemas.openxmlformats.org/officeDocument/2006/relationships/image" Target="../media/image82.e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6.vml"/><Relationship Id="rId4" Type="http://schemas.openxmlformats.org/officeDocument/2006/relationships/image" Target="../media/image83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7.vml"/><Relationship Id="rId4" Type="http://schemas.openxmlformats.org/officeDocument/2006/relationships/image" Target="../media/image84.e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8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8.vml"/><Relationship Id="rId4" Type="http://schemas.openxmlformats.org/officeDocument/2006/relationships/image" Target="../media/image85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9.vml"/><Relationship Id="rId4" Type="http://schemas.openxmlformats.org/officeDocument/2006/relationships/image" Target="../media/image86.emf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0.vml"/><Relationship Id="rId4" Type="http://schemas.openxmlformats.org/officeDocument/2006/relationships/image" Target="../media/image87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89.emf"/><Relationship Id="rId5" Type="http://schemas.openxmlformats.org/officeDocument/2006/relationships/package" Target="../embeddings/Microsoft_Word___82.docx"/><Relationship Id="rId4" Type="http://schemas.openxmlformats.org/officeDocument/2006/relationships/image" Target="../media/image88.e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2.vml"/><Relationship Id="rId5" Type="http://schemas.openxmlformats.org/officeDocument/2006/relationships/image" Target="../media/image86.png"/><Relationship Id="rId4" Type="http://schemas.openxmlformats.org/officeDocument/2006/relationships/image" Target="../media/image90.emf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8.png"/><Relationship Id="rId7" Type="http://schemas.openxmlformats.org/officeDocument/2006/relationships/image" Target="../media/image91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3.vml"/><Relationship Id="rId6" Type="http://schemas.openxmlformats.org/officeDocument/2006/relationships/package" Target="../embeddings/Microsoft_Word___830.docx"/><Relationship Id="rId5" Type="http://schemas.openxmlformats.org/officeDocument/2006/relationships/image" Target="../media/image91.emf"/><Relationship Id="rId4" Type="http://schemas.openxmlformats.org/officeDocument/2006/relationships/package" Target="../embeddings/Microsoft_Word___84.docx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4.vml"/><Relationship Id="rId4" Type="http://schemas.openxmlformats.org/officeDocument/2006/relationships/image" Target="../media/image92.e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5.vml"/><Relationship Id="rId4" Type="http://schemas.openxmlformats.org/officeDocument/2006/relationships/image" Target="../media/image93.e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6.vml"/><Relationship Id="rId4" Type="http://schemas.openxmlformats.org/officeDocument/2006/relationships/image" Target="../media/image94.e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8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7.vml"/><Relationship Id="rId4" Type="http://schemas.openxmlformats.org/officeDocument/2006/relationships/image" Target="../media/image95.e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8.vml"/><Relationship Id="rId4" Type="http://schemas.openxmlformats.org/officeDocument/2006/relationships/image" Target="../media/image96.e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9.vml"/><Relationship Id="rId4" Type="http://schemas.openxmlformats.org/officeDocument/2006/relationships/image" Target="../media/image97.em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0.vml"/><Relationship Id="rId4" Type="http://schemas.openxmlformats.org/officeDocument/2006/relationships/image" Target="../media/image98.e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1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数列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复习课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973601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3540178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2066067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知识梳理 构建体系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3650925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专题归纳 核心突破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知识梳理 构建体系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知识网络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038776" y="333228"/>
            <a:ext cx="5480942" cy="6300068"/>
            <a:chOff x="3038776" y="333228"/>
            <a:chExt cx="5480942" cy="630006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038776" y="3176176"/>
              <a:ext cx="633507" cy="11603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数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列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800" dirty="0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672283" y="333228"/>
              <a:ext cx="4847435" cy="63000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要点梳理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81000" y="948895"/>
            <a:ext cx="5235408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数列的分类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按项的变化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趋势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224405"/>
              </p:ext>
            </p:extLst>
          </p:nvPr>
        </p:nvGraphicFramePr>
        <p:xfrm>
          <a:off x="458424" y="1629300"/>
          <a:ext cx="11275153" cy="1983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文档" r:id="rId3" imgW="4510061" imgH="793212" progId="Word.Document.12">
                  <p:embed/>
                </p:oleObj>
              </mc:Choice>
              <mc:Fallback>
                <p:oleObj name="文档" r:id="rId3" imgW="4510061" imgH="793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1629300"/>
                        <a:ext cx="11275153" cy="1983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6662045" y="1966734"/>
            <a:ext cx="69576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662045" y="2810668"/>
            <a:ext cx="69576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>
            <a:spLocks noChangeAspect="1"/>
          </p:cNvSpPr>
          <p:nvPr/>
        </p:nvSpPr>
        <p:spPr>
          <a:xfrm>
            <a:off x="381000" y="3639557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利用数列的递推公式求数列中的项需具备的两个条件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已知数列的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首项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或前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已知递推公式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943502" y="4279611"/>
            <a:ext cx="220050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2955188" y="4716571"/>
            <a:ext cx="21912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44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94100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等差数列的通项公式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为首项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为公差的等差数列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等差数列的前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项和公式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930662" y="950191"/>
            <a:ext cx="1532983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8942302" y="1387151"/>
            <a:ext cx="15265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670054"/>
              </p:ext>
            </p:extLst>
          </p:nvPr>
        </p:nvGraphicFramePr>
        <p:xfrm>
          <a:off x="387069" y="2085802"/>
          <a:ext cx="11417863" cy="2753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5" name="文档" r:id="rId3" imgW="4567145" imgH="1101343" progId="Word.Document.12">
                  <p:embed/>
                </p:oleObj>
              </mc:Choice>
              <mc:Fallback>
                <p:oleObj name="文档" r:id="rId3" imgW="4567145" imgH="11013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7069" y="2085802"/>
                        <a:ext cx="11417863" cy="27533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spect="1"/>
          </p:cNvSpPr>
          <p:nvPr/>
        </p:nvSpPr>
        <p:spPr>
          <a:xfrm>
            <a:off x="381000" y="3927427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等比数列的通项公式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的首项为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公比为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则通项公式为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i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367081" y="4580837"/>
            <a:ext cx="99265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9378720" y="5017797"/>
            <a:ext cx="9884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04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2874"/>
            <a:ext cx="6312626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等比数列与等差数列的区别与联系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777946145"/>
              </p:ext>
            </p:extLst>
          </p:nvPr>
        </p:nvGraphicFramePr>
        <p:xfrm>
          <a:off x="381000" y="800234"/>
          <a:ext cx="11430000" cy="5205710"/>
        </p:xfrm>
        <a:graphic>
          <a:graphicData uri="http://schemas.openxmlformats.org/drawingml/2006/table">
            <a:tbl>
              <a:tblPr firstRow="1" firstCol="1" bandRow="1"/>
              <a:tblGrid>
                <a:gridCol w="897082"/>
                <a:gridCol w="5380274"/>
                <a:gridCol w="5152644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项目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等差数列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等比数列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同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点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(1)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强调每一项与前一项的差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;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(2)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可以为零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;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(3)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等差中项唯一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(1)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强调每一项与前一项的比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;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(2)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均不为零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;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(3)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等比中项有时有两个值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相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同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点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(1)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都强调每一项与前一项的关系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;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(2)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结果都必须是常数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;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(3)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数列都可以由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确定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62126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联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系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(1)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若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i="1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r>
                        <a:rPr 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</a:t>
                      </a:r>
                      <a:r>
                        <a:rPr lang="zh-CN" altLang="en-US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各项均为正数的等比数列</a:t>
                      </a:r>
                      <a:r>
                        <a:rPr lang="en-US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则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sz="2800" i="1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i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i="1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}(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a&gt;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0,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且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≠1)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为等差数列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;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(2)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若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i="1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为等差数列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则</a:t>
                      </a:r>
                      <a:r>
                        <a:rPr lang="en-US" alt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en-US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≠0)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为等比数列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153498"/>
              </p:ext>
            </p:extLst>
          </p:nvPr>
        </p:nvGraphicFramePr>
        <p:xfrm>
          <a:off x="5002790" y="5466482"/>
          <a:ext cx="11572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4" name="文档" r:id="rId3" imgW="473967" imgH="199294" progId="Word.Document.12">
                  <p:embed/>
                </p:oleObj>
              </mc:Choice>
              <mc:Fallback>
                <p:oleObj name="文档" r:id="rId3" imgW="473967" imgH="1992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02790" y="5466482"/>
                        <a:ext cx="1157287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117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00315"/>
            <a:ext cx="5854167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等差数列与等比数列性质的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比较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0780262"/>
              </p:ext>
            </p:extLst>
          </p:nvPr>
        </p:nvGraphicFramePr>
        <p:xfrm>
          <a:off x="381000" y="864469"/>
          <a:ext cx="11430000" cy="4988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0" name="文档" r:id="rId3" imgW="4671621" imgH="2038758" progId="Word.Document.12">
                  <p:embed/>
                </p:oleObj>
              </mc:Choice>
              <mc:Fallback>
                <p:oleObj name="文档" r:id="rId3" imgW="4671621" imgH="203875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864469"/>
                        <a:ext cx="11430000" cy="49882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730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523659"/>
              </p:ext>
            </p:extLst>
          </p:nvPr>
        </p:nvGraphicFramePr>
        <p:xfrm>
          <a:off x="381000" y="600730"/>
          <a:ext cx="11430000" cy="5224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4" name="文档" r:id="rId3" imgW="4671621" imgH="2135431" progId="Word.Document.12">
                  <p:embed/>
                </p:oleObj>
              </mc:Choice>
              <mc:Fallback>
                <p:oleObj name="文档" r:id="rId3" imgW="4671621" imgH="21354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600730"/>
                        <a:ext cx="11430000" cy="52247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102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637577810"/>
              </p:ext>
            </p:extLst>
          </p:nvPr>
        </p:nvGraphicFramePr>
        <p:xfrm>
          <a:off x="381000" y="704733"/>
          <a:ext cx="11430000" cy="4096512"/>
        </p:xfrm>
        <a:graphic>
          <a:graphicData uri="http://schemas.openxmlformats.org/drawingml/2006/table">
            <a:tbl>
              <a:tblPr firstRow="1" firstCol="1" bandRow="1"/>
              <a:tblGrid>
                <a:gridCol w="5708073"/>
                <a:gridCol w="5721927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等差数列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等比数列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若数列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i="1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是公差为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的等差数列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则下标成等差数列且公差为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的项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i="1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i="1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k+m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i="1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k+</a:t>
                      </a:r>
                      <a:r>
                        <a:rPr lang="en-US" sz="2800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800" i="1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方正书宋_GBK" panose="03000509000000000000" pitchFamily="65" charset="-122"/>
                          <a:cs typeface="Times New Roman" panose="02020603050405020304" pitchFamily="18" charset="0"/>
                        </a:rPr>
                        <a:t>…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sz="2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i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NEU-BZ-S9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∈</a:t>
                      </a:r>
                      <a:r>
                        <a:rPr lang="en-US" sz="2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800" i="1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组成公差为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md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的等差数列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若数列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是公比为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的等比数列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则下标成等差数列且公差为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的项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k+m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k+</a:t>
                      </a:r>
                      <a:r>
                        <a:rPr lang="en-US" sz="2800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8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方正书宋_GBK" panose="03000509000000000000" pitchFamily="65" charset="-122"/>
                          <a:cs typeface="Times New Roman" panose="02020603050405020304" pitchFamily="18" charset="0"/>
                        </a:rPr>
                        <a:t>…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NEU-BZ-S9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∈</a:t>
                      </a:r>
                      <a:r>
                        <a:rPr lang="en-US" sz="2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800" i="1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组成公比为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800" i="1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的等比数列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若数列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是公差为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的等差数列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则去掉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中的前面若干项后余下的项仍组成公差为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的等差数列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若数列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i="1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是公比为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的等比数列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则去掉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 i="1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中的前面若干项后余下的项仍成公比为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的等比数列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66675" marR="666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39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35113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等差数列前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项和的性质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中连续的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项和构成的数列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构成等差数列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则数列的前面若干项为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则将这些项相加即得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则数列的前面若干项为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则将这些项相加即得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特别地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的最大值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2913" y="1564943"/>
            <a:ext cx="907905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54553" y="2001903"/>
            <a:ext cx="9040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505680" y="1564943"/>
            <a:ext cx="106342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2517428" y="2001903"/>
            <a:ext cx="105895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499190" y="2635206"/>
            <a:ext cx="70975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6510830" y="3072166"/>
            <a:ext cx="7067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486591" y="3196086"/>
            <a:ext cx="32937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1498334" y="3633046"/>
            <a:ext cx="32798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499190" y="3736642"/>
            <a:ext cx="70975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6510830" y="4173602"/>
            <a:ext cx="7067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498334" y="4297522"/>
            <a:ext cx="32937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1472895" y="4734482"/>
            <a:ext cx="3607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105533" y="4879414"/>
            <a:ext cx="27450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4117080" y="5316374"/>
            <a:ext cx="2733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5770552" y="4879414"/>
            <a:ext cx="32363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5772234" y="5295592"/>
            <a:ext cx="32227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8773616" y="4889805"/>
            <a:ext cx="27450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>
            <a:off x="8785163" y="5326765"/>
            <a:ext cx="2733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97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1" grpId="0" animBg="1"/>
      <p:bldP spid="14" grpId="0" animBg="1"/>
      <p:bldP spid="16" grpId="0" animBg="1"/>
      <p:bldP spid="18" grpId="0" animBg="1"/>
      <p:bldP spid="21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41564" y="123948"/>
            <a:ext cx="11769436" cy="6271104"/>
            <a:chOff x="41564" y="123948"/>
            <a:chExt cx="11769436" cy="627110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3948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等比数列前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项和的性质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设等比数列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的公比为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为其前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则有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n+m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zh-CN" altLang="en-US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i="1" dirty="0" err="1" smtClean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i="1" baseline="30000" dirty="0" err="1" smtClean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err="1" smtClean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 smtClean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en-US" sz="2800" i="1" baseline="-25000" dirty="0" smtClean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5531296"/>
                </p:ext>
              </p:extLst>
            </p:nvPr>
          </p:nvGraphicFramePr>
          <p:xfrm>
            <a:off x="41564" y="1763731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6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564" y="1763731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647985"/>
              <a:ext cx="11430000" cy="65248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均不为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成</a:t>
              </a:r>
              <a:r>
                <a:rPr lang="zh-CN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等比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数列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r>
                <a:rPr lang="zh-CN" altLang="en-US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0098351"/>
                </p:ext>
              </p:extLst>
            </p:nvPr>
          </p:nvGraphicFramePr>
          <p:xfrm>
            <a:off x="41564" y="3229852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7" name="文档" r:id="rId5" imgW="4510061" imgH="396786" progId="Word.Document.12">
                    <p:embed/>
                  </p:oleObj>
                </mc:Choice>
                <mc:Fallback>
                  <p:oleObj name="文档" r:id="rId5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564" y="3229852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81000" y="4122379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则上式可以写成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=A-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Aq</a:t>
              </a:r>
              <a:r>
                <a:rPr lang="en-US" altLang="zh-CN" sz="2800" i="1" baseline="30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由此得出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对于数列的前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项和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aq</a:t>
              </a:r>
              <a:r>
                <a:rPr lang="en-US" altLang="zh-CN" sz="2800" i="1" baseline="30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当且仅当满足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a=-b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该数列是等比数列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否则不是等比数列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求数列前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项和的方法有倒序相加法、错位相减法、裂项相消法、分组求和法、并项求和法等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2605856" y="1371072"/>
            <a:ext cx="72401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2617526" y="1808032"/>
            <a:ext cx="7209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071475" y="2005025"/>
            <a:ext cx="32438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8083144" y="2441985"/>
            <a:ext cx="3230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8416708" y="2718055"/>
            <a:ext cx="69596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8428420" y="3175797"/>
            <a:ext cx="6930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626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20812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正确的在后面的括号里画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1,0,1,0,1,0,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是常数列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为常数列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是其前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在公比为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该数列为递增数列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成等比数列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5646109" y="1382161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8811052" y="1931156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8663244" y="2493988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10133842" y="3046429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9546471" y="3595424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10" name="矩形 9"/>
          <p:cNvSpPr>
            <a:spLocks noChangeAspect="1"/>
          </p:cNvSpPr>
          <p:nvPr/>
        </p:nvSpPr>
        <p:spPr>
          <a:xfrm>
            <a:off x="10272413" y="4160150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11" name="矩形 10"/>
          <p:cNvSpPr>
            <a:spLocks noChangeAspect="1"/>
          </p:cNvSpPr>
          <p:nvPr/>
        </p:nvSpPr>
        <p:spPr>
          <a:xfrm>
            <a:off x="7314375" y="4710869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12" name="矩形 11"/>
          <p:cNvSpPr>
            <a:spLocks noChangeAspect="1"/>
          </p:cNvSpPr>
          <p:nvPr/>
        </p:nvSpPr>
        <p:spPr>
          <a:xfrm>
            <a:off x="9526319" y="5289137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32230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专题归纳 核心突破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专题整合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8881" y="705361"/>
            <a:ext cx="11752119" cy="2573591"/>
            <a:chOff x="58881" y="798880"/>
            <a:chExt cx="11752119" cy="257359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798880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专题一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等差、等比数列的判定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是等差数列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则满足下列条件的数列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必为等差数列的是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523474"/>
                </p:ext>
              </p:extLst>
            </p:nvPr>
          </p:nvGraphicFramePr>
          <p:xfrm>
            <a:off x="58881" y="2366883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04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8881" y="2366883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>
                <a:spLocks noChangeAspect="1"/>
              </p:cNvSpPr>
              <p:nvPr/>
            </p:nvSpPr>
            <p:spPr>
              <a:xfrm>
                <a:off x="381000" y="3060116"/>
                <a:ext cx="11430000" cy="355289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解析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是等差数列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满足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=|a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不一定为等差数列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例如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满足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必为等差数列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pn+q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为常数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,{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一定为等差数列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答案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060116"/>
                <a:ext cx="11430000" cy="3552896"/>
              </a:xfrm>
              <a:prstGeom prst="rect">
                <a:avLst/>
              </a:prstGeom>
              <a:blipFill rotWithShape="0">
                <a:blip r:embed="rId5"/>
                <a:stretch>
                  <a:fillRect l="-1120" b="-39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8882" y="54657"/>
            <a:ext cx="11752118" cy="6647071"/>
            <a:chOff x="58882" y="54657"/>
            <a:chExt cx="11752118" cy="664707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4657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 </a:t>
              </a:r>
              <a:r>
                <a:rPr lang="en-US" altLang="zh-CN" sz="28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定义法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常数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⇔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是等差数列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2752043"/>
                </p:ext>
              </p:extLst>
            </p:nvPr>
          </p:nvGraphicFramePr>
          <p:xfrm>
            <a:off x="58882" y="1145200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22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8882" y="1145200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005314"/>
              <a:ext cx="11430000" cy="469641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中项公式法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⇔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是等差数列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≠0)</a:t>
              </a:r>
              <a:r>
                <a:rPr lang="en-US" altLang="zh-CN" sz="28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⇔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为等比数列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8067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通项公式法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pn+q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为常数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⇔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是等差数列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c·q</a:t>
              </a:r>
              <a:r>
                <a:rPr lang="en-US" altLang="zh-CN" sz="2800" i="1" baseline="30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均为非零常数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⇔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是等比数列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8067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前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项和公式法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=An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均为常数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⇔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是等差数列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kq</a:t>
              </a:r>
              <a:r>
                <a:rPr lang="en-US" altLang="zh-CN" sz="2800" i="1" baseline="30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-k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为非零常数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≠0,1)</a:t>
              </a:r>
              <a:r>
                <a:rPr lang="en-US" altLang="zh-CN" sz="28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⇔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是等比数列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3824664"/>
                </p:ext>
              </p:extLst>
            </p:nvPr>
          </p:nvGraphicFramePr>
          <p:xfrm>
            <a:off x="520845" y="3073682"/>
            <a:ext cx="1112837" cy="506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23" name="文档" r:id="rId5" imgW="445637" imgH="201096" progId="Word.Document.12">
                    <p:embed/>
                  </p:oleObj>
                </mc:Choice>
                <mc:Fallback>
                  <p:oleObj name="文档" r:id="rId5" imgW="445637" imgH="20109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20845" y="3073682"/>
                          <a:ext cx="1112837" cy="5064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2873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是不是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70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4591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专题二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数列的基本运算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5800477"/>
              </p:ext>
            </p:extLst>
          </p:nvPr>
        </p:nvGraphicFramePr>
        <p:xfrm>
          <a:off x="58882" y="2223983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8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882" y="2223983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58882" y="3090220"/>
            <a:ext cx="11752118" cy="2054568"/>
            <a:chOff x="58882" y="3448560"/>
            <a:chExt cx="11752118" cy="2054568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448560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分析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设出数列的公差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利用已知条件列出方程组求解首项与公差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即可得到通项公式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4146815"/>
                </p:ext>
              </p:extLst>
            </p:nvPr>
          </p:nvGraphicFramePr>
          <p:xfrm>
            <a:off x="58882" y="4497540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49" name="文档" r:id="rId5" imgW="4510061" imgH="397147" progId="Word.Document.12">
                    <p:embed/>
                  </p:oleObj>
                </mc:Choice>
                <mc:Fallback>
                  <p:oleObj name="文档" r:id="rId5" imgW="4510061" imgH="3971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8882" y="4497540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4156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686545"/>
              </p:ext>
            </p:extLst>
          </p:nvPr>
        </p:nvGraphicFramePr>
        <p:xfrm>
          <a:off x="41564" y="87698"/>
          <a:ext cx="11430000" cy="2613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6" name="文档" r:id="rId3" imgW="4510061" imgH="1031428" progId="Word.Document.12">
                  <p:embed/>
                </p:oleObj>
              </mc:Choice>
              <mc:Fallback>
                <p:oleObj name="文档" r:id="rId3" imgW="4510061" imgH="10314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87698"/>
                        <a:ext cx="11430000" cy="26139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609287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在等差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数列的通项公式和前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项和公式中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含有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个基本量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知道其中的三个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可以求出其余的两个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知三求二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在解决等差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数列的问题中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往往是化为基本量的运算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有时也可灵活使用等差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数列的性质解题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解决此类问题的关键是熟练掌握数列的有关公式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并灵活运用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在运算过程中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还应善于运用整体代换思想简化运算的过程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925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4841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的通项公式及前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的公比为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由已知得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768272"/>
              </p:ext>
            </p:extLst>
          </p:nvPr>
        </p:nvGraphicFramePr>
        <p:xfrm>
          <a:off x="62345" y="3997583"/>
          <a:ext cx="11430000" cy="2613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1" name="文档" r:id="rId3" imgW="4510061" imgH="1031428" progId="Word.Document.12">
                  <p:embed/>
                </p:oleObj>
              </mc:Choice>
              <mc:Fallback>
                <p:oleObj name="文档" r:id="rId3" imgW="4510061" imgH="10314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345" y="3997583"/>
                        <a:ext cx="11430000" cy="26139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243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8100" y="1051792"/>
            <a:ext cx="11772900" cy="3143892"/>
            <a:chOff x="38100" y="1664855"/>
            <a:chExt cx="11772900" cy="314389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664855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专题三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数列通项公式的求法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写出下列数列的一个通项公式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1440968"/>
                </p:ext>
              </p:extLst>
            </p:nvPr>
          </p:nvGraphicFramePr>
          <p:xfrm>
            <a:off x="38100" y="2827613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63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" y="2827613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656380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4,6,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8,10,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6376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8882" y="682766"/>
            <a:ext cx="11752118" cy="4084326"/>
            <a:chOff x="58882" y="1243879"/>
            <a:chExt cx="11752118" cy="408432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43879"/>
              <a:ext cx="11430000" cy="65248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数列的项有的是分数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有的是整数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可将各项都统一成分数再观察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en-US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9243098"/>
                </p:ext>
              </p:extLst>
            </p:nvPr>
          </p:nvGraphicFramePr>
          <p:xfrm>
            <a:off x="58882" y="1815355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38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8882" y="1815355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730257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数列各项的绝对值为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2,4,6,8,10,</a:t>
              </a:r>
              <a:r>
                <a:rPr lang="en-US" altLang="zh-CN" sz="2800" dirty="0">
                  <a:solidFill>
                    <a:srgbClr val="000000"/>
                  </a:solidFill>
                  <a:latin typeface="楷体" panose="02010609060101010101" pitchFamily="49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是连续的正偶数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考虑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具有转换符号的作用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所以数列的一个通项公式为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1698334"/>
                </p:ext>
              </p:extLst>
            </p:nvPr>
          </p:nvGraphicFramePr>
          <p:xfrm>
            <a:off x="58882" y="3820278"/>
            <a:ext cx="11430000" cy="15079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39" name="文档" r:id="rId5" imgW="4510061" imgH="596081" progId="Word.Document.12">
                    <p:embed/>
                  </p:oleObj>
                </mc:Choice>
                <mc:Fallback>
                  <p:oleObj name="文档" r:id="rId5" imgW="4510061" imgH="59608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8882" y="3820278"/>
                          <a:ext cx="11430000" cy="15079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6762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所给数列的前几项求其通项公式时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需仔细观察分析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抓住以下几方面的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特征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分式中分子、分母的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特征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相邻项的变化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特征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拆项后的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特征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各项的符号特征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089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7,9,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的一个通项公式为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	D.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各项的绝对值为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1,3,5,7,9,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其通项公式为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而符号为先正再负的规律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故应为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观察四个选项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只有选项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可以变形为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96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715440"/>
              </p:ext>
            </p:extLst>
          </p:nvPr>
        </p:nvGraphicFramePr>
        <p:xfrm>
          <a:off x="51955" y="419532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0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419532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535261"/>
              </p:ext>
            </p:extLst>
          </p:nvPr>
        </p:nvGraphicFramePr>
        <p:xfrm>
          <a:off x="401782" y="1261196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1" name="文档" r:id="rId5" imgW="4510061" imgH="396786" progId="Word.Document.12">
                  <p:embed/>
                </p:oleObj>
              </mc:Choice>
              <mc:Fallback>
                <p:oleObj name="文档" r:id="rId5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1782" y="1261196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>
                <a:spLocks noChangeAspect="1"/>
              </p:cNvSpPr>
              <p:nvPr/>
            </p:nvSpPr>
            <p:spPr>
              <a:xfrm>
                <a:off x="381000" y="2023154"/>
                <a:ext cx="11430000" cy="331738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·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楷体" panose="02010609060101010101" pitchFamily="49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…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·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m:rPr>
                                <m:nor/>
                              </m:rP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楷体" panose="02010609060101010101" pitchFamily="49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…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US" altLang="zh-CN" sz="2800" i="1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又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∵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也适合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的通项公式为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023154"/>
                <a:ext cx="11430000" cy="3317383"/>
              </a:xfrm>
              <a:prstGeom prst="rect">
                <a:avLst/>
              </a:prstGeom>
              <a:blipFill rotWithShape="0">
                <a:blip r:embed="rId7"/>
                <a:stretch>
                  <a:fillRect b="-12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8551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9273" y="1243879"/>
            <a:ext cx="11741727" cy="3193060"/>
            <a:chOff x="69273" y="1675245"/>
            <a:chExt cx="11741727" cy="319306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675245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 </a:t>
              </a:r>
              <a:r>
                <a:rPr lang="en-US" altLang="zh-CN" sz="28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累加法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对于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型的递推公式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用累加法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方法如下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得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2),</a:t>
              </a:r>
              <a:r>
                <a:rPr lang="en-US" altLang="zh-CN" sz="2800" dirty="0">
                  <a:solidFill>
                    <a:srgbClr val="000000"/>
                  </a:solidFill>
                  <a:latin typeface="仿宋" panose="02010609060101010101" pitchFamily="49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将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以上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个等式累加得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仿宋" panose="02010609060101010101" pitchFamily="49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8100634"/>
                </p:ext>
              </p:extLst>
            </p:nvPr>
          </p:nvGraphicFramePr>
          <p:xfrm>
            <a:off x="69273" y="3862717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35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9273" y="3862717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9420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672375"/>
            <a:ext cx="11430000" cy="4271144"/>
            <a:chOff x="381000" y="1077623"/>
            <a:chExt cx="11430000" cy="4271144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1077623"/>
              <a:ext cx="3940181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累乘法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也叫叠乘法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521228"/>
                </p:ext>
              </p:extLst>
            </p:nvPr>
          </p:nvGraphicFramePr>
          <p:xfrm>
            <a:off x="381000" y="1730109"/>
            <a:ext cx="11430000" cy="36186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59" name="文档" r:id="rId3" imgW="4510061" imgH="1430377" progId="Word.Document.12">
                    <p:embed/>
                  </p:oleObj>
                </mc:Choice>
                <mc:Fallback>
                  <p:oleObj name="文档" r:id="rId3" imgW="4510061" imgH="14303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" y="1730109"/>
                          <a:ext cx="11430000" cy="36186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59445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>
                <a:spLocks noChangeAspect="1"/>
              </p:cNvSpPr>
              <p:nvPr/>
            </p:nvSpPr>
            <p:spPr>
              <a:xfrm>
                <a:off x="381000" y="54841"/>
                <a:ext cx="11430000" cy="666015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【变式训练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】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ea typeface="Arial" panose="020B06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已知数列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满足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且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求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∵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楷体" panose="02010609060101010101" pitchFamily="49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……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以上各式相加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3[1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楷体" panose="02010609060101010101" pitchFamily="49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…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1)]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3·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US" altLang="zh-CN" sz="2800" i="1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)·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把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代入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4841"/>
                <a:ext cx="11430000" cy="6660157"/>
              </a:xfrm>
              <a:prstGeom prst="rect">
                <a:avLst/>
              </a:prstGeom>
              <a:blipFill rotWithShape="0">
                <a:blip r:embed="rId2"/>
                <a:stretch>
                  <a:fillRect t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3507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2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42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4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charRg st="64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7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charRg st="77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0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charRg st="90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3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charRg st="93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2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charRg st="112" end="1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0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charRg st="120" end="1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90" end="2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charRg st="190" end="2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1955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并求出其通项公式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要证明数列是等比数列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关键是看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比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是不是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由题设可利用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1564" y="3977998"/>
            <a:ext cx="11769436" cy="2573871"/>
            <a:chOff x="41564" y="3977998"/>
            <a:chExt cx="11769436" cy="2573871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9810796"/>
                </p:ext>
              </p:extLst>
            </p:nvPr>
          </p:nvGraphicFramePr>
          <p:xfrm>
            <a:off x="41564" y="3977998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6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564" y="3977998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779076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为首项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为公比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1)·2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723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已知条件中给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出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的关系式时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一般要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</a:t>
            </a:r>
            <a:endParaRPr lang="en-US" altLang="zh-CN" sz="2800" dirty="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                      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先求出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适合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的关系式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则可合并为一个关系式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若不适合则要分段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若能判断数列是等差数列或等比数列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则直接用相应的公式求解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288966"/>
              </p:ext>
            </p:extLst>
          </p:nvPr>
        </p:nvGraphicFramePr>
        <p:xfrm>
          <a:off x="555481" y="1981634"/>
          <a:ext cx="3052762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1" name="文档" r:id="rId3" imgW="1239689" imgH="398949" progId="Word.Document.12">
                  <p:embed/>
                </p:oleObj>
              </mc:Choice>
              <mc:Fallback>
                <p:oleObj name="文档" r:id="rId3" imgW="1239689" imgH="3989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5481" y="1981634"/>
                        <a:ext cx="3052762" cy="992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2480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2685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305308"/>
              </p:ext>
            </p:extLst>
          </p:nvPr>
        </p:nvGraphicFramePr>
        <p:xfrm>
          <a:off x="51955" y="1171142"/>
          <a:ext cx="11430000" cy="5227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5" name="文档" r:id="rId3" imgW="4510061" imgH="2066100" progId="Word.Document.12">
                  <p:embed/>
                </p:oleObj>
              </mc:Choice>
              <mc:Fallback>
                <p:oleObj name="文档" r:id="rId3" imgW="4510061" imgH="20661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1171142"/>
                        <a:ext cx="11430000" cy="52270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0961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76380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3·2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两边同除以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即可转化为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+t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的形式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为等差数列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041066"/>
              </p:ext>
            </p:extLst>
          </p:nvPr>
        </p:nvGraphicFramePr>
        <p:xfrm>
          <a:off x="58882" y="1507243"/>
          <a:ext cx="11430000" cy="4021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5" name="文档" r:id="rId3" imgW="4510061" imgH="1586785" progId="Word.Document.12">
                  <p:embed/>
                </p:oleObj>
              </mc:Choice>
              <mc:Fallback>
                <p:oleObj name="文档" r:id="rId3" imgW="4510061" imgH="15867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882" y="1507243"/>
                        <a:ext cx="11430000" cy="40214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7053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81000" y="1328341"/>
            <a:ext cx="11543868" cy="2641968"/>
            <a:chOff x="381000" y="1972577"/>
            <a:chExt cx="11543868" cy="264196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972577"/>
              <a:ext cx="11430000" cy="65248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对于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递推关系为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+q</a:t>
              </a:r>
              <a:r>
                <a:rPr lang="en-US" altLang="zh-CN" sz="2800" i="1" baseline="30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形式的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一般地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要先在递推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公式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2171517"/>
                </p:ext>
              </p:extLst>
            </p:nvPr>
          </p:nvGraphicFramePr>
          <p:xfrm>
            <a:off x="494868" y="2604281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99" name="文档" r:id="rId3" imgW="4510061" imgH="793212" progId="Word.Document.12">
                    <p:embed/>
                  </p:oleObj>
                </mc:Choice>
                <mc:Fallback>
                  <p:oleObj name="文档" r:id="rId3" imgW="4510061" imgH="7932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4868" y="2604281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53157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2356126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可变为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为首项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为公比的等比数列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2·2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903774"/>
              </p:ext>
            </p:extLst>
          </p:nvPr>
        </p:nvGraphicFramePr>
        <p:xfrm>
          <a:off x="48491" y="1631885"/>
          <a:ext cx="11430000" cy="745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3" name="文档" r:id="rId3" imgW="4510061" imgH="293972" progId="Word.Document.12">
                  <p:embed/>
                </p:oleObj>
              </mc:Choice>
              <mc:Fallback>
                <p:oleObj name="文档" r:id="rId3" imgW="4510061" imgH="2939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91" y="1631885"/>
                        <a:ext cx="11430000" cy="7450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4550"/>
              </p:ext>
            </p:extLst>
          </p:nvPr>
        </p:nvGraphicFramePr>
        <p:xfrm>
          <a:off x="41564" y="619413"/>
          <a:ext cx="11430000" cy="4438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7" name="文档" r:id="rId3" imgW="4510061" imgH="1751255" progId="Word.Document.12">
                  <p:embed/>
                </p:oleObj>
              </mc:Choice>
              <mc:Fallback>
                <p:oleObj name="文档" r:id="rId3" imgW="4510061" imgH="17512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619413"/>
                        <a:ext cx="11430000" cy="4438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52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81000" y="203611"/>
            <a:ext cx="11430000" cy="3453253"/>
            <a:chOff x="381000" y="1554429"/>
            <a:chExt cx="11430000" cy="345325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554429"/>
              <a:ext cx="11430000" cy="345325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专题四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数列求和的常用方法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中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公比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(0,1),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且满足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 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的通项公式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log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的前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项和为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               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取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最大值时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的值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758659"/>
                </p:ext>
              </p:extLst>
            </p:nvPr>
          </p:nvGraphicFramePr>
          <p:xfrm>
            <a:off x="7659400" y="3601894"/>
            <a:ext cx="1773237" cy="1003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8" name="文档" r:id="rId3" imgW="709047" imgH="397868" progId="Word.Document.12">
                    <p:embed/>
                  </p:oleObj>
                </mc:Choice>
                <mc:Fallback>
                  <p:oleObj name="文档" r:id="rId3" imgW="709047" imgH="39786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659400" y="3601894"/>
                          <a:ext cx="1773237" cy="1003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51955" y="3594518"/>
            <a:ext cx="11759045" cy="2603144"/>
            <a:chOff x="51955" y="3625691"/>
            <a:chExt cx="11759045" cy="2603144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3625691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分析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由条件判断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再由等比数列的性质和通项公式得到关于首项和公比的方程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解方程可得首项和公比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进而得到所求通项公式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8067021"/>
                </p:ext>
              </p:extLst>
            </p:nvPr>
          </p:nvGraphicFramePr>
          <p:xfrm>
            <a:off x="51955" y="4622716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9" name="文档" r:id="rId5" imgW="4510061" imgH="396786" progId="Word.Document.12">
                    <p:embed/>
                  </p:oleObj>
                </mc:Choice>
                <mc:Fallback>
                  <p:oleObj name="文档" r:id="rId5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955" y="4622716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81000" y="5576349"/>
              <a:ext cx="11430000" cy="65248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再由等差数列的求和公式和配方法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可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得求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取最大值时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的值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329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1955" y="672374"/>
            <a:ext cx="11759045" cy="4324404"/>
            <a:chOff x="51955" y="1088014"/>
            <a:chExt cx="11759045" cy="4324404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1088014"/>
              <a:ext cx="4947188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2354702"/>
                </p:ext>
              </p:extLst>
            </p:nvPr>
          </p:nvGraphicFramePr>
          <p:xfrm>
            <a:off x="51955" y="1730109"/>
            <a:ext cx="11430000" cy="6028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38" name="文档" r:id="rId3" imgW="4510061" imgH="237856" progId="Word.Document.12">
                    <p:embed/>
                  </p:oleObj>
                </mc:Choice>
                <mc:Fallback>
                  <p:oleObj name="文档" r:id="rId3" imgW="4510061" imgH="23785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955" y="1730109"/>
                          <a:ext cx="11430000" cy="6028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81000" y="2312133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&lt;q&lt;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可得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②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0141852"/>
                </p:ext>
              </p:extLst>
            </p:nvPr>
          </p:nvGraphicFramePr>
          <p:xfrm>
            <a:off x="51955" y="3402154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39" name="文档" r:id="rId5" imgW="4510061" imgH="794654" progId="Word.Document.12">
                    <p:embed/>
                  </p:oleObj>
                </mc:Choice>
                <mc:Fallback>
                  <p:oleObj name="文档" r:id="rId5" imgW="4510061" imgH="7946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955" y="3402154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6769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1955" y="206002"/>
            <a:ext cx="11759045" cy="5813599"/>
            <a:chOff x="51955" y="320303"/>
            <a:chExt cx="11759045" cy="581359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320303"/>
              <a:ext cx="4528804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log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log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-n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en-US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4419558"/>
                </p:ext>
              </p:extLst>
            </p:nvPr>
          </p:nvGraphicFramePr>
          <p:xfrm>
            <a:off x="51955" y="920834"/>
            <a:ext cx="11430000" cy="30158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18" name="文档" r:id="rId3" imgW="4510061" imgH="1189999" progId="Word.Document.12">
                    <p:embed/>
                  </p:oleObj>
                </mc:Choice>
                <mc:Fallback>
                  <p:oleObj name="文档" r:id="rId3" imgW="4510061" imgH="118999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955" y="920834"/>
                          <a:ext cx="11430000" cy="301585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800956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的值为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若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一个数列的每一项是由几个独立的项组合而成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并且各独立项也可组成等差数列或等比数列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则该数列的前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项和可考虑拆项后利用公式求解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8532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82203"/>
            <a:ext cx="11430000" cy="451328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已知在等比数列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的等差中项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的公比为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的等差中项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的通项公式为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5103268"/>
              </p:ext>
            </p:extLst>
          </p:nvPr>
        </p:nvGraphicFramePr>
        <p:xfrm>
          <a:off x="51955" y="4753926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2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4753926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4254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7771"/>
            <a:ext cx="11430000" cy="619374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且满足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求出数列的首项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推出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为首项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为公比的等比数列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然后求解通项公式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利用错位相减法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求解数列的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依题意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为首项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为公比的等比数列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593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1173" y="303643"/>
            <a:ext cx="11779827" cy="5394799"/>
            <a:chOff x="31173" y="303643"/>
            <a:chExt cx="11779827" cy="5394799"/>
          </a:xfrm>
        </p:grpSpPr>
        <p:grpSp>
          <p:nvGrpSpPr>
            <p:cNvPr id="7" name="组合 6"/>
            <p:cNvGrpSpPr/>
            <p:nvPr/>
          </p:nvGrpSpPr>
          <p:grpSpPr>
            <a:xfrm>
              <a:off x="381000" y="303643"/>
              <a:ext cx="11430000" cy="5394799"/>
              <a:chOff x="381000" y="459508"/>
              <a:chExt cx="11430000" cy="5394799"/>
            </a:xfrm>
          </p:grpSpPr>
          <p:sp>
            <p:nvSpPr>
              <p:cNvPr id="4" name="矩形 3"/>
              <p:cNvSpPr>
                <a:spLocks noChangeAspect="1"/>
              </p:cNvSpPr>
              <p:nvPr/>
            </p:nvSpPr>
            <p:spPr>
              <a:xfrm>
                <a:off x="381000" y="459508"/>
                <a:ext cx="11430000" cy="171252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1)·2</a:t>
                </a:r>
                <a:r>
                  <a:rPr lang="en-US" altLang="zh-CN" sz="2800" i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3×2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5×2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7×2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楷体" panose="02010609060101010101" pitchFamily="49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…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1)×2</a:t>
                </a:r>
                <a:r>
                  <a:rPr lang="en-US" altLang="zh-CN" sz="2800" i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i="1" baseline="-25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3×2</a:t>
                </a:r>
                <a:r>
                  <a:rPr lang="en-US" altLang="zh-CN" sz="2800" baseline="30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5×2</a:t>
                </a:r>
                <a:r>
                  <a:rPr lang="en-US" altLang="zh-CN" sz="2800" baseline="30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楷体" panose="02010609060101010101" pitchFamily="49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…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1)×2</a:t>
                </a:r>
                <a:r>
                  <a:rPr lang="en-US" altLang="zh-CN" sz="2800" i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1)×2</a:t>
                </a:r>
                <a:r>
                  <a:rPr lang="en-US" altLang="zh-CN" sz="2800" i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两式相减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3×2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2×(2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楷体" panose="02010609060101010101" pitchFamily="49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…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1)×2</a:t>
                </a:r>
                <a:r>
                  <a:rPr lang="en-US" altLang="zh-CN" sz="2800" i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矩形 5"/>
              <p:cNvSpPr>
                <a:spLocks noChangeAspect="1"/>
              </p:cNvSpPr>
              <p:nvPr/>
            </p:nvSpPr>
            <p:spPr>
              <a:xfrm>
                <a:off x="381000" y="2961207"/>
                <a:ext cx="11430000" cy="289310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故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1)×2</a:t>
                </a:r>
                <a:r>
                  <a:rPr lang="en-US" altLang="zh-CN" sz="2800" i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反思感悟 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等比数列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前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项和公式的推导方法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即首先将数列中的各项乘一个适当的数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式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然后错开一位相减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使数列中的一些项相互抵消或形成规律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从而得出数列的前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项和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此种方法也常用于求数列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·b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的前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项和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其中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为等差数列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,{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为等比数列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9245709"/>
                </p:ext>
              </p:extLst>
            </p:nvPr>
          </p:nvGraphicFramePr>
          <p:xfrm>
            <a:off x="31173" y="2024132"/>
            <a:ext cx="11430000" cy="864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5" name="文档" r:id="rId3" imgW="4510061" imgH="341051" progId="Word.Document.12">
                    <p:embed/>
                  </p:oleObj>
                </mc:Choice>
                <mc:Fallback>
                  <p:oleObj name="文档" r:id="rId3" imgW="4510061" imgH="34105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173" y="2024132"/>
                          <a:ext cx="11430000" cy="8643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0178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20292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设公差为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endParaRPr lang="zh-CN" altLang="zh-CN" sz="2800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又由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则数列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的通项公式为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04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6642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1)·2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1×2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5×2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1)·2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1×2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5×2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3)·2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1)·2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1)·2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878947"/>
              </p:ext>
            </p:extLst>
          </p:nvPr>
        </p:nvGraphicFramePr>
        <p:xfrm>
          <a:off x="41564" y="3508924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7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3508924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817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1564" y="303643"/>
            <a:ext cx="11769436" cy="2676544"/>
            <a:chOff x="41564" y="594591"/>
            <a:chExt cx="11769436" cy="267654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94591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已知等差数列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的前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项和为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公差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成等比数列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的通项公式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4249126"/>
                </p:ext>
              </p:extLst>
            </p:nvPr>
          </p:nvGraphicFramePr>
          <p:xfrm>
            <a:off x="41564" y="2265547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0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564" y="2265547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41564" y="2902440"/>
            <a:ext cx="11769436" cy="2659957"/>
            <a:chOff x="41564" y="3821894"/>
            <a:chExt cx="11769436" cy="2659957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821894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分析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由等差数列的通项公式和求和公式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结合等比中项的性质得到关于首项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和公差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的方程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解方程可得首项和公差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即可得到所求通项公式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0881691"/>
                </p:ext>
              </p:extLst>
            </p:nvPr>
          </p:nvGraphicFramePr>
          <p:xfrm>
            <a:off x="41564" y="4911915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1" name="文档" r:id="rId5" imgW="4510061" imgH="396786" progId="Word.Document.12">
                    <p:embed/>
                  </p:oleObj>
                </mc:Choice>
                <mc:Fallback>
                  <p:oleObj name="文档" r:id="rId5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564" y="4911915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81000" y="5829365"/>
              <a:ext cx="7199407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由数列的裂项相消法求和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即先化简再求和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669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81000" y="324425"/>
            <a:ext cx="11481955" cy="5371661"/>
            <a:chOff x="381000" y="532245"/>
            <a:chExt cx="11481955" cy="5371661"/>
          </a:xfrm>
        </p:grpSpPr>
        <p:grpSp>
          <p:nvGrpSpPr>
            <p:cNvPr id="5" name="组合 4"/>
            <p:cNvGrpSpPr/>
            <p:nvPr/>
          </p:nvGrpSpPr>
          <p:grpSpPr>
            <a:xfrm>
              <a:off x="381000" y="532245"/>
              <a:ext cx="11481955" cy="5371661"/>
              <a:chOff x="381000" y="521854"/>
              <a:chExt cx="11481955" cy="5371661"/>
            </a:xfrm>
          </p:grpSpPr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521854"/>
                <a:ext cx="11430000" cy="345325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由等差数列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的前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项和为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公差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≠0,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且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+S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可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①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成等比数列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可得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CN" altLang="en-US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化简得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②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①②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可得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故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的通项公式为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4" name="对象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56489118"/>
                  </p:ext>
                </p:extLst>
              </p:nvPr>
            </p:nvGraphicFramePr>
            <p:xfrm>
              <a:off x="432955" y="3883251"/>
              <a:ext cx="11430000" cy="2010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870" name="文档" r:id="rId3" imgW="4510061" imgH="793212" progId="Word.Document.12">
                      <p:embed/>
                    </p:oleObj>
                  </mc:Choice>
                  <mc:Fallback>
                    <p:oleObj name="文档" r:id="rId3" imgW="4510061" imgH="793212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432955" y="3883251"/>
                            <a:ext cx="11430000" cy="201026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0718929"/>
                </p:ext>
              </p:extLst>
            </p:nvPr>
          </p:nvGraphicFramePr>
          <p:xfrm>
            <a:off x="5706124" y="1773982"/>
            <a:ext cx="738187" cy="506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1" name="文档" r:id="rId5" imgW="301933" imgH="201096" progId="Word.Document.12">
                    <p:embed/>
                  </p:oleObj>
                </mc:Choice>
                <mc:Fallback>
                  <p:oleObj name="文档" r:id="rId5" imgW="301933" imgH="20109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706124" y="1773982"/>
                          <a:ext cx="738187" cy="5064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31418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1955" y="1059615"/>
            <a:ext cx="11759045" cy="3364300"/>
            <a:chOff x="51955" y="436155"/>
            <a:chExt cx="11759045" cy="336430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436155"/>
              <a:ext cx="11430000" cy="5922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掌握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一些常见的裂项技巧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7739063"/>
                </p:ext>
              </p:extLst>
            </p:nvPr>
          </p:nvGraphicFramePr>
          <p:xfrm>
            <a:off x="51955" y="1106532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56" name="文档" r:id="rId3" imgW="4510061" imgH="793212" progId="Word.Document.12">
                    <p:embed/>
                  </p:oleObj>
                </mc:Choice>
                <mc:Fallback>
                  <p:oleObj name="文档" r:id="rId3" imgW="4510061" imgH="7932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955" y="1106532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3147969"/>
              <a:ext cx="11430000" cy="65248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此外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需注意裂项之后相消的过程中容易出现丢项或多项的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问题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789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7150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已知各项均为正数的数列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公式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490361"/>
              </p:ext>
            </p:extLst>
          </p:nvPr>
        </p:nvGraphicFramePr>
        <p:xfrm>
          <a:off x="334963" y="702541"/>
          <a:ext cx="7493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6" name="文档" r:id="rId3" imgW="302491" imgH="201096" progId="Word.Document.12">
                  <p:embed/>
                </p:oleObj>
              </mc:Choice>
              <mc:Fallback>
                <p:oleObj name="文档" r:id="rId3" imgW="302491" imgH="2010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963" y="702541"/>
                        <a:ext cx="749300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2481996"/>
              </p:ext>
            </p:extLst>
          </p:nvPr>
        </p:nvGraphicFramePr>
        <p:xfrm>
          <a:off x="412173" y="1722479"/>
          <a:ext cx="11430000" cy="2010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7" name="文档" r:id="rId5" imgW="4510061" imgH="793212" progId="Word.Document.12">
                  <p:embed/>
                </p:oleObj>
              </mc:Choice>
              <mc:Fallback>
                <p:oleObj name="文档" r:id="rId5" imgW="4510061" imgH="793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2173" y="1722479"/>
                        <a:ext cx="11430000" cy="2010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381000" y="3629527"/>
            <a:ext cx="11430000" cy="2893100"/>
            <a:chOff x="381000" y="3629527"/>
            <a:chExt cx="11430000" cy="2893100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3629527"/>
              <a:ext cx="11430000" cy="289310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    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)](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是各项均为正数的数列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于是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=n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显然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也满足上式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综上可知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的通项公式为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9444694"/>
                </p:ext>
              </p:extLst>
            </p:nvPr>
          </p:nvGraphicFramePr>
          <p:xfrm>
            <a:off x="1809318" y="3732743"/>
            <a:ext cx="749300" cy="506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58" name="文档" r:id="rId7" imgW="302491" imgH="201096" progId="Word.Document.12">
                    <p:embed/>
                  </p:oleObj>
                </mc:Choice>
                <mc:Fallback>
                  <p:oleObj name="文档" r:id="rId7" imgW="302491" imgH="20109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809318" y="3732743"/>
                          <a:ext cx="749300" cy="5064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98135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310767"/>
              </p:ext>
            </p:extLst>
          </p:nvPr>
        </p:nvGraphicFramePr>
        <p:xfrm>
          <a:off x="51955" y="724329"/>
          <a:ext cx="11430000" cy="4021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1" name="文档" r:id="rId3" imgW="4510061" imgH="1586785" progId="Word.Document.12">
                  <p:embed/>
                </p:oleObj>
              </mc:Choice>
              <mc:Fallback>
                <p:oleObj name="文档" r:id="rId3" imgW="4510061" imgH="15867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724329"/>
                        <a:ext cx="11430000" cy="40214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125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专题五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函数与方程思想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且满足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的最大项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直接利用数列的递推关系式求出数列的通项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公式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利用上一步的结论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进一步利用递推关系式求出数列的最大项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58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4591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且满足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695853"/>
              </p:ext>
            </p:extLst>
          </p:nvPr>
        </p:nvGraphicFramePr>
        <p:xfrm>
          <a:off x="54408" y="1176413"/>
          <a:ext cx="11430000" cy="4021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5" name="文档" r:id="rId3" imgW="4510061" imgH="1586785" progId="Word.Document.12">
                  <p:embed/>
                </p:oleObj>
              </mc:Choice>
              <mc:Fallback>
                <p:oleObj name="文档" r:id="rId3" imgW="4510061" imgH="15867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408" y="1176413"/>
                        <a:ext cx="11430000" cy="40214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314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8881" y="312784"/>
            <a:ext cx="11752119" cy="5054737"/>
            <a:chOff x="58881" y="603732"/>
            <a:chExt cx="11752119" cy="5054737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5383144"/>
                </p:ext>
              </p:extLst>
            </p:nvPr>
          </p:nvGraphicFramePr>
          <p:xfrm>
            <a:off x="58881" y="603732"/>
            <a:ext cx="11430000" cy="30158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86" name="文档" r:id="rId3" imgW="4510061" imgH="1189999" progId="Word.Document.12">
                    <p:embed/>
                  </p:oleObj>
                </mc:Choice>
                <mc:Fallback>
                  <p:oleObj name="文档" r:id="rId3" imgW="4510061" imgH="118999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8881" y="603732"/>
                          <a:ext cx="11430000" cy="301585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3490123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1,2,3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-c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-c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楷体" panose="02010609060101010101" pitchFamily="49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6467448"/>
                </p:ext>
              </p:extLst>
            </p:nvPr>
          </p:nvGraphicFramePr>
          <p:xfrm>
            <a:off x="58881" y="4652881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87" name="文档" r:id="rId5" imgW="4510061" imgH="396786" progId="Word.Document.12">
                    <p:embed/>
                  </p:oleObj>
                </mc:Choice>
                <mc:Fallback>
                  <p:oleObj name="文档" r:id="rId5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8881" y="4652881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66828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是特殊的函数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其特殊性主要体现在定义域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因此在研究数列时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常借助函数的思想来分析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如本章中等差数列的单调性同一次函数单调性的关系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等比数列的有关性质同指数函数性质间的关系等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因此对于数列问题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可以类比函数的一些性质来研究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例如数列中求某项的取值范围问题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某个参数的取值范围问题就可以利用函数的思想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转化成求函数的值域或解不等式问题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在等差数列、等比数列中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已知五个基本量中的几个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来求另几个时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往往是设基本量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建立方程或方程组来解决问题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79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220518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的图象上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)·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及数列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210356"/>
              </p:ext>
            </p:extLst>
          </p:nvPr>
        </p:nvGraphicFramePr>
        <p:xfrm>
          <a:off x="41564" y="2482800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6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2482800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639423"/>
              </p:ext>
            </p:extLst>
          </p:nvPr>
        </p:nvGraphicFramePr>
        <p:xfrm>
          <a:off x="391391" y="3405260"/>
          <a:ext cx="11430000" cy="2613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7" name="文档" r:id="rId5" imgW="4510061" imgH="1031428" progId="Word.Document.12">
                  <p:embed/>
                </p:oleObj>
              </mc:Choice>
              <mc:Fallback>
                <p:oleObj name="文档" r:id="rId5" imgW="4510061" imgH="10314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1391" y="3405260"/>
                        <a:ext cx="11430000" cy="26139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527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58881" y="51211"/>
            <a:ext cx="11752119" cy="6696108"/>
            <a:chOff x="58881" y="51211"/>
            <a:chExt cx="11752119" cy="669610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1211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证明</a:t>
              </a:r>
              <a:r>
                <a:rPr lang="en-US" altLang="zh-CN" sz="2800" dirty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由已知得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  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式两边取对数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2lg(1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1125201"/>
                </p:ext>
              </p:extLst>
            </p:nvPr>
          </p:nvGraphicFramePr>
          <p:xfrm>
            <a:off x="58881" y="1742949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1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8881" y="1742949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9407852"/>
                </p:ext>
              </p:extLst>
            </p:nvPr>
          </p:nvGraphicFramePr>
          <p:xfrm>
            <a:off x="4126490" y="142656"/>
            <a:ext cx="693737" cy="506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2" name="文档" r:id="rId5" imgW="282523" imgH="201096" progId="Word.Document.12">
                    <p:embed/>
                  </p:oleObj>
                </mc:Choice>
                <mc:Fallback>
                  <p:oleObj name="文档" r:id="rId5" imgW="282523" imgH="20109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26490" y="142656"/>
                          <a:ext cx="693737" cy="5064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2648142"/>
              <a:ext cx="6721712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是公比为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的等比数列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3744945"/>
                </p:ext>
              </p:extLst>
            </p:nvPr>
          </p:nvGraphicFramePr>
          <p:xfrm>
            <a:off x="58881" y="3128661"/>
            <a:ext cx="11430000" cy="36186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3" name="文档" r:id="rId7" imgW="4510061" imgH="1427854" progId="Word.Document.12">
                    <p:embed/>
                  </p:oleObj>
                </mc:Choice>
                <mc:Fallback>
                  <p:oleObj name="文档" r:id="rId7" imgW="4510061" imgH="14278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8881" y="3128661"/>
                          <a:ext cx="11430000" cy="36186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75446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738026"/>
              </p:ext>
            </p:extLst>
          </p:nvPr>
        </p:nvGraphicFramePr>
        <p:xfrm>
          <a:off x="51955" y="78012"/>
          <a:ext cx="11430000" cy="6634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8" name="文档" r:id="rId3" imgW="4510061" imgH="2617853" progId="Word.Document.12">
                  <p:embed/>
                </p:oleObj>
              </mc:Choice>
              <mc:Fallback>
                <p:oleObj name="文档" r:id="rId3" imgW="4510061" imgH="26178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78012"/>
                        <a:ext cx="11430000" cy="66345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352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1955" y="98113"/>
            <a:ext cx="11759045" cy="2477929"/>
            <a:chOff x="51955" y="56549"/>
            <a:chExt cx="11759045" cy="247792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6549"/>
              <a:ext cx="3797835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专题六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数学归纳法</a:t>
              </a:r>
              <a:r>
                <a:rPr lang="zh-CN" altLang="en-US" sz="2800" dirty="0" smtClean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6415898"/>
                </p:ext>
              </p:extLst>
            </p:nvPr>
          </p:nvGraphicFramePr>
          <p:xfrm>
            <a:off x="51955" y="521997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80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955" y="521997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1382111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1,2,3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试比较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的大小关系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猜想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的大小关系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并给出证明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1955" y="2492914"/>
            <a:ext cx="11759045" cy="3753214"/>
            <a:chOff x="51955" y="3062129"/>
            <a:chExt cx="11759045" cy="3753214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8088420"/>
                </p:ext>
              </p:extLst>
            </p:nvPr>
          </p:nvGraphicFramePr>
          <p:xfrm>
            <a:off x="51955" y="3062129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81" name="文档" r:id="rId5" imgW="4510061" imgH="397147" progId="Word.Document.12">
                    <p:embed/>
                  </p:oleObj>
                </mc:Choice>
                <mc:Fallback>
                  <p:oleObj name="文档" r:id="rId5" imgW="4510061" imgH="3971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955" y="3062129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81000" y="3922243"/>
              <a:ext cx="11430000" cy="289310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易得当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1,2,3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两个函数值的大小关系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可以归纳推理得到猜想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归纳推理的结论不一定正确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我们可用数学归纳法进行证明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不等式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1,2,3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时成立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再假设不等式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n=k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时成立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进而证明当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n=k+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不等式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也成立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最后得到不等式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对于所有的正整数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成立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528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1955" y="1331698"/>
            <a:ext cx="11759045" cy="3173022"/>
            <a:chOff x="51955" y="1674601"/>
            <a:chExt cx="11759045" cy="317302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674601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(1);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9622428"/>
                </p:ext>
              </p:extLst>
            </p:nvPr>
          </p:nvGraphicFramePr>
          <p:xfrm>
            <a:off x="51955" y="2837359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67" name="文档" r:id="rId3" imgW="4510061" imgH="793212" progId="Word.Document.12">
                    <p:embed/>
                  </p:oleObj>
                </mc:Choice>
                <mc:Fallback>
                  <p:oleObj name="文档" r:id="rId3" imgW="4510061" imgH="7932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955" y="2837359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3879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2346" y="248162"/>
            <a:ext cx="11748654" cy="5693489"/>
            <a:chOff x="62346" y="331290"/>
            <a:chExt cx="11748654" cy="569348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331290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猜想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下面用数学归纳法给出证明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1,2,3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不等式显然成立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7780141"/>
                </p:ext>
              </p:extLst>
            </p:nvPr>
          </p:nvGraphicFramePr>
          <p:xfrm>
            <a:off x="62346" y="1400529"/>
            <a:ext cx="11430000" cy="4624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92" name="文档" r:id="rId3" imgW="4510061" imgH="1826082" progId="Word.Document.12">
                    <p:embed/>
                  </p:oleObj>
                </mc:Choice>
                <mc:Fallback>
                  <p:oleObj name="文档" r:id="rId3" imgW="4510061" imgH="182608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2346" y="1400529"/>
                          <a:ext cx="11430000" cy="46242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41427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63323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数学归纳法的两点关注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数学归纳法证明等式或不等式问题是数学归纳法的常见题型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其关键点在于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先看项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弄清等式或不等式两边的构成规律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等式或不等式两边各有多少项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初始值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是多少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除等式或不等式两边变化的项外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还要利用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时的式子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即利用假设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正确写出归纳证明的步骤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从而使问题得以证明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24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1954" y="1473785"/>
            <a:ext cx="11759046" cy="2015313"/>
            <a:chOff x="51954" y="2055679"/>
            <a:chExt cx="11759046" cy="2015313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0981303"/>
                </p:ext>
              </p:extLst>
            </p:nvPr>
          </p:nvGraphicFramePr>
          <p:xfrm>
            <a:off x="51954" y="2055679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13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954" y="2055679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918625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猜想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的通项公式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并证明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828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8493" y="207118"/>
            <a:ext cx="11762507" cy="5620960"/>
            <a:chOff x="48493" y="279855"/>
            <a:chExt cx="11762507" cy="5620960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7819248"/>
                </p:ext>
              </p:extLst>
            </p:nvPr>
          </p:nvGraphicFramePr>
          <p:xfrm>
            <a:off x="48493" y="279855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68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493" y="279855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1101716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猜想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=n.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证明如下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猜想成立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②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假设当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n=k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猜想成立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=k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n=k+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2522572"/>
                </p:ext>
              </p:extLst>
            </p:nvPr>
          </p:nvGraphicFramePr>
          <p:xfrm>
            <a:off x="48493" y="2835018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69" name="文档" r:id="rId5" imgW="4510061" imgH="793212" progId="Word.Document.12">
                    <p:embed/>
                  </p:oleObj>
                </mc:Choice>
                <mc:Fallback>
                  <p:oleObj name="文档" r:id="rId5" imgW="4510061" imgH="7932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493" y="2835018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4748448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n=k+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猜想也成立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根据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①②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对任意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都有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=n.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141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高考体验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1115812"/>
            <a:ext cx="11430000" cy="306545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考点一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数列的判定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(2021·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全国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乙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497665"/>
              </p:ext>
            </p:extLst>
          </p:nvPr>
        </p:nvGraphicFramePr>
        <p:xfrm>
          <a:off x="687997" y="2370642"/>
          <a:ext cx="1323911" cy="653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1" name="文档" r:id="rId3" imgW="702747" imgH="344285" progId="Word.Document.12">
                  <p:embed/>
                </p:oleObj>
              </mc:Choice>
              <mc:Fallback>
                <p:oleObj name="文档" r:id="rId3" imgW="702747" imgH="344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7997" y="2370642"/>
                        <a:ext cx="1323911" cy="6536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731927"/>
              </p:ext>
            </p:extLst>
          </p:nvPr>
        </p:nvGraphicFramePr>
        <p:xfrm>
          <a:off x="468815" y="215757"/>
          <a:ext cx="11275153" cy="5846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3" name="文档" r:id="rId3" imgW="4510061" imgH="2338481" progId="Word.Document.12">
                  <p:embed/>
                </p:oleObj>
              </mc:Choice>
              <mc:Fallback>
                <p:oleObj name="文档" r:id="rId3" imgW="4510061" imgH="23384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815" y="215757"/>
                        <a:ext cx="11275153" cy="58462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49580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(2021·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全国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甲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的各项均为正数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从下面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①②③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中选取两个作为条件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证明另外一个成立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7934789"/>
              </p:ext>
            </p:extLst>
          </p:nvPr>
        </p:nvGraphicFramePr>
        <p:xfrm>
          <a:off x="479206" y="1222729"/>
          <a:ext cx="11275153" cy="597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9" name="文档" r:id="rId3" imgW="4510061" imgH="238987" progId="Word.Document.12">
                  <p:embed/>
                </p:oleObj>
              </mc:Choice>
              <mc:Fallback>
                <p:oleObj name="文档" r:id="rId3" imgW="4510061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1222729"/>
                        <a:ext cx="11275153" cy="5974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79686"/>
              </p:ext>
            </p:extLst>
          </p:nvPr>
        </p:nvGraphicFramePr>
        <p:xfrm>
          <a:off x="468815" y="1799415"/>
          <a:ext cx="11275153" cy="482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0" name="文档" r:id="rId5" imgW="4510061" imgH="1930585" progId="Word.Document.12">
                  <p:embed/>
                </p:oleObj>
              </mc:Choice>
              <mc:Fallback>
                <p:oleObj name="文档" r:id="rId5" imgW="4510061" imgH="19305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8815" y="1799415"/>
                        <a:ext cx="11275153" cy="4826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370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81000" y="588240"/>
            <a:ext cx="11430000" cy="4043239"/>
            <a:chOff x="381000" y="588240"/>
            <a:chExt cx="11430000" cy="4043239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588240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若选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①③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⇒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②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设等差数列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的公差为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+d=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1811379"/>
                </p:ext>
              </p:extLst>
            </p:nvPr>
          </p:nvGraphicFramePr>
          <p:xfrm>
            <a:off x="468815" y="2335046"/>
            <a:ext cx="11275153" cy="2296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31" name="文档" r:id="rId3" imgW="4510061" imgH="918573" progId="Word.Document.12">
                    <p:embed/>
                  </p:oleObj>
                </mc:Choice>
                <mc:Fallback>
                  <p:oleObj name="文档" r:id="rId3" imgW="4510061" imgH="91857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68815" y="2335046"/>
                          <a:ext cx="11275153" cy="229643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71302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81000" y="276327"/>
            <a:ext cx="11430000" cy="5673181"/>
            <a:chOff x="381000" y="276327"/>
            <a:chExt cx="11430000" cy="5673181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4697986"/>
                </p:ext>
              </p:extLst>
            </p:nvPr>
          </p:nvGraphicFramePr>
          <p:xfrm>
            <a:off x="468815" y="276327"/>
            <a:ext cx="11275153" cy="3421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46" name="文档" r:id="rId3" imgW="4510061" imgH="1368516" progId="Word.Document.12">
                    <p:embed/>
                  </p:oleObj>
                </mc:Choice>
                <mc:Fallback>
                  <p:oleObj name="文档" r:id="rId3" imgW="4510061" imgH="136851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68815" y="276327"/>
                          <a:ext cx="11275153" cy="342129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3676835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=n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也成立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是等差数列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2851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902"/>
            <a:ext cx="11430000" cy="65987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考点二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数列的基本运算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(2022·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新高考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中国的古建筑不仅是挡风遮雨的住处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更是美学和哲学的体现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是某古建筑物中的举架结构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DD'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相邻桁的水平距离称为步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垂直距离称为举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是某古代建筑屋顶截面的示意图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举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是相等的步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相邻桁的举步的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是公差为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30000"/>
              </a:lnSpc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3440935"/>
              </p:ext>
            </p:extLst>
          </p:nvPr>
        </p:nvGraphicFramePr>
        <p:xfrm>
          <a:off x="1625745" y="3057653"/>
          <a:ext cx="468312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9" name="文档" r:id="rId3" imgW="1886018" imgH="258034" progId="Word.Document.12">
                  <p:embed/>
                </p:oleObj>
              </mc:Choice>
              <mc:Fallback>
                <p:oleObj name="文档" r:id="rId3" imgW="1886018" imgH="2580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5745" y="3057653"/>
                        <a:ext cx="4683125" cy="639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5567827" y="3801325"/>
            <a:ext cx="6232782" cy="2722811"/>
            <a:chOff x="5567827" y="3801325"/>
            <a:chExt cx="6232782" cy="2722811"/>
          </a:xfrm>
        </p:grpSpPr>
        <p:grpSp>
          <p:nvGrpSpPr>
            <p:cNvPr id="12" name="组合 11"/>
            <p:cNvGrpSpPr/>
            <p:nvPr/>
          </p:nvGrpSpPr>
          <p:grpSpPr>
            <a:xfrm>
              <a:off x="6419767" y="4042280"/>
              <a:ext cx="5380842" cy="2481856"/>
              <a:chOff x="6419767" y="4042280"/>
              <a:chExt cx="5380842" cy="2481856"/>
            </a:xfrm>
          </p:grpSpPr>
          <p:pic>
            <p:nvPicPr>
              <p:cNvPr id="9" name="23R03.eps" descr="id:2147505624;FounderCES"/>
              <p:cNvPicPr/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243745" y="4042280"/>
                <a:ext cx="3556864" cy="1648687"/>
              </a:xfrm>
              <a:prstGeom prst="rect">
                <a:avLst/>
              </a:prstGeom>
            </p:spPr>
          </p:pic>
          <p:sp>
            <p:nvSpPr>
              <p:cNvPr id="10" name="矩形 9"/>
              <p:cNvSpPr>
                <a:spLocks noChangeAspect="1"/>
              </p:cNvSpPr>
              <p:nvPr/>
            </p:nvSpPr>
            <p:spPr>
              <a:xfrm>
                <a:off x="6419767" y="5931923"/>
                <a:ext cx="723275" cy="5922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图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矩形 10"/>
              <p:cNvSpPr>
                <a:spLocks noChangeAspect="1"/>
              </p:cNvSpPr>
              <p:nvPr/>
            </p:nvSpPr>
            <p:spPr>
              <a:xfrm>
                <a:off x="9660539" y="5931923"/>
                <a:ext cx="723275" cy="5922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图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5" name="24E01.eps" descr="id:2147505525;FounderCES"/>
            <p:cNvPicPr/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567827" y="3801325"/>
              <a:ext cx="2447383" cy="21305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335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591393"/>
            <a:ext cx="11430000" cy="65248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不妨设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110086"/>
              </p:ext>
            </p:extLst>
          </p:nvPr>
        </p:nvGraphicFramePr>
        <p:xfrm>
          <a:off x="479206" y="1295834"/>
          <a:ext cx="11275153" cy="349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7" name="文档" r:id="rId3" imgW="4510061" imgH="1397985" progId="Word.Document.12">
                  <p:embed/>
                </p:oleObj>
              </mc:Choice>
              <mc:Fallback>
                <p:oleObj name="文档" r:id="rId3" imgW="4510061" imgH="13979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1295834"/>
                        <a:ext cx="11275153" cy="3494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81000" y="4718060"/>
            <a:ext cx="135165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44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3214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2019·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北京高考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的最小值为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的性质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大于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的最小值为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677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576391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(2022·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新高考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为公比为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求集合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k|b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,1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中元素的个数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201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81000" y="355416"/>
            <a:ext cx="11430000" cy="50734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设等差数列的公差为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整理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得证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1)·2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故集合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k|b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,1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中元素的个数为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20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20646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考点三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数列的通项公式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2019·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全国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Ⅰ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	B.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0874105"/>
              </p:ext>
            </p:extLst>
          </p:nvPr>
        </p:nvGraphicFramePr>
        <p:xfrm>
          <a:off x="3372182" y="2270342"/>
          <a:ext cx="527178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0" name="文档" r:id="rId3" imgW="285035" imgH="397130" progId="Word.Document.12">
                  <p:embed/>
                </p:oleObj>
              </mc:Choice>
              <mc:Fallback>
                <p:oleObj name="文档" r:id="rId3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72182" y="2270342"/>
                        <a:ext cx="527178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809791"/>
              </p:ext>
            </p:extLst>
          </p:nvPr>
        </p:nvGraphicFramePr>
        <p:xfrm>
          <a:off x="468815" y="3034528"/>
          <a:ext cx="11275153" cy="255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1" name="文档" r:id="rId5" imgW="4510061" imgH="1021715" progId="Word.Document.12">
                  <p:embed/>
                </p:oleObj>
              </mc:Choice>
              <mc:Fallback>
                <p:oleObj name="文档" r:id="rId5" imgW="4510061" imgH="10217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8815" y="3034528"/>
                        <a:ext cx="11275153" cy="2554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81000" y="5588816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031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290453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(2021·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浙江高考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对任意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恒成立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求实数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602711"/>
              </p:ext>
            </p:extLst>
          </p:nvPr>
        </p:nvGraphicFramePr>
        <p:xfrm>
          <a:off x="8173651" y="311235"/>
          <a:ext cx="510361" cy="645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2" name="文档" r:id="rId3" imgW="256036" imgH="313738" progId="Word.Document.12">
                  <p:embed/>
                </p:oleObj>
              </mc:Choice>
              <mc:Fallback>
                <p:oleObj name="文档" r:id="rId3" imgW="256036" imgH="3137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73651" y="311235"/>
                        <a:ext cx="510361" cy="645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46283"/>
              </p:ext>
            </p:extLst>
          </p:nvPr>
        </p:nvGraphicFramePr>
        <p:xfrm>
          <a:off x="468815" y="4262295"/>
          <a:ext cx="11275153" cy="1446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3" name="文档" r:id="rId5" imgW="4510061" imgH="578601" progId="Word.Document.12">
                  <p:embed/>
                </p:oleObj>
              </mc:Choice>
              <mc:Fallback>
                <p:oleObj name="文档" r:id="rId5" imgW="4510061" imgH="5786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8815" y="4262295"/>
                        <a:ext cx="11275153" cy="14465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492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103357"/>
              </p:ext>
            </p:extLst>
          </p:nvPr>
        </p:nvGraphicFramePr>
        <p:xfrm>
          <a:off x="479206" y="147260"/>
          <a:ext cx="11275153" cy="617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6" name="文档" r:id="rId3" imgW="4510061" imgH="2469295" progId="Word.Document.12">
                  <p:embed/>
                </p:oleObj>
              </mc:Choice>
              <mc:Fallback>
                <p:oleObj name="文档" r:id="rId3" imgW="4510061" imgH="24692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147260"/>
                        <a:ext cx="11275153" cy="617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5532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533357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(2023·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新高考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分别为数列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+T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4966518"/>
              </p:ext>
            </p:extLst>
          </p:nvPr>
        </p:nvGraphicFramePr>
        <p:xfrm>
          <a:off x="9190327" y="1378960"/>
          <a:ext cx="947737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99" name="文档" r:id="rId3" imgW="387399" imgH="398949" progId="Word.Document.12">
                  <p:embed/>
                </p:oleObj>
              </mc:Choice>
              <mc:Fallback>
                <p:oleObj name="文档" r:id="rId3" imgW="387399" imgH="3989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90327" y="1378960"/>
                        <a:ext cx="947737" cy="992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6925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381000" y="591561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117416"/>
              </p:ext>
            </p:extLst>
          </p:nvPr>
        </p:nvGraphicFramePr>
        <p:xfrm>
          <a:off x="479206" y="1691973"/>
          <a:ext cx="11275153" cy="396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0" name="文档" r:id="rId3" imgW="4510061" imgH="1586785" progId="Word.Document.12">
                  <p:embed/>
                </p:oleObj>
              </mc:Choice>
              <mc:Fallback>
                <p:oleObj name="文档" r:id="rId3" imgW="4510061" imgH="15867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1691973"/>
                        <a:ext cx="11275153" cy="3966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729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380719"/>
              </p:ext>
            </p:extLst>
          </p:nvPr>
        </p:nvGraphicFramePr>
        <p:xfrm>
          <a:off x="479206" y="301235"/>
          <a:ext cx="11275153" cy="5553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23" name="文档" r:id="rId3" imgW="4510061" imgH="2221427" progId="Word.Document.12">
                  <p:embed/>
                </p:oleObj>
              </mc:Choice>
              <mc:Fallback>
                <p:oleObj name="文档" r:id="rId3" imgW="4510061" imgH="22214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301235"/>
                        <a:ext cx="11275153" cy="55535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1917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532866"/>
              </p:ext>
            </p:extLst>
          </p:nvPr>
        </p:nvGraphicFramePr>
        <p:xfrm>
          <a:off x="479206" y="280451"/>
          <a:ext cx="11275153" cy="5553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46" name="文档" r:id="rId3" imgW="4510061" imgH="2221427" progId="Word.Document.12">
                  <p:embed/>
                </p:oleObj>
              </mc:Choice>
              <mc:Fallback>
                <p:oleObj name="文档" r:id="rId3" imgW="4510061" imgH="22214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280451"/>
                        <a:ext cx="11275153" cy="55535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394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0692804"/>
              </p:ext>
            </p:extLst>
          </p:nvPr>
        </p:nvGraphicFramePr>
        <p:xfrm>
          <a:off x="479206" y="855547"/>
          <a:ext cx="11275153" cy="396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70" name="文档" r:id="rId3" imgW="4510061" imgH="1586785" progId="Word.Document.12">
                  <p:embed/>
                </p:oleObj>
              </mc:Choice>
              <mc:Fallback>
                <p:oleObj name="文档" r:id="rId3" imgW="4510061" imgH="15867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855547"/>
                        <a:ext cx="11275153" cy="3966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2780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考点四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数列的前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项和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(2023·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新高考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A.120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B.85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66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259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≠21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321258"/>
              </p:ext>
            </p:extLst>
          </p:nvPr>
        </p:nvGraphicFramePr>
        <p:xfrm>
          <a:off x="479206" y="1872017"/>
          <a:ext cx="11275153" cy="2578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18" name="文档" r:id="rId3" imgW="4510061" imgH="1031428" progId="Word.Document.12">
                  <p:embed/>
                </p:oleObj>
              </mc:Choice>
              <mc:Fallback>
                <p:oleObj name="文档" r:id="rId3" imgW="4510061" imgH="10314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1872017"/>
                        <a:ext cx="11275153" cy="2578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283698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63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88240"/>
            <a:ext cx="11430000" cy="306545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2019·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全国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Ⅲ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en-US" altLang="zh-CN" sz="2800" i="1" dirty="0" smtClean="0">
              <a:solidFill>
                <a:srgbClr val="000000"/>
              </a:solidFill>
              <a:effectLst/>
              <a:latin typeface="宋体" panose="02010600030101010101" pitchFamily="2" charset="-12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290702"/>
              </p:ext>
            </p:extLst>
          </p:nvPr>
        </p:nvGraphicFramePr>
        <p:xfrm>
          <a:off x="407895" y="1153508"/>
          <a:ext cx="537914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00" name="文档" r:id="rId3" imgW="291923" imgH="397868" progId="Word.Document.12">
                  <p:embed/>
                </p:oleObj>
              </mc:Choice>
              <mc:Fallback>
                <p:oleObj name="文档" r:id="rId3" imgW="291923" imgH="3978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7895" y="1153508"/>
                        <a:ext cx="537914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864600"/>
              </p:ext>
            </p:extLst>
          </p:nvPr>
        </p:nvGraphicFramePr>
        <p:xfrm>
          <a:off x="494868" y="3625853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01" name="文档" r:id="rId5" imgW="4510061" imgH="396786" progId="Word.Document.12">
                  <p:embed/>
                </p:oleObj>
              </mc:Choice>
              <mc:Fallback>
                <p:oleObj name="文档" r:id="rId5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4868" y="3625853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4608282"/>
            <a:ext cx="127150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66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0607"/>
              </p:ext>
            </p:extLst>
          </p:nvPr>
        </p:nvGraphicFramePr>
        <p:xfrm>
          <a:off x="479206" y="244589"/>
          <a:ext cx="11275153" cy="11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4" name="文档" r:id="rId3" imgW="4510061" imgH="462880" progId="Word.Document.12">
                  <p:embed/>
                </p:oleObj>
              </mc:Choice>
              <mc:Fallback>
                <p:oleObj name="文档" r:id="rId3" imgW="4510061" imgH="4628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244589"/>
                        <a:ext cx="11275153" cy="11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>
                <a:spLocks noChangeAspect="1"/>
              </p:cNvSpPr>
              <p:nvPr/>
            </p:nvSpPr>
            <p:spPr>
              <a:xfrm>
                <a:off x="381000" y="1248556"/>
                <a:ext cx="11430000" cy="451328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记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写出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并求数列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的通项公式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求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的前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项和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-b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是首项为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公差为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的等差数列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1)×3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248556"/>
                <a:ext cx="11430000" cy="4513287"/>
              </a:xfrm>
              <a:prstGeom prst="rect">
                <a:avLst/>
              </a:prstGeom>
              <a:blipFill rotWithShape="0">
                <a:blip r:embed="rId5"/>
                <a:stretch>
                  <a:fillRect l="-1120" t="-405" b="-29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310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81000" y="702541"/>
            <a:ext cx="11430000" cy="4181535"/>
            <a:chOff x="381000" y="702541"/>
            <a:chExt cx="11430000" cy="41815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1"/>
                <p:cNvSpPr>
                  <a:spLocks noChangeAspect="1"/>
                </p:cNvSpPr>
                <p:nvPr/>
              </p:nvSpPr>
              <p:spPr>
                <a:xfrm>
                  <a:off x="381000" y="702541"/>
                  <a:ext cx="11430000" cy="2832827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>
                    <a:lnSpc>
                      <a:spcPct val="130000"/>
                    </a:lnSpc>
                    <a:spcAft>
                      <a:spcPts val="0"/>
                    </a:spcAft>
                    <a:tabLst>
                      <a:tab pos="1029335" algn="l"/>
                      <a:tab pos="1850390" algn="l"/>
                      <a:tab pos="2538095" algn="l"/>
                      <a:tab pos="3221990" algn="l"/>
                    </a:tabLst>
                  </a:pP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(2)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由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(1)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知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数列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zh-CN" altLang="zh-CN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zh-CN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的偶数项组成的数列是以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为公差的等差数列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由已知得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800" i="1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=a</a:t>
                  </a:r>
                  <a:r>
                    <a:rPr lang="en-US" altLang="zh-CN" sz="2800" i="1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n+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1,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为奇数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所以数列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{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800" i="1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}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的奇数项组成的数列也是以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为公差的等差数列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  <a:endParaRPr lang="zh-CN" altLang="zh-CN" sz="2800" dirty="0">
                    <a:solidFill>
                      <a:srgbClr val="000000"/>
                    </a:solidFill>
                    <a:effectLst/>
                    <a:latin typeface="NEU-BZ-S92"/>
                    <a:ea typeface="方正书宋_GBK" panose="03000509000000000000" pitchFamily="65" charset="-122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30000"/>
                    </a:lnSpc>
                    <a:spcAft>
                      <a:spcPts val="0"/>
                    </a:spcAft>
                    <a:tabLst>
                      <a:tab pos="1029335" algn="l"/>
                      <a:tab pos="1850390" algn="l"/>
                      <a:tab pos="2538095" algn="l"/>
                      <a:tab pos="3221990" algn="l"/>
                    </a:tabLst>
                  </a:pPr>
                  <a:r>
                    <a:rPr lang="zh-CN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设数列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zh-CN" altLang="zh-CN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zh-CN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的前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项和为</a:t>
                  </a:r>
                  <a:r>
                    <a:rPr lang="en-US" altLang="zh-CN" sz="2800" i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altLang="zh-CN" sz="2800" i="1" baseline="-25000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CN" sz="28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</a:t>
                  </a:r>
                </a:p>
                <a:p>
                  <a:pPr>
                    <a:lnSpc>
                      <a:spcPct val="130000"/>
                    </a:lnSpc>
                    <a:spcAft>
                      <a:spcPts val="0"/>
                    </a:spcAft>
                    <a:tabLst>
                      <a:tab pos="1029335" algn="l"/>
                      <a:tab pos="1850390" algn="l"/>
                      <a:tab pos="2538095" algn="l"/>
                      <a:tab pos="3221990" algn="l"/>
                    </a:tabLst>
                  </a:pPr>
                  <a:r>
                    <a:rPr lang="zh-CN" altLang="zh-CN" sz="2800" dirty="0" smtClean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则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20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+a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+a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effectLst/>
                      <a:latin typeface="楷体" panose="02010609060101010101" pitchFamily="49" charset="-122"/>
                      <a:ea typeface="方正书宋_GBK" panose="03000509000000000000" pitchFamily="65" charset="-122"/>
                      <a:cs typeface="Times New Roman" panose="02020603050405020304" pitchFamily="18" charset="0"/>
                    </a:rPr>
                    <a:t>…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+a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19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+a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effectLst/>
                      <a:latin typeface="楷体" panose="02010609060101010101" pitchFamily="49" charset="-122"/>
                      <a:ea typeface="方正书宋_GBK" panose="03000509000000000000" pitchFamily="65" charset="-122"/>
                      <a:cs typeface="Times New Roman" panose="02020603050405020304" pitchFamily="18" charset="0"/>
                    </a:rPr>
                    <a:t>…</a:t>
                  </a:r>
                  <a:r>
                    <a:rPr lang="en-US" altLang="zh-CN" sz="28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+a</a:t>
                  </a:r>
                  <a:r>
                    <a:rPr lang="en-US" altLang="zh-CN" sz="280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20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zh-CN" altLang="zh-CN" sz="2800" dirty="0">
                    <a:solidFill>
                      <a:srgbClr val="000000"/>
                    </a:solidFill>
                    <a:effectLst/>
                    <a:latin typeface="NEU-BZ-S92"/>
                    <a:ea typeface="方正书宋_GBK" panose="03000509000000000000" pitchFamily="65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" name="矩形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" y="702541"/>
                  <a:ext cx="11430000" cy="2832827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120" t="-430" b="-51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" name="对象 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43243135"/>
                    </p:ext>
                  </p:extLst>
                </p:nvPr>
              </p:nvGraphicFramePr>
              <p:xfrm>
                <a:off x="479206" y="3589825"/>
                <a:ext cx="11275153" cy="6729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75788" name="文档" r:id="rId4" imgW="4510061" imgH="269175" progId="Word.Document.12">
                        <p:embed/>
                      </p:oleObj>
                    </mc:Choice>
                    <mc:Fallback>
                      <p:oleObj name="文档" r:id="rId4" imgW="4510061" imgH="269175" progId="Word.Document.12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79206" y="3589825"/>
                              <a:ext cx="11275153" cy="67293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" name="对象 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43243135"/>
                    </p:ext>
                  </p:extLst>
                </p:nvPr>
              </p:nvGraphicFramePr>
              <p:xfrm>
                <a:off x="479206" y="3589825"/>
                <a:ext cx="11275153" cy="6729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75780" name="文档" r:id="rId6" imgW="4510061" imgH="269175" progId="Word.Document.12">
                        <p:embed/>
                      </p:oleObj>
                    </mc:Choice>
                    <mc:Fallback>
                      <p:oleObj name="文档" r:id="rId6" imgW="4510061" imgH="269175" progId="Word.Document.12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79206" y="3589825"/>
                              <a:ext cx="11275153" cy="67293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/>
                <p:cNvSpPr>
                  <a:spLocks noChangeAspect="1"/>
                </p:cNvSpPr>
                <p:nvPr/>
              </p:nvSpPr>
              <p:spPr>
                <a:xfrm>
                  <a:off x="381000" y="4231590"/>
                  <a:ext cx="4443076" cy="6524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30000"/>
                    </a:lnSpc>
                    <a:spcAft>
                      <a:spcPts val="0"/>
                    </a:spcAft>
                    <a:tabLst>
                      <a:tab pos="1029335" algn="l"/>
                      <a:tab pos="1850390" algn="l"/>
                      <a:tab pos="2538095" algn="l"/>
                      <a:tab pos="3221990" algn="l"/>
                    </a:tabLst>
                  </a:pPr>
                  <a:r>
                    <a:rPr lang="zh-CN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所以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zh-CN" altLang="zh-CN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zh-CN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的前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20</a:t>
                  </a:r>
                  <a:r>
                    <a:rPr lang="zh-CN" altLang="zh-CN" sz="28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项和为</a:t>
                  </a:r>
                  <a:r>
                    <a:rPr lang="en-US" altLang="zh-CN" sz="2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300</a:t>
                  </a:r>
                  <a:r>
                    <a:rPr lang="en-US" altLang="zh-CN" sz="2800" i="1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 </a:t>
                  </a:r>
                  <a:endParaRPr lang="zh-CN" altLang="zh-CN" sz="2800" dirty="0">
                    <a:solidFill>
                      <a:srgbClr val="000000"/>
                    </a:solidFill>
                    <a:effectLst/>
                    <a:latin typeface="NEU-BZ-S92"/>
                    <a:ea typeface="方正书宋_GBK" panose="03000509000000000000" pitchFamily="65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" y="4231590"/>
                  <a:ext cx="4443076" cy="65248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2885" t="-1869" r="-1786" b="-168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36317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116875"/>
              </p:ext>
            </p:extLst>
          </p:nvPr>
        </p:nvGraphicFramePr>
        <p:xfrm>
          <a:off x="479206" y="941889"/>
          <a:ext cx="11275153" cy="1487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81" name="文档" r:id="rId3" imgW="4510061" imgH="594999" progId="Word.Document.12">
                  <p:embed/>
                </p:oleObj>
              </mc:Choice>
              <mc:Fallback>
                <p:oleObj name="文档" r:id="rId3" imgW="4510061" imgH="5949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941889"/>
                        <a:ext cx="11275153" cy="14874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285259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分别为数列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944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297320"/>
              </p:ext>
            </p:extLst>
          </p:nvPr>
        </p:nvGraphicFramePr>
        <p:xfrm>
          <a:off x="479206" y="615373"/>
          <a:ext cx="11275153" cy="4561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42" name="文档" r:id="rId3" imgW="4510061" imgH="1824641" progId="Word.Document.12">
                  <p:embed/>
                </p:oleObj>
              </mc:Choice>
              <mc:Fallback>
                <p:oleObj name="文档" r:id="rId3" imgW="4510061" imgH="18246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615373"/>
                        <a:ext cx="11275153" cy="45616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009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292513"/>
              </p:ext>
            </p:extLst>
          </p:nvPr>
        </p:nvGraphicFramePr>
        <p:xfrm>
          <a:off x="479206" y="553027"/>
          <a:ext cx="11275153" cy="4759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65" name="文档" r:id="rId3" imgW="4510061" imgH="1903926" progId="Word.Document.12">
                  <p:embed/>
                </p:oleObj>
              </mc:Choice>
              <mc:Fallback>
                <p:oleObj name="文档" r:id="rId3" imgW="4510061" imgH="19039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553027"/>
                        <a:ext cx="11275153" cy="4759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0031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21762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为偶数时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6)]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21536"/>
              </p:ext>
            </p:extLst>
          </p:nvPr>
        </p:nvGraphicFramePr>
        <p:xfrm>
          <a:off x="479206" y="2074129"/>
          <a:ext cx="11275153" cy="2578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9" name="文档" r:id="rId3" imgW="4510061" imgH="1031428" progId="Word.Document.12">
                  <p:embed/>
                </p:oleObj>
              </mc:Choice>
              <mc:Fallback>
                <p:oleObj name="文档" r:id="rId3" imgW="4510061" imgH="10314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2074129"/>
                        <a:ext cx="11275153" cy="2578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69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28442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考点五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数学归纳法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(2019·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浙江高考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对每个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成等比数列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756938"/>
              </p:ext>
            </p:extLst>
          </p:nvPr>
        </p:nvGraphicFramePr>
        <p:xfrm>
          <a:off x="479206" y="3321897"/>
          <a:ext cx="11275153" cy="941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11" name="文档" r:id="rId3" imgW="4510061" imgH="376629" progId="Word.Document.12">
                  <p:embed/>
                </p:oleObj>
              </mc:Choice>
              <mc:Fallback>
                <p:oleObj name="文档" r:id="rId3" imgW="4510061" imgH="3766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3321897"/>
                        <a:ext cx="11275153" cy="9415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289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81000" y="706317"/>
            <a:ext cx="11430000" cy="3529329"/>
            <a:chOff x="381000" y="706317"/>
            <a:chExt cx="11430000" cy="3529329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81000" y="706317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设等差数列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的公差为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题意得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从而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=n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成等比数列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9104056"/>
                </p:ext>
              </p:extLst>
            </p:nvPr>
          </p:nvGraphicFramePr>
          <p:xfrm>
            <a:off x="479206" y="3010163"/>
            <a:ext cx="11275153" cy="1225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53" name="文档" r:id="rId3" imgW="4510061" imgH="490193" progId="Word.Document.12">
                    <p:embed/>
                  </p:oleObj>
                </mc:Choice>
                <mc:Fallback>
                  <p:oleObj name="文档" r:id="rId3" imgW="4510061" imgH="49019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79206" y="3010163"/>
                          <a:ext cx="11275153" cy="122548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573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966332"/>
              </p:ext>
            </p:extLst>
          </p:nvPr>
        </p:nvGraphicFramePr>
        <p:xfrm>
          <a:off x="479206" y="311618"/>
          <a:ext cx="11275153" cy="5345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4" name="文档" r:id="rId3" imgW="4510061" imgH="2138306" progId="Word.Document.12">
                  <p:embed/>
                </p:oleObj>
              </mc:Choice>
              <mc:Fallback>
                <p:oleObj name="文档" r:id="rId3" imgW="4510061" imgH="21383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311618"/>
                        <a:ext cx="11275153" cy="5345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4096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186</TotalTime>
  <Words>4567</Words>
  <Application>Microsoft Office PowerPoint</Application>
  <PresentationFormat>宽屏</PresentationFormat>
  <Paragraphs>374</Paragraphs>
  <Slides>92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92</vt:i4>
      </vt:variant>
    </vt:vector>
  </HeadingPairs>
  <TitlesOfParts>
    <vt:vector size="112" baseType="lpstr">
      <vt:lpstr>NEU-BZ-S92</vt:lpstr>
      <vt:lpstr>Open Sans</vt:lpstr>
      <vt:lpstr>方正书宋_GBK</vt:lpstr>
      <vt:lpstr>方正姚体</vt:lpstr>
      <vt:lpstr>仿宋</vt:lpstr>
      <vt:lpstr>黑体</vt:lpstr>
      <vt:lpstr>华文细黑</vt:lpstr>
      <vt:lpstr>华文新魏</vt:lpstr>
      <vt:lpstr>楷体</vt:lpstr>
      <vt:lpstr>思源黑体 CN Medium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1_Office 主题</vt:lpstr>
      <vt:lpstr>文档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121</cp:revision>
  <dcterms:created xsi:type="dcterms:W3CDTF">2021-08-30T08:30:26Z</dcterms:created>
  <dcterms:modified xsi:type="dcterms:W3CDTF">2025-08-01T07:18:46Z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