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docx" ContentType="application/vnd.openxmlformats-officedocument.wordprocessingml.document"/>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7"/>
  </p:notesMasterIdLst>
  <p:sldIdLst>
    <p:sldId id="677" r:id="rId2"/>
    <p:sldId id="488" r:id="rId3"/>
    <p:sldId id="494" r:id="rId4"/>
    <p:sldId id="392" r:id="rId5"/>
    <p:sldId id="686" r:id="rId6"/>
    <p:sldId id="687" r:id="rId7"/>
    <p:sldId id="688" r:id="rId8"/>
    <p:sldId id="689" r:id="rId9"/>
    <p:sldId id="690" r:id="rId10"/>
    <p:sldId id="691" r:id="rId11"/>
    <p:sldId id="692" r:id="rId12"/>
    <p:sldId id="693" r:id="rId13"/>
    <p:sldId id="694" r:id="rId14"/>
    <p:sldId id="695" r:id="rId15"/>
    <p:sldId id="696" r:id="rId16"/>
    <p:sldId id="697" r:id="rId17"/>
    <p:sldId id="698" r:id="rId18"/>
    <p:sldId id="407" r:id="rId19"/>
    <p:sldId id="394" r:id="rId20"/>
    <p:sldId id="699" r:id="rId21"/>
    <p:sldId id="700" r:id="rId22"/>
    <p:sldId id="701" r:id="rId23"/>
    <p:sldId id="702" r:id="rId24"/>
    <p:sldId id="706" r:id="rId25"/>
    <p:sldId id="707" r:id="rId26"/>
    <p:sldId id="402" r:id="rId27"/>
    <p:sldId id="712" r:id="rId28"/>
    <p:sldId id="713" r:id="rId29"/>
    <p:sldId id="498" r:id="rId30"/>
    <p:sldId id="730" r:id="rId31"/>
    <p:sldId id="733" r:id="rId32"/>
    <p:sldId id="743" r:id="rId33"/>
    <p:sldId id="744" r:id="rId34"/>
    <p:sldId id="734" r:id="rId35"/>
    <p:sldId id="737" r:id="rId36"/>
    <p:sldId id="765" r:id="rId37"/>
    <p:sldId id="742" r:id="rId38"/>
    <p:sldId id="740" r:id="rId39"/>
    <p:sldId id="739" r:id="rId40"/>
    <p:sldId id="745" r:id="rId41"/>
    <p:sldId id="746" r:id="rId42"/>
    <p:sldId id="747" r:id="rId43"/>
    <p:sldId id="741" r:id="rId44"/>
    <p:sldId id="738" r:id="rId45"/>
    <p:sldId id="751" r:id="rId46"/>
    <p:sldId id="752" r:id="rId47"/>
    <p:sldId id="753" r:id="rId48"/>
    <p:sldId id="754" r:id="rId49"/>
    <p:sldId id="398" r:id="rId50"/>
    <p:sldId id="395" r:id="rId51"/>
    <p:sldId id="756" r:id="rId52"/>
    <p:sldId id="757" r:id="rId53"/>
    <p:sldId id="758" r:id="rId54"/>
    <p:sldId id="759" r:id="rId55"/>
    <p:sldId id="490" r:id="rId5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68">
          <p15:clr>
            <a:srgbClr val="A4A3A4"/>
          </p15:clr>
        </p15:guide>
        <p15:guide id="2" pos="211" userDrawn="1">
          <p15:clr>
            <a:srgbClr val="A4A3A4"/>
          </p15:clr>
        </p15:guide>
        <p15:guide id="3" orient="horz" pos="436" userDrawn="1">
          <p15:clr>
            <a:srgbClr val="A4A3A4"/>
          </p15:clr>
        </p15:guide>
        <p15:guide id="4" orient="horz" pos="777" userDrawn="1">
          <p15:clr>
            <a:srgbClr val="A4A3A4"/>
          </p15:clr>
        </p15:guide>
        <p15:guide id="5" orient="horz" pos="28" userDrawn="1">
          <p15:clr>
            <a:srgbClr val="A4A3A4"/>
          </p15:clr>
        </p15:guide>
        <p15:guide id="6" pos="257" userDrawn="1">
          <p15:clr>
            <a:srgbClr val="A4A3A4"/>
          </p15:clr>
        </p15:guide>
        <p15:guide id="7" orient="horz" pos="7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C5B3E"/>
    <a:srgbClr val="7088DB"/>
    <a:srgbClr val="CF5B1B"/>
    <a:srgbClr val="38425D"/>
    <a:srgbClr val="4472C4"/>
    <a:srgbClr val="DFF0F5"/>
    <a:srgbClr val="4040C8"/>
    <a:srgbClr val="159470"/>
    <a:srgbClr val="157392"/>
    <a:srgbClr val="15937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92" d="100"/>
          <a:sy n="92" d="100"/>
        </p:scale>
        <p:origin x="498" y="84"/>
      </p:cViewPr>
      <p:guideLst>
        <p:guide orient="horz" pos="368"/>
        <p:guide pos="211"/>
        <p:guide orient="horz" pos="436"/>
        <p:guide orient="horz" pos="777"/>
        <p:guide orient="horz" pos="28"/>
        <p:guide pos="257"/>
        <p:guide orient="horz" pos="73"/>
      </p:guideLst>
    </p:cSldViewPr>
  </p:slideViewPr>
  <p:notesTextViewPr>
    <p:cViewPr>
      <p:scale>
        <a:sx n="1" d="1"/>
        <a:sy n="1" d="1"/>
      </p:scale>
      <p:origin x="0" y="0"/>
    </p:cViewPr>
  </p:notesTextViewPr>
  <p:sorterViewPr>
    <p:cViewPr>
      <p:scale>
        <a:sx n="100" d="100"/>
        <a:sy n="100" d="100"/>
      </p:scale>
      <p:origin x="0" y="-991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emf"/><Relationship Id="rId1" Type="http://schemas.openxmlformats.org/officeDocument/2006/relationships/image" Target="../media/image8.emf"/><Relationship Id="rId4" Type="http://schemas.openxmlformats.org/officeDocument/2006/relationships/image" Target="../media/image1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emf"/><Relationship Id="rId1" Type="http://schemas.openxmlformats.org/officeDocument/2006/relationships/image" Target="../media/image13.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image" Target="../media/image19.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image" Target="../media/image25.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7.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28.e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image" Target="../media/image29.e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image" Target="../media/image31.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35.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36.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38.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39.e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41.e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42.e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43.e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45.e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48.e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50.e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51.emf"/></Relationships>
</file>

<file path=ppt/drawings/_rels/vmlDrawing30.vml.rels><?xml version="1.0" encoding="UTF-8" standalone="yes"?>
<Relationships xmlns="http://schemas.openxmlformats.org/package/2006/relationships"><Relationship Id="rId2" Type="http://schemas.openxmlformats.org/officeDocument/2006/relationships/image" Target="../media/image53.emf"/><Relationship Id="rId1" Type="http://schemas.openxmlformats.org/officeDocument/2006/relationships/image" Target="../media/image52.e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54.e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55.emf"/></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56.emf"/></Relationships>
</file>

<file path=ppt/drawings/_rels/vmlDrawing34.vml.rels><?xml version="1.0" encoding="UTF-8" standalone="yes"?>
<Relationships xmlns="http://schemas.openxmlformats.org/package/2006/relationships"><Relationship Id="rId2" Type="http://schemas.openxmlformats.org/officeDocument/2006/relationships/image" Target="../media/image59.emf"/><Relationship Id="rId1" Type="http://schemas.openxmlformats.org/officeDocument/2006/relationships/image" Target="../media/image58.emf"/></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60.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4B3386-1164-4DE5-87D6-99DD641BC976}" type="datetimeFigureOut">
              <a:rPr lang="zh-CN" altLang="en-US" smtClean="0"/>
              <a:t>2025-08-09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BDB411-4171-48A7-B819-B87F89F6C7EE}" type="slidenum">
              <a:rPr lang="zh-CN" altLang="en-US" smtClean="0"/>
              <a:t>‹#›</a:t>
            </a:fld>
            <a:endParaRPr lang="zh-CN" altLang="en-US"/>
          </a:p>
        </p:txBody>
      </p:sp>
    </p:spTree>
    <p:extLst>
      <p:ext uri="{BB962C8B-B14F-4D97-AF65-F5344CB8AC3E}">
        <p14:creationId xmlns:p14="http://schemas.microsoft.com/office/powerpoint/2010/main" val="12544889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slide" Target="../slides/slide26.xml"/><Relationship Id="rId2"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43.xml"/><Relationship Id="rId5" Type="http://schemas.openxmlformats.org/officeDocument/2006/relationships/slide" Target="../slides/slide38.xml"/><Relationship Id="rId4" Type="http://schemas.openxmlformats.org/officeDocument/2006/relationships/slide" Target="../slides/slide29.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6_标题幻灯片">
    <p:spTree>
      <p:nvGrpSpPr>
        <p:cNvPr id="1" name=""/>
        <p:cNvGrpSpPr/>
        <p:nvPr/>
      </p:nvGrpSpPr>
      <p:grpSpPr>
        <a:xfrm>
          <a:off x="0" y="0"/>
          <a:ext cx="0" cy="0"/>
          <a:chOff x="0" y="0"/>
          <a:chExt cx="0" cy="0"/>
        </a:xfrm>
      </p:grpSpPr>
      <p:sp>
        <p:nvSpPr>
          <p:cNvPr id="7" name="圆角矩形 6">
            <a:hlinkClick r:id="rId2" action="ppaction://hlinksldjump"/>
          </p:cNvPr>
          <p:cNvSpPr/>
          <p:nvPr userDrawn="1"/>
        </p:nvSpPr>
        <p:spPr>
          <a:xfrm>
            <a:off x="6736663"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ln>
                  <a:solidFill>
                    <a:schemeClr val="bg1"/>
                  </a:solidFill>
                </a:ln>
                <a:solidFill>
                  <a:schemeClr val="bg1"/>
                </a:solidFill>
              </a:rPr>
              <a:t>探究一</a:t>
            </a:r>
            <a:endParaRPr lang="zh-CN" altLang="en-US" sz="1400" dirty="0">
              <a:ln>
                <a:solidFill>
                  <a:schemeClr val="bg1"/>
                </a:solidFill>
              </a:ln>
              <a:solidFill>
                <a:schemeClr val="bg1"/>
              </a:solidFill>
            </a:endParaRPr>
          </a:p>
        </p:txBody>
      </p:sp>
      <p:sp>
        <p:nvSpPr>
          <p:cNvPr id="8" name="圆角矩形 7">
            <a:hlinkClick r:id="rId3" action="ppaction://hlinksldjump"/>
          </p:cNvPr>
          <p:cNvSpPr/>
          <p:nvPr userDrawn="1"/>
        </p:nvSpPr>
        <p:spPr>
          <a:xfrm>
            <a:off x="7803007"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dirty="0" smtClean="0">
                <a:ln>
                  <a:solidFill>
                    <a:schemeClr val="bg1"/>
                  </a:solidFill>
                </a:ln>
                <a:solidFill>
                  <a:schemeClr val="bg1"/>
                </a:solidFill>
              </a:rPr>
              <a:t>探究二</a:t>
            </a:r>
            <a:endParaRPr lang="zh-CN" altLang="en-US" sz="1400" dirty="0">
              <a:ln>
                <a:solidFill>
                  <a:schemeClr val="bg1"/>
                </a:solidFill>
              </a:ln>
              <a:solidFill>
                <a:schemeClr val="bg1"/>
              </a:solidFill>
            </a:endParaRPr>
          </a:p>
        </p:txBody>
      </p:sp>
      <p:sp>
        <p:nvSpPr>
          <p:cNvPr id="9" name="圆角矩形 8">
            <a:hlinkClick r:id="rId4" action="ppaction://hlinksldjump"/>
          </p:cNvPr>
          <p:cNvSpPr/>
          <p:nvPr userDrawn="1"/>
        </p:nvSpPr>
        <p:spPr>
          <a:xfrm>
            <a:off x="8869351"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dirty="0" smtClean="0">
                <a:ln>
                  <a:solidFill>
                    <a:schemeClr val="bg1"/>
                  </a:solidFill>
                </a:ln>
                <a:solidFill>
                  <a:schemeClr val="bg1"/>
                </a:solidFill>
              </a:rPr>
              <a:t>探究三</a:t>
            </a:r>
            <a:endParaRPr lang="zh-CN" altLang="en-US" sz="1400" dirty="0">
              <a:ln>
                <a:solidFill>
                  <a:schemeClr val="bg1"/>
                </a:solidFill>
              </a:ln>
              <a:solidFill>
                <a:schemeClr val="bg1"/>
              </a:solidFill>
            </a:endParaRPr>
          </a:p>
        </p:txBody>
      </p:sp>
      <p:sp>
        <p:nvSpPr>
          <p:cNvPr id="5" name="圆角矩形 4">
            <a:hlinkClick r:id="rId5" action="ppaction://hlinksldjump"/>
          </p:cNvPr>
          <p:cNvSpPr/>
          <p:nvPr userDrawn="1"/>
        </p:nvSpPr>
        <p:spPr>
          <a:xfrm>
            <a:off x="9935695"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dirty="0" smtClean="0">
                <a:ln>
                  <a:solidFill>
                    <a:schemeClr val="bg1"/>
                  </a:solidFill>
                </a:ln>
                <a:solidFill>
                  <a:schemeClr val="bg1"/>
                </a:solidFill>
              </a:rPr>
              <a:t>探究四</a:t>
            </a:r>
            <a:endParaRPr lang="zh-CN" altLang="en-US" sz="1400" dirty="0">
              <a:ln>
                <a:solidFill>
                  <a:schemeClr val="bg1"/>
                </a:solidFill>
              </a:ln>
              <a:solidFill>
                <a:schemeClr val="bg1"/>
              </a:solidFill>
            </a:endParaRPr>
          </a:p>
        </p:txBody>
      </p:sp>
      <p:sp>
        <p:nvSpPr>
          <p:cNvPr id="6" name="圆角矩形 5">
            <a:hlinkClick r:id="rId6" action="ppaction://hlinksldjump"/>
          </p:cNvPr>
          <p:cNvSpPr/>
          <p:nvPr userDrawn="1"/>
        </p:nvSpPr>
        <p:spPr>
          <a:xfrm>
            <a:off x="11002039"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dirty="0" smtClean="0">
                <a:ln>
                  <a:solidFill>
                    <a:schemeClr val="bg1"/>
                  </a:solidFill>
                </a:ln>
                <a:solidFill>
                  <a:schemeClr val="bg1"/>
                </a:solidFill>
              </a:rPr>
              <a:t>易错辨析</a:t>
            </a:r>
            <a:endParaRPr lang="zh-CN" altLang="en-US" sz="1400" dirty="0">
              <a:ln>
                <a:solidFill>
                  <a:schemeClr val="bg1"/>
                </a:solidFill>
              </a:ln>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61" r:id="rId3"/>
  </p:sldLayoutIdLst>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18.xml"/><Relationship Id="rId2" Type="http://schemas.openxmlformats.org/officeDocument/2006/relationships/slide" Target="slide4.xml"/><Relationship Id="rId1" Type="http://schemas.openxmlformats.org/officeDocument/2006/relationships/slideLayout" Target="../slideLayouts/slideLayout1.xml"/><Relationship Id="rId4" Type="http://schemas.openxmlformats.org/officeDocument/2006/relationships/slide" Target="slide49.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package" Target="../embeddings/Microsoft_Word___1.docx"/><Relationship Id="rId2" Type="http://schemas.openxmlformats.org/officeDocument/2006/relationships/slideLayout" Target="../slideLayouts/slideLayout3.xml"/><Relationship Id="rId1" Type="http://schemas.openxmlformats.org/officeDocument/2006/relationships/vmlDrawing" Target="../drawings/vmlDrawing1.vml"/><Relationship Id="rId6" Type="http://schemas.openxmlformats.org/officeDocument/2006/relationships/image" Target="../media/image3.emf"/><Relationship Id="rId5" Type="http://schemas.openxmlformats.org/officeDocument/2006/relationships/package" Target="../embeddings/Microsoft_Word___2.docx"/><Relationship Id="rId4" Type="http://schemas.openxmlformats.org/officeDocument/2006/relationships/image" Target="../media/image2.emf"/></Relationships>
</file>

<file path=ppt/slides/_rels/slide9.xml.rels><?xml version="1.0" encoding="UTF-8" standalone="yes"?>
<Relationships xmlns="http://schemas.openxmlformats.org/package/2006/relationships"><Relationship Id="rId3" Type="http://schemas.openxmlformats.org/officeDocument/2006/relationships/package" Target="../embeddings/Microsoft_Word___3.docx"/><Relationship Id="rId2" Type="http://schemas.openxmlformats.org/officeDocument/2006/relationships/slideLayout" Target="../slideLayouts/slideLayout3.xml"/><Relationship Id="rId1" Type="http://schemas.openxmlformats.org/officeDocument/2006/relationships/vmlDrawing" Target="../drawings/vmlDrawing2.vml"/><Relationship Id="rId5" Type="http://schemas.openxmlformats.org/officeDocument/2006/relationships/image" Target="../media/image5.jpeg"/><Relationship Id="rId4" Type="http://schemas.openxmlformats.org/officeDocument/2006/relationships/image" Target="../media/image4.e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package" Target="../embeddings/Microsoft_Word___4.docx"/><Relationship Id="rId2" Type="http://schemas.openxmlformats.org/officeDocument/2006/relationships/slideLayout" Target="../slideLayouts/slideLayout3.xml"/><Relationship Id="rId1" Type="http://schemas.openxmlformats.org/officeDocument/2006/relationships/vmlDrawing" Target="../drawings/vmlDrawing3.vml"/><Relationship Id="rId4" Type="http://schemas.openxmlformats.org/officeDocument/2006/relationships/image" Target="../media/image6.emf"/></Relationships>
</file>

<file path=ppt/slides/_rels/slide13.xml.rels><?xml version="1.0" encoding="UTF-8" standalone="yes"?>
<Relationships xmlns="http://schemas.openxmlformats.org/package/2006/relationships"><Relationship Id="rId3" Type="http://schemas.openxmlformats.org/officeDocument/2006/relationships/package" Target="../embeddings/Microsoft_Word___5.docx"/><Relationship Id="rId2" Type="http://schemas.openxmlformats.org/officeDocument/2006/relationships/slideLayout" Target="../slideLayouts/slideLayout3.xml"/><Relationship Id="rId1" Type="http://schemas.openxmlformats.org/officeDocument/2006/relationships/vmlDrawing" Target="../drawings/vmlDrawing4.vml"/><Relationship Id="rId4" Type="http://schemas.openxmlformats.org/officeDocument/2006/relationships/image" Target="../media/image7.emf"/></Relationships>
</file>

<file path=ppt/slides/_rels/slide14.xml.rels><?xml version="1.0" encoding="UTF-8" standalone="yes"?>
<Relationships xmlns="http://schemas.openxmlformats.org/package/2006/relationships"><Relationship Id="rId8" Type="http://schemas.openxmlformats.org/officeDocument/2006/relationships/image" Target="../media/image10.emf"/><Relationship Id="rId3" Type="http://schemas.openxmlformats.org/officeDocument/2006/relationships/package" Target="../embeddings/Microsoft_Word___6.docx"/><Relationship Id="rId7" Type="http://schemas.openxmlformats.org/officeDocument/2006/relationships/package" Target="../embeddings/Microsoft_Word___8.docx"/><Relationship Id="rId2" Type="http://schemas.openxmlformats.org/officeDocument/2006/relationships/slideLayout" Target="../slideLayouts/slideLayout3.xml"/><Relationship Id="rId1" Type="http://schemas.openxmlformats.org/officeDocument/2006/relationships/vmlDrawing" Target="../drawings/vmlDrawing5.vml"/><Relationship Id="rId6" Type="http://schemas.openxmlformats.org/officeDocument/2006/relationships/image" Target="../media/image9.emf"/><Relationship Id="rId5" Type="http://schemas.openxmlformats.org/officeDocument/2006/relationships/package" Target="../embeddings/Microsoft_Word___7.docx"/><Relationship Id="rId10" Type="http://schemas.openxmlformats.org/officeDocument/2006/relationships/image" Target="../media/image11.emf"/><Relationship Id="rId4" Type="http://schemas.openxmlformats.org/officeDocument/2006/relationships/image" Target="../media/image8.emf"/><Relationship Id="rId9" Type="http://schemas.openxmlformats.org/officeDocument/2006/relationships/package" Target="../embeddings/Microsoft_Word___9.docx"/></Relationships>
</file>

<file path=ppt/slides/_rels/slide15.xml.rels><?xml version="1.0" encoding="UTF-8" standalone="yes"?>
<Relationships xmlns="http://schemas.openxmlformats.org/package/2006/relationships"><Relationship Id="rId3" Type="http://schemas.openxmlformats.org/officeDocument/2006/relationships/package" Target="../embeddings/Microsoft_Word___10.docx"/><Relationship Id="rId2" Type="http://schemas.openxmlformats.org/officeDocument/2006/relationships/slideLayout" Target="../slideLayouts/slideLayout3.xml"/><Relationship Id="rId1" Type="http://schemas.openxmlformats.org/officeDocument/2006/relationships/vmlDrawing" Target="../drawings/vmlDrawing6.vml"/><Relationship Id="rId4" Type="http://schemas.openxmlformats.org/officeDocument/2006/relationships/image" Target="../media/image12.emf"/></Relationships>
</file>

<file path=ppt/slides/_rels/slide16.xml.rels><?xml version="1.0" encoding="UTF-8" standalone="yes"?>
<Relationships xmlns="http://schemas.openxmlformats.org/package/2006/relationships"><Relationship Id="rId8" Type="http://schemas.openxmlformats.org/officeDocument/2006/relationships/image" Target="../media/image15.emf"/><Relationship Id="rId3" Type="http://schemas.openxmlformats.org/officeDocument/2006/relationships/package" Target="../embeddings/Microsoft_Word___11.docx"/><Relationship Id="rId7" Type="http://schemas.openxmlformats.org/officeDocument/2006/relationships/package" Target="../embeddings/Microsoft_Word___13.docx"/><Relationship Id="rId2" Type="http://schemas.openxmlformats.org/officeDocument/2006/relationships/slideLayout" Target="../slideLayouts/slideLayout3.xml"/><Relationship Id="rId1" Type="http://schemas.openxmlformats.org/officeDocument/2006/relationships/vmlDrawing" Target="../drawings/vmlDrawing7.vml"/><Relationship Id="rId6" Type="http://schemas.openxmlformats.org/officeDocument/2006/relationships/image" Target="../media/image14.emf"/><Relationship Id="rId5" Type="http://schemas.openxmlformats.org/officeDocument/2006/relationships/package" Target="../embeddings/Microsoft_Word___12.docx"/><Relationship Id="rId4" Type="http://schemas.openxmlformats.org/officeDocument/2006/relationships/image" Target="../media/image13.emf"/></Relationships>
</file>

<file path=ppt/slides/_rels/slide17.xml.rels><?xml version="1.0" encoding="UTF-8" standalone="yes"?>
<Relationships xmlns="http://schemas.openxmlformats.org/package/2006/relationships"><Relationship Id="rId3" Type="http://schemas.openxmlformats.org/officeDocument/2006/relationships/package" Target="../embeddings/Microsoft_Word___14.docx"/><Relationship Id="rId2" Type="http://schemas.openxmlformats.org/officeDocument/2006/relationships/slideLayout" Target="../slideLayouts/slideLayout3.xml"/><Relationship Id="rId1" Type="http://schemas.openxmlformats.org/officeDocument/2006/relationships/vmlDrawing" Target="../drawings/vmlDrawing8.vml"/><Relationship Id="rId4" Type="http://schemas.openxmlformats.org/officeDocument/2006/relationships/image" Target="../media/image16.em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package" Target="../embeddings/Microsoft_Word___15.docx"/><Relationship Id="rId2" Type="http://schemas.openxmlformats.org/officeDocument/2006/relationships/slideLayout" Target="../slideLayouts/slideLayout2.xml"/><Relationship Id="rId1" Type="http://schemas.openxmlformats.org/officeDocument/2006/relationships/vmlDrawing" Target="../drawings/vmlDrawing9.vml"/><Relationship Id="rId5" Type="http://schemas.openxmlformats.org/officeDocument/2006/relationships/image" Target="../media/image18.jpeg"/><Relationship Id="rId4" Type="http://schemas.openxmlformats.org/officeDocument/2006/relationships/image" Target="../media/image17.emf"/></Relationships>
</file>

<file path=ppt/slides/_rels/slide20.xml.rels><?xml version="1.0" encoding="UTF-8" standalone="yes"?>
<Relationships xmlns="http://schemas.openxmlformats.org/package/2006/relationships"><Relationship Id="rId3" Type="http://schemas.openxmlformats.org/officeDocument/2006/relationships/package" Target="../embeddings/Microsoft_Word___16.docx"/><Relationship Id="rId7" Type="http://schemas.openxmlformats.org/officeDocument/2006/relationships/image" Target="../media/image21.jpeg"/><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image" Target="../media/image20.emf"/><Relationship Id="rId5" Type="http://schemas.openxmlformats.org/officeDocument/2006/relationships/package" Target="../embeddings/Microsoft_Word___17.docx"/><Relationship Id="rId4" Type="http://schemas.openxmlformats.org/officeDocument/2006/relationships/image" Target="../media/image19.emf"/></Relationships>
</file>

<file path=ppt/slides/_rels/slide21.xml.rels><?xml version="1.0" encoding="UTF-8" standalone="yes"?>
<Relationships xmlns="http://schemas.openxmlformats.org/package/2006/relationships"><Relationship Id="rId3" Type="http://schemas.openxmlformats.org/officeDocument/2006/relationships/package" Target="../embeddings/Microsoft_Word___18.docx"/><Relationship Id="rId2" Type="http://schemas.openxmlformats.org/officeDocument/2006/relationships/slideLayout" Target="../slideLayouts/slideLayout2.xml"/><Relationship Id="rId1" Type="http://schemas.openxmlformats.org/officeDocument/2006/relationships/vmlDrawing" Target="../drawings/vmlDrawing11.vml"/><Relationship Id="rId4" Type="http://schemas.openxmlformats.org/officeDocument/2006/relationships/image" Target="../media/image22.e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package" Target="../embeddings/Microsoft_Word___19.docx"/><Relationship Id="rId2" Type="http://schemas.openxmlformats.org/officeDocument/2006/relationships/slideLayout" Target="../slideLayouts/slideLayout2.xml"/><Relationship Id="rId1" Type="http://schemas.openxmlformats.org/officeDocument/2006/relationships/vmlDrawing" Target="../drawings/vmlDrawing12.vml"/><Relationship Id="rId5" Type="http://schemas.openxmlformats.org/officeDocument/2006/relationships/image" Target="../media/image24.jpeg"/><Relationship Id="rId4" Type="http://schemas.openxmlformats.org/officeDocument/2006/relationships/image" Target="../media/image23.emf"/></Relationships>
</file>

<file path=ppt/slides/_rels/slide24.xml.rels><?xml version="1.0" encoding="UTF-8" standalone="yes"?>
<Relationships xmlns="http://schemas.openxmlformats.org/package/2006/relationships"><Relationship Id="rId3" Type="http://schemas.openxmlformats.org/officeDocument/2006/relationships/package" Target="../embeddings/Microsoft_Word___20.docx"/><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image" Target="../media/image26.emf"/><Relationship Id="rId5" Type="http://schemas.openxmlformats.org/officeDocument/2006/relationships/package" Target="../embeddings/Microsoft_Word___21.docx"/><Relationship Id="rId4" Type="http://schemas.openxmlformats.org/officeDocument/2006/relationships/image" Target="../media/image25.emf"/></Relationships>
</file>

<file path=ppt/slides/_rels/slide25.xml.rels><?xml version="1.0" encoding="UTF-8" standalone="yes"?>
<Relationships xmlns="http://schemas.openxmlformats.org/package/2006/relationships"><Relationship Id="rId3" Type="http://schemas.openxmlformats.org/officeDocument/2006/relationships/package" Target="../embeddings/Microsoft_Word___22.docx"/><Relationship Id="rId2" Type="http://schemas.openxmlformats.org/officeDocument/2006/relationships/slideLayout" Target="../slideLayouts/slideLayout2.xml"/><Relationship Id="rId1" Type="http://schemas.openxmlformats.org/officeDocument/2006/relationships/vmlDrawing" Target="../drawings/vmlDrawing14.vml"/><Relationship Id="rId4" Type="http://schemas.openxmlformats.org/officeDocument/2006/relationships/image" Target="../media/image27.emf"/></Relationships>
</file>

<file path=ppt/slides/_rels/slide26.xml.rels><?xml version="1.0" encoding="UTF-8" standalone="yes"?>
<Relationships xmlns="http://schemas.openxmlformats.org/package/2006/relationships"><Relationship Id="rId3" Type="http://schemas.openxmlformats.org/officeDocument/2006/relationships/package" Target="../embeddings/Microsoft_Word___23.docx"/><Relationship Id="rId2" Type="http://schemas.openxmlformats.org/officeDocument/2006/relationships/slideLayout" Target="../slideLayouts/slideLayout2.xml"/><Relationship Id="rId1" Type="http://schemas.openxmlformats.org/officeDocument/2006/relationships/vmlDrawing" Target="../drawings/vmlDrawing15.vml"/><Relationship Id="rId4" Type="http://schemas.openxmlformats.org/officeDocument/2006/relationships/image" Target="../media/image28.emf"/></Relationships>
</file>

<file path=ppt/slides/_rels/slide27.xml.rels><?xml version="1.0" encoding="UTF-8" standalone="yes"?>
<Relationships xmlns="http://schemas.openxmlformats.org/package/2006/relationships"><Relationship Id="rId3" Type="http://schemas.openxmlformats.org/officeDocument/2006/relationships/package" Target="../embeddings/Microsoft_Word___24.docx"/><Relationship Id="rId2" Type="http://schemas.openxmlformats.org/officeDocument/2006/relationships/slideLayout" Target="../slideLayouts/slideLayout2.xml"/><Relationship Id="rId1" Type="http://schemas.openxmlformats.org/officeDocument/2006/relationships/vmlDrawing" Target="../drawings/vmlDrawing16.vml"/><Relationship Id="rId6" Type="http://schemas.openxmlformats.org/officeDocument/2006/relationships/image" Target="../media/image30.emf"/><Relationship Id="rId5" Type="http://schemas.openxmlformats.org/officeDocument/2006/relationships/package" Target="../embeddings/Microsoft_Word___25.docx"/><Relationship Id="rId4" Type="http://schemas.openxmlformats.org/officeDocument/2006/relationships/image" Target="../media/image29.em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package" Target="../embeddings/Microsoft_Word___26.docx"/><Relationship Id="rId2" Type="http://schemas.openxmlformats.org/officeDocument/2006/relationships/slideLayout" Target="../slideLayouts/slideLayout2.xml"/><Relationship Id="rId1" Type="http://schemas.openxmlformats.org/officeDocument/2006/relationships/vmlDrawing" Target="../drawings/vmlDrawing17.vml"/><Relationship Id="rId6" Type="http://schemas.openxmlformats.org/officeDocument/2006/relationships/image" Target="../media/image32.emf"/><Relationship Id="rId5" Type="http://schemas.openxmlformats.org/officeDocument/2006/relationships/package" Target="../embeddings/Microsoft_Word___27.docx"/><Relationship Id="rId4" Type="http://schemas.openxmlformats.org/officeDocument/2006/relationships/image" Target="../media/image31.emf"/></Relationships>
</file>

<file path=ppt/slides/_rels/slide30.xml.rels><?xml version="1.0" encoding="UTF-8" standalone="yes"?>
<Relationships xmlns="http://schemas.openxmlformats.org/package/2006/relationships"><Relationship Id="rId3" Type="http://schemas.openxmlformats.org/officeDocument/2006/relationships/package" Target="../embeddings/Microsoft_Word___28.docx"/><Relationship Id="rId2" Type="http://schemas.openxmlformats.org/officeDocument/2006/relationships/slideLayout" Target="../slideLayouts/slideLayout2.xml"/><Relationship Id="rId1" Type="http://schemas.openxmlformats.org/officeDocument/2006/relationships/vmlDrawing" Target="../drawings/vmlDrawing18.vml"/><Relationship Id="rId5" Type="http://schemas.openxmlformats.org/officeDocument/2006/relationships/image" Target="../media/image34.jpeg"/><Relationship Id="rId4" Type="http://schemas.openxmlformats.org/officeDocument/2006/relationships/image" Target="../media/image33.emf"/></Relationships>
</file>

<file path=ppt/slides/_rels/slide31.xml.rels><?xml version="1.0" encoding="UTF-8" standalone="yes"?>
<Relationships xmlns="http://schemas.openxmlformats.org/package/2006/relationships"><Relationship Id="rId3" Type="http://schemas.openxmlformats.org/officeDocument/2006/relationships/package" Target="../embeddings/Microsoft_Word___29.docx"/><Relationship Id="rId2" Type="http://schemas.openxmlformats.org/officeDocument/2006/relationships/slideLayout" Target="../slideLayouts/slideLayout2.xml"/><Relationship Id="rId1" Type="http://schemas.openxmlformats.org/officeDocument/2006/relationships/vmlDrawing" Target="../drawings/vmlDrawing19.vml"/><Relationship Id="rId4" Type="http://schemas.openxmlformats.org/officeDocument/2006/relationships/image" Target="../media/image35.emf"/></Relationships>
</file>

<file path=ppt/slides/_rels/slide32.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slideLayout" Target="../slideLayouts/slideLayout2.xml"/><Relationship Id="rId1" Type="http://schemas.openxmlformats.org/officeDocument/2006/relationships/vmlDrawing" Target="../drawings/vmlDrawing20.vml"/><Relationship Id="rId5" Type="http://schemas.openxmlformats.org/officeDocument/2006/relationships/image" Target="../media/image36.emf"/><Relationship Id="rId4" Type="http://schemas.openxmlformats.org/officeDocument/2006/relationships/package" Target="../embeddings/Microsoft_Word___30.docx"/></Relationships>
</file>

<file path=ppt/slides/_rels/slide33.xml.rels><?xml version="1.0" encoding="UTF-8" standalone="yes"?>
<Relationships xmlns="http://schemas.openxmlformats.org/package/2006/relationships"><Relationship Id="rId3" Type="http://schemas.openxmlformats.org/officeDocument/2006/relationships/package" Target="../embeddings/Microsoft_Word___31.docx"/><Relationship Id="rId2" Type="http://schemas.openxmlformats.org/officeDocument/2006/relationships/slideLayout" Target="../slideLayouts/slideLayout2.xml"/><Relationship Id="rId1" Type="http://schemas.openxmlformats.org/officeDocument/2006/relationships/vmlDrawing" Target="../drawings/vmlDrawing21.vml"/><Relationship Id="rId4" Type="http://schemas.openxmlformats.org/officeDocument/2006/relationships/image" Target="../media/image38.em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package" Target="../embeddings/Microsoft_Word___32.docx"/><Relationship Id="rId2" Type="http://schemas.openxmlformats.org/officeDocument/2006/relationships/slideLayout" Target="../slideLayouts/slideLayout2.xml"/><Relationship Id="rId1" Type="http://schemas.openxmlformats.org/officeDocument/2006/relationships/vmlDrawing" Target="../drawings/vmlDrawing22.vml"/><Relationship Id="rId5" Type="http://schemas.openxmlformats.org/officeDocument/2006/relationships/image" Target="../media/image40.jpeg"/><Relationship Id="rId4" Type="http://schemas.openxmlformats.org/officeDocument/2006/relationships/image" Target="../media/image39.emf"/></Relationships>
</file>

<file path=ppt/slides/_rels/slide37.xml.rels><?xml version="1.0" encoding="UTF-8" standalone="yes"?>
<Relationships xmlns="http://schemas.openxmlformats.org/package/2006/relationships"><Relationship Id="rId3" Type="http://schemas.openxmlformats.org/officeDocument/2006/relationships/package" Target="../embeddings/Microsoft_Word___33.docx"/><Relationship Id="rId2" Type="http://schemas.openxmlformats.org/officeDocument/2006/relationships/slideLayout" Target="../slideLayouts/slideLayout2.xml"/><Relationship Id="rId1" Type="http://schemas.openxmlformats.org/officeDocument/2006/relationships/vmlDrawing" Target="../drawings/vmlDrawing23.vml"/><Relationship Id="rId4" Type="http://schemas.openxmlformats.org/officeDocument/2006/relationships/image" Target="../media/image41.emf"/></Relationships>
</file>

<file path=ppt/slides/_rels/slide38.xml.rels><?xml version="1.0" encoding="UTF-8" standalone="yes"?>
<Relationships xmlns="http://schemas.openxmlformats.org/package/2006/relationships"><Relationship Id="rId3" Type="http://schemas.openxmlformats.org/officeDocument/2006/relationships/package" Target="../embeddings/Microsoft_Word___34.docx"/><Relationship Id="rId2" Type="http://schemas.openxmlformats.org/officeDocument/2006/relationships/slideLayout" Target="../slideLayouts/slideLayout2.xml"/><Relationship Id="rId1" Type="http://schemas.openxmlformats.org/officeDocument/2006/relationships/vmlDrawing" Target="../drawings/vmlDrawing24.vml"/><Relationship Id="rId4" Type="http://schemas.openxmlformats.org/officeDocument/2006/relationships/image" Target="../media/image42.emf"/></Relationships>
</file>

<file path=ppt/slides/_rels/slide39.xml.rels><?xml version="1.0" encoding="UTF-8" standalone="yes"?>
<Relationships xmlns="http://schemas.openxmlformats.org/package/2006/relationships"><Relationship Id="rId3" Type="http://schemas.openxmlformats.org/officeDocument/2006/relationships/package" Target="../embeddings/Microsoft_Word___35.docx"/><Relationship Id="rId2" Type="http://schemas.openxmlformats.org/officeDocument/2006/relationships/slideLayout" Target="../slideLayouts/slideLayout2.xml"/><Relationship Id="rId1" Type="http://schemas.openxmlformats.org/officeDocument/2006/relationships/vmlDrawing" Target="../drawings/vmlDrawing25.vml"/><Relationship Id="rId5" Type="http://schemas.openxmlformats.org/officeDocument/2006/relationships/image" Target="../media/image44.jpeg"/><Relationship Id="rId4" Type="http://schemas.openxmlformats.org/officeDocument/2006/relationships/image" Target="../media/image43.emf"/></Relationships>
</file>

<file path=ppt/slides/_rels/slide40.xml.rels><?xml version="1.0" encoding="UTF-8" standalone="yes"?>
<Relationships xmlns="http://schemas.openxmlformats.org/package/2006/relationships"><Relationship Id="rId3" Type="http://schemas.openxmlformats.org/officeDocument/2006/relationships/package" Target="../embeddings/Microsoft_Word___36.docx"/><Relationship Id="rId2" Type="http://schemas.openxmlformats.org/officeDocument/2006/relationships/slideLayout" Target="../slideLayouts/slideLayout2.xml"/><Relationship Id="rId1" Type="http://schemas.openxmlformats.org/officeDocument/2006/relationships/vmlDrawing" Target="../drawings/vmlDrawing26.vml"/><Relationship Id="rId4" Type="http://schemas.openxmlformats.org/officeDocument/2006/relationships/image" Target="../media/image45.emf"/></Relationships>
</file>

<file path=ppt/slides/_rels/slide41.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image" Target="../media/image46.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package" Target="../embeddings/Microsoft_Word___37.docx"/><Relationship Id="rId2" Type="http://schemas.openxmlformats.org/officeDocument/2006/relationships/slideLayout" Target="../slideLayouts/slideLayout2.xml"/><Relationship Id="rId1" Type="http://schemas.openxmlformats.org/officeDocument/2006/relationships/vmlDrawing" Target="../drawings/vmlDrawing27.vml"/><Relationship Id="rId5" Type="http://schemas.openxmlformats.org/officeDocument/2006/relationships/image" Target="../media/image49.jpeg"/><Relationship Id="rId4" Type="http://schemas.openxmlformats.org/officeDocument/2006/relationships/image" Target="../media/image48.emf"/></Relationships>
</file>

<file path=ppt/slides/_rels/slide43.xml.rels><?xml version="1.0" encoding="UTF-8" standalone="yes"?>
<Relationships xmlns="http://schemas.openxmlformats.org/package/2006/relationships"><Relationship Id="rId3" Type="http://schemas.openxmlformats.org/officeDocument/2006/relationships/package" Target="../embeddings/Microsoft_Word___38.docx"/><Relationship Id="rId2" Type="http://schemas.openxmlformats.org/officeDocument/2006/relationships/slideLayout" Target="../slideLayouts/slideLayout2.xml"/><Relationship Id="rId1" Type="http://schemas.openxmlformats.org/officeDocument/2006/relationships/vmlDrawing" Target="../drawings/vmlDrawing28.vml"/><Relationship Id="rId4" Type="http://schemas.openxmlformats.org/officeDocument/2006/relationships/image" Target="../media/image50.emf"/></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package" Target="../embeddings/Microsoft_Word___39.docx"/><Relationship Id="rId2" Type="http://schemas.openxmlformats.org/officeDocument/2006/relationships/slideLayout" Target="../slideLayouts/slideLayout2.xml"/><Relationship Id="rId1" Type="http://schemas.openxmlformats.org/officeDocument/2006/relationships/vmlDrawing" Target="../drawings/vmlDrawing29.vml"/><Relationship Id="rId4" Type="http://schemas.openxmlformats.org/officeDocument/2006/relationships/image" Target="../media/image51.emf"/></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package" Target="../embeddings/Microsoft_Word___40.docx"/><Relationship Id="rId2" Type="http://schemas.openxmlformats.org/officeDocument/2006/relationships/slideLayout" Target="../slideLayouts/slideLayout2.xml"/><Relationship Id="rId1" Type="http://schemas.openxmlformats.org/officeDocument/2006/relationships/vmlDrawing" Target="../drawings/vmlDrawing30.vml"/><Relationship Id="rId6" Type="http://schemas.openxmlformats.org/officeDocument/2006/relationships/image" Target="../media/image53.emf"/><Relationship Id="rId5" Type="http://schemas.openxmlformats.org/officeDocument/2006/relationships/package" Target="../embeddings/Microsoft_Word___41.docx"/><Relationship Id="rId4" Type="http://schemas.openxmlformats.org/officeDocument/2006/relationships/image" Target="../media/image52.emf"/></Relationships>
</file>

<file path=ppt/slides/_rels/slide48.xml.rels><?xml version="1.0" encoding="UTF-8" standalone="yes"?>
<Relationships xmlns="http://schemas.openxmlformats.org/package/2006/relationships"><Relationship Id="rId3" Type="http://schemas.openxmlformats.org/officeDocument/2006/relationships/package" Target="../embeddings/Microsoft_Word___42.docx"/><Relationship Id="rId2" Type="http://schemas.openxmlformats.org/officeDocument/2006/relationships/slideLayout" Target="../slideLayouts/slideLayout2.xml"/><Relationship Id="rId1" Type="http://schemas.openxmlformats.org/officeDocument/2006/relationships/vmlDrawing" Target="../drawings/vmlDrawing31.vml"/><Relationship Id="rId4" Type="http://schemas.openxmlformats.org/officeDocument/2006/relationships/image" Target="../media/image54.emf"/></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package" Target="../embeddings/Microsoft_Word___43.docx"/><Relationship Id="rId2" Type="http://schemas.openxmlformats.org/officeDocument/2006/relationships/slideLayout" Target="../slideLayouts/slideLayout1.xml"/><Relationship Id="rId1" Type="http://schemas.openxmlformats.org/officeDocument/2006/relationships/vmlDrawing" Target="../drawings/vmlDrawing32.vml"/><Relationship Id="rId4" Type="http://schemas.openxmlformats.org/officeDocument/2006/relationships/image" Target="../media/image55.emf"/></Relationships>
</file>

<file path=ppt/slides/_rels/slide52.xml.rels><?xml version="1.0" encoding="UTF-8" standalone="yes"?>
<Relationships xmlns="http://schemas.openxmlformats.org/package/2006/relationships"><Relationship Id="rId3" Type="http://schemas.openxmlformats.org/officeDocument/2006/relationships/package" Target="../embeddings/Microsoft_Word___44.docx"/><Relationship Id="rId2" Type="http://schemas.openxmlformats.org/officeDocument/2006/relationships/slideLayout" Target="../slideLayouts/slideLayout1.xml"/><Relationship Id="rId1" Type="http://schemas.openxmlformats.org/officeDocument/2006/relationships/vmlDrawing" Target="../drawings/vmlDrawing33.vml"/><Relationship Id="rId5" Type="http://schemas.openxmlformats.org/officeDocument/2006/relationships/image" Target="../media/image57.jpeg"/><Relationship Id="rId4" Type="http://schemas.openxmlformats.org/officeDocument/2006/relationships/image" Target="../media/image56.emf"/></Relationships>
</file>

<file path=ppt/slides/_rels/slide53.xml.rels><?xml version="1.0" encoding="UTF-8" standalone="yes"?>
<Relationships xmlns="http://schemas.openxmlformats.org/package/2006/relationships"><Relationship Id="rId3" Type="http://schemas.openxmlformats.org/officeDocument/2006/relationships/package" Target="../embeddings/Microsoft_Word___45.docx"/><Relationship Id="rId2" Type="http://schemas.openxmlformats.org/officeDocument/2006/relationships/slideLayout" Target="../slideLayouts/slideLayout1.xml"/><Relationship Id="rId1" Type="http://schemas.openxmlformats.org/officeDocument/2006/relationships/vmlDrawing" Target="../drawings/vmlDrawing34.vml"/><Relationship Id="rId6" Type="http://schemas.openxmlformats.org/officeDocument/2006/relationships/image" Target="../media/image59.emf"/><Relationship Id="rId5" Type="http://schemas.openxmlformats.org/officeDocument/2006/relationships/package" Target="../embeddings/Microsoft_Word___46.docx"/><Relationship Id="rId4" Type="http://schemas.openxmlformats.org/officeDocument/2006/relationships/image" Target="../media/image58.emf"/></Relationships>
</file>

<file path=ppt/slides/_rels/slide54.xml.rels><?xml version="1.0" encoding="UTF-8" standalone="yes"?>
<Relationships xmlns="http://schemas.openxmlformats.org/package/2006/relationships"><Relationship Id="rId3" Type="http://schemas.openxmlformats.org/officeDocument/2006/relationships/package" Target="../embeddings/Microsoft_Word___47.docx"/><Relationship Id="rId2" Type="http://schemas.openxmlformats.org/officeDocument/2006/relationships/slideLayout" Target="../slideLayouts/slideLayout1.xml"/><Relationship Id="rId1" Type="http://schemas.openxmlformats.org/officeDocument/2006/relationships/vmlDrawing" Target="../drawings/vmlDrawing35.vml"/><Relationship Id="rId4" Type="http://schemas.openxmlformats.org/officeDocument/2006/relationships/image" Target="../media/image60.emf"/></Relationships>
</file>

<file path=ppt/slides/_rels/slide5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300879" y="519978"/>
            <a:ext cx="4047903" cy="461665"/>
          </a:xfrm>
          <a:prstGeom prst="rect">
            <a:avLst/>
          </a:prstGeom>
        </p:spPr>
        <p:txBody>
          <a:bodyPr wrap="none">
            <a:spAutoFit/>
          </a:bodyPr>
          <a:lstStyle/>
          <a:p>
            <a:pPr algn="dist"/>
            <a:r>
              <a:rPr lang="zh-CN" altLang="en-US" sz="2400" b="1" spc="600" dirty="0" smtClean="0">
                <a:solidFill>
                  <a:srgbClr val="757C82"/>
                </a:solidFill>
                <a:latin typeface="黑体" panose="02010609060101010101" pitchFamily="49" charset="-122"/>
                <a:ea typeface="黑体" panose="02010609060101010101" pitchFamily="49" charset="-122"/>
              </a:rPr>
              <a:t>高中同步测控优化设计</a:t>
            </a:r>
            <a:endParaRPr lang="zh-CN" altLang="en-US" sz="2400" b="1" spc="600" dirty="0">
              <a:solidFill>
                <a:srgbClr val="757C82"/>
              </a:solidFill>
              <a:latin typeface="黑体" panose="02010609060101010101" pitchFamily="49" charset="-122"/>
              <a:ea typeface="黑体" panose="02010609060101010101" pitchFamily="49" charset="-122"/>
            </a:endParaRPr>
          </a:p>
        </p:txBody>
      </p:sp>
      <p:cxnSp>
        <p:nvCxnSpPr>
          <p:cNvPr id="3" name="直接连接符 2"/>
          <p:cNvCxnSpPr/>
          <p:nvPr/>
        </p:nvCxnSpPr>
        <p:spPr>
          <a:xfrm>
            <a:off x="2282351" y="1003843"/>
            <a:ext cx="4305485" cy="0"/>
          </a:xfrm>
          <a:prstGeom prst="line">
            <a:avLst/>
          </a:prstGeom>
          <a:ln>
            <a:solidFill>
              <a:schemeClr val="tx1"/>
            </a:solidFill>
            <a:prstDash val="lgDashDotDot"/>
            <a:headEnd type="diamond" w="med" len="med"/>
            <a:tailEnd type="diamond" w="med" len="med"/>
          </a:ln>
          <a:effectLst/>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2173232" y="1026313"/>
            <a:ext cx="4414604" cy="338554"/>
          </a:xfrm>
          <a:prstGeom prst="rect">
            <a:avLst/>
          </a:prstGeom>
        </p:spPr>
        <p:txBody>
          <a:bodyPr wrap="square">
            <a:spAutoFit/>
          </a:bodyPr>
          <a:lstStyle/>
          <a:p>
            <a:pPr algn="ctr"/>
            <a:r>
              <a:rPr lang="en-US" altLang="zh-CN" sz="1600" b="1" dirty="0" smtClean="0">
                <a:solidFill>
                  <a:srgbClr val="757C82"/>
                </a:solidFill>
                <a:latin typeface="黑体" panose="02010609060101010101" pitchFamily="49" charset="-122"/>
                <a:ea typeface="黑体" panose="02010609060101010101" pitchFamily="49" charset="-122"/>
              </a:rPr>
              <a:t>GAO ZHONG TONG </a:t>
            </a:r>
            <a:r>
              <a:rPr lang="en-US" altLang="zh-CN" sz="1600" b="1" dirty="0">
                <a:solidFill>
                  <a:srgbClr val="757C82"/>
                </a:solidFill>
                <a:latin typeface="黑体" panose="02010609060101010101" pitchFamily="49" charset="-122"/>
                <a:ea typeface="黑体" panose="02010609060101010101" pitchFamily="49" charset="-122"/>
              </a:rPr>
              <a:t>B</a:t>
            </a:r>
            <a:r>
              <a:rPr lang="en-US" altLang="zh-CN" sz="1600" b="1" dirty="0" smtClean="0">
                <a:solidFill>
                  <a:srgbClr val="757C82"/>
                </a:solidFill>
                <a:latin typeface="黑体" panose="02010609060101010101" pitchFamily="49" charset="-122"/>
                <a:ea typeface="黑体" panose="02010609060101010101" pitchFamily="49" charset="-122"/>
              </a:rPr>
              <a:t>U CE KONG YOU HUA SHE JI</a:t>
            </a:r>
          </a:p>
        </p:txBody>
      </p:sp>
      <p:grpSp>
        <p:nvGrpSpPr>
          <p:cNvPr id="5" name="组合 4"/>
          <p:cNvGrpSpPr/>
          <p:nvPr/>
        </p:nvGrpSpPr>
        <p:grpSpPr>
          <a:xfrm>
            <a:off x="635" y="2775580"/>
            <a:ext cx="12191365" cy="1478913"/>
            <a:chOff x="303375" y="3227146"/>
            <a:chExt cx="11560182" cy="1479076"/>
          </a:xfrm>
        </p:grpSpPr>
        <p:sp>
          <p:nvSpPr>
            <p:cNvPr id="6" name="矩形 5"/>
            <p:cNvSpPr/>
            <p:nvPr/>
          </p:nvSpPr>
          <p:spPr>
            <a:xfrm>
              <a:off x="303375" y="3227146"/>
              <a:ext cx="11560182" cy="1479076"/>
            </a:xfrm>
            <a:prstGeom prst="rect">
              <a:avLst/>
            </a:prstGeom>
            <a:solidFill>
              <a:srgbClr val="6B7278"/>
            </a:solidFill>
            <a:ln>
              <a:noFill/>
            </a:ln>
            <a:scene3d>
              <a:camera prst="orthographicFront"/>
              <a:lightRig rig="threePt" dir="t"/>
            </a:scene3d>
            <a:sp3d>
              <a:bevelT w="114300" prst="hardEdg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3665034" y="3240419"/>
              <a:ext cx="8158783" cy="1362699"/>
            </a:xfrm>
            <a:prstGeom prst="rect">
              <a:avLst/>
            </a:prstGeom>
          </p:spPr>
          <p:txBody>
            <a:bodyPr wrap="square">
              <a:spAutoFit/>
            </a:bodyPr>
            <a:lstStyle/>
            <a:p>
              <a:pPr>
                <a:lnSpc>
                  <a:spcPct val="120000"/>
                </a:lnSpc>
              </a:pPr>
              <a:r>
                <a:rPr lang="en-US" altLang="zh-CN" sz="3600" b="1" dirty="0">
                  <a:solidFill>
                    <a:schemeClr val="bg1"/>
                  </a:solidFill>
                  <a:latin typeface="华文细黑" panose="02010600040101010101" charset="-122"/>
                  <a:ea typeface="华文细黑" panose="02010600040101010101" charset="-122"/>
                </a:rPr>
                <a:t>1.3.1</a:t>
              </a:r>
              <a:r>
                <a:rPr lang="zh-CN" altLang="en-US" sz="3600" b="1" dirty="0">
                  <a:solidFill>
                    <a:schemeClr val="bg1"/>
                  </a:solidFill>
                  <a:latin typeface="华文细黑" panose="02010600040101010101" charset="-122"/>
                  <a:ea typeface="华文细黑" panose="02010600040101010101" charset="-122"/>
                </a:rPr>
                <a:t>　空间直角坐标系</a:t>
              </a:r>
            </a:p>
            <a:p>
              <a:pPr>
                <a:lnSpc>
                  <a:spcPct val="120000"/>
                </a:lnSpc>
              </a:pPr>
              <a:r>
                <a:rPr lang="en-US" altLang="zh-CN" sz="3600" b="1" dirty="0">
                  <a:solidFill>
                    <a:schemeClr val="bg1"/>
                  </a:solidFill>
                  <a:latin typeface="华文细黑" panose="02010600040101010101" charset="-122"/>
                  <a:ea typeface="华文细黑" panose="02010600040101010101" charset="-122"/>
                </a:rPr>
                <a:t>1.3.2</a:t>
              </a:r>
              <a:r>
                <a:rPr lang="zh-CN" altLang="en-US" sz="3600" b="1" dirty="0">
                  <a:solidFill>
                    <a:schemeClr val="bg1"/>
                  </a:solidFill>
                  <a:latin typeface="华文细黑" panose="02010600040101010101" charset="-122"/>
                  <a:ea typeface="华文细黑" panose="02010600040101010101" charset="-122"/>
                </a:rPr>
                <a:t>　空间向量运算的坐标表示</a:t>
              </a:r>
            </a:p>
          </p:txBody>
        </p:sp>
      </p:grpSp>
      <p:sp>
        <p:nvSpPr>
          <p:cNvPr id="8" name="矩形 7"/>
          <p:cNvSpPr/>
          <p:nvPr/>
        </p:nvSpPr>
        <p:spPr>
          <a:xfrm>
            <a:off x="1109345" y="2277745"/>
            <a:ext cx="2282825" cy="2407920"/>
          </a:xfrm>
          <a:prstGeom prst="rect">
            <a:avLst/>
          </a:prstGeom>
          <a:solidFill>
            <a:srgbClr val="748773"/>
          </a:solidFill>
          <a:ln w="12700" cap="flat" cmpd="sng" algn="ctr">
            <a:noFill/>
            <a:prstDash val="solid"/>
            <a:miter lim="800000"/>
          </a:ln>
          <a:effectLst>
            <a:outerShdw blurRad="317500" dist="127000" dir="2700000" algn="tl" rotWithShape="0">
              <a:prstClr val="black">
                <a:alpha val="25000"/>
              </a:prstClr>
            </a:outerShdw>
          </a:effectLst>
          <a:scene3d>
            <a:camera prst="orthographicFront"/>
            <a:lightRig rig="threePt" dir="t"/>
          </a:scene3d>
          <a:sp3d>
            <a:bevelT w="101600" prst="riblet"/>
          </a:sp3d>
        </p:spPr>
        <p:txBody>
          <a:bodyPr wrap="none" rtlCol="0" anchor="ctr"/>
          <a:lstStyle/>
          <a:p>
            <a:pPr algn="ctr"/>
            <a:r>
              <a:rPr lang="zh-CN" altLang="en-US" sz="3600" b="1" kern="0" dirty="0">
                <a:solidFill>
                  <a:schemeClr val="bg1"/>
                </a:solidFill>
                <a:latin typeface="华文细黑" panose="02010600040101010101" charset="-122"/>
                <a:ea typeface="华文细黑" panose="02010600040101010101" charset="-122"/>
                <a:cs typeface="Open Sans" panose="020B0606030504020204" pitchFamily="34" charset="0"/>
              </a:rPr>
              <a:t>第一</a:t>
            </a:r>
            <a:r>
              <a:rPr lang="zh-CN" altLang="en-US" sz="3600" b="1" kern="0" dirty="0" smtClean="0">
                <a:solidFill>
                  <a:schemeClr val="bg1"/>
                </a:solidFill>
                <a:latin typeface="华文细黑" panose="02010600040101010101" charset="-122"/>
                <a:ea typeface="华文细黑" panose="02010600040101010101" charset="-122"/>
                <a:cs typeface="Open Sans" panose="020B0606030504020204" pitchFamily="34" charset="0"/>
              </a:rPr>
              <a:t>章</a:t>
            </a:r>
            <a:endParaRPr lang="en-US" altLang="zh-CN" sz="3600" b="1" kern="0" dirty="0" smtClean="0">
              <a:solidFill>
                <a:schemeClr val="bg1"/>
              </a:solidFill>
              <a:latin typeface="华文细黑" panose="02010600040101010101" charset="-122"/>
              <a:ea typeface="华文细黑" panose="02010600040101010101" charset="-122"/>
              <a:cs typeface="Open Sans" panose="020B0606030504020204" pitchFamily="34" charset="0"/>
            </a:endParaRPr>
          </a:p>
          <a:p>
            <a:pPr algn="ctr"/>
            <a:r>
              <a:rPr lang="en-US" altLang="zh-CN" sz="3600" b="1" kern="0" dirty="0" smtClean="0">
                <a:solidFill>
                  <a:schemeClr val="bg1"/>
                </a:solidFill>
                <a:latin typeface="华文细黑" panose="02010600040101010101" charset="-122"/>
                <a:ea typeface="华文细黑" panose="02010600040101010101" charset="-122"/>
                <a:cs typeface="Open Sans" panose="020B0606030504020204" pitchFamily="34" charset="0"/>
              </a:rPr>
              <a:t>1.3</a:t>
            </a:r>
          </a:p>
        </p:txBody>
      </p:sp>
      <p:pic>
        <p:nvPicPr>
          <p:cNvPr id="10" name="图片 9" descr="e37b0ec1d4924ecca897357d279cf883"/>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saturation sat="0"/>
                    </a14:imgEffect>
                  </a14:imgLayer>
                </a14:imgProps>
              </a:ext>
            </a:extLst>
          </a:blip>
          <a:stretch>
            <a:fillRect/>
          </a:stretch>
        </p:blipFill>
        <p:spPr>
          <a:xfrm>
            <a:off x="801370" y="175260"/>
            <a:ext cx="1453515" cy="1453515"/>
          </a:xfrm>
          <a:prstGeom prst="rect">
            <a:avLst/>
          </a:prstGeom>
        </p:spPr>
      </p:pic>
      <p:sp>
        <p:nvSpPr>
          <p:cNvPr id="11" name="矩形 10"/>
          <p:cNvSpPr/>
          <p:nvPr/>
        </p:nvSpPr>
        <p:spPr>
          <a:xfrm>
            <a:off x="1001385" y="587446"/>
            <a:ext cx="1052723" cy="5870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smtClean="0">
                <a:solidFill>
                  <a:srgbClr val="757C82"/>
                </a:solidFill>
                <a:latin typeface="Times New Roman" panose="02020603050405020304" pitchFamily="18" charset="0"/>
                <a:cs typeface="Times New Roman" panose="02020603050405020304" pitchFamily="18" charset="0"/>
              </a:rPr>
              <a:t>2025</a:t>
            </a:r>
          </a:p>
        </p:txBody>
      </p:sp>
    </p:spTree>
    <p:extLst>
      <p:ext uri="{BB962C8B-B14F-4D97-AF65-F5344CB8AC3E}">
        <p14:creationId xmlns:p14="http://schemas.microsoft.com/office/powerpoint/2010/main" val="39499843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bldLst>
      <p:bldP spid="2" grpId="0"/>
      <p:bldP spid="4" grpId="0"/>
      <p:bldP spid="8" grpId="0" bldLvl="0" animBg="1"/>
      <p:bldP spid="11"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nvSpPr>
        <p:spPr>
          <a:xfrm>
            <a:off x="1788494" y="1591871"/>
            <a:ext cx="942982" cy="3046988"/>
          </a:xfrm>
          <a:prstGeom prst="rect">
            <a:avLst/>
          </a:prstGeom>
          <a:noFill/>
        </p:spPr>
        <p:txBody>
          <a:bodyPr wrap="square" rtlCol="0">
            <a:spAutoFit/>
          </a:bodyPr>
          <a:lstStyle/>
          <a:p>
            <a:r>
              <a:rPr kumimoji="1" lang="zh-CN" altLang="en-US" sz="4800" smtClean="0">
                <a:solidFill>
                  <a:srgbClr val="2C3814"/>
                </a:solidFill>
                <a:cs typeface="+mn-ea"/>
                <a:sym typeface="+mn-lt"/>
              </a:rPr>
              <a:t>内容索引</a:t>
            </a:r>
            <a:endParaRPr kumimoji="1" lang="zh-CN" altLang="en-US" sz="4800" dirty="0">
              <a:solidFill>
                <a:srgbClr val="2C3814"/>
              </a:solidFill>
              <a:cs typeface="+mn-ea"/>
              <a:sym typeface="+mn-lt"/>
            </a:endParaRPr>
          </a:p>
        </p:txBody>
      </p:sp>
      <p:grpSp>
        <p:nvGrpSpPr>
          <p:cNvPr id="25" name="组合 24"/>
          <p:cNvGrpSpPr/>
          <p:nvPr/>
        </p:nvGrpSpPr>
        <p:grpSpPr>
          <a:xfrm>
            <a:off x="1378713" y="856615"/>
            <a:ext cx="1105802" cy="815646"/>
            <a:chOff x="-1604504" y="2147667"/>
            <a:chExt cx="3687215" cy="2719712"/>
          </a:xfrm>
        </p:grpSpPr>
        <p:cxnSp>
          <p:nvCxnSpPr>
            <p:cNvPr id="26" name="直接连接符 25"/>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27" name="直接连接符 26"/>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28" name="组合 27"/>
          <p:cNvGrpSpPr/>
          <p:nvPr/>
        </p:nvGrpSpPr>
        <p:grpSpPr>
          <a:xfrm flipH="1" flipV="1">
            <a:off x="1707083" y="4546456"/>
            <a:ext cx="1105803" cy="815646"/>
            <a:chOff x="-1604504" y="2147667"/>
            <a:chExt cx="3687215" cy="2719712"/>
          </a:xfrm>
        </p:grpSpPr>
        <p:cxnSp>
          <p:nvCxnSpPr>
            <p:cNvPr id="38" name="直接连接符 37"/>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39" name="直接连接符 38"/>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grpSp>
        <p:nvGrpSpPr>
          <p:cNvPr id="40" name="组合 39"/>
          <p:cNvGrpSpPr/>
          <p:nvPr/>
        </p:nvGrpSpPr>
        <p:grpSpPr>
          <a:xfrm>
            <a:off x="4764013" y="1194282"/>
            <a:ext cx="804581" cy="804581"/>
            <a:chOff x="3685832" y="623962"/>
            <a:chExt cx="739840" cy="739840"/>
          </a:xfrm>
        </p:grpSpPr>
        <p:sp>
          <p:nvSpPr>
            <p:cNvPr id="44" name="椭圆 43"/>
            <p:cNvSpPr/>
            <p:nvPr/>
          </p:nvSpPr>
          <p:spPr>
            <a:xfrm>
              <a:off x="3685832" y="623962"/>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2540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E93F30"/>
                </a:solidFill>
                <a:effectLst/>
                <a:uLnTx/>
                <a:uFillTx/>
                <a:latin typeface="Arial" panose="020B0604020202020204" pitchFamily="34" charset="0"/>
              </a:endParaRPr>
            </a:p>
          </p:txBody>
        </p:sp>
        <p:sp>
          <p:nvSpPr>
            <p:cNvPr id="45" name="TextBox 7"/>
            <p:cNvSpPr txBox="1"/>
            <p:nvPr/>
          </p:nvSpPr>
          <p:spPr>
            <a:xfrm>
              <a:off x="3786929" y="743838"/>
              <a:ext cx="537648" cy="500090"/>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rPr>
                <a:t>01</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endParaRPr>
            </a:p>
          </p:txBody>
        </p:sp>
      </p:grpSp>
      <p:grpSp>
        <p:nvGrpSpPr>
          <p:cNvPr id="46" name="组合 45"/>
          <p:cNvGrpSpPr/>
          <p:nvPr/>
        </p:nvGrpSpPr>
        <p:grpSpPr>
          <a:xfrm>
            <a:off x="4764013" y="2760859"/>
            <a:ext cx="804581" cy="804581"/>
            <a:chOff x="3685832" y="1673493"/>
            <a:chExt cx="739840" cy="739840"/>
          </a:xfrm>
        </p:grpSpPr>
        <p:sp>
          <p:nvSpPr>
            <p:cNvPr id="47" name="椭圆 46"/>
            <p:cNvSpPr/>
            <p:nvPr/>
          </p:nvSpPr>
          <p:spPr>
            <a:xfrm>
              <a:off x="3685832" y="1673493"/>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2540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3574A0"/>
                </a:solidFill>
                <a:effectLst/>
                <a:uLnTx/>
                <a:uFillTx/>
                <a:latin typeface="Arial" panose="020B0604020202020204" pitchFamily="34" charset="0"/>
              </a:endParaRPr>
            </a:p>
          </p:txBody>
        </p:sp>
        <p:sp>
          <p:nvSpPr>
            <p:cNvPr id="48" name="TextBox 10"/>
            <p:cNvSpPr txBox="1"/>
            <p:nvPr/>
          </p:nvSpPr>
          <p:spPr>
            <a:xfrm>
              <a:off x="3786931" y="1793369"/>
              <a:ext cx="537648" cy="500090"/>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rPr>
                <a:t>02</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endParaRPr>
            </a:p>
          </p:txBody>
        </p:sp>
      </p:grpSp>
      <p:grpSp>
        <p:nvGrpSpPr>
          <p:cNvPr id="49" name="组合 48"/>
          <p:cNvGrpSpPr/>
          <p:nvPr/>
        </p:nvGrpSpPr>
        <p:grpSpPr>
          <a:xfrm>
            <a:off x="4764013" y="4327435"/>
            <a:ext cx="804581" cy="804581"/>
            <a:chOff x="3685832" y="2723024"/>
            <a:chExt cx="739840" cy="739840"/>
          </a:xfrm>
        </p:grpSpPr>
        <p:sp>
          <p:nvSpPr>
            <p:cNvPr id="50" name="椭圆 49"/>
            <p:cNvSpPr/>
            <p:nvPr/>
          </p:nvSpPr>
          <p:spPr>
            <a:xfrm>
              <a:off x="3685832" y="2723024"/>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1905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3574A0"/>
                </a:solidFill>
                <a:effectLst/>
                <a:uLnTx/>
                <a:uFillTx/>
                <a:latin typeface="Arial" panose="020B0604020202020204" pitchFamily="34" charset="0"/>
              </a:endParaRPr>
            </a:p>
          </p:txBody>
        </p:sp>
        <p:sp>
          <p:nvSpPr>
            <p:cNvPr id="51" name="TextBox 13"/>
            <p:cNvSpPr txBox="1"/>
            <p:nvPr/>
          </p:nvSpPr>
          <p:spPr>
            <a:xfrm>
              <a:off x="3786929" y="2842900"/>
              <a:ext cx="537648" cy="500090"/>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rPr>
                <a:t>03</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endParaRPr>
            </a:p>
          </p:txBody>
        </p:sp>
      </p:grpSp>
      <p:sp>
        <p:nvSpPr>
          <p:cNvPr id="52" name="矩形 51">
            <a:hlinkClick r:id="rId2" action="ppaction://hlinksldjump"/>
          </p:cNvPr>
          <p:cNvSpPr/>
          <p:nvPr/>
        </p:nvSpPr>
        <p:spPr>
          <a:xfrm>
            <a:off x="5678538" y="1286748"/>
            <a:ext cx="2997835" cy="501650"/>
          </a:xfrm>
          <a:prstGeom prst="rect">
            <a:avLst/>
          </a:prstGeom>
        </p:spPr>
        <p:txBody>
          <a:bodyPr wrap="none">
            <a:spAutoFit/>
          </a:bodyPr>
          <a:lstStyle/>
          <a:p>
            <a:pPr defTabSz="1219200"/>
            <a:r>
              <a:rPr lang="zh-CN" altLang="en-US" sz="2665" b="1" dirty="0" smtClean="0">
                <a:solidFill>
                  <a:srgbClr val="4D4D4D"/>
                </a:solidFill>
                <a:latin typeface="方正姚体" panose="02010601030101010101" charset="-122"/>
                <a:ea typeface="方正姚体" panose="02010601030101010101" charset="-122"/>
                <a:cs typeface="方正姚体" panose="02010601030101010101" charset="-122"/>
              </a:rPr>
              <a:t>自主预习 新知导学</a:t>
            </a:r>
            <a:endParaRPr lang="zh-CN" altLang="en-US" sz="2665" b="1" dirty="0">
              <a:solidFill>
                <a:srgbClr val="4D4D4D"/>
              </a:solidFill>
              <a:latin typeface="方正姚体" panose="02010601030101010101" charset="-122"/>
              <a:ea typeface="方正姚体" panose="02010601030101010101" charset="-122"/>
              <a:cs typeface="方正姚体" panose="02010601030101010101" charset="-122"/>
            </a:endParaRPr>
          </a:p>
        </p:txBody>
      </p:sp>
      <p:sp>
        <p:nvSpPr>
          <p:cNvPr id="53" name="矩形 52">
            <a:hlinkClick r:id="rId3" action="ppaction://hlinksldjump"/>
          </p:cNvPr>
          <p:cNvSpPr/>
          <p:nvPr/>
        </p:nvSpPr>
        <p:spPr>
          <a:xfrm>
            <a:off x="5678538" y="2871606"/>
            <a:ext cx="2997835" cy="501650"/>
          </a:xfrm>
          <a:prstGeom prst="rect">
            <a:avLst/>
          </a:prstGeom>
        </p:spPr>
        <p:txBody>
          <a:bodyPr wrap="none">
            <a:spAutoFit/>
          </a:bodyPr>
          <a:lstStyle/>
          <a:p>
            <a:pPr defTabSz="1219200"/>
            <a:r>
              <a:rPr lang="zh-CN" altLang="en-US" sz="2665" b="1" dirty="0" smtClean="0">
                <a:solidFill>
                  <a:srgbClr val="4D4D4D"/>
                </a:solidFill>
                <a:latin typeface="方正姚体" panose="02010601030101010101" charset="-122"/>
                <a:ea typeface="方正姚体" panose="02010601030101010101" charset="-122"/>
                <a:cs typeface="方正姚体" panose="02010601030101010101" charset="-122"/>
              </a:rPr>
              <a:t>合作探究 释疑解惑</a:t>
            </a:r>
            <a:endParaRPr lang="zh-CN" altLang="en-US" sz="2665" b="1" dirty="0">
              <a:solidFill>
                <a:srgbClr val="4D4D4D"/>
              </a:solidFill>
              <a:latin typeface="方正姚体" panose="02010601030101010101" charset="-122"/>
              <a:ea typeface="方正姚体" panose="02010601030101010101" charset="-122"/>
              <a:cs typeface="方正姚体" panose="02010601030101010101" charset="-122"/>
            </a:endParaRPr>
          </a:p>
        </p:txBody>
      </p:sp>
      <p:sp>
        <p:nvSpPr>
          <p:cNvPr id="54" name="矩形 53">
            <a:hlinkClick r:id="rId4" action="ppaction://hlinksldjump"/>
          </p:cNvPr>
          <p:cNvSpPr/>
          <p:nvPr/>
        </p:nvSpPr>
        <p:spPr>
          <a:xfrm>
            <a:off x="5678538" y="4456463"/>
            <a:ext cx="1556836" cy="502445"/>
          </a:xfrm>
          <a:prstGeom prst="rect">
            <a:avLst/>
          </a:prstGeom>
        </p:spPr>
        <p:txBody>
          <a:bodyPr wrap="none">
            <a:spAutoFit/>
          </a:bodyPr>
          <a:lstStyle/>
          <a:p>
            <a:pPr defTabSz="1219200"/>
            <a:r>
              <a:rPr lang="zh-CN" altLang="en-US" sz="2665" b="1" dirty="0" smtClean="0">
                <a:solidFill>
                  <a:srgbClr val="4D4D4D"/>
                </a:solidFill>
                <a:latin typeface="方正姚体" panose="02010601030101010101" charset="-122"/>
                <a:ea typeface="方正姚体" panose="02010601030101010101" charset="-122"/>
                <a:cs typeface="方正姚体" panose="02010601030101010101" charset="-122"/>
              </a:rPr>
              <a:t>随堂练习</a:t>
            </a:r>
            <a:endParaRPr lang="zh-CN" altLang="en-US" sz="2665" b="1" dirty="0">
              <a:solidFill>
                <a:srgbClr val="4D4D4D"/>
              </a:solidFill>
              <a:latin typeface="方正姚体" panose="02010601030101010101" charset="-122"/>
              <a:ea typeface="方正姚体" panose="02010601030101010101" charset="-122"/>
              <a:cs typeface="方正姚体" panose="02010601030101010101"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17500" y="701716"/>
            <a:ext cx="11557000" cy="5689151"/>
          </a:xfrm>
          <a:prstGeom prst="rect">
            <a:avLst/>
          </a:prstGeom>
          <a:noFill/>
          <a:ln w="19050">
            <a:gradFill>
              <a:gsLst>
                <a:gs pos="100000">
                  <a:schemeClr val="accent1">
                    <a:lumMod val="5000"/>
                    <a:lumOff val="95000"/>
                  </a:schemeClr>
                </a:gs>
                <a:gs pos="57000">
                  <a:schemeClr val="tx1">
                    <a:lumMod val="50000"/>
                    <a:lumOff val="50000"/>
                  </a:schemeClr>
                </a:gs>
                <a:gs pos="29000">
                  <a:schemeClr val="tx1"/>
                </a:gs>
                <a:gs pos="100000">
                  <a:schemeClr val="bg1"/>
                </a:gs>
              </a:gsLst>
              <a:lin ang="5400000" scaled="1"/>
            </a:gra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9" name="文本框 8"/>
          <p:cNvSpPr txBox="1"/>
          <p:nvPr>
            <p:custDataLst>
              <p:tags r:id="rId1"/>
            </p:custDataLst>
          </p:nvPr>
        </p:nvSpPr>
        <p:spPr>
          <a:xfrm>
            <a:off x="4766695" y="446122"/>
            <a:ext cx="3253105" cy="490640"/>
          </a:xfrm>
          <a:prstGeom prst="roundRect">
            <a:avLst>
              <a:gd name="adj" fmla="val 50000"/>
            </a:avLst>
          </a:prstGeom>
          <a:solidFill>
            <a:schemeClr val="bg2">
              <a:lumMod val="50000"/>
            </a:schemeClr>
          </a:solidFill>
        </p:spPr>
        <p:txBody>
          <a:bodyPr wrap="square" lIns="0" tIns="0" rIns="0" bIns="0" rtlCol="0" anchor="ctr" anchorCtr="0">
            <a:noAutofit/>
          </a:bodyPr>
          <a:lstStyle/>
          <a:p>
            <a:pPr lvl="0" algn="ctr" fontAlgn="base">
              <a:spcBef>
                <a:spcPct val="0"/>
              </a:spcBef>
              <a:spcAft>
                <a:spcPct val="0"/>
              </a:spcAft>
              <a:defRPr/>
            </a:pPr>
            <a:r>
              <a:rPr lang="zh-CN" altLang="en-US" sz="2800" kern="0" dirty="0">
                <a:solidFill>
                  <a:srgbClr val="FFFFFF"/>
                </a:solidFill>
                <a:latin typeface="Arial" panose="020B0604020202020204" pitchFamily="34" charset="0"/>
                <a:ea typeface="微软雅黑" panose="020B0503020204020204" pitchFamily="34" charset="-122"/>
                <a:sym typeface="Arial" panose="020B0604020202020204" pitchFamily="34" charset="0"/>
              </a:rPr>
              <a:t>课标定</a:t>
            </a:r>
            <a:r>
              <a:rPr lang="zh-CN" altLang="en-US" sz="2800" kern="0" dirty="0" smtClean="0">
                <a:solidFill>
                  <a:srgbClr val="FFFFFF"/>
                </a:solidFill>
                <a:latin typeface="Arial" panose="020B0604020202020204" pitchFamily="34" charset="0"/>
                <a:ea typeface="微软雅黑" panose="020B0503020204020204" pitchFamily="34" charset="-122"/>
                <a:sym typeface="Arial" panose="020B0604020202020204" pitchFamily="34" charset="0"/>
              </a:rPr>
              <a:t>位素养</a:t>
            </a:r>
            <a:r>
              <a:rPr lang="zh-CN" altLang="en-US" sz="2800" kern="0" dirty="0">
                <a:solidFill>
                  <a:srgbClr val="FFFFFF"/>
                </a:solidFill>
                <a:latin typeface="Arial" panose="020B0604020202020204" pitchFamily="34" charset="0"/>
                <a:ea typeface="微软雅黑" panose="020B0503020204020204" pitchFamily="34" charset="-122"/>
                <a:sym typeface="Arial" panose="020B0604020202020204" pitchFamily="34" charset="0"/>
              </a:rPr>
              <a:t>阐释</a:t>
            </a:r>
          </a:p>
        </p:txBody>
      </p:sp>
      <p:sp>
        <p:nvSpPr>
          <p:cNvPr id="3" name="矩形 2"/>
          <p:cNvSpPr>
            <a:spLocks noChangeAspect="1"/>
          </p:cNvSpPr>
          <p:nvPr/>
        </p:nvSpPr>
        <p:spPr>
          <a:xfrm>
            <a:off x="381000" y="1243879"/>
            <a:ext cx="11430000" cy="4013406"/>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在平面直角坐标系的基础上</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了解空间直角坐标系</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感受建立空间直角坐标系的必要性</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会用空间直角坐标系刻画点的位置</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掌握空间向量的坐标表示</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掌握空间向量的线性运算和数量积的坐标表示</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5</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借助空间向量运算的坐标表示</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探索并得出空间两点间的距离公式</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pPr>
            <a:r>
              <a:rPr lang="en-US" altLang="zh-CN" sz="2800" dirty="0">
                <a:solidFill>
                  <a:srgbClr val="000000"/>
                </a:solidFill>
                <a:latin typeface="Times New Roman" panose="02020603050405020304" pitchFamily="18" charset="0"/>
              </a:rPr>
              <a:t>6</a:t>
            </a:r>
            <a:r>
              <a:rPr lang="en-US" altLang="zh-CN" sz="2800" i="1" dirty="0" smtClean="0">
                <a:solidFill>
                  <a:srgbClr val="000000"/>
                </a:solidFill>
                <a:latin typeface="Times New Roman" panose="02020603050405020304" pitchFamily="18" charset="0"/>
              </a:rPr>
              <a:t>.</a:t>
            </a:r>
            <a:r>
              <a:rPr lang="zh-CN" altLang="en-US"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提升</a:t>
            </a: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数学</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抽象、直观想象、逻辑推理与数学运算素养</a:t>
            </a:r>
            <a:r>
              <a:rPr lang="en-US" altLang="zh-CN" sz="2800" i="1" dirty="0">
                <a:solidFill>
                  <a:srgbClr val="000000"/>
                </a:solidFill>
                <a:latin typeface="Times New Roman" panose="02020603050405020304" pitchFamily="18" charset="0"/>
              </a:rPr>
              <a:t>.</a:t>
            </a:r>
            <a:endParaRPr lang="zh-CN" altLang="en-US" sz="2800"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180083" y="2636520"/>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735898" y="2665586"/>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2969260" y="2585720"/>
            <a:ext cx="6252845" cy="922020"/>
          </a:xfrm>
          <a:prstGeom prst="rect">
            <a:avLst/>
          </a:prstGeom>
          <a:noFill/>
        </p:spPr>
        <p:txBody>
          <a:bodyPr wrap="square" rtlCol="0">
            <a:spAutoFit/>
          </a:bodyPr>
          <a:lstStyle/>
          <a:p>
            <a:r>
              <a:rPr lang="zh-CN" altLang="en-US" sz="5400" b="1" dirty="0" smtClean="0">
                <a:solidFill>
                  <a:srgbClr val="4D4D4D"/>
                </a:solidFill>
                <a:latin typeface="方正姚体" panose="02010601030101010101" charset="-122"/>
                <a:ea typeface="方正姚体" panose="02010601030101010101" charset="-122"/>
                <a:cs typeface="方正姚体" panose="02010601030101010101" charset="-122"/>
                <a:sym typeface="+mn-ea"/>
              </a:rPr>
              <a:t>自主预习 新知导学</a:t>
            </a:r>
            <a:endParaRPr lang="zh-CN" altLang="en-US" sz="5400" b="1" dirty="0">
              <a:solidFill>
                <a:srgbClr val="4D4D4D"/>
              </a:solidFill>
              <a:latin typeface="方正姚体" panose="02010601030101010101" charset="-122"/>
              <a:ea typeface="方正姚体" panose="02010601030101010101" charset="-122"/>
              <a:cs typeface="方正姚体" panose="02010601030101010101"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889579"/>
            <a:ext cx="11430000" cy="4013406"/>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ea typeface="方正正中黑简体"/>
                <a:cs typeface="Times New Roman" panose="02020603050405020304" pitchFamily="18" charset="0"/>
              </a:rPr>
              <a:t>一、 空间直角坐标系</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80670">
              <a:lnSpc>
                <a:spcPct val="130000"/>
              </a:lnSpc>
              <a:spcAft>
                <a:spcPts val="0"/>
              </a:spcAft>
              <a:tabLst>
                <a:tab pos="1188085" algn="l"/>
                <a:tab pos="2163445" algn="l"/>
                <a:tab pos="3142615" algn="l"/>
                <a:tab pos="4190365" algn="l"/>
              </a:tabLst>
            </a:pPr>
            <a:r>
              <a:rPr lang="en-US" altLang="zh-CN" sz="2800" b="1" dirty="0" smtClean="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回忆我们以前学过的平面直角坐标系和平面向量的坐标运算</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思考下列问题</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平面直角坐标系是由什么组成的</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类比平面直角坐标系的构成</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你能得出空间直角坐标系是由什么组成的吗</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提示</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平面直角坐标系是由平面内两条互相垂直、原点重合的数轴组成的</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空间直角坐标系是由空间中三条两两垂直、原点重合的数轴组成的</a:t>
            </a:r>
            <a:r>
              <a:rPr lang="en-US" altLang="zh-CN" sz="2800" i="1" dirty="0" smtClean="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0935028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Effect transition="in" filter="wipe(down)">
                                      <p:cBhvr>
                                        <p:cTn id="7"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421984"/>
            <a:ext cx="11430000" cy="5133713"/>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在平面向量中</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根据单位正交基底</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我们是怎样建立平面直角坐标系的</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latin typeface="Times New Roman" panose="02020603050405020304" pitchFamily="18" charset="0"/>
                <a:cs typeface="Times New Roman" panose="02020603050405020304" pitchFamily="18" charset="0"/>
              </a:rPr>
              <a:t>轴、</a:t>
            </a:r>
            <a:r>
              <a:rPr lang="en-US" altLang="zh-CN" sz="2800" i="1" dirty="0">
                <a:solidFill>
                  <a:srgbClr val="000000"/>
                </a:solidFill>
                <a:latin typeface="Times New Roman" panose="02020603050405020304" pitchFamily="18" charset="0"/>
                <a:cs typeface="Times New Roman" panose="02020603050405020304" pitchFamily="18" charset="0"/>
              </a:rPr>
              <a:t>y</a:t>
            </a:r>
            <a:r>
              <a:rPr lang="zh-CN" altLang="zh-CN" sz="2800" dirty="0">
                <a:solidFill>
                  <a:srgbClr val="000000"/>
                </a:solidFill>
                <a:latin typeface="Times New Roman" panose="02020603050405020304" pitchFamily="18" charset="0"/>
                <a:cs typeface="Times New Roman" panose="02020603050405020304" pitchFamily="18" charset="0"/>
              </a:rPr>
              <a:t>轴的</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提示</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在平面内选定一点</a:t>
            </a:r>
            <a:r>
              <a:rPr lang="en-US" altLang="zh-CN" sz="2800" i="1" dirty="0">
                <a:solidFill>
                  <a:srgbClr val="000000"/>
                </a:solidFill>
                <a:latin typeface="Times New Roman" panose="02020603050405020304" pitchFamily="18" charset="0"/>
                <a:cs typeface="Times New Roman" panose="02020603050405020304" pitchFamily="18" charset="0"/>
              </a:rPr>
              <a:t>O</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和一个单位正交基底</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i</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j</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以</a:t>
            </a:r>
            <a:r>
              <a:rPr lang="en-US" altLang="zh-CN" sz="2800" i="1" dirty="0">
                <a:solidFill>
                  <a:srgbClr val="000000"/>
                </a:solidFill>
                <a:latin typeface="Times New Roman" panose="02020603050405020304" pitchFamily="18" charset="0"/>
                <a:cs typeface="Times New Roman" panose="02020603050405020304" pitchFamily="18" charset="0"/>
              </a:rPr>
              <a:t>O</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为原点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分别以</a:t>
            </a:r>
            <a:r>
              <a:rPr lang="en-US" altLang="zh-CN" sz="2800" b="1" dirty="0" err="1">
                <a:solidFill>
                  <a:srgbClr val="000000"/>
                </a:solidFill>
                <a:latin typeface="Times New Roman" panose="02020603050405020304" pitchFamily="18" charset="0"/>
                <a:cs typeface="Times New Roman" panose="02020603050405020304" pitchFamily="18" charset="0"/>
              </a:rPr>
              <a:t>i</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j</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的方向为正方向、以它们的长为单位长度建立两条数轴</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i="1" dirty="0">
                <a:solidFill>
                  <a:srgbClr val="000000"/>
                </a:solidFill>
                <a:latin typeface="Times New Roman" panose="02020603050405020304" pitchFamily="18" charset="0"/>
                <a:cs typeface="Times New Roman" panose="02020603050405020304" pitchFamily="18" charset="0"/>
              </a:rPr>
              <a:t>y</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这样我们就建立了平面直角坐标系</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cs typeface="Times New Roman" panose="02020603050405020304" pitchFamily="18" charset="0"/>
              </a:rPr>
              <a:t>类似平面向量中直角坐标系的建立</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我们怎样建立空间直角坐标系呢</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029335" algn="l"/>
                <a:tab pos="1850390" algn="l"/>
                <a:tab pos="2538095" algn="l"/>
                <a:tab pos="3221990"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提示</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在空间选定一点</a:t>
            </a:r>
            <a:r>
              <a:rPr lang="en-US" altLang="zh-CN" sz="2800" i="1" dirty="0">
                <a:solidFill>
                  <a:srgbClr val="000000"/>
                </a:solidFill>
                <a:latin typeface="Times New Roman" panose="02020603050405020304" pitchFamily="18" charset="0"/>
                <a:cs typeface="Times New Roman" panose="02020603050405020304" pitchFamily="18" charset="0"/>
              </a:rPr>
              <a:t>O</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和一个单位正交基底</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i</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j</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k</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以</a:t>
            </a:r>
            <a:r>
              <a:rPr lang="en-US" altLang="zh-CN" sz="2800" i="1" dirty="0">
                <a:solidFill>
                  <a:srgbClr val="000000"/>
                </a:solidFill>
                <a:latin typeface="Times New Roman" panose="02020603050405020304" pitchFamily="18" charset="0"/>
                <a:cs typeface="Times New Roman" panose="02020603050405020304" pitchFamily="18" charset="0"/>
              </a:rPr>
              <a:t>O</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为原点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分别以</a:t>
            </a:r>
            <a:r>
              <a:rPr lang="en-US" altLang="zh-CN" sz="2800" b="1" dirty="0" err="1">
                <a:solidFill>
                  <a:srgbClr val="000000"/>
                </a:solidFill>
                <a:latin typeface="Times New Roman" panose="02020603050405020304" pitchFamily="18" charset="0"/>
                <a:cs typeface="Times New Roman" panose="02020603050405020304" pitchFamily="18" charset="0"/>
              </a:rPr>
              <a:t>i</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j</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k</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的方向为正方向、以它们的长为单位长度建立三条数轴</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i="1" dirty="0">
                <a:solidFill>
                  <a:srgbClr val="000000"/>
                </a:solidFill>
                <a:latin typeface="Times New Roman" panose="02020603050405020304" pitchFamily="18" charset="0"/>
                <a:cs typeface="Times New Roman" panose="02020603050405020304" pitchFamily="18" charset="0"/>
              </a:rPr>
              <a:t>y</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i="1" dirty="0">
                <a:solidFill>
                  <a:srgbClr val="000000"/>
                </a:solidFill>
                <a:latin typeface="Times New Roman" panose="02020603050405020304" pitchFamily="18" charset="0"/>
                <a:cs typeface="Times New Roman" panose="02020603050405020304" pitchFamily="18" charset="0"/>
              </a:rPr>
              <a:t>z</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这样我们就建立了空间直角坐标系</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8061762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wipe(down)">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2">
                                            <p:txEl>
                                              <p:pRg st="3" end="3"/>
                                            </p:txEl>
                                          </p:spTgt>
                                        </p:tgtEl>
                                        <p:attrNameLst>
                                          <p:attrName>style.visibility</p:attrName>
                                        </p:attrNameLst>
                                      </p:cBhvr>
                                      <p:to>
                                        <p:strVal val="visible"/>
                                      </p:to>
                                    </p:set>
                                    <p:animEffect transition="in" filter="barn(inVertical)">
                                      <p:cBhvr>
                                        <p:cTn id="12"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148553"/>
            <a:ext cx="11430000" cy="6193747"/>
          </a:xfrm>
          <a:prstGeom prst="rect">
            <a:avLst/>
          </a:prstGeom>
        </p:spPr>
        <p:txBody>
          <a:bodyPr>
            <a:spAutoFit/>
          </a:bodyPr>
          <a:lstStyle/>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2</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zh-CN" altLang="zh-CN" sz="2800" dirty="0" smtClean="0">
                <a:solidFill>
                  <a:srgbClr val="000000"/>
                </a:solidFill>
                <a:latin typeface="Times New Roman" panose="02020603050405020304" pitchFamily="18" charset="0"/>
                <a:cs typeface="Times New Roman" panose="02020603050405020304" pitchFamily="18" charset="0"/>
              </a:rPr>
              <a:t>空间</a:t>
            </a:r>
            <a:r>
              <a:rPr lang="zh-CN" altLang="zh-CN" sz="2800" dirty="0">
                <a:solidFill>
                  <a:srgbClr val="000000"/>
                </a:solidFill>
                <a:latin typeface="Times New Roman" panose="02020603050405020304" pitchFamily="18" charset="0"/>
                <a:cs typeface="Times New Roman" panose="02020603050405020304" pitchFamily="18" charset="0"/>
              </a:rPr>
              <a:t>直角坐标系</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定义</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在空间选定一点</a:t>
            </a:r>
            <a:r>
              <a:rPr lang="en-US" altLang="zh-CN" sz="2800" i="1" dirty="0">
                <a:solidFill>
                  <a:srgbClr val="000000"/>
                </a:solidFill>
                <a:latin typeface="Times New Roman" panose="02020603050405020304" pitchFamily="18" charset="0"/>
                <a:cs typeface="Times New Roman" panose="02020603050405020304" pitchFamily="18" charset="0"/>
              </a:rPr>
              <a:t>O</a:t>
            </a:r>
            <a:r>
              <a:rPr lang="zh-CN" altLang="zh-CN" sz="2800" dirty="0">
                <a:solidFill>
                  <a:srgbClr val="000000"/>
                </a:solidFill>
                <a:latin typeface="Times New Roman" panose="02020603050405020304" pitchFamily="18" charset="0"/>
                <a:cs typeface="Times New Roman" panose="02020603050405020304" pitchFamily="18" charset="0"/>
              </a:rPr>
              <a:t>和一个单位正交基底</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i</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j</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k</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以点</a:t>
            </a:r>
            <a:r>
              <a:rPr lang="en-US" altLang="zh-CN" sz="2800" i="1" dirty="0">
                <a:solidFill>
                  <a:srgbClr val="000000"/>
                </a:solidFill>
                <a:latin typeface="Times New Roman" panose="02020603050405020304" pitchFamily="18" charset="0"/>
                <a:cs typeface="Times New Roman" panose="02020603050405020304" pitchFamily="18" charset="0"/>
              </a:rPr>
              <a:t>O</a:t>
            </a:r>
            <a:r>
              <a:rPr lang="zh-CN" altLang="zh-CN" sz="2800" dirty="0">
                <a:solidFill>
                  <a:srgbClr val="000000"/>
                </a:solidFill>
                <a:latin typeface="Times New Roman" panose="02020603050405020304" pitchFamily="18" charset="0"/>
                <a:cs typeface="Times New Roman" panose="02020603050405020304" pitchFamily="18" charset="0"/>
              </a:rPr>
              <a:t>为原点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分别</a:t>
            </a:r>
            <a:r>
              <a:rPr lang="zh-CN" altLang="zh-CN" sz="2800" dirty="0" smtClean="0">
                <a:solidFill>
                  <a:srgbClr val="000000"/>
                </a:solidFill>
                <a:latin typeface="Times New Roman" panose="02020603050405020304" pitchFamily="18" charset="0"/>
                <a:cs typeface="Times New Roman" panose="02020603050405020304" pitchFamily="18" charset="0"/>
              </a:rPr>
              <a:t>以</a:t>
            </a:r>
            <a:r>
              <a:rPr lang="zh-CN" altLang="en-US" sz="2800" dirty="0" smtClean="0">
                <a:solidFill>
                  <a:srgbClr val="000000"/>
                </a:solidFill>
                <a:latin typeface="Times New Roman" panose="02020603050405020304" pitchFamily="18" charset="0"/>
                <a:cs typeface="Times New Roman" panose="02020603050405020304" pitchFamily="18" charset="0"/>
              </a:rPr>
              <a:t> </a:t>
            </a:r>
            <a:r>
              <a:rPr lang="en-US" altLang="zh-CN" sz="2800" b="1" dirty="0" err="1" smtClean="0">
                <a:solidFill>
                  <a:srgbClr val="FF0000"/>
                </a:solidFill>
                <a:latin typeface="Times New Roman" panose="02020603050405020304" pitchFamily="18" charset="0"/>
                <a:cs typeface="Times New Roman" panose="02020603050405020304" pitchFamily="18" charset="0"/>
              </a:rPr>
              <a:t>i</a:t>
            </a:r>
            <a:r>
              <a:rPr lang="en-US" altLang="zh-CN" sz="2800" dirty="0" err="1" smtClean="0">
                <a:solidFill>
                  <a:srgbClr val="FF0000"/>
                </a:solidFill>
                <a:latin typeface="Times New Roman" panose="02020603050405020304" pitchFamily="18" charset="0"/>
                <a:cs typeface="Times New Roman" panose="02020603050405020304" pitchFamily="18" charset="0"/>
              </a:rPr>
              <a:t>,</a:t>
            </a:r>
            <a:r>
              <a:rPr lang="en-US" altLang="zh-CN" sz="2800" b="1" dirty="0" err="1" smtClean="0">
                <a:solidFill>
                  <a:srgbClr val="FF0000"/>
                </a:solidFill>
                <a:latin typeface="Times New Roman" panose="02020603050405020304" pitchFamily="18" charset="0"/>
                <a:cs typeface="Times New Roman" panose="02020603050405020304" pitchFamily="18" charset="0"/>
              </a:rPr>
              <a:t>j</a:t>
            </a:r>
            <a:r>
              <a:rPr lang="en-US" altLang="zh-CN" sz="2800" dirty="0" err="1" smtClean="0">
                <a:solidFill>
                  <a:srgbClr val="FF0000"/>
                </a:solidFill>
                <a:latin typeface="Times New Roman" panose="02020603050405020304" pitchFamily="18" charset="0"/>
                <a:cs typeface="Times New Roman" panose="02020603050405020304" pitchFamily="18" charset="0"/>
              </a:rPr>
              <a:t>,</a:t>
            </a:r>
            <a:r>
              <a:rPr lang="en-US" altLang="zh-CN" sz="2800" b="1" dirty="0" err="1" smtClean="0">
                <a:solidFill>
                  <a:srgbClr val="FF0000"/>
                </a:solidFill>
                <a:latin typeface="Times New Roman" panose="02020603050405020304" pitchFamily="18" charset="0"/>
                <a:cs typeface="Times New Roman" panose="02020603050405020304" pitchFamily="18" charset="0"/>
              </a:rPr>
              <a:t>k</a:t>
            </a:r>
            <a:r>
              <a:rPr lang="zh-CN" altLang="en-US" sz="2800" b="1" dirty="0" smtClean="0">
                <a:solidFill>
                  <a:srgbClr val="FF0000"/>
                </a:solidFill>
                <a:latin typeface="Times New Roman" panose="02020603050405020304" pitchFamily="18" charset="0"/>
                <a:cs typeface="Times New Roman" panose="02020603050405020304" pitchFamily="18" charset="0"/>
              </a:rPr>
              <a:t> </a:t>
            </a:r>
            <a:r>
              <a:rPr lang="zh-CN" altLang="zh-CN" sz="2800" dirty="0" smtClean="0">
                <a:solidFill>
                  <a:srgbClr val="000000"/>
                </a:solidFill>
                <a:latin typeface="Times New Roman" panose="02020603050405020304" pitchFamily="18" charset="0"/>
                <a:cs typeface="Times New Roman" panose="02020603050405020304" pitchFamily="18" charset="0"/>
              </a:rPr>
              <a:t>的</a:t>
            </a:r>
            <a:r>
              <a:rPr lang="zh-CN" altLang="zh-CN" sz="2800" dirty="0">
                <a:solidFill>
                  <a:srgbClr val="000000"/>
                </a:solidFill>
                <a:latin typeface="Times New Roman" panose="02020603050405020304" pitchFamily="18" charset="0"/>
                <a:cs typeface="Times New Roman" panose="02020603050405020304" pitchFamily="18" charset="0"/>
              </a:rPr>
              <a:t>方向为正方向、以它们的长为单位长度建立三条数轴</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latin typeface="Times New Roman" panose="02020603050405020304" pitchFamily="18" charset="0"/>
                <a:cs typeface="Times New Roman" panose="02020603050405020304" pitchFamily="18" charset="0"/>
              </a:rPr>
              <a:t>轴、</a:t>
            </a:r>
            <a:r>
              <a:rPr lang="en-US" altLang="zh-CN" sz="2800" i="1" dirty="0">
                <a:solidFill>
                  <a:srgbClr val="000000"/>
                </a:solidFill>
                <a:latin typeface="Times New Roman" panose="02020603050405020304" pitchFamily="18" charset="0"/>
                <a:cs typeface="Times New Roman" panose="02020603050405020304" pitchFamily="18" charset="0"/>
              </a:rPr>
              <a:t>y</a:t>
            </a:r>
            <a:r>
              <a:rPr lang="zh-CN" altLang="zh-CN" sz="2800" dirty="0">
                <a:solidFill>
                  <a:srgbClr val="000000"/>
                </a:solidFill>
                <a:latin typeface="Times New Roman" panose="02020603050405020304" pitchFamily="18" charset="0"/>
                <a:cs typeface="Times New Roman" panose="02020603050405020304" pitchFamily="18" charset="0"/>
              </a:rPr>
              <a:t>轴、</a:t>
            </a:r>
            <a:r>
              <a:rPr lang="en-US" altLang="zh-CN" sz="2800" i="1" dirty="0">
                <a:solidFill>
                  <a:srgbClr val="000000"/>
                </a:solidFill>
                <a:latin typeface="Times New Roman" panose="02020603050405020304" pitchFamily="18" charset="0"/>
                <a:cs typeface="Times New Roman" panose="02020603050405020304" pitchFamily="18" charset="0"/>
              </a:rPr>
              <a:t>z</a:t>
            </a:r>
            <a:r>
              <a:rPr lang="zh-CN" altLang="zh-CN" sz="2800" dirty="0">
                <a:solidFill>
                  <a:srgbClr val="000000"/>
                </a:solidFill>
                <a:latin typeface="Times New Roman" panose="02020603050405020304" pitchFamily="18" charset="0"/>
                <a:cs typeface="Times New Roman" panose="02020603050405020304" pitchFamily="18" charset="0"/>
              </a:rPr>
              <a:t>轴</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它们都叫做</a:t>
            </a:r>
            <a:r>
              <a:rPr lang="zh-CN" altLang="zh-CN" sz="2800" dirty="0">
                <a:solidFill>
                  <a:srgbClr val="FF0000"/>
                </a:solidFill>
                <a:latin typeface="Times New Roman" panose="02020603050405020304" pitchFamily="18" charset="0"/>
                <a:cs typeface="Times New Roman" panose="02020603050405020304" pitchFamily="18" charset="0"/>
              </a:rPr>
              <a:t>坐标轴</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这时我们就建立了一个空间直角坐标系</a:t>
            </a:r>
            <a:r>
              <a:rPr lang="en-US" altLang="zh-CN" sz="2800" i="1" dirty="0" err="1" smtClean="0">
                <a:solidFill>
                  <a:srgbClr val="FF0000"/>
                </a:solidFill>
                <a:latin typeface="Times New Roman" panose="02020603050405020304" pitchFamily="18" charset="0"/>
                <a:cs typeface="Times New Roman" panose="02020603050405020304" pitchFamily="18" charset="0"/>
              </a:rPr>
              <a:t>Oxyz</a:t>
            </a:r>
            <a:r>
              <a:rPr lang="zh-CN" altLang="en-US" sz="2800" i="1" dirty="0" smtClean="0">
                <a:solidFill>
                  <a:srgbClr val="FF0000"/>
                </a:solidFill>
                <a:latin typeface="Times New Roman" panose="02020603050405020304" pitchFamily="18" charset="0"/>
                <a:cs typeface="Times New Roman" panose="02020603050405020304" pitchFamily="18" charset="0"/>
              </a:rPr>
              <a:t> </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O</a:t>
            </a:r>
            <a:r>
              <a:rPr lang="zh-CN" altLang="zh-CN" sz="2800" dirty="0">
                <a:solidFill>
                  <a:srgbClr val="000000"/>
                </a:solidFill>
                <a:latin typeface="Times New Roman" panose="02020603050405020304" pitchFamily="18" charset="0"/>
                <a:cs typeface="Times New Roman" panose="02020603050405020304" pitchFamily="18" charset="0"/>
              </a:rPr>
              <a:t>叫做</a:t>
            </a:r>
            <a:r>
              <a:rPr lang="zh-CN" altLang="zh-CN" sz="2800" dirty="0" smtClean="0">
                <a:solidFill>
                  <a:srgbClr val="000000"/>
                </a:solidFill>
                <a:latin typeface="Times New Roman" panose="02020603050405020304" pitchFamily="18" charset="0"/>
                <a:cs typeface="Times New Roman" panose="02020603050405020304" pitchFamily="18" charset="0"/>
              </a:rPr>
              <a:t>原点</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zh-CN" altLang="en-US" sz="2800" dirty="0" smtClean="0">
                <a:solidFill>
                  <a:srgbClr val="000000"/>
                </a:solidFill>
                <a:latin typeface="Times New Roman" panose="02020603050405020304" pitchFamily="18" charset="0"/>
                <a:cs typeface="Times New Roman" panose="02020603050405020304" pitchFamily="18" charset="0"/>
              </a:rPr>
              <a:t> </a:t>
            </a:r>
            <a:r>
              <a:rPr lang="en-US" altLang="zh-CN" sz="2800" b="1" dirty="0" err="1" smtClean="0">
                <a:solidFill>
                  <a:srgbClr val="FF0000"/>
                </a:solidFill>
                <a:latin typeface="Times New Roman" panose="02020603050405020304" pitchFamily="18" charset="0"/>
                <a:cs typeface="Times New Roman" panose="02020603050405020304" pitchFamily="18" charset="0"/>
              </a:rPr>
              <a:t>i</a:t>
            </a:r>
            <a:r>
              <a:rPr lang="en-US" altLang="zh-CN" sz="2800" dirty="0" err="1" smtClean="0">
                <a:solidFill>
                  <a:srgbClr val="FF0000"/>
                </a:solidFill>
                <a:latin typeface="Times New Roman" panose="02020603050405020304" pitchFamily="18" charset="0"/>
                <a:cs typeface="Times New Roman" panose="02020603050405020304" pitchFamily="18" charset="0"/>
              </a:rPr>
              <a:t>,</a:t>
            </a:r>
            <a:r>
              <a:rPr lang="en-US" altLang="zh-CN" sz="2800" b="1" dirty="0" err="1" smtClean="0">
                <a:solidFill>
                  <a:srgbClr val="FF0000"/>
                </a:solidFill>
                <a:latin typeface="Times New Roman" panose="02020603050405020304" pitchFamily="18" charset="0"/>
                <a:cs typeface="Times New Roman" panose="02020603050405020304" pitchFamily="18" charset="0"/>
              </a:rPr>
              <a:t>j</a:t>
            </a:r>
            <a:r>
              <a:rPr lang="en-US" altLang="zh-CN" sz="2800" dirty="0" err="1" smtClean="0">
                <a:solidFill>
                  <a:srgbClr val="FF0000"/>
                </a:solidFill>
                <a:latin typeface="Times New Roman" panose="02020603050405020304" pitchFamily="18" charset="0"/>
                <a:cs typeface="Times New Roman" panose="02020603050405020304" pitchFamily="18" charset="0"/>
              </a:rPr>
              <a:t>,</a:t>
            </a:r>
            <a:r>
              <a:rPr lang="en-US" altLang="zh-CN" sz="2800" b="1" dirty="0" err="1" smtClean="0">
                <a:solidFill>
                  <a:srgbClr val="FF0000"/>
                </a:solidFill>
                <a:latin typeface="Times New Roman" panose="02020603050405020304" pitchFamily="18" charset="0"/>
                <a:cs typeface="Times New Roman" panose="02020603050405020304" pitchFamily="18" charset="0"/>
              </a:rPr>
              <a:t>k</a:t>
            </a:r>
            <a:r>
              <a:rPr lang="zh-CN" altLang="en-US" sz="2800" b="1" dirty="0" smtClean="0">
                <a:solidFill>
                  <a:srgbClr val="FF0000"/>
                </a:solidFill>
                <a:latin typeface="Times New Roman" panose="02020603050405020304" pitchFamily="18" charset="0"/>
                <a:cs typeface="Times New Roman" panose="02020603050405020304" pitchFamily="18" charset="0"/>
              </a:rPr>
              <a:t> </a:t>
            </a:r>
            <a:r>
              <a:rPr lang="zh-CN" altLang="zh-CN" sz="2800" dirty="0" smtClean="0">
                <a:solidFill>
                  <a:srgbClr val="000000"/>
                </a:solidFill>
                <a:latin typeface="Times New Roman" panose="02020603050405020304" pitchFamily="18" charset="0"/>
                <a:cs typeface="Times New Roman" panose="02020603050405020304" pitchFamily="18" charset="0"/>
              </a:rPr>
              <a:t>都</a:t>
            </a:r>
            <a:r>
              <a:rPr lang="zh-CN" altLang="zh-CN" sz="2800" dirty="0">
                <a:solidFill>
                  <a:srgbClr val="000000"/>
                </a:solidFill>
                <a:latin typeface="Times New Roman" panose="02020603050405020304" pitchFamily="18" charset="0"/>
                <a:cs typeface="Times New Roman" panose="02020603050405020304" pitchFamily="18" charset="0"/>
              </a:rPr>
              <a:t>叫做坐标向量</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通过每</a:t>
            </a:r>
            <a:r>
              <a:rPr lang="zh-CN" altLang="zh-CN" sz="2800" dirty="0" smtClean="0">
                <a:solidFill>
                  <a:srgbClr val="000000"/>
                </a:solidFill>
                <a:latin typeface="Times New Roman" panose="02020603050405020304" pitchFamily="18" charset="0"/>
                <a:cs typeface="Times New Roman" panose="02020603050405020304" pitchFamily="18" charset="0"/>
              </a:rPr>
              <a:t>两</a:t>
            </a:r>
            <a:r>
              <a:rPr lang="zh-CN" altLang="en-US" sz="2800" dirty="0">
                <a:solidFill>
                  <a:srgbClr val="000000"/>
                </a:solidFill>
                <a:latin typeface="Times New Roman" panose="02020603050405020304" pitchFamily="18" charset="0"/>
                <a:cs typeface="Times New Roman" panose="02020603050405020304" pitchFamily="18" charset="0"/>
              </a:rPr>
              <a:t>条</a:t>
            </a:r>
            <a:r>
              <a:rPr lang="zh-CN" altLang="zh-CN" sz="2800" dirty="0" smtClean="0">
                <a:solidFill>
                  <a:srgbClr val="000000"/>
                </a:solidFill>
                <a:latin typeface="Times New Roman" panose="02020603050405020304" pitchFamily="18" charset="0"/>
                <a:cs typeface="Times New Roman" panose="02020603050405020304" pitchFamily="18" charset="0"/>
              </a:rPr>
              <a:t>坐标轴</a:t>
            </a:r>
            <a:r>
              <a:rPr lang="zh-CN" altLang="zh-CN" sz="2800" dirty="0">
                <a:solidFill>
                  <a:srgbClr val="000000"/>
                </a:solidFill>
                <a:latin typeface="Times New Roman" panose="02020603050405020304" pitchFamily="18" charset="0"/>
                <a:cs typeface="Times New Roman" panose="02020603050405020304" pitchFamily="18" charset="0"/>
              </a:rPr>
              <a:t>的平面叫做坐标平面</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分别</a:t>
            </a:r>
            <a:r>
              <a:rPr lang="zh-CN" altLang="zh-CN" sz="2800" dirty="0" smtClean="0">
                <a:solidFill>
                  <a:srgbClr val="000000"/>
                </a:solidFill>
                <a:latin typeface="Times New Roman" panose="02020603050405020304" pitchFamily="18" charset="0"/>
                <a:cs typeface="Times New Roman" panose="02020603050405020304" pitchFamily="18" charset="0"/>
              </a:rPr>
              <a:t>称为</a:t>
            </a:r>
            <a:r>
              <a:rPr lang="zh-CN" altLang="en-US" sz="2800" dirty="0" smtClean="0">
                <a:solidFill>
                  <a:srgbClr val="000000"/>
                </a:solidFill>
                <a:latin typeface="Times New Roman" panose="02020603050405020304" pitchFamily="18" charset="0"/>
                <a:cs typeface="Times New Roman" panose="02020603050405020304" pitchFamily="18" charset="0"/>
              </a:rPr>
              <a:t> </a:t>
            </a:r>
            <a:r>
              <a:rPr lang="en-US" altLang="zh-CN" sz="2800" i="1" dirty="0" smtClean="0">
                <a:solidFill>
                  <a:srgbClr val="FF0000"/>
                </a:solidFill>
                <a:latin typeface="Times New Roman" panose="02020603050405020304" pitchFamily="18" charset="0"/>
                <a:cs typeface="Times New Roman" panose="02020603050405020304" pitchFamily="18" charset="0"/>
              </a:rPr>
              <a:t>Oxy</a:t>
            </a:r>
            <a:r>
              <a:rPr lang="zh-CN" altLang="en-US" sz="2800" i="1" dirty="0" smtClean="0">
                <a:solidFill>
                  <a:srgbClr val="FF0000"/>
                </a:solidFill>
                <a:latin typeface="Times New Roman" panose="02020603050405020304" pitchFamily="18" charset="0"/>
                <a:cs typeface="Times New Roman" panose="02020603050405020304" pitchFamily="18" charset="0"/>
              </a:rPr>
              <a:t> </a:t>
            </a:r>
            <a:r>
              <a:rPr lang="zh-CN" altLang="zh-CN" sz="2800" dirty="0" smtClean="0">
                <a:solidFill>
                  <a:srgbClr val="000000"/>
                </a:solidFill>
                <a:latin typeface="Times New Roman" panose="02020603050405020304" pitchFamily="18" charset="0"/>
                <a:cs typeface="Times New Roman" panose="02020603050405020304" pitchFamily="18" charset="0"/>
              </a:rPr>
              <a:t>平面</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zh-CN" altLang="en-US" sz="2800" dirty="0" smtClean="0">
                <a:solidFill>
                  <a:srgbClr val="000000"/>
                </a:solidFill>
                <a:latin typeface="Times New Roman" panose="02020603050405020304" pitchFamily="18" charset="0"/>
                <a:cs typeface="Times New Roman" panose="02020603050405020304" pitchFamily="18" charset="0"/>
              </a:rPr>
              <a:t> </a:t>
            </a:r>
            <a:r>
              <a:rPr lang="en-US" altLang="zh-CN" sz="2800" i="1" dirty="0" err="1" smtClean="0">
                <a:solidFill>
                  <a:srgbClr val="FF0000"/>
                </a:solidFill>
                <a:latin typeface="Times New Roman" panose="02020603050405020304" pitchFamily="18" charset="0"/>
                <a:cs typeface="Times New Roman" panose="02020603050405020304" pitchFamily="18" charset="0"/>
              </a:rPr>
              <a:t>Oyz</a:t>
            </a:r>
            <a:r>
              <a:rPr lang="zh-CN" altLang="en-US" sz="2800" i="1" dirty="0" smtClean="0">
                <a:solidFill>
                  <a:srgbClr val="FF0000"/>
                </a:solidFill>
                <a:latin typeface="Times New Roman" panose="02020603050405020304" pitchFamily="18" charset="0"/>
                <a:cs typeface="Times New Roman" panose="02020603050405020304" pitchFamily="18" charset="0"/>
              </a:rPr>
              <a:t> </a:t>
            </a:r>
            <a:r>
              <a:rPr lang="zh-CN" altLang="zh-CN" sz="2800" dirty="0" smtClean="0">
                <a:solidFill>
                  <a:srgbClr val="000000"/>
                </a:solidFill>
                <a:latin typeface="Times New Roman" panose="02020603050405020304" pitchFamily="18" charset="0"/>
                <a:cs typeface="Times New Roman" panose="02020603050405020304" pitchFamily="18" charset="0"/>
              </a:rPr>
              <a:t>平面</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zh-CN" altLang="en-US" sz="2800" dirty="0" smtClean="0">
                <a:solidFill>
                  <a:srgbClr val="000000"/>
                </a:solidFill>
                <a:latin typeface="Times New Roman" panose="02020603050405020304" pitchFamily="18" charset="0"/>
                <a:cs typeface="Times New Roman" panose="02020603050405020304" pitchFamily="18" charset="0"/>
              </a:rPr>
              <a:t> </a:t>
            </a:r>
            <a:r>
              <a:rPr lang="en-US" altLang="zh-CN" sz="2800" i="1" dirty="0" err="1" smtClean="0">
                <a:solidFill>
                  <a:srgbClr val="FF0000"/>
                </a:solidFill>
                <a:latin typeface="Times New Roman" panose="02020603050405020304" pitchFamily="18" charset="0"/>
                <a:cs typeface="Times New Roman" panose="02020603050405020304" pitchFamily="18" charset="0"/>
              </a:rPr>
              <a:t>Ozx</a:t>
            </a:r>
            <a:r>
              <a:rPr lang="zh-CN" altLang="en-US" sz="2800" i="1" dirty="0" smtClean="0">
                <a:solidFill>
                  <a:srgbClr val="FF0000"/>
                </a:solidFill>
                <a:latin typeface="Times New Roman" panose="02020603050405020304" pitchFamily="18" charset="0"/>
                <a:cs typeface="Times New Roman" panose="02020603050405020304" pitchFamily="18" charset="0"/>
              </a:rPr>
              <a:t> </a:t>
            </a:r>
            <a:r>
              <a:rPr lang="zh-CN" altLang="zh-CN" sz="2800" dirty="0" smtClean="0">
                <a:solidFill>
                  <a:srgbClr val="000000"/>
                </a:solidFill>
                <a:latin typeface="Times New Roman" panose="02020603050405020304" pitchFamily="18" charset="0"/>
                <a:cs typeface="Times New Roman" panose="02020603050405020304" pitchFamily="18" charset="0"/>
              </a:rPr>
              <a:t>平面</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它们把空间分成八个部分</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画法</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画空间直角坐标系</a:t>
            </a:r>
            <a:r>
              <a:rPr lang="en-US" altLang="zh-CN" sz="2800" i="1" dirty="0" err="1">
                <a:solidFill>
                  <a:srgbClr val="000000"/>
                </a:solidFill>
                <a:latin typeface="Times New Roman" panose="02020603050405020304" pitchFamily="18" charset="0"/>
                <a:cs typeface="Times New Roman" panose="02020603050405020304" pitchFamily="18" charset="0"/>
              </a:rPr>
              <a:t>Oxyz</a:t>
            </a:r>
            <a:r>
              <a:rPr lang="zh-CN" altLang="zh-CN" sz="2800" dirty="0">
                <a:solidFill>
                  <a:srgbClr val="000000"/>
                </a:solidFill>
                <a:latin typeface="Times New Roman" panose="02020603050405020304" pitchFamily="18" charset="0"/>
                <a:cs typeface="Times New Roman" panose="02020603050405020304" pitchFamily="18" charset="0"/>
              </a:rPr>
              <a:t>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一般使</a:t>
            </a:r>
            <a:r>
              <a:rPr lang="zh-CN" altLang="zh-CN" sz="2800" dirty="0">
                <a:solidFill>
                  <a:srgbClr val="000000"/>
                </a:solidFill>
                <a:latin typeface="NEU-BZ-S92"/>
                <a:cs typeface="宋体" panose="02010600030101010101" pitchFamily="2" charset="-122"/>
              </a:rPr>
              <a:t>∠</a:t>
            </a:r>
            <a:r>
              <a:rPr lang="en-US" altLang="zh-CN" sz="2800" i="1" dirty="0" err="1">
                <a:solidFill>
                  <a:srgbClr val="000000"/>
                </a:solidFill>
                <a:latin typeface="Times New Roman" panose="02020603050405020304" pitchFamily="18" charset="0"/>
                <a:cs typeface="Times New Roman" panose="02020603050405020304" pitchFamily="18" charset="0"/>
              </a:rPr>
              <a:t>xOy</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FF0000"/>
                </a:solidFill>
                <a:latin typeface="Times New Roman" panose="02020603050405020304" pitchFamily="18" charset="0"/>
                <a:cs typeface="Times New Roman" panose="02020603050405020304" pitchFamily="18" charset="0"/>
              </a:rPr>
              <a:t>135</a:t>
            </a:r>
            <a:r>
              <a:rPr lang="en-US" altLang="zh-CN" sz="2800" dirty="0">
                <a:solidFill>
                  <a:srgbClr val="FF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dirty="0">
                <a:solidFill>
                  <a:srgbClr val="FF0000"/>
                </a:solidFill>
                <a:latin typeface="Times New Roman" panose="02020603050405020304" pitchFamily="18" charset="0"/>
                <a:cs typeface="Times New Roman" panose="02020603050405020304" pitchFamily="18" charset="0"/>
              </a:rPr>
              <a:t>(</a:t>
            </a:r>
            <a:r>
              <a:rPr lang="zh-CN" altLang="zh-CN" sz="2800" dirty="0">
                <a:solidFill>
                  <a:srgbClr val="FF0000"/>
                </a:solidFill>
                <a:latin typeface="Times New Roman" panose="02020603050405020304" pitchFamily="18" charset="0"/>
                <a:cs typeface="Times New Roman" panose="02020603050405020304" pitchFamily="18" charset="0"/>
              </a:rPr>
              <a:t>或</a:t>
            </a:r>
            <a:r>
              <a:rPr lang="en-US" altLang="zh-CN" sz="2800" dirty="0">
                <a:solidFill>
                  <a:srgbClr val="FF0000"/>
                </a:solidFill>
                <a:latin typeface="Times New Roman" panose="02020603050405020304" pitchFamily="18" charset="0"/>
                <a:cs typeface="Times New Roman" panose="02020603050405020304" pitchFamily="18" charset="0"/>
              </a:rPr>
              <a:t>45</a:t>
            </a:r>
            <a:r>
              <a:rPr lang="en-US" altLang="zh-CN" sz="2800" dirty="0" smtClean="0">
                <a:solidFill>
                  <a:srgbClr val="FF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dirty="0" smtClean="0">
                <a:solidFill>
                  <a:srgbClr val="FF0000"/>
                </a:solidFill>
                <a:latin typeface="Times New Roman" panose="02020603050405020304" pitchFamily="18" charset="0"/>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zh-CN" altLang="en-US" sz="2800" dirty="0" smtClean="0">
                <a:solidFill>
                  <a:srgbClr val="000000"/>
                </a:solidFill>
                <a:latin typeface="Times New Roman" panose="02020603050405020304" pitchFamily="18" charset="0"/>
                <a:cs typeface="Times New Roman" panose="02020603050405020304" pitchFamily="18" charset="0"/>
              </a:rPr>
              <a:t> </a:t>
            </a:r>
            <a:r>
              <a:rPr lang="zh-CN" altLang="zh-CN" sz="2800" dirty="0" smtClean="0">
                <a:solidFill>
                  <a:srgbClr val="000000"/>
                </a:solidFill>
                <a:latin typeface="NEU-BZ-S92"/>
                <a:cs typeface="宋体" panose="02010600030101010101" pitchFamily="2" charset="-122"/>
              </a:rPr>
              <a:t>∠</a:t>
            </a:r>
            <a:r>
              <a:rPr lang="en-US" altLang="zh-CN" sz="2800" i="1" dirty="0" err="1">
                <a:solidFill>
                  <a:srgbClr val="000000"/>
                </a:solidFill>
                <a:latin typeface="Times New Roman" panose="02020603050405020304" pitchFamily="18" charset="0"/>
                <a:cs typeface="Times New Roman" panose="02020603050405020304" pitchFamily="18" charset="0"/>
              </a:rPr>
              <a:t>yOz</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FF0000"/>
                </a:solidFill>
                <a:latin typeface="Times New Roman" panose="02020603050405020304" pitchFamily="18" charset="0"/>
                <a:cs typeface="Times New Roman" panose="02020603050405020304" pitchFamily="18" charset="0"/>
              </a:rPr>
              <a:t>90</a:t>
            </a:r>
            <a:r>
              <a:rPr lang="en-US" altLang="zh-CN" sz="2800" dirty="0">
                <a:solidFill>
                  <a:srgbClr val="FF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cs typeface="Times New Roman" panose="02020603050405020304" pitchFamily="18" charset="0"/>
              </a:rPr>
              <a:t>右手直角坐标系</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在空间直角坐标系中</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让</a:t>
            </a:r>
            <a:r>
              <a:rPr lang="zh-CN" altLang="zh-CN" sz="2800" dirty="0">
                <a:solidFill>
                  <a:srgbClr val="FF0000"/>
                </a:solidFill>
                <a:latin typeface="Times New Roman" panose="02020603050405020304" pitchFamily="18" charset="0"/>
                <a:cs typeface="Times New Roman" panose="02020603050405020304" pitchFamily="18" charset="0"/>
              </a:rPr>
              <a:t>右手拇指</a:t>
            </a:r>
            <a:r>
              <a:rPr lang="zh-CN" altLang="zh-CN" sz="2800" dirty="0">
                <a:solidFill>
                  <a:srgbClr val="000000"/>
                </a:solidFill>
                <a:latin typeface="Times New Roman" panose="02020603050405020304" pitchFamily="18" charset="0"/>
                <a:cs typeface="Times New Roman" panose="02020603050405020304" pitchFamily="18" charset="0"/>
              </a:rPr>
              <a:t>指向</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latin typeface="Times New Roman" panose="02020603050405020304" pitchFamily="18" charset="0"/>
                <a:cs typeface="Times New Roman" panose="02020603050405020304" pitchFamily="18" charset="0"/>
              </a:rPr>
              <a:t>轴的正方向</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FF0000"/>
                </a:solidFill>
                <a:latin typeface="Times New Roman" panose="02020603050405020304" pitchFamily="18" charset="0"/>
                <a:cs typeface="Times New Roman" panose="02020603050405020304" pitchFamily="18" charset="0"/>
              </a:rPr>
              <a:t>食指</a:t>
            </a:r>
            <a:r>
              <a:rPr lang="zh-CN" altLang="zh-CN" sz="2800" dirty="0">
                <a:solidFill>
                  <a:srgbClr val="000000"/>
                </a:solidFill>
                <a:latin typeface="Times New Roman" panose="02020603050405020304" pitchFamily="18" charset="0"/>
                <a:cs typeface="Times New Roman" panose="02020603050405020304" pitchFamily="18" charset="0"/>
              </a:rPr>
              <a:t>指向</a:t>
            </a:r>
            <a:r>
              <a:rPr lang="en-US" altLang="zh-CN" sz="2800" i="1" dirty="0">
                <a:solidFill>
                  <a:srgbClr val="000000"/>
                </a:solidFill>
                <a:latin typeface="Times New Roman" panose="02020603050405020304" pitchFamily="18" charset="0"/>
                <a:cs typeface="Times New Roman" panose="02020603050405020304" pitchFamily="18" charset="0"/>
              </a:rPr>
              <a:t>y</a:t>
            </a:r>
            <a:r>
              <a:rPr lang="zh-CN" altLang="zh-CN" sz="2800" dirty="0">
                <a:solidFill>
                  <a:srgbClr val="000000"/>
                </a:solidFill>
                <a:latin typeface="Times New Roman" panose="02020603050405020304" pitchFamily="18" charset="0"/>
                <a:cs typeface="Times New Roman" panose="02020603050405020304" pitchFamily="18" charset="0"/>
              </a:rPr>
              <a:t>轴的正方向</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如果中指指向</a:t>
            </a:r>
            <a:r>
              <a:rPr lang="en-US" altLang="zh-CN" sz="2800" i="1" dirty="0">
                <a:solidFill>
                  <a:srgbClr val="000000"/>
                </a:solidFill>
                <a:latin typeface="Times New Roman" panose="02020603050405020304" pitchFamily="18" charset="0"/>
                <a:cs typeface="Times New Roman" panose="02020603050405020304" pitchFamily="18" charset="0"/>
              </a:rPr>
              <a:t>z</a:t>
            </a:r>
            <a:r>
              <a:rPr lang="zh-CN" altLang="zh-CN" sz="2800" dirty="0">
                <a:solidFill>
                  <a:srgbClr val="000000"/>
                </a:solidFill>
                <a:latin typeface="Times New Roman" panose="02020603050405020304" pitchFamily="18" charset="0"/>
                <a:cs typeface="Times New Roman" panose="02020603050405020304" pitchFamily="18" charset="0"/>
              </a:rPr>
              <a:t>轴的正方向</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则称这个坐标系为右手直角坐标系</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3" name="矩形 2"/>
          <p:cNvSpPr/>
          <p:nvPr/>
        </p:nvSpPr>
        <p:spPr>
          <a:xfrm>
            <a:off x="1223074" y="1344461"/>
            <a:ext cx="709751"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连接符 3"/>
          <p:cNvCxnSpPr/>
          <p:nvPr/>
        </p:nvCxnSpPr>
        <p:spPr>
          <a:xfrm>
            <a:off x="1234714" y="1781421"/>
            <a:ext cx="706769" cy="0"/>
          </a:xfrm>
          <a:prstGeom prst="line">
            <a:avLst/>
          </a:prstGeom>
        </p:spPr>
        <p:style>
          <a:lnRef idx="2">
            <a:schemeClr val="dk1"/>
          </a:lnRef>
          <a:fillRef idx="0">
            <a:schemeClr val="dk1"/>
          </a:fillRef>
          <a:effectRef idx="1">
            <a:schemeClr val="dk1"/>
          </a:effectRef>
          <a:fontRef idx="minor">
            <a:schemeClr val="tx1"/>
          </a:fontRef>
        </p:style>
      </p:cxnSp>
      <p:sp>
        <p:nvSpPr>
          <p:cNvPr id="5" name="矩形 4"/>
          <p:cNvSpPr/>
          <p:nvPr/>
        </p:nvSpPr>
        <p:spPr>
          <a:xfrm>
            <a:off x="3555921" y="1895179"/>
            <a:ext cx="1031577"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3567583" y="2332139"/>
            <a:ext cx="1027243" cy="0"/>
          </a:xfrm>
          <a:prstGeom prst="line">
            <a:avLst/>
          </a:prstGeom>
        </p:spPr>
        <p:style>
          <a:lnRef idx="2">
            <a:schemeClr val="dk1"/>
          </a:lnRef>
          <a:fillRef idx="0">
            <a:schemeClr val="dk1"/>
          </a:fillRef>
          <a:effectRef idx="1">
            <a:schemeClr val="dk1"/>
          </a:effectRef>
          <a:fontRef idx="minor">
            <a:schemeClr val="tx1"/>
          </a:fontRef>
        </p:style>
      </p:cxnSp>
      <p:sp>
        <p:nvSpPr>
          <p:cNvPr id="8" name="矩形 7"/>
          <p:cNvSpPr/>
          <p:nvPr/>
        </p:nvSpPr>
        <p:spPr>
          <a:xfrm>
            <a:off x="381001" y="2456289"/>
            <a:ext cx="853714"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p:nvCxnSpPr>
        <p:spPr>
          <a:xfrm>
            <a:off x="392640" y="2893249"/>
            <a:ext cx="850127" cy="0"/>
          </a:xfrm>
          <a:prstGeom prst="line">
            <a:avLst/>
          </a:prstGeom>
        </p:spPr>
        <p:style>
          <a:lnRef idx="2">
            <a:schemeClr val="dk1"/>
          </a:lnRef>
          <a:fillRef idx="0">
            <a:schemeClr val="dk1"/>
          </a:fillRef>
          <a:effectRef idx="1">
            <a:schemeClr val="dk1"/>
          </a:effectRef>
          <a:fontRef idx="minor">
            <a:schemeClr val="tx1"/>
          </a:fontRef>
        </p:style>
      </p:cxnSp>
      <p:sp>
        <p:nvSpPr>
          <p:cNvPr id="11" name="矩形 10"/>
          <p:cNvSpPr/>
          <p:nvPr/>
        </p:nvSpPr>
        <p:spPr>
          <a:xfrm>
            <a:off x="3155373" y="2456289"/>
            <a:ext cx="720436"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 name="直接连接符 11"/>
          <p:cNvCxnSpPr/>
          <p:nvPr/>
        </p:nvCxnSpPr>
        <p:spPr>
          <a:xfrm>
            <a:off x="3167012" y="2893249"/>
            <a:ext cx="717409" cy="0"/>
          </a:xfrm>
          <a:prstGeom prst="line">
            <a:avLst/>
          </a:prstGeom>
        </p:spPr>
        <p:style>
          <a:lnRef idx="2">
            <a:schemeClr val="dk1"/>
          </a:lnRef>
          <a:fillRef idx="0">
            <a:schemeClr val="dk1"/>
          </a:fillRef>
          <a:effectRef idx="1">
            <a:schemeClr val="dk1"/>
          </a:effectRef>
          <a:fontRef idx="minor">
            <a:schemeClr val="tx1"/>
          </a:fontRef>
        </p:style>
      </p:cxnSp>
      <p:sp>
        <p:nvSpPr>
          <p:cNvPr id="14" name="矩形 13"/>
          <p:cNvSpPr/>
          <p:nvPr/>
        </p:nvSpPr>
        <p:spPr>
          <a:xfrm>
            <a:off x="3104992" y="3018841"/>
            <a:ext cx="654942"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 name="直接连接符 14"/>
          <p:cNvCxnSpPr/>
          <p:nvPr/>
        </p:nvCxnSpPr>
        <p:spPr>
          <a:xfrm>
            <a:off x="3116493" y="3455801"/>
            <a:ext cx="652190" cy="0"/>
          </a:xfrm>
          <a:prstGeom prst="line">
            <a:avLst/>
          </a:prstGeom>
        </p:spPr>
        <p:style>
          <a:lnRef idx="2">
            <a:schemeClr val="dk1"/>
          </a:lnRef>
          <a:fillRef idx="0">
            <a:schemeClr val="dk1"/>
          </a:fillRef>
          <a:effectRef idx="1">
            <a:schemeClr val="dk1"/>
          </a:effectRef>
          <a:fontRef idx="minor">
            <a:schemeClr val="tx1"/>
          </a:fontRef>
        </p:style>
      </p:cxnSp>
      <p:sp>
        <p:nvSpPr>
          <p:cNvPr id="16" name="矩形 15"/>
          <p:cNvSpPr/>
          <p:nvPr/>
        </p:nvSpPr>
        <p:spPr>
          <a:xfrm>
            <a:off x="4638155" y="3018841"/>
            <a:ext cx="668106"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 name="直接连接符 16"/>
          <p:cNvCxnSpPr/>
          <p:nvPr/>
        </p:nvCxnSpPr>
        <p:spPr>
          <a:xfrm>
            <a:off x="4649684" y="3455801"/>
            <a:ext cx="665299" cy="0"/>
          </a:xfrm>
          <a:prstGeom prst="line">
            <a:avLst/>
          </a:prstGeom>
        </p:spPr>
        <p:style>
          <a:lnRef idx="2">
            <a:schemeClr val="dk1"/>
          </a:lnRef>
          <a:fillRef idx="0">
            <a:schemeClr val="dk1"/>
          </a:fillRef>
          <a:effectRef idx="1">
            <a:schemeClr val="dk1"/>
          </a:effectRef>
          <a:fontRef idx="minor">
            <a:schemeClr val="tx1"/>
          </a:fontRef>
        </p:style>
      </p:cxnSp>
      <p:sp>
        <p:nvSpPr>
          <p:cNvPr id="18" name="矩形 17"/>
          <p:cNvSpPr/>
          <p:nvPr/>
        </p:nvSpPr>
        <p:spPr>
          <a:xfrm>
            <a:off x="6167399" y="3018841"/>
            <a:ext cx="661491"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9" name="直接连接符 18"/>
          <p:cNvCxnSpPr/>
          <p:nvPr/>
        </p:nvCxnSpPr>
        <p:spPr>
          <a:xfrm>
            <a:off x="6178913" y="3455801"/>
            <a:ext cx="658712" cy="0"/>
          </a:xfrm>
          <a:prstGeom prst="line">
            <a:avLst/>
          </a:prstGeom>
        </p:spPr>
        <p:style>
          <a:lnRef idx="2">
            <a:schemeClr val="dk1"/>
          </a:lnRef>
          <a:fillRef idx="0">
            <a:schemeClr val="dk1"/>
          </a:fillRef>
          <a:effectRef idx="1">
            <a:schemeClr val="dk1"/>
          </a:effectRef>
          <a:fontRef idx="minor">
            <a:schemeClr val="tx1"/>
          </a:fontRef>
        </p:style>
      </p:cxnSp>
      <p:sp>
        <p:nvSpPr>
          <p:cNvPr id="20" name="矩形 19"/>
          <p:cNvSpPr/>
          <p:nvPr/>
        </p:nvSpPr>
        <p:spPr>
          <a:xfrm>
            <a:off x="8234906" y="3559168"/>
            <a:ext cx="2156286"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 name="直接连接符 20"/>
          <p:cNvCxnSpPr/>
          <p:nvPr/>
        </p:nvCxnSpPr>
        <p:spPr>
          <a:xfrm>
            <a:off x="8246465" y="3996128"/>
            <a:ext cx="2147228" cy="0"/>
          </a:xfrm>
          <a:prstGeom prst="line">
            <a:avLst/>
          </a:prstGeom>
        </p:spPr>
        <p:style>
          <a:lnRef idx="2">
            <a:schemeClr val="dk1"/>
          </a:lnRef>
          <a:fillRef idx="0">
            <a:schemeClr val="dk1"/>
          </a:fillRef>
          <a:effectRef idx="1">
            <a:schemeClr val="dk1"/>
          </a:effectRef>
          <a:fontRef idx="minor">
            <a:schemeClr val="tx1"/>
          </a:fontRef>
        </p:style>
      </p:cxnSp>
      <p:sp>
        <p:nvSpPr>
          <p:cNvPr id="23" name="矩形 22"/>
          <p:cNvSpPr/>
          <p:nvPr/>
        </p:nvSpPr>
        <p:spPr>
          <a:xfrm>
            <a:off x="1630929" y="4098052"/>
            <a:ext cx="642071"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4" name="直接连接符 23"/>
          <p:cNvCxnSpPr/>
          <p:nvPr/>
        </p:nvCxnSpPr>
        <p:spPr>
          <a:xfrm>
            <a:off x="1621951" y="4535012"/>
            <a:ext cx="639373" cy="0"/>
          </a:xfrm>
          <a:prstGeom prst="line">
            <a:avLst/>
          </a:prstGeom>
        </p:spPr>
        <p:style>
          <a:lnRef idx="2">
            <a:schemeClr val="dk1"/>
          </a:lnRef>
          <a:fillRef idx="0">
            <a:schemeClr val="dk1"/>
          </a:fillRef>
          <a:effectRef idx="1">
            <a:schemeClr val="dk1"/>
          </a:effectRef>
          <a:fontRef idx="minor">
            <a:schemeClr val="tx1"/>
          </a:fontRef>
        </p:style>
      </p:cxnSp>
      <p:sp>
        <p:nvSpPr>
          <p:cNvPr id="26" name="矩形 25"/>
          <p:cNvSpPr/>
          <p:nvPr/>
        </p:nvSpPr>
        <p:spPr>
          <a:xfrm>
            <a:off x="7418650" y="4679943"/>
            <a:ext cx="1388763"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7" name="直接连接符 26"/>
          <p:cNvCxnSpPr/>
          <p:nvPr/>
        </p:nvCxnSpPr>
        <p:spPr>
          <a:xfrm>
            <a:off x="7430567" y="5106512"/>
            <a:ext cx="1382928" cy="0"/>
          </a:xfrm>
          <a:prstGeom prst="line">
            <a:avLst/>
          </a:prstGeom>
        </p:spPr>
        <p:style>
          <a:lnRef idx="2">
            <a:schemeClr val="dk1"/>
          </a:lnRef>
          <a:fillRef idx="0">
            <a:schemeClr val="dk1"/>
          </a:fillRef>
          <a:effectRef idx="1">
            <a:schemeClr val="dk1"/>
          </a:effectRef>
          <a:fontRef idx="minor">
            <a:schemeClr val="tx1"/>
          </a:fontRef>
        </p:style>
      </p:cxnSp>
      <p:sp>
        <p:nvSpPr>
          <p:cNvPr id="29" name="矩形 28"/>
          <p:cNvSpPr/>
          <p:nvPr/>
        </p:nvSpPr>
        <p:spPr>
          <a:xfrm>
            <a:off x="387474" y="5243916"/>
            <a:ext cx="786700"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0" name="直接连接符 29"/>
          <p:cNvCxnSpPr/>
          <p:nvPr/>
        </p:nvCxnSpPr>
        <p:spPr>
          <a:xfrm>
            <a:off x="409781" y="5660094"/>
            <a:ext cx="783395"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1549333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0" nodeType="clickEffect">
                                  <p:stCondLst>
                                    <p:cond delay="0"/>
                                  </p:stCondLst>
                                  <p:childTnLst>
                                    <p:animEffect transition="out" filter="wipe(down)">
                                      <p:cBhvr>
                                        <p:cTn id="11" dur="500"/>
                                        <p:tgtEl>
                                          <p:spTgt spid="5"/>
                                        </p:tgtEl>
                                      </p:cBhvr>
                                    </p:animEffect>
                                    <p:set>
                                      <p:cBhvr>
                                        <p:cTn id="12" dur="1" fill="hold">
                                          <p:stCondLst>
                                            <p:cond delay="499"/>
                                          </p:stCondLst>
                                        </p:cTn>
                                        <p:tgtEl>
                                          <p:spTgt spid="5"/>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4" fill="hold" grpId="0" nodeType="clickEffect">
                                  <p:stCondLst>
                                    <p:cond delay="0"/>
                                  </p:stCondLst>
                                  <p:childTnLst>
                                    <p:animEffect transition="out" filter="wipe(down)">
                                      <p:cBhvr>
                                        <p:cTn id="16" dur="500"/>
                                        <p:tgtEl>
                                          <p:spTgt spid="8"/>
                                        </p:tgtEl>
                                      </p:cBhvr>
                                    </p:animEffect>
                                    <p:set>
                                      <p:cBhvr>
                                        <p:cTn id="17" dur="1" fill="hold">
                                          <p:stCondLst>
                                            <p:cond delay="499"/>
                                          </p:stCondLst>
                                        </p:cTn>
                                        <p:tgtEl>
                                          <p:spTgt spid="8"/>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xit" presetSubtype="4" fill="hold" grpId="0" nodeType="clickEffect">
                                  <p:stCondLst>
                                    <p:cond delay="0"/>
                                  </p:stCondLst>
                                  <p:childTnLst>
                                    <p:animEffect transition="out" filter="wipe(down)">
                                      <p:cBhvr>
                                        <p:cTn id="21" dur="500"/>
                                        <p:tgtEl>
                                          <p:spTgt spid="11"/>
                                        </p:tgtEl>
                                      </p:cBhvr>
                                    </p:animEffect>
                                    <p:set>
                                      <p:cBhvr>
                                        <p:cTn id="22" dur="1" fill="hold">
                                          <p:stCondLst>
                                            <p:cond delay="499"/>
                                          </p:stCondLst>
                                        </p:cTn>
                                        <p:tgtEl>
                                          <p:spTgt spid="11"/>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22" presetClass="exit" presetSubtype="4" fill="hold" grpId="0" nodeType="clickEffect">
                                  <p:stCondLst>
                                    <p:cond delay="0"/>
                                  </p:stCondLst>
                                  <p:childTnLst>
                                    <p:animEffect transition="out" filter="wipe(down)">
                                      <p:cBhvr>
                                        <p:cTn id="26" dur="500"/>
                                        <p:tgtEl>
                                          <p:spTgt spid="14"/>
                                        </p:tgtEl>
                                      </p:cBhvr>
                                    </p:animEffect>
                                    <p:set>
                                      <p:cBhvr>
                                        <p:cTn id="27" dur="1" fill="hold">
                                          <p:stCondLst>
                                            <p:cond delay="499"/>
                                          </p:stCondLst>
                                        </p:cTn>
                                        <p:tgtEl>
                                          <p:spTgt spid="14"/>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22" presetClass="exit" presetSubtype="4" fill="hold" grpId="0" nodeType="clickEffect">
                                  <p:stCondLst>
                                    <p:cond delay="0"/>
                                  </p:stCondLst>
                                  <p:childTnLst>
                                    <p:animEffect transition="out" filter="wipe(down)">
                                      <p:cBhvr>
                                        <p:cTn id="31" dur="500"/>
                                        <p:tgtEl>
                                          <p:spTgt spid="16"/>
                                        </p:tgtEl>
                                      </p:cBhvr>
                                    </p:animEffect>
                                    <p:set>
                                      <p:cBhvr>
                                        <p:cTn id="32" dur="1" fill="hold">
                                          <p:stCondLst>
                                            <p:cond delay="499"/>
                                          </p:stCondLst>
                                        </p:cTn>
                                        <p:tgtEl>
                                          <p:spTgt spid="16"/>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22" presetClass="exit" presetSubtype="4" fill="hold" grpId="0" nodeType="clickEffect">
                                  <p:stCondLst>
                                    <p:cond delay="0"/>
                                  </p:stCondLst>
                                  <p:childTnLst>
                                    <p:animEffect transition="out" filter="wipe(down)">
                                      <p:cBhvr>
                                        <p:cTn id="36" dur="500"/>
                                        <p:tgtEl>
                                          <p:spTgt spid="18"/>
                                        </p:tgtEl>
                                      </p:cBhvr>
                                    </p:animEffect>
                                    <p:set>
                                      <p:cBhvr>
                                        <p:cTn id="37" dur="1" fill="hold">
                                          <p:stCondLst>
                                            <p:cond delay="499"/>
                                          </p:stCondLst>
                                        </p:cTn>
                                        <p:tgtEl>
                                          <p:spTgt spid="18"/>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22" presetClass="exit" presetSubtype="4" fill="hold" grpId="0" nodeType="clickEffect">
                                  <p:stCondLst>
                                    <p:cond delay="0"/>
                                  </p:stCondLst>
                                  <p:childTnLst>
                                    <p:animEffect transition="out" filter="wipe(down)">
                                      <p:cBhvr>
                                        <p:cTn id="41" dur="500"/>
                                        <p:tgtEl>
                                          <p:spTgt spid="20"/>
                                        </p:tgtEl>
                                      </p:cBhvr>
                                    </p:animEffect>
                                    <p:set>
                                      <p:cBhvr>
                                        <p:cTn id="42" dur="1" fill="hold">
                                          <p:stCondLst>
                                            <p:cond delay="499"/>
                                          </p:stCondLst>
                                        </p:cTn>
                                        <p:tgtEl>
                                          <p:spTgt spid="20"/>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22" presetClass="exit" presetSubtype="4" fill="hold" grpId="0" nodeType="clickEffect">
                                  <p:stCondLst>
                                    <p:cond delay="0"/>
                                  </p:stCondLst>
                                  <p:childTnLst>
                                    <p:animEffect transition="out" filter="wipe(down)">
                                      <p:cBhvr>
                                        <p:cTn id="46" dur="500"/>
                                        <p:tgtEl>
                                          <p:spTgt spid="23"/>
                                        </p:tgtEl>
                                      </p:cBhvr>
                                    </p:animEffect>
                                    <p:set>
                                      <p:cBhvr>
                                        <p:cTn id="47" dur="1" fill="hold">
                                          <p:stCondLst>
                                            <p:cond delay="499"/>
                                          </p:stCondLst>
                                        </p:cTn>
                                        <p:tgtEl>
                                          <p:spTgt spid="23"/>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22" presetClass="exit" presetSubtype="4" fill="hold" grpId="0" nodeType="clickEffect">
                                  <p:stCondLst>
                                    <p:cond delay="0"/>
                                  </p:stCondLst>
                                  <p:childTnLst>
                                    <p:animEffect transition="out" filter="wipe(down)">
                                      <p:cBhvr>
                                        <p:cTn id="51" dur="500"/>
                                        <p:tgtEl>
                                          <p:spTgt spid="26"/>
                                        </p:tgtEl>
                                      </p:cBhvr>
                                    </p:animEffect>
                                    <p:set>
                                      <p:cBhvr>
                                        <p:cTn id="52" dur="1" fill="hold">
                                          <p:stCondLst>
                                            <p:cond delay="499"/>
                                          </p:stCondLst>
                                        </p:cTn>
                                        <p:tgtEl>
                                          <p:spTgt spid="26"/>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22" presetClass="exit" presetSubtype="4" fill="hold" grpId="0" nodeType="clickEffect">
                                  <p:stCondLst>
                                    <p:cond delay="0"/>
                                  </p:stCondLst>
                                  <p:childTnLst>
                                    <p:animEffect transition="out" filter="wipe(down)">
                                      <p:cBhvr>
                                        <p:cTn id="56" dur="500"/>
                                        <p:tgtEl>
                                          <p:spTgt spid="29"/>
                                        </p:tgtEl>
                                      </p:cBhvr>
                                    </p:animEffect>
                                    <p:set>
                                      <p:cBhvr>
                                        <p:cTn id="57" dur="1" fill="hold">
                                          <p:stCondLst>
                                            <p:cond delay="499"/>
                                          </p:stCondLst>
                                        </p:cTn>
                                        <p:tgtEl>
                                          <p:spTgt spid="2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8" grpId="0" animBg="1"/>
      <p:bldP spid="11" grpId="0" animBg="1"/>
      <p:bldP spid="14" grpId="0" animBg="1"/>
      <p:bldP spid="16" grpId="0" animBg="1"/>
      <p:bldP spid="18" grpId="0" animBg="1"/>
      <p:bldP spid="20" grpId="0" animBg="1"/>
      <p:bldP spid="23" grpId="0" animBg="1"/>
      <p:bldP spid="26" grpId="0" animBg="1"/>
      <p:bldP spid="2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grpSp>
        <p:nvGrpSpPr>
          <p:cNvPr id="6" name="组合 5"/>
          <p:cNvGrpSpPr/>
          <p:nvPr/>
        </p:nvGrpSpPr>
        <p:grpSpPr>
          <a:xfrm>
            <a:off x="381000" y="161497"/>
            <a:ext cx="11430000" cy="6338138"/>
            <a:chOff x="381000" y="151106"/>
            <a:chExt cx="11430000" cy="6338138"/>
          </a:xfrm>
        </p:grpSpPr>
        <p:graphicFrame>
          <p:nvGraphicFramePr>
            <p:cNvPr id="3" name="对象 2"/>
            <p:cNvGraphicFramePr>
              <a:graphicFrameLocks noChangeAspect="1"/>
            </p:cNvGraphicFramePr>
            <p:nvPr>
              <p:extLst>
                <p:ext uri="{D42A27DB-BD31-4B8C-83A1-F6EECF244321}">
                  <p14:modId xmlns:p14="http://schemas.microsoft.com/office/powerpoint/2010/main" val="1452988463"/>
                </p:ext>
              </p:extLst>
            </p:nvPr>
          </p:nvGraphicFramePr>
          <p:xfrm>
            <a:off x="381000" y="151106"/>
            <a:ext cx="11430000" cy="4523781"/>
          </p:xfrm>
          <a:graphic>
            <a:graphicData uri="http://schemas.openxmlformats.org/presentationml/2006/ole">
              <mc:AlternateContent xmlns:mc="http://schemas.openxmlformats.org/markup-compatibility/2006">
                <mc:Choice xmlns:v="urn:schemas-microsoft-com:vml" Requires="v">
                  <p:oleObj spid="_x0000_s1064" name="文档" r:id="rId3" imgW="4510061" imgH="1784998" progId="Word.Document.12">
                    <p:embed/>
                  </p:oleObj>
                </mc:Choice>
                <mc:Fallback>
                  <p:oleObj name="文档" r:id="rId3" imgW="4510061" imgH="1784998" progId="Word.Document.12">
                    <p:embed/>
                    <p:pic>
                      <p:nvPicPr>
                        <p:cNvPr id="0" name=""/>
                        <p:cNvPicPr/>
                        <p:nvPr/>
                      </p:nvPicPr>
                      <p:blipFill>
                        <a:blip r:embed="rId4"/>
                        <a:stretch>
                          <a:fillRect/>
                        </a:stretch>
                      </p:blipFill>
                      <p:spPr>
                        <a:xfrm>
                          <a:off x="381000" y="151106"/>
                          <a:ext cx="11430000" cy="4523781"/>
                        </a:xfrm>
                        <a:prstGeom prst="rect">
                          <a:avLst/>
                        </a:prstGeom>
                      </p:spPr>
                    </p:pic>
                  </p:oleObj>
                </mc:Fallback>
              </mc:AlternateContent>
            </a:graphicData>
          </a:graphic>
        </p:graphicFrame>
        <p:sp>
          <p:nvSpPr>
            <p:cNvPr id="4" name="矩形 3"/>
            <p:cNvSpPr>
              <a:spLocks noChangeAspect="1"/>
            </p:cNvSpPr>
            <p:nvPr/>
          </p:nvSpPr>
          <p:spPr>
            <a:xfrm>
              <a:off x="381000" y="4716451"/>
              <a:ext cx="11430000" cy="1772793"/>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(5)</a:t>
              </a:r>
              <a:r>
                <a:rPr lang="zh-CN" altLang="zh-CN" sz="2800" dirty="0">
                  <a:solidFill>
                    <a:srgbClr val="000000"/>
                  </a:solidFill>
                  <a:latin typeface="Times New Roman" panose="02020603050405020304" pitchFamily="18" charset="0"/>
                  <a:cs typeface="Times New Roman" panose="02020603050405020304" pitchFamily="18" charset="0"/>
                </a:rPr>
                <a:t>空间向量的坐标</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在空间直角坐标系</a:t>
              </a:r>
              <a:r>
                <a:rPr lang="en-US" altLang="zh-CN" sz="2800" i="1" dirty="0" err="1">
                  <a:solidFill>
                    <a:srgbClr val="000000"/>
                  </a:solidFill>
                  <a:latin typeface="Times New Roman" panose="02020603050405020304" pitchFamily="18" charset="0"/>
                  <a:cs typeface="Times New Roman" panose="02020603050405020304" pitchFamily="18" charset="0"/>
                </a:rPr>
                <a:t>Oxyz</a:t>
              </a:r>
              <a:r>
                <a:rPr lang="zh-CN" altLang="zh-CN" sz="2800" dirty="0">
                  <a:solidFill>
                    <a:srgbClr val="000000"/>
                  </a:solidFill>
                  <a:latin typeface="Times New Roman" panose="02020603050405020304" pitchFamily="18" charset="0"/>
                  <a:cs typeface="Times New Roman" panose="02020603050405020304" pitchFamily="18" charset="0"/>
                </a:rPr>
                <a:t>中</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给定向量</a:t>
              </a:r>
              <a:r>
                <a:rPr lang="en-US" altLang="zh-CN" sz="2800" b="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smtClean="0">
                  <a:solidFill>
                    <a:srgbClr val="000000"/>
                  </a:solidFill>
                  <a:latin typeface="Times New Roman" panose="02020603050405020304" pitchFamily="18" charset="0"/>
                  <a:cs typeface="Times New Roman" panose="02020603050405020304" pitchFamily="18" charset="0"/>
                </a:rPr>
                <a:t>作</a:t>
              </a:r>
              <a:r>
                <a:rPr lang="en-US" altLang="zh-CN" sz="2800" dirty="0" smtClean="0">
                  <a:solidFill>
                    <a:srgbClr val="000000"/>
                  </a:solidFill>
                  <a:latin typeface="Times New Roman" panose="02020603050405020304" pitchFamily="18" charset="0"/>
                  <a:cs typeface="Times New Roman" panose="02020603050405020304" pitchFamily="18" charset="0"/>
                </a:rPr>
                <a:t>       </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en-US" altLang="zh-CN" sz="2800" b="1" dirty="0" smtClean="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由空间向量基本定理</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存在唯一的有序实数组</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x</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y</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z</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使</a:t>
              </a:r>
              <a:r>
                <a:rPr lang="en-US" altLang="zh-CN" sz="2800" b="1" dirty="0">
                  <a:solidFill>
                    <a:srgbClr val="000000"/>
                  </a:solidFill>
                  <a:latin typeface="Times New Roman" panose="02020603050405020304" pitchFamily="18" charset="0"/>
                  <a:cs typeface="Times New Roman" panose="02020603050405020304" pitchFamily="18" charset="0"/>
                </a:rPr>
                <a:t>a</a:t>
              </a:r>
              <a:r>
                <a:rPr lang="en-US" altLang="zh-CN" sz="2800" i="1" dirty="0" smtClean="0">
                  <a:solidFill>
                    <a:srgbClr val="000000"/>
                  </a:solidFill>
                  <a:latin typeface="Times New Roman" panose="02020603050405020304" pitchFamily="18" charset="0"/>
                  <a:cs typeface="Times New Roman" panose="02020603050405020304" pitchFamily="18" charset="0"/>
                </a:rPr>
                <a:t>= </a:t>
              </a:r>
              <a:r>
                <a:rPr lang="en-US" altLang="zh-CN" sz="2800" i="1" dirty="0" err="1" smtClean="0">
                  <a:solidFill>
                    <a:srgbClr val="FF0000"/>
                  </a:solidFill>
                  <a:latin typeface="Times New Roman" panose="02020603050405020304" pitchFamily="18" charset="0"/>
                  <a:cs typeface="Times New Roman" panose="02020603050405020304" pitchFamily="18" charset="0"/>
                </a:rPr>
                <a:t>x</a:t>
              </a:r>
              <a:r>
                <a:rPr lang="en-US" altLang="zh-CN" sz="2800" b="1" dirty="0" err="1" smtClean="0">
                  <a:solidFill>
                    <a:srgbClr val="FF0000"/>
                  </a:solidFill>
                  <a:latin typeface="Times New Roman" panose="02020603050405020304" pitchFamily="18" charset="0"/>
                  <a:cs typeface="Times New Roman" panose="02020603050405020304" pitchFamily="18" charset="0"/>
                </a:rPr>
                <a:t>i</a:t>
              </a:r>
              <a:r>
                <a:rPr lang="en-US" altLang="zh-CN" sz="2800" i="1" dirty="0" err="1" smtClean="0">
                  <a:solidFill>
                    <a:srgbClr val="FF0000"/>
                  </a:solidFill>
                  <a:latin typeface="Times New Roman" panose="02020603050405020304" pitchFamily="18" charset="0"/>
                  <a:cs typeface="Times New Roman" panose="02020603050405020304" pitchFamily="18" charset="0"/>
                </a:rPr>
                <a:t>+y</a:t>
              </a:r>
              <a:r>
                <a:rPr lang="en-US" altLang="zh-CN" sz="2800" b="1" dirty="0" err="1" smtClean="0">
                  <a:solidFill>
                    <a:srgbClr val="FF0000"/>
                  </a:solidFill>
                  <a:latin typeface="Times New Roman" panose="02020603050405020304" pitchFamily="18" charset="0"/>
                  <a:cs typeface="Times New Roman" panose="02020603050405020304" pitchFamily="18" charset="0"/>
                </a:rPr>
                <a:t>j</a:t>
              </a:r>
              <a:r>
                <a:rPr lang="en-US" altLang="zh-CN" sz="2800" i="1" dirty="0" err="1" smtClean="0">
                  <a:solidFill>
                    <a:srgbClr val="FF0000"/>
                  </a:solidFill>
                  <a:latin typeface="Times New Roman" panose="02020603050405020304" pitchFamily="18" charset="0"/>
                  <a:cs typeface="Times New Roman" panose="02020603050405020304" pitchFamily="18" charset="0"/>
                </a:rPr>
                <a:t>+z</a:t>
              </a:r>
              <a:r>
                <a:rPr lang="en-US" altLang="zh-CN" sz="2800" b="1" dirty="0" err="1" smtClean="0">
                  <a:solidFill>
                    <a:srgbClr val="FF0000"/>
                  </a:solidFill>
                  <a:latin typeface="Times New Roman" panose="02020603050405020304" pitchFamily="18" charset="0"/>
                  <a:cs typeface="Times New Roman" panose="02020603050405020304" pitchFamily="18" charset="0"/>
                </a:rPr>
                <a:t>k</a:t>
              </a:r>
              <a:r>
                <a:rPr lang="en-US" altLang="zh-CN" sz="2800" b="1" dirty="0" smtClean="0">
                  <a:solidFill>
                    <a:srgbClr val="FF0000"/>
                  </a:solidFill>
                  <a:latin typeface="Times New Roman" panose="02020603050405020304" pitchFamily="18" charset="0"/>
                  <a:cs typeface="Times New Roman" panose="02020603050405020304" pitchFamily="18" charset="0"/>
                </a:rPr>
                <a:t> </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有序实数组</a:t>
              </a:r>
              <a:r>
                <a:rPr lang="en-US" altLang="zh-CN" sz="2800" dirty="0">
                  <a:solidFill>
                    <a:srgbClr val="FF0000"/>
                  </a:solidFill>
                  <a:latin typeface="Times New Roman" panose="02020603050405020304" pitchFamily="18" charset="0"/>
                  <a:cs typeface="Times New Roman" panose="02020603050405020304" pitchFamily="18" charset="0"/>
                </a:rPr>
                <a:t>(</a:t>
              </a:r>
              <a:r>
                <a:rPr lang="en-US" altLang="zh-CN" sz="2800" i="1" dirty="0" err="1">
                  <a:solidFill>
                    <a:srgbClr val="FF0000"/>
                  </a:solidFill>
                  <a:latin typeface="Times New Roman" panose="02020603050405020304" pitchFamily="18" charset="0"/>
                  <a:cs typeface="Times New Roman" panose="02020603050405020304" pitchFamily="18" charset="0"/>
                </a:rPr>
                <a:t>x</a:t>
              </a:r>
              <a:r>
                <a:rPr lang="en-US" altLang="zh-CN" sz="2800" dirty="0" err="1">
                  <a:solidFill>
                    <a:srgbClr val="FF0000"/>
                  </a:solidFill>
                  <a:latin typeface="Times New Roman" panose="02020603050405020304" pitchFamily="18" charset="0"/>
                  <a:cs typeface="Times New Roman" panose="02020603050405020304" pitchFamily="18" charset="0"/>
                </a:rPr>
                <a:t>,</a:t>
              </a:r>
              <a:r>
                <a:rPr lang="en-US" altLang="zh-CN" sz="2800" i="1" dirty="0" err="1">
                  <a:solidFill>
                    <a:srgbClr val="FF0000"/>
                  </a:solidFill>
                  <a:latin typeface="Times New Roman" panose="02020603050405020304" pitchFamily="18" charset="0"/>
                  <a:cs typeface="Times New Roman" panose="02020603050405020304" pitchFamily="18" charset="0"/>
                </a:rPr>
                <a:t>y</a:t>
              </a:r>
              <a:r>
                <a:rPr lang="en-US" altLang="zh-CN" sz="2800" dirty="0" err="1">
                  <a:solidFill>
                    <a:srgbClr val="FF0000"/>
                  </a:solidFill>
                  <a:latin typeface="Times New Roman" panose="02020603050405020304" pitchFamily="18" charset="0"/>
                  <a:cs typeface="Times New Roman" panose="02020603050405020304" pitchFamily="18" charset="0"/>
                </a:rPr>
                <a:t>,</a:t>
              </a:r>
              <a:r>
                <a:rPr lang="en-US" altLang="zh-CN" sz="2800" i="1" dirty="0" err="1">
                  <a:solidFill>
                    <a:srgbClr val="FF0000"/>
                  </a:solidFill>
                  <a:latin typeface="Times New Roman" panose="02020603050405020304" pitchFamily="18" charset="0"/>
                  <a:cs typeface="Times New Roman" panose="02020603050405020304" pitchFamily="18" charset="0"/>
                </a:rPr>
                <a:t>z</a:t>
              </a:r>
              <a:r>
                <a:rPr lang="en-US" altLang="zh-CN" sz="2800" dirty="0" smtClean="0">
                  <a:solidFill>
                    <a:srgbClr val="FF0000"/>
                  </a:solidFill>
                  <a:latin typeface="Times New Roman" panose="02020603050405020304" pitchFamily="18" charset="0"/>
                  <a:cs typeface="Times New Roman" panose="02020603050405020304" pitchFamily="18" charset="0"/>
                </a:rPr>
                <a:t>) </a:t>
              </a:r>
              <a:r>
                <a:rPr lang="zh-CN" altLang="zh-CN" sz="2800" dirty="0" smtClean="0">
                  <a:solidFill>
                    <a:srgbClr val="000000"/>
                  </a:solidFill>
                  <a:latin typeface="Times New Roman" panose="02020603050405020304" pitchFamily="18" charset="0"/>
                  <a:cs typeface="Times New Roman" panose="02020603050405020304" pitchFamily="18" charset="0"/>
                </a:rPr>
                <a:t>叫做</a:t>
              </a:r>
              <a:r>
                <a:rPr lang="en-US" altLang="zh-CN" sz="2800" b="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cs typeface="Times New Roman" panose="02020603050405020304" pitchFamily="18" charset="0"/>
                </a:rPr>
                <a:t>在空间直角坐标系</a:t>
              </a:r>
              <a:r>
                <a:rPr lang="en-US" altLang="zh-CN" sz="2800" i="1" dirty="0" err="1">
                  <a:solidFill>
                    <a:srgbClr val="000000"/>
                  </a:solidFill>
                  <a:latin typeface="Times New Roman" panose="02020603050405020304" pitchFamily="18" charset="0"/>
                  <a:cs typeface="Times New Roman" panose="02020603050405020304" pitchFamily="18" charset="0"/>
                </a:rPr>
                <a:t>Oxyz</a:t>
              </a:r>
              <a:r>
                <a:rPr lang="zh-CN" altLang="zh-CN" sz="2800" dirty="0">
                  <a:solidFill>
                    <a:srgbClr val="000000"/>
                  </a:solidFill>
                  <a:latin typeface="Times New Roman" panose="02020603050405020304" pitchFamily="18" charset="0"/>
                  <a:cs typeface="Times New Roman" panose="02020603050405020304" pitchFamily="18" charset="0"/>
                </a:rPr>
                <a:t>中的坐标</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上式可简记作</a:t>
              </a:r>
              <a:r>
                <a:rPr lang="en-US" altLang="zh-CN" sz="2800" b="1" dirty="0">
                  <a:solidFill>
                    <a:srgbClr val="FF0000"/>
                  </a:solidFill>
                  <a:latin typeface="Times New Roman" panose="02020603050405020304" pitchFamily="18" charset="0"/>
                  <a:cs typeface="Times New Roman" panose="02020603050405020304" pitchFamily="18" charset="0"/>
                </a:rPr>
                <a:t>a</a:t>
              </a:r>
              <a:r>
                <a:rPr lang="en-US" altLang="zh-CN" sz="2800" i="1" dirty="0">
                  <a:solidFill>
                    <a:srgbClr val="FF0000"/>
                  </a:solidFill>
                  <a:latin typeface="Times New Roman" panose="02020603050405020304" pitchFamily="18" charset="0"/>
                  <a:cs typeface="Times New Roman" panose="02020603050405020304" pitchFamily="18" charset="0"/>
                </a:rPr>
                <a:t>=</a:t>
              </a:r>
              <a:r>
                <a:rPr lang="en-US" altLang="zh-CN" sz="2800" dirty="0">
                  <a:solidFill>
                    <a:srgbClr val="FF0000"/>
                  </a:solidFill>
                  <a:latin typeface="Times New Roman" panose="02020603050405020304" pitchFamily="18" charset="0"/>
                  <a:cs typeface="Times New Roman" panose="02020603050405020304" pitchFamily="18" charset="0"/>
                </a:rPr>
                <a:t>(</a:t>
              </a:r>
              <a:r>
                <a:rPr lang="en-US" altLang="zh-CN" sz="2800" i="1" dirty="0" err="1">
                  <a:solidFill>
                    <a:srgbClr val="FF0000"/>
                  </a:solidFill>
                  <a:latin typeface="Times New Roman" panose="02020603050405020304" pitchFamily="18" charset="0"/>
                  <a:cs typeface="Times New Roman" panose="02020603050405020304" pitchFamily="18" charset="0"/>
                </a:rPr>
                <a:t>x</a:t>
              </a:r>
              <a:r>
                <a:rPr lang="en-US" altLang="zh-CN" sz="2800" dirty="0" err="1">
                  <a:solidFill>
                    <a:srgbClr val="FF0000"/>
                  </a:solidFill>
                  <a:latin typeface="Times New Roman" panose="02020603050405020304" pitchFamily="18" charset="0"/>
                  <a:cs typeface="Times New Roman" panose="02020603050405020304" pitchFamily="18" charset="0"/>
                </a:rPr>
                <a:t>,</a:t>
              </a:r>
              <a:r>
                <a:rPr lang="en-US" altLang="zh-CN" sz="2800" i="1" dirty="0" err="1">
                  <a:solidFill>
                    <a:srgbClr val="FF0000"/>
                  </a:solidFill>
                  <a:latin typeface="Times New Roman" panose="02020603050405020304" pitchFamily="18" charset="0"/>
                  <a:cs typeface="Times New Roman" panose="02020603050405020304" pitchFamily="18" charset="0"/>
                </a:rPr>
                <a:t>y</a:t>
              </a:r>
              <a:r>
                <a:rPr lang="en-US" altLang="zh-CN" sz="2800" dirty="0" err="1">
                  <a:solidFill>
                    <a:srgbClr val="FF0000"/>
                  </a:solidFill>
                  <a:latin typeface="Times New Roman" panose="02020603050405020304" pitchFamily="18" charset="0"/>
                  <a:cs typeface="Times New Roman" panose="02020603050405020304" pitchFamily="18" charset="0"/>
                </a:rPr>
                <a:t>,</a:t>
              </a:r>
              <a:r>
                <a:rPr lang="en-US" altLang="zh-CN" sz="2800" i="1" dirty="0" err="1">
                  <a:solidFill>
                    <a:srgbClr val="FF0000"/>
                  </a:solidFill>
                  <a:latin typeface="Times New Roman" panose="02020603050405020304" pitchFamily="18" charset="0"/>
                  <a:cs typeface="Times New Roman" panose="02020603050405020304" pitchFamily="18" charset="0"/>
                </a:rPr>
                <a:t>z</a:t>
              </a:r>
              <a:r>
                <a:rPr lang="en-US" altLang="zh-CN" sz="2800" dirty="0" smtClean="0">
                  <a:solidFill>
                    <a:srgbClr val="FF0000"/>
                  </a:solidFill>
                  <a:latin typeface="Times New Roman" panose="02020603050405020304" pitchFamily="18" charset="0"/>
                  <a:cs typeface="Times New Roman" panose="02020603050405020304" pitchFamily="18" charset="0"/>
                </a:rPr>
                <a:t>) </a:t>
              </a:r>
              <a:r>
                <a:rPr lang="en-US" altLang="zh-CN" sz="2800" i="1" dirty="0" smtClean="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2524670280"/>
                </p:ext>
              </p:extLst>
            </p:nvPr>
          </p:nvGraphicFramePr>
          <p:xfrm>
            <a:off x="9758363" y="4816216"/>
            <a:ext cx="749300" cy="506413"/>
          </p:xfrm>
          <a:graphic>
            <a:graphicData uri="http://schemas.openxmlformats.org/presentationml/2006/ole">
              <mc:AlternateContent xmlns:mc="http://schemas.openxmlformats.org/markup-compatibility/2006">
                <mc:Choice xmlns:v="urn:schemas-microsoft-com:vml" Requires="v">
                  <p:oleObj spid="_x0000_s1065" name="文档" r:id="rId5" imgW="302491" imgH="201096" progId="Word.Document.12">
                    <p:embed/>
                  </p:oleObj>
                </mc:Choice>
                <mc:Fallback>
                  <p:oleObj name="文档" r:id="rId5" imgW="302491" imgH="201096" progId="Word.Document.12">
                    <p:embed/>
                    <p:pic>
                      <p:nvPicPr>
                        <p:cNvPr id="0" name=""/>
                        <p:cNvPicPr/>
                        <p:nvPr/>
                      </p:nvPicPr>
                      <p:blipFill>
                        <a:blip r:embed="rId6"/>
                        <a:stretch>
                          <a:fillRect/>
                        </a:stretch>
                      </p:blipFill>
                      <p:spPr>
                        <a:xfrm>
                          <a:off x="9758363" y="4816216"/>
                          <a:ext cx="749300" cy="506413"/>
                        </a:xfrm>
                        <a:prstGeom prst="rect">
                          <a:avLst/>
                        </a:prstGeom>
                      </p:spPr>
                    </p:pic>
                  </p:oleObj>
                </mc:Fallback>
              </mc:AlternateContent>
            </a:graphicData>
          </a:graphic>
        </p:graphicFrame>
      </p:grpSp>
      <p:sp>
        <p:nvSpPr>
          <p:cNvPr id="7" name="矩形 6"/>
          <p:cNvSpPr/>
          <p:nvPr/>
        </p:nvSpPr>
        <p:spPr>
          <a:xfrm>
            <a:off x="7495550" y="1947134"/>
            <a:ext cx="1423483"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直接连接符 7"/>
          <p:cNvCxnSpPr/>
          <p:nvPr/>
        </p:nvCxnSpPr>
        <p:spPr>
          <a:xfrm>
            <a:off x="7507249" y="2384094"/>
            <a:ext cx="1417503" cy="0"/>
          </a:xfrm>
          <a:prstGeom prst="line">
            <a:avLst/>
          </a:prstGeom>
        </p:spPr>
        <p:style>
          <a:lnRef idx="2">
            <a:schemeClr val="dk1"/>
          </a:lnRef>
          <a:fillRef idx="0">
            <a:schemeClr val="dk1"/>
          </a:fillRef>
          <a:effectRef idx="1">
            <a:schemeClr val="dk1"/>
          </a:effectRef>
          <a:fontRef idx="minor">
            <a:schemeClr val="tx1"/>
          </a:fontRef>
        </p:style>
      </p:cxnSp>
      <p:sp>
        <p:nvSpPr>
          <p:cNvPr id="10" name="矩形 9"/>
          <p:cNvSpPr/>
          <p:nvPr/>
        </p:nvSpPr>
        <p:spPr>
          <a:xfrm>
            <a:off x="4263977" y="2944662"/>
            <a:ext cx="2645978"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 name="直接连接符 10"/>
          <p:cNvCxnSpPr/>
          <p:nvPr/>
        </p:nvCxnSpPr>
        <p:spPr>
          <a:xfrm>
            <a:off x="4275676" y="3381622"/>
            <a:ext cx="2634862" cy="0"/>
          </a:xfrm>
          <a:prstGeom prst="line">
            <a:avLst/>
          </a:prstGeom>
        </p:spPr>
        <p:style>
          <a:lnRef idx="2">
            <a:schemeClr val="dk1"/>
          </a:lnRef>
          <a:fillRef idx="0">
            <a:schemeClr val="dk1"/>
          </a:fillRef>
          <a:effectRef idx="1">
            <a:schemeClr val="dk1"/>
          </a:effectRef>
          <a:fontRef idx="minor">
            <a:schemeClr val="tx1"/>
          </a:fontRef>
        </p:style>
      </p:cxnSp>
      <p:sp>
        <p:nvSpPr>
          <p:cNvPr id="13" name="矩形 12"/>
          <p:cNvSpPr/>
          <p:nvPr/>
        </p:nvSpPr>
        <p:spPr>
          <a:xfrm>
            <a:off x="2300095" y="3685467"/>
            <a:ext cx="1160078"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 name="直接连接符 13"/>
          <p:cNvCxnSpPr/>
          <p:nvPr/>
        </p:nvCxnSpPr>
        <p:spPr>
          <a:xfrm>
            <a:off x="2311794" y="4122427"/>
            <a:ext cx="1155204" cy="0"/>
          </a:xfrm>
          <a:prstGeom prst="line">
            <a:avLst/>
          </a:prstGeom>
        </p:spPr>
        <p:style>
          <a:lnRef idx="2">
            <a:schemeClr val="dk1"/>
          </a:lnRef>
          <a:fillRef idx="0">
            <a:schemeClr val="dk1"/>
          </a:fillRef>
          <a:effectRef idx="1">
            <a:schemeClr val="dk1"/>
          </a:effectRef>
          <a:fontRef idx="minor">
            <a:schemeClr val="tx1"/>
          </a:fontRef>
        </p:style>
      </p:cxnSp>
      <p:sp>
        <p:nvSpPr>
          <p:cNvPr id="16" name="矩形 15"/>
          <p:cNvSpPr/>
          <p:nvPr/>
        </p:nvSpPr>
        <p:spPr>
          <a:xfrm>
            <a:off x="6440019" y="3685467"/>
            <a:ext cx="335759"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 name="直接连接符 16"/>
          <p:cNvCxnSpPr/>
          <p:nvPr/>
        </p:nvCxnSpPr>
        <p:spPr>
          <a:xfrm>
            <a:off x="6451765" y="4101645"/>
            <a:ext cx="334348" cy="0"/>
          </a:xfrm>
          <a:prstGeom prst="line">
            <a:avLst/>
          </a:prstGeom>
        </p:spPr>
        <p:style>
          <a:lnRef idx="2">
            <a:schemeClr val="dk1"/>
          </a:lnRef>
          <a:fillRef idx="0">
            <a:schemeClr val="dk1"/>
          </a:fillRef>
          <a:effectRef idx="1">
            <a:schemeClr val="dk1"/>
          </a:effectRef>
          <a:fontRef idx="minor">
            <a:schemeClr val="tx1"/>
          </a:fontRef>
        </p:style>
      </p:cxnSp>
      <p:sp>
        <p:nvSpPr>
          <p:cNvPr id="19" name="矩形 18"/>
          <p:cNvSpPr/>
          <p:nvPr/>
        </p:nvSpPr>
        <p:spPr>
          <a:xfrm>
            <a:off x="9662559" y="3685467"/>
            <a:ext cx="316300"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0" name="直接连接符 19"/>
          <p:cNvCxnSpPr/>
          <p:nvPr/>
        </p:nvCxnSpPr>
        <p:spPr>
          <a:xfrm>
            <a:off x="9675824" y="4091254"/>
            <a:ext cx="311852" cy="0"/>
          </a:xfrm>
          <a:prstGeom prst="line">
            <a:avLst/>
          </a:prstGeom>
        </p:spPr>
        <p:style>
          <a:lnRef idx="2">
            <a:schemeClr val="dk1"/>
          </a:lnRef>
          <a:fillRef idx="0">
            <a:schemeClr val="dk1"/>
          </a:fillRef>
          <a:effectRef idx="1">
            <a:schemeClr val="dk1"/>
          </a:effectRef>
          <a:fontRef idx="minor">
            <a:schemeClr val="tx1"/>
          </a:fontRef>
        </p:style>
      </p:cxnSp>
      <p:sp>
        <p:nvSpPr>
          <p:cNvPr id="21" name="矩形 20"/>
          <p:cNvSpPr/>
          <p:nvPr/>
        </p:nvSpPr>
        <p:spPr>
          <a:xfrm>
            <a:off x="1487237" y="4163991"/>
            <a:ext cx="332435"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2" name="直接连接符 21"/>
          <p:cNvCxnSpPr/>
          <p:nvPr/>
        </p:nvCxnSpPr>
        <p:spPr>
          <a:xfrm>
            <a:off x="1498976" y="4600951"/>
            <a:ext cx="331038" cy="0"/>
          </a:xfrm>
          <a:prstGeom prst="line">
            <a:avLst/>
          </a:prstGeom>
        </p:spPr>
        <p:style>
          <a:lnRef idx="2">
            <a:schemeClr val="dk1"/>
          </a:lnRef>
          <a:fillRef idx="0">
            <a:schemeClr val="dk1"/>
          </a:fillRef>
          <a:effectRef idx="1">
            <a:schemeClr val="dk1"/>
          </a:effectRef>
          <a:fontRef idx="minor">
            <a:schemeClr val="tx1"/>
          </a:fontRef>
        </p:style>
      </p:cxnSp>
      <p:sp>
        <p:nvSpPr>
          <p:cNvPr id="23" name="矩形 22"/>
          <p:cNvSpPr/>
          <p:nvPr/>
        </p:nvSpPr>
        <p:spPr>
          <a:xfrm>
            <a:off x="8382951" y="5392197"/>
            <a:ext cx="1460328"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4" name="直接连接符 23"/>
          <p:cNvCxnSpPr/>
          <p:nvPr/>
        </p:nvCxnSpPr>
        <p:spPr>
          <a:xfrm>
            <a:off x="8394621" y="5818766"/>
            <a:ext cx="1454191" cy="0"/>
          </a:xfrm>
          <a:prstGeom prst="line">
            <a:avLst/>
          </a:prstGeom>
        </p:spPr>
        <p:style>
          <a:lnRef idx="2">
            <a:schemeClr val="dk1"/>
          </a:lnRef>
          <a:fillRef idx="0">
            <a:schemeClr val="dk1"/>
          </a:fillRef>
          <a:effectRef idx="1">
            <a:schemeClr val="dk1"/>
          </a:effectRef>
          <a:fontRef idx="minor">
            <a:schemeClr val="tx1"/>
          </a:fontRef>
        </p:style>
      </p:cxnSp>
      <p:sp>
        <p:nvSpPr>
          <p:cNvPr id="26" name="矩形 25"/>
          <p:cNvSpPr/>
          <p:nvPr/>
        </p:nvSpPr>
        <p:spPr>
          <a:xfrm>
            <a:off x="822617" y="5922133"/>
            <a:ext cx="945857"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7" name="直接连接符 26"/>
          <p:cNvCxnSpPr/>
          <p:nvPr/>
        </p:nvCxnSpPr>
        <p:spPr>
          <a:xfrm>
            <a:off x="834287" y="6359093"/>
            <a:ext cx="941882" cy="0"/>
          </a:xfrm>
          <a:prstGeom prst="line">
            <a:avLst/>
          </a:prstGeom>
        </p:spPr>
        <p:style>
          <a:lnRef idx="2">
            <a:schemeClr val="dk1"/>
          </a:lnRef>
          <a:fillRef idx="0">
            <a:schemeClr val="dk1"/>
          </a:fillRef>
          <a:effectRef idx="1">
            <a:schemeClr val="dk1"/>
          </a:effectRef>
          <a:fontRef idx="minor">
            <a:schemeClr val="tx1"/>
          </a:fontRef>
        </p:style>
      </p:cxnSp>
      <p:sp>
        <p:nvSpPr>
          <p:cNvPr id="29" name="矩形 28"/>
          <p:cNvSpPr/>
          <p:nvPr/>
        </p:nvSpPr>
        <p:spPr>
          <a:xfrm>
            <a:off x="9876589" y="5922133"/>
            <a:ext cx="1313504"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0" name="直接连接符 29"/>
          <p:cNvCxnSpPr/>
          <p:nvPr/>
        </p:nvCxnSpPr>
        <p:spPr>
          <a:xfrm>
            <a:off x="9889035" y="6359093"/>
            <a:ext cx="1307979"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2810313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7"/>
                                        </p:tgtEl>
                                      </p:cBhvr>
                                    </p:animEffect>
                                    <p:set>
                                      <p:cBhvr>
                                        <p:cTn id="7" dur="1" fill="hold">
                                          <p:stCondLst>
                                            <p:cond delay="499"/>
                                          </p:stCondLst>
                                        </p:cTn>
                                        <p:tgtEl>
                                          <p:spTgt spid="7"/>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0" nodeType="clickEffect">
                                  <p:stCondLst>
                                    <p:cond delay="0"/>
                                  </p:stCondLst>
                                  <p:childTnLst>
                                    <p:animEffect transition="out" filter="wipe(down)">
                                      <p:cBhvr>
                                        <p:cTn id="11" dur="500"/>
                                        <p:tgtEl>
                                          <p:spTgt spid="10"/>
                                        </p:tgtEl>
                                      </p:cBhvr>
                                    </p:animEffect>
                                    <p:set>
                                      <p:cBhvr>
                                        <p:cTn id="12" dur="1" fill="hold">
                                          <p:stCondLst>
                                            <p:cond delay="499"/>
                                          </p:stCondLst>
                                        </p:cTn>
                                        <p:tgtEl>
                                          <p:spTgt spid="10"/>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4" fill="hold" grpId="0" nodeType="clickEffect">
                                  <p:stCondLst>
                                    <p:cond delay="0"/>
                                  </p:stCondLst>
                                  <p:childTnLst>
                                    <p:animEffect transition="out" filter="wipe(down)">
                                      <p:cBhvr>
                                        <p:cTn id="16" dur="500"/>
                                        <p:tgtEl>
                                          <p:spTgt spid="13"/>
                                        </p:tgtEl>
                                      </p:cBhvr>
                                    </p:animEffect>
                                    <p:set>
                                      <p:cBhvr>
                                        <p:cTn id="17" dur="1" fill="hold">
                                          <p:stCondLst>
                                            <p:cond delay="499"/>
                                          </p:stCondLst>
                                        </p:cTn>
                                        <p:tgtEl>
                                          <p:spTgt spid="13"/>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xit" presetSubtype="4" fill="hold" grpId="0" nodeType="clickEffect">
                                  <p:stCondLst>
                                    <p:cond delay="0"/>
                                  </p:stCondLst>
                                  <p:childTnLst>
                                    <p:animEffect transition="out" filter="wipe(down)">
                                      <p:cBhvr>
                                        <p:cTn id="21" dur="500"/>
                                        <p:tgtEl>
                                          <p:spTgt spid="16"/>
                                        </p:tgtEl>
                                      </p:cBhvr>
                                    </p:animEffect>
                                    <p:set>
                                      <p:cBhvr>
                                        <p:cTn id="22" dur="1" fill="hold">
                                          <p:stCondLst>
                                            <p:cond delay="499"/>
                                          </p:stCondLst>
                                        </p:cTn>
                                        <p:tgtEl>
                                          <p:spTgt spid="16"/>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22" presetClass="exit" presetSubtype="4" fill="hold" grpId="0" nodeType="clickEffect">
                                  <p:stCondLst>
                                    <p:cond delay="0"/>
                                  </p:stCondLst>
                                  <p:childTnLst>
                                    <p:animEffect transition="out" filter="wipe(down)">
                                      <p:cBhvr>
                                        <p:cTn id="26" dur="500"/>
                                        <p:tgtEl>
                                          <p:spTgt spid="19"/>
                                        </p:tgtEl>
                                      </p:cBhvr>
                                    </p:animEffect>
                                    <p:set>
                                      <p:cBhvr>
                                        <p:cTn id="27" dur="1" fill="hold">
                                          <p:stCondLst>
                                            <p:cond delay="499"/>
                                          </p:stCondLst>
                                        </p:cTn>
                                        <p:tgtEl>
                                          <p:spTgt spid="19"/>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22" presetClass="exit" presetSubtype="4" fill="hold" grpId="0" nodeType="clickEffect">
                                  <p:stCondLst>
                                    <p:cond delay="0"/>
                                  </p:stCondLst>
                                  <p:childTnLst>
                                    <p:animEffect transition="out" filter="wipe(down)">
                                      <p:cBhvr>
                                        <p:cTn id="31" dur="500"/>
                                        <p:tgtEl>
                                          <p:spTgt spid="21"/>
                                        </p:tgtEl>
                                      </p:cBhvr>
                                    </p:animEffect>
                                    <p:set>
                                      <p:cBhvr>
                                        <p:cTn id="32" dur="1" fill="hold">
                                          <p:stCondLst>
                                            <p:cond delay="499"/>
                                          </p:stCondLst>
                                        </p:cTn>
                                        <p:tgtEl>
                                          <p:spTgt spid="21"/>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22" presetClass="exit" presetSubtype="4" fill="hold" grpId="0" nodeType="clickEffect">
                                  <p:stCondLst>
                                    <p:cond delay="0"/>
                                  </p:stCondLst>
                                  <p:childTnLst>
                                    <p:animEffect transition="out" filter="wipe(down)">
                                      <p:cBhvr>
                                        <p:cTn id="36" dur="500"/>
                                        <p:tgtEl>
                                          <p:spTgt spid="23"/>
                                        </p:tgtEl>
                                      </p:cBhvr>
                                    </p:animEffect>
                                    <p:set>
                                      <p:cBhvr>
                                        <p:cTn id="37" dur="1" fill="hold">
                                          <p:stCondLst>
                                            <p:cond delay="499"/>
                                          </p:stCondLst>
                                        </p:cTn>
                                        <p:tgtEl>
                                          <p:spTgt spid="23"/>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22" presetClass="exit" presetSubtype="4" fill="hold" grpId="0" nodeType="clickEffect">
                                  <p:stCondLst>
                                    <p:cond delay="0"/>
                                  </p:stCondLst>
                                  <p:childTnLst>
                                    <p:animEffect transition="out" filter="wipe(down)">
                                      <p:cBhvr>
                                        <p:cTn id="41" dur="500"/>
                                        <p:tgtEl>
                                          <p:spTgt spid="26"/>
                                        </p:tgtEl>
                                      </p:cBhvr>
                                    </p:animEffect>
                                    <p:set>
                                      <p:cBhvr>
                                        <p:cTn id="42" dur="1" fill="hold">
                                          <p:stCondLst>
                                            <p:cond delay="499"/>
                                          </p:stCondLst>
                                        </p:cTn>
                                        <p:tgtEl>
                                          <p:spTgt spid="26"/>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22" presetClass="exit" presetSubtype="4" fill="hold" grpId="0" nodeType="clickEffect">
                                  <p:stCondLst>
                                    <p:cond delay="0"/>
                                  </p:stCondLst>
                                  <p:childTnLst>
                                    <p:animEffect transition="out" filter="wipe(down)">
                                      <p:cBhvr>
                                        <p:cTn id="46" dur="500"/>
                                        <p:tgtEl>
                                          <p:spTgt spid="29"/>
                                        </p:tgtEl>
                                      </p:cBhvr>
                                    </p:animEffect>
                                    <p:set>
                                      <p:cBhvr>
                                        <p:cTn id="47" dur="1" fill="hold">
                                          <p:stCondLst>
                                            <p:cond delay="499"/>
                                          </p:stCondLst>
                                        </p:cTn>
                                        <p:tgtEl>
                                          <p:spTgt spid="2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P spid="13" grpId="0" animBg="1"/>
      <p:bldP spid="16" grpId="0" animBg="1"/>
      <p:bldP spid="19" grpId="0" animBg="1"/>
      <p:bldP spid="21" grpId="0" animBg="1"/>
      <p:bldP spid="23" grpId="0" animBg="1"/>
      <p:bldP spid="26" grpId="0" animBg="1"/>
      <p:bldP spid="2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6" name="矩形 5"/>
          <p:cNvSpPr>
            <a:spLocks noChangeAspect="1"/>
          </p:cNvSpPr>
          <p:nvPr/>
        </p:nvSpPr>
        <p:spPr>
          <a:xfrm>
            <a:off x="381000" y="4338616"/>
            <a:ext cx="11430000" cy="652486"/>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(1)(1,1,0)</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(1,1,1)</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(2)(1,0,1)</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(0,1,1)</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(3)(0,0,1)</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(0,1,0</a:t>
            </a:r>
            <a:r>
              <a:rPr lang="en-US" altLang="zh-CN" sz="2800"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pSp>
        <p:nvGrpSpPr>
          <p:cNvPr id="8" name="组合 7"/>
          <p:cNvGrpSpPr/>
          <p:nvPr/>
        </p:nvGrpSpPr>
        <p:grpSpPr>
          <a:xfrm>
            <a:off x="48491" y="793030"/>
            <a:ext cx="11762509" cy="3703854"/>
            <a:chOff x="48491" y="709902"/>
            <a:chExt cx="11762509" cy="3703854"/>
          </a:xfrm>
        </p:grpSpPr>
        <p:sp>
          <p:nvSpPr>
            <p:cNvPr id="4" name="矩形 3"/>
            <p:cNvSpPr>
              <a:spLocks noChangeAspect="1"/>
            </p:cNvSpPr>
            <p:nvPr/>
          </p:nvSpPr>
          <p:spPr>
            <a:xfrm>
              <a:off x="381000" y="709902"/>
              <a:ext cx="11430000" cy="1772793"/>
            </a:xfrm>
            <a:prstGeom prst="rect">
              <a:avLst/>
            </a:prstGeom>
          </p:spPr>
          <p:txBody>
            <a:bodyPr>
              <a:spAutoFit/>
            </a:bodyPr>
            <a:lstStyle/>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3</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zh-CN" altLang="zh-CN" sz="2800" dirty="0" smtClean="0">
                  <a:solidFill>
                    <a:srgbClr val="000000"/>
                  </a:solidFill>
                  <a:latin typeface="Times New Roman" panose="02020603050405020304" pitchFamily="18" charset="0"/>
                  <a:cs typeface="Times New Roman" panose="02020603050405020304" pitchFamily="18" charset="0"/>
                </a:rPr>
                <a:t>如</a:t>
              </a:r>
              <a:r>
                <a:rPr lang="zh-CN" altLang="zh-CN" sz="2800" dirty="0">
                  <a:solidFill>
                    <a:srgbClr val="000000"/>
                  </a:solidFill>
                  <a:latin typeface="Times New Roman" panose="02020603050405020304" pitchFamily="18" charset="0"/>
                  <a:cs typeface="Times New Roman" panose="02020603050405020304" pitchFamily="18" charset="0"/>
                </a:rPr>
                <a:t>图</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在棱长为</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的正方体中</a:t>
              </a:r>
              <a:r>
                <a:rPr lang="en-US" altLang="zh-CN" sz="2800" dirty="0" smtClean="0">
                  <a:solidFill>
                    <a:srgbClr val="000000"/>
                  </a:solidFill>
                  <a:latin typeface="Times New Roman" panose="02020603050405020304" pitchFamily="18" charset="0"/>
                  <a:cs typeface="Times New Roman" panose="02020603050405020304" pitchFamily="18" charset="0"/>
                </a:rPr>
                <a:t>,</a:t>
              </a:r>
            </a:p>
            <a:p>
              <a:pPr indent="279400">
                <a:lnSpc>
                  <a:spcPct val="130000"/>
                </a:lnSpc>
                <a:spcAft>
                  <a:spcPts val="0"/>
                </a:spcAft>
                <a:tabLst>
                  <a:tab pos="1188085" algn="l"/>
                  <a:tab pos="2163445" algn="l"/>
                  <a:tab pos="3142615" algn="l"/>
                  <a:tab pos="4190365" algn="l"/>
                </a:tabLst>
              </a:pPr>
              <a:r>
                <a:rPr lang="zh-CN" altLang="zh-CN" sz="2800" dirty="0" smtClean="0">
                  <a:solidFill>
                    <a:srgbClr val="000000"/>
                  </a:solidFill>
                  <a:latin typeface="Times New Roman" panose="02020603050405020304" pitchFamily="18" charset="0"/>
                  <a:cs typeface="Times New Roman" panose="02020603050405020304" pitchFamily="18" charset="0"/>
                </a:rPr>
                <a:t>写出</a:t>
              </a:r>
              <a:r>
                <a:rPr lang="zh-CN" altLang="zh-CN" sz="2800" dirty="0">
                  <a:solidFill>
                    <a:srgbClr val="000000"/>
                  </a:solidFill>
                  <a:latin typeface="Times New Roman" panose="02020603050405020304" pitchFamily="18" charset="0"/>
                  <a:cs typeface="Times New Roman" panose="02020603050405020304" pitchFamily="18" charset="0"/>
                </a:rPr>
                <a:t>下列各点和向量的坐标</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a:t>
              </a:r>
              <a:r>
                <a:rPr lang="zh-CN" altLang="zh-CN" sz="2800" i="1" u="sng" dirty="0">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a:t>
              </a:r>
              <a:r>
                <a:rPr lang="zh-CN" altLang="zh-CN" sz="2800" i="1" u="sng" dirty="0">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 </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810140984"/>
                </p:ext>
              </p:extLst>
            </p:nvPr>
          </p:nvGraphicFramePr>
          <p:xfrm>
            <a:off x="48491" y="2403492"/>
            <a:ext cx="11430000" cy="2010264"/>
          </p:xfrm>
          <a:graphic>
            <a:graphicData uri="http://schemas.openxmlformats.org/presentationml/2006/ole">
              <mc:AlternateContent xmlns:mc="http://schemas.openxmlformats.org/markup-compatibility/2006">
                <mc:Choice xmlns:v="urn:schemas-microsoft-com:vml" Requires="v">
                  <p:oleObj spid="_x0000_s2068" name="文档" r:id="rId3" imgW="4510061" imgH="793212" progId="Word.Document.12">
                    <p:embed/>
                  </p:oleObj>
                </mc:Choice>
                <mc:Fallback>
                  <p:oleObj name="文档" r:id="rId3" imgW="4510061" imgH="793212" progId="Word.Document.12">
                    <p:embed/>
                    <p:pic>
                      <p:nvPicPr>
                        <p:cNvPr id="0" name=""/>
                        <p:cNvPicPr/>
                        <p:nvPr/>
                      </p:nvPicPr>
                      <p:blipFill>
                        <a:blip r:embed="rId4"/>
                        <a:stretch>
                          <a:fillRect/>
                        </a:stretch>
                      </p:blipFill>
                      <p:spPr>
                        <a:xfrm>
                          <a:off x="48491" y="2403492"/>
                          <a:ext cx="11430000" cy="2010264"/>
                        </a:xfrm>
                        <a:prstGeom prst="rect">
                          <a:avLst/>
                        </a:prstGeom>
                      </p:spPr>
                    </p:pic>
                  </p:oleObj>
                </mc:Fallback>
              </mc:AlternateContent>
            </a:graphicData>
          </a:graphic>
        </p:graphicFrame>
        <p:pic>
          <p:nvPicPr>
            <p:cNvPr id="7" name="ZMX1TRA71.eps" descr="id:2147495319;FounderCES"/>
            <p:cNvPicPr/>
            <p:nvPr/>
          </p:nvPicPr>
          <p:blipFill>
            <a:blip r:embed="rId5">
              <a:clrChange>
                <a:clrFrom>
                  <a:srgbClr val="FFFFFF"/>
                </a:clrFrom>
                <a:clrTo>
                  <a:srgbClr val="FFFFFF">
                    <a:alpha val="0"/>
                  </a:srgbClr>
                </a:clrTo>
              </a:clrChange>
            </a:blip>
            <a:stretch>
              <a:fillRect/>
            </a:stretch>
          </p:blipFill>
          <p:spPr>
            <a:xfrm>
              <a:off x="7787150" y="999559"/>
              <a:ext cx="2891200" cy="2966272"/>
            </a:xfrm>
            <a:prstGeom prst="rect">
              <a:avLst/>
            </a:prstGeom>
          </p:spPr>
        </p:pic>
      </p:grpSp>
    </p:spTree>
    <p:extLst>
      <p:ext uri="{BB962C8B-B14F-4D97-AF65-F5344CB8AC3E}">
        <p14:creationId xmlns:p14="http://schemas.microsoft.com/office/powerpoint/2010/main" val="40587197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down)">
                                      <p:cBhvr>
                                        <p:cTn id="7"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708892"/>
            <a:ext cx="11430000" cy="457356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ea typeface="方正正中黑简体"/>
                <a:cs typeface="Times New Roman" panose="02020603050405020304" pitchFamily="18" charset="0"/>
              </a:rPr>
              <a:t>二、空间向量运算的坐标表示</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80670">
              <a:lnSpc>
                <a:spcPct val="130000"/>
              </a:lnSpc>
              <a:spcAft>
                <a:spcPts val="0"/>
              </a:spcAft>
              <a:tabLst>
                <a:tab pos="1188085" algn="l"/>
                <a:tab pos="2163445" algn="l"/>
                <a:tab pos="3142615" algn="l"/>
                <a:tab pos="4190365" algn="l"/>
              </a:tabLst>
            </a:pPr>
            <a:r>
              <a:rPr lang="en-US" altLang="zh-CN" sz="2800" b="1" dirty="0" smtClean="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对于空间的一个单位正交基底</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i</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j</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k</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有</a:t>
            </a:r>
            <a:r>
              <a:rPr lang="en-US" altLang="zh-CN" sz="2800" b="1" dirty="0" err="1">
                <a:solidFill>
                  <a:srgbClr val="000000"/>
                </a:solidFill>
                <a:latin typeface="Times New Roman" panose="02020603050405020304" pitchFamily="18" charset="0"/>
                <a:cs typeface="Times New Roman" panose="02020603050405020304" pitchFamily="18" charset="0"/>
              </a:rPr>
              <a:t>i</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i</a:t>
            </a:r>
            <a:r>
              <a:rPr lang="en-US" altLang="zh-CN" sz="2800" b="1" dirty="0">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j</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j</a:t>
            </a:r>
            <a:r>
              <a:rPr lang="en-US" altLang="zh-CN" sz="2800" b="1" dirty="0">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k</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k</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b="1" dirty="0">
                <a:solidFill>
                  <a:srgbClr val="000000"/>
                </a:solidFill>
                <a:latin typeface="Times New Roman" panose="02020603050405020304" pitchFamily="18" charset="0"/>
                <a:cs typeface="Times New Roman" panose="02020603050405020304" pitchFamily="18" charset="0"/>
              </a:rPr>
              <a:t>i</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j=</a:t>
            </a:r>
            <a:r>
              <a:rPr lang="en-US" altLang="zh-CN" sz="2800" b="1" dirty="0" err="1">
                <a:solidFill>
                  <a:srgbClr val="000000"/>
                </a:solidFill>
                <a:latin typeface="Times New Roman" panose="02020603050405020304" pitchFamily="18" charset="0"/>
                <a:cs typeface="Times New Roman" panose="02020603050405020304" pitchFamily="18" charset="0"/>
              </a:rPr>
              <a:t>i</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k</a:t>
            </a:r>
            <a:r>
              <a:rPr lang="en-US" altLang="zh-CN" sz="2800" b="1" dirty="0">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j</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k</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设两个非零的空间向量</a:t>
            </a:r>
            <a:r>
              <a:rPr lang="en-US" altLang="zh-CN" sz="2800" b="1" dirty="0">
                <a:solidFill>
                  <a:srgbClr val="000000"/>
                </a:solidFill>
                <a:latin typeface="Times New Roman" panose="02020603050405020304" pitchFamily="18" charset="0"/>
                <a:cs typeface="Times New Roman" panose="02020603050405020304" pitchFamily="18" charset="0"/>
              </a:rPr>
              <a:t>a</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3</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3</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类比平面向量运算的坐标表示回答下列问题</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如何表示</a:t>
            </a:r>
            <a:r>
              <a:rPr lang="en-US" altLang="zh-CN" sz="2800" b="1" dirty="0" err="1">
                <a:solidFill>
                  <a:srgbClr val="000000"/>
                </a:solidFill>
                <a:latin typeface="Times New Roman" panose="02020603050405020304" pitchFamily="18" charset="0"/>
                <a:cs typeface="Times New Roman" panose="02020603050405020304" pitchFamily="18" charset="0"/>
              </a:rPr>
              <a:t>a+b</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a-b</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λ</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λ</a:t>
            </a:r>
            <a:r>
              <a:rPr lang="zh-CN" altLang="zh-CN" sz="2800" dirty="0">
                <a:solidFill>
                  <a:srgbClr val="000000"/>
                </a:solidFill>
                <a:latin typeface="NEU-BZ-S92"/>
                <a:cs typeface="宋体" panose="02010600030101010101" pitchFamily="2" charset="-122"/>
              </a:rPr>
              <a:t>∈</a:t>
            </a:r>
            <a:r>
              <a:rPr lang="en-US" altLang="zh-CN" sz="2800" b="1" dirty="0">
                <a:solidFill>
                  <a:srgbClr val="000000"/>
                </a:solidFill>
                <a:latin typeface="Times New Roman" panose="02020603050405020304" pitchFamily="18" charset="0"/>
                <a:cs typeface="Times New Roman" panose="02020603050405020304" pitchFamily="18" charset="0"/>
              </a:rPr>
              <a:t>R</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提示</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a+b</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3</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a-b</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3</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i="1" dirty="0" err="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λ</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λ</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λ</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λ</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3</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9336486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Effect transition="in" filter="wipe(down)">
                                      <p:cBhvr>
                                        <p:cTn id="7" dur="500"/>
                                        <p:tgtEl>
                                          <p:spTgt spid="2">
                                            <p:txEl>
                                              <p:pRg st="3" end="3"/>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2">
                                            <p:txEl>
                                              <p:pRg st="4" end="4"/>
                                            </p:txEl>
                                          </p:spTgt>
                                        </p:tgtEl>
                                        <p:attrNameLst>
                                          <p:attrName>style.visibility</p:attrName>
                                        </p:attrNameLst>
                                      </p:cBhvr>
                                      <p:to>
                                        <p:strVal val="visible"/>
                                      </p:to>
                                    </p:set>
                                    <p:animEffect transition="in" filter="wipe(down)">
                                      <p:cBhvr>
                                        <p:cTn id="10" dur="500"/>
                                        <p:tgtEl>
                                          <p:spTgt spid="2">
                                            <p:txEl>
                                              <p:pRg st="4" end="4"/>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2">
                                            <p:txEl>
                                              <p:pRg st="5" end="5"/>
                                            </p:txEl>
                                          </p:spTgt>
                                        </p:tgtEl>
                                        <p:attrNameLst>
                                          <p:attrName>style.visibility</p:attrName>
                                        </p:attrNameLst>
                                      </p:cBhvr>
                                      <p:to>
                                        <p:strVal val="visible"/>
                                      </p:to>
                                    </p:set>
                                    <p:animEffect transition="in" filter="wipe(down)">
                                      <p:cBhvr>
                                        <p:cTn id="13"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1243879"/>
            <a:ext cx="11430000" cy="283282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如何根据向量数量积的运算律推导</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cs typeface="Times New Roman" panose="02020603050405020304" pitchFamily="18" charset="0"/>
              </a:rPr>
              <a:t>的坐标表示</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提示</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a</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3</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b="1" dirty="0">
                <a:solidFill>
                  <a:srgbClr val="000000"/>
                </a:solidFill>
                <a:latin typeface="Times New Roman" panose="02020603050405020304" pitchFamily="18" charset="0"/>
                <a:cs typeface="Times New Roman" panose="02020603050405020304" pitchFamily="18" charset="0"/>
              </a:rPr>
              <a:t>i</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b="1" dirty="0">
                <a:solidFill>
                  <a:srgbClr val="000000"/>
                </a:solidFill>
                <a:latin typeface="Times New Roman" panose="02020603050405020304" pitchFamily="18" charset="0"/>
                <a:cs typeface="Times New Roman" panose="02020603050405020304" pitchFamily="18" charset="0"/>
              </a:rPr>
              <a:t>j</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3</a:t>
            </a:r>
            <a:r>
              <a:rPr lang="en-US" altLang="zh-CN" sz="2800" b="1" dirty="0">
                <a:solidFill>
                  <a:srgbClr val="000000"/>
                </a:solidFill>
                <a:latin typeface="Times New Roman" panose="02020603050405020304" pitchFamily="18" charset="0"/>
                <a:cs typeface="Times New Roman" panose="02020603050405020304" pitchFamily="18" charset="0"/>
              </a:rPr>
              <a:t>k</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3</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b="1" dirty="0">
                <a:solidFill>
                  <a:srgbClr val="000000"/>
                </a:solidFill>
                <a:latin typeface="Times New Roman" panose="02020603050405020304" pitchFamily="18" charset="0"/>
                <a:cs typeface="Times New Roman" panose="02020603050405020304" pitchFamily="18" charset="0"/>
              </a:rPr>
              <a:t>i</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b="1" dirty="0">
                <a:solidFill>
                  <a:srgbClr val="000000"/>
                </a:solidFill>
                <a:latin typeface="Times New Roman" panose="02020603050405020304" pitchFamily="18" charset="0"/>
                <a:cs typeface="Times New Roman" panose="02020603050405020304" pitchFamily="18" charset="0"/>
              </a:rPr>
              <a:t>j</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3</a:t>
            </a:r>
            <a:r>
              <a:rPr lang="en-US" altLang="zh-CN" sz="2800" b="1" dirty="0">
                <a:solidFill>
                  <a:srgbClr val="000000"/>
                </a:solidFill>
                <a:latin typeface="Times New Roman" panose="02020603050405020304" pitchFamily="18" charset="0"/>
                <a:cs typeface="Times New Roman" panose="02020603050405020304" pitchFamily="18" charset="0"/>
              </a:rPr>
              <a:t>k</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b="1" dirty="0">
                <a:solidFill>
                  <a:srgbClr val="000000"/>
                </a:solidFill>
                <a:latin typeface="Times New Roman" panose="02020603050405020304" pitchFamily="18" charset="0"/>
                <a:cs typeface="Times New Roman" panose="02020603050405020304" pitchFamily="18" charset="0"/>
              </a:rPr>
              <a:t>i</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b="1" dirty="0">
                <a:solidFill>
                  <a:srgbClr val="000000"/>
                </a:solidFill>
                <a:latin typeface="Times New Roman" panose="02020603050405020304" pitchFamily="18" charset="0"/>
                <a:cs typeface="Times New Roman" panose="02020603050405020304" pitchFamily="18" charset="0"/>
              </a:rPr>
              <a:t>j</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3</a:t>
            </a:r>
            <a:r>
              <a:rPr lang="en-US" altLang="zh-CN" sz="2800" b="1" dirty="0">
                <a:solidFill>
                  <a:srgbClr val="000000"/>
                </a:solidFill>
                <a:latin typeface="Times New Roman" panose="02020603050405020304" pitchFamily="18" charset="0"/>
                <a:cs typeface="Times New Roman" panose="02020603050405020304" pitchFamily="18" charset="0"/>
              </a:rPr>
              <a:t>k</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b="1" dirty="0">
                <a:solidFill>
                  <a:srgbClr val="000000"/>
                </a:solidFill>
                <a:latin typeface="Times New Roman" panose="02020603050405020304" pitchFamily="18" charset="0"/>
                <a:cs typeface="Times New Roman" panose="02020603050405020304" pitchFamily="18" charset="0"/>
              </a:rPr>
              <a:t>i</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b="1" dirty="0">
                <a:solidFill>
                  <a:srgbClr val="000000"/>
                </a:solidFill>
                <a:latin typeface="Times New Roman" panose="02020603050405020304" pitchFamily="18" charset="0"/>
                <a:cs typeface="Times New Roman" panose="02020603050405020304" pitchFamily="18" charset="0"/>
              </a:rPr>
              <a:t>j</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3</a:t>
            </a:r>
            <a:r>
              <a:rPr lang="en-US" altLang="zh-CN" sz="2800" b="1" dirty="0">
                <a:solidFill>
                  <a:srgbClr val="000000"/>
                </a:solidFill>
                <a:latin typeface="Times New Roman" panose="02020603050405020304" pitchFamily="18" charset="0"/>
                <a:cs typeface="Times New Roman" panose="02020603050405020304" pitchFamily="18" charset="0"/>
              </a:rPr>
              <a:t>k</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zh-CN" altLang="en-US" sz="2800" dirty="0" smtClean="0">
                <a:solidFill>
                  <a:srgbClr val="000000"/>
                </a:solidFill>
                <a:latin typeface="Times New Roman" panose="02020603050405020304" pitchFamily="18" charset="0"/>
                <a:cs typeface="Times New Roman" panose="02020603050405020304" pitchFamily="18" charset="0"/>
              </a:rPr>
              <a:t> </a:t>
            </a:r>
            <a:endParaRPr lang="en-US" altLang="zh-CN" sz="2800" dirty="0" smtClean="0">
              <a:solidFill>
                <a:srgbClr val="000000"/>
              </a:solidFill>
              <a:latin typeface="Times New Roman" panose="02020603050405020304" pitchFamily="18" charset="0"/>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i="1" dirty="0" smtClean="0">
                <a:solidFill>
                  <a:srgbClr val="000000"/>
                </a:solidFill>
                <a:latin typeface="Times New Roman" panose="02020603050405020304" pitchFamily="18" charset="0"/>
                <a:cs typeface="Times New Roman" panose="02020603050405020304" pitchFamily="18" charset="0"/>
              </a:rPr>
              <a:t>=a</a:t>
            </a:r>
            <a:r>
              <a:rPr lang="en-US" altLang="zh-CN" sz="2800" baseline="-25000" dirty="0" smtClean="0">
                <a:solidFill>
                  <a:srgbClr val="000000"/>
                </a:solidFill>
                <a:latin typeface="Times New Roman" panose="02020603050405020304" pitchFamily="18" charset="0"/>
                <a:cs typeface="Times New Roman" panose="02020603050405020304" pitchFamily="18" charset="0"/>
              </a:rPr>
              <a:t>1</a:t>
            </a:r>
            <a:r>
              <a:rPr lang="en-US" altLang="zh-CN" sz="2800" i="1" dirty="0" smtClean="0">
                <a:solidFill>
                  <a:srgbClr val="000000"/>
                </a:solidFill>
                <a:latin typeface="Times New Roman" panose="02020603050405020304" pitchFamily="18" charset="0"/>
                <a:cs typeface="Times New Roman" panose="02020603050405020304" pitchFamily="18" charset="0"/>
              </a:rPr>
              <a:t>b</a:t>
            </a:r>
            <a:r>
              <a:rPr lang="en-US" altLang="zh-CN" sz="2800" baseline="-25000" dirty="0" smtClean="0">
                <a:solidFill>
                  <a:srgbClr val="000000"/>
                </a:solidFill>
                <a:latin typeface="Times New Roman" panose="02020603050405020304" pitchFamily="18" charset="0"/>
                <a:cs typeface="Times New Roman" panose="02020603050405020304" pitchFamily="18" charset="0"/>
              </a:rPr>
              <a:t>1</a:t>
            </a:r>
            <a:r>
              <a:rPr lang="en-US" altLang="zh-CN" sz="2800" b="1" dirty="0" smtClean="0">
                <a:solidFill>
                  <a:srgbClr val="000000"/>
                </a:solidFill>
                <a:latin typeface="Times New Roman" panose="02020603050405020304" pitchFamily="18" charset="0"/>
                <a:cs typeface="Times New Roman" panose="02020603050405020304" pitchFamily="18" charset="0"/>
              </a:rPr>
              <a:t>i</a:t>
            </a:r>
            <a:r>
              <a:rPr lang="en-US" altLang="zh-CN" sz="2800" baseline="30000" dirty="0" smtClean="0">
                <a:solidFill>
                  <a:srgbClr val="000000"/>
                </a:solidFill>
                <a:latin typeface="Times New Roman" panose="02020603050405020304" pitchFamily="18" charset="0"/>
                <a:cs typeface="Times New Roman" panose="02020603050405020304" pitchFamily="18" charset="0"/>
              </a:rPr>
              <a:t>2</a:t>
            </a:r>
            <a:r>
              <a:rPr lang="en-US" altLang="zh-CN" sz="2800" i="1" dirty="0" smtClean="0">
                <a:solidFill>
                  <a:srgbClr val="000000"/>
                </a:solidFill>
                <a:latin typeface="Times New Roman" panose="02020603050405020304" pitchFamily="18" charset="0"/>
                <a:cs typeface="Times New Roman" panose="02020603050405020304" pitchFamily="18" charset="0"/>
              </a:rPr>
              <a:t>+a</a:t>
            </a:r>
            <a:r>
              <a:rPr lang="en-US" altLang="zh-CN" sz="2800" baseline="-25000" dirty="0" smtClean="0">
                <a:solidFill>
                  <a:srgbClr val="000000"/>
                </a:solidFill>
                <a:latin typeface="Times New Roman" panose="02020603050405020304" pitchFamily="18" charset="0"/>
                <a:cs typeface="Times New Roman" panose="02020603050405020304" pitchFamily="18" charset="0"/>
              </a:rPr>
              <a:t>2</a:t>
            </a:r>
            <a:r>
              <a:rPr lang="en-US" altLang="zh-CN" sz="2800" i="1" dirty="0" smtClean="0">
                <a:solidFill>
                  <a:srgbClr val="000000"/>
                </a:solidFill>
                <a:latin typeface="Times New Roman" panose="02020603050405020304" pitchFamily="18" charset="0"/>
                <a:cs typeface="Times New Roman" panose="02020603050405020304" pitchFamily="18" charset="0"/>
              </a:rPr>
              <a:t>b</a:t>
            </a:r>
            <a:r>
              <a:rPr lang="en-US" altLang="zh-CN" sz="2800" baseline="-25000" dirty="0" smtClean="0">
                <a:solidFill>
                  <a:srgbClr val="000000"/>
                </a:solidFill>
                <a:latin typeface="Times New Roman" panose="02020603050405020304" pitchFamily="18" charset="0"/>
                <a:cs typeface="Times New Roman" panose="02020603050405020304" pitchFamily="18" charset="0"/>
              </a:rPr>
              <a:t>2</a:t>
            </a:r>
            <a:r>
              <a:rPr lang="en-US" altLang="zh-CN" sz="2800" b="1" dirty="0" smtClean="0">
                <a:solidFill>
                  <a:srgbClr val="000000"/>
                </a:solidFill>
                <a:latin typeface="Times New Roman" panose="02020603050405020304" pitchFamily="18" charset="0"/>
                <a:cs typeface="Times New Roman" panose="02020603050405020304" pitchFamily="18" charset="0"/>
              </a:rPr>
              <a:t>j</a:t>
            </a:r>
            <a:r>
              <a:rPr lang="en-US" altLang="zh-CN" sz="2800" baseline="30000" dirty="0" smtClean="0">
                <a:solidFill>
                  <a:srgbClr val="000000"/>
                </a:solidFill>
                <a:latin typeface="Times New Roman" panose="02020603050405020304" pitchFamily="18" charset="0"/>
                <a:cs typeface="Times New Roman" panose="02020603050405020304" pitchFamily="18" charset="0"/>
              </a:rPr>
              <a:t>2</a:t>
            </a:r>
            <a:r>
              <a:rPr lang="en-US" altLang="zh-CN" sz="2800" i="1" dirty="0" smtClean="0">
                <a:solidFill>
                  <a:srgbClr val="000000"/>
                </a:solidFill>
                <a:latin typeface="Times New Roman" panose="02020603050405020304" pitchFamily="18" charset="0"/>
                <a:cs typeface="Times New Roman" panose="02020603050405020304" pitchFamily="18" charset="0"/>
              </a:rPr>
              <a:t>+a</a:t>
            </a:r>
            <a:r>
              <a:rPr lang="en-US" altLang="zh-CN" sz="2800" baseline="-25000" dirty="0" smtClean="0">
                <a:solidFill>
                  <a:srgbClr val="000000"/>
                </a:solidFill>
                <a:latin typeface="Times New Roman" panose="02020603050405020304" pitchFamily="18" charset="0"/>
                <a:cs typeface="Times New Roman" panose="02020603050405020304" pitchFamily="18" charset="0"/>
              </a:rPr>
              <a:t>3</a:t>
            </a:r>
            <a:r>
              <a:rPr lang="en-US" altLang="zh-CN" sz="2800" i="1" dirty="0" smtClean="0">
                <a:solidFill>
                  <a:srgbClr val="000000"/>
                </a:solidFill>
                <a:latin typeface="Times New Roman" panose="02020603050405020304" pitchFamily="18" charset="0"/>
                <a:cs typeface="Times New Roman" panose="02020603050405020304" pitchFamily="18" charset="0"/>
              </a:rPr>
              <a:t>b</a:t>
            </a:r>
            <a:r>
              <a:rPr lang="en-US" altLang="zh-CN" sz="2800" baseline="-25000" dirty="0" smtClean="0">
                <a:solidFill>
                  <a:srgbClr val="000000"/>
                </a:solidFill>
                <a:latin typeface="Times New Roman" panose="02020603050405020304" pitchFamily="18" charset="0"/>
                <a:cs typeface="Times New Roman" panose="02020603050405020304" pitchFamily="18" charset="0"/>
              </a:rPr>
              <a:t>3</a:t>
            </a:r>
            <a:r>
              <a:rPr lang="en-US" altLang="zh-CN" sz="2800" b="1" dirty="0" smtClean="0">
                <a:solidFill>
                  <a:srgbClr val="000000"/>
                </a:solidFill>
                <a:latin typeface="Times New Roman" panose="02020603050405020304" pitchFamily="18" charset="0"/>
                <a:cs typeface="Times New Roman" panose="02020603050405020304" pitchFamily="18" charset="0"/>
              </a:rPr>
              <a:t>k</a:t>
            </a:r>
            <a:r>
              <a:rPr lang="en-US" altLang="zh-CN" sz="2800" baseline="30000" dirty="0" smtClean="0">
                <a:solidFill>
                  <a:srgbClr val="000000"/>
                </a:solidFill>
                <a:latin typeface="Times New Roman" panose="02020603050405020304" pitchFamily="18" charset="0"/>
                <a:cs typeface="Times New Roman" panose="02020603050405020304" pitchFamily="18" charset="0"/>
              </a:rPr>
              <a:t>2</a:t>
            </a:r>
            <a:r>
              <a:rPr lang="en-US" altLang="zh-CN" sz="2800" i="1" dirty="0" smtClean="0">
                <a:solidFill>
                  <a:srgbClr val="000000"/>
                </a:solidFill>
                <a:latin typeface="Times New Roman" panose="02020603050405020304" pitchFamily="18" charset="0"/>
                <a:cs typeface="Times New Roman" panose="02020603050405020304" pitchFamily="18" charset="0"/>
              </a:rPr>
              <a:t>+a</a:t>
            </a:r>
            <a:r>
              <a:rPr lang="en-US" altLang="zh-CN" sz="2800" baseline="-25000" dirty="0" smtClean="0">
                <a:solidFill>
                  <a:srgbClr val="000000"/>
                </a:solidFill>
                <a:latin typeface="Times New Roman" panose="02020603050405020304" pitchFamily="18" charset="0"/>
                <a:cs typeface="Times New Roman" panose="02020603050405020304" pitchFamily="18" charset="0"/>
              </a:rPr>
              <a:t>1</a:t>
            </a:r>
            <a:r>
              <a:rPr lang="en-US" altLang="zh-CN" sz="2800" i="1" dirty="0" smtClean="0">
                <a:solidFill>
                  <a:srgbClr val="000000"/>
                </a:solidFill>
                <a:latin typeface="Times New Roman" panose="02020603050405020304" pitchFamily="18" charset="0"/>
                <a:cs typeface="Times New Roman" panose="02020603050405020304" pitchFamily="18" charset="0"/>
              </a:rPr>
              <a:t>b</a:t>
            </a:r>
            <a:r>
              <a:rPr lang="en-US" altLang="zh-CN" sz="2800" baseline="-25000" dirty="0" smtClean="0">
                <a:solidFill>
                  <a:srgbClr val="000000"/>
                </a:solidFill>
                <a:latin typeface="Times New Roman" panose="02020603050405020304" pitchFamily="18" charset="0"/>
                <a:cs typeface="Times New Roman" panose="02020603050405020304" pitchFamily="18" charset="0"/>
              </a:rPr>
              <a:t>2</a:t>
            </a:r>
            <a:r>
              <a:rPr lang="en-US" altLang="zh-CN" sz="2800" b="1" dirty="0" smtClean="0">
                <a:solidFill>
                  <a:srgbClr val="000000"/>
                </a:solidFill>
                <a:latin typeface="Times New Roman" panose="02020603050405020304" pitchFamily="18" charset="0"/>
                <a:cs typeface="Times New Roman" panose="02020603050405020304" pitchFamily="18" charset="0"/>
              </a:rPr>
              <a:t>i</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en-US" altLang="zh-CN" sz="2800" b="1" dirty="0" smtClean="0">
                <a:solidFill>
                  <a:srgbClr val="000000"/>
                </a:solidFill>
                <a:latin typeface="Times New Roman" panose="02020603050405020304" pitchFamily="18" charset="0"/>
                <a:cs typeface="Times New Roman" panose="02020603050405020304" pitchFamily="18" charset="0"/>
              </a:rPr>
              <a:t>j</a:t>
            </a:r>
            <a:r>
              <a:rPr lang="en-US" altLang="zh-CN" sz="2800" i="1" dirty="0" smtClean="0">
                <a:solidFill>
                  <a:srgbClr val="000000"/>
                </a:solidFill>
                <a:latin typeface="Times New Roman" panose="02020603050405020304" pitchFamily="18" charset="0"/>
                <a:cs typeface="Times New Roman" panose="02020603050405020304" pitchFamily="18" charset="0"/>
              </a:rPr>
              <a:t>+a</a:t>
            </a:r>
            <a:r>
              <a:rPr lang="en-US" altLang="zh-CN" sz="2800" baseline="-25000" dirty="0" smtClean="0">
                <a:solidFill>
                  <a:srgbClr val="000000"/>
                </a:solidFill>
                <a:latin typeface="Times New Roman" panose="02020603050405020304" pitchFamily="18" charset="0"/>
                <a:cs typeface="Times New Roman" panose="02020603050405020304" pitchFamily="18" charset="0"/>
              </a:rPr>
              <a:t>1</a:t>
            </a:r>
            <a:r>
              <a:rPr lang="en-US" altLang="zh-CN" sz="2800" i="1" dirty="0" smtClean="0">
                <a:solidFill>
                  <a:srgbClr val="000000"/>
                </a:solidFill>
                <a:latin typeface="Times New Roman" panose="02020603050405020304" pitchFamily="18" charset="0"/>
                <a:cs typeface="Times New Roman" panose="02020603050405020304" pitchFamily="18" charset="0"/>
              </a:rPr>
              <a:t>b</a:t>
            </a:r>
            <a:r>
              <a:rPr lang="en-US" altLang="zh-CN" sz="2800" baseline="-25000" dirty="0" smtClean="0">
                <a:solidFill>
                  <a:srgbClr val="000000"/>
                </a:solidFill>
                <a:latin typeface="Times New Roman" panose="02020603050405020304" pitchFamily="18" charset="0"/>
                <a:cs typeface="Times New Roman" panose="02020603050405020304" pitchFamily="18" charset="0"/>
              </a:rPr>
              <a:t>3</a:t>
            </a:r>
            <a:r>
              <a:rPr lang="en-US" altLang="zh-CN" sz="2800" b="1" dirty="0" smtClean="0">
                <a:solidFill>
                  <a:srgbClr val="000000"/>
                </a:solidFill>
                <a:latin typeface="Times New Roman" panose="02020603050405020304" pitchFamily="18" charset="0"/>
                <a:cs typeface="Times New Roman" panose="02020603050405020304" pitchFamily="18" charset="0"/>
              </a:rPr>
              <a:t>i</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en-US" altLang="zh-CN" sz="2800" b="1" dirty="0" smtClean="0">
                <a:solidFill>
                  <a:srgbClr val="000000"/>
                </a:solidFill>
                <a:latin typeface="Times New Roman" panose="02020603050405020304" pitchFamily="18" charset="0"/>
                <a:cs typeface="Times New Roman" panose="02020603050405020304" pitchFamily="18" charset="0"/>
              </a:rPr>
              <a:t>k</a:t>
            </a:r>
            <a:r>
              <a:rPr lang="en-US" altLang="zh-CN" sz="2800" i="1" dirty="0" smtClean="0">
                <a:solidFill>
                  <a:srgbClr val="000000"/>
                </a:solidFill>
                <a:latin typeface="Times New Roman" panose="02020603050405020304" pitchFamily="18" charset="0"/>
                <a:cs typeface="Times New Roman" panose="02020603050405020304" pitchFamily="18" charset="0"/>
              </a:rPr>
              <a:t>+a</a:t>
            </a:r>
            <a:r>
              <a:rPr lang="en-US" altLang="zh-CN" sz="2800" baseline="-25000" dirty="0" smtClean="0">
                <a:solidFill>
                  <a:srgbClr val="000000"/>
                </a:solidFill>
                <a:latin typeface="Times New Roman" panose="02020603050405020304" pitchFamily="18" charset="0"/>
                <a:cs typeface="Times New Roman" panose="02020603050405020304" pitchFamily="18" charset="0"/>
              </a:rPr>
              <a:t>2</a:t>
            </a:r>
            <a:r>
              <a:rPr lang="en-US" altLang="zh-CN" sz="2800" i="1" dirty="0" smtClean="0">
                <a:solidFill>
                  <a:srgbClr val="000000"/>
                </a:solidFill>
                <a:latin typeface="Times New Roman" panose="02020603050405020304" pitchFamily="18" charset="0"/>
                <a:cs typeface="Times New Roman" panose="02020603050405020304" pitchFamily="18" charset="0"/>
              </a:rPr>
              <a:t>b</a:t>
            </a:r>
            <a:r>
              <a:rPr lang="en-US" altLang="zh-CN" sz="2800" baseline="-25000" dirty="0" smtClean="0">
                <a:solidFill>
                  <a:srgbClr val="000000"/>
                </a:solidFill>
                <a:latin typeface="Times New Roman" panose="02020603050405020304" pitchFamily="18" charset="0"/>
                <a:cs typeface="Times New Roman" panose="02020603050405020304" pitchFamily="18" charset="0"/>
              </a:rPr>
              <a:t>1</a:t>
            </a:r>
            <a:r>
              <a:rPr lang="en-US" altLang="zh-CN" sz="2800" b="1" dirty="0" smtClean="0">
                <a:solidFill>
                  <a:srgbClr val="000000"/>
                </a:solidFill>
                <a:latin typeface="Times New Roman" panose="02020603050405020304" pitchFamily="18" charset="0"/>
                <a:cs typeface="Times New Roman" panose="02020603050405020304" pitchFamily="18" charset="0"/>
              </a:rPr>
              <a:t>j</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en-US" altLang="zh-CN" sz="2800" b="1" dirty="0" smtClean="0">
                <a:solidFill>
                  <a:srgbClr val="000000"/>
                </a:solidFill>
                <a:latin typeface="Times New Roman" panose="02020603050405020304" pitchFamily="18" charset="0"/>
                <a:cs typeface="Times New Roman" panose="02020603050405020304" pitchFamily="18" charset="0"/>
              </a:rPr>
              <a:t>i</a:t>
            </a:r>
            <a:r>
              <a:rPr lang="en-US" altLang="zh-CN" sz="2800" i="1" dirty="0" smtClean="0">
                <a:solidFill>
                  <a:srgbClr val="000000"/>
                </a:solidFill>
                <a:latin typeface="Times New Roman" panose="02020603050405020304" pitchFamily="18" charset="0"/>
                <a:cs typeface="Times New Roman" panose="02020603050405020304" pitchFamily="18" charset="0"/>
              </a:rPr>
              <a:t>+a</a:t>
            </a:r>
            <a:r>
              <a:rPr lang="en-US" altLang="zh-CN" sz="2800" baseline="-25000" dirty="0" smtClean="0">
                <a:solidFill>
                  <a:srgbClr val="000000"/>
                </a:solidFill>
                <a:latin typeface="Times New Roman" panose="02020603050405020304" pitchFamily="18" charset="0"/>
                <a:cs typeface="Times New Roman" panose="02020603050405020304" pitchFamily="18" charset="0"/>
              </a:rPr>
              <a:t>2</a:t>
            </a:r>
            <a:r>
              <a:rPr lang="en-US" altLang="zh-CN" sz="2800" i="1" dirty="0" smtClean="0">
                <a:solidFill>
                  <a:srgbClr val="000000"/>
                </a:solidFill>
                <a:latin typeface="Times New Roman" panose="02020603050405020304" pitchFamily="18" charset="0"/>
                <a:cs typeface="Times New Roman" panose="02020603050405020304" pitchFamily="18" charset="0"/>
              </a:rPr>
              <a:t>b</a:t>
            </a:r>
            <a:r>
              <a:rPr lang="en-US" altLang="zh-CN" sz="2800" baseline="-25000" dirty="0" smtClean="0">
                <a:solidFill>
                  <a:srgbClr val="000000"/>
                </a:solidFill>
                <a:latin typeface="Times New Roman" panose="02020603050405020304" pitchFamily="18" charset="0"/>
                <a:cs typeface="Times New Roman" panose="02020603050405020304" pitchFamily="18" charset="0"/>
              </a:rPr>
              <a:t>3</a:t>
            </a:r>
            <a:r>
              <a:rPr lang="en-US" altLang="zh-CN" sz="2800" b="1" dirty="0" smtClean="0">
                <a:solidFill>
                  <a:srgbClr val="000000"/>
                </a:solidFill>
                <a:latin typeface="Times New Roman" panose="02020603050405020304" pitchFamily="18" charset="0"/>
                <a:cs typeface="Times New Roman" panose="02020603050405020304" pitchFamily="18" charset="0"/>
              </a:rPr>
              <a:t>j</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en-US" altLang="zh-CN" sz="2800" b="1" dirty="0" smtClean="0">
                <a:solidFill>
                  <a:srgbClr val="000000"/>
                </a:solidFill>
                <a:latin typeface="Times New Roman" panose="02020603050405020304" pitchFamily="18" charset="0"/>
                <a:cs typeface="Times New Roman" panose="02020603050405020304" pitchFamily="18" charset="0"/>
              </a:rPr>
              <a:t>k</a:t>
            </a:r>
            <a:r>
              <a:rPr lang="en-US" altLang="zh-CN" sz="2800" i="1" dirty="0" smtClean="0">
                <a:solidFill>
                  <a:srgbClr val="000000"/>
                </a:solidFill>
                <a:latin typeface="Times New Roman" panose="02020603050405020304" pitchFamily="18" charset="0"/>
                <a:cs typeface="Times New Roman" panose="02020603050405020304" pitchFamily="18" charset="0"/>
              </a:rPr>
              <a:t>+a</a:t>
            </a:r>
            <a:r>
              <a:rPr lang="en-US" altLang="zh-CN" sz="2800" baseline="-25000" dirty="0" smtClean="0">
                <a:solidFill>
                  <a:srgbClr val="000000"/>
                </a:solidFill>
                <a:latin typeface="Times New Roman" panose="02020603050405020304" pitchFamily="18" charset="0"/>
                <a:cs typeface="Times New Roman" panose="02020603050405020304" pitchFamily="18" charset="0"/>
              </a:rPr>
              <a:t>3</a:t>
            </a:r>
            <a:r>
              <a:rPr lang="en-US" altLang="zh-CN" sz="2800" i="1" dirty="0" smtClean="0">
                <a:solidFill>
                  <a:srgbClr val="000000"/>
                </a:solidFill>
                <a:latin typeface="Times New Roman" panose="02020603050405020304" pitchFamily="18" charset="0"/>
                <a:cs typeface="Times New Roman" panose="02020603050405020304" pitchFamily="18" charset="0"/>
              </a:rPr>
              <a:t>b</a:t>
            </a:r>
            <a:r>
              <a:rPr lang="en-US" altLang="zh-CN" sz="2800" baseline="-25000" dirty="0" smtClean="0">
                <a:solidFill>
                  <a:srgbClr val="000000"/>
                </a:solidFill>
                <a:latin typeface="Times New Roman" panose="02020603050405020304" pitchFamily="18" charset="0"/>
                <a:cs typeface="Times New Roman" panose="02020603050405020304" pitchFamily="18" charset="0"/>
              </a:rPr>
              <a:t>1</a:t>
            </a:r>
            <a:r>
              <a:rPr lang="en-US" altLang="zh-CN" sz="2800" b="1" dirty="0" smtClean="0">
                <a:solidFill>
                  <a:srgbClr val="000000"/>
                </a:solidFill>
                <a:latin typeface="Times New Roman" panose="02020603050405020304" pitchFamily="18" charset="0"/>
                <a:cs typeface="Times New Roman" panose="02020603050405020304" pitchFamily="18" charset="0"/>
              </a:rPr>
              <a:t>k</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en-US" altLang="zh-CN" sz="2800" b="1" dirty="0" smtClean="0">
                <a:solidFill>
                  <a:srgbClr val="000000"/>
                </a:solidFill>
                <a:latin typeface="Times New Roman" panose="02020603050405020304" pitchFamily="18" charset="0"/>
                <a:cs typeface="Times New Roman" panose="02020603050405020304" pitchFamily="18" charset="0"/>
              </a:rPr>
              <a:t>i</a:t>
            </a:r>
            <a:r>
              <a:rPr lang="en-US" altLang="zh-CN" sz="2800" i="1" dirty="0" smtClean="0">
                <a:solidFill>
                  <a:srgbClr val="000000"/>
                </a:solidFill>
                <a:latin typeface="Times New Roman" panose="02020603050405020304" pitchFamily="18" charset="0"/>
                <a:cs typeface="Times New Roman" panose="02020603050405020304" pitchFamily="18" charset="0"/>
              </a:rPr>
              <a:t>+a</a:t>
            </a:r>
            <a:r>
              <a:rPr lang="en-US" altLang="zh-CN" sz="2800" baseline="-25000" dirty="0" smtClean="0">
                <a:solidFill>
                  <a:srgbClr val="000000"/>
                </a:solidFill>
                <a:latin typeface="Times New Roman" panose="02020603050405020304" pitchFamily="18" charset="0"/>
                <a:cs typeface="Times New Roman" panose="02020603050405020304" pitchFamily="18" charset="0"/>
              </a:rPr>
              <a:t>3</a:t>
            </a:r>
            <a:r>
              <a:rPr lang="en-US" altLang="zh-CN" sz="2800" i="1" dirty="0" smtClean="0">
                <a:solidFill>
                  <a:srgbClr val="000000"/>
                </a:solidFill>
                <a:latin typeface="Times New Roman" panose="02020603050405020304" pitchFamily="18" charset="0"/>
                <a:cs typeface="Times New Roman" panose="02020603050405020304" pitchFamily="18" charset="0"/>
              </a:rPr>
              <a:t>b</a:t>
            </a:r>
            <a:r>
              <a:rPr lang="en-US" altLang="zh-CN" sz="2800" baseline="-25000" dirty="0" smtClean="0">
                <a:solidFill>
                  <a:srgbClr val="000000"/>
                </a:solidFill>
                <a:latin typeface="Times New Roman" panose="02020603050405020304" pitchFamily="18" charset="0"/>
                <a:cs typeface="Times New Roman" panose="02020603050405020304" pitchFamily="18" charset="0"/>
              </a:rPr>
              <a:t>2</a:t>
            </a:r>
            <a:r>
              <a:rPr lang="en-US" altLang="zh-CN" sz="2800" b="1" dirty="0" smtClean="0">
                <a:solidFill>
                  <a:srgbClr val="000000"/>
                </a:solidFill>
                <a:latin typeface="Times New Roman" panose="02020603050405020304" pitchFamily="18" charset="0"/>
                <a:cs typeface="Times New Roman" panose="02020603050405020304" pitchFamily="18" charset="0"/>
              </a:rPr>
              <a:t>k</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en-US" altLang="zh-CN" sz="2800" b="1" dirty="0" smtClean="0">
                <a:solidFill>
                  <a:srgbClr val="000000"/>
                </a:solidFill>
                <a:latin typeface="Times New Roman" panose="02020603050405020304" pitchFamily="18" charset="0"/>
                <a:cs typeface="Times New Roman" panose="02020603050405020304" pitchFamily="18" charset="0"/>
              </a:rPr>
              <a:t>j</a:t>
            </a:r>
          </a:p>
          <a:p>
            <a:pPr indent="279400">
              <a:lnSpc>
                <a:spcPct val="130000"/>
              </a:lnSpc>
              <a:spcAft>
                <a:spcPts val="0"/>
              </a:spcAft>
              <a:tabLst>
                <a:tab pos="1188085" algn="l"/>
                <a:tab pos="2163445" algn="l"/>
                <a:tab pos="3142615" algn="l"/>
                <a:tab pos="4190365" algn="l"/>
              </a:tabLst>
            </a:pP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8915044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wipe(down)">
                                      <p:cBhvr>
                                        <p:cTn id="7" dur="500"/>
                                        <p:tgtEl>
                                          <p:spTgt spid="2">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2">
                                            <p:txEl>
                                              <p:pRg st="2" end="2"/>
                                            </p:txEl>
                                          </p:spTgt>
                                        </p:tgtEl>
                                        <p:attrNameLst>
                                          <p:attrName>style.visibility</p:attrName>
                                        </p:attrNameLst>
                                      </p:cBhvr>
                                      <p:to>
                                        <p:strVal val="visible"/>
                                      </p:to>
                                    </p:set>
                                    <p:animEffect transition="in" filter="wipe(down)">
                                      <p:cBhvr>
                                        <p:cTn id="10" dur="500"/>
                                        <p:tgtEl>
                                          <p:spTgt spid="2">
                                            <p:txEl>
                                              <p:pRg st="2" end="2"/>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animEffect transition="in" filter="wipe(down)">
                                      <p:cBhvr>
                                        <p:cTn id="13" dur="500"/>
                                        <p:tgtEl>
                                          <p:spTgt spid="2">
                                            <p:txEl>
                                              <p:pRg st="3" end="3"/>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2">
                                            <p:txEl>
                                              <p:pRg st="4" end="4"/>
                                            </p:txEl>
                                          </p:spTgt>
                                        </p:tgtEl>
                                        <p:attrNameLst>
                                          <p:attrName>style.visibility</p:attrName>
                                        </p:attrNameLst>
                                      </p:cBhvr>
                                      <p:to>
                                        <p:strVal val="visible"/>
                                      </p:to>
                                    </p:set>
                                    <p:animEffect transition="in" filter="wipe(down)">
                                      <p:cBhvr>
                                        <p:cTn id="16"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54841"/>
            <a:ext cx="4967707" cy="652486"/>
          </a:xfrm>
          <a:prstGeom prst="rect">
            <a:avLst/>
          </a:prstGeom>
        </p:spPr>
        <p:txBody>
          <a:bodyPr wrap="none">
            <a:spAutoFit/>
          </a:bodyPr>
          <a:lstStyle/>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2</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zh-CN" altLang="zh-CN" sz="2800" dirty="0" smtClean="0">
                <a:solidFill>
                  <a:srgbClr val="000000"/>
                </a:solidFill>
                <a:latin typeface="Times New Roman" panose="02020603050405020304" pitchFamily="18" charset="0"/>
                <a:cs typeface="Times New Roman" panose="02020603050405020304" pitchFamily="18" charset="0"/>
              </a:rPr>
              <a:t>设</a:t>
            </a:r>
            <a:r>
              <a:rPr lang="en-US" altLang="zh-CN" sz="2800" b="1" dirty="0">
                <a:solidFill>
                  <a:srgbClr val="000000"/>
                </a:solidFill>
                <a:latin typeface="Times New Roman" panose="02020603050405020304" pitchFamily="18" charset="0"/>
                <a:cs typeface="Times New Roman" panose="02020603050405020304" pitchFamily="18" charset="0"/>
              </a:rPr>
              <a:t>a</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3</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3</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zh-CN" altLang="en-US" sz="2800" i="1"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1980451018"/>
              </p:ext>
            </p:extLst>
          </p:nvPr>
        </p:nvGraphicFramePr>
        <p:xfrm>
          <a:off x="385763" y="726354"/>
          <a:ext cx="11412537" cy="6521450"/>
        </p:xfrm>
        <a:graphic>
          <a:graphicData uri="http://schemas.openxmlformats.org/presentationml/2006/ole">
            <mc:AlternateContent xmlns:mc="http://schemas.openxmlformats.org/markup-compatibility/2006">
              <mc:Choice xmlns:v="urn:schemas-microsoft-com:vml" Requires="v">
                <p:oleObj spid="_x0000_s3094" name="文档" r:id="rId3" imgW="4565722" imgH="2613168" progId="Word.Document.12">
                  <p:embed/>
                </p:oleObj>
              </mc:Choice>
              <mc:Fallback>
                <p:oleObj name="文档" r:id="rId3" imgW="4565722" imgH="2613168" progId="Word.Document.12">
                  <p:embed/>
                  <p:pic>
                    <p:nvPicPr>
                      <p:cNvPr id="0" name=""/>
                      <p:cNvPicPr/>
                      <p:nvPr/>
                    </p:nvPicPr>
                    <p:blipFill>
                      <a:blip r:embed="rId4"/>
                      <a:stretch>
                        <a:fillRect/>
                      </a:stretch>
                    </p:blipFill>
                    <p:spPr>
                      <a:xfrm>
                        <a:off x="385763" y="726354"/>
                        <a:ext cx="11412537" cy="6521450"/>
                      </a:xfrm>
                      <a:prstGeom prst="rect">
                        <a:avLst/>
                      </a:prstGeom>
                    </p:spPr>
                  </p:pic>
                </p:oleObj>
              </mc:Fallback>
            </mc:AlternateContent>
          </a:graphicData>
        </a:graphic>
      </p:graphicFrame>
      <p:sp>
        <p:nvSpPr>
          <p:cNvPr id="4" name="矩形 3"/>
          <p:cNvSpPr/>
          <p:nvPr/>
        </p:nvSpPr>
        <p:spPr>
          <a:xfrm>
            <a:off x="3365294" y="1298767"/>
            <a:ext cx="2992248" cy="331657"/>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3365294" y="1762504"/>
            <a:ext cx="2992248" cy="301506"/>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3356818" y="2160347"/>
            <a:ext cx="1712030" cy="364823"/>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3367209" y="2621327"/>
            <a:ext cx="2586782" cy="354094"/>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3368328" y="3079224"/>
            <a:ext cx="3050438" cy="364823"/>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3368328" y="3819980"/>
            <a:ext cx="3050438" cy="364823"/>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1864845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0" nodeType="clickEffect">
                                  <p:stCondLst>
                                    <p:cond delay="0"/>
                                  </p:stCondLst>
                                  <p:childTnLst>
                                    <p:animEffect transition="out" filter="wipe(down)">
                                      <p:cBhvr>
                                        <p:cTn id="11" dur="500"/>
                                        <p:tgtEl>
                                          <p:spTgt spid="6"/>
                                        </p:tgtEl>
                                      </p:cBhvr>
                                    </p:animEffect>
                                    <p:set>
                                      <p:cBhvr>
                                        <p:cTn id="12" dur="1" fill="hold">
                                          <p:stCondLst>
                                            <p:cond delay="499"/>
                                          </p:stCondLst>
                                        </p:cTn>
                                        <p:tgtEl>
                                          <p:spTgt spid="6"/>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4" fill="hold" grpId="0" nodeType="clickEffect">
                                  <p:stCondLst>
                                    <p:cond delay="0"/>
                                  </p:stCondLst>
                                  <p:childTnLst>
                                    <p:animEffect transition="out" filter="wipe(down)">
                                      <p:cBhvr>
                                        <p:cTn id="16" dur="500"/>
                                        <p:tgtEl>
                                          <p:spTgt spid="7"/>
                                        </p:tgtEl>
                                      </p:cBhvr>
                                    </p:animEffect>
                                    <p:set>
                                      <p:cBhvr>
                                        <p:cTn id="17" dur="1" fill="hold">
                                          <p:stCondLst>
                                            <p:cond delay="499"/>
                                          </p:stCondLst>
                                        </p:cTn>
                                        <p:tgtEl>
                                          <p:spTgt spid="7"/>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xit" presetSubtype="4" fill="hold" grpId="0" nodeType="clickEffect">
                                  <p:stCondLst>
                                    <p:cond delay="0"/>
                                  </p:stCondLst>
                                  <p:childTnLst>
                                    <p:animEffect transition="out" filter="wipe(down)">
                                      <p:cBhvr>
                                        <p:cTn id="21" dur="500"/>
                                        <p:tgtEl>
                                          <p:spTgt spid="8"/>
                                        </p:tgtEl>
                                      </p:cBhvr>
                                    </p:animEffect>
                                    <p:set>
                                      <p:cBhvr>
                                        <p:cTn id="22" dur="1" fill="hold">
                                          <p:stCondLst>
                                            <p:cond delay="499"/>
                                          </p:stCondLst>
                                        </p:cTn>
                                        <p:tgtEl>
                                          <p:spTgt spid="8"/>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22" presetClass="exit" presetSubtype="4" fill="hold" grpId="0" nodeType="clickEffect">
                                  <p:stCondLst>
                                    <p:cond delay="0"/>
                                  </p:stCondLst>
                                  <p:childTnLst>
                                    <p:animEffect transition="out" filter="wipe(down)">
                                      <p:cBhvr>
                                        <p:cTn id="26" dur="500"/>
                                        <p:tgtEl>
                                          <p:spTgt spid="9"/>
                                        </p:tgtEl>
                                      </p:cBhvr>
                                    </p:animEffect>
                                    <p:set>
                                      <p:cBhvr>
                                        <p:cTn id="27" dur="1" fill="hold">
                                          <p:stCondLst>
                                            <p:cond delay="499"/>
                                          </p:stCondLst>
                                        </p:cTn>
                                        <p:tgtEl>
                                          <p:spTgt spid="9"/>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22" presetClass="exit" presetSubtype="4" fill="hold" grpId="0" nodeType="clickEffect">
                                  <p:stCondLst>
                                    <p:cond delay="0"/>
                                  </p:stCondLst>
                                  <p:childTnLst>
                                    <p:animEffect transition="out" filter="wipe(down)">
                                      <p:cBhvr>
                                        <p:cTn id="31" dur="500"/>
                                        <p:tgtEl>
                                          <p:spTgt spid="10"/>
                                        </p:tgtEl>
                                      </p:cBhvr>
                                    </p:animEffect>
                                    <p:set>
                                      <p:cBhvr>
                                        <p:cTn id="32" dur="1" fill="hold">
                                          <p:stCondLst>
                                            <p:cond delay="4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9" grpId="0" animBg="1"/>
      <p:bldP spid="1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198119"/>
            <a:ext cx="11430000" cy="4013406"/>
          </a:xfrm>
          <a:prstGeom prst="rect">
            <a:avLst/>
          </a:prstGeom>
        </p:spPr>
        <p:txBody>
          <a:bodyPr>
            <a:spAutoFit/>
          </a:bodyPr>
          <a:lstStyle/>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3</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已知向量</a:t>
            </a:r>
            <a:r>
              <a:rPr lang="en-US" altLang="zh-CN" sz="2800" b="1" dirty="0">
                <a:solidFill>
                  <a:srgbClr val="000000"/>
                </a:solidFill>
                <a:latin typeface="Times New Roman" panose="02020603050405020304" pitchFamily="18" charset="0"/>
                <a:cs typeface="Times New Roman" panose="02020603050405020304" pitchFamily="18" charset="0"/>
              </a:rPr>
              <a:t>a</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b="1" dirty="0">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(6,</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3,2),</a:t>
            </a:r>
            <a:r>
              <a:rPr lang="zh-CN" altLang="zh-CN" sz="2800" dirty="0">
                <a:solidFill>
                  <a:srgbClr val="000000"/>
                </a:solidFill>
                <a:latin typeface="Times New Roman" panose="02020603050405020304" pitchFamily="18" charset="0"/>
                <a:cs typeface="Times New Roman" panose="02020603050405020304" pitchFamily="18" charset="0"/>
              </a:rPr>
              <a:t>则下列结论正确的是</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err="1">
                <a:solidFill>
                  <a:srgbClr val="000000"/>
                </a:solidFill>
                <a:latin typeface="Times New Roman" panose="02020603050405020304" pitchFamily="18" charset="0"/>
                <a:cs typeface="Times New Roman" panose="02020603050405020304" pitchFamily="18" charset="0"/>
              </a:rPr>
              <a:t>A</a:t>
            </a:r>
            <a:r>
              <a:rPr lang="en-US" altLang="zh-CN" sz="2800" i="1"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a+b</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(10,</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5,</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6)	</a:t>
            </a:r>
            <a:r>
              <a:rPr lang="en-US" altLang="zh-CN" sz="2800" dirty="0" err="1">
                <a:solidFill>
                  <a:srgbClr val="000000"/>
                </a:solidFill>
                <a:latin typeface="Times New Roman" panose="02020603050405020304" pitchFamily="18" charset="0"/>
                <a:cs typeface="Times New Roman" panose="02020603050405020304" pitchFamily="18" charset="0"/>
              </a:rPr>
              <a:t>B</a:t>
            </a:r>
            <a:r>
              <a:rPr lang="en-US" altLang="zh-CN" sz="2800" i="1"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b="1" dirty="0">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6)</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err="1">
                <a:solidFill>
                  <a:srgbClr val="000000"/>
                </a:solidFill>
                <a:latin typeface="Times New Roman" panose="02020603050405020304" pitchFamily="18" charset="0"/>
                <a:cs typeface="Times New Roman" panose="02020603050405020304" pitchFamily="18" charset="0"/>
              </a:rPr>
              <a:t>C</a:t>
            </a:r>
            <a:r>
              <a:rPr lang="en-US" altLang="zh-CN" sz="2800" i="1"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10	</a:t>
            </a:r>
            <a:r>
              <a:rPr lang="en-US" altLang="zh-CN" sz="2800" dirty="0" smtClean="0">
                <a:solidFill>
                  <a:srgbClr val="000000"/>
                </a:solidFill>
                <a:latin typeface="Times New Roman" panose="02020603050405020304" pitchFamily="18" charset="0"/>
                <a:cs typeface="Times New Roman" panose="02020603050405020304" pitchFamily="18" charset="0"/>
              </a:rPr>
              <a:t>	</a:t>
            </a:r>
            <a:r>
              <a:rPr lang="en-US" altLang="zh-CN" sz="2800" dirty="0" err="1" smtClean="0">
                <a:solidFill>
                  <a:srgbClr val="000000"/>
                </a:solidFill>
                <a:latin typeface="Times New Roman" panose="02020603050405020304" pitchFamily="18" charset="0"/>
                <a:cs typeface="Times New Roman" panose="02020603050405020304" pitchFamily="18" charset="0"/>
              </a:rPr>
              <a:t>D</a:t>
            </a:r>
            <a:r>
              <a:rPr lang="en-US" altLang="zh-CN" sz="2800" i="1"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6</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与向量</a:t>
            </a:r>
            <a:r>
              <a:rPr lang="en-US" altLang="zh-CN" sz="2800" b="1" dirty="0">
                <a:solidFill>
                  <a:srgbClr val="000000"/>
                </a:solidFill>
                <a:latin typeface="Times New Roman" panose="02020603050405020304" pitchFamily="18" charset="0"/>
                <a:cs typeface="Times New Roman" panose="02020603050405020304" pitchFamily="18" charset="0"/>
              </a:rPr>
              <a:t>a</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(1,2,3),</a:t>
            </a:r>
            <a:r>
              <a:rPr lang="en-US" altLang="zh-CN" sz="2800" b="1" dirty="0">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(3,1,2)</a:t>
            </a:r>
            <a:r>
              <a:rPr lang="zh-CN" altLang="zh-CN" sz="2800" dirty="0">
                <a:solidFill>
                  <a:srgbClr val="000000"/>
                </a:solidFill>
                <a:latin typeface="Times New Roman" panose="02020603050405020304" pitchFamily="18" charset="0"/>
                <a:cs typeface="Times New Roman" panose="02020603050405020304" pitchFamily="18" charset="0"/>
              </a:rPr>
              <a:t>都垂直的向量为</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A</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(1,7,5)	</a:t>
            </a:r>
            <a:r>
              <a:rPr lang="en-US" altLang="zh-CN" sz="2800" dirty="0" smtClean="0">
                <a:solidFill>
                  <a:srgbClr val="000000"/>
                </a:solidFill>
                <a:latin typeface="Times New Roman" panose="02020603050405020304" pitchFamily="18" charset="0"/>
                <a:cs typeface="Times New Roman" panose="02020603050405020304" pitchFamily="18" charset="0"/>
              </a:rPr>
              <a:t>	B</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7,5)	</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C</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7,5)	</a:t>
            </a:r>
            <a:r>
              <a:rPr lang="en-US" altLang="zh-CN" sz="2800" dirty="0" smtClean="0">
                <a:solidFill>
                  <a:srgbClr val="000000"/>
                </a:solidFill>
                <a:latin typeface="Times New Roman" panose="02020603050405020304" pitchFamily="18" charset="0"/>
                <a:cs typeface="Times New Roman" panose="02020603050405020304" pitchFamily="18" charset="0"/>
              </a:rPr>
              <a:t>	D</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7,</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5</a:t>
            </a:r>
            <a:r>
              <a:rPr lang="en-US" altLang="zh-CN" sz="2800" dirty="0" smtClean="0">
                <a:solidFill>
                  <a:srgbClr val="000000"/>
                </a:solidFill>
                <a:latin typeface="Times New Roman" panose="02020603050405020304" pitchFamily="18" charset="0"/>
                <a:cs typeface="Times New Roman" panose="02020603050405020304" pitchFamily="18" charset="0"/>
              </a:rPr>
              <a:t>)</a:t>
            </a:r>
          </a:p>
          <a:p>
            <a:pPr indent="279400">
              <a:lnSpc>
                <a:spcPct val="130000"/>
              </a:lnSpc>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解析</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易验证</a:t>
            </a:r>
            <a:r>
              <a:rPr lang="en-US" altLang="zh-CN" sz="2800" dirty="0">
                <a:solidFill>
                  <a:srgbClr val="000000"/>
                </a:solidFill>
                <a:latin typeface="Times New Roman" panose="02020603050405020304" pitchFamily="18" charset="0"/>
                <a:cs typeface="Times New Roman" panose="02020603050405020304" pitchFamily="18" charset="0"/>
              </a:rPr>
              <a:t>A,B,C</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均不正确</a:t>
            </a:r>
            <a:r>
              <a:rPr lang="en-US" altLang="zh-CN" sz="2800" dirty="0" smtClean="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3537058157"/>
              </p:ext>
            </p:extLst>
          </p:nvPr>
        </p:nvGraphicFramePr>
        <p:xfrm>
          <a:off x="41564" y="4128397"/>
          <a:ext cx="11430000" cy="1005588"/>
        </p:xfrm>
        <a:graphic>
          <a:graphicData uri="http://schemas.openxmlformats.org/presentationml/2006/ole">
            <mc:AlternateContent xmlns:mc="http://schemas.openxmlformats.org/markup-compatibility/2006">
              <mc:Choice xmlns:v="urn:schemas-microsoft-com:vml" Requires="v">
                <p:oleObj spid="_x0000_s4116" name="文档" r:id="rId3" imgW="4510061" imgH="396786" progId="Word.Document.12">
                  <p:embed/>
                </p:oleObj>
              </mc:Choice>
              <mc:Fallback>
                <p:oleObj name="文档" r:id="rId3" imgW="4510061" imgH="396786" progId="Word.Document.12">
                  <p:embed/>
                  <p:pic>
                    <p:nvPicPr>
                      <p:cNvPr id="0" name=""/>
                      <p:cNvPicPr/>
                      <p:nvPr/>
                    </p:nvPicPr>
                    <p:blipFill>
                      <a:blip r:embed="rId4"/>
                      <a:stretch>
                        <a:fillRect/>
                      </a:stretch>
                    </p:blipFill>
                    <p:spPr>
                      <a:xfrm>
                        <a:off x="41564" y="4128397"/>
                        <a:ext cx="11430000" cy="1005588"/>
                      </a:xfrm>
                      <a:prstGeom prst="rect">
                        <a:avLst/>
                      </a:prstGeom>
                    </p:spPr>
                  </p:pic>
                </p:oleObj>
              </mc:Fallback>
            </mc:AlternateContent>
          </a:graphicData>
        </a:graphic>
      </p:graphicFrame>
      <p:sp>
        <p:nvSpPr>
          <p:cNvPr id="5" name="矩形 4"/>
          <p:cNvSpPr>
            <a:spLocks noChangeAspect="1"/>
          </p:cNvSpPr>
          <p:nvPr/>
        </p:nvSpPr>
        <p:spPr>
          <a:xfrm>
            <a:off x="381000" y="5133985"/>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只有</a:t>
            </a:r>
            <a:r>
              <a:rPr lang="en-US" altLang="zh-CN" sz="2800" dirty="0">
                <a:solidFill>
                  <a:srgbClr val="000000"/>
                </a:solidFill>
                <a:latin typeface="Times New Roman" panose="02020603050405020304" pitchFamily="18" charset="0"/>
                <a:cs typeface="Times New Roman" panose="02020603050405020304" pitchFamily="18" charset="0"/>
              </a:rPr>
              <a:t>C</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选项中向量与</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的数量积都为</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(1)D</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(2)C</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4233265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6" end="6"/>
                                            </p:txEl>
                                          </p:spTgt>
                                        </p:tgtEl>
                                        <p:attrNameLst>
                                          <p:attrName>style.visibility</p:attrName>
                                        </p:attrNameLst>
                                      </p:cBhvr>
                                      <p:to>
                                        <p:strVal val="visible"/>
                                      </p:to>
                                    </p:set>
                                    <p:animEffect transition="in" filter="wipe(down)">
                                      <p:cBhvr>
                                        <p:cTn id="7" dur="500"/>
                                        <p:tgtEl>
                                          <p:spTgt spid="2">
                                            <p:txEl>
                                              <p:pRg st="6" end="6"/>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down)">
                                      <p:cBhvr>
                                        <p:cTn id="10" dur="500"/>
                                        <p:tgtEl>
                                          <p:spTgt spid="4"/>
                                        </p:tgtEl>
                                      </p:cBhvr>
                                    </p:animEffect>
                                  </p:childTnLst>
                                </p:cTn>
                              </p:par>
                              <p:par>
                                <p:cTn id="11" presetID="22" presetClass="entr" presetSubtype="4" fill="hold" nodeType="with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animEffect transition="in" filter="wipe(down)">
                                      <p:cBhvr>
                                        <p:cTn id="13" dur="500"/>
                                        <p:tgtEl>
                                          <p:spTgt spid="5">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5">
                                            <p:txEl>
                                              <p:pRg st="1" end="1"/>
                                            </p:txEl>
                                          </p:spTgt>
                                        </p:tgtEl>
                                        <p:attrNameLst>
                                          <p:attrName>style.visibility</p:attrName>
                                        </p:attrNameLst>
                                      </p:cBhvr>
                                      <p:to>
                                        <p:strVal val="visible"/>
                                      </p:to>
                                    </p:set>
                                    <p:animEffect transition="in" filter="wipe(down)">
                                      <p:cBhvr>
                                        <p:cTn id="18"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389511"/>
            <a:ext cx="11430000" cy="1772793"/>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ea typeface="方正正中黑简体"/>
                <a:cs typeface="Times New Roman" panose="02020603050405020304" pitchFamily="18" charset="0"/>
              </a:rPr>
              <a:t>三、空间两点间的距离公式</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80670">
              <a:lnSpc>
                <a:spcPct val="130000"/>
              </a:lnSpc>
              <a:spcAft>
                <a:spcPts val="0"/>
              </a:spcAft>
              <a:tabLst>
                <a:tab pos="1188085" algn="l"/>
                <a:tab pos="2163445" algn="l"/>
                <a:tab pos="3142615" algn="l"/>
                <a:tab pos="4190365" algn="l"/>
              </a:tabLst>
            </a:pPr>
            <a:r>
              <a:rPr lang="en-US" altLang="zh-CN" sz="2800" b="1" dirty="0" smtClean="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在空间直角坐标系</a:t>
            </a:r>
            <a:r>
              <a:rPr lang="en-US" altLang="zh-CN" sz="2800" i="1" dirty="0" err="1">
                <a:solidFill>
                  <a:srgbClr val="000000"/>
                </a:solidFill>
                <a:latin typeface="Times New Roman" panose="02020603050405020304" pitchFamily="18" charset="0"/>
                <a:cs typeface="Times New Roman" panose="02020603050405020304" pitchFamily="18" charset="0"/>
              </a:rPr>
              <a:t>Oxyz</a:t>
            </a:r>
            <a:r>
              <a:rPr lang="zh-CN" altLang="zh-CN" sz="2800" dirty="0">
                <a:solidFill>
                  <a:srgbClr val="000000"/>
                </a:solidFill>
                <a:latin typeface="Times New Roman" panose="02020603050405020304" pitchFamily="18" charset="0"/>
                <a:cs typeface="Times New Roman" panose="02020603050405020304" pitchFamily="18" charset="0"/>
              </a:rPr>
              <a:t>中</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设</a:t>
            </a:r>
            <a:r>
              <a:rPr lang="en-US" altLang="zh-CN" sz="2800" i="1" dirty="0">
                <a:solidFill>
                  <a:srgbClr val="000000"/>
                </a:solidFill>
                <a:latin typeface="Times New Roman" panose="02020603050405020304" pitchFamily="18" charset="0"/>
                <a:cs typeface="Times New Roman" panose="02020603050405020304" pitchFamily="18" charset="0"/>
              </a:rPr>
              <a:t>P</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z</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P</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z</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是空间中任意两点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根据空间向量运算的坐标表示回答下列问题</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465168838"/>
              </p:ext>
            </p:extLst>
          </p:nvPr>
        </p:nvGraphicFramePr>
        <p:xfrm>
          <a:off x="38100" y="2224172"/>
          <a:ext cx="11430000" cy="502338"/>
        </p:xfrm>
        <a:graphic>
          <a:graphicData uri="http://schemas.openxmlformats.org/presentationml/2006/ole">
            <mc:AlternateContent xmlns:mc="http://schemas.openxmlformats.org/markup-compatibility/2006">
              <mc:Choice xmlns:v="urn:schemas-microsoft-com:vml" Requires="v">
                <p:oleObj spid="_x0000_s5194" name="文档" r:id="rId3" imgW="4510061" imgH="198213" progId="Word.Document.12">
                  <p:embed/>
                </p:oleObj>
              </mc:Choice>
              <mc:Fallback>
                <p:oleObj name="文档" r:id="rId3" imgW="4510061" imgH="198213" progId="Word.Document.12">
                  <p:embed/>
                  <p:pic>
                    <p:nvPicPr>
                      <p:cNvPr id="0" name=""/>
                      <p:cNvPicPr/>
                      <p:nvPr/>
                    </p:nvPicPr>
                    <p:blipFill>
                      <a:blip r:embed="rId4"/>
                      <a:stretch>
                        <a:fillRect/>
                      </a:stretch>
                    </p:blipFill>
                    <p:spPr>
                      <a:xfrm>
                        <a:off x="38100" y="2224172"/>
                        <a:ext cx="11430000" cy="502338"/>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2784715198"/>
              </p:ext>
            </p:extLst>
          </p:nvPr>
        </p:nvGraphicFramePr>
        <p:xfrm>
          <a:off x="38100" y="2747292"/>
          <a:ext cx="11430000" cy="1005588"/>
        </p:xfrm>
        <a:graphic>
          <a:graphicData uri="http://schemas.openxmlformats.org/presentationml/2006/ole">
            <mc:AlternateContent xmlns:mc="http://schemas.openxmlformats.org/markup-compatibility/2006">
              <mc:Choice xmlns:v="urn:schemas-microsoft-com:vml" Requires="v">
                <p:oleObj spid="_x0000_s5195" name="文档" r:id="rId5" imgW="4510061" imgH="396786" progId="Word.Document.12">
                  <p:embed/>
                </p:oleObj>
              </mc:Choice>
              <mc:Fallback>
                <p:oleObj name="文档" r:id="rId5" imgW="4510061" imgH="396786" progId="Word.Document.12">
                  <p:embed/>
                  <p:pic>
                    <p:nvPicPr>
                      <p:cNvPr id="0" name=""/>
                      <p:cNvPicPr/>
                      <p:nvPr/>
                    </p:nvPicPr>
                    <p:blipFill>
                      <a:blip r:embed="rId6"/>
                      <a:stretch>
                        <a:fillRect/>
                      </a:stretch>
                    </p:blipFill>
                    <p:spPr>
                      <a:xfrm>
                        <a:off x="38100" y="2747292"/>
                        <a:ext cx="11430000" cy="1005588"/>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643573569"/>
              </p:ext>
            </p:extLst>
          </p:nvPr>
        </p:nvGraphicFramePr>
        <p:xfrm>
          <a:off x="38100" y="3647727"/>
          <a:ext cx="11430000" cy="502338"/>
        </p:xfrm>
        <a:graphic>
          <a:graphicData uri="http://schemas.openxmlformats.org/presentationml/2006/ole">
            <mc:AlternateContent xmlns:mc="http://schemas.openxmlformats.org/markup-compatibility/2006">
              <mc:Choice xmlns:v="urn:schemas-microsoft-com:vml" Requires="v">
                <p:oleObj spid="_x0000_s5196" name="文档" r:id="rId7" imgW="4510061" imgH="198213" progId="Word.Document.12">
                  <p:embed/>
                </p:oleObj>
              </mc:Choice>
              <mc:Fallback>
                <p:oleObj name="文档" r:id="rId7" imgW="4510061" imgH="198213" progId="Word.Document.12">
                  <p:embed/>
                  <p:pic>
                    <p:nvPicPr>
                      <p:cNvPr id="0" name=""/>
                      <p:cNvPicPr/>
                      <p:nvPr/>
                    </p:nvPicPr>
                    <p:blipFill>
                      <a:blip r:embed="rId8"/>
                      <a:stretch>
                        <a:fillRect/>
                      </a:stretch>
                    </p:blipFill>
                    <p:spPr>
                      <a:xfrm>
                        <a:off x="38100" y="3647727"/>
                        <a:ext cx="11430000" cy="502338"/>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3721940322"/>
              </p:ext>
            </p:extLst>
          </p:nvPr>
        </p:nvGraphicFramePr>
        <p:xfrm>
          <a:off x="38100" y="4263888"/>
          <a:ext cx="11430000" cy="1005588"/>
        </p:xfrm>
        <a:graphic>
          <a:graphicData uri="http://schemas.openxmlformats.org/presentationml/2006/ole">
            <mc:AlternateContent xmlns:mc="http://schemas.openxmlformats.org/markup-compatibility/2006">
              <mc:Choice xmlns:v="urn:schemas-microsoft-com:vml" Requires="v">
                <p:oleObj spid="_x0000_s5197" name="文档" r:id="rId9" imgW="4510061" imgH="396786" progId="Word.Document.12">
                  <p:embed/>
                </p:oleObj>
              </mc:Choice>
              <mc:Fallback>
                <p:oleObj name="文档" r:id="rId9" imgW="4510061" imgH="396786" progId="Word.Document.12">
                  <p:embed/>
                  <p:pic>
                    <p:nvPicPr>
                      <p:cNvPr id="0" name=""/>
                      <p:cNvPicPr/>
                      <p:nvPr/>
                    </p:nvPicPr>
                    <p:blipFill>
                      <a:blip r:embed="rId10"/>
                      <a:stretch>
                        <a:fillRect/>
                      </a:stretch>
                    </p:blipFill>
                    <p:spPr>
                      <a:xfrm>
                        <a:off x="38100" y="4263888"/>
                        <a:ext cx="11430000" cy="1005588"/>
                      </a:xfrm>
                      <a:prstGeom prst="rect">
                        <a:avLst/>
                      </a:prstGeom>
                    </p:spPr>
                  </p:pic>
                </p:oleObj>
              </mc:Fallback>
            </mc:AlternateContent>
          </a:graphicData>
        </a:graphic>
      </p:graphicFrame>
    </p:spTree>
    <p:extLst>
      <p:ext uri="{BB962C8B-B14F-4D97-AF65-F5344CB8AC3E}">
        <p14:creationId xmlns:p14="http://schemas.microsoft.com/office/powerpoint/2010/main" val="39738983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1516267"/>
            <a:ext cx="7851508" cy="652486"/>
          </a:xfrm>
          <a:prstGeom prst="rect">
            <a:avLst/>
          </a:prstGeom>
        </p:spPr>
        <p:txBody>
          <a:bodyPr wrap="none">
            <a:spAutoFit/>
          </a:bodyPr>
          <a:lstStyle/>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2</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zh-CN" altLang="zh-CN" sz="2800" dirty="0" smtClean="0">
                <a:solidFill>
                  <a:srgbClr val="000000"/>
                </a:solidFill>
                <a:latin typeface="Times New Roman" panose="02020603050405020304" pitchFamily="18" charset="0"/>
                <a:cs typeface="Times New Roman" panose="02020603050405020304" pitchFamily="18" charset="0"/>
              </a:rPr>
              <a:t>设</a:t>
            </a:r>
            <a:r>
              <a:rPr lang="en-US" altLang="zh-CN" sz="2800" i="1" dirty="0">
                <a:solidFill>
                  <a:srgbClr val="000000"/>
                </a:solidFill>
                <a:latin typeface="Times New Roman" panose="02020603050405020304" pitchFamily="18" charset="0"/>
                <a:cs typeface="Times New Roman" panose="02020603050405020304" pitchFamily="18" charset="0"/>
              </a:rPr>
              <a:t>P</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z</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P</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z</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是空间中任意两点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smtClean="0">
                <a:solidFill>
                  <a:srgbClr val="000000"/>
                </a:solidFill>
                <a:latin typeface="Times New Roman" panose="02020603050405020304" pitchFamily="18" charset="0"/>
                <a:cs typeface="Times New Roman" panose="02020603050405020304" pitchFamily="18" charset="0"/>
              </a:rPr>
              <a:t>则</a:t>
            </a:r>
            <a:r>
              <a:rPr lang="en-US" altLang="zh-CN" sz="2800"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323070174"/>
              </p:ext>
            </p:extLst>
          </p:nvPr>
        </p:nvGraphicFramePr>
        <p:xfrm>
          <a:off x="381000" y="2249528"/>
          <a:ext cx="11430000" cy="2010264"/>
        </p:xfrm>
        <a:graphic>
          <a:graphicData uri="http://schemas.openxmlformats.org/presentationml/2006/ole">
            <mc:AlternateContent xmlns:mc="http://schemas.openxmlformats.org/markup-compatibility/2006">
              <mc:Choice xmlns:v="urn:schemas-microsoft-com:vml" Requires="v">
                <p:oleObj spid="_x0000_s6164" name="文档" r:id="rId3" imgW="4510061" imgH="793212" progId="Word.Document.12">
                  <p:embed/>
                </p:oleObj>
              </mc:Choice>
              <mc:Fallback>
                <p:oleObj name="文档" r:id="rId3" imgW="4510061" imgH="793212" progId="Word.Document.12">
                  <p:embed/>
                  <p:pic>
                    <p:nvPicPr>
                      <p:cNvPr id="0" name=""/>
                      <p:cNvPicPr/>
                      <p:nvPr/>
                    </p:nvPicPr>
                    <p:blipFill>
                      <a:blip r:embed="rId4"/>
                      <a:stretch>
                        <a:fillRect/>
                      </a:stretch>
                    </p:blipFill>
                    <p:spPr>
                      <a:xfrm>
                        <a:off x="381000" y="2249528"/>
                        <a:ext cx="11430000" cy="2010264"/>
                      </a:xfrm>
                      <a:prstGeom prst="rect">
                        <a:avLst/>
                      </a:prstGeom>
                    </p:spPr>
                  </p:pic>
                </p:oleObj>
              </mc:Fallback>
            </mc:AlternateContent>
          </a:graphicData>
        </a:graphic>
      </p:graphicFrame>
      <p:sp>
        <p:nvSpPr>
          <p:cNvPr id="5" name="矩形 4"/>
          <p:cNvSpPr/>
          <p:nvPr/>
        </p:nvSpPr>
        <p:spPr>
          <a:xfrm>
            <a:off x="2071778" y="2239283"/>
            <a:ext cx="2347708" cy="445849"/>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70282731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565182205"/>
              </p:ext>
            </p:extLst>
          </p:nvPr>
        </p:nvGraphicFramePr>
        <p:xfrm>
          <a:off x="385763" y="337850"/>
          <a:ext cx="11403012" cy="1001712"/>
        </p:xfrm>
        <a:graphic>
          <a:graphicData uri="http://schemas.openxmlformats.org/presentationml/2006/ole">
            <mc:AlternateContent xmlns:mc="http://schemas.openxmlformats.org/markup-compatibility/2006">
              <mc:Choice xmlns:v="urn:schemas-microsoft-com:vml" Requires="v">
                <p:oleObj spid="_x0000_s7224" name="文档" r:id="rId3" imgW="4510061" imgH="397868" progId="Word.Document.12">
                  <p:embed/>
                </p:oleObj>
              </mc:Choice>
              <mc:Fallback>
                <p:oleObj name="文档" r:id="rId3" imgW="4510061" imgH="397868" progId="Word.Document.12">
                  <p:embed/>
                  <p:pic>
                    <p:nvPicPr>
                      <p:cNvPr id="0" name=""/>
                      <p:cNvPicPr/>
                      <p:nvPr/>
                    </p:nvPicPr>
                    <p:blipFill>
                      <a:blip r:embed="rId4"/>
                      <a:stretch>
                        <a:fillRect/>
                      </a:stretch>
                    </p:blipFill>
                    <p:spPr>
                      <a:xfrm>
                        <a:off x="385763" y="337850"/>
                        <a:ext cx="11403012" cy="1001712"/>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540150397"/>
              </p:ext>
            </p:extLst>
          </p:nvPr>
        </p:nvGraphicFramePr>
        <p:xfrm>
          <a:off x="48489" y="1105569"/>
          <a:ext cx="11430000" cy="3518192"/>
        </p:xfrm>
        <a:graphic>
          <a:graphicData uri="http://schemas.openxmlformats.org/presentationml/2006/ole">
            <mc:AlternateContent xmlns:mc="http://schemas.openxmlformats.org/markup-compatibility/2006">
              <mc:Choice xmlns:v="urn:schemas-microsoft-com:vml" Requires="v">
                <p:oleObj spid="_x0000_s7225" name="文档" r:id="rId5" imgW="4510061" imgH="1388212" progId="Word.Document.12">
                  <p:embed/>
                </p:oleObj>
              </mc:Choice>
              <mc:Fallback>
                <p:oleObj name="文档" r:id="rId5" imgW="4510061" imgH="1388212" progId="Word.Document.12">
                  <p:embed/>
                  <p:pic>
                    <p:nvPicPr>
                      <p:cNvPr id="0" name=""/>
                      <p:cNvPicPr/>
                      <p:nvPr/>
                    </p:nvPicPr>
                    <p:blipFill>
                      <a:blip r:embed="rId6"/>
                      <a:stretch>
                        <a:fillRect/>
                      </a:stretch>
                    </p:blipFill>
                    <p:spPr>
                      <a:xfrm>
                        <a:off x="48489" y="1105569"/>
                        <a:ext cx="11430000" cy="3518192"/>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2035296872"/>
              </p:ext>
            </p:extLst>
          </p:nvPr>
        </p:nvGraphicFramePr>
        <p:xfrm>
          <a:off x="48489" y="4728387"/>
          <a:ext cx="11430000" cy="502338"/>
        </p:xfrm>
        <a:graphic>
          <a:graphicData uri="http://schemas.openxmlformats.org/presentationml/2006/ole">
            <mc:AlternateContent xmlns:mc="http://schemas.openxmlformats.org/markup-compatibility/2006">
              <mc:Choice xmlns:v="urn:schemas-microsoft-com:vml" Requires="v">
                <p:oleObj spid="_x0000_s7226" name="文档" r:id="rId7" imgW="4510061" imgH="198213" progId="Word.Document.12">
                  <p:embed/>
                </p:oleObj>
              </mc:Choice>
              <mc:Fallback>
                <p:oleObj name="文档" r:id="rId7" imgW="4510061" imgH="198213" progId="Word.Document.12">
                  <p:embed/>
                  <p:pic>
                    <p:nvPicPr>
                      <p:cNvPr id="0" name=""/>
                      <p:cNvPicPr/>
                      <p:nvPr/>
                    </p:nvPicPr>
                    <p:blipFill>
                      <a:blip r:embed="rId8"/>
                      <a:stretch>
                        <a:fillRect/>
                      </a:stretch>
                    </p:blipFill>
                    <p:spPr>
                      <a:xfrm>
                        <a:off x="48489" y="4728387"/>
                        <a:ext cx="11430000" cy="502338"/>
                      </a:xfrm>
                      <a:prstGeom prst="rect">
                        <a:avLst/>
                      </a:prstGeom>
                    </p:spPr>
                  </p:pic>
                </p:oleObj>
              </mc:Fallback>
            </mc:AlternateContent>
          </a:graphicData>
        </a:graphic>
      </p:graphicFrame>
    </p:spTree>
    <p:extLst>
      <p:ext uri="{BB962C8B-B14F-4D97-AF65-F5344CB8AC3E}">
        <p14:creationId xmlns:p14="http://schemas.microsoft.com/office/powerpoint/2010/main" val="41343651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down)">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126357"/>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【思考辨析】</a:t>
            </a:r>
            <a:r>
              <a:rPr lang="zh-CN" altLang="zh-CN" sz="2800" dirty="0">
                <a:solidFill>
                  <a:srgbClr val="000000"/>
                </a:solidFill>
                <a:latin typeface="NEU-BZ-S92"/>
                <a:ea typeface="Arial" panose="020B0604020202020204" pitchFamily="34" charset="0"/>
                <a:cs typeface="Times New Roman" panose="02020603050405020304" pitchFamily="18" charset="0"/>
              </a:rPr>
              <a:t> </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判断下列说法是否正确</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正确的在后面的括号内画</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Cambria Math" panose="02040503050406030204" pitchFamily="18" charset="0"/>
                <a:ea typeface="NEU-BZ-S9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错误的画</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418046909"/>
              </p:ext>
            </p:extLst>
          </p:nvPr>
        </p:nvGraphicFramePr>
        <p:xfrm>
          <a:off x="381000" y="1229978"/>
          <a:ext cx="11430000" cy="5026119"/>
        </p:xfrm>
        <a:graphic>
          <a:graphicData uri="http://schemas.openxmlformats.org/presentationml/2006/ole">
            <mc:AlternateContent xmlns:mc="http://schemas.openxmlformats.org/markup-compatibility/2006">
              <mc:Choice xmlns:v="urn:schemas-microsoft-com:vml" Requires="v">
                <p:oleObj spid="_x0000_s8212" name="文档" r:id="rId3" imgW="4510061" imgH="1983211" progId="Word.Document.12">
                  <p:embed/>
                </p:oleObj>
              </mc:Choice>
              <mc:Fallback>
                <p:oleObj name="文档" r:id="rId3" imgW="4510061" imgH="1983211" progId="Word.Document.12">
                  <p:embed/>
                  <p:pic>
                    <p:nvPicPr>
                      <p:cNvPr id="0" name=""/>
                      <p:cNvPicPr/>
                      <p:nvPr/>
                    </p:nvPicPr>
                    <p:blipFill>
                      <a:blip r:embed="rId4"/>
                      <a:stretch>
                        <a:fillRect/>
                      </a:stretch>
                    </p:blipFill>
                    <p:spPr>
                      <a:xfrm>
                        <a:off x="381000" y="1229978"/>
                        <a:ext cx="11430000" cy="5026119"/>
                      </a:xfrm>
                      <a:prstGeom prst="rect">
                        <a:avLst/>
                      </a:prstGeom>
                    </p:spPr>
                  </p:pic>
                </p:oleObj>
              </mc:Fallback>
            </mc:AlternateContent>
          </a:graphicData>
        </a:graphic>
      </p:graphicFrame>
      <p:sp>
        <p:nvSpPr>
          <p:cNvPr id="4" name="矩形 3"/>
          <p:cNvSpPr/>
          <p:nvPr/>
        </p:nvSpPr>
        <p:spPr>
          <a:xfrm>
            <a:off x="9088992" y="1541888"/>
            <a:ext cx="709751"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753010" y="3505129"/>
            <a:ext cx="709751"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6200319" y="4232171"/>
            <a:ext cx="709751" cy="587551"/>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6751037" y="5021880"/>
            <a:ext cx="709751" cy="587551"/>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3810410" y="5780416"/>
            <a:ext cx="709751" cy="587551"/>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4928979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0" nodeType="clickEffect">
                                  <p:stCondLst>
                                    <p:cond delay="0"/>
                                  </p:stCondLst>
                                  <p:childTnLst>
                                    <p:animEffect transition="out" filter="wipe(down)">
                                      <p:cBhvr>
                                        <p:cTn id="11" dur="500"/>
                                        <p:tgtEl>
                                          <p:spTgt spid="6"/>
                                        </p:tgtEl>
                                      </p:cBhvr>
                                    </p:animEffect>
                                    <p:set>
                                      <p:cBhvr>
                                        <p:cTn id="12" dur="1" fill="hold">
                                          <p:stCondLst>
                                            <p:cond delay="499"/>
                                          </p:stCondLst>
                                        </p:cTn>
                                        <p:tgtEl>
                                          <p:spTgt spid="6"/>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4" fill="hold" grpId="0" nodeType="clickEffect">
                                  <p:stCondLst>
                                    <p:cond delay="0"/>
                                  </p:stCondLst>
                                  <p:childTnLst>
                                    <p:animEffect transition="out" filter="wipe(down)">
                                      <p:cBhvr>
                                        <p:cTn id="16" dur="500"/>
                                        <p:tgtEl>
                                          <p:spTgt spid="7"/>
                                        </p:tgtEl>
                                      </p:cBhvr>
                                    </p:animEffect>
                                    <p:set>
                                      <p:cBhvr>
                                        <p:cTn id="17" dur="1" fill="hold">
                                          <p:stCondLst>
                                            <p:cond delay="499"/>
                                          </p:stCondLst>
                                        </p:cTn>
                                        <p:tgtEl>
                                          <p:spTgt spid="7"/>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xit" presetSubtype="4" fill="hold" grpId="0" nodeType="clickEffect">
                                  <p:stCondLst>
                                    <p:cond delay="0"/>
                                  </p:stCondLst>
                                  <p:childTnLst>
                                    <p:animEffect transition="out" filter="wipe(down)">
                                      <p:cBhvr>
                                        <p:cTn id="21" dur="500"/>
                                        <p:tgtEl>
                                          <p:spTgt spid="8"/>
                                        </p:tgtEl>
                                      </p:cBhvr>
                                    </p:animEffect>
                                    <p:set>
                                      <p:cBhvr>
                                        <p:cTn id="22" dur="1" fill="hold">
                                          <p:stCondLst>
                                            <p:cond delay="499"/>
                                          </p:stCondLst>
                                        </p:cTn>
                                        <p:tgtEl>
                                          <p:spTgt spid="8"/>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22" presetClass="exit" presetSubtype="4" fill="hold" grpId="0" nodeType="clickEffect">
                                  <p:stCondLst>
                                    <p:cond delay="0"/>
                                  </p:stCondLst>
                                  <p:childTnLst>
                                    <p:animEffect transition="out" filter="wipe(down)">
                                      <p:cBhvr>
                                        <p:cTn id="26" dur="500"/>
                                        <p:tgtEl>
                                          <p:spTgt spid="9"/>
                                        </p:tgtEl>
                                      </p:cBhvr>
                                    </p:animEffect>
                                    <p:set>
                                      <p:cBhvr>
                                        <p:cTn id="27"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180083" y="2636520"/>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735898" y="2665586"/>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2969260" y="2585720"/>
            <a:ext cx="6252845" cy="922020"/>
          </a:xfrm>
          <a:prstGeom prst="rect">
            <a:avLst/>
          </a:prstGeom>
          <a:noFill/>
        </p:spPr>
        <p:txBody>
          <a:bodyPr wrap="square" rtlCol="0">
            <a:spAutoFit/>
          </a:bodyPr>
          <a:lstStyle/>
          <a:p>
            <a:r>
              <a:rPr lang="zh-CN" altLang="en-US" sz="5400" b="1" dirty="0" smtClean="0">
                <a:solidFill>
                  <a:srgbClr val="4D4D4D"/>
                </a:solidFill>
                <a:latin typeface="方正姚体" panose="02010601030101010101" charset="-122"/>
                <a:ea typeface="方正姚体" panose="02010601030101010101" charset="-122"/>
                <a:cs typeface="方正姚体" panose="02010601030101010101" charset="-122"/>
                <a:sym typeface="+mn-ea"/>
              </a:rPr>
              <a:t>合作探究 释疑解惑</a:t>
            </a:r>
            <a:endParaRPr lang="zh-CN" altLang="en-US" sz="5400" b="1" dirty="0">
              <a:solidFill>
                <a:srgbClr val="4D4D4D"/>
              </a:solidFill>
              <a:latin typeface="方正姚体" panose="02010601030101010101" charset="-122"/>
              <a:ea typeface="方正姚体" panose="02010601030101010101" charset="-122"/>
              <a:cs typeface="方正姚体" panose="02010601030101010101"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grpSp>
        <p:nvGrpSpPr>
          <p:cNvPr id="35" name="组合 34"/>
          <p:cNvGrpSpPr/>
          <p:nvPr/>
        </p:nvGrpSpPr>
        <p:grpSpPr>
          <a:xfrm>
            <a:off x="2" y="151371"/>
            <a:ext cx="11336478" cy="433754"/>
            <a:chOff x="381000" y="205656"/>
            <a:chExt cx="11336478" cy="433754"/>
          </a:xfrm>
        </p:grpSpPr>
        <p:sp>
          <p:nvSpPr>
            <p:cNvPr id="36" name="矩形 35"/>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37" name="组合 36"/>
            <p:cNvGrpSpPr/>
            <p:nvPr/>
          </p:nvGrpSpPr>
          <p:grpSpPr>
            <a:xfrm>
              <a:off x="381000" y="205656"/>
              <a:ext cx="11336478" cy="433754"/>
              <a:chOff x="3048000" y="2286000"/>
              <a:chExt cx="4813646" cy="457200"/>
            </a:xfrm>
          </p:grpSpPr>
          <p:sp>
            <p:nvSpPr>
              <p:cNvPr id="38" name="矩形 37"/>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探究一</a:t>
                </a:r>
              </a:p>
            </p:txBody>
          </p:sp>
          <p:sp>
            <p:nvSpPr>
              <p:cNvPr id="39" name="矩形 38"/>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chemeClr val="bg1"/>
                    </a:solidFill>
                  </a:rPr>
                  <a:t>空间点、向量的坐标表示</a:t>
                </a:r>
              </a:p>
            </p:txBody>
          </p:sp>
        </p:grpSp>
      </p:grpSp>
      <p:grpSp>
        <p:nvGrpSpPr>
          <p:cNvPr id="5" name="组合 4"/>
          <p:cNvGrpSpPr/>
          <p:nvPr/>
        </p:nvGrpSpPr>
        <p:grpSpPr>
          <a:xfrm>
            <a:off x="38099" y="1045857"/>
            <a:ext cx="11601450" cy="3387016"/>
            <a:chOff x="38099" y="962729"/>
            <a:chExt cx="11601450" cy="3387016"/>
          </a:xfrm>
        </p:grpSpPr>
        <p:sp>
          <p:nvSpPr>
            <p:cNvPr id="2" name="矩形 1"/>
            <p:cNvSpPr>
              <a:spLocks noChangeAspect="1"/>
            </p:cNvSpPr>
            <p:nvPr/>
          </p:nvSpPr>
          <p:spPr>
            <a:xfrm>
              <a:off x="381000" y="1152651"/>
              <a:ext cx="8930868" cy="2332946"/>
            </a:xfrm>
            <a:prstGeom prst="rect">
              <a:avLst/>
            </a:prstGeom>
          </p:spPr>
          <p:txBody>
            <a:bodyPr wrap="square">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【例</a:t>
              </a:r>
              <a:r>
                <a:rPr lang="en-US" altLang="zh-CN" sz="2800" b="1"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如图</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在直三棱柱</a:t>
              </a:r>
              <a:r>
                <a:rPr lang="en-US" altLang="zh-CN" sz="2800" i="1" dirty="0">
                  <a:solidFill>
                    <a:srgbClr val="000000"/>
                  </a:solidFill>
                  <a:latin typeface="Times New Roman" panose="02020603050405020304" pitchFamily="18" charset="0"/>
                  <a:cs typeface="Times New Roman" panose="02020603050405020304" pitchFamily="18" charset="0"/>
                </a:rPr>
                <a:t>ABC-A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中</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CA=CB=</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BCA=</a:t>
              </a:r>
              <a:r>
                <a:rPr lang="en-US" altLang="zh-CN" sz="2800" dirty="0">
                  <a:solidFill>
                    <a:srgbClr val="000000"/>
                  </a:solidFill>
                  <a:latin typeface="Times New Roman" panose="02020603050405020304" pitchFamily="18" charset="0"/>
                  <a:cs typeface="Times New Roman" panose="02020603050405020304" pitchFamily="18" charset="0"/>
                </a:rPr>
                <a:t>90</a:t>
              </a:r>
              <a:r>
                <a:rPr lang="en-US" altLang="zh-CN" sz="2800"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棱</a:t>
              </a:r>
              <a:r>
                <a:rPr lang="en-US" altLang="zh-CN" sz="2800" i="1" dirty="0">
                  <a:solidFill>
                    <a:srgbClr val="000000"/>
                  </a:solidFill>
                  <a:latin typeface="Times New Roman" panose="02020603050405020304" pitchFamily="18" charset="0"/>
                  <a:cs typeface="Times New Roman" panose="02020603050405020304" pitchFamily="18" charset="0"/>
                </a:rPr>
                <a:t>AA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cs typeface="Times New Roman" panose="02020603050405020304" pitchFamily="18" charset="0"/>
                </a:rPr>
                <a:t>分别为</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cs typeface="Times New Roman" panose="02020603050405020304" pitchFamily="18" charset="0"/>
                </a:rPr>
                <a:t>的中点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试建立适当的空间直角坐标系</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求</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点</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cs typeface="Times New Roman" panose="02020603050405020304" pitchFamily="18" charset="0"/>
                </a:rPr>
                <a:t>的坐标</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07249777"/>
                </p:ext>
              </p:extLst>
            </p:nvPr>
          </p:nvGraphicFramePr>
          <p:xfrm>
            <a:off x="38099" y="3344157"/>
            <a:ext cx="11430000" cy="1005588"/>
          </p:xfrm>
          <a:graphic>
            <a:graphicData uri="http://schemas.openxmlformats.org/presentationml/2006/ole">
              <mc:AlternateContent xmlns:mc="http://schemas.openxmlformats.org/markup-compatibility/2006">
                <mc:Choice xmlns:v="urn:schemas-microsoft-com:vml" Requires="v">
                  <p:oleObj spid="_x0000_s9250" name="文档" r:id="rId3" imgW="4510061" imgH="396786" progId="Word.Document.12">
                    <p:embed/>
                  </p:oleObj>
                </mc:Choice>
                <mc:Fallback>
                  <p:oleObj name="文档" r:id="rId3" imgW="4510061" imgH="396786" progId="Word.Document.12">
                    <p:embed/>
                    <p:pic>
                      <p:nvPicPr>
                        <p:cNvPr id="0" name=""/>
                        <p:cNvPicPr/>
                        <p:nvPr/>
                      </p:nvPicPr>
                      <p:blipFill>
                        <a:blip r:embed="rId4"/>
                        <a:stretch>
                          <a:fillRect/>
                        </a:stretch>
                      </p:blipFill>
                      <p:spPr>
                        <a:xfrm>
                          <a:off x="38099" y="3344157"/>
                          <a:ext cx="11430000" cy="1005588"/>
                        </a:xfrm>
                        <a:prstGeom prst="rect">
                          <a:avLst/>
                        </a:prstGeom>
                      </p:spPr>
                    </p:pic>
                  </p:oleObj>
                </mc:Fallback>
              </mc:AlternateContent>
            </a:graphicData>
          </a:graphic>
        </p:graphicFrame>
        <p:pic>
          <p:nvPicPr>
            <p:cNvPr id="10" name="ZMX1TRA72.eps" descr="id:2147495348;FounderCES"/>
            <p:cNvPicPr/>
            <p:nvPr/>
          </p:nvPicPr>
          <p:blipFill>
            <a:blip r:embed="rId5">
              <a:clrChange>
                <a:clrFrom>
                  <a:srgbClr val="FFFFFF"/>
                </a:clrFrom>
                <a:clrTo>
                  <a:srgbClr val="FFFFFF">
                    <a:alpha val="0"/>
                  </a:srgbClr>
                </a:clrTo>
              </a:clrChange>
            </a:blip>
            <a:stretch>
              <a:fillRect/>
            </a:stretch>
          </p:blipFill>
          <p:spPr>
            <a:xfrm>
              <a:off x="9311868" y="962729"/>
              <a:ext cx="2327681" cy="3117394"/>
            </a:xfrm>
            <a:prstGeom prst="rect">
              <a:avLst/>
            </a:prstGeom>
          </p:spPr>
        </p:pic>
      </p:grpSp>
      <p:sp>
        <p:nvSpPr>
          <p:cNvPr id="6" name="矩形 5"/>
          <p:cNvSpPr>
            <a:spLocks noChangeAspect="1"/>
          </p:cNvSpPr>
          <p:nvPr/>
        </p:nvSpPr>
        <p:spPr>
          <a:xfrm>
            <a:off x="381000" y="4277552"/>
            <a:ext cx="11430000" cy="652486"/>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分析</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利用条件建立适当的空间直角坐标系</a:t>
            </a:r>
            <a:r>
              <a:rPr lang="en-US" altLang="zh-CN" sz="2800" i="1" dirty="0" err="1">
                <a:solidFill>
                  <a:srgbClr val="000000"/>
                </a:solidFill>
                <a:latin typeface="Times New Roman" panose="02020603050405020304" pitchFamily="18" charset="0"/>
                <a:cs typeface="Times New Roman" panose="02020603050405020304" pitchFamily="18" charset="0"/>
              </a:rPr>
              <a:t>Cxyz</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计算点和向量的坐标</a:t>
            </a:r>
            <a:r>
              <a:rPr lang="en-US" altLang="zh-CN" sz="2800" i="1"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grpSp>
        <p:nvGrpSpPr>
          <p:cNvPr id="8" name="组合 7"/>
          <p:cNvGrpSpPr/>
          <p:nvPr/>
        </p:nvGrpSpPr>
        <p:grpSpPr>
          <a:xfrm>
            <a:off x="51955" y="3137309"/>
            <a:ext cx="11759045" cy="3226306"/>
            <a:chOff x="51955" y="3116527"/>
            <a:chExt cx="11759045" cy="3226306"/>
          </a:xfrm>
        </p:grpSpPr>
        <p:sp>
          <p:nvSpPr>
            <p:cNvPr id="3" name="矩形 2"/>
            <p:cNvSpPr>
              <a:spLocks noChangeAspect="1"/>
            </p:cNvSpPr>
            <p:nvPr/>
          </p:nvSpPr>
          <p:spPr>
            <a:xfrm>
              <a:off x="381000" y="3116527"/>
              <a:ext cx="11430000" cy="2272673"/>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所以点</a:t>
              </a:r>
              <a:r>
                <a:rPr lang="en-US" altLang="zh-CN" sz="2800" i="1" dirty="0">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的坐标是</a:t>
              </a:r>
              <a:r>
                <a:rPr lang="en-US" altLang="zh-CN" sz="2800" dirty="0">
                  <a:solidFill>
                    <a:srgbClr val="000000"/>
                  </a:solidFill>
                  <a:latin typeface="Times New Roman" panose="02020603050405020304" pitchFamily="18" charset="0"/>
                  <a:cs typeface="Times New Roman" panose="02020603050405020304" pitchFamily="18" charset="0"/>
                </a:rPr>
                <a:t>(0,1,0)</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同理</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点</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的坐标是</a:t>
              </a:r>
              <a:r>
                <a:rPr lang="en-US" altLang="zh-CN" sz="2800" dirty="0">
                  <a:solidFill>
                    <a:srgbClr val="000000"/>
                  </a:solidFill>
                  <a:latin typeface="Times New Roman" panose="02020603050405020304" pitchFamily="18" charset="0"/>
                  <a:cs typeface="Times New Roman" panose="02020603050405020304" pitchFamily="18" charset="0"/>
                </a:rPr>
                <a:t>(0,0,2)</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点</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在</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i="1" dirty="0">
                  <a:solidFill>
                    <a:srgbClr val="000000"/>
                  </a:solidFill>
                  <a:latin typeface="Times New Roman" panose="02020603050405020304" pitchFamily="18" charset="0"/>
                  <a:cs typeface="Times New Roman" panose="02020603050405020304" pitchFamily="18" charset="0"/>
                </a:rPr>
                <a:t>y</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i="1" dirty="0">
                  <a:solidFill>
                    <a:srgbClr val="000000"/>
                  </a:solidFill>
                  <a:latin typeface="Times New Roman" panose="02020603050405020304" pitchFamily="18" charset="0"/>
                  <a:cs typeface="Times New Roman" panose="02020603050405020304" pitchFamily="18" charset="0"/>
                </a:rPr>
                <a:t>z</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轴上的射影分别为</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它们在坐标轴上的坐标分别为</a:t>
              </a:r>
              <a:r>
                <a:rPr lang="en-US" altLang="zh-CN" sz="2800" dirty="0">
                  <a:solidFill>
                    <a:srgbClr val="000000"/>
                  </a:solidFill>
                  <a:latin typeface="Times New Roman" panose="02020603050405020304" pitchFamily="18" charset="0"/>
                  <a:cs typeface="Times New Roman" panose="02020603050405020304" pitchFamily="18" charset="0"/>
                </a:rPr>
                <a:t>0,1,2,</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所以点</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的坐标是</a:t>
              </a:r>
              <a:r>
                <a:rPr lang="en-US" altLang="zh-CN" sz="2800" dirty="0">
                  <a:solidFill>
                    <a:srgbClr val="000000"/>
                  </a:solidFill>
                  <a:latin typeface="Times New Roman" panose="02020603050405020304" pitchFamily="18" charset="0"/>
                  <a:cs typeface="Times New Roman" panose="02020603050405020304" pitchFamily="18" charset="0"/>
                </a:rPr>
                <a:t>(0,1,2)</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865479844"/>
                </p:ext>
              </p:extLst>
            </p:nvPr>
          </p:nvGraphicFramePr>
          <p:xfrm>
            <a:off x="51955" y="5337245"/>
            <a:ext cx="11430000" cy="1005588"/>
          </p:xfrm>
          <a:graphic>
            <a:graphicData uri="http://schemas.openxmlformats.org/presentationml/2006/ole">
              <mc:AlternateContent xmlns:mc="http://schemas.openxmlformats.org/markup-compatibility/2006">
                <mc:Choice xmlns:v="urn:schemas-microsoft-com:vml" Requires="v">
                  <p:oleObj spid="_x0000_s10282" name="文档" r:id="rId3" imgW="4510061" imgH="396786" progId="Word.Document.12">
                    <p:embed/>
                  </p:oleObj>
                </mc:Choice>
                <mc:Fallback>
                  <p:oleObj name="文档" r:id="rId3" imgW="4510061" imgH="396786" progId="Word.Document.12">
                    <p:embed/>
                    <p:pic>
                      <p:nvPicPr>
                        <p:cNvPr id="0" name=""/>
                        <p:cNvPicPr/>
                        <p:nvPr/>
                      </p:nvPicPr>
                      <p:blipFill>
                        <a:blip r:embed="rId4"/>
                        <a:stretch>
                          <a:fillRect/>
                        </a:stretch>
                      </p:blipFill>
                      <p:spPr>
                        <a:xfrm>
                          <a:off x="51955" y="5337245"/>
                          <a:ext cx="11430000" cy="1005588"/>
                        </a:xfrm>
                        <a:prstGeom prst="rect">
                          <a:avLst/>
                        </a:prstGeom>
                      </p:spPr>
                    </p:pic>
                  </p:oleObj>
                </mc:Fallback>
              </mc:AlternateContent>
            </a:graphicData>
          </a:graphic>
        </p:graphicFrame>
      </p:grpSp>
      <p:graphicFrame>
        <p:nvGraphicFramePr>
          <p:cNvPr id="6" name="对象 5"/>
          <p:cNvGraphicFramePr>
            <a:graphicFrameLocks noChangeAspect="1"/>
          </p:cNvGraphicFramePr>
          <p:nvPr>
            <p:extLst>
              <p:ext uri="{D42A27DB-BD31-4B8C-83A1-F6EECF244321}">
                <p14:modId xmlns:p14="http://schemas.microsoft.com/office/powerpoint/2010/main" val="9186714"/>
              </p:ext>
            </p:extLst>
          </p:nvPr>
        </p:nvGraphicFramePr>
        <p:xfrm>
          <a:off x="51955" y="144687"/>
          <a:ext cx="11275153" cy="3173210"/>
        </p:xfrm>
        <a:graphic>
          <a:graphicData uri="http://schemas.openxmlformats.org/presentationml/2006/ole">
            <mc:AlternateContent xmlns:mc="http://schemas.openxmlformats.org/markup-compatibility/2006">
              <mc:Choice xmlns:v="urn:schemas-microsoft-com:vml" Requires="v">
                <p:oleObj spid="_x0000_s10283" name="文档" r:id="rId5" imgW="4510061" imgH="1269284" progId="Word.Document.12">
                  <p:embed/>
                </p:oleObj>
              </mc:Choice>
              <mc:Fallback>
                <p:oleObj name="文档" r:id="rId5" imgW="4510061" imgH="1269284" progId="Word.Document.12">
                  <p:embed/>
                  <p:pic>
                    <p:nvPicPr>
                      <p:cNvPr id="0" name=""/>
                      <p:cNvPicPr/>
                      <p:nvPr/>
                    </p:nvPicPr>
                    <p:blipFill>
                      <a:blip r:embed="rId6"/>
                      <a:stretch>
                        <a:fillRect/>
                      </a:stretch>
                    </p:blipFill>
                    <p:spPr>
                      <a:xfrm>
                        <a:off x="51955" y="144687"/>
                        <a:ext cx="11275153" cy="3173210"/>
                      </a:xfrm>
                      <a:prstGeom prst="rect">
                        <a:avLst/>
                      </a:prstGeom>
                    </p:spPr>
                  </p:pic>
                </p:oleObj>
              </mc:Fallback>
            </mc:AlternateContent>
          </a:graphicData>
        </a:graphic>
      </p:graphicFrame>
      <p:pic>
        <p:nvPicPr>
          <p:cNvPr id="9" name="ZMX1TRA73.eps" descr="id:2147495355;FounderCES"/>
          <p:cNvPicPr/>
          <p:nvPr/>
        </p:nvPicPr>
        <p:blipFill>
          <a:blip r:embed="rId7">
            <a:clrChange>
              <a:clrFrom>
                <a:srgbClr val="FFFFFF"/>
              </a:clrFrom>
              <a:clrTo>
                <a:srgbClr val="FFFFFF">
                  <a:alpha val="0"/>
                </a:srgbClr>
              </a:clrTo>
            </a:clrChange>
          </a:blip>
          <a:stretch>
            <a:fillRect/>
          </a:stretch>
        </p:blipFill>
        <p:spPr>
          <a:xfrm>
            <a:off x="9650930" y="408403"/>
            <a:ext cx="2128897" cy="3309794"/>
          </a:xfrm>
          <a:prstGeom prst="rect">
            <a:avLst/>
          </a:prstGeom>
        </p:spPr>
      </p:pic>
    </p:spTree>
    <p:extLst>
      <p:ext uri="{BB962C8B-B14F-4D97-AF65-F5344CB8AC3E}">
        <p14:creationId xmlns:p14="http://schemas.microsoft.com/office/powerpoint/2010/main" val="8499633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419966994"/>
              </p:ext>
            </p:extLst>
          </p:nvPr>
        </p:nvGraphicFramePr>
        <p:xfrm>
          <a:off x="41564" y="618698"/>
          <a:ext cx="11430000" cy="4523781"/>
        </p:xfrm>
        <a:graphic>
          <a:graphicData uri="http://schemas.openxmlformats.org/presentationml/2006/ole">
            <mc:AlternateContent xmlns:mc="http://schemas.openxmlformats.org/markup-compatibility/2006">
              <mc:Choice xmlns:v="urn:schemas-microsoft-com:vml" Requires="v">
                <p:oleObj spid="_x0000_s11284" name="文档" r:id="rId3" imgW="4510061" imgH="1784998" progId="Word.Document.12">
                  <p:embed/>
                </p:oleObj>
              </mc:Choice>
              <mc:Fallback>
                <p:oleObj name="文档" r:id="rId3" imgW="4510061" imgH="1784998" progId="Word.Document.12">
                  <p:embed/>
                  <p:pic>
                    <p:nvPicPr>
                      <p:cNvPr id="0" name=""/>
                      <p:cNvPicPr/>
                      <p:nvPr/>
                    </p:nvPicPr>
                    <p:blipFill>
                      <a:blip r:embed="rId4"/>
                      <a:stretch>
                        <a:fillRect/>
                      </a:stretch>
                    </p:blipFill>
                    <p:spPr>
                      <a:xfrm>
                        <a:off x="41564" y="618698"/>
                        <a:ext cx="11430000" cy="4523781"/>
                      </a:xfrm>
                      <a:prstGeom prst="rect">
                        <a:avLst/>
                      </a:prstGeom>
                    </p:spPr>
                  </p:pic>
                </p:oleObj>
              </mc:Fallback>
            </mc:AlternateContent>
          </a:graphicData>
        </a:graphic>
      </p:graphicFrame>
    </p:spTree>
    <p:extLst>
      <p:ext uri="{BB962C8B-B14F-4D97-AF65-F5344CB8AC3E}">
        <p14:creationId xmlns:p14="http://schemas.microsoft.com/office/powerpoint/2010/main" val="5643540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127293"/>
            <a:ext cx="11430000" cy="6254020"/>
          </a:xfrm>
          <a:prstGeom prst="rect">
            <a:avLst/>
          </a:prstGeom>
        </p:spPr>
        <p:txBody>
          <a:bodyPr>
            <a:spAutoFit/>
          </a:bodyPr>
          <a:lstStyle/>
          <a:p>
            <a:pPr indent="280670">
              <a:lnSpc>
                <a:spcPct val="130000"/>
              </a:lnSpc>
              <a:tabLst>
                <a:tab pos="1188085" algn="l"/>
                <a:tab pos="2163445" algn="l"/>
                <a:tab pos="3142615" algn="l"/>
                <a:tab pos="4190365" algn="l"/>
              </a:tabLst>
            </a:pPr>
            <a:r>
              <a:rPr lang="zh-CN" altLang="en-US" sz="28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反思感悟 </a:t>
            </a:r>
            <a:r>
              <a:rPr lang="en-US" altLang="zh-CN" sz="2800" b="1" dirty="0" smtClean="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建立空间直角坐标系</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必须牢牢抓住相交于同一点的两两垂直的三条直线</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要在题目中找出或构造出这样的三条直线</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因此要充分利用题目中所给的垂直关系</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即线线垂直、线面垂直、面面垂直</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要使尽可能多的点落在坐标轴上</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尽可能多的线段平行于坐标轴</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有直角的把直角边放在坐标轴上</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求空间点、向量的坐标的一般步骤</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建系</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根据图形特征建立空间直角坐标</a:t>
            </a:r>
            <a:r>
              <a:rPr lang="zh-CN"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系</a:t>
            </a:r>
            <a:r>
              <a:rPr lang="en-US"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运算</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找出点在</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轴、</a:t>
            </a:r>
            <a:r>
              <a:rPr lang="en-US" altLang="zh-CN" sz="2800" i="1" dirty="0">
                <a:solidFill>
                  <a:srgbClr val="000000"/>
                </a:solidFill>
                <a:latin typeface="Times New Roman" panose="02020603050405020304" pitchFamily="18" charset="0"/>
                <a:cs typeface="Times New Roman" panose="02020603050405020304" pitchFamily="18" charset="0"/>
              </a:rPr>
              <a:t>y</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轴、</a:t>
            </a:r>
            <a:r>
              <a:rPr lang="en-US" altLang="zh-CN" sz="2800" i="1" dirty="0">
                <a:solidFill>
                  <a:srgbClr val="000000"/>
                </a:solidFill>
                <a:latin typeface="Times New Roman" panose="02020603050405020304" pitchFamily="18" charset="0"/>
                <a:cs typeface="Times New Roman" panose="02020603050405020304" pitchFamily="18" charset="0"/>
              </a:rPr>
              <a:t>z</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轴上的射影的</a:t>
            </a:r>
            <a:r>
              <a:rPr lang="zh-CN"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坐标</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zh-CN"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综合利用</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向量的加法、减法及数乘运算表示</a:t>
            </a:r>
            <a:r>
              <a:rPr lang="zh-CN"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向量</a:t>
            </a:r>
            <a:r>
              <a:rPr lang="en-US"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定结果</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根据射影坐标写出点的</a:t>
            </a:r>
            <a:r>
              <a:rPr lang="zh-CN"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坐标</a:t>
            </a:r>
            <a:r>
              <a:rPr lang="en-US"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将</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所求向量用已知的基向量表示出来确定坐标</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4393000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grpSp>
        <p:nvGrpSpPr>
          <p:cNvPr id="5" name="组合 4"/>
          <p:cNvGrpSpPr/>
          <p:nvPr/>
        </p:nvGrpSpPr>
        <p:grpSpPr>
          <a:xfrm>
            <a:off x="41564" y="293255"/>
            <a:ext cx="11769436" cy="5883969"/>
            <a:chOff x="41564" y="272473"/>
            <a:chExt cx="11769436" cy="5883969"/>
          </a:xfrm>
        </p:grpSpPr>
        <p:sp>
          <p:nvSpPr>
            <p:cNvPr id="2" name="矩形 1"/>
            <p:cNvSpPr>
              <a:spLocks noChangeAspect="1"/>
            </p:cNvSpPr>
            <p:nvPr/>
          </p:nvSpPr>
          <p:spPr>
            <a:xfrm>
              <a:off x="381000" y="272473"/>
              <a:ext cx="11430000" cy="5133713"/>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en-US" altLang="zh-CN" sz="2800" b="1"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如图</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已知正方体</a:t>
              </a:r>
              <a:r>
                <a:rPr lang="en-US" altLang="zh-CN" sz="2800" i="1" dirty="0">
                  <a:solidFill>
                    <a:srgbClr val="000000"/>
                  </a:solidFill>
                  <a:latin typeface="Times New Roman" panose="02020603050405020304" pitchFamily="18" charset="0"/>
                  <a:cs typeface="Times New Roman" panose="02020603050405020304" pitchFamily="18" charset="0"/>
                </a:rPr>
                <a:t>ABCD-A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的棱长为</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E</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F</a:t>
              </a:r>
              <a:r>
                <a:rPr lang="zh-CN" altLang="zh-CN" sz="2800" dirty="0">
                  <a:solidFill>
                    <a:srgbClr val="000000"/>
                  </a:solidFill>
                  <a:latin typeface="Times New Roman" panose="02020603050405020304" pitchFamily="18" charset="0"/>
                  <a:cs typeface="Times New Roman" panose="02020603050405020304" pitchFamily="18" charset="0"/>
                </a:rPr>
                <a:t>分别为棱</a:t>
              </a:r>
              <a:r>
                <a:rPr lang="en-US" altLang="zh-CN" sz="2800" i="1" dirty="0">
                  <a:solidFill>
                    <a:srgbClr val="000000"/>
                  </a:solidFill>
                  <a:latin typeface="Times New Roman" panose="02020603050405020304" pitchFamily="18" charset="0"/>
                  <a:cs typeface="Times New Roman" panose="02020603050405020304" pitchFamily="18" charset="0"/>
                </a:rPr>
                <a:t>BB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DC</a:t>
              </a:r>
              <a:r>
                <a:rPr lang="zh-CN" altLang="zh-CN" sz="2800" dirty="0">
                  <a:solidFill>
                    <a:srgbClr val="000000"/>
                  </a:solidFill>
                  <a:latin typeface="Times New Roman" panose="02020603050405020304" pitchFamily="18" charset="0"/>
                  <a:cs typeface="Times New Roman" panose="02020603050405020304" pitchFamily="18" charset="0"/>
                </a:rPr>
                <a:t>的中点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建立空间直角坐标系</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endParaRPr lang="en-US" altLang="zh-CN" sz="2800" dirty="0" smtClean="0">
                <a:solidFill>
                  <a:srgbClr val="000000"/>
                </a:solidFill>
                <a:latin typeface="Times New Roman" panose="02020603050405020304" pitchFamily="18" charset="0"/>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endParaRPr lang="en-US" altLang="zh-CN" sz="2800" dirty="0">
                <a:solidFill>
                  <a:srgbClr val="000000"/>
                </a:solidFill>
                <a:latin typeface="Times New Roman" panose="02020603050405020304" pitchFamily="18" charset="0"/>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endParaRPr lang="en-US" altLang="zh-CN" sz="2800" dirty="0" smtClean="0">
                <a:solidFill>
                  <a:srgbClr val="000000"/>
                </a:solidFill>
                <a:latin typeface="Times New Roman" panose="02020603050405020304" pitchFamily="18" charset="0"/>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endParaRPr lang="en-US" altLang="zh-CN" sz="2800" dirty="0">
                <a:solidFill>
                  <a:srgbClr val="000000"/>
                </a:solidFill>
                <a:latin typeface="Times New Roman" panose="02020603050405020304" pitchFamily="18" charset="0"/>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endParaRPr lang="en-US" altLang="zh-CN" sz="2800" dirty="0" smtClean="0">
                <a:solidFill>
                  <a:srgbClr val="000000"/>
                </a:solidFill>
                <a:latin typeface="Times New Roman" panose="02020603050405020304" pitchFamily="18" charset="0"/>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endParaRPr lang="en-US" altLang="zh-CN" sz="2800" dirty="0">
                <a:solidFill>
                  <a:srgbClr val="000000"/>
                </a:solidFill>
                <a:latin typeface="Times New Roman" panose="02020603050405020304" pitchFamily="18" charset="0"/>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smtClean="0">
                  <a:solidFill>
                    <a:srgbClr val="000000"/>
                  </a:solidFill>
                  <a:latin typeface="Times New Roman" panose="02020603050405020304" pitchFamily="18" charset="0"/>
                  <a:cs typeface="Times New Roman" panose="02020603050405020304" pitchFamily="18" charset="0"/>
                </a:rPr>
                <a:t>写出</a:t>
              </a:r>
              <a:r>
                <a:rPr lang="zh-CN" altLang="en-US" sz="2800" dirty="0">
                  <a:solidFill>
                    <a:srgbClr val="000000"/>
                  </a:solidFill>
                  <a:latin typeface="Times New Roman" panose="02020603050405020304" pitchFamily="18" charset="0"/>
                  <a:cs typeface="Times New Roman" panose="02020603050405020304" pitchFamily="18" charset="0"/>
                </a:rPr>
                <a:t>正方体</a:t>
              </a:r>
              <a:r>
                <a:rPr lang="zh-CN" altLang="zh-CN" sz="2800" dirty="0" smtClean="0">
                  <a:solidFill>
                    <a:srgbClr val="000000"/>
                  </a:solidFill>
                  <a:latin typeface="Times New Roman" panose="02020603050405020304" pitchFamily="18" charset="0"/>
                  <a:cs typeface="Times New Roman" panose="02020603050405020304" pitchFamily="18" charset="0"/>
                </a:rPr>
                <a:t>各</a:t>
              </a:r>
              <a:r>
                <a:rPr lang="zh-CN" altLang="zh-CN" sz="2800" dirty="0">
                  <a:solidFill>
                    <a:srgbClr val="000000"/>
                  </a:solidFill>
                  <a:latin typeface="Times New Roman" panose="02020603050405020304" pitchFamily="18" charset="0"/>
                  <a:cs typeface="Times New Roman" panose="02020603050405020304" pitchFamily="18" charset="0"/>
                </a:rPr>
                <a:t>顶点的坐标</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522490575"/>
                </p:ext>
              </p:extLst>
            </p:nvPr>
          </p:nvGraphicFramePr>
          <p:xfrm>
            <a:off x="41564" y="5150854"/>
            <a:ext cx="11430000" cy="1005588"/>
          </p:xfrm>
          <a:graphic>
            <a:graphicData uri="http://schemas.openxmlformats.org/presentationml/2006/ole">
              <mc:AlternateContent xmlns:mc="http://schemas.openxmlformats.org/markup-compatibility/2006">
                <mc:Choice xmlns:v="urn:schemas-microsoft-com:vml" Requires="v">
                  <p:oleObj spid="_x0000_s12310" name="文档" r:id="rId3" imgW="4510061" imgH="396786" progId="Word.Document.12">
                    <p:embed/>
                  </p:oleObj>
                </mc:Choice>
                <mc:Fallback>
                  <p:oleObj name="文档" r:id="rId3" imgW="4510061" imgH="396786" progId="Word.Document.12">
                    <p:embed/>
                    <p:pic>
                      <p:nvPicPr>
                        <p:cNvPr id="0" name=""/>
                        <p:cNvPicPr/>
                        <p:nvPr/>
                      </p:nvPicPr>
                      <p:blipFill>
                        <a:blip r:embed="rId4"/>
                        <a:stretch>
                          <a:fillRect/>
                        </a:stretch>
                      </p:blipFill>
                      <p:spPr>
                        <a:xfrm>
                          <a:off x="41564" y="5150854"/>
                          <a:ext cx="11430000" cy="1005588"/>
                        </a:xfrm>
                        <a:prstGeom prst="rect">
                          <a:avLst/>
                        </a:prstGeom>
                      </p:spPr>
                    </p:pic>
                  </p:oleObj>
                </mc:Fallback>
              </mc:AlternateContent>
            </a:graphicData>
          </a:graphic>
        </p:graphicFrame>
        <p:pic>
          <p:nvPicPr>
            <p:cNvPr id="4" name="ZMX1TRA74.eps" descr="id:2147495369;FounderCES"/>
            <p:cNvPicPr>
              <a:picLocks noChangeAspect="1"/>
            </p:cNvPicPr>
            <p:nvPr/>
          </p:nvPicPr>
          <p:blipFill>
            <a:blip r:embed="rId5">
              <a:clrChange>
                <a:clrFrom>
                  <a:srgbClr val="FFFFFF"/>
                </a:clrFrom>
                <a:clrTo>
                  <a:srgbClr val="FFFFFF">
                    <a:alpha val="0"/>
                  </a:srgbClr>
                </a:clrTo>
              </a:clrChange>
            </a:blip>
            <a:stretch>
              <a:fillRect/>
            </a:stretch>
          </p:blipFill>
          <p:spPr>
            <a:xfrm>
              <a:off x="4591062" y="1618850"/>
              <a:ext cx="3009876" cy="2939119"/>
            </a:xfrm>
            <a:prstGeom prst="rect">
              <a:avLst/>
            </a:prstGeom>
          </p:spPr>
        </p:pic>
      </p:grpSp>
    </p:spTree>
    <p:extLst>
      <p:ext uri="{BB962C8B-B14F-4D97-AF65-F5344CB8AC3E}">
        <p14:creationId xmlns:p14="http://schemas.microsoft.com/office/powerpoint/2010/main" val="27452258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38099" y="705361"/>
            <a:ext cx="11772901" cy="4479432"/>
            <a:chOff x="38099" y="933963"/>
            <a:chExt cx="11772901" cy="4479432"/>
          </a:xfrm>
        </p:grpSpPr>
        <p:sp>
          <p:nvSpPr>
            <p:cNvPr id="2" name="矩形 1"/>
            <p:cNvSpPr>
              <a:spLocks noChangeAspect="1"/>
            </p:cNvSpPr>
            <p:nvPr/>
          </p:nvSpPr>
          <p:spPr>
            <a:xfrm>
              <a:off x="381000" y="933963"/>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设</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i="1" dirty="0">
                  <a:solidFill>
                    <a:srgbClr val="000000"/>
                  </a:solidFill>
                  <a:latin typeface="Times New Roman" panose="02020603050405020304" pitchFamily="18" charset="0"/>
                  <a:cs typeface="Times New Roman" panose="02020603050405020304" pitchFamily="18" charset="0"/>
                </a:rPr>
                <a:t>y</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i="1" dirty="0">
                  <a:solidFill>
                    <a:srgbClr val="000000"/>
                  </a:solidFill>
                  <a:latin typeface="Times New Roman" panose="02020603050405020304" pitchFamily="18" charset="0"/>
                  <a:cs typeface="Times New Roman" panose="02020603050405020304" pitchFamily="18" charset="0"/>
                </a:rPr>
                <a:t>z</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轴的单位向量分别为</a:t>
              </a:r>
              <a:r>
                <a:rPr lang="en-US" altLang="zh-CN" sz="2800" b="1" dirty="0" err="1">
                  <a:solidFill>
                    <a:srgbClr val="000000"/>
                  </a:solidFill>
                  <a:latin typeface="Times New Roman" panose="02020603050405020304" pitchFamily="18" charset="0"/>
                  <a:cs typeface="Times New Roman" panose="02020603050405020304" pitchFamily="18" charset="0"/>
                </a:rPr>
                <a:t>i</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j</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k</a:t>
              </a:r>
              <a:r>
                <a:rPr lang="en-US" altLang="zh-CN" sz="2800" b="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因为正方体的棱长为</a:t>
              </a:r>
              <a:r>
                <a:rPr lang="en-US" altLang="zh-CN" sz="2800" dirty="0">
                  <a:solidFill>
                    <a:srgbClr val="000000"/>
                  </a:solidFill>
                  <a:latin typeface="Times New Roman" panose="02020603050405020304" pitchFamily="18" charset="0"/>
                  <a:cs typeface="Times New Roman" panose="02020603050405020304" pitchFamily="18" charset="0"/>
                </a:rPr>
                <a:t>2,</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1735926765"/>
                </p:ext>
              </p:extLst>
            </p:nvPr>
          </p:nvGraphicFramePr>
          <p:xfrm>
            <a:off x="38099" y="1962160"/>
            <a:ext cx="11430000" cy="1005588"/>
          </p:xfrm>
          <a:graphic>
            <a:graphicData uri="http://schemas.openxmlformats.org/presentationml/2006/ole">
              <mc:AlternateContent xmlns:mc="http://schemas.openxmlformats.org/markup-compatibility/2006">
                <mc:Choice xmlns:v="urn:schemas-microsoft-com:vml" Requires="v">
                  <p:oleObj spid="_x0000_s13350" name="文档" r:id="rId3" imgW="4510061" imgH="396786" progId="Word.Document.12">
                    <p:embed/>
                  </p:oleObj>
                </mc:Choice>
                <mc:Fallback>
                  <p:oleObj name="文档" r:id="rId3" imgW="4510061" imgH="396786" progId="Word.Document.12">
                    <p:embed/>
                    <p:pic>
                      <p:nvPicPr>
                        <p:cNvPr id="0" name=""/>
                        <p:cNvPicPr/>
                        <p:nvPr/>
                      </p:nvPicPr>
                      <p:blipFill>
                        <a:blip r:embed="rId4"/>
                        <a:stretch>
                          <a:fillRect/>
                        </a:stretch>
                      </p:blipFill>
                      <p:spPr>
                        <a:xfrm>
                          <a:off x="38099" y="1962160"/>
                          <a:ext cx="11430000" cy="1005588"/>
                        </a:xfrm>
                        <a:prstGeom prst="rect">
                          <a:avLst/>
                        </a:prstGeom>
                      </p:spPr>
                    </p:pic>
                  </p:oleObj>
                </mc:Fallback>
              </mc:AlternateContent>
            </a:graphicData>
          </a:graphic>
        </p:graphicFrame>
        <p:sp>
          <p:nvSpPr>
            <p:cNvPr id="4" name="矩形 3"/>
            <p:cNvSpPr>
              <a:spLocks noChangeAspect="1"/>
            </p:cNvSpPr>
            <p:nvPr/>
          </p:nvSpPr>
          <p:spPr>
            <a:xfrm>
              <a:off x="381000" y="2804326"/>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因为</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dirty="0">
                  <a:solidFill>
                    <a:srgbClr val="000000"/>
                  </a:solidFill>
                  <a:latin typeface="Times New Roman" panose="02020603050405020304" pitchFamily="18" charset="0"/>
                  <a:cs typeface="Times New Roman" panose="02020603050405020304" pitchFamily="18" charset="0"/>
                </a:rPr>
                <a:t>(0,0,0),</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(2,0,0),</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dirty="0">
                  <a:solidFill>
                    <a:srgbClr val="000000"/>
                  </a:solidFill>
                  <a:latin typeface="Times New Roman" panose="02020603050405020304" pitchFamily="18" charset="0"/>
                  <a:cs typeface="Times New Roman" panose="02020603050405020304" pitchFamily="18" charset="0"/>
                </a:rPr>
                <a:t>(0,2,0),</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(0,0,2)</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186209500"/>
                </p:ext>
              </p:extLst>
            </p:nvPr>
          </p:nvGraphicFramePr>
          <p:xfrm>
            <a:off x="38099" y="3915129"/>
            <a:ext cx="11430000" cy="1005588"/>
          </p:xfrm>
          <a:graphic>
            <a:graphicData uri="http://schemas.openxmlformats.org/presentationml/2006/ole">
              <mc:AlternateContent xmlns:mc="http://schemas.openxmlformats.org/markup-compatibility/2006">
                <mc:Choice xmlns:v="urn:schemas-microsoft-com:vml" Requires="v">
                  <p:oleObj spid="_x0000_s13351" name="文档" r:id="rId5" imgW="4510061" imgH="396786" progId="Word.Document.12">
                    <p:embed/>
                  </p:oleObj>
                </mc:Choice>
                <mc:Fallback>
                  <p:oleObj name="文档" r:id="rId5" imgW="4510061" imgH="396786" progId="Word.Document.12">
                    <p:embed/>
                    <p:pic>
                      <p:nvPicPr>
                        <p:cNvPr id="0" name=""/>
                        <p:cNvPicPr/>
                        <p:nvPr/>
                      </p:nvPicPr>
                      <p:blipFill>
                        <a:blip r:embed="rId6"/>
                        <a:stretch>
                          <a:fillRect/>
                        </a:stretch>
                      </p:blipFill>
                      <p:spPr>
                        <a:xfrm>
                          <a:off x="38099" y="3915129"/>
                          <a:ext cx="11430000" cy="1005588"/>
                        </a:xfrm>
                        <a:prstGeom prst="rect">
                          <a:avLst/>
                        </a:prstGeom>
                      </p:spPr>
                    </p:pic>
                  </p:oleObj>
                </mc:Fallback>
              </mc:AlternateContent>
            </a:graphicData>
          </a:graphic>
        </p:graphicFrame>
        <p:sp>
          <p:nvSpPr>
            <p:cNvPr id="6" name="矩形 5"/>
            <p:cNvSpPr>
              <a:spLocks noChangeAspect="1"/>
            </p:cNvSpPr>
            <p:nvPr/>
          </p:nvSpPr>
          <p:spPr>
            <a:xfrm>
              <a:off x="381000" y="4760909"/>
              <a:ext cx="6266459" cy="652486"/>
            </a:xfrm>
            <a:prstGeom prst="rect">
              <a:avLst/>
            </a:prstGeom>
          </p:spPr>
          <p:txBody>
            <a:bodyPr wrap="none">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同理可得</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(2,0,2),</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(2,2,2),</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(0,2,2</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zh-CN" altLang="en-US" sz="2800" i="1"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pSp>
    </p:spTree>
    <p:extLst>
      <p:ext uri="{BB962C8B-B14F-4D97-AF65-F5344CB8AC3E}">
        <p14:creationId xmlns:p14="http://schemas.microsoft.com/office/powerpoint/2010/main" val="9932925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4289101243"/>
              </p:ext>
            </p:extLst>
          </p:nvPr>
        </p:nvGraphicFramePr>
        <p:xfrm>
          <a:off x="38099" y="1131884"/>
          <a:ext cx="11430000" cy="3518192"/>
        </p:xfrm>
        <a:graphic>
          <a:graphicData uri="http://schemas.openxmlformats.org/presentationml/2006/ole">
            <mc:AlternateContent xmlns:mc="http://schemas.openxmlformats.org/markup-compatibility/2006">
              <mc:Choice xmlns:v="urn:schemas-microsoft-com:vml" Requires="v">
                <p:oleObj spid="_x0000_s14356" name="文档" r:id="rId3" imgW="4510061" imgH="1388212" progId="Word.Document.12">
                  <p:embed/>
                </p:oleObj>
              </mc:Choice>
              <mc:Fallback>
                <p:oleObj name="文档" r:id="rId3" imgW="4510061" imgH="1388212" progId="Word.Document.12">
                  <p:embed/>
                  <p:pic>
                    <p:nvPicPr>
                      <p:cNvPr id="0" name=""/>
                      <p:cNvPicPr/>
                      <p:nvPr/>
                    </p:nvPicPr>
                    <p:blipFill>
                      <a:blip r:embed="rId4"/>
                      <a:stretch>
                        <a:fillRect/>
                      </a:stretch>
                    </p:blipFill>
                    <p:spPr>
                      <a:xfrm>
                        <a:off x="38099" y="1131884"/>
                        <a:ext cx="11430000" cy="3518192"/>
                      </a:xfrm>
                      <a:prstGeom prst="rect">
                        <a:avLst/>
                      </a:prstGeom>
                    </p:spPr>
                  </p:pic>
                </p:oleObj>
              </mc:Fallback>
            </mc:AlternateContent>
          </a:graphicData>
        </a:graphic>
      </p:graphicFrame>
    </p:spTree>
    <p:extLst>
      <p:ext uri="{BB962C8B-B14F-4D97-AF65-F5344CB8AC3E}">
        <p14:creationId xmlns:p14="http://schemas.microsoft.com/office/powerpoint/2010/main" val="22676960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2" y="151371"/>
            <a:ext cx="11336478" cy="433754"/>
            <a:chOff x="381000" y="205656"/>
            <a:chExt cx="11336478" cy="433754"/>
          </a:xfrm>
        </p:grpSpPr>
        <p:sp>
          <p:nvSpPr>
            <p:cNvPr id="10" name="矩形 9"/>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11" name="组合 10"/>
            <p:cNvGrpSpPr/>
            <p:nvPr/>
          </p:nvGrpSpPr>
          <p:grpSpPr>
            <a:xfrm>
              <a:off x="381000" y="205656"/>
              <a:ext cx="11336478" cy="433754"/>
              <a:chOff x="3048000" y="2286000"/>
              <a:chExt cx="4813646" cy="457200"/>
            </a:xfrm>
          </p:grpSpPr>
          <p:sp>
            <p:nvSpPr>
              <p:cNvPr id="12" name="矩形 11"/>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探究二</a:t>
                </a:r>
              </a:p>
            </p:txBody>
          </p:sp>
          <p:sp>
            <p:nvSpPr>
              <p:cNvPr id="13" name="矩形 12"/>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chemeClr val="bg1"/>
                    </a:solidFill>
                  </a:rPr>
                  <a:t>空间向量的坐标运算</a:t>
                </a:r>
              </a:p>
            </p:txBody>
          </p:sp>
        </p:grpSp>
      </p:grpSp>
      <p:graphicFrame>
        <p:nvGraphicFramePr>
          <p:cNvPr id="2" name="对象 1"/>
          <p:cNvGraphicFramePr>
            <a:graphicFrameLocks noChangeAspect="1"/>
          </p:cNvGraphicFramePr>
          <p:nvPr>
            <p:extLst>
              <p:ext uri="{D42A27DB-BD31-4B8C-83A1-F6EECF244321}">
                <p14:modId xmlns:p14="http://schemas.microsoft.com/office/powerpoint/2010/main" val="3489988976"/>
              </p:ext>
            </p:extLst>
          </p:nvPr>
        </p:nvGraphicFramePr>
        <p:xfrm>
          <a:off x="381000" y="1202315"/>
          <a:ext cx="11430000" cy="1507927"/>
        </p:xfrm>
        <a:graphic>
          <a:graphicData uri="http://schemas.openxmlformats.org/presentationml/2006/ole">
            <mc:AlternateContent xmlns:mc="http://schemas.openxmlformats.org/markup-compatibility/2006">
              <mc:Choice xmlns:v="urn:schemas-microsoft-com:vml" Requires="v">
                <p:oleObj spid="_x0000_s15378" name="文档" r:id="rId3" imgW="4510061" imgH="594999" progId="Word.Document.12">
                  <p:embed/>
                </p:oleObj>
              </mc:Choice>
              <mc:Fallback>
                <p:oleObj name="文档" r:id="rId3" imgW="4510061" imgH="594999" progId="Word.Document.12">
                  <p:embed/>
                  <p:pic>
                    <p:nvPicPr>
                      <p:cNvPr id="0" name=""/>
                      <p:cNvPicPr/>
                      <p:nvPr/>
                    </p:nvPicPr>
                    <p:blipFill>
                      <a:blip r:embed="rId4"/>
                      <a:stretch>
                        <a:fillRect/>
                      </a:stretch>
                    </p:blipFill>
                    <p:spPr>
                      <a:xfrm>
                        <a:off x="381000" y="1202315"/>
                        <a:ext cx="11430000" cy="1507927"/>
                      </a:xfrm>
                      <a:prstGeom prst="rect">
                        <a:avLst/>
                      </a:prstGeom>
                    </p:spPr>
                  </p:pic>
                </p:oleObj>
              </mc:Fallback>
            </mc:AlternateContent>
          </a:graphicData>
        </a:graphic>
      </p:graphicFrame>
      <p:sp>
        <p:nvSpPr>
          <p:cNvPr id="3" name="矩形 2"/>
          <p:cNvSpPr>
            <a:spLocks noChangeAspect="1"/>
          </p:cNvSpPr>
          <p:nvPr/>
        </p:nvSpPr>
        <p:spPr>
          <a:xfrm>
            <a:off x="381000" y="2536072"/>
            <a:ext cx="11430000" cy="283282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b="1" dirty="0">
                <a:solidFill>
                  <a:srgbClr val="000000"/>
                </a:solidFill>
                <a:latin typeface="Times New Roman" panose="02020603050405020304" pitchFamily="18" charset="0"/>
                <a:cs typeface="Times New Roman" panose="02020603050405020304" pitchFamily="18" charset="0"/>
              </a:rPr>
              <a:t>p+</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b="1" dirty="0">
                <a:solidFill>
                  <a:srgbClr val="000000"/>
                </a:solidFill>
                <a:latin typeface="Times New Roman" panose="02020603050405020304" pitchFamily="18" charset="0"/>
                <a:cs typeface="Times New Roman" panose="02020603050405020304" pitchFamily="18" charset="0"/>
              </a:rPr>
              <a:t>q</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(2)3</a:t>
            </a:r>
            <a:r>
              <a:rPr lang="en-US" altLang="zh-CN" sz="2800" b="1" dirty="0">
                <a:solidFill>
                  <a:srgbClr val="000000"/>
                </a:solidFill>
                <a:latin typeface="Times New Roman" panose="02020603050405020304" pitchFamily="18" charset="0"/>
                <a:cs typeface="Times New Roman" panose="02020603050405020304" pitchFamily="18" charset="0"/>
              </a:rPr>
              <a:t>p-q</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b="1" dirty="0">
                <a:solidFill>
                  <a:srgbClr val="000000"/>
                </a:solidFill>
                <a:latin typeface="Times New Roman" panose="02020603050405020304" pitchFamily="18" charset="0"/>
                <a:cs typeface="Times New Roman" panose="02020603050405020304" pitchFamily="18" charset="0"/>
              </a:rPr>
              <a:t>p-q</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p+q</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dirty="0" err="1">
                <a:solidFill>
                  <a:srgbClr val="000000"/>
                </a:solidFill>
                <a:latin typeface="Times New Roman" panose="02020603050405020304" pitchFamily="18" charset="0"/>
                <a:cs typeface="Times New Roman" panose="02020603050405020304" pitchFamily="18" charset="0"/>
              </a:rPr>
              <a:t>cos</a:t>
            </a:r>
            <a:r>
              <a:rPr lang="en-US" altLang="zh-CN" sz="2800" i="1" dirty="0">
                <a:solidFill>
                  <a:srgbClr val="000000"/>
                </a:solidFill>
                <a:latin typeface="Times New Roman" panose="02020603050405020304" pitchFamily="18" charset="0"/>
                <a:cs typeface="Times New Roman" panose="02020603050405020304" pitchFamily="18" charset="0"/>
              </a:rPr>
              <a:t>&lt;</a:t>
            </a:r>
            <a:r>
              <a:rPr lang="en-US" altLang="zh-CN" sz="2800" b="1" dirty="0" err="1">
                <a:solidFill>
                  <a:srgbClr val="000000"/>
                </a:solidFill>
                <a:latin typeface="Times New Roman" panose="02020603050405020304" pitchFamily="18" charset="0"/>
                <a:cs typeface="Times New Roman" panose="02020603050405020304" pitchFamily="18" charset="0"/>
              </a:rPr>
              <a:t>p</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q</a:t>
            </a:r>
            <a:r>
              <a:rPr lang="en-US" altLang="zh-CN" sz="2800" i="1" dirty="0">
                <a:solidFill>
                  <a:srgbClr val="000000"/>
                </a:solidFill>
                <a:latin typeface="Times New Roman" panose="02020603050405020304" pitchFamily="18" charset="0"/>
                <a:cs typeface="Times New Roman" panose="02020603050405020304" pitchFamily="18" charset="0"/>
              </a:rPr>
              <a:t>&gt;.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分析</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先由点的坐标计算得到向量</a:t>
            </a:r>
            <a:r>
              <a:rPr lang="en-US" altLang="zh-CN" sz="2800" b="1" dirty="0" err="1">
                <a:solidFill>
                  <a:srgbClr val="000000"/>
                </a:solidFill>
                <a:latin typeface="Times New Roman" panose="02020603050405020304" pitchFamily="18" charset="0"/>
                <a:cs typeface="Times New Roman" panose="02020603050405020304" pitchFamily="18" charset="0"/>
              </a:rPr>
              <a:t>p</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q</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的坐标</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然后再进行各种运算</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wipe(down)">
                                      <p:cBhvr>
                                        <p:cTn id="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50055"/>
            <a:ext cx="7345281" cy="652486"/>
          </a:xfrm>
          <a:prstGeom prst="rect">
            <a:avLst/>
          </a:prstGeom>
        </p:spPr>
        <p:txBody>
          <a:bodyPr wrap="none">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因为</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1,2,1),</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(1,3,4),</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1,4),</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4091279487"/>
              </p:ext>
            </p:extLst>
          </p:nvPr>
        </p:nvGraphicFramePr>
        <p:xfrm>
          <a:off x="31173" y="469778"/>
          <a:ext cx="11430000" cy="1005588"/>
        </p:xfrm>
        <a:graphic>
          <a:graphicData uri="http://schemas.openxmlformats.org/presentationml/2006/ole">
            <mc:AlternateContent xmlns:mc="http://schemas.openxmlformats.org/markup-compatibility/2006">
              <mc:Choice xmlns:v="urn:schemas-microsoft-com:vml" Requires="v">
                <p:oleObj spid="_x0000_s16420" name="文档" r:id="rId3" imgW="4510061" imgH="396786" progId="Word.Document.12">
                  <p:embed/>
                </p:oleObj>
              </mc:Choice>
              <mc:Fallback>
                <p:oleObj name="文档" r:id="rId3" imgW="4510061" imgH="396786" progId="Word.Document.12">
                  <p:embed/>
                  <p:pic>
                    <p:nvPicPr>
                      <p:cNvPr id="0" name=""/>
                      <p:cNvPicPr/>
                      <p:nvPr/>
                    </p:nvPicPr>
                    <p:blipFill>
                      <a:blip r:embed="rId4"/>
                      <a:stretch>
                        <a:fillRect/>
                      </a:stretch>
                    </p:blipFill>
                    <p:spPr>
                      <a:xfrm>
                        <a:off x="31173" y="469778"/>
                        <a:ext cx="11430000" cy="1005588"/>
                      </a:xfrm>
                      <a:prstGeom prst="rect">
                        <a:avLst/>
                      </a:prstGeom>
                    </p:spPr>
                  </p:pic>
                </p:oleObj>
              </mc:Fallback>
            </mc:AlternateContent>
          </a:graphicData>
        </a:graphic>
      </p:graphicFrame>
      <p:sp>
        <p:nvSpPr>
          <p:cNvPr id="4" name="矩形 3"/>
          <p:cNvSpPr>
            <a:spLocks noChangeAspect="1"/>
          </p:cNvSpPr>
          <p:nvPr/>
        </p:nvSpPr>
        <p:spPr>
          <a:xfrm>
            <a:off x="381000" y="1270855"/>
            <a:ext cx="11430000" cy="171252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b="1" dirty="0">
                <a:solidFill>
                  <a:srgbClr val="000000"/>
                </a:solidFill>
                <a:latin typeface="Times New Roman" panose="02020603050405020304" pitchFamily="18" charset="0"/>
                <a:cs typeface="Times New Roman" panose="02020603050405020304" pitchFamily="18" charset="0"/>
              </a:rPr>
              <a:t>p+</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b="1" dirty="0">
                <a:solidFill>
                  <a:srgbClr val="000000"/>
                </a:solidFill>
                <a:latin typeface="Times New Roman" panose="02020603050405020304" pitchFamily="18" charset="0"/>
                <a:cs typeface="Times New Roman" panose="02020603050405020304" pitchFamily="18" charset="0"/>
              </a:rPr>
              <a:t>q</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(2,1,3)</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2(2,0,</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6)</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(2,1,3)</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(4,0,</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(6,1,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9)</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(2)3</a:t>
            </a:r>
            <a:r>
              <a:rPr lang="en-US" altLang="zh-CN" sz="2800" b="1" dirty="0">
                <a:solidFill>
                  <a:srgbClr val="000000"/>
                </a:solidFill>
                <a:latin typeface="Times New Roman" panose="02020603050405020304" pitchFamily="18" charset="0"/>
                <a:cs typeface="Times New Roman" panose="02020603050405020304" pitchFamily="18" charset="0"/>
              </a:rPr>
              <a:t>p-q</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3(2,1,3)</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(2,0,</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6)</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(6,3,9)</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(2,0,</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6)</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(4,3,15)</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b="1" dirty="0">
                <a:solidFill>
                  <a:srgbClr val="000000"/>
                </a:solidFill>
                <a:latin typeface="Times New Roman" panose="02020603050405020304" pitchFamily="18" charset="0"/>
                <a:cs typeface="Times New Roman" panose="02020603050405020304" pitchFamily="18" charset="0"/>
              </a:rPr>
              <a:t>p-q</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p+q</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=p</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b="1" dirty="0">
                <a:solidFill>
                  <a:srgbClr val="000000"/>
                </a:solidFill>
                <a:latin typeface="Times New Roman" panose="02020603050405020304" pitchFamily="18" charset="0"/>
                <a:cs typeface="Times New Roman" panose="02020603050405020304" pitchFamily="18" charset="0"/>
              </a:rPr>
              <a:t>-q</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b="1" dirty="0">
                <a:solidFill>
                  <a:srgbClr val="000000"/>
                </a:solidFill>
                <a:latin typeface="Times New Roman" panose="02020603050405020304" pitchFamily="18" charset="0"/>
                <a:cs typeface="Times New Roman" panose="02020603050405020304" pitchFamily="18" charset="0"/>
              </a:rPr>
              <a:t>=|p|</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b="1" dirty="0">
                <a:solidFill>
                  <a:srgbClr val="000000"/>
                </a:solidFill>
                <a:latin typeface="Times New Roman" panose="02020603050405020304" pitchFamily="18" charset="0"/>
                <a:cs typeface="Times New Roman" panose="02020603050405020304" pitchFamily="18" charset="0"/>
              </a:rPr>
              <a:t>-|q|</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6)</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26</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6" name="矩形 5"/>
          <p:cNvSpPr>
            <a:spLocks noChangeAspect="1"/>
          </p:cNvSpPr>
          <p:nvPr/>
        </p:nvSpPr>
        <p:spPr>
          <a:xfrm>
            <a:off x="381000" y="4118444"/>
            <a:ext cx="11430000" cy="2332946"/>
          </a:xfrm>
          <a:prstGeom prst="rect">
            <a:avLst/>
          </a:prstGeom>
        </p:spPr>
        <p:txBody>
          <a:bodyPr>
            <a:spAutoFit/>
          </a:bodyPr>
          <a:lstStyle/>
          <a:p>
            <a:pPr indent="280670">
              <a:lnSpc>
                <a:spcPct val="130000"/>
              </a:lnSpc>
              <a:tabLst>
                <a:tab pos="1188085" algn="l"/>
                <a:tab pos="2163445" algn="l"/>
                <a:tab pos="3142615" algn="l"/>
                <a:tab pos="4190365" algn="l"/>
              </a:tabLst>
            </a:pPr>
            <a:r>
              <a:rPr lang="zh-CN" altLang="en-US" sz="28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反思感悟 </a:t>
            </a:r>
            <a:r>
              <a:rPr lang="en-US" altLang="zh-CN" sz="2800" b="1" dirty="0" smtClean="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一个空间向量的坐标等于表示此向量的有向线段的终点坐标减去起点坐标</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空间向量进行坐标运算的规律是首先进行数乘运算</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再进行加法、减法运算</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最后进行数量积运算</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先算括号里</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后算括号外</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703051763"/>
              </p:ext>
            </p:extLst>
          </p:nvPr>
        </p:nvGraphicFramePr>
        <p:xfrm>
          <a:off x="62346" y="2838766"/>
          <a:ext cx="11275153" cy="1487498"/>
        </p:xfrm>
        <a:graphic>
          <a:graphicData uri="http://schemas.openxmlformats.org/presentationml/2006/ole">
            <mc:AlternateContent xmlns:mc="http://schemas.openxmlformats.org/markup-compatibility/2006">
              <mc:Choice xmlns:v="urn:schemas-microsoft-com:vml" Requires="v">
                <p:oleObj spid="_x0000_s16421" name="文档" r:id="rId5" imgW="4510061" imgH="594999" progId="Word.Document.12">
                  <p:embed/>
                </p:oleObj>
              </mc:Choice>
              <mc:Fallback>
                <p:oleObj name="文档" r:id="rId5" imgW="4510061" imgH="594999" progId="Word.Document.12">
                  <p:embed/>
                  <p:pic>
                    <p:nvPicPr>
                      <p:cNvPr id="0" name=""/>
                      <p:cNvPicPr/>
                      <p:nvPr/>
                    </p:nvPicPr>
                    <p:blipFill>
                      <a:blip r:embed="rId6"/>
                      <a:stretch>
                        <a:fillRect/>
                      </a:stretch>
                    </p:blipFill>
                    <p:spPr>
                      <a:xfrm>
                        <a:off x="62346" y="2838766"/>
                        <a:ext cx="11275153" cy="1487498"/>
                      </a:xfrm>
                      <a:prstGeom prst="rect">
                        <a:avLst/>
                      </a:prstGeom>
                    </p:spPr>
                  </p:pic>
                </p:oleObj>
              </mc:Fallback>
            </mc:AlternateContent>
          </a:graphicData>
        </a:graphic>
      </p:graphicFrame>
    </p:spTree>
    <p:extLst>
      <p:ext uri="{BB962C8B-B14F-4D97-AF65-F5344CB8AC3E}">
        <p14:creationId xmlns:p14="http://schemas.microsoft.com/office/powerpoint/2010/main" val="15273134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386771"/>
            <a:ext cx="11430000" cy="5133713"/>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en-US" altLang="zh-CN" sz="2800" b="1"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已知</a:t>
            </a:r>
            <a:r>
              <a:rPr lang="en-US" altLang="zh-CN" sz="2800" b="1" dirty="0">
                <a:solidFill>
                  <a:srgbClr val="000000"/>
                </a:solidFill>
                <a:latin typeface="Times New Roman" panose="02020603050405020304" pitchFamily="18" charset="0"/>
                <a:cs typeface="Times New Roman" panose="02020603050405020304" pitchFamily="18" charset="0"/>
              </a:rPr>
              <a:t>a</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b="1" dirty="0">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1,4)</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求</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i="1"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b="1" dirty="0">
                <a:solidFill>
                  <a:srgbClr val="000000"/>
                </a:solidFill>
                <a:latin typeface="Times New Roman" panose="02020603050405020304" pitchFamily="18" charset="0"/>
                <a:cs typeface="Times New Roman" panose="02020603050405020304" pitchFamily="18" charset="0"/>
              </a:rPr>
              <a:t>a</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(4)2</a:t>
            </a:r>
            <a:r>
              <a:rPr lang="en-US" altLang="zh-CN" sz="2800" b="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);(5)(</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i="1"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a</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i="1"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1,4)</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2,2)</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b="1" dirty="0">
                <a:solidFill>
                  <a:srgbClr val="000000"/>
                </a:solidFill>
                <a:latin typeface="Times New Roman" panose="02020603050405020304" pitchFamily="18" charset="0"/>
                <a:cs typeface="Times New Roman" panose="02020603050405020304" pitchFamily="18" charset="0"/>
              </a:rPr>
              <a:t>a</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1,4)</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(2,0,</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6)</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2)·(0,</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1,4)</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2×0</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2)×4</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7</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(4)</a:t>
            </a:r>
            <a:r>
              <a:rPr lang="zh-CN" altLang="zh-CN" sz="2800" dirty="0">
                <a:solidFill>
                  <a:srgbClr val="000000"/>
                </a:solidFill>
                <a:latin typeface="NEU-BZ-S92"/>
                <a:cs typeface="宋体" panose="02010600030101010101" pitchFamily="2" charset="-122"/>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b="1" dirty="0">
                <a:solidFill>
                  <a:srgbClr val="000000"/>
                </a:solidFill>
                <a:latin typeface="Times New Roman" panose="02020603050405020304" pitchFamily="18" charset="0"/>
                <a:cs typeface="Times New Roman" panose="02020603050405020304" pitchFamily="18" charset="0"/>
              </a:rPr>
              <a:t>a</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b="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4)·(0,1,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4×0</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14</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(5)(</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i="1"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a</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a</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b</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16)</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8</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41452406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animEffect transition="in" filter="randombar(horizontal)">
                                      <p:cBhvr>
                                        <p:cTn id="7" dur="500"/>
                                        <p:tgtEl>
                                          <p:spTgt spid="2">
                                            <p:txEl>
                                              <p:pRg st="5" end="5"/>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2">
                                            <p:txEl>
                                              <p:pRg st="3" end="3"/>
                                            </p:txEl>
                                          </p:spTgt>
                                        </p:tgtEl>
                                        <p:attrNameLst>
                                          <p:attrName>style.visibility</p:attrName>
                                        </p:attrNameLst>
                                      </p:cBhvr>
                                      <p:to>
                                        <p:strVal val="visible"/>
                                      </p:to>
                                    </p:set>
                                    <p:animEffect transition="in" filter="randombar(horizontal)">
                                      <p:cBhvr>
                                        <p:cTn id="10" dur="500"/>
                                        <p:tgtEl>
                                          <p:spTgt spid="2">
                                            <p:txEl>
                                              <p:pRg st="3" end="3"/>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animEffect transition="in" filter="randombar(horizontal)">
                                      <p:cBhvr>
                                        <p:cTn id="13" dur="500"/>
                                        <p:tgtEl>
                                          <p:spTgt spid="2">
                                            <p:txEl>
                                              <p:pRg st="4" end="4"/>
                                            </p:txEl>
                                          </p:spTgt>
                                        </p:tgtEl>
                                      </p:cBhvr>
                                    </p:animEffect>
                                  </p:childTnLst>
                                </p:cTn>
                              </p:par>
                              <p:par>
                                <p:cTn id="14" presetID="14" presetClass="entr" presetSubtype="10" fill="hold" nodeType="withEffect">
                                  <p:stCondLst>
                                    <p:cond delay="0"/>
                                  </p:stCondLst>
                                  <p:childTnLst>
                                    <p:set>
                                      <p:cBhvr>
                                        <p:cTn id="15" dur="1" fill="hold">
                                          <p:stCondLst>
                                            <p:cond delay="0"/>
                                          </p:stCondLst>
                                        </p:cTn>
                                        <p:tgtEl>
                                          <p:spTgt spid="2">
                                            <p:txEl>
                                              <p:pRg st="6" end="6"/>
                                            </p:txEl>
                                          </p:spTgt>
                                        </p:tgtEl>
                                        <p:attrNameLst>
                                          <p:attrName>style.visibility</p:attrName>
                                        </p:attrNameLst>
                                      </p:cBhvr>
                                      <p:to>
                                        <p:strVal val="visible"/>
                                      </p:to>
                                    </p:set>
                                    <p:animEffect transition="in" filter="randombar(horizontal)">
                                      <p:cBhvr>
                                        <p:cTn id="16" dur="500"/>
                                        <p:tgtEl>
                                          <p:spTgt spid="2">
                                            <p:txEl>
                                              <p:pRg st="6" end="6"/>
                                            </p:txEl>
                                          </p:spTgt>
                                        </p:tgtEl>
                                      </p:cBhvr>
                                    </p:animEffect>
                                  </p:childTnLst>
                                </p:cTn>
                              </p:par>
                              <p:par>
                                <p:cTn id="17" presetID="14" presetClass="entr" presetSubtype="10" fill="hold" nodeType="withEffect">
                                  <p:stCondLst>
                                    <p:cond delay="0"/>
                                  </p:stCondLst>
                                  <p:childTnLst>
                                    <p:set>
                                      <p:cBhvr>
                                        <p:cTn id="18" dur="1" fill="hold">
                                          <p:stCondLst>
                                            <p:cond delay="0"/>
                                          </p:stCondLst>
                                        </p:cTn>
                                        <p:tgtEl>
                                          <p:spTgt spid="2">
                                            <p:txEl>
                                              <p:pRg st="7" end="7"/>
                                            </p:txEl>
                                          </p:spTgt>
                                        </p:tgtEl>
                                        <p:attrNameLst>
                                          <p:attrName>style.visibility</p:attrName>
                                        </p:attrNameLst>
                                      </p:cBhvr>
                                      <p:to>
                                        <p:strVal val="visible"/>
                                      </p:to>
                                    </p:set>
                                    <p:animEffect transition="in" filter="randombar(horizontal)">
                                      <p:cBhvr>
                                        <p:cTn id="19" dur="500"/>
                                        <p:tgtEl>
                                          <p:spTgt spid="2">
                                            <p:txEl>
                                              <p:pRg st="7" end="7"/>
                                            </p:txEl>
                                          </p:spTgt>
                                        </p:tgtEl>
                                      </p:cBhvr>
                                    </p:animEffect>
                                  </p:childTnLst>
                                </p:cTn>
                              </p:par>
                              <p:par>
                                <p:cTn id="20" presetID="14" presetClass="entr" presetSubtype="10" fill="hold" nodeType="withEffect">
                                  <p:stCondLst>
                                    <p:cond delay="0"/>
                                  </p:stCondLst>
                                  <p:childTnLst>
                                    <p:set>
                                      <p:cBhvr>
                                        <p:cTn id="21" dur="1" fill="hold">
                                          <p:stCondLst>
                                            <p:cond delay="0"/>
                                          </p:stCondLst>
                                        </p:cTn>
                                        <p:tgtEl>
                                          <p:spTgt spid="2">
                                            <p:txEl>
                                              <p:pRg st="8" end="8"/>
                                            </p:txEl>
                                          </p:spTgt>
                                        </p:tgtEl>
                                        <p:attrNameLst>
                                          <p:attrName>style.visibility</p:attrName>
                                        </p:attrNameLst>
                                      </p:cBhvr>
                                      <p:to>
                                        <p:strVal val="visible"/>
                                      </p:to>
                                    </p:set>
                                    <p:animEffect transition="in" filter="randombar(horizontal)">
                                      <p:cBhvr>
                                        <p:cTn id="22" dur="500"/>
                                        <p:tgtEl>
                                          <p:spTgt spid="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2" y="151371"/>
            <a:ext cx="11336478" cy="433754"/>
            <a:chOff x="381000" y="205656"/>
            <a:chExt cx="11336478" cy="433754"/>
          </a:xfrm>
        </p:grpSpPr>
        <p:sp>
          <p:nvSpPr>
            <p:cNvPr id="10" name="矩形 9"/>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11" name="组合 10"/>
            <p:cNvGrpSpPr/>
            <p:nvPr/>
          </p:nvGrpSpPr>
          <p:grpSpPr>
            <a:xfrm>
              <a:off x="381000" y="205656"/>
              <a:ext cx="11336478" cy="433754"/>
              <a:chOff x="3048000" y="2286000"/>
              <a:chExt cx="4813646" cy="457200"/>
            </a:xfrm>
          </p:grpSpPr>
          <p:sp>
            <p:nvSpPr>
              <p:cNvPr id="12" name="矩形 11"/>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探究三</a:t>
                </a:r>
              </a:p>
            </p:txBody>
          </p:sp>
          <p:sp>
            <p:nvSpPr>
              <p:cNvPr id="13" name="矩形 12"/>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chemeClr val="bg1"/>
                    </a:solidFill>
                  </a:rPr>
                  <a:t>利用向量的坐标运算解决平行、垂直问题</a:t>
                </a:r>
              </a:p>
            </p:txBody>
          </p:sp>
        </p:grpSp>
      </p:grpSp>
      <p:graphicFrame>
        <p:nvGraphicFramePr>
          <p:cNvPr id="2" name="对象 1"/>
          <p:cNvGraphicFramePr>
            <a:graphicFrameLocks noChangeAspect="1"/>
          </p:cNvGraphicFramePr>
          <p:nvPr>
            <p:extLst>
              <p:ext uri="{D42A27DB-BD31-4B8C-83A1-F6EECF244321}">
                <p14:modId xmlns:p14="http://schemas.microsoft.com/office/powerpoint/2010/main" val="3637796766"/>
              </p:ext>
            </p:extLst>
          </p:nvPr>
        </p:nvGraphicFramePr>
        <p:xfrm>
          <a:off x="381000" y="1814898"/>
          <a:ext cx="11430000" cy="1507927"/>
        </p:xfrm>
        <a:graphic>
          <a:graphicData uri="http://schemas.openxmlformats.org/presentationml/2006/ole">
            <mc:AlternateContent xmlns:mc="http://schemas.openxmlformats.org/markup-compatibility/2006">
              <mc:Choice xmlns:v="urn:schemas-microsoft-com:vml" Requires="v">
                <p:oleObj spid="_x0000_s17442" name="文档" r:id="rId3" imgW="4510061" imgH="594999" progId="Word.Document.12">
                  <p:embed/>
                </p:oleObj>
              </mc:Choice>
              <mc:Fallback>
                <p:oleObj name="文档" r:id="rId3" imgW="4510061" imgH="594999" progId="Word.Document.12">
                  <p:embed/>
                  <p:pic>
                    <p:nvPicPr>
                      <p:cNvPr id="0" name=""/>
                      <p:cNvPicPr/>
                      <p:nvPr/>
                    </p:nvPicPr>
                    <p:blipFill>
                      <a:blip r:embed="rId4"/>
                      <a:stretch>
                        <a:fillRect/>
                      </a:stretch>
                    </p:blipFill>
                    <p:spPr>
                      <a:xfrm>
                        <a:off x="381000" y="1814898"/>
                        <a:ext cx="11430000" cy="1507927"/>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4029135798"/>
              </p:ext>
            </p:extLst>
          </p:nvPr>
        </p:nvGraphicFramePr>
        <p:xfrm>
          <a:off x="381000" y="3115548"/>
          <a:ext cx="11430000" cy="1005588"/>
        </p:xfrm>
        <a:graphic>
          <a:graphicData uri="http://schemas.openxmlformats.org/presentationml/2006/ole">
            <mc:AlternateContent xmlns:mc="http://schemas.openxmlformats.org/markup-compatibility/2006">
              <mc:Choice xmlns:v="urn:schemas-microsoft-com:vml" Requires="v">
                <p:oleObj spid="_x0000_s17443" name="文档" r:id="rId5" imgW="4510061" imgH="397147" progId="Word.Document.12">
                  <p:embed/>
                </p:oleObj>
              </mc:Choice>
              <mc:Fallback>
                <p:oleObj name="文档" r:id="rId5" imgW="4510061" imgH="397147" progId="Word.Document.12">
                  <p:embed/>
                  <p:pic>
                    <p:nvPicPr>
                      <p:cNvPr id="0" name=""/>
                      <p:cNvPicPr/>
                      <p:nvPr/>
                    </p:nvPicPr>
                    <p:blipFill>
                      <a:blip r:embed="rId6"/>
                      <a:stretch>
                        <a:fillRect/>
                      </a:stretch>
                    </p:blipFill>
                    <p:spPr>
                      <a:xfrm>
                        <a:off x="381000" y="3115548"/>
                        <a:ext cx="11430000" cy="1005588"/>
                      </a:xfrm>
                      <a:prstGeom prst="rect">
                        <a:avLst/>
                      </a:prstGeom>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31173" y="372853"/>
            <a:ext cx="11779827" cy="5613802"/>
            <a:chOff x="31173" y="352071"/>
            <a:chExt cx="11779827" cy="5613802"/>
          </a:xfrm>
        </p:grpSpPr>
        <p:sp>
          <p:nvSpPr>
            <p:cNvPr id="2" name="矩形 1"/>
            <p:cNvSpPr>
              <a:spLocks noChangeAspect="1"/>
            </p:cNvSpPr>
            <p:nvPr/>
          </p:nvSpPr>
          <p:spPr>
            <a:xfrm>
              <a:off x="381000" y="352071"/>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以</a:t>
              </a:r>
              <a:r>
                <a:rPr lang="en-US" altLang="zh-CN" sz="2800" i="1" dirty="0">
                  <a:solidFill>
                    <a:srgbClr val="000000"/>
                  </a:solidFill>
                  <a:latin typeface="Times New Roman" panose="02020603050405020304" pitchFamily="18" charset="0"/>
                  <a:cs typeface="Times New Roman" panose="02020603050405020304" pitchFamily="18" charset="0"/>
                </a:rPr>
                <a:t>D</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为原点</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DA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DC</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DD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所在直线分别为</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i="1" dirty="0">
                  <a:solidFill>
                    <a:srgbClr val="000000"/>
                  </a:solidFill>
                  <a:latin typeface="Times New Roman" panose="02020603050405020304" pitchFamily="18" charset="0"/>
                  <a:cs typeface="Times New Roman" panose="02020603050405020304" pitchFamily="18" charset="0"/>
                </a:rPr>
                <a:t>y</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i="1" dirty="0">
                  <a:solidFill>
                    <a:srgbClr val="000000"/>
                  </a:solidFill>
                  <a:latin typeface="Times New Roman" panose="02020603050405020304" pitchFamily="18" charset="0"/>
                  <a:cs typeface="Times New Roman" panose="02020603050405020304" pitchFamily="18" charset="0"/>
                </a:rPr>
                <a:t>z</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建立空间直角坐标系</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如图所示</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设正方体的棱长为</a:t>
              </a:r>
              <a:r>
                <a:rPr lang="en-US" altLang="zh-CN" sz="2800" dirty="0">
                  <a:solidFill>
                    <a:srgbClr val="000000"/>
                  </a:solidFill>
                  <a:latin typeface="Times New Roman" panose="02020603050405020304" pitchFamily="18" charset="0"/>
                  <a:cs typeface="Times New Roman" panose="02020603050405020304" pitchFamily="18" charset="0"/>
                </a:rPr>
                <a:t>1,</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1306723810"/>
                </p:ext>
              </p:extLst>
            </p:nvPr>
          </p:nvGraphicFramePr>
          <p:xfrm>
            <a:off x="31173" y="1442092"/>
            <a:ext cx="11430000" cy="4523781"/>
          </p:xfrm>
          <a:graphic>
            <a:graphicData uri="http://schemas.openxmlformats.org/presentationml/2006/ole">
              <mc:AlternateContent xmlns:mc="http://schemas.openxmlformats.org/markup-compatibility/2006">
                <mc:Choice xmlns:v="urn:schemas-microsoft-com:vml" Requires="v">
                  <p:oleObj spid="_x0000_s18451" name="文档" r:id="rId3" imgW="4510061" imgH="1784998" progId="Word.Document.12">
                    <p:embed/>
                  </p:oleObj>
                </mc:Choice>
                <mc:Fallback>
                  <p:oleObj name="文档" r:id="rId3" imgW="4510061" imgH="1784998" progId="Word.Document.12">
                    <p:embed/>
                    <p:pic>
                      <p:nvPicPr>
                        <p:cNvPr id="0" name=""/>
                        <p:cNvPicPr/>
                        <p:nvPr/>
                      </p:nvPicPr>
                      <p:blipFill>
                        <a:blip r:embed="rId4"/>
                        <a:stretch>
                          <a:fillRect/>
                        </a:stretch>
                      </p:blipFill>
                      <p:spPr>
                        <a:xfrm>
                          <a:off x="31173" y="1442092"/>
                          <a:ext cx="11430000" cy="4523781"/>
                        </a:xfrm>
                        <a:prstGeom prst="rect">
                          <a:avLst/>
                        </a:prstGeom>
                      </p:spPr>
                    </p:pic>
                  </p:oleObj>
                </mc:Fallback>
              </mc:AlternateContent>
            </a:graphicData>
          </a:graphic>
        </p:graphicFrame>
        <p:pic>
          <p:nvPicPr>
            <p:cNvPr id="4" name="ZMX1TRA75.eps" descr="id:2147495397;FounderCES"/>
            <p:cNvPicPr/>
            <p:nvPr/>
          </p:nvPicPr>
          <p:blipFill>
            <a:blip r:embed="rId5">
              <a:clrChange>
                <a:clrFrom>
                  <a:srgbClr val="FFFFFF"/>
                </a:clrFrom>
                <a:clrTo>
                  <a:srgbClr val="FFFFFF">
                    <a:alpha val="0"/>
                  </a:srgbClr>
                </a:clrTo>
              </a:clrChange>
            </a:blip>
            <a:stretch>
              <a:fillRect/>
            </a:stretch>
          </p:blipFill>
          <p:spPr>
            <a:xfrm>
              <a:off x="8350636" y="2625632"/>
              <a:ext cx="3110537" cy="3037414"/>
            </a:xfrm>
            <a:prstGeom prst="rect">
              <a:avLst/>
            </a:prstGeom>
          </p:spPr>
        </p:pic>
      </p:grpSp>
    </p:spTree>
    <p:extLst>
      <p:ext uri="{BB962C8B-B14F-4D97-AF65-F5344CB8AC3E}">
        <p14:creationId xmlns:p14="http://schemas.microsoft.com/office/powerpoint/2010/main" val="35824488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085871165"/>
              </p:ext>
            </p:extLst>
          </p:nvPr>
        </p:nvGraphicFramePr>
        <p:xfrm>
          <a:off x="41563" y="112332"/>
          <a:ext cx="11430000" cy="6534044"/>
        </p:xfrm>
        <a:graphic>
          <a:graphicData uri="http://schemas.openxmlformats.org/presentationml/2006/ole">
            <mc:AlternateContent xmlns:mc="http://schemas.openxmlformats.org/markup-compatibility/2006">
              <mc:Choice xmlns:v="urn:schemas-microsoft-com:vml" Requires="v">
                <p:oleObj spid="_x0000_s19474" name="文档" r:id="rId3" imgW="4510061" imgH="2578210" progId="Word.Document.12">
                  <p:embed/>
                </p:oleObj>
              </mc:Choice>
              <mc:Fallback>
                <p:oleObj name="文档" r:id="rId3" imgW="4510061" imgH="2578210" progId="Word.Document.12">
                  <p:embed/>
                  <p:pic>
                    <p:nvPicPr>
                      <p:cNvPr id="0" name=""/>
                      <p:cNvPicPr/>
                      <p:nvPr/>
                    </p:nvPicPr>
                    <p:blipFill>
                      <a:blip r:embed="rId4"/>
                      <a:stretch>
                        <a:fillRect/>
                      </a:stretch>
                    </p:blipFill>
                    <p:spPr>
                      <a:xfrm>
                        <a:off x="41563" y="112332"/>
                        <a:ext cx="11430000" cy="6534044"/>
                      </a:xfrm>
                      <a:prstGeom prst="rect">
                        <a:avLst/>
                      </a:prstGeom>
                    </p:spPr>
                  </p:pic>
                </p:oleObj>
              </mc:Fallback>
            </mc:AlternateContent>
          </a:graphicData>
        </a:graphic>
      </p:graphicFrame>
    </p:spTree>
    <p:extLst>
      <p:ext uri="{BB962C8B-B14F-4D97-AF65-F5344CB8AC3E}">
        <p14:creationId xmlns:p14="http://schemas.microsoft.com/office/powerpoint/2010/main" val="5879975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625764"/>
            <a:ext cx="11430000" cy="592213"/>
          </a:xfrm>
          <a:prstGeom prst="rect">
            <a:avLst/>
          </a:prstGeom>
        </p:spPr>
        <p:txBody>
          <a:bodyPr>
            <a:spAutoFit/>
          </a:bodyPr>
          <a:lstStyle/>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若把本例中的</a:t>
            </a:r>
            <a:r>
              <a:rPr lang="en-US" altLang="zh-CN" sz="2800" i="1" dirty="0">
                <a:solidFill>
                  <a:srgbClr val="000000"/>
                </a:solidFill>
                <a:latin typeface="Times New Roman" panose="02020603050405020304" pitchFamily="18" charset="0"/>
                <a:cs typeface="Times New Roman" panose="02020603050405020304" pitchFamily="18" charset="0"/>
              </a:rPr>
              <a:t>PQ</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AE</a:t>
            </a:r>
            <a:r>
              <a:rPr lang="zh-CN" altLang="zh-CN" sz="2800" dirty="0">
                <a:solidFill>
                  <a:srgbClr val="000000"/>
                </a:solidFill>
                <a:latin typeface="Times New Roman" panose="02020603050405020304" pitchFamily="18" charset="0"/>
                <a:cs typeface="Times New Roman" panose="02020603050405020304" pitchFamily="18" charset="0"/>
              </a:rPr>
              <a:t>改为</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Q</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EQ</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其他条件不变</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则结果又是什么</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3" name="延伸探究H.eps" descr="id:2147494559;FounderCES"/>
          <p:cNvPicPr/>
          <p:nvPr/>
        </p:nvPicPr>
        <p:blipFill>
          <a:blip r:embed="rId3">
            <a:clrChange>
              <a:clrFrom>
                <a:srgbClr val="FFFFFF"/>
              </a:clrFrom>
              <a:clrTo>
                <a:srgbClr val="FFFFFF">
                  <a:alpha val="0"/>
                </a:srgbClr>
              </a:clrTo>
            </a:clrChange>
          </a:blip>
          <a:stretch>
            <a:fillRect/>
          </a:stretch>
        </p:blipFill>
        <p:spPr>
          <a:xfrm>
            <a:off x="4757688" y="195712"/>
            <a:ext cx="2016224" cy="367706"/>
          </a:xfrm>
          <a:prstGeom prst="rect">
            <a:avLst/>
          </a:prstGeom>
        </p:spPr>
      </p:pic>
      <p:graphicFrame>
        <p:nvGraphicFramePr>
          <p:cNvPr id="4" name="对象 3"/>
          <p:cNvGraphicFramePr>
            <a:graphicFrameLocks noChangeAspect="1"/>
          </p:cNvGraphicFramePr>
          <p:nvPr>
            <p:extLst>
              <p:ext uri="{D42A27DB-BD31-4B8C-83A1-F6EECF244321}">
                <p14:modId xmlns:p14="http://schemas.microsoft.com/office/powerpoint/2010/main" val="387574721"/>
              </p:ext>
            </p:extLst>
          </p:nvPr>
        </p:nvGraphicFramePr>
        <p:xfrm>
          <a:off x="40409" y="1281931"/>
          <a:ext cx="11430000" cy="5026119"/>
        </p:xfrm>
        <a:graphic>
          <a:graphicData uri="http://schemas.openxmlformats.org/presentationml/2006/ole">
            <mc:AlternateContent xmlns:mc="http://schemas.openxmlformats.org/markup-compatibility/2006">
              <mc:Choice xmlns:v="urn:schemas-microsoft-com:vml" Requires="v">
                <p:oleObj spid="_x0000_s20497" name="文档" r:id="rId4" imgW="4510061" imgH="1983211" progId="Word.Document.12">
                  <p:embed/>
                </p:oleObj>
              </mc:Choice>
              <mc:Fallback>
                <p:oleObj name="文档" r:id="rId4" imgW="4510061" imgH="1983211" progId="Word.Document.12">
                  <p:embed/>
                  <p:pic>
                    <p:nvPicPr>
                      <p:cNvPr id="0" name=""/>
                      <p:cNvPicPr/>
                      <p:nvPr/>
                    </p:nvPicPr>
                    <p:blipFill>
                      <a:blip r:embed="rId5"/>
                      <a:stretch>
                        <a:fillRect/>
                      </a:stretch>
                    </p:blipFill>
                    <p:spPr>
                      <a:xfrm>
                        <a:off x="40409" y="1281931"/>
                        <a:ext cx="11430000" cy="5026119"/>
                      </a:xfrm>
                      <a:prstGeom prst="rect">
                        <a:avLst/>
                      </a:prstGeom>
                    </p:spPr>
                  </p:pic>
                </p:oleObj>
              </mc:Fallback>
            </mc:AlternateContent>
          </a:graphicData>
        </a:graphic>
      </p:graphicFrame>
    </p:spTree>
    <p:extLst>
      <p:ext uri="{BB962C8B-B14F-4D97-AF65-F5344CB8AC3E}">
        <p14:creationId xmlns:p14="http://schemas.microsoft.com/office/powerpoint/2010/main" val="7280695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27578"/>
            <a:ext cx="11430000" cy="1152367"/>
          </a:xfrm>
          <a:prstGeom prst="rect">
            <a:avLst/>
          </a:prstGeom>
        </p:spPr>
        <p:txBody>
          <a:bodyPr>
            <a:spAutoFit/>
          </a:bodyPr>
          <a:lstStyle/>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本例中若</a:t>
            </a:r>
            <a:r>
              <a:rPr lang="en-US" altLang="zh-CN" sz="2800" i="1" dirty="0">
                <a:solidFill>
                  <a:srgbClr val="000000"/>
                </a:solidFill>
                <a:latin typeface="Times New Roman" panose="02020603050405020304" pitchFamily="18" charset="0"/>
                <a:cs typeface="Times New Roman" panose="02020603050405020304" pitchFamily="18" charset="0"/>
              </a:rPr>
              <a:t>G</a:t>
            </a:r>
            <a:r>
              <a:rPr lang="zh-CN" altLang="zh-CN" sz="2800" dirty="0">
                <a:solidFill>
                  <a:srgbClr val="000000"/>
                </a:solidFill>
                <a:latin typeface="Times New Roman" panose="02020603050405020304" pitchFamily="18" charset="0"/>
                <a:cs typeface="Times New Roman" panose="02020603050405020304" pitchFamily="18" charset="0"/>
              </a:rPr>
              <a:t>是</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D</a:t>
            </a:r>
            <a:r>
              <a:rPr lang="zh-CN" altLang="zh-CN" sz="2800" dirty="0">
                <a:solidFill>
                  <a:srgbClr val="000000"/>
                </a:solidFill>
                <a:latin typeface="Times New Roman" panose="02020603050405020304" pitchFamily="18" charset="0"/>
                <a:cs typeface="Times New Roman" panose="02020603050405020304" pitchFamily="18" charset="0"/>
              </a:rPr>
              <a:t>的中点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点</a:t>
            </a:r>
            <a:r>
              <a:rPr lang="en-US" altLang="zh-CN" sz="2800" i="1" dirty="0">
                <a:solidFill>
                  <a:srgbClr val="000000"/>
                </a:solidFill>
                <a:latin typeface="Times New Roman" panose="02020603050405020304" pitchFamily="18" charset="0"/>
                <a:cs typeface="Times New Roman" panose="02020603050405020304" pitchFamily="18" charset="0"/>
              </a:rPr>
              <a:t>H</a:t>
            </a:r>
            <a:r>
              <a:rPr lang="zh-CN" altLang="zh-CN" sz="2800" dirty="0">
                <a:solidFill>
                  <a:srgbClr val="000000"/>
                </a:solidFill>
                <a:latin typeface="Times New Roman" panose="02020603050405020304" pitchFamily="18" charset="0"/>
                <a:cs typeface="Times New Roman" panose="02020603050405020304" pitchFamily="18" charset="0"/>
              </a:rPr>
              <a:t>在平面</a:t>
            </a:r>
            <a:r>
              <a:rPr lang="en-US" altLang="zh-CN" sz="2800" i="1" dirty="0" err="1">
                <a:solidFill>
                  <a:srgbClr val="000000"/>
                </a:solidFill>
                <a:latin typeface="Times New Roman" panose="02020603050405020304" pitchFamily="18" charset="0"/>
                <a:cs typeface="Times New Roman" panose="02020603050405020304" pitchFamily="18" charset="0"/>
              </a:rPr>
              <a:t>Dxy</a:t>
            </a:r>
            <a:r>
              <a:rPr lang="zh-CN" altLang="zh-CN" sz="2800" dirty="0">
                <a:solidFill>
                  <a:srgbClr val="000000"/>
                </a:solidFill>
                <a:latin typeface="Times New Roman" panose="02020603050405020304" pitchFamily="18" charset="0"/>
                <a:cs typeface="Times New Roman" panose="02020603050405020304" pitchFamily="18" charset="0"/>
              </a:rPr>
              <a:t>上</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且</a:t>
            </a:r>
            <a:r>
              <a:rPr lang="en-US" altLang="zh-CN" sz="2800" i="1" dirty="0">
                <a:solidFill>
                  <a:srgbClr val="000000"/>
                </a:solidFill>
                <a:latin typeface="Times New Roman" panose="02020603050405020304" pitchFamily="18" charset="0"/>
                <a:cs typeface="Times New Roman" panose="02020603050405020304" pitchFamily="18" charset="0"/>
              </a:rPr>
              <a:t>GH</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BD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试判断点</a:t>
            </a:r>
            <a:r>
              <a:rPr lang="en-US" altLang="zh-CN" sz="2800" i="1" dirty="0">
                <a:solidFill>
                  <a:srgbClr val="000000"/>
                </a:solidFill>
                <a:latin typeface="Times New Roman" panose="02020603050405020304" pitchFamily="18" charset="0"/>
                <a:cs typeface="Times New Roman" panose="02020603050405020304" pitchFamily="18" charset="0"/>
              </a:rPr>
              <a:t>H</a:t>
            </a:r>
            <a:r>
              <a:rPr lang="zh-CN" altLang="zh-CN" sz="2800" dirty="0">
                <a:solidFill>
                  <a:srgbClr val="000000"/>
                </a:solidFill>
                <a:latin typeface="Times New Roman" panose="02020603050405020304" pitchFamily="18" charset="0"/>
                <a:cs typeface="Times New Roman" panose="02020603050405020304" pitchFamily="18" charset="0"/>
              </a:rPr>
              <a:t>的位置</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275447382"/>
              </p:ext>
            </p:extLst>
          </p:nvPr>
        </p:nvGraphicFramePr>
        <p:xfrm>
          <a:off x="33338" y="1352118"/>
          <a:ext cx="11401425" cy="4991100"/>
        </p:xfrm>
        <a:graphic>
          <a:graphicData uri="http://schemas.openxmlformats.org/presentationml/2006/ole">
            <mc:AlternateContent xmlns:mc="http://schemas.openxmlformats.org/markup-compatibility/2006">
              <mc:Choice xmlns:v="urn:schemas-microsoft-com:vml" Requires="v">
                <p:oleObj spid="_x0000_s21523" name="文档" r:id="rId3" imgW="4510061" imgH="1985013" progId="Word.Document.12">
                  <p:embed/>
                </p:oleObj>
              </mc:Choice>
              <mc:Fallback>
                <p:oleObj name="文档" r:id="rId3" imgW="4510061" imgH="1985013" progId="Word.Document.12">
                  <p:embed/>
                  <p:pic>
                    <p:nvPicPr>
                      <p:cNvPr id="0" name=""/>
                      <p:cNvPicPr/>
                      <p:nvPr/>
                    </p:nvPicPr>
                    <p:blipFill>
                      <a:blip r:embed="rId4"/>
                      <a:stretch>
                        <a:fillRect/>
                      </a:stretch>
                    </p:blipFill>
                    <p:spPr>
                      <a:xfrm>
                        <a:off x="33338" y="1352118"/>
                        <a:ext cx="11401425" cy="4991100"/>
                      </a:xfrm>
                      <a:prstGeom prst="rect">
                        <a:avLst/>
                      </a:prstGeom>
                    </p:spPr>
                  </p:pic>
                </p:oleObj>
              </mc:Fallback>
            </mc:AlternateContent>
          </a:graphicData>
        </a:graphic>
      </p:graphicFrame>
    </p:spTree>
    <p:extLst>
      <p:ext uri="{BB962C8B-B14F-4D97-AF65-F5344CB8AC3E}">
        <p14:creationId xmlns:p14="http://schemas.microsoft.com/office/powerpoint/2010/main" val="16570342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231203"/>
            <a:ext cx="11430000" cy="5693866"/>
          </a:xfrm>
          <a:prstGeom prst="rect">
            <a:avLst/>
          </a:prstGeom>
        </p:spPr>
        <p:txBody>
          <a:bodyPr>
            <a:spAutoFit/>
          </a:bodyPr>
          <a:lstStyle/>
          <a:p>
            <a:pPr indent="279400">
              <a:lnSpc>
                <a:spcPct val="130000"/>
              </a:lnSpc>
              <a:tabLst>
                <a:tab pos="1188085" algn="l"/>
                <a:tab pos="2163445" algn="l"/>
                <a:tab pos="3142615" algn="l"/>
                <a:tab pos="4190365" algn="l"/>
              </a:tabLst>
            </a:pPr>
            <a:r>
              <a:rPr lang="zh-CN" altLang="en-US" sz="28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反思感悟 </a:t>
            </a:r>
            <a:r>
              <a:rPr lang="zh-CN"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向量</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平行与垂直问题的两种类型</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平行与垂直的判断</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①</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应用向量的方法判定两直线平行</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只需判断两直线的方向向量是否共线</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②</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判断两直线是否垂直</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关键是判断两直线的方向向量是否垂直</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即判断两向量的数量积是否为</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平行与垂直的应用</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①</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适当引入参数</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比如向量</a:t>
            </a:r>
            <a:r>
              <a:rPr lang="en-US" altLang="zh-CN" sz="2800" b="1" i="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平行</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可设</a:t>
            </a:r>
            <a:r>
              <a:rPr lang="en-US" altLang="zh-CN" sz="2800" b="1" i="1" dirty="0">
                <a:solidFill>
                  <a:srgbClr val="000000"/>
                </a:solidFill>
                <a:latin typeface="Times New Roman" panose="02020603050405020304" pitchFamily="18" charset="0"/>
                <a:cs typeface="Times New Roman" panose="02020603050405020304" pitchFamily="18" charset="0"/>
              </a:rPr>
              <a:t>a</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λ</a:t>
            </a:r>
            <a:r>
              <a:rPr lang="en-US" altLang="zh-CN" sz="2800" b="1" i="1" dirty="0" err="1">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其中</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λ</a:t>
            </a:r>
            <a:r>
              <a:rPr lang="zh-CN" altLang="zh-CN" sz="2800" dirty="0">
                <a:solidFill>
                  <a:srgbClr val="000000"/>
                </a:solidFill>
                <a:latin typeface="NEU-BZ-S92"/>
                <a:cs typeface="宋体" panose="02010600030101010101" pitchFamily="2" charset="-122"/>
              </a:rPr>
              <a:t>∈</a:t>
            </a:r>
            <a:r>
              <a:rPr lang="en-US" altLang="zh-CN" sz="2800" b="1" dirty="0">
                <a:solidFill>
                  <a:srgbClr val="000000"/>
                </a:solidFill>
                <a:latin typeface="Times New Roman" panose="02020603050405020304" pitchFamily="18" charset="0"/>
                <a:cs typeface="Times New Roman" panose="02020603050405020304" pitchFamily="18" charset="0"/>
              </a:rPr>
              <a:t>R</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建立关于参数的方程</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②</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选择坐标表示</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以达到简化运算的目的</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7201653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81000" y="1613474"/>
            <a:ext cx="11430000" cy="2332946"/>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en-US" altLang="zh-CN" sz="2800" b="1"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已知在正方体</a:t>
            </a:r>
            <a:r>
              <a:rPr lang="en-US" altLang="zh-CN" sz="2800" i="1" dirty="0">
                <a:solidFill>
                  <a:srgbClr val="000000"/>
                </a:solidFill>
                <a:latin typeface="Times New Roman" panose="02020603050405020304" pitchFamily="18" charset="0"/>
                <a:cs typeface="Times New Roman" panose="02020603050405020304" pitchFamily="18" charset="0"/>
              </a:rPr>
              <a:t>ABCD-A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中</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E</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F</a:t>
            </a:r>
            <a:r>
              <a:rPr lang="zh-CN" altLang="zh-CN" sz="2800" dirty="0">
                <a:solidFill>
                  <a:srgbClr val="000000"/>
                </a:solidFill>
                <a:latin typeface="Times New Roman" panose="02020603050405020304" pitchFamily="18" charset="0"/>
                <a:cs typeface="Times New Roman" panose="02020603050405020304" pitchFamily="18" charset="0"/>
              </a:rPr>
              <a:t>分别是</a:t>
            </a:r>
            <a:r>
              <a:rPr lang="en-US" altLang="zh-CN" sz="2800" i="1" dirty="0">
                <a:solidFill>
                  <a:srgbClr val="000000"/>
                </a:solidFill>
                <a:latin typeface="Times New Roman" panose="02020603050405020304" pitchFamily="18" charset="0"/>
                <a:cs typeface="Times New Roman" panose="02020603050405020304" pitchFamily="18" charset="0"/>
              </a:rPr>
              <a:t>BB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DC</a:t>
            </a:r>
            <a:r>
              <a:rPr lang="zh-CN" altLang="zh-CN" sz="2800" dirty="0">
                <a:solidFill>
                  <a:srgbClr val="000000"/>
                </a:solidFill>
                <a:latin typeface="Times New Roman" panose="02020603050405020304" pitchFamily="18" charset="0"/>
                <a:cs typeface="Times New Roman" panose="02020603050405020304" pitchFamily="18" charset="0"/>
              </a:rPr>
              <a:t>的中点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求证</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AE</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F</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AE</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F</a:t>
            </a:r>
            <a:r>
              <a:rPr lang="en-US" altLang="zh-CN" sz="2800" i="1" dirty="0" smtClean="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85600949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41563" y="595601"/>
            <a:ext cx="11769437" cy="5210481"/>
            <a:chOff x="41563" y="595601"/>
            <a:chExt cx="11769437" cy="5210481"/>
          </a:xfrm>
        </p:grpSpPr>
        <p:sp>
          <p:nvSpPr>
            <p:cNvPr id="3" name="矩形 2"/>
            <p:cNvSpPr>
              <a:spLocks noChangeAspect="1"/>
            </p:cNvSpPr>
            <p:nvPr/>
          </p:nvSpPr>
          <p:spPr>
            <a:xfrm>
              <a:off x="381000" y="595601"/>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证明</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设正方体的棱长为</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以</a:t>
              </a:r>
              <a:r>
                <a:rPr lang="en-US" altLang="zh-CN" sz="2800" i="1" dirty="0">
                  <a:solidFill>
                    <a:srgbClr val="000000"/>
                  </a:solidFill>
                  <a:latin typeface="Times New Roman" panose="02020603050405020304" pitchFamily="18" charset="0"/>
                  <a:cs typeface="Times New Roman" panose="02020603050405020304" pitchFamily="18" charset="0"/>
                </a:rPr>
                <a:t>D</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为原点</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DA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DC</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DD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所在直线分别为</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i="1" dirty="0">
                  <a:solidFill>
                    <a:srgbClr val="000000"/>
                  </a:solidFill>
                  <a:latin typeface="Times New Roman" panose="02020603050405020304" pitchFamily="18" charset="0"/>
                  <a:cs typeface="Times New Roman" panose="02020603050405020304" pitchFamily="18" charset="0"/>
                </a:rPr>
                <a:t>y</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i="1" dirty="0">
                  <a:solidFill>
                    <a:srgbClr val="000000"/>
                  </a:solidFill>
                  <a:latin typeface="Times New Roman" panose="02020603050405020304" pitchFamily="18" charset="0"/>
                  <a:cs typeface="Times New Roman" panose="02020603050405020304" pitchFamily="18" charset="0"/>
                </a:rPr>
                <a:t>z</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建立空间直角坐标系</a:t>
              </a:r>
              <a:r>
                <a:rPr lang="en-US" altLang="zh-CN" sz="2800" i="1" dirty="0" err="1">
                  <a:solidFill>
                    <a:srgbClr val="000000"/>
                  </a:solidFill>
                  <a:latin typeface="Times New Roman" panose="02020603050405020304" pitchFamily="18" charset="0"/>
                  <a:cs typeface="Times New Roman" panose="02020603050405020304" pitchFamily="18" charset="0"/>
                </a:rPr>
                <a:t>Dxyz</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如图所示</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1737522739"/>
                </p:ext>
              </p:extLst>
            </p:nvPr>
          </p:nvGraphicFramePr>
          <p:xfrm>
            <a:off x="41563" y="1784639"/>
            <a:ext cx="11430000" cy="4021443"/>
          </p:xfrm>
          <a:graphic>
            <a:graphicData uri="http://schemas.openxmlformats.org/presentationml/2006/ole">
              <mc:AlternateContent xmlns:mc="http://schemas.openxmlformats.org/markup-compatibility/2006">
                <mc:Choice xmlns:v="urn:schemas-microsoft-com:vml" Requires="v">
                  <p:oleObj spid="_x0000_s22547" name="文档" r:id="rId3" imgW="4510061" imgH="1586785" progId="Word.Document.12">
                    <p:embed/>
                  </p:oleObj>
                </mc:Choice>
                <mc:Fallback>
                  <p:oleObj name="文档" r:id="rId3" imgW="4510061" imgH="1586785" progId="Word.Document.12">
                    <p:embed/>
                    <p:pic>
                      <p:nvPicPr>
                        <p:cNvPr id="0" name=""/>
                        <p:cNvPicPr/>
                        <p:nvPr/>
                      </p:nvPicPr>
                      <p:blipFill>
                        <a:blip r:embed="rId4"/>
                        <a:stretch>
                          <a:fillRect/>
                        </a:stretch>
                      </p:blipFill>
                      <p:spPr>
                        <a:xfrm>
                          <a:off x="41563" y="1784639"/>
                          <a:ext cx="11430000" cy="4021443"/>
                        </a:xfrm>
                        <a:prstGeom prst="rect">
                          <a:avLst/>
                        </a:prstGeom>
                      </p:spPr>
                    </p:pic>
                  </p:oleObj>
                </mc:Fallback>
              </mc:AlternateContent>
            </a:graphicData>
          </a:graphic>
        </p:graphicFrame>
        <p:pic>
          <p:nvPicPr>
            <p:cNvPr id="5" name="VMX1TRAX01.eps" descr="id:2147495418;FounderCES"/>
            <p:cNvPicPr/>
            <p:nvPr/>
          </p:nvPicPr>
          <p:blipFill>
            <a:blip r:embed="rId5">
              <a:clrChange>
                <a:clrFrom>
                  <a:srgbClr val="FFFFFF"/>
                </a:clrFrom>
                <a:clrTo>
                  <a:srgbClr val="FFFFFF">
                    <a:alpha val="0"/>
                  </a:srgbClr>
                </a:clrTo>
              </a:clrChange>
            </a:blip>
            <a:stretch>
              <a:fillRect/>
            </a:stretch>
          </p:blipFill>
          <p:spPr>
            <a:xfrm>
              <a:off x="8530676" y="1784639"/>
              <a:ext cx="3092566" cy="2980719"/>
            </a:xfrm>
            <a:prstGeom prst="rect">
              <a:avLst/>
            </a:prstGeom>
          </p:spPr>
        </p:pic>
      </p:grpSp>
    </p:spTree>
    <p:extLst>
      <p:ext uri="{BB962C8B-B14F-4D97-AF65-F5344CB8AC3E}">
        <p14:creationId xmlns:p14="http://schemas.microsoft.com/office/powerpoint/2010/main" val="29107186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41563" y="678255"/>
            <a:ext cx="11769437" cy="4057273"/>
            <a:chOff x="41563" y="1135459"/>
            <a:chExt cx="11769437" cy="4057273"/>
          </a:xfrm>
        </p:grpSpPr>
        <p:graphicFrame>
          <p:nvGraphicFramePr>
            <p:cNvPr id="2" name="对象 1"/>
            <p:cNvGraphicFramePr>
              <a:graphicFrameLocks noChangeAspect="1"/>
            </p:cNvGraphicFramePr>
            <p:nvPr>
              <p:extLst>
                <p:ext uri="{D42A27DB-BD31-4B8C-83A1-F6EECF244321}">
                  <p14:modId xmlns:p14="http://schemas.microsoft.com/office/powerpoint/2010/main" val="22960693"/>
                </p:ext>
              </p:extLst>
            </p:nvPr>
          </p:nvGraphicFramePr>
          <p:xfrm>
            <a:off x="41563" y="1135459"/>
            <a:ext cx="11430000" cy="2513517"/>
          </p:xfrm>
          <a:graphic>
            <a:graphicData uri="http://schemas.openxmlformats.org/presentationml/2006/ole">
              <mc:AlternateContent xmlns:mc="http://schemas.openxmlformats.org/markup-compatibility/2006">
                <mc:Choice xmlns:v="urn:schemas-microsoft-com:vml" Requires="v">
                  <p:oleObj spid="_x0000_s23570" name="文档" r:id="rId3" imgW="4510061" imgH="991786" progId="Word.Document.12">
                    <p:embed/>
                  </p:oleObj>
                </mc:Choice>
                <mc:Fallback>
                  <p:oleObj name="文档" r:id="rId3" imgW="4510061" imgH="991786" progId="Word.Document.12">
                    <p:embed/>
                    <p:pic>
                      <p:nvPicPr>
                        <p:cNvPr id="0" name=""/>
                        <p:cNvPicPr/>
                        <p:nvPr/>
                      </p:nvPicPr>
                      <p:blipFill>
                        <a:blip r:embed="rId4"/>
                        <a:stretch>
                          <a:fillRect/>
                        </a:stretch>
                      </p:blipFill>
                      <p:spPr>
                        <a:xfrm>
                          <a:off x="41563" y="1135459"/>
                          <a:ext cx="11430000" cy="2513517"/>
                        </a:xfrm>
                        <a:prstGeom prst="rect">
                          <a:avLst/>
                        </a:prstGeom>
                      </p:spPr>
                    </p:pic>
                  </p:oleObj>
                </mc:Fallback>
              </mc:AlternateContent>
            </a:graphicData>
          </a:graphic>
        </p:graphicFrame>
        <p:sp>
          <p:nvSpPr>
            <p:cNvPr id="3" name="矩形 2"/>
            <p:cNvSpPr>
              <a:spLocks noChangeAspect="1"/>
            </p:cNvSpPr>
            <p:nvPr/>
          </p:nvSpPr>
          <p:spPr>
            <a:xfrm>
              <a:off x="381000" y="3480212"/>
              <a:ext cx="11430000" cy="171252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知</a:t>
              </a:r>
              <a:r>
                <a:rPr lang="en-US" altLang="zh-CN" sz="2800" i="1" dirty="0">
                  <a:solidFill>
                    <a:srgbClr val="000000"/>
                  </a:solidFill>
                  <a:latin typeface="Times New Roman" panose="02020603050405020304" pitchFamily="18" charset="0"/>
                  <a:cs typeface="Times New Roman" panose="02020603050405020304" pitchFamily="18" charset="0"/>
                </a:rPr>
                <a:t>AE</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F.</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F=D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F</a:t>
              </a:r>
              <a:r>
                <a:rPr lang="en-US" altLang="zh-CN" sz="2800" dirty="0">
                  <a:solidFill>
                    <a:srgbClr val="000000"/>
                  </a:solidFill>
                  <a:latin typeface="Cambria Math" panose="02040503050406030204" pitchFamily="18" charset="0"/>
                  <a:ea typeface="NEU-BZ-S9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F</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AE</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F.</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pSp>
    </p:spTree>
    <p:extLst>
      <p:ext uri="{BB962C8B-B14F-4D97-AF65-F5344CB8AC3E}">
        <p14:creationId xmlns:p14="http://schemas.microsoft.com/office/powerpoint/2010/main" val="424189856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 y="151371"/>
            <a:ext cx="11336478" cy="433754"/>
            <a:chOff x="381000" y="205656"/>
            <a:chExt cx="11336478" cy="433754"/>
          </a:xfrm>
        </p:grpSpPr>
        <p:sp>
          <p:nvSpPr>
            <p:cNvPr id="3" name="矩形 2"/>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4" name="组合 3"/>
            <p:cNvGrpSpPr/>
            <p:nvPr/>
          </p:nvGrpSpPr>
          <p:grpSpPr>
            <a:xfrm>
              <a:off x="381000" y="205656"/>
              <a:ext cx="11336478" cy="433754"/>
              <a:chOff x="3048000" y="2286000"/>
              <a:chExt cx="4813646" cy="457200"/>
            </a:xfrm>
          </p:grpSpPr>
          <p:sp>
            <p:nvSpPr>
              <p:cNvPr id="5" name="矩形 4"/>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探究四</a:t>
                </a:r>
              </a:p>
            </p:txBody>
          </p:sp>
          <p:sp>
            <p:nvSpPr>
              <p:cNvPr id="6" name="矩形 5"/>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chemeClr val="bg1"/>
                    </a:solidFill>
                  </a:rPr>
                  <a:t>利用向量的坐标运算解决夹角、距离问题</a:t>
                </a:r>
              </a:p>
            </p:txBody>
          </p:sp>
        </p:grpSp>
      </p:grpSp>
      <p:sp>
        <p:nvSpPr>
          <p:cNvPr id="7" name="矩形 6"/>
          <p:cNvSpPr>
            <a:spLocks noChangeAspect="1"/>
          </p:cNvSpPr>
          <p:nvPr/>
        </p:nvSpPr>
        <p:spPr>
          <a:xfrm>
            <a:off x="381000" y="954794"/>
            <a:ext cx="11430000" cy="4013406"/>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【例</a:t>
            </a:r>
            <a:r>
              <a:rPr lang="en-US" altLang="zh-CN" sz="2800" b="1" dirty="0">
                <a:solidFill>
                  <a:srgbClr val="000000"/>
                </a:solidFill>
                <a:latin typeface="Times New Roman" panose="02020603050405020304" pitchFamily="18" charset="0"/>
                <a:cs typeface="Times New Roman" panose="02020603050405020304" pitchFamily="18" charset="0"/>
              </a:rPr>
              <a:t>4</a:t>
            </a:r>
            <a:r>
              <a:rPr lang="zh-CN" altLang="zh-CN" sz="2800" dirty="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effectLst/>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在棱长为</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的正方体</a:t>
            </a:r>
            <a:r>
              <a:rPr lang="en-US" altLang="zh-CN" sz="2800" i="1" dirty="0">
                <a:solidFill>
                  <a:srgbClr val="000000"/>
                </a:solidFill>
                <a:latin typeface="Times New Roman" panose="02020603050405020304" pitchFamily="18" charset="0"/>
                <a:cs typeface="Times New Roman" panose="02020603050405020304" pitchFamily="18" charset="0"/>
              </a:rPr>
              <a:t>ABCD-A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中</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E</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F</a:t>
            </a:r>
            <a:r>
              <a:rPr lang="zh-CN" altLang="zh-CN" sz="2800" dirty="0">
                <a:solidFill>
                  <a:srgbClr val="000000"/>
                </a:solidFill>
                <a:latin typeface="Times New Roman" panose="02020603050405020304" pitchFamily="18" charset="0"/>
                <a:cs typeface="Times New Roman" panose="02020603050405020304" pitchFamily="18" charset="0"/>
              </a:rPr>
              <a:t>分别是</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BD</a:t>
            </a:r>
            <a:r>
              <a:rPr lang="zh-CN" altLang="zh-CN" sz="2800" dirty="0">
                <a:solidFill>
                  <a:srgbClr val="000000"/>
                </a:solidFill>
                <a:latin typeface="Times New Roman" panose="02020603050405020304" pitchFamily="18" charset="0"/>
                <a:cs typeface="Times New Roman" panose="02020603050405020304" pitchFamily="18" charset="0"/>
              </a:rPr>
              <a:t>的中点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点</a:t>
            </a:r>
            <a:r>
              <a:rPr lang="en-US" altLang="zh-CN" sz="2800" i="1" dirty="0">
                <a:solidFill>
                  <a:srgbClr val="000000"/>
                </a:solidFill>
                <a:latin typeface="Times New Roman" panose="02020603050405020304" pitchFamily="18" charset="0"/>
                <a:cs typeface="Times New Roman" panose="02020603050405020304" pitchFamily="18" charset="0"/>
              </a:rPr>
              <a:t>G</a:t>
            </a:r>
            <a:r>
              <a:rPr lang="zh-CN" altLang="zh-CN" sz="2800" dirty="0">
                <a:solidFill>
                  <a:srgbClr val="000000"/>
                </a:solidFill>
                <a:latin typeface="Times New Roman" panose="02020603050405020304" pitchFamily="18" charset="0"/>
                <a:cs typeface="Times New Roman" panose="02020603050405020304" pitchFamily="18" charset="0"/>
              </a:rPr>
              <a:t>在棱</a:t>
            </a:r>
            <a:r>
              <a:rPr lang="en-US" altLang="zh-CN" sz="2800" i="1" dirty="0">
                <a:solidFill>
                  <a:srgbClr val="000000"/>
                </a:solidFill>
                <a:latin typeface="Times New Roman" panose="02020603050405020304" pitchFamily="18" charset="0"/>
                <a:cs typeface="Times New Roman" panose="02020603050405020304" pitchFamily="18" charset="0"/>
              </a:rPr>
              <a:t>CD</a:t>
            </a:r>
            <a:r>
              <a:rPr lang="zh-CN" altLang="zh-CN" sz="2800" dirty="0">
                <a:solidFill>
                  <a:srgbClr val="000000"/>
                </a:solidFill>
                <a:latin typeface="Times New Roman" panose="02020603050405020304" pitchFamily="18" charset="0"/>
                <a:cs typeface="Times New Roman" panose="02020603050405020304" pitchFamily="18" charset="0"/>
              </a:rPr>
              <a:t>上</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且</a:t>
            </a:r>
            <a:r>
              <a:rPr lang="en-US" altLang="zh-CN" sz="2800" i="1" dirty="0" smtClean="0">
                <a:solidFill>
                  <a:srgbClr val="000000"/>
                </a:solidFill>
                <a:latin typeface="Times New Roman" panose="02020603050405020304" pitchFamily="18" charset="0"/>
                <a:cs typeface="Times New Roman" panose="02020603050405020304" pitchFamily="18" charset="0"/>
              </a:rPr>
              <a:t>CG=</a:t>
            </a:r>
            <a:r>
              <a:rPr lang="zh-CN" altLang="en-US" sz="2800" i="1" dirty="0" smtClean="0">
                <a:solidFill>
                  <a:srgbClr val="000000"/>
                </a:solidFill>
                <a:latin typeface="Times New Roman" panose="02020603050405020304" pitchFamily="18" charset="0"/>
                <a:cs typeface="Times New Roman" panose="02020603050405020304" pitchFamily="18" charset="0"/>
              </a:rPr>
              <a:t>   </a:t>
            </a:r>
            <a:r>
              <a:rPr lang="en-US" altLang="zh-CN" sz="2800" i="1" dirty="0" smtClean="0">
                <a:solidFill>
                  <a:srgbClr val="000000"/>
                </a:solidFill>
                <a:latin typeface="Times New Roman" panose="02020603050405020304" pitchFamily="18" charset="0"/>
                <a:cs typeface="Times New Roman" panose="02020603050405020304" pitchFamily="18" charset="0"/>
              </a:rPr>
              <a:t>CD</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en-US" altLang="zh-CN" sz="2800" i="1" dirty="0" smtClean="0">
                <a:solidFill>
                  <a:srgbClr val="000000"/>
                </a:solidFill>
                <a:latin typeface="Times New Roman" panose="02020603050405020304" pitchFamily="18" charset="0"/>
                <a:cs typeface="Times New Roman" panose="02020603050405020304" pitchFamily="18" charset="0"/>
              </a:rPr>
              <a:t>H</a:t>
            </a:r>
            <a:r>
              <a:rPr lang="zh-CN" altLang="zh-CN" sz="2800" dirty="0">
                <a:solidFill>
                  <a:srgbClr val="000000"/>
                </a:solidFill>
                <a:latin typeface="Times New Roman" panose="02020603050405020304" pitchFamily="18" charset="0"/>
                <a:cs typeface="Times New Roman" panose="02020603050405020304" pitchFamily="18" charset="0"/>
              </a:rPr>
              <a:t>是</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G</a:t>
            </a:r>
            <a:r>
              <a:rPr lang="zh-CN" altLang="zh-CN" sz="2800" dirty="0">
                <a:solidFill>
                  <a:srgbClr val="000000"/>
                </a:solidFill>
                <a:latin typeface="Times New Roman" panose="02020603050405020304" pitchFamily="18" charset="0"/>
                <a:cs typeface="Times New Roman" panose="02020603050405020304" pitchFamily="18" charset="0"/>
              </a:rPr>
              <a:t>的</a:t>
            </a:r>
            <a:r>
              <a:rPr lang="zh-CN" altLang="zh-CN" sz="2800" dirty="0" smtClean="0">
                <a:solidFill>
                  <a:srgbClr val="000000"/>
                </a:solidFill>
                <a:latin typeface="Times New Roman" panose="02020603050405020304" pitchFamily="18" charset="0"/>
                <a:cs typeface="Times New Roman" panose="02020603050405020304" pitchFamily="18" charset="0"/>
              </a:rPr>
              <a:t>中点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smtClean="0">
                <a:solidFill>
                  <a:srgbClr val="000000"/>
                </a:solidFill>
                <a:latin typeface="Times New Roman" panose="02020603050405020304" pitchFamily="18" charset="0"/>
                <a:cs typeface="Times New Roman" panose="02020603050405020304" pitchFamily="18" charset="0"/>
              </a:rPr>
              <a:t>利用</a:t>
            </a:r>
            <a:r>
              <a:rPr lang="zh-CN" altLang="zh-CN" sz="2800" dirty="0">
                <a:solidFill>
                  <a:srgbClr val="000000"/>
                </a:solidFill>
                <a:latin typeface="Times New Roman" panose="02020603050405020304" pitchFamily="18" charset="0"/>
                <a:cs typeface="Times New Roman" panose="02020603050405020304" pitchFamily="18" charset="0"/>
              </a:rPr>
              <a:t>空间向量解决下列问题</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求</a:t>
            </a:r>
            <a:r>
              <a:rPr lang="en-US" altLang="zh-CN" sz="2800" i="1" dirty="0">
                <a:solidFill>
                  <a:srgbClr val="000000"/>
                </a:solidFill>
                <a:latin typeface="Times New Roman" panose="02020603050405020304" pitchFamily="18" charset="0"/>
                <a:cs typeface="Times New Roman" panose="02020603050405020304" pitchFamily="18" charset="0"/>
              </a:rPr>
              <a:t>EF</a:t>
            </a:r>
            <a:r>
              <a:rPr lang="zh-CN" altLang="zh-CN" sz="2800" dirty="0">
                <a:solidFill>
                  <a:srgbClr val="000000"/>
                </a:solidFill>
                <a:latin typeface="Times New Roman" panose="02020603050405020304" pitchFamily="18" charset="0"/>
                <a:cs typeface="Times New Roman" panose="02020603050405020304" pitchFamily="18" charset="0"/>
              </a:rPr>
              <a:t>与</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G</a:t>
            </a:r>
            <a:r>
              <a:rPr lang="zh-CN" altLang="zh-CN" sz="2800" dirty="0">
                <a:solidFill>
                  <a:srgbClr val="000000"/>
                </a:solidFill>
                <a:latin typeface="Times New Roman" panose="02020603050405020304" pitchFamily="18" charset="0"/>
                <a:cs typeface="Times New Roman" panose="02020603050405020304" pitchFamily="18" charset="0"/>
              </a:rPr>
              <a:t>所成角的余弦值</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求</a:t>
            </a:r>
            <a:r>
              <a:rPr lang="en-US" altLang="zh-CN" sz="2800" i="1" dirty="0">
                <a:solidFill>
                  <a:srgbClr val="000000"/>
                </a:solidFill>
                <a:latin typeface="Times New Roman" panose="02020603050405020304" pitchFamily="18" charset="0"/>
                <a:cs typeface="Times New Roman" panose="02020603050405020304" pitchFamily="18" charset="0"/>
              </a:rPr>
              <a:t>F</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H</a:t>
            </a:r>
            <a:r>
              <a:rPr lang="zh-CN" altLang="zh-CN" sz="2800" dirty="0">
                <a:solidFill>
                  <a:srgbClr val="000000"/>
                </a:solidFill>
                <a:latin typeface="Times New Roman" panose="02020603050405020304" pitchFamily="18" charset="0"/>
                <a:cs typeface="Times New Roman" panose="02020603050405020304" pitchFamily="18" charset="0"/>
              </a:rPr>
              <a:t>两点间的距离</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分析</a:t>
            </a:r>
            <a:r>
              <a:rPr lang="en-US" altLang="zh-CN" sz="2800" dirty="0" smtClean="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a:t>
            </a: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建</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适当坐标系</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得各点的坐标</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数量积运算</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夹角、长度公式</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几何结论</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9" name="对象 8"/>
          <p:cNvGraphicFramePr>
            <a:graphicFrameLocks noChangeAspect="1"/>
          </p:cNvGraphicFramePr>
          <p:nvPr>
            <p:extLst>
              <p:ext uri="{D42A27DB-BD31-4B8C-83A1-F6EECF244321}">
                <p14:modId xmlns:p14="http://schemas.microsoft.com/office/powerpoint/2010/main" val="650637769"/>
              </p:ext>
            </p:extLst>
          </p:nvPr>
        </p:nvGraphicFramePr>
        <p:xfrm>
          <a:off x="4141110" y="1459891"/>
          <a:ext cx="527178" cy="753795"/>
        </p:xfrm>
        <a:graphic>
          <a:graphicData uri="http://schemas.openxmlformats.org/presentationml/2006/ole">
            <mc:AlternateContent xmlns:mc="http://schemas.openxmlformats.org/markup-compatibility/2006">
              <mc:Choice xmlns:v="urn:schemas-microsoft-com:vml" Requires="v">
                <p:oleObj spid="_x0000_s24593" name="文档" r:id="rId3" imgW="285035" imgH="397130" progId="Word.Document.12">
                  <p:embed/>
                </p:oleObj>
              </mc:Choice>
              <mc:Fallback>
                <p:oleObj name="文档" r:id="rId3" imgW="285035" imgH="397130" progId="Word.Document.12">
                  <p:embed/>
                  <p:pic>
                    <p:nvPicPr>
                      <p:cNvPr id="0" name=""/>
                      <p:cNvPicPr/>
                      <p:nvPr/>
                    </p:nvPicPr>
                    <p:blipFill>
                      <a:blip r:embed="rId4"/>
                      <a:stretch>
                        <a:fillRect/>
                      </a:stretch>
                    </p:blipFill>
                    <p:spPr>
                      <a:xfrm>
                        <a:off x="4141110" y="1459891"/>
                        <a:ext cx="527178" cy="753795"/>
                      </a:xfrm>
                      <a:prstGeom prst="rect">
                        <a:avLst/>
                      </a:prstGeom>
                    </p:spPr>
                  </p:pic>
                </p:oleObj>
              </mc:Fallback>
            </mc:AlternateContent>
          </a:graphicData>
        </a:graphic>
      </p:graphicFrame>
    </p:spTree>
    <p:extLst>
      <p:ext uri="{BB962C8B-B14F-4D97-AF65-F5344CB8AC3E}">
        <p14:creationId xmlns:p14="http://schemas.microsoft.com/office/powerpoint/2010/main" val="1878284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animEffect transition="in" filter="wipe(down)">
                                      <p:cBhvr>
                                        <p:cTn id="7" dur="500"/>
                                        <p:tgtEl>
                                          <p:spTgt spid="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857734228"/>
              </p:ext>
            </p:extLst>
          </p:nvPr>
        </p:nvGraphicFramePr>
        <p:xfrm>
          <a:off x="44450" y="88900"/>
          <a:ext cx="11401425" cy="6586538"/>
        </p:xfrm>
        <a:graphic>
          <a:graphicData uri="http://schemas.openxmlformats.org/presentationml/2006/ole">
            <mc:AlternateContent xmlns:mc="http://schemas.openxmlformats.org/markup-compatibility/2006">
              <mc:Choice xmlns:v="urn:schemas-microsoft-com:vml" Requires="v">
                <p:oleObj spid="_x0000_s25619" name="文档" r:id="rId3" imgW="4510061" imgH="2617853" progId="Word.Document.12">
                  <p:embed/>
                </p:oleObj>
              </mc:Choice>
              <mc:Fallback>
                <p:oleObj name="文档" r:id="rId3" imgW="4510061" imgH="2617853" progId="Word.Document.12">
                  <p:embed/>
                  <p:pic>
                    <p:nvPicPr>
                      <p:cNvPr id="0" name=""/>
                      <p:cNvPicPr/>
                      <p:nvPr/>
                    </p:nvPicPr>
                    <p:blipFill>
                      <a:blip r:embed="rId4"/>
                      <a:stretch>
                        <a:fillRect/>
                      </a:stretch>
                    </p:blipFill>
                    <p:spPr>
                      <a:xfrm>
                        <a:off x="44450" y="88900"/>
                        <a:ext cx="11401425" cy="6586538"/>
                      </a:xfrm>
                      <a:prstGeom prst="rect">
                        <a:avLst/>
                      </a:prstGeom>
                    </p:spPr>
                  </p:pic>
                </p:oleObj>
              </mc:Fallback>
            </mc:AlternateContent>
          </a:graphicData>
        </a:graphic>
      </p:graphicFrame>
      <p:pic>
        <p:nvPicPr>
          <p:cNvPr id="3" name="VMX1TRAX02.eps" descr="id:2147495432;FounderCES"/>
          <p:cNvPicPr/>
          <p:nvPr/>
        </p:nvPicPr>
        <p:blipFill>
          <a:blip r:embed="rId5">
            <a:clrChange>
              <a:clrFrom>
                <a:srgbClr val="FFFFFF"/>
              </a:clrFrom>
              <a:clrTo>
                <a:srgbClr val="FFFFFF">
                  <a:alpha val="0"/>
                </a:srgbClr>
              </a:clrTo>
            </a:clrChange>
          </a:blip>
          <a:stretch>
            <a:fillRect/>
          </a:stretch>
        </p:blipFill>
        <p:spPr>
          <a:xfrm>
            <a:off x="7768734" y="2121217"/>
            <a:ext cx="3349416" cy="3271665"/>
          </a:xfrm>
          <a:prstGeom prst="rect">
            <a:avLst/>
          </a:prstGeom>
        </p:spPr>
      </p:pic>
    </p:spTree>
    <p:extLst>
      <p:ext uri="{BB962C8B-B14F-4D97-AF65-F5344CB8AC3E}">
        <p14:creationId xmlns:p14="http://schemas.microsoft.com/office/powerpoint/2010/main" val="263878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931803652"/>
              </p:ext>
            </p:extLst>
          </p:nvPr>
        </p:nvGraphicFramePr>
        <p:xfrm>
          <a:off x="41564" y="304185"/>
          <a:ext cx="11430000" cy="2513517"/>
        </p:xfrm>
        <a:graphic>
          <a:graphicData uri="http://schemas.openxmlformats.org/presentationml/2006/ole">
            <mc:AlternateContent xmlns:mc="http://schemas.openxmlformats.org/markup-compatibility/2006">
              <mc:Choice xmlns:v="urn:schemas-microsoft-com:vml" Requires="v">
                <p:oleObj spid="_x0000_s26642" name="文档" r:id="rId3" imgW="4510061" imgH="991786" progId="Word.Document.12">
                  <p:embed/>
                </p:oleObj>
              </mc:Choice>
              <mc:Fallback>
                <p:oleObj name="文档" r:id="rId3" imgW="4510061" imgH="991786" progId="Word.Document.12">
                  <p:embed/>
                  <p:pic>
                    <p:nvPicPr>
                      <p:cNvPr id="0" name=""/>
                      <p:cNvPicPr/>
                      <p:nvPr/>
                    </p:nvPicPr>
                    <p:blipFill>
                      <a:blip r:embed="rId4"/>
                      <a:stretch>
                        <a:fillRect/>
                      </a:stretch>
                    </p:blipFill>
                    <p:spPr>
                      <a:xfrm>
                        <a:off x="41564" y="304185"/>
                        <a:ext cx="11430000" cy="2513517"/>
                      </a:xfrm>
                      <a:prstGeom prst="rect">
                        <a:avLst/>
                      </a:prstGeom>
                    </p:spPr>
                  </p:pic>
                </p:oleObj>
              </mc:Fallback>
            </mc:AlternateContent>
          </a:graphicData>
        </a:graphic>
      </p:graphicFrame>
      <p:sp>
        <p:nvSpPr>
          <p:cNvPr id="3" name="矩形 2"/>
          <p:cNvSpPr>
            <a:spLocks noChangeAspect="1"/>
          </p:cNvSpPr>
          <p:nvPr/>
        </p:nvSpPr>
        <p:spPr>
          <a:xfrm>
            <a:off x="381000" y="2902953"/>
            <a:ext cx="11430000" cy="289310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en-US" sz="28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反思感悟 </a:t>
            </a:r>
            <a:r>
              <a:rPr lang="zh-CN"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运用</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空间向量的坐标运算解决立体几何问题的一般步骤</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建系</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根据题目中的几何图形建立适当的空间直角坐标系</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求坐标</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NEU-BZ-S92"/>
                <a:cs typeface="宋体" panose="02010600030101010101" pitchFamily="2" charset="-122"/>
              </a:rPr>
              <a:t>①</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求出相关点的坐标</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NEU-BZ-S92"/>
                <a:cs typeface="宋体" panose="02010600030101010101" pitchFamily="2" charset="-122"/>
              </a:rPr>
              <a:t>②</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写出向量的坐标</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论证、计算</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结合公式进行论证、计算</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(4)</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转化</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转化为几何结论</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6628909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a:spLocks noChangeAspect="1"/>
          </p:cNvSpPr>
          <p:nvPr/>
        </p:nvSpPr>
        <p:spPr>
          <a:xfrm>
            <a:off x="381000" y="273318"/>
            <a:ext cx="11430000" cy="1772793"/>
          </a:xfrm>
          <a:prstGeom prst="rect">
            <a:avLst/>
          </a:prstGeom>
        </p:spPr>
        <p:txBody>
          <a:bodyPr>
            <a:spAutoFit/>
          </a:bodyPr>
          <a:lstStyle/>
          <a:p>
            <a:pPr indent="279400">
              <a:lnSpc>
                <a:spcPct val="130000"/>
              </a:lnSpc>
              <a:spcAft>
                <a:spcPts val="0"/>
              </a:spcAft>
              <a:tabLst>
                <a:tab pos="1029335" algn="l"/>
                <a:tab pos="1850390" algn="l"/>
                <a:tab pos="2538095" algn="l"/>
                <a:tab pos="3221990"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en-US" altLang="zh-CN" sz="2800" b="1" dirty="0">
                <a:solidFill>
                  <a:srgbClr val="000000"/>
                </a:solidFill>
                <a:latin typeface="Times New Roman" panose="02020603050405020304" pitchFamily="18" charset="0"/>
                <a:cs typeface="Times New Roman" panose="02020603050405020304" pitchFamily="18" charset="0"/>
              </a:rPr>
              <a:t>4</a:t>
            </a: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如图</a:t>
            </a:r>
            <a:r>
              <a:rPr lang="zh-CN" altLang="zh-CN" sz="2800" dirty="0" smtClean="0">
                <a:solidFill>
                  <a:srgbClr val="000000"/>
                </a:solidFill>
                <a:latin typeface="NEU-BZ-S92"/>
                <a:cs typeface="宋体" panose="02010600030101010101" pitchFamily="2" charset="-122"/>
              </a:rPr>
              <a:t>①</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在</a:t>
            </a:r>
            <a:r>
              <a:rPr lang="en-US" altLang="zh-CN" sz="2800" dirty="0">
                <a:solidFill>
                  <a:srgbClr val="000000"/>
                </a:solidFill>
                <a:latin typeface="Cambria Math" panose="02040503050406030204" pitchFamily="18" charset="0"/>
                <a:cs typeface="Cambria Math" panose="020405030504060302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ABC</a:t>
            </a:r>
            <a:r>
              <a:rPr lang="zh-CN" altLang="zh-CN" sz="2800" dirty="0">
                <a:solidFill>
                  <a:srgbClr val="000000"/>
                </a:solidFill>
                <a:latin typeface="Times New Roman" panose="02020603050405020304" pitchFamily="18" charset="0"/>
                <a:cs typeface="Times New Roman" panose="02020603050405020304" pitchFamily="18" charset="0"/>
              </a:rPr>
              <a:t>中</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ABC=</a:t>
            </a:r>
            <a:r>
              <a:rPr lang="en-US" altLang="zh-CN" sz="2800" dirty="0">
                <a:solidFill>
                  <a:srgbClr val="000000"/>
                </a:solidFill>
                <a:latin typeface="Times New Roman" panose="02020603050405020304" pitchFamily="18" charset="0"/>
                <a:cs typeface="Times New Roman" panose="02020603050405020304" pitchFamily="18" charset="0"/>
              </a:rPr>
              <a:t>60</a:t>
            </a:r>
            <a:r>
              <a:rPr lang="en-US" altLang="zh-CN" sz="2800"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BAC=</a:t>
            </a:r>
            <a:r>
              <a:rPr lang="en-US" altLang="zh-CN" sz="2800" dirty="0">
                <a:solidFill>
                  <a:srgbClr val="000000"/>
                </a:solidFill>
                <a:latin typeface="Times New Roman" panose="02020603050405020304" pitchFamily="18" charset="0"/>
                <a:cs typeface="Times New Roman" panose="02020603050405020304" pitchFamily="18" charset="0"/>
              </a:rPr>
              <a:t>90</a:t>
            </a:r>
            <a:r>
              <a:rPr lang="en-US" altLang="zh-CN" sz="2800"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AD</a:t>
            </a:r>
            <a:r>
              <a:rPr lang="zh-CN" altLang="zh-CN" sz="2800" dirty="0">
                <a:solidFill>
                  <a:srgbClr val="000000"/>
                </a:solidFill>
                <a:latin typeface="Times New Roman" panose="02020603050405020304" pitchFamily="18" charset="0"/>
                <a:cs typeface="Times New Roman" panose="02020603050405020304" pitchFamily="18" charset="0"/>
              </a:rPr>
              <a:t>是</a:t>
            </a:r>
            <a:r>
              <a:rPr lang="en-US" altLang="zh-CN" sz="2800" i="1" dirty="0">
                <a:solidFill>
                  <a:srgbClr val="000000"/>
                </a:solidFill>
                <a:latin typeface="Times New Roman" panose="02020603050405020304" pitchFamily="18" charset="0"/>
                <a:cs typeface="Times New Roman" panose="02020603050405020304" pitchFamily="18" charset="0"/>
              </a:rPr>
              <a:t>BC</a:t>
            </a:r>
            <a:r>
              <a:rPr lang="zh-CN" altLang="zh-CN" sz="2800" dirty="0">
                <a:solidFill>
                  <a:srgbClr val="000000"/>
                </a:solidFill>
                <a:latin typeface="Times New Roman" panose="02020603050405020304" pitchFamily="18" charset="0"/>
                <a:cs typeface="Times New Roman" panose="02020603050405020304" pitchFamily="18" charset="0"/>
              </a:rPr>
              <a:t>边上的高</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沿</a:t>
            </a:r>
            <a:r>
              <a:rPr lang="en-US" altLang="zh-CN" sz="2800" i="1" dirty="0">
                <a:solidFill>
                  <a:srgbClr val="000000"/>
                </a:solidFill>
                <a:latin typeface="Times New Roman" panose="02020603050405020304" pitchFamily="18" charset="0"/>
                <a:cs typeface="Times New Roman" panose="02020603050405020304" pitchFamily="18" charset="0"/>
              </a:rPr>
              <a:t>AD</a:t>
            </a:r>
            <a:r>
              <a:rPr lang="zh-CN" altLang="zh-CN" sz="2800" dirty="0">
                <a:solidFill>
                  <a:srgbClr val="000000"/>
                </a:solidFill>
                <a:latin typeface="Times New Roman" panose="02020603050405020304" pitchFamily="18" charset="0"/>
                <a:cs typeface="Times New Roman" panose="02020603050405020304" pitchFamily="18" charset="0"/>
              </a:rPr>
              <a:t>把</a:t>
            </a:r>
            <a:r>
              <a:rPr lang="en-US" altLang="zh-CN" sz="2800" dirty="0">
                <a:solidFill>
                  <a:srgbClr val="000000"/>
                </a:solidFill>
                <a:latin typeface="Cambria Math" panose="02040503050406030204" pitchFamily="18" charset="0"/>
                <a:cs typeface="Cambria Math" panose="020405030504060302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ABD</a:t>
            </a:r>
            <a:r>
              <a:rPr lang="zh-CN" altLang="zh-CN" sz="2800" dirty="0">
                <a:solidFill>
                  <a:srgbClr val="000000"/>
                </a:solidFill>
                <a:latin typeface="Times New Roman" panose="02020603050405020304" pitchFamily="18" charset="0"/>
                <a:cs typeface="Times New Roman" panose="02020603050405020304" pitchFamily="18" charset="0"/>
              </a:rPr>
              <a:t>折起</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使</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BDC=</a:t>
            </a:r>
            <a:r>
              <a:rPr lang="en-US" altLang="zh-CN" sz="2800" dirty="0">
                <a:solidFill>
                  <a:srgbClr val="000000"/>
                </a:solidFill>
                <a:latin typeface="Times New Roman" panose="02020603050405020304" pitchFamily="18" charset="0"/>
                <a:cs typeface="Times New Roman" panose="02020603050405020304" pitchFamily="18" charset="0"/>
              </a:rPr>
              <a:t>90</a:t>
            </a:r>
            <a:r>
              <a:rPr lang="en-US" altLang="zh-CN" sz="2800"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得到图</a:t>
            </a:r>
            <a:r>
              <a:rPr lang="zh-CN" altLang="zh-CN" sz="2800" dirty="0">
                <a:solidFill>
                  <a:srgbClr val="000000"/>
                </a:solidFill>
                <a:latin typeface="NEU-BZ-S92"/>
                <a:cs typeface="宋体" panose="02010600030101010101" pitchFamily="2" charset="-122"/>
              </a:rPr>
              <a:t>②</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029335" algn="l"/>
                <a:tab pos="1850390" algn="l"/>
                <a:tab pos="2538095" algn="l"/>
                <a:tab pos="3221990" algn="l"/>
              </a:tabLst>
            </a:pPr>
            <a:r>
              <a:rPr lang="zh-CN" altLang="zh-CN" sz="2800" dirty="0">
                <a:solidFill>
                  <a:srgbClr val="000000"/>
                </a:solidFill>
                <a:latin typeface="Times New Roman" panose="02020603050405020304" pitchFamily="18" charset="0"/>
                <a:cs typeface="Times New Roman" panose="02020603050405020304" pitchFamily="18" charset="0"/>
              </a:rPr>
              <a:t>设</a:t>
            </a:r>
            <a:r>
              <a:rPr lang="en-US" altLang="zh-CN" sz="2800" i="1" dirty="0">
                <a:solidFill>
                  <a:srgbClr val="000000"/>
                </a:solidFill>
                <a:latin typeface="Times New Roman" panose="02020603050405020304" pitchFamily="18" charset="0"/>
                <a:cs typeface="Times New Roman" panose="02020603050405020304" pitchFamily="18" charset="0"/>
              </a:rPr>
              <a:t>E</a:t>
            </a:r>
            <a:r>
              <a:rPr lang="zh-CN" altLang="zh-CN" sz="2800" dirty="0">
                <a:solidFill>
                  <a:srgbClr val="000000"/>
                </a:solidFill>
                <a:latin typeface="Times New Roman" panose="02020603050405020304" pitchFamily="18" charset="0"/>
                <a:cs typeface="Times New Roman" panose="02020603050405020304" pitchFamily="18" charset="0"/>
              </a:rPr>
              <a:t>为</a:t>
            </a:r>
            <a:r>
              <a:rPr lang="en-US" altLang="zh-CN" sz="2800" i="1" dirty="0">
                <a:solidFill>
                  <a:srgbClr val="000000"/>
                </a:solidFill>
                <a:latin typeface="Times New Roman" panose="02020603050405020304" pitchFamily="18" charset="0"/>
                <a:cs typeface="Times New Roman" panose="02020603050405020304" pitchFamily="18" charset="0"/>
              </a:rPr>
              <a:t>BC</a:t>
            </a:r>
            <a:r>
              <a:rPr lang="zh-CN" altLang="zh-CN" sz="2800" dirty="0">
                <a:solidFill>
                  <a:srgbClr val="000000"/>
                </a:solidFill>
                <a:latin typeface="Times New Roman" panose="02020603050405020304" pitchFamily="18" charset="0"/>
                <a:cs typeface="Times New Roman" panose="02020603050405020304" pitchFamily="18" charset="0"/>
              </a:rPr>
              <a:t>的中点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求直线</a:t>
            </a:r>
            <a:r>
              <a:rPr lang="en-US" altLang="zh-CN" sz="2800" i="1" dirty="0">
                <a:solidFill>
                  <a:srgbClr val="000000"/>
                </a:solidFill>
                <a:latin typeface="Times New Roman" panose="02020603050405020304" pitchFamily="18" charset="0"/>
                <a:cs typeface="Times New Roman" panose="02020603050405020304" pitchFamily="18" charset="0"/>
              </a:rPr>
              <a:t>AE</a:t>
            </a:r>
            <a:r>
              <a:rPr lang="zh-CN" altLang="zh-CN" sz="2800" dirty="0">
                <a:solidFill>
                  <a:srgbClr val="000000"/>
                </a:solidFill>
                <a:latin typeface="Times New Roman" panose="02020603050405020304" pitchFamily="18" charset="0"/>
                <a:cs typeface="Times New Roman" panose="02020603050405020304" pitchFamily="18" charset="0"/>
              </a:rPr>
              <a:t>与直线</a:t>
            </a:r>
            <a:r>
              <a:rPr lang="en-US" altLang="zh-CN" sz="2800" i="1" dirty="0">
                <a:solidFill>
                  <a:srgbClr val="000000"/>
                </a:solidFill>
                <a:latin typeface="Times New Roman" panose="02020603050405020304" pitchFamily="18" charset="0"/>
                <a:cs typeface="Times New Roman" panose="02020603050405020304" pitchFamily="18" charset="0"/>
              </a:rPr>
              <a:t>DB</a:t>
            </a:r>
            <a:r>
              <a:rPr lang="zh-CN" altLang="zh-CN" sz="2800" dirty="0">
                <a:solidFill>
                  <a:srgbClr val="000000"/>
                </a:solidFill>
                <a:latin typeface="Times New Roman" panose="02020603050405020304" pitchFamily="18" charset="0"/>
                <a:cs typeface="Times New Roman" panose="02020603050405020304" pitchFamily="18" charset="0"/>
              </a:rPr>
              <a:t>所成角的余弦值</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7" name="NMX1TRAX46.eps" descr="id:2147513575;FounderCES"/>
          <p:cNvPicPr/>
          <p:nvPr/>
        </p:nvPicPr>
        <p:blipFill>
          <a:blip r:embed="rId2">
            <a:clrChange>
              <a:clrFrom>
                <a:srgbClr val="FFFFFF"/>
              </a:clrFrom>
              <a:clrTo>
                <a:srgbClr val="FFFFFF">
                  <a:alpha val="0"/>
                </a:srgbClr>
              </a:clrTo>
            </a:clrChange>
          </a:blip>
          <a:stretch>
            <a:fillRect/>
          </a:stretch>
        </p:blipFill>
        <p:spPr>
          <a:xfrm>
            <a:off x="1584930" y="2333921"/>
            <a:ext cx="4132185" cy="2394210"/>
          </a:xfrm>
          <a:prstGeom prst="rect">
            <a:avLst/>
          </a:prstGeom>
        </p:spPr>
      </p:pic>
      <p:pic>
        <p:nvPicPr>
          <p:cNvPr id="8" name="NMX1TRAX47.eps" descr="id:2147513582;FounderCES"/>
          <p:cNvPicPr/>
          <p:nvPr/>
        </p:nvPicPr>
        <p:blipFill>
          <a:blip r:embed="rId3">
            <a:clrChange>
              <a:clrFrom>
                <a:srgbClr val="FFFFFF"/>
              </a:clrFrom>
              <a:clrTo>
                <a:srgbClr val="FFFFFF">
                  <a:alpha val="0"/>
                </a:srgbClr>
              </a:clrTo>
            </a:clrChange>
          </a:blip>
          <a:stretch>
            <a:fillRect/>
          </a:stretch>
        </p:blipFill>
        <p:spPr>
          <a:xfrm>
            <a:off x="6671020" y="2333921"/>
            <a:ext cx="3794487" cy="2394210"/>
          </a:xfrm>
          <a:prstGeom prst="rect">
            <a:avLst/>
          </a:prstGeom>
        </p:spPr>
      </p:pic>
      <p:sp>
        <p:nvSpPr>
          <p:cNvPr id="9" name="矩形 8"/>
          <p:cNvSpPr>
            <a:spLocks noChangeAspect="1"/>
          </p:cNvSpPr>
          <p:nvPr/>
        </p:nvSpPr>
        <p:spPr>
          <a:xfrm>
            <a:off x="3379152" y="5020227"/>
            <a:ext cx="543739" cy="573042"/>
          </a:xfrm>
          <a:prstGeom prst="rect">
            <a:avLst/>
          </a:prstGeom>
        </p:spPr>
        <p:txBody>
          <a:bodyPr wrap="none">
            <a:spAutoFit/>
          </a:bodyPr>
          <a:lstStyle/>
          <a:p>
            <a:pPr algn="ctr">
              <a:lnSpc>
                <a:spcPct val="130000"/>
              </a:lnSpc>
              <a:spcAft>
                <a:spcPts val="0"/>
              </a:spcAft>
              <a:tabLst>
                <a:tab pos="1029335" algn="l"/>
                <a:tab pos="1850390" algn="l"/>
                <a:tab pos="2538095" algn="l"/>
                <a:tab pos="3221990" algn="l"/>
              </a:tabLst>
            </a:pPr>
            <a:r>
              <a:rPr lang="zh-CN" altLang="zh-CN" sz="2800" dirty="0" smtClean="0">
                <a:solidFill>
                  <a:srgbClr val="000000"/>
                </a:solidFill>
                <a:latin typeface="NEU-BZ-S92"/>
                <a:cs typeface="宋体" panose="02010600030101010101" pitchFamily="2" charset="-122"/>
              </a:rPr>
              <a:t>①</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10" name="矩形 9"/>
          <p:cNvSpPr>
            <a:spLocks noChangeAspect="1"/>
          </p:cNvSpPr>
          <p:nvPr/>
        </p:nvSpPr>
        <p:spPr>
          <a:xfrm>
            <a:off x="8296393" y="5020227"/>
            <a:ext cx="543739" cy="573042"/>
          </a:xfrm>
          <a:prstGeom prst="rect">
            <a:avLst/>
          </a:prstGeom>
        </p:spPr>
        <p:txBody>
          <a:bodyPr wrap="none">
            <a:spAutoFit/>
          </a:bodyPr>
          <a:lstStyle/>
          <a:p>
            <a:pPr algn="ctr">
              <a:lnSpc>
                <a:spcPct val="130000"/>
              </a:lnSpc>
              <a:spcAft>
                <a:spcPts val="0"/>
              </a:spcAft>
              <a:tabLst>
                <a:tab pos="1029335" algn="l"/>
                <a:tab pos="1850390" algn="l"/>
                <a:tab pos="2538095" algn="l"/>
                <a:tab pos="3221990" algn="l"/>
              </a:tabLst>
            </a:pPr>
            <a:r>
              <a:rPr lang="zh-CN" altLang="en-US" sz="2800" dirty="0">
                <a:solidFill>
                  <a:srgbClr val="000000"/>
                </a:solidFill>
                <a:latin typeface="NEU-BZ-S92"/>
                <a:cs typeface="宋体" panose="02010600030101010101" pitchFamily="2" charset="-122"/>
              </a:rPr>
              <a:t>②</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4883189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81000" y="497546"/>
            <a:ext cx="11430000" cy="1152367"/>
          </a:xfrm>
          <a:prstGeom prst="rect">
            <a:avLst/>
          </a:prstGeom>
        </p:spPr>
        <p:txBody>
          <a:bodyPr>
            <a:spAutoFit/>
          </a:bodyPr>
          <a:lstStyle/>
          <a:p>
            <a:pPr indent="279400">
              <a:lnSpc>
                <a:spcPct val="130000"/>
              </a:lnSpc>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如图</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以</a:t>
            </a:r>
            <a:r>
              <a:rPr lang="en-US" altLang="zh-CN" sz="2800" i="1" dirty="0">
                <a:solidFill>
                  <a:srgbClr val="000000"/>
                </a:solidFill>
                <a:latin typeface="Times New Roman" panose="02020603050405020304" pitchFamily="18" charset="0"/>
                <a:cs typeface="Times New Roman" panose="02020603050405020304" pitchFamily="18" charset="0"/>
              </a:rPr>
              <a:t>D</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为坐标原点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以</a:t>
            </a:r>
            <a:r>
              <a:rPr lang="en-US" altLang="zh-CN" sz="2800" i="1" dirty="0">
                <a:solidFill>
                  <a:srgbClr val="000000"/>
                </a:solidFill>
                <a:latin typeface="Times New Roman" panose="02020603050405020304" pitchFamily="18" charset="0"/>
                <a:cs typeface="Times New Roman" panose="02020603050405020304" pitchFamily="18" charset="0"/>
              </a:rPr>
              <a:t>DB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DC</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DA</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所在直线分别为</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i="1" dirty="0">
                <a:solidFill>
                  <a:srgbClr val="000000"/>
                </a:solidFill>
                <a:latin typeface="Times New Roman" panose="02020603050405020304" pitchFamily="18" charset="0"/>
                <a:cs typeface="Times New Roman" panose="02020603050405020304" pitchFamily="18" charset="0"/>
              </a:rPr>
              <a:t>y</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i="1" dirty="0">
                <a:solidFill>
                  <a:srgbClr val="000000"/>
                </a:solidFill>
                <a:latin typeface="Times New Roman" panose="02020603050405020304" pitchFamily="18" charset="0"/>
                <a:cs typeface="Times New Roman" panose="02020603050405020304" pitchFamily="18" charset="0"/>
              </a:rPr>
              <a:t>z</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轴建立空间直角坐标</a:t>
            </a: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系</a:t>
            </a:r>
            <a:r>
              <a:rPr lang="en-US" altLang="zh-CN" sz="2800" i="1" dirty="0" err="1" smtClean="0">
                <a:solidFill>
                  <a:srgbClr val="000000"/>
                </a:solidFill>
                <a:latin typeface="Times New Roman" panose="02020603050405020304" pitchFamily="18" charset="0"/>
              </a:rPr>
              <a:t>Dxyz</a:t>
            </a:r>
            <a:r>
              <a:rPr lang="en-US" altLang="zh-CN" sz="2800" i="1" dirty="0" smtClean="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43506464"/>
              </p:ext>
            </p:extLst>
          </p:nvPr>
        </p:nvGraphicFramePr>
        <p:xfrm>
          <a:off x="53178" y="1699316"/>
          <a:ext cx="11275153" cy="3380860"/>
        </p:xfrm>
        <a:graphic>
          <a:graphicData uri="http://schemas.openxmlformats.org/presentationml/2006/ole">
            <mc:AlternateContent xmlns:mc="http://schemas.openxmlformats.org/markup-compatibility/2006">
              <mc:Choice xmlns:v="urn:schemas-microsoft-com:vml" Requires="v">
                <p:oleObj spid="_x0000_s28690" name="文档" r:id="rId3" imgW="4510061" imgH="1352344" progId="Word.Document.12">
                  <p:embed/>
                </p:oleObj>
              </mc:Choice>
              <mc:Fallback>
                <p:oleObj name="文档" r:id="rId3" imgW="4510061" imgH="1352344" progId="Word.Document.12">
                  <p:embed/>
                  <p:pic>
                    <p:nvPicPr>
                      <p:cNvPr id="0" name=""/>
                      <p:cNvPicPr/>
                      <p:nvPr/>
                    </p:nvPicPr>
                    <p:blipFill>
                      <a:blip r:embed="rId4"/>
                      <a:stretch>
                        <a:fillRect/>
                      </a:stretch>
                    </p:blipFill>
                    <p:spPr>
                      <a:xfrm>
                        <a:off x="53178" y="1699316"/>
                        <a:ext cx="11275153" cy="3380860"/>
                      </a:xfrm>
                      <a:prstGeom prst="rect">
                        <a:avLst/>
                      </a:prstGeom>
                    </p:spPr>
                  </p:pic>
                </p:oleObj>
              </mc:Fallback>
            </mc:AlternateContent>
          </a:graphicData>
        </a:graphic>
      </p:graphicFrame>
      <p:pic>
        <p:nvPicPr>
          <p:cNvPr id="5" name="NMX1TRAX223.eps" descr="id:2147513589;FounderCES"/>
          <p:cNvPicPr/>
          <p:nvPr/>
        </p:nvPicPr>
        <p:blipFill>
          <a:blip r:embed="rId5">
            <a:clrChange>
              <a:clrFrom>
                <a:srgbClr val="FFFFFF"/>
              </a:clrFrom>
              <a:clrTo>
                <a:srgbClr val="FFFFFF">
                  <a:alpha val="0"/>
                </a:srgbClr>
              </a:clrTo>
            </a:clrChange>
          </a:blip>
          <a:stretch>
            <a:fillRect/>
          </a:stretch>
        </p:blipFill>
        <p:spPr>
          <a:xfrm>
            <a:off x="8284181" y="2103639"/>
            <a:ext cx="3386041" cy="2447579"/>
          </a:xfrm>
          <a:prstGeom prst="rect">
            <a:avLst/>
          </a:prstGeom>
        </p:spPr>
      </p:pic>
    </p:spTree>
    <p:extLst>
      <p:ext uri="{BB962C8B-B14F-4D97-AF65-F5344CB8AC3E}">
        <p14:creationId xmlns:p14="http://schemas.microsoft.com/office/powerpoint/2010/main" val="19620020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a:spLocks noChangeAspect="1"/>
          </p:cNvSpPr>
          <p:nvPr/>
        </p:nvSpPr>
        <p:spPr>
          <a:xfrm>
            <a:off x="381000" y="50021"/>
            <a:ext cx="2362200" cy="640625"/>
          </a:xfrm>
          <a:prstGeom prst="rect">
            <a:avLst/>
          </a:prstGeom>
        </p:spPr>
        <p:txBody>
          <a:bodyPr wrap="square">
            <a:spAutoFit/>
          </a:bodyPr>
          <a:lstStyle/>
          <a:p>
            <a:pPr>
              <a:lnSpc>
                <a:spcPct val="130000"/>
              </a:lnSpc>
              <a:tabLst>
                <a:tab pos="1188085" algn="l"/>
                <a:tab pos="2163445" algn="l"/>
                <a:tab pos="3142615" algn="l"/>
                <a:tab pos="4190365" algn="l"/>
              </a:tabLst>
            </a:pPr>
            <a:r>
              <a:rPr lang="zh-CN" altLang="zh-CN" sz="3200" b="1" dirty="0" smtClean="0">
                <a:solidFill>
                  <a:srgbClr val="E88651">
                    <a:lumMod val="75000"/>
                  </a:srgbClr>
                </a:solidFill>
                <a:latin typeface="黑体" panose="02010609060101010101" pitchFamily="49" charset="-122"/>
                <a:ea typeface="方正姚体" panose="02010601030101010101"/>
                <a:cs typeface="方正姚体" panose="02010601030101010101" charset="-122"/>
              </a:rPr>
              <a:t>【</a:t>
            </a:r>
            <a:r>
              <a:rPr lang="zh-CN" altLang="en-US" sz="3200" b="1" dirty="0" smtClean="0">
                <a:solidFill>
                  <a:srgbClr val="E88651">
                    <a:lumMod val="75000"/>
                  </a:srgbClr>
                </a:solidFill>
                <a:latin typeface="黑体" panose="02010609060101010101" pitchFamily="49" charset="-122"/>
                <a:ea typeface="方正姚体" panose="02010601030101010101"/>
                <a:cs typeface="方正姚体" panose="02010601030101010101" charset="-122"/>
              </a:rPr>
              <a:t>易错辨析</a:t>
            </a:r>
            <a:r>
              <a:rPr lang="zh-CN" altLang="zh-CN" sz="3200" b="1" dirty="0" smtClean="0">
                <a:solidFill>
                  <a:srgbClr val="E88651">
                    <a:lumMod val="75000"/>
                  </a:srgbClr>
                </a:solidFill>
                <a:latin typeface="黑体" panose="02010609060101010101" pitchFamily="49" charset="-122"/>
                <a:ea typeface="方正姚体" panose="02010601030101010101"/>
                <a:cs typeface="方正姚体" panose="02010601030101010101" charset="-122"/>
              </a:rPr>
              <a:t>】</a:t>
            </a:r>
            <a:r>
              <a:rPr lang="en-US" altLang="zh-CN" sz="3200" b="1" dirty="0" smtClean="0">
                <a:solidFill>
                  <a:srgbClr val="E88651">
                    <a:lumMod val="75000"/>
                  </a:srgbClr>
                </a:solidFill>
                <a:latin typeface="黑体" panose="02010609060101010101" pitchFamily="49" charset="-122"/>
                <a:ea typeface="方正姚体" panose="02010601030101010101"/>
                <a:cs typeface="方正姚体" panose="02010601030101010101" charset="-122"/>
              </a:rPr>
              <a:t> </a:t>
            </a:r>
            <a:endParaRPr lang="zh-CN" altLang="zh-CN" sz="3200" b="1" dirty="0">
              <a:solidFill>
                <a:srgbClr val="E88651">
                  <a:lumMod val="75000"/>
                </a:srgbClr>
              </a:solidFill>
              <a:latin typeface="黑体" panose="02010609060101010101" pitchFamily="49" charset="-122"/>
              <a:ea typeface="方正姚体" panose="02010601030101010101"/>
              <a:cs typeface="方正姚体" panose="02010601030101010101" charset="-122"/>
            </a:endParaRPr>
          </a:p>
        </p:txBody>
      </p:sp>
      <p:sp>
        <p:nvSpPr>
          <p:cNvPr id="2" name="矩形 1"/>
          <p:cNvSpPr>
            <a:spLocks noChangeAspect="1"/>
          </p:cNvSpPr>
          <p:nvPr/>
        </p:nvSpPr>
        <p:spPr>
          <a:xfrm>
            <a:off x="381000" y="705837"/>
            <a:ext cx="11430000" cy="1712520"/>
          </a:xfrm>
          <a:prstGeom prst="rect">
            <a:avLst/>
          </a:prstGeom>
        </p:spPr>
        <p:txBody>
          <a:bodyPr>
            <a:spAutoFit/>
          </a:bodyPr>
          <a:lstStyle/>
          <a:p>
            <a:pPr algn="ctr">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转化不等价致误</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【典例】</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已知向量</a:t>
            </a:r>
            <a:r>
              <a:rPr lang="en-US" altLang="zh-CN" sz="2800" b="1" dirty="0">
                <a:solidFill>
                  <a:srgbClr val="000000"/>
                </a:solidFill>
                <a:latin typeface="Times New Roman" panose="02020603050405020304" pitchFamily="18" charset="0"/>
                <a:cs typeface="Times New Roman" panose="02020603050405020304" pitchFamily="18" charset="0"/>
              </a:rPr>
              <a:t>a</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b="1" dirty="0">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1,1),</a:t>
            </a:r>
            <a:r>
              <a:rPr lang="zh-CN" altLang="zh-CN" sz="2800" dirty="0">
                <a:solidFill>
                  <a:srgbClr val="000000"/>
                </a:solidFill>
                <a:latin typeface="Times New Roman" panose="02020603050405020304" pitchFamily="18" charset="0"/>
                <a:cs typeface="Times New Roman" panose="02020603050405020304" pitchFamily="18" charset="0"/>
              </a:rPr>
              <a:t>且</a:t>
            </a:r>
            <a:r>
              <a:rPr lang="en-US" altLang="zh-CN" sz="2800" b="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cs typeface="Times New Roman" panose="02020603050405020304" pitchFamily="18" charset="0"/>
              </a:rPr>
              <a:t>与</a:t>
            </a:r>
            <a:r>
              <a:rPr lang="en-US" altLang="zh-CN" sz="2800" b="1" dirty="0">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cs typeface="Times New Roman" panose="02020603050405020304" pitchFamily="18" charset="0"/>
              </a:rPr>
              <a:t>的夹角为钝角</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latin typeface="Times New Roman" panose="02020603050405020304" pitchFamily="18" charset="0"/>
                <a:cs typeface="Times New Roman" panose="02020603050405020304" pitchFamily="18" charset="0"/>
              </a:rPr>
              <a:t>的取值范围是</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1990307541"/>
              </p:ext>
            </p:extLst>
          </p:nvPr>
        </p:nvGraphicFramePr>
        <p:xfrm>
          <a:off x="38100" y="2311872"/>
          <a:ext cx="11430000" cy="2010264"/>
        </p:xfrm>
        <a:graphic>
          <a:graphicData uri="http://schemas.openxmlformats.org/presentationml/2006/ole">
            <mc:AlternateContent xmlns:mc="http://schemas.openxmlformats.org/markup-compatibility/2006">
              <mc:Choice xmlns:v="urn:schemas-microsoft-com:vml" Requires="v">
                <p:oleObj spid="_x0000_s29712" name="文档" r:id="rId3" imgW="4510061" imgH="793212" progId="Word.Document.12">
                  <p:embed/>
                </p:oleObj>
              </mc:Choice>
              <mc:Fallback>
                <p:oleObj name="文档" r:id="rId3" imgW="4510061" imgH="793212" progId="Word.Document.12">
                  <p:embed/>
                  <p:pic>
                    <p:nvPicPr>
                      <p:cNvPr id="0" name=""/>
                      <p:cNvPicPr/>
                      <p:nvPr/>
                    </p:nvPicPr>
                    <p:blipFill>
                      <a:blip r:embed="rId4"/>
                      <a:stretch>
                        <a:fillRect/>
                      </a:stretch>
                    </p:blipFill>
                    <p:spPr>
                      <a:xfrm>
                        <a:off x="38100" y="2311872"/>
                        <a:ext cx="11430000" cy="2010264"/>
                      </a:xfrm>
                      <a:prstGeom prst="rect">
                        <a:avLst/>
                      </a:prstGeom>
                    </p:spPr>
                  </p:pic>
                </p:oleObj>
              </mc:Fallback>
            </mc:AlternateContent>
          </a:graphicData>
        </a:graphic>
      </p:graphicFrame>
      <p:sp>
        <p:nvSpPr>
          <p:cNvPr id="4" name="矩形 3"/>
          <p:cNvSpPr>
            <a:spLocks noChangeAspect="1"/>
          </p:cNvSpPr>
          <p:nvPr/>
        </p:nvSpPr>
        <p:spPr>
          <a:xfrm>
            <a:off x="381000" y="4242424"/>
            <a:ext cx="11430000" cy="2272673"/>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错解</a:t>
            </a:r>
            <a:r>
              <a:rPr lang="en-US"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因为</a:t>
            </a:r>
            <a:r>
              <a:rPr lang="en-US" altLang="zh-CN" sz="2800" b="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cs typeface="Times New Roman" panose="02020603050405020304" pitchFamily="18" charset="0"/>
              </a:rPr>
              <a:t>与</a:t>
            </a:r>
            <a:r>
              <a:rPr lang="en-US" altLang="zh-CN" sz="2800" b="1" dirty="0">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cs typeface="Times New Roman" panose="02020603050405020304" pitchFamily="18" charset="0"/>
              </a:rPr>
              <a:t>的夹角为钝角</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所以</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3)×1</a:t>
            </a:r>
            <a:r>
              <a:rPr lang="en-US" altLang="zh-CN" sz="2800" i="1" dirty="0">
                <a:solidFill>
                  <a:srgbClr val="000000"/>
                </a:solidFill>
                <a:latin typeface="Times New Roman" panose="02020603050405020304" pitchFamily="18" charset="0"/>
                <a:cs typeface="Times New Roman" panose="02020603050405020304" pitchFamily="18" charset="0"/>
              </a:rPr>
              <a:t>&lt;</a:t>
            </a:r>
            <a:r>
              <a:rPr lang="en-US" altLang="zh-CN" sz="2800" dirty="0">
                <a:solidFill>
                  <a:srgbClr val="000000"/>
                </a:solidFill>
                <a:latin typeface="Times New Roman" panose="02020603050405020304" pitchFamily="18" charset="0"/>
                <a:cs typeface="Times New Roman" panose="02020603050405020304" pitchFamily="18" charset="0"/>
              </a:rPr>
              <a:t>0,</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解得</a:t>
            </a:r>
            <a:r>
              <a:rPr lang="en-US" altLang="zh-CN" sz="2800" i="1" dirty="0">
                <a:solidFill>
                  <a:srgbClr val="000000"/>
                </a:solidFill>
                <a:latin typeface="Times New Roman" panose="02020603050405020304" pitchFamily="18" charset="0"/>
                <a:cs typeface="Times New Roman" panose="02020603050405020304" pitchFamily="18" charset="0"/>
              </a:rPr>
              <a:t>x&gt;-</a:t>
            </a: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所以</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latin typeface="Times New Roman" panose="02020603050405020304" pitchFamily="18" charset="0"/>
                <a:cs typeface="Times New Roman" panose="02020603050405020304" pitchFamily="18" charset="0"/>
              </a:rPr>
              <a:t>的取值范围是</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42495460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247598"/>
            <a:ext cx="11430000" cy="339298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以上解答过程中都有哪些错误</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出错的原因是什么</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你如何改正</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你如何防范</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提示</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空间向量</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的夹角为钝角与</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&lt;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并不等价</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&lt;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中包含着</a:t>
            </a:r>
            <a:r>
              <a:rPr lang="en-US" altLang="zh-CN" sz="2800" i="1" dirty="0">
                <a:solidFill>
                  <a:srgbClr val="000000"/>
                </a:solidFill>
                <a:latin typeface="Times New Roman" panose="02020603050405020304" pitchFamily="18" charset="0"/>
                <a:cs typeface="Times New Roman" panose="02020603050405020304" pitchFamily="18" charset="0"/>
              </a:rPr>
              <a:t>&lt;</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&gt;=</a:t>
            </a:r>
            <a:r>
              <a:rPr lang="en-US" altLang="zh-CN" sz="2800" dirty="0">
                <a:solidFill>
                  <a:srgbClr val="000000"/>
                </a:solidFill>
                <a:latin typeface="Times New Roman" panose="02020603050405020304" pitchFamily="18" charset="0"/>
                <a:cs typeface="Times New Roman" panose="02020603050405020304" pitchFamily="18" charset="0"/>
              </a:rPr>
              <a:t>180</a:t>
            </a:r>
            <a:r>
              <a:rPr lang="en-US" altLang="zh-CN" sz="2800"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的情形</a:t>
            </a:r>
            <a:r>
              <a:rPr lang="en-US" altLang="zh-CN" sz="2800" i="1" dirty="0">
                <a:solidFill>
                  <a:srgbClr val="000000"/>
                </a:solidFill>
                <a:latin typeface="Times New Roman" panose="02020603050405020304" pitchFamily="18" charset="0"/>
                <a:cs typeface="Times New Roman" panose="02020603050405020304" pitchFamily="18" charset="0"/>
              </a:rPr>
              <a:t>.&lt;</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&gt;=</a:t>
            </a:r>
            <a:r>
              <a:rPr lang="en-US" altLang="zh-CN" sz="2800" dirty="0">
                <a:solidFill>
                  <a:srgbClr val="000000"/>
                </a:solidFill>
                <a:latin typeface="Times New Roman" panose="02020603050405020304" pitchFamily="18" charset="0"/>
                <a:cs typeface="Times New Roman" panose="02020603050405020304" pitchFamily="18" charset="0"/>
              </a:rPr>
              <a:t>180</a:t>
            </a:r>
            <a:r>
              <a:rPr lang="en-US" altLang="zh-CN" sz="2800"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的情形</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可利用</a:t>
            </a:r>
            <a:r>
              <a:rPr lang="en-US" altLang="zh-CN" sz="2800" b="1" dirty="0">
                <a:solidFill>
                  <a:srgbClr val="000000"/>
                </a:solidFill>
                <a:latin typeface="Times New Roman" panose="02020603050405020304" pitchFamily="18" charset="0"/>
                <a:cs typeface="Times New Roman" panose="02020603050405020304" pitchFamily="18" charset="0"/>
              </a:rPr>
              <a:t>a</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λ</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λ</a:t>
            </a:r>
            <a:r>
              <a:rPr lang="en-US" altLang="zh-CN" sz="2800" i="1" dirty="0">
                <a:solidFill>
                  <a:srgbClr val="000000"/>
                </a:solidFill>
                <a:latin typeface="Times New Roman" panose="02020603050405020304" pitchFamily="18" charset="0"/>
                <a:cs typeface="Times New Roman" panose="02020603050405020304" pitchFamily="18" charset="0"/>
              </a:rPr>
              <a:t>&lt;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也可利用</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a</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即</a:t>
            </a:r>
            <a:r>
              <a:rPr lang="en-US" altLang="zh-CN" sz="2800" dirty="0" err="1">
                <a:solidFill>
                  <a:srgbClr val="000000"/>
                </a:solidFill>
                <a:latin typeface="Times New Roman" panose="02020603050405020304" pitchFamily="18" charset="0"/>
                <a:cs typeface="Times New Roman" panose="02020603050405020304" pitchFamily="18" charset="0"/>
              </a:rPr>
              <a:t>cos</a:t>
            </a:r>
            <a:r>
              <a:rPr lang="en-US" altLang="zh-CN" sz="2800" i="1" dirty="0">
                <a:solidFill>
                  <a:srgbClr val="000000"/>
                </a:solidFill>
                <a:latin typeface="Times New Roman" panose="02020603050405020304" pitchFamily="18" charset="0"/>
                <a:cs typeface="Times New Roman" panose="02020603050405020304" pitchFamily="18" charset="0"/>
              </a:rPr>
              <a:t>&lt;</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&gt;=-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求得</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同样</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&gt;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也包含着</a:t>
            </a:r>
            <a:r>
              <a:rPr lang="en-US" altLang="zh-CN" sz="2800" i="1" dirty="0">
                <a:solidFill>
                  <a:srgbClr val="000000"/>
                </a:solidFill>
                <a:latin typeface="Times New Roman" panose="02020603050405020304" pitchFamily="18" charset="0"/>
                <a:cs typeface="Times New Roman" panose="02020603050405020304" pitchFamily="18" charset="0"/>
              </a:rPr>
              <a:t>&lt;</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&gt;=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的情形</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解题时应把这种情况剔除</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8128557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wipe(down)">
                                      <p:cBhvr>
                                        <p:cTn id="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218421"/>
            <a:ext cx="11430000" cy="283282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正解</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因为</a:t>
            </a:r>
            <a:r>
              <a:rPr lang="en-US" altLang="zh-CN" sz="2800" b="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cs typeface="Times New Roman" panose="02020603050405020304" pitchFamily="18" charset="0"/>
              </a:rPr>
              <a:t>与</a:t>
            </a:r>
            <a:r>
              <a:rPr lang="en-US" altLang="zh-CN" sz="2800" b="1" dirty="0">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cs typeface="Times New Roman" panose="02020603050405020304" pitchFamily="18" charset="0"/>
              </a:rPr>
              <a:t>的夹角为钝角</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所以</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&lt;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且</a:t>
            </a:r>
            <a:r>
              <a:rPr lang="en-US" altLang="zh-CN" sz="2800" i="1" dirty="0">
                <a:solidFill>
                  <a:srgbClr val="000000"/>
                </a:solidFill>
                <a:latin typeface="Times New Roman" panose="02020603050405020304" pitchFamily="18" charset="0"/>
                <a:cs typeface="Times New Roman" panose="02020603050405020304" pitchFamily="18" charset="0"/>
              </a:rPr>
              <a:t>&lt;</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&gt;</a:t>
            </a:r>
            <a:r>
              <a:rPr lang="en-US" altLang="zh-CN" sz="2800" dirty="0">
                <a:solidFill>
                  <a:srgbClr val="000000"/>
                </a:solidFill>
                <a:latin typeface="Times New Roman" panose="02020603050405020304" pitchFamily="18" charset="0"/>
                <a:cs typeface="Times New Roman" panose="02020603050405020304" pitchFamily="18" charset="0"/>
              </a:rPr>
              <a:t>≠180</a:t>
            </a:r>
            <a:r>
              <a:rPr lang="en-US" altLang="zh-CN" sz="2800"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由</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&lt;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得</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1,1)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3)×1</a:t>
            </a:r>
            <a:r>
              <a:rPr lang="en-US" altLang="zh-CN" sz="2800" i="1" dirty="0">
                <a:solidFill>
                  <a:srgbClr val="000000"/>
                </a:solidFill>
                <a:latin typeface="Times New Roman" panose="02020603050405020304" pitchFamily="18" charset="0"/>
                <a:cs typeface="Times New Roman" panose="02020603050405020304" pitchFamily="18" charset="0"/>
              </a:rPr>
              <a:t>&lt;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解得</a:t>
            </a:r>
            <a:r>
              <a:rPr lang="en-US" altLang="zh-CN" sz="2800" i="1" dirty="0">
                <a:solidFill>
                  <a:srgbClr val="000000"/>
                </a:solidFill>
                <a:latin typeface="Times New Roman" panose="02020603050405020304" pitchFamily="18" charset="0"/>
                <a:cs typeface="Times New Roman" panose="02020603050405020304" pitchFamily="18" charset="0"/>
              </a:rPr>
              <a:t>x&gt;-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若</a:t>
            </a:r>
            <a:r>
              <a:rPr lang="en-US" altLang="zh-CN" sz="2800" b="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cs typeface="Times New Roman" panose="02020603050405020304" pitchFamily="18" charset="0"/>
              </a:rPr>
              <a:t>与</a:t>
            </a:r>
            <a:r>
              <a:rPr lang="en-US" altLang="zh-CN" sz="2800" b="1" dirty="0">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cs typeface="Times New Roman" panose="02020603050405020304" pitchFamily="18" charset="0"/>
              </a:rPr>
              <a:t>的夹角为</a:t>
            </a:r>
            <a:r>
              <a:rPr lang="en-US" altLang="zh-CN" sz="2800" dirty="0">
                <a:solidFill>
                  <a:srgbClr val="000000"/>
                </a:solidFill>
                <a:latin typeface="Times New Roman" panose="02020603050405020304" pitchFamily="18" charset="0"/>
                <a:cs typeface="Times New Roman" panose="02020603050405020304" pitchFamily="18" charset="0"/>
              </a:rPr>
              <a:t>180</a:t>
            </a:r>
            <a:r>
              <a:rPr lang="en-US" altLang="zh-CN" sz="2800"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则存在</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λ</a:t>
            </a:r>
            <a:r>
              <a:rPr lang="en-US" altLang="zh-CN" sz="2800" i="1" dirty="0">
                <a:solidFill>
                  <a:srgbClr val="000000"/>
                </a:solidFill>
                <a:latin typeface="Times New Roman" panose="02020603050405020304" pitchFamily="18" charset="0"/>
                <a:cs typeface="Times New Roman" panose="02020603050405020304" pitchFamily="18" charset="0"/>
              </a:rPr>
              <a:t>&lt;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使</a:t>
            </a:r>
            <a:r>
              <a:rPr lang="en-US" altLang="zh-CN" sz="2800" b="1" dirty="0">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λ</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即</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1,1)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λ</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091740682"/>
              </p:ext>
            </p:extLst>
          </p:nvPr>
        </p:nvGraphicFramePr>
        <p:xfrm>
          <a:off x="38099" y="3051248"/>
          <a:ext cx="11430000" cy="2513517"/>
        </p:xfrm>
        <a:graphic>
          <a:graphicData uri="http://schemas.openxmlformats.org/presentationml/2006/ole">
            <mc:AlternateContent xmlns:mc="http://schemas.openxmlformats.org/markup-compatibility/2006">
              <mc:Choice xmlns:v="urn:schemas-microsoft-com:vml" Requires="v">
                <p:oleObj spid="_x0000_s30737" name="文档" r:id="rId3" imgW="4510061" imgH="991786" progId="Word.Document.12">
                  <p:embed/>
                </p:oleObj>
              </mc:Choice>
              <mc:Fallback>
                <p:oleObj name="文档" r:id="rId3" imgW="4510061" imgH="991786" progId="Word.Document.12">
                  <p:embed/>
                  <p:pic>
                    <p:nvPicPr>
                      <p:cNvPr id="0" name=""/>
                      <p:cNvPicPr/>
                      <p:nvPr/>
                    </p:nvPicPr>
                    <p:blipFill>
                      <a:blip r:embed="rId4"/>
                      <a:stretch>
                        <a:fillRect/>
                      </a:stretch>
                    </p:blipFill>
                    <p:spPr>
                      <a:xfrm>
                        <a:off x="38099" y="3051248"/>
                        <a:ext cx="11430000" cy="2513517"/>
                      </a:xfrm>
                      <a:prstGeom prst="rect">
                        <a:avLst/>
                      </a:prstGeom>
                    </p:spPr>
                  </p:pic>
                </p:oleObj>
              </mc:Fallback>
            </mc:AlternateContent>
          </a:graphicData>
        </a:graphic>
      </p:graphicFrame>
      <p:sp>
        <p:nvSpPr>
          <p:cNvPr id="4" name="矩形 3"/>
          <p:cNvSpPr>
            <a:spLocks noChangeAspect="1"/>
          </p:cNvSpPr>
          <p:nvPr/>
        </p:nvSpPr>
        <p:spPr>
          <a:xfrm>
            <a:off x="381000" y="5481123"/>
            <a:ext cx="1612942" cy="652486"/>
          </a:xfrm>
          <a:prstGeom prst="rect">
            <a:avLst/>
          </a:prstGeom>
        </p:spPr>
        <p:txBody>
          <a:bodyPr wrap="none">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B</a:t>
            </a:r>
            <a:r>
              <a:rPr lang="zh-CN" altLang="en-US" sz="2800"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8171020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488492"/>
            <a:ext cx="11430000" cy="2332946"/>
          </a:xfrm>
          <a:prstGeom prst="rect">
            <a:avLst/>
          </a:prstGeom>
        </p:spPr>
        <p:txBody>
          <a:bodyPr>
            <a:spAutoFit/>
          </a:bodyPr>
          <a:lstStyle/>
          <a:p>
            <a:pPr indent="280670">
              <a:lnSpc>
                <a:spcPct val="130000"/>
              </a:lnSpc>
              <a:tabLst>
                <a:tab pos="1188085" algn="l"/>
                <a:tab pos="2163445" algn="l"/>
                <a:tab pos="3142615" algn="l"/>
                <a:tab pos="4190365" algn="l"/>
              </a:tabLst>
            </a:pPr>
            <a:r>
              <a:rPr lang="zh-CN" altLang="en-US" sz="28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防范措施 </a:t>
            </a:r>
            <a:r>
              <a:rPr lang="en-US" altLang="zh-CN" sz="2800" b="1" dirty="0" smtClean="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对题目中的条件要认真分析</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找出一些隐含或限制条件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对题目条件进行等价转化</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对于公式中的特殊情形要记清</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不要</a:t>
            </a:r>
            <a:r>
              <a:rPr lang="zh-CN"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漏掉</a:t>
            </a:r>
            <a:r>
              <a:rPr lang="en-US"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此类题目中夹角为钝角要在</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i="1"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&lt;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中剔除夹角为</a:t>
            </a:r>
            <a:r>
              <a:rPr lang="en-US" altLang="zh-CN" sz="2800" dirty="0">
                <a:solidFill>
                  <a:srgbClr val="000000"/>
                </a:solidFill>
                <a:latin typeface="Times New Roman" panose="02020603050405020304" pitchFamily="18" charset="0"/>
                <a:cs typeface="Times New Roman" panose="02020603050405020304" pitchFamily="18" charset="0"/>
              </a:rPr>
              <a:t>180</a:t>
            </a:r>
            <a:r>
              <a:rPr lang="en-US" altLang="zh-CN" sz="2800"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的情况</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夹角为锐角要在</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i="1"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&gt;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中剔除夹角为</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的情况</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4340794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58836663"/>
              </p:ext>
            </p:extLst>
          </p:nvPr>
        </p:nvGraphicFramePr>
        <p:xfrm>
          <a:off x="381000" y="1399262"/>
          <a:ext cx="11430000" cy="1507927"/>
        </p:xfrm>
        <a:graphic>
          <a:graphicData uri="http://schemas.openxmlformats.org/presentationml/2006/ole">
            <mc:AlternateContent xmlns:mc="http://schemas.openxmlformats.org/markup-compatibility/2006">
              <mc:Choice xmlns:v="urn:schemas-microsoft-com:vml" Requires="v">
                <p:oleObj spid="_x0000_s31774" name="文档" r:id="rId3" imgW="4510061" imgH="594999" progId="Word.Document.12">
                  <p:embed/>
                </p:oleObj>
              </mc:Choice>
              <mc:Fallback>
                <p:oleObj name="文档" r:id="rId3" imgW="4510061" imgH="594999" progId="Word.Document.12">
                  <p:embed/>
                  <p:pic>
                    <p:nvPicPr>
                      <p:cNvPr id="0" name=""/>
                      <p:cNvPicPr/>
                      <p:nvPr/>
                    </p:nvPicPr>
                    <p:blipFill>
                      <a:blip r:embed="rId4"/>
                      <a:stretch>
                        <a:fillRect/>
                      </a:stretch>
                    </p:blipFill>
                    <p:spPr>
                      <a:xfrm>
                        <a:off x="381000" y="1399262"/>
                        <a:ext cx="11430000" cy="1507927"/>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101124162"/>
              </p:ext>
            </p:extLst>
          </p:nvPr>
        </p:nvGraphicFramePr>
        <p:xfrm>
          <a:off x="51954" y="3000708"/>
          <a:ext cx="11430000" cy="1005588"/>
        </p:xfrm>
        <a:graphic>
          <a:graphicData uri="http://schemas.openxmlformats.org/presentationml/2006/ole">
            <mc:AlternateContent xmlns:mc="http://schemas.openxmlformats.org/markup-compatibility/2006">
              <mc:Choice xmlns:v="urn:schemas-microsoft-com:vml" Requires="v">
                <p:oleObj spid="_x0000_s31775" name="文档" r:id="rId5" imgW="4510061" imgH="396786" progId="Word.Document.12">
                  <p:embed/>
                </p:oleObj>
              </mc:Choice>
              <mc:Fallback>
                <p:oleObj name="文档" r:id="rId5" imgW="4510061" imgH="396786" progId="Word.Document.12">
                  <p:embed/>
                  <p:pic>
                    <p:nvPicPr>
                      <p:cNvPr id="0" name=""/>
                      <p:cNvPicPr/>
                      <p:nvPr/>
                    </p:nvPicPr>
                    <p:blipFill>
                      <a:blip r:embed="rId6"/>
                      <a:stretch>
                        <a:fillRect/>
                      </a:stretch>
                    </p:blipFill>
                    <p:spPr>
                      <a:xfrm>
                        <a:off x="51954" y="3000708"/>
                        <a:ext cx="11430000" cy="1005588"/>
                      </a:xfrm>
                      <a:prstGeom prst="rect">
                        <a:avLst/>
                      </a:prstGeom>
                    </p:spPr>
                  </p:pic>
                </p:oleObj>
              </mc:Fallback>
            </mc:AlternateContent>
          </a:graphicData>
        </a:graphic>
      </p:graphicFrame>
    </p:spTree>
    <p:extLst>
      <p:ext uri="{BB962C8B-B14F-4D97-AF65-F5344CB8AC3E}">
        <p14:creationId xmlns:p14="http://schemas.microsoft.com/office/powerpoint/2010/main" val="130236827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183890957"/>
              </p:ext>
            </p:extLst>
          </p:nvPr>
        </p:nvGraphicFramePr>
        <p:xfrm>
          <a:off x="31173" y="34059"/>
          <a:ext cx="11430000" cy="6534044"/>
        </p:xfrm>
        <a:graphic>
          <a:graphicData uri="http://schemas.openxmlformats.org/presentationml/2006/ole">
            <mc:AlternateContent xmlns:mc="http://schemas.openxmlformats.org/markup-compatibility/2006">
              <mc:Choice xmlns:v="urn:schemas-microsoft-com:vml" Requires="v">
                <p:oleObj spid="_x0000_s32784" name="文档" r:id="rId3" imgW="4510061" imgH="2578210" progId="Word.Document.12">
                  <p:embed/>
                </p:oleObj>
              </mc:Choice>
              <mc:Fallback>
                <p:oleObj name="文档" r:id="rId3" imgW="4510061" imgH="2578210" progId="Word.Document.12">
                  <p:embed/>
                  <p:pic>
                    <p:nvPicPr>
                      <p:cNvPr id="0" name=""/>
                      <p:cNvPicPr/>
                      <p:nvPr/>
                    </p:nvPicPr>
                    <p:blipFill>
                      <a:blip r:embed="rId4"/>
                      <a:stretch>
                        <a:fillRect/>
                      </a:stretch>
                    </p:blipFill>
                    <p:spPr>
                      <a:xfrm>
                        <a:off x="31173" y="34059"/>
                        <a:ext cx="11430000" cy="6534044"/>
                      </a:xfrm>
                      <a:prstGeom prst="rect">
                        <a:avLst/>
                      </a:prstGeom>
                    </p:spPr>
                  </p:pic>
                </p:oleObj>
              </mc:Fallback>
            </mc:AlternateContent>
          </a:graphicData>
        </a:graphic>
      </p:graphicFrame>
    </p:spTree>
    <p:extLst>
      <p:ext uri="{BB962C8B-B14F-4D97-AF65-F5344CB8AC3E}">
        <p14:creationId xmlns:p14="http://schemas.microsoft.com/office/powerpoint/2010/main" val="407259400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617835" y="2558415"/>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334801" y="2587481"/>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3612492" y="2507615"/>
            <a:ext cx="4587875" cy="922020"/>
          </a:xfrm>
          <a:prstGeom prst="rect">
            <a:avLst/>
          </a:prstGeom>
          <a:noFill/>
        </p:spPr>
        <p:txBody>
          <a:bodyPr wrap="square" rtlCol="0">
            <a:spAutoFit/>
          </a:bodyPr>
          <a:lstStyle/>
          <a:p>
            <a:pPr algn="ctr"/>
            <a:r>
              <a:rPr lang="zh-CN" altLang="en-US" sz="5400" b="1" dirty="0" smtClean="0">
                <a:solidFill>
                  <a:srgbClr val="4D4D4D"/>
                </a:solidFill>
                <a:latin typeface="方正姚体" panose="02010601030101010101" charset="-122"/>
                <a:ea typeface="方正姚体" panose="02010601030101010101" charset="-122"/>
                <a:cs typeface="隶书" panose="02010509060101010101" pitchFamily="49" charset="-122"/>
                <a:sym typeface="+mn-ea"/>
              </a:rPr>
              <a:t>随堂练习</a:t>
            </a:r>
            <a:endParaRPr lang="zh-CN" altLang="en-US" sz="5400" b="1" dirty="0">
              <a:solidFill>
                <a:srgbClr val="4D4D4D"/>
              </a:solidFill>
              <a:latin typeface="方正姚体" panose="02010601030101010101" charset="-122"/>
              <a:ea typeface="方正姚体" panose="02010601030101010101" charset="-122"/>
              <a:cs typeface="隶书" panose="02010509060101010101" pitchFamily="49"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228337"/>
            <a:ext cx="11430000" cy="5693866"/>
          </a:xfrm>
          <a:prstGeom prst="rect">
            <a:avLst/>
          </a:prstGeom>
        </p:spPr>
        <p:txBody>
          <a:bodyPr>
            <a:spAutoFit/>
          </a:bodyPr>
          <a:lstStyle/>
          <a:p>
            <a:pPr>
              <a:lnSpc>
                <a:spcPct val="130000"/>
              </a:lnSpc>
              <a:spcAft>
                <a:spcPts val="0"/>
              </a:spcAft>
              <a:tabLst>
                <a:tab pos="1029335" algn="l"/>
                <a:tab pos="1850390" algn="l"/>
                <a:tab pos="2538095" algn="l"/>
                <a:tab pos="3221990" algn="l"/>
              </a:tabLst>
            </a:pPr>
            <a:r>
              <a:rPr lang="en-US" altLang="zh-CN" sz="2800" b="1"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在空间直角坐标系中</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2,4,4)</a:t>
            </a:r>
            <a:r>
              <a:rPr lang="zh-CN" altLang="zh-CN" sz="2800" dirty="0">
                <a:solidFill>
                  <a:srgbClr val="000000"/>
                </a:solidFill>
                <a:latin typeface="Times New Roman" panose="02020603050405020304" pitchFamily="18" charset="0"/>
                <a:cs typeface="Times New Roman" panose="02020603050405020304" pitchFamily="18" charset="0"/>
              </a:rPr>
              <a:t>关于</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latin typeface="Times New Roman" panose="02020603050405020304" pitchFamily="18" charset="0"/>
                <a:cs typeface="Times New Roman" panose="02020603050405020304" pitchFamily="18" charset="0"/>
              </a:rPr>
              <a:t>轴对称的点的坐标是</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029335" algn="l"/>
                <a:tab pos="1850390" algn="l"/>
                <a:tab pos="2538095" algn="l"/>
                <a:tab pos="3221990" algn="l"/>
              </a:tabLst>
            </a:pPr>
            <a:r>
              <a:rPr lang="en-US" altLang="zh-CN" sz="2800" dirty="0">
                <a:solidFill>
                  <a:srgbClr val="000000"/>
                </a:solidFill>
                <a:latin typeface="Times New Roman" panose="02020603050405020304" pitchFamily="18" charset="0"/>
                <a:cs typeface="Times New Roman" panose="02020603050405020304" pitchFamily="18" charset="0"/>
              </a:rPr>
              <a:t>A.(</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2,4,</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	</a:t>
            </a:r>
            <a:r>
              <a:rPr lang="en-US" altLang="zh-CN" sz="2800" dirty="0" smtClean="0">
                <a:solidFill>
                  <a:srgbClr val="000000"/>
                </a:solidFill>
                <a:latin typeface="Times New Roman" panose="02020603050405020304" pitchFamily="18" charset="0"/>
                <a:cs typeface="Times New Roman" panose="02020603050405020304" pitchFamily="18" charset="0"/>
              </a:rPr>
              <a:t>		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029335" algn="l"/>
                <a:tab pos="1850390" algn="l"/>
                <a:tab pos="2538095" algn="l"/>
                <a:tab pos="3221990" algn="l"/>
              </a:tabLst>
            </a:pPr>
            <a:r>
              <a:rPr lang="en-US" altLang="zh-CN" sz="2800" dirty="0">
                <a:solidFill>
                  <a:srgbClr val="000000"/>
                </a:solidFill>
                <a:latin typeface="Times New Roman" panose="02020603050405020304" pitchFamily="18" charset="0"/>
                <a:cs typeface="Times New Roman" panose="02020603050405020304" pitchFamily="18" charset="0"/>
              </a:rPr>
              <a:t>C.(2,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4,4)	</a:t>
            </a:r>
            <a:r>
              <a:rPr lang="en-US" altLang="zh-CN" sz="2800" dirty="0" smtClean="0">
                <a:solidFill>
                  <a:srgbClr val="000000"/>
                </a:solidFill>
                <a:latin typeface="Times New Roman" panose="02020603050405020304" pitchFamily="18" charset="0"/>
                <a:cs typeface="Times New Roman" panose="02020603050405020304" pitchFamily="18" charset="0"/>
              </a:rPr>
              <a:t>		D</a:t>
            </a:r>
            <a:r>
              <a:rPr lang="en-US" altLang="zh-CN" sz="2800" dirty="0">
                <a:solidFill>
                  <a:srgbClr val="000000"/>
                </a:solidFill>
                <a:latin typeface="Times New Roman" panose="02020603050405020304" pitchFamily="18" charset="0"/>
                <a:cs typeface="Times New Roman" panose="02020603050405020304" pitchFamily="18" charset="0"/>
              </a:rPr>
              <a:t>.(2,4,</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029335" algn="l"/>
                <a:tab pos="1850390" algn="l"/>
                <a:tab pos="2538095" algn="l"/>
                <a:tab pos="3221990"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B</a:t>
            </a:r>
          </a:p>
          <a:p>
            <a:pPr>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已知向量</a:t>
            </a:r>
            <a:r>
              <a:rPr lang="en-US" altLang="zh-CN" sz="2800" b="1" dirty="0">
                <a:solidFill>
                  <a:srgbClr val="000000"/>
                </a:solidFill>
                <a:latin typeface="Times New Roman" panose="02020603050405020304" pitchFamily="18" charset="0"/>
                <a:cs typeface="Times New Roman" panose="02020603050405020304" pitchFamily="18" charset="0"/>
              </a:rPr>
              <a:t>a</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(1,1,0),</a:t>
            </a:r>
            <a:r>
              <a:rPr lang="en-US" altLang="zh-CN" sz="2800" b="1" dirty="0">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(0,1,1),</a:t>
            </a:r>
            <a:r>
              <a:rPr lang="en-US" altLang="zh-CN" sz="2800" b="1" dirty="0">
                <a:solidFill>
                  <a:srgbClr val="000000"/>
                </a:solidFill>
                <a:latin typeface="Times New Roman" panose="02020603050405020304" pitchFamily="18" charset="0"/>
                <a:cs typeface="Times New Roman" panose="02020603050405020304" pitchFamily="18" charset="0"/>
              </a:rPr>
              <a:t>c</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(1,0,1),</a:t>
            </a:r>
            <a:r>
              <a:rPr lang="en-US" altLang="zh-CN" sz="2800" b="1" dirty="0">
                <a:solidFill>
                  <a:srgbClr val="000000"/>
                </a:solidFill>
                <a:latin typeface="Times New Roman" panose="02020603050405020304" pitchFamily="18" charset="0"/>
                <a:cs typeface="Times New Roman" panose="02020603050405020304" pitchFamily="18" charset="0"/>
              </a:rPr>
              <a:t>p=a-</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q</a:t>
            </a:r>
            <a:r>
              <a:rPr lang="en-US" altLang="zh-CN" sz="2800" b="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b="1" dirty="0">
                <a:solidFill>
                  <a:srgbClr val="000000"/>
                </a:solidFill>
                <a:latin typeface="Times New Roman" panose="02020603050405020304" pitchFamily="18" charset="0"/>
                <a:cs typeface="Times New Roman" panose="02020603050405020304" pitchFamily="18" charset="0"/>
              </a:rPr>
              <a:t>b-c</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a:t>
            </a:r>
            <a:r>
              <a:rPr lang="en-US" altLang="zh-CN" sz="2800" b="1" dirty="0" err="1">
                <a:solidFill>
                  <a:srgbClr val="000000"/>
                </a:solidFill>
                <a:latin typeface="Times New Roman" panose="02020603050405020304" pitchFamily="18" charset="0"/>
                <a:cs typeface="Times New Roman" panose="02020603050405020304" pitchFamily="18" charset="0"/>
              </a:rPr>
              <a:t>p</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q</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A</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	</a:t>
            </a:r>
            <a:r>
              <a:rPr lang="en-US" altLang="zh-CN" sz="2800" dirty="0" smtClean="0">
                <a:solidFill>
                  <a:srgbClr val="000000"/>
                </a:solidFill>
                <a:latin typeface="Times New Roman" panose="02020603050405020304" pitchFamily="18" charset="0"/>
                <a:cs typeface="Times New Roman" panose="02020603050405020304" pitchFamily="18" charset="0"/>
              </a:rPr>
              <a:t>		B.1</a:t>
            </a:r>
            <a:r>
              <a:rPr lang="en-US" altLang="zh-CN" sz="2800" dirty="0">
                <a:solidFill>
                  <a:srgbClr val="000000"/>
                </a:solidFill>
                <a:latin typeface="Times New Roman" panose="02020603050405020304" pitchFamily="18" charset="0"/>
                <a:cs typeface="Times New Roman" panose="02020603050405020304" pitchFamily="18" charset="0"/>
              </a:rPr>
              <a:t>	</a:t>
            </a: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C.0	</a:t>
            </a:r>
            <a:r>
              <a:rPr lang="en-US" altLang="zh-CN" sz="2800" dirty="0" smtClean="0">
                <a:solidFill>
                  <a:srgbClr val="000000"/>
                </a:solidFill>
                <a:latin typeface="Times New Roman" panose="02020603050405020304" pitchFamily="18" charset="0"/>
                <a:cs typeface="Times New Roman" panose="02020603050405020304" pitchFamily="18" charset="0"/>
              </a:rPr>
              <a:t>		D</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解析</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cs typeface="宋体" panose="02010600030101010101" pitchFamily="2" charset="-122"/>
              </a:rPr>
              <a:t>∵</a:t>
            </a:r>
            <a:r>
              <a:rPr lang="en-US" altLang="zh-CN" sz="2800" b="1" dirty="0">
                <a:solidFill>
                  <a:srgbClr val="000000"/>
                </a:solidFill>
                <a:latin typeface="Times New Roman" panose="02020603050405020304" pitchFamily="18" charset="0"/>
                <a:cs typeface="Times New Roman" panose="02020603050405020304" pitchFamily="18" charset="0"/>
              </a:rPr>
              <a:t>p=a-b</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(1,0,</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b="1" dirty="0">
                <a:solidFill>
                  <a:srgbClr val="000000"/>
                </a:solidFill>
                <a:latin typeface="Times New Roman" panose="02020603050405020304" pitchFamily="18" charset="0"/>
                <a:cs typeface="Times New Roman" panose="02020603050405020304" pitchFamily="18" charset="0"/>
              </a:rPr>
              <a:t>q=a+</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b="1" dirty="0">
                <a:solidFill>
                  <a:srgbClr val="000000"/>
                </a:solidFill>
                <a:latin typeface="Times New Roman" panose="02020603050405020304" pitchFamily="18" charset="0"/>
                <a:cs typeface="Times New Roman" panose="02020603050405020304" pitchFamily="18" charset="0"/>
              </a:rPr>
              <a:t>b-c</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(0,3,1),</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a:t>
            </a:r>
            <a:r>
              <a:rPr lang="en-US" altLang="zh-CN" sz="2800" b="1" dirty="0" err="1">
                <a:solidFill>
                  <a:srgbClr val="000000"/>
                </a:solidFill>
                <a:latin typeface="Times New Roman" panose="02020603050405020304" pitchFamily="18" charset="0"/>
                <a:cs typeface="Times New Roman" panose="02020603050405020304" pitchFamily="18" charset="0"/>
              </a:rPr>
              <a:t>p</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q</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1×0</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0×3</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A</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Effect transition="in" filter="barn(inVertical)">
                                      <p:cBhvr>
                                        <p:cTn id="7" dur="500"/>
                                        <p:tgtEl>
                                          <p:spTgt spid="2">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2">
                                            <p:txEl>
                                              <p:pRg st="7" end="7"/>
                                            </p:txEl>
                                          </p:spTgt>
                                        </p:tgtEl>
                                        <p:attrNameLst>
                                          <p:attrName>style.visibility</p:attrName>
                                        </p:attrNameLst>
                                      </p:cBhvr>
                                      <p:to>
                                        <p:strVal val="visible"/>
                                      </p:to>
                                    </p:set>
                                    <p:animEffect transition="in" filter="barn(inVertical)">
                                      <p:cBhvr>
                                        <p:cTn id="12" dur="500"/>
                                        <p:tgtEl>
                                          <p:spTgt spid="2">
                                            <p:txEl>
                                              <p:pRg st="7" end="7"/>
                                            </p:txEl>
                                          </p:spTgt>
                                        </p:tgtEl>
                                      </p:cBhvr>
                                    </p:animEffect>
                                  </p:childTnLst>
                                </p:cTn>
                              </p:par>
                              <p:par>
                                <p:cTn id="13" presetID="16" presetClass="entr" presetSubtype="21" fill="hold" nodeType="withEffect">
                                  <p:stCondLst>
                                    <p:cond delay="0"/>
                                  </p:stCondLst>
                                  <p:childTnLst>
                                    <p:set>
                                      <p:cBhvr>
                                        <p:cTn id="14" dur="1" fill="hold">
                                          <p:stCondLst>
                                            <p:cond delay="0"/>
                                          </p:stCondLst>
                                        </p:cTn>
                                        <p:tgtEl>
                                          <p:spTgt spid="2">
                                            <p:txEl>
                                              <p:pRg st="8" end="8"/>
                                            </p:txEl>
                                          </p:spTgt>
                                        </p:tgtEl>
                                        <p:attrNameLst>
                                          <p:attrName>style.visibility</p:attrName>
                                        </p:attrNameLst>
                                      </p:cBhvr>
                                      <p:to>
                                        <p:strVal val="visible"/>
                                      </p:to>
                                    </p:set>
                                    <p:animEffect transition="in" filter="barn(inVertical)">
                                      <p:cBhvr>
                                        <p:cTn id="15" dur="500"/>
                                        <p:tgtEl>
                                          <p:spTgt spid="2">
                                            <p:txEl>
                                              <p:pRg st="8" end="8"/>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2">
                                            <p:txEl>
                                              <p:pRg st="9" end="9"/>
                                            </p:txEl>
                                          </p:spTgt>
                                        </p:tgtEl>
                                        <p:attrNameLst>
                                          <p:attrName>style.visibility</p:attrName>
                                        </p:attrNameLst>
                                      </p:cBhvr>
                                      <p:to>
                                        <p:strVal val="visible"/>
                                      </p:to>
                                    </p:set>
                                    <p:animEffect transition="in" filter="barn(inVertical)">
                                      <p:cBhvr>
                                        <p:cTn id="20" dur="500"/>
                                        <p:tgtEl>
                                          <p:spTgt spid="2">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a:spLocks noChangeAspect="1"/>
          </p:cNvSpPr>
          <p:nvPr/>
        </p:nvSpPr>
        <p:spPr>
          <a:xfrm>
            <a:off x="381000" y="594591"/>
            <a:ext cx="11430000" cy="2832827"/>
          </a:xfrm>
          <a:prstGeom prst="rect">
            <a:avLst/>
          </a:prstGeom>
        </p:spPr>
        <p:txBody>
          <a:bodyPr>
            <a:spAutoFit/>
          </a:bodyPr>
          <a:lstStyle/>
          <a:p>
            <a:pPr>
              <a:lnSpc>
                <a:spcPct val="130000"/>
              </a:lnSpc>
              <a:spcAft>
                <a:spcPts val="0"/>
              </a:spcAft>
              <a:tabLst>
                <a:tab pos="1029335" algn="l"/>
                <a:tab pos="1850390" algn="l"/>
                <a:tab pos="2538095" algn="l"/>
                <a:tab pos="3221990" algn="l"/>
              </a:tabLst>
            </a:pPr>
            <a:r>
              <a:rPr lang="en-US" altLang="zh-CN" sz="2800" b="1"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在空间直角坐标系中</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已知</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2,1),</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(2,2,2),</a:t>
            </a:r>
            <a:r>
              <a:rPr lang="zh-CN" altLang="zh-CN" sz="2800" dirty="0">
                <a:solidFill>
                  <a:srgbClr val="000000"/>
                </a:solidFill>
                <a:latin typeface="Times New Roman" panose="02020603050405020304" pitchFamily="18" charset="0"/>
                <a:cs typeface="Times New Roman" panose="02020603050405020304" pitchFamily="18" charset="0"/>
              </a:rPr>
              <a:t>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zh-CN" altLang="zh-CN" sz="2800" dirty="0">
                <a:solidFill>
                  <a:srgbClr val="000000"/>
                </a:solidFill>
                <a:latin typeface="Times New Roman" panose="02020603050405020304" pitchFamily="18" charset="0"/>
                <a:cs typeface="Times New Roman" panose="02020603050405020304" pitchFamily="18" charset="0"/>
              </a:rPr>
              <a:t>在</a:t>
            </a:r>
            <a:r>
              <a:rPr lang="en-US" altLang="zh-CN" sz="2800" i="1" dirty="0">
                <a:solidFill>
                  <a:srgbClr val="000000"/>
                </a:solidFill>
                <a:latin typeface="Times New Roman" panose="02020603050405020304" pitchFamily="18" charset="0"/>
                <a:cs typeface="Times New Roman" panose="02020603050405020304" pitchFamily="18" charset="0"/>
              </a:rPr>
              <a:t>z</a:t>
            </a:r>
            <a:r>
              <a:rPr lang="zh-CN" altLang="zh-CN" sz="2800" dirty="0">
                <a:solidFill>
                  <a:srgbClr val="000000"/>
                </a:solidFill>
                <a:latin typeface="Times New Roman" panose="02020603050405020304" pitchFamily="18" charset="0"/>
                <a:cs typeface="Times New Roman" panose="02020603050405020304" pitchFamily="18" charset="0"/>
              </a:rPr>
              <a:t>轴上</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且满足</a:t>
            </a:r>
            <a:r>
              <a:rPr lang="en-US" altLang="zh-CN" sz="2800" i="1" dirty="0">
                <a:solidFill>
                  <a:srgbClr val="000000"/>
                </a:solidFill>
                <a:latin typeface="Times New Roman" panose="02020603050405020304" pitchFamily="18" charset="0"/>
                <a:cs typeface="Times New Roman" panose="02020603050405020304" pitchFamily="18" charset="0"/>
              </a:rPr>
              <a:t>PA=PB</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a:t>
            </a:r>
            <a:r>
              <a:rPr lang="en-US" altLang="zh-CN" sz="2800" i="1" dirty="0">
                <a:solidFill>
                  <a:srgbClr val="000000"/>
                </a:solidFill>
                <a:latin typeface="Times New Roman" panose="02020603050405020304" pitchFamily="18" charset="0"/>
                <a:cs typeface="Times New Roman" panose="02020603050405020304" pitchFamily="18" charset="0"/>
              </a:rPr>
              <a:t>P</a:t>
            </a:r>
            <a:r>
              <a:rPr lang="zh-CN" altLang="zh-CN" sz="2800" dirty="0">
                <a:solidFill>
                  <a:srgbClr val="000000"/>
                </a:solidFill>
                <a:latin typeface="Times New Roman" panose="02020603050405020304" pitchFamily="18" charset="0"/>
                <a:cs typeface="Times New Roman" panose="02020603050405020304" pitchFamily="18" charset="0"/>
              </a:rPr>
              <a:t>点坐标为</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029335" algn="l"/>
                <a:tab pos="1850390" algn="l"/>
                <a:tab pos="2538095" algn="l"/>
                <a:tab pos="3221990" algn="l"/>
              </a:tabLst>
            </a:pPr>
            <a:r>
              <a:rPr lang="en-US" altLang="zh-CN" sz="2800" dirty="0">
                <a:solidFill>
                  <a:srgbClr val="000000"/>
                </a:solidFill>
                <a:latin typeface="Times New Roman" panose="02020603050405020304" pitchFamily="18" charset="0"/>
                <a:cs typeface="Times New Roman" panose="02020603050405020304" pitchFamily="18" charset="0"/>
              </a:rPr>
              <a:t>A.(3,0,0)	</a:t>
            </a:r>
            <a:r>
              <a:rPr lang="en-US" altLang="zh-CN" sz="2800" dirty="0" smtClean="0">
                <a:solidFill>
                  <a:srgbClr val="000000"/>
                </a:solidFill>
                <a:latin typeface="Times New Roman" panose="02020603050405020304" pitchFamily="18" charset="0"/>
                <a:cs typeface="Times New Roman" panose="02020603050405020304" pitchFamily="18" charset="0"/>
              </a:rPr>
              <a:t>	B</a:t>
            </a:r>
            <a:r>
              <a:rPr lang="en-US" altLang="zh-CN" sz="2800" dirty="0">
                <a:solidFill>
                  <a:srgbClr val="000000"/>
                </a:solidFill>
                <a:latin typeface="Times New Roman" panose="02020603050405020304" pitchFamily="18" charset="0"/>
                <a:cs typeface="Times New Roman" panose="02020603050405020304" pitchFamily="18" charset="0"/>
              </a:rPr>
              <a:t>.(0,3,0)	</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029335" algn="l"/>
                <a:tab pos="1850390" algn="l"/>
                <a:tab pos="2538095" algn="l"/>
                <a:tab pos="3221990" algn="l"/>
              </a:tabLst>
            </a:pPr>
            <a:r>
              <a:rPr lang="en-US" altLang="zh-CN" sz="2800" dirty="0">
                <a:solidFill>
                  <a:srgbClr val="000000"/>
                </a:solidFill>
                <a:latin typeface="Times New Roman" panose="02020603050405020304" pitchFamily="18" charset="0"/>
                <a:cs typeface="Times New Roman" panose="02020603050405020304" pitchFamily="18" charset="0"/>
              </a:rPr>
              <a:t>C.(0,0,3)	</a:t>
            </a:r>
            <a:r>
              <a:rPr lang="en-US" altLang="zh-CN" sz="2800" dirty="0" smtClean="0">
                <a:solidFill>
                  <a:srgbClr val="000000"/>
                </a:solidFill>
                <a:latin typeface="Times New Roman" panose="02020603050405020304" pitchFamily="18" charset="0"/>
                <a:cs typeface="Times New Roman" panose="02020603050405020304" pitchFamily="18" charset="0"/>
              </a:rPr>
              <a:t>	D</a:t>
            </a:r>
            <a:r>
              <a:rPr lang="en-US" altLang="zh-CN" sz="2800" dirty="0">
                <a:solidFill>
                  <a:srgbClr val="000000"/>
                </a:solidFill>
                <a:latin typeface="Times New Roman" panose="02020603050405020304" pitchFamily="18" charset="0"/>
                <a:cs typeface="Times New Roman" panose="02020603050405020304" pitchFamily="18" charset="0"/>
              </a:rPr>
              <a:t>.(0,0,</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029335" algn="l"/>
                <a:tab pos="1850390" algn="l"/>
                <a:tab pos="2538095" algn="l"/>
                <a:tab pos="3221990"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解析</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设</a:t>
            </a:r>
            <a:r>
              <a:rPr lang="en-US" altLang="zh-CN" sz="2800" i="1" dirty="0">
                <a:solidFill>
                  <a:srgbClr val="000000"/>
                </a:solidFill>
                <a:latin typeface="Times New Roman" panose="02020603050405020304" pitchFamily="18" charset="0"/>
                <a:cs typeface="Times New Roman" panose="02020603050405020304" pitchFamily="18" charset="0"/>
              </a:rPr>
              <a:t>P</a:t>
            </a:r>
            <a:r>
              <a:rPr lang="en-US" altLang="zh-CN" sz="2800" dirty="0">
                <a:solidFill>
                  <a:srgbClr val="000000"/>
                </a:solidFill>
                <a:latin typeface="Times New Roman" panose="02020603050405020304" pitchFamily="18" charset="0"/>
                <a:cs typeface="Times New Roman" panose="02020603050405020304" pitchFamily="18" charset="0"/>
              </a:rPr>
              <a:t>(0,0,</a:t>
            </a:r>
            <a:r>
              <a:rPr lang="en-US" altLang="zh-CN" sz="2800" i="1" dirty="0">
                <a:solidFill>
                  <a:srgbClr val="000000"/>
                </a:solidFill>
                <a:latin typeface="Times New Roman" panose="02020603050405020304" pitchFamily="18" charset="0"/>
                <a:cs typeface="Times New Roman" panose="02020603050405020304" pitchFamily="18" charset="0"/>
              </a:rPr>
              <a:t>z</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则有</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3727455371"/>
              </p:ext>
            </p:extLst>
          </p:nvPr>
        </p:nvGraphicFramePr>
        <p:xfrm>
          <a:off x="458424" y="3479373"/>
          <a:ext cx="11275153" cy="941573"/>
        </p:xfrm>
        <a:graphic>
          <a:graphicData uri="http://schemas.openxmlformats.org/presentationml/2006/ole">
            <mc:AlternateContent xmlns:mc="http://schemas.openxmlformats.org/markup-compatibility/2006">
              <mc:Choice xmlns:v="urn:schemas-microsoft-com:vml" Requires="v">
                <p:oleObj spid="_x0000_s33808" name="文档" r:id="rId3" imgW="4510061" imgH="376629" progId="Word.Document.12">
                  <p:embed/>
                </p:oleObj>
              </mc:Choice>
              <mc:Fallback>
                <p:oleObj name="文档" r:id="rId3" imgW="4510061" imgH="376629" progId="Word.Document.12">
                  <p:embed/>
                  <p:pic>
                    <p:nvPicPr>
                      <p:cNvPr id="0" name=""/>
                      <p:cNvPicPr/>
                      <p:nvPr/>
                    </p:nvPicPr>
                    <p:blipFill>
                      <a:blip r:embed="rId4"/>
                      <a:stretch>
                        <a:fillRect/>
                      </a:stretch>
                    </p:blipFill>
                    <p:spPr>
                      <a:xfrm>
                        <a:off x="458424" y="3479373"/>
                        <a:ext cx="11275153" cy="941573"/>
                      </a:xfrm>
                      <a:prstGeom prst="rect">
                        <a:avLst/>
                      </a:prstGeom>
                    </p:spPr>
                  </p:pic>
                </p:oleObj>
              </mc:Fallback>
            </mc:AlternateContent>
          </a:graphicData>
        </a:graphic>
      </p:graphicFrame>
      <p:sp>
        <p:nvSpPr>
          <p:cNvPr id="7" name="矩形 6"/>
          <p:cNvSpPr>
            <a:spLocks noChangeAspect="1"/>
          </p:cNvSpPr>
          <p:nvPr/>
        </p:nvSpPr>
        <p:spPr>
          <a:xfrm>
            <a:off x="381000" y="4431337"/>
            <a:ext cx="1330814" cy="652486"/>
          </a:xfrm>
          <a:prstGeom prst="rect">
            <a:avLst/>
          </a:prstGeom>
        </p:spPr>
        <p:txBody>
          <a:bodyPr wrap="none">
            <a:spAutoFit/>
          </a:bodyPr>
          <a:lstStyle/>
          <a:p>
            <a:pPr>
              <a:lnSpc>
                <a:spcPct val="130000"/>
              </a:lnSpc>
              <a:spcAft>
                <a:spcPts val="0"/>
              </a:spcAft>
              <a:tabLst>
                <a:tab pos="1029335" algn="l"/>
                <a:tab pos="1850390" algn="l"/>
                <a:tab pos="2538095" algn="l"/>
                <a:tab pos="3221990"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C </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38252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animEffect transition="in" filter="barn(inVertical)">
                                      <p:cBhvr>
                                        <p:cTn id="7" dur="500"/>
                                        <p:tgtEl>
                                          <p:spTgt spid="5">
                                            <p:txEl>
                                              <p:pRg st="3" end="3"/>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arn(inVertical)">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nodeType="click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animEffect transition="in" filter="barn(inVertical)">
                                      <p:cBhvr>
                                        <p:cTn id="15"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207554"/>
            <a:ext cx="11430000" cy="289310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在正方体</a:t>
            </a:r>
            <a:r>
              <a:rPr lang="en-US" altLang="zh-CN" sz="2800" i="1" dirty="0">
                <a:solidFill>
                  <a:srgbClr val="000000"/>
                </a:solidFill>
                <a:latin typeface="Times New Roman" panose="02020603050405020304" pitchFamily="18" charset="0"/>
                <a:cs typeface="Times New Roman" panose="02020603050405020304" pitchFamily="18" charset="0"/>
              </a:rPr>
              <a:t>ABCD-A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中</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E</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F</a:t>
            </a:r>
            <a:r>
              <a:rPr lang="zh-CN" altLang="zh-CN" sz="2800" dirty="0">
                <a:solidFill>
                  <a:srgbClr val="000000"/>
                </a:solidFill>
                <a:latin typeface="Times New Roman" panose="02020603050405020304" pitchFamily="18" charset="0"/>
                <a:cs typeface="Times New Roman" panose="02020603050405020304" pitchFamily="18" charset="0"/>
              </a:rPr>
              <a:t>分别为棱</a:t>
            </a:r>
            <a:r>
              <a:rPr lang="en-US" altLang="zh-CN" sz="2800" i="1" dirty="0">
                <a:solidFill>
                  <a:srgbClr val="000000"/>
                </a:solidFill>
                <a:latin typeface="Times New Roman" panose="02020603050405020304" pitchFamily="18" charset="0"/>
                <a:cs typeface="Times New Roman" panose="02020603050405020304" pitchFamily="18" charset="0"/>
              </a:rPr>
              <a:t>AB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CC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的中点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则异面直线</a:t>
            </a:r>
            <a:r>
              <a:rPr lang="en-US" altLang="zh-CN" sz="2800" i="1" dirty="0">
                <a:solidFill>
                  <a:srgbClr val="000000"/>
                </a:solidFill>
                <a:latin typeface="Times New Roman" panose="02020603050405020304" pitchFamily="18" charset="0"/>
                <a:cs typeface="Times New Roman" panose="02020603050405020304" pitchFamily="18" charset="0"/>
              </a:rPr>
              <a:t>EF</a:t>
            </a:r>
            <a:r>
              <a:rPr lang="zh-CN" altLang="zh-CN" sz="2800" dirty="0">
                <a:solidFill>
                  <a:srgbClr val="000000"/>
                </a:solidFill>
                <a:latin typeface="Times New Roman" panose="02020603050405020304" pitchFamily="18" charset="0"/>
                <a:cs typeface="Times New Roman" panose="02020603050405020304" pitchFamily="18" charset="0"/>
              </a:rPr>
              <a:t>与</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所成角的大小为</a:t>
            </a:r>
            <a:r>
              <a:rPr lang="zh-CN" altLang="zh-CN" sz="2800" i="1" u="sng" dirty="0">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 </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解析</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建立空间直角坐标系</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xyz</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如图所示</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设</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正方体的棱长为</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dirty="0" smtClean="0">
                <a:solidFill>
                  <a:srgbClr val="000000"/>
                </a:solidFill>
                <a:latin typeface="Times New Roman" panose="02020603050405020304" pitchFamily="18" charset="0"/>
                <a:cs typeface="Times New Roman" panose="02020603050405020304" pitchFamily="18" charset="0"/>
              </a:rPr>
              <a:t>,</a:t>
            </a:r>
          </a:p>
          <a:p>
            <a:pPr>
              <a:lnSpc>
                <a:spcPct val="130000"/>
              </a:lnSpc>
              <a:spcAft>
                <a:spcPts val="0"/>
              </a:spcAft>
              <a:tabLst>
                <a:tab pos="1188085" algn="l"/>
                <a:tab pos="2163445" algn="l"/>
                <a:tab pos="3142615" algn="l"/>
                <a:tab pos="4190365" algn="l"/>
              </a:tabLst>
            </a:pP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a:t>
            </a:r>
            <a:r>
              <a:rPr lang="en-US" altLang="zh-CN" sz="2800" i="1" dirty="0">
                <a:solidFill>
                  <a:srgbClr val="000000"/>
                </a:solidFill>
                <a:latin typeface="Times New Roman" panose="02020603050405020304" pitchFamily="18" charset="0"/>
                <a:cs typeface="Times New Roman" panose="02020603050405020304" pitchFamily="18" charset="0"/>
              </a:rPr>
              <a:t>E</a:t>
            </a:r>
            <a:r>
              <a:rPr lang="en-US" altLang="zh-CN" sz="2800" dirty="0">
                <a:solidFill>
                  <a:srgbClr val="000000"/>
                </a:solidFill>
                <a:latin typeface="Times New Roman" panose="02020603050405020304" pitchFamily="18" charset="0"/>
                <a:cs typeface="Times New Roman" panose="02020603050405020304" pitchFamily="18" charset="0"/>
              </a:rPr>
              <a:t>(0,1,2),</a:t>
            </a:r>
            <a:r>
              <a:rPr lang="en-US" altLang="zh-CN" sz="2800" i="1" dirty="0">
                <a:solidFill>
                  <a:srgbClr val="000000"/>
                </a:solidFill>
                <a:latin typeface="Times New Roman" panose="02020603050405020304" pitchFamily="18" charset="0"/>
                <a:cs typeface="Times New Roman" panose="02020603050405020304" pitchFamily="18" charset="0"/>
              </a:rPr>
              <a:t>F</a:t>
            </a:r>
            <a:r>
              <a:rPr lang="en-US" altLang="zh-CN" sz="2800" dirty="0">
                <a:solidFill>
                  <a:srgbClr val="000000"/>
                </a:solidFill>
                <a:latin typeface="Times New Roman" panose="02020603050405020304" pitchFamily="18" charset="0"/>
                <a:cs typeface="Times New Roman" panose="02020603050405020304" pitchFamily="18" charset="0"/>
              </a:rPr>
              <a:t>(2,2,1),</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(0,0,0),</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(2,2,0),</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793284098"/>
              </p:ext>
            </p:extLst>
          </p:nvPr>
        </p:nvGraphicFramePr>
        <p:xfrm>
          <a:off x="474518" y="3009208"/>
          <a:ext cx="11430000" cy="2010264"/>
        </p:xfrm>
        <a:graphic>
          <a:graphicData uri="http://schemas.openxmlformats.org/presentationml/2006/ole">
            <mc:AlternateContent xmlns:mc="http://schemas.openxmlformats.org/markup-compatibility/2006">
              <mc:Choice xmlns:v="urn:schemas-microsoft-com:vml" Requires="v">
                <p:oleObj spid="_x0000_s34833" name="文档" r:id="rId3" imgW="4510061" imgH="793212" progId="Word.Document.12">
                  <p:embed/>
                </p:oleObj>
              </mc:Choice>
              <mc:Fallback>
                <p:oleObj name="文档" r:id="rId3" imgW="4510061" imgH="793212" progId="Word.Document.12">
                  <p:embed/>
                  <p:pic>
                    <p:nvPicPr>
                      <p:cNvPr id="0" name=""/>
                      <p:cNvPicPr/>
                      <p:nvPr/>
                    </p:nvPicPr>
                    <p:blipFill>
                      <a:blip r:embed="rId4"/>
                      <a:stretch>
                        <a:fillRect/>
                      </a:stretch>
                    </p:blipFill>
                    <p:spPr>
                      <a:xfrm>
                        <a:off x="474518" y="3009208"/>
                        <a:ext cx="11430000" cy="2010264"/>
                      </a:xfrm>
                      <a:prstGeom prst="rect">
                        <a:avLst/>
                      </a:prstGeom>
                    </p:spPr>
                  </p:pic>
                </p:oleObj>
              </mc:Fallback>
            </mc:AlternateContent>
          </a:graphicData>
        </a:graphic>
      </p:graphicFrame>
      <p:sp>
        <p:nvSpPr>
          <p:cNvPr id="4" name="矩形 3"/>
          <p:cNvSpPr>
            <a:spLocks noChangeAspect="1"/>
          </p:cNvSpPr>
          <p:nvPr/>
        </p:nvSpPr>
        <p:spPr>
          <a:xfrm>
            <a:off x="381000" y="5009081"/>
            <a:ext cx="11430000" cy="1167435"/>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故异面直线</a:t>
            </a:r>
            <a:r>
              <a:rPr lang="en-US" altLang="zh-CN" sz="2800" i="1" dirty="0">
                <a:solidFill>
                  <a:srgbClr val="000000"/>
                </a:solidFill>
                <a:latin typeface="Times New Roman" panose="02020603050405020304" pitchFamily="18" charset="0"/>
                <a:cs typeface="Times New Roman" panose="02020603050405020304" pitchFamily="18" charset="0"/>
              </a:rPr>
              <a:t>EF</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与</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所成的角为</a:t>
            </a:r>
            <a:r>
              <a:rPr lang="en-US" altLang="zh-CN" sz="2800" dirty="0">
                <a:solidFill>
                  <a:srgbClr val="000000"/>
                </a:solidFill>
                <a:latin typeface="Times New Roman" panose="02020603050405020304" pitchFamily="18" charset="0"/>
                <a:cs typeface="Times New Roman" panose="02020603050405020304" pitchFamily="18" charset="0"/>
              </a:rPr>
              <a:t>30</a:t>
            </a:r>
            <a:r>
              <a:rPr lang="en-US" altLang="zh-CN" sz="2800"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30</a:t>
            </a:r>
            <a:r>
              <a:rPr lang="en-US" altLang="zh-CN" sz="2800"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5" name="VMX1TRAX05.eps" descr="id:2147495481;FounderCES"/>
          <p:cNvPicPr/>
          <p:nvPr/>
        </p:nvPicPr>
        <p:blipFill>
          <a:blip r:embed="rId5">
            <a:clrChange>
              <a:clrFrom>
                <a:srgbClr val="FFFFFF"/>
              </a:clrFrom>
              <a:clrTo>
                <a:srgbClr val="FFFFFF">
                  <a:alpha val="0"/>
                </a:srgbClr>
              </a:clrTo>
            </a:clrChange>
          </a:blip>
          <a:stretch>
            <a:fillRect/>
          </a:stretch>
        </p:blipFill>
        <p:spPr>
          <a:xfrm>
            <a:off x="8212916" y="953981"/>
            <a:ext cx="2962777" cy="2929229"/>
          </a:xfrm>
          <a:prstGeom prst="rect">
            <a:avLst/>
          </a:prstGeom>
        </p:spPr>
      </p:pic>
    </p:spTree>
    <p:extLst>
      <p:ext uri="{BB962C8B-B14F-4D97-AF65-F5344CB8AC3E}">
        <p14:creationId xmlns:p14="http://schemas.microsoft.com/office/powerpoint/2010/main" val="36611151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wipe(down)">
                                      <p:cBhvr>
                                        <p:cTn id="7" dur="500"/>
                                        <p:tgtEl>
                                          <p:spTgt spid="2">
                                            <p:txEl>
                                              <p:pRg st="2" end="2"/>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wipe(down)">
                                      <p:cBhvr>
                                        <p:cTn id="10" dur="500"/>
                                        <p:tgtEl>
                                          <p:spTgt spid="2">
                                            <p:txEl>
                                              <p:pRg st="1" end="1"/>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animEffect transition="in" filter="wipe(down)">
                                      <p:cBhvr>
                                        <p:cTn id="13" dur="500"/>
                                        <p:tgtEl>
                                          <p:spTgt spid="2">
                                            <p:txEl>
                                              <p:pRg st="3" end="3"/>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down)">
                                      <p:cBhvr>
                                        <p:cTn id="16" dur="500"/>
                                        <p:tgtEl>
                                          <p:spTgt spid="3"/>
                                        </p:tgtEl>
                                      </p:cBhvr>
                                    </p:animEffect>
                                  </p:childTnLst>
                                </p:cTn>
                              </p:par>
                              <p:par>
                                <p:cTn id="17" presetID="22" presetClass="entr" presetSubtype="4" fill="hold" nodeType="withEffect">
                                  <p:stCondLst>
                                    <p:cond delay="0"/>
                                  </p:stCondLst>
                                  <p:childTnLst>
                                    <p:set>
                                      <p:cBhvr>
                                        <p:cTn id="18" dur="1" fill="hold">
                                          <p:stCondLst>
                                            <p:cond delay="0"/>
                                          </p:stCondLst>
                                        </p:cTn>
                                        <p:tgtEl>
                                          <p:spTgt spid="4">
                                            <p:txEl>
                                              <p:pRg st="0" end="0"/>
                                            </p:txEl>
                                          </p:spTgt>
                                        </p:tgtEl>
                                        <p:attrNameLst>
                                          <p:attrName>style.visibility</p:attrName>
                                        </p:attrNameLst>
                                      </p:cBhvr>
                                      <p:to>
                                        <p:strVal val="visible"/>
                                      </p:to>
                                    </p:set>
                                    <p:animEffect transition="in" filter="wipe(down)">
                                      <p:cBhvr>
                                        <p:cTn id="19" dur="500"/>
                                        <p:tgtEl>
                                          <p:spTgt spid="4">
                                            <p:txEl>
                                              <p:pRg st="0" end="0"/>
                                            </p:txEl>
                                          </p:spTgt>
                                        </p:tgtEl>
                                      </p:cBhvr>
                                    </p:animEffect>
                                  </p:childTnLst>
                                </p:cTn>
                              </p:par>
                              <p:par>
                                <p:cTn id="20" presetID="22" presetClass="entr" presetSubtype="4" fill="hold"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down)">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4">
                                            <p:txEl>
                                              <p:pRg st="1" end="1"/>
                                            </p:txEl>
                                          </p:spTgt>
                                        </p:tgtEl>
                                        <p:attrNameLst>
                                          <p:attrName>style.visibility</p:attrName>
                                        </p:attrNameLst>
                                      </p:cBhvr>
                                      <p:to>
                                        <p:strVal val="visible"/>
                                      </p:to>
                                    </p:set>
                                    <p:animEffect transition="in" filter="wipe(down)">
                                      <p:cBhvr>
                                        <p:cTn id="27"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594591"/>
            <a:ext cx="11430000" cy="2891241"/>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5</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已知向量</a:t>
            </a:r>
            <a:r>
              <a:rPr lang="en-US" altLang="zh-CN" sz="2800" b="1" dirty="0">
                <a:solidFill>
                  <a:srgbClr val="000000"/>
                </a:solidFill>
                <a:latin typeface="Times New Roman" panose="02020603050405020304" pitchFamily="18" charset="0"/>
                <a:cs typeface="Times New Roman" panose="02020603050405020304" pitchFamily="18" charset="0"/>
              </a:rPr>
              <a:t>a</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λ</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1,1,2</a:t>
            </a:r>
            <a:r>
              <a:rPr lang="en-US" altLang="zh-CN" sz="2800" i="1" dirty="0">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λ</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(6,2</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Times New Roman" panose="02020603050405020304" pitchFamily="18" charset="0"/>
                <a:cs typeface="Times New Roman" panose="02020603050405020304" pitchFamily="18" charset="0"/>
              </a:rPr>
              <a:t>1,2)</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若</a:t>
            </a:r>
            <a:r>
              <a:rPr lang="en-US" altLang="zh-CN" sz="2800" b="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NEU-BZ-S92"/>
                <a:cs typeface="宋体" panose="02010600030101010101" pitchFamily="2" charset="-122"/>
              </a:rPr>
              <a:t>∥</a:t>
            </a:r>
            <a:r>
              <a:rPr lang="en-US" altLang="zh-CN" sz="2800" b="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求</a:t>
            </a:r>
            <a:r>
              <a:rPr lang="en-US" altLang="zh-CN" sz="2800" i="1" dirty="0">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λ</a:t>
            </a:r>
            <a:r>
              <a:rPr lang="zh-CN" altLang="zh-CN" sz="2800" dirty="0">
                <a:solidFill>
                  <a:srgbClr val="000000"/>
                </a:solidFill>
                <a:latin typeface="Times New Roman" panose="02020603050405020304" pitchFamily="18" charset="0"/>
                <a:cs typeface="Times New Roman" panose="02020603050405020304" pitchFamily="18" charset="0"/>
              </a:rPr>
              <a:t>与</a:t>
            </a:r>
            <a:r>
              <a:rPr lang="en-US" altLang="zh-CN" sz="2800" i="1" dirty="0">
                <a:solidFill>
                  <a:srgbClr val="000000"/>
                </a:solidFill>
                <a:latin typeface="Times New Roman" panose="02020603050405020304" pitchFamily="18" charset="0"/>
                <a:cs typeface="Times New Roman" panose="02020603050405020304" pitchFamily="18" charset="0"/>
              </a:rPr>
              <a:t>m</a:t>
            </a:r>
            <a:r>
              <a:rPr lang="zh-CN" altLang="zh-CN" sz="2800" dirty="0">
                <a:solidFill>
                  <a:srgbClr val="000000"/>
                </a:solidFill>
                <a:latin typeface="Times New Roman" panose="02020603050405020304" pitchFamily="18" charset="0"/>
                <a:cs typeface="Times New Roman" panose="02020603050405020304" pitchFamily="18" charset="0"/>
              </a:rPr>
              <a:t>的值</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若</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a</a:t>
            </a:r>
            <a:r>
              <a:rPr lang="en-US" altLang="zh-CN" sz="2800" i="1" dirty="0" smtClean="0">
                <a:solidFill>
                  <a:srgbClr val="000000"/>
                </a:solidFill>
                <a:latin typeface="Times New Roman" panose="02020603050405020304" pitchFamily="18" charset="0"/>
                <a:cs typeface="Times New Roman" panose="02020603050405020304" pitchFamily="18" charset="0"/>
              </a:rPr>
              <a:t>|=      </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且</a:t>
            </a:r>
            <a:r>
              <a:rPr lang="en-US" altLang="zh-CN" sz="2800" b="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cs typeface="Times New Roman" panose="02020603050405020304" pitchFamily="18" charset="0"/>
              </a:rPr>
              <a:t>与</a:t>
            </a:r>
            <a:r>
              <a:rPr lang="en-US" altLang="zh-CN" sz="2800" b="1" dirty="0">
                <a:solidFill>
                  <a:srgbClr val="000000"/>
                </a:solidFill>
                <a:latin typeface="Times New Roman" panose="02020603050405020304" pitchFamily="18" charset="0"/>
                <a:cs typeface="Times New Roman" panose="02020603050405020304" pitchFamily="18" charset="0"/>
              </a:rPr>
              <a:t>c</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λ</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λ</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垂直</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求</a:t>
            </a:r>
            <a:r>
              <a:rPr lang="en-US" altLang="zh-CN" sz="2800" b="1" dirty="0">
                <a:solidFill>
                  <a:srgbClr val="000000"/>
                </a:solidFill>
                <a:latin typeface="Times New Roman" panose="02020603050405020304" pitchFamily="18" charset="0"/>
                <a:cs typeface="Times New Roman" panose="02020603050405020304" pitchFamily="18" charset="0"/>
              </a:rPr>
              <a:t>a</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解</a:t>
            </a:r>
            <a:r>
              <a:rPr lang="en-US"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由</a:t>
            </a:r>
            <a:r>
              <a:rPr lang="en-US" altLang="zh-CN" sz="2800" b="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NEU-BZ-S92"/>
                <a:cs typeface="宋体" panose="02010600030101010101" pitchFamily="2" charset="-122"/>
              </a:rPr>
              <a:t>∥</a:t>
            </a:r>
            <a:r>
              <a:rPr lang="en-US" altLang="zh-CN" sz="2800" b="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知存在实数</a:t>
            </a:r>
            <a:r>
              <a:rPr lang="en-US" altLang="zh-CN" sz="2800" i="1" dirty="0">
                <a:solidFill>
                  <a:srgbClr val="000000"/>
                </a:solidFill>
                <a:latin typeface="Times New Roman" panose="02020603050405020304" pitchFamily="18" charset="0"/>
                <a:cs typeface="Times New Roman" panose="02020603050405020304" pitchFamily="18" charset="0"/>
              </a:rPr>
              <a:t>k</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使得</a:t>
            </a:r>
            <a:r>
              <a:rPr lang="en-US" altLang="zh-CN" sz="2800" b="1" dirty="0">
                <a:solidFill>
                  <a:srgbClr val="000000"/>
                </a:solidFill>
                <a:latin typeface="Times New Roman" panose="02020603050405020304" pitchFamily="18" charset="0"/>
                <a:cs typeface="Times New Roman" panose="02020603050405020304" pitchFamily="18" charset="0"/>
              </a:rPr>
              <a:t>a</a:t>
            </a:r>
            <a:r>
              <a:rPr lang="en-US" altLang="zh-CN" sz="2800" i="1" dirty="0">
                <a:solidFill>
                  <a:srgbClr val="000000"/>
                </a:solidFill>
                <a:latin typeface="Times New Roman" panose="02020603050405020304" pitchFamily="18" charset="0"/>
                <a:cs typeface="Times New Roman" panose="02020603050405020304" pitchFamily="18" charset="0"/>
              </a:rPr>
              <a:t>=k</a:t>
            </a:r>
            <a:r>
              <a:rPr lang="en-US" altLang="zh-CN" sz="2800" b="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即</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λ</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1,1,2</a:t>
            </a:r>
            <a:r>
              <a:rPr lang="en-US" altLang="zh-CN" sz="2800" i="1" dirty="0">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λ</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=k</a:t>
            </a:r>
            <a:r>
              <a:rPr lang="en-US" altLang="zh-CN" sz="2800" dirty="0">
                <a:solidFill>
                  <a:srgbClr val="000000"/>
                </a:solidFill>
                <a:latin typeface="Times New Roman" panose="02020603050405020304" pitchFamily="18" charset="0"/>
                <a:cs typeface="Times New Roman" panose="02020603050405020304" pitchFamily="18" charset="0"/>
              </a:rPr>
              <a:t>(6,2</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Times New Roman" panose="02020603050405020304" pitchFamily="18" charset="0"/>
                <a:cs typeface="Times New Roman" panose="02020603050405020304" pitchFamily="18" charset="0"/>
              </a:rPr>
              <a:t>1,2),</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054787324"/>
              </p:ext>
            </p:extLst>
          </p:nvPr>
        </p:nvGraphicFramePr>
        <p:xfrm>
          <a:off x="474518" y="3475441"/>
          <a:ext cx="11430000" cy="2513517"/>
        </p:xfrm>
        <a:graphic>
          <a:graphicData uri="http://schemas.openxmlformats.org/presentationml/2006/ole">
            <mc:AlternateContent xmlns:mc="http://schemas.openxmlformats.org/markup-compatibility/2006">
              <mc:Choice xmlns:v="urn:schemas-microsoft-com:vml" Requires="v">
                <p:oleObj spid="_x0000_s35870" name="文档" r:id="rId3" imgW="4510061" imgH="991786" progId="Word.Document.12">
                  <p:embed/>
                </p:oleObj>
              </mc:Choice>
              <mc:Fallback>
                <p:oleObj name="文档" r:id="rId3" imgW="4510061" imgH="991786" progId="Word.Document.12">
                  <p:embed/>
                  <p:pic>
                    <p:nvPicPr>
                      <p:cNvPr id="0" name=""/>
                      <p:cNvPicPr/>
                      <p:nvPr/>
                    </p:nvPicPr>
                    <p:blipFill>
                      <a:blip r:embed="rId4"/>
                      <a:stretch>
                        <a:fillRect/>
                      </a:stretch>
                    </p:blipFill>
                    <p:spPr>
                      <a:xfrm>
                        <a:off x="474518" y="3475441"/>
                        <a:ext cx="11430000" cy="2513517"/>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617228862"/>
              </p:ext>
            </p:extLst>
          </p:nvPr>
        </p:nvGraphicFramePr>
        <p:xfrm>
          <a:off x="1726191" y="1797395"/>
          <a:ext cx="793750" cy="506413"/>
        </p:xfrm>
        <a:graphic>
          <a:graphicData uri="http://schemas.openxmlformats.org/presentationml/2006/ole">
            <mc:AlternateContent xmlns:mc="http://schemas.openxmlformats.org/markup-compatibility/2006">
              <mc:Choice xmlns:v="urn:schemas-microsoft-com:vml" Requires="v">
                <p:oleObj spid="_x0000_s35871" name="文档" r:id="rId5" imgW="321534" imgH="201096" progId="Word.Document.12">
                  <p:embed/>
                </p:oleObj>
              </mc:Choice>
              <mc:Fallback>
                <p:oleObj name="文档" r:id="rId5" imgW="321534" imgH="201096" progId="Word.Document.12">
                  <p:embed/>
                  <p:pic>
                    <p:nvPicPr>
                      <p:cNvPr id="0" name=""/>
                      <p:cNvPicPr/>
                      <p:nvPr/>
                    </p:nvPicPr>
                    <p:blipFill>
                      <a:blip r:embed="rId6"/>
                      <a:stretch>
                        <a:fillRect/>
                      </a:stretch>
                    </p:blipFill>
                    <p:spPr>
                      <a:xfrm>
                        <a:off x="1726191" y="1797395"/>
                        <a:ext cx="793750" cy="506413"/>
                      </a:xfrm>
                      <a:prstGeom prst="rect">
                        <a:avLst/>
                      </a:prstGeom>
                    </p:spPr>
                  </p:pic>
                </p:oleObj>
              </mc:Fallback>
            </mc:AlternateContent>
          </a:graphicData>
        </a:graphic>
      </p:graphicFrame>
    </p:spTree>
    <p:extLst>
      <p:ext uri="{BB962C8B-B14F-4D97-AF65-F5344CB8AC3E}">
        <p14:creationId xmlns:p14="http://schemas.microsoft.com/office/powerpoint/2010/main" val="32256709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Effect transition="in" filter="wipe(down)">
                                      <p:cBhvr>
                                        <p:cTn id="7" dur="500"/>
                                        <p:tgtEl>
                                          <p:spTgt spid="2">
                                            <p:txEl>
                                              <p:pRg st="3" end="3"/>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2">
                                            <p:txEl>
                                              <p:pRg st="4" end="4"/>
                                            </p:txEl>
                                          </p:spTgt>
                                        </p:tgtEl>
                                        <p:attrNameLst>
                                          <p:attrName>style.visibility</p:attrName>
                                        </p:attrNameLst>
                                      </p:cBhvr>
                                      <p:to>
                                        <p:strVal val="visible"/>
                                      </p:to>
                                    </p:set>
                                    <p:animEffect transition="in" filter="wipe(down)">
                                      <p:cBhvr>
                                        <p:cTn id="10" dur="500"/>
                                        <p:tgtEl>
                                          <p:spTgt spid="2">
                                            <p:txEl>
                                              <p:pRg st="4" end="4"/>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down)">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051147343"/>
              </p:ext>
            </p:extLst>
          </p:nvPr>
        </p:nvGraphicFramePr>
        <p:xfrm>
          <a:off x="474518" y="958809"/>
          <a:ext cx="11430000" cy="2513517"/>
        </p:xfrm>
        <a:graphic>
          <a:graphicData uri="http://schemas.openxmlformats.org/presentationml/2006/ole">
            <mc:AlternateContent xmlns:mc="http://schemas.openxmlformats.org/markup-compatibility/2006">
              <mc:Choice xmlns:v="urn:schemas-microsoft-com:vml" Requires="v">
                <p:oleObj spid="_x0000_s36880" name="文档" r:id="rId3" imgW="4510061" imgH="991786" progId="Word.Document.12">
                  <p:embed/>
                </p:oleObj>
              </mc:Choice>
              <mc:Fallback>
                <p:oleObj name="文档" r:id="rId3" imgW="4510061" imgH="991786" progId="Word.Document.12">
                  <p:embed/>
                  <p:pic>
                    <p:nvPicPr>
                      <p:cNvPr id="0" name=""/>
                      <p:cNvPicPr/>
                      <p:nvPr/>
                    </p:nvPicPr>
                    <p:blipFill>
                      <a:blip r:embed="rId4"/>
                      <a:stretch>
                        <a:fillRect/>
                      </a:stretch>
                    </p:blipFill>
                    <p:spPr>
                      <a:xfrm>
                        <a:off x="474518" y="958809"/>
                        <a:ext cx="11430000" cy="2513517"/>
                      </a:xfrm>
                      <a:prstGeom prst="rect">
                        <a:avLst/>
                      </a:prstGeom>
                    </p:spPr>
                  </p:pic>
                </p:oleObj>
              </mc:Fallback>
            </mc:AlternateContent>
          </a:graphicData>
        </a:graphic>
      </p:graphicFrame>
      <p:sp>
        <p:nvSpPr>
          <p:cNvPr id="3" name="矩形 2"/>
          <p:cNvSpPr>
            <a:spLocks noChangeAspect="1"/>
          </p:cNvSpPr>
          <p:nvPr/>
        </p:nvSpPr>
        <p:spPr>
          <a:xfrm>
            <a:off x="381000" y="3493108"/>
            <a:ext cx="11430000" cy="115236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解得</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λ</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因此</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a</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2310720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阴影"/>
          <p:cNvPicPr>
            <a:picLocks noChangeAspect="1"/>
          </p:cNvPicPr>
          <p:nvPr/>
        </p:nvPicPr>
        <p:blipFill>
          <a:blip r:embed="rId2"/>
          <a:stretch>
            <a:fillRect/>
          </a:stretch>
        </p:blipFill>
        <p:spPr>
          <a:xfrm>
            <a:off x="2325712" y="1511279"/>
            <a:ext cx="7280625" cy="3396125"/>
          </a:xfrm>
          <a:prstGeom prst="rect">
            <a:avLst/>
          </a:prstGeom>
        </p:spPr>
      </p:pic>
      <p:sp>
        <p:nvSpPr>
          <p:cNvPr id="9" name="文本框 8"/>
          <p:cNvSpPr txBox="1"/>
          <p:nvPr/>
        </p:nvSpPr>
        <p:spPr>
          <a:xfrm>
            <a:off x="1809976" y="4908623"/>
            <a:ext cx="8572049" cy="1292662"/>
          </a:xfrm>
          <a:prstGeom prst="rect">
            <a:avLst/>
          </a:prstGeom>
          <a:noFill/>
        </p:spPr>
        <p:txBody>
          <a:bodyPr wrap="square" rtlCol="0">
            <a:spAutoFit/>
          </a:bodyPr>
          <a:lstStyle/>
          <a:p>
            <a:pPr algn="ctr" fontAlgn="auto">
              <a:lnSpc>
                <a:spcPct val="150000"/>
              </a:lnSpc>
            </a:pPr>
            <a:r>
              <a:rPr lang="zh-CN" altLang="en-US" sz="2400" smtClean="0">
                <a:solidFill>
                  <a:srgbClr val="55463D"/>
                </a:solidFill>
              </a:rPr>
              <a:t>更多精彩内容请登录</a:t>
            </a:r>
            <a:r>
              <a:rPr lang="zh-CN" altLang="en-US" sz="2800" b="1" smtClean="0">
                <a:solidFill>
                  <a:srgbClr val="55463D"/>
                </a:solidFill>
                <a:latin typeface="华文新魏" panose="02010800040101010101" pitchFamily="2" charset="-122"/>
                <a:ea typeface="华文新魏" panose="02010800040101010101" pitchFamily="2" charset="-122"/>
              </a:rPr>
              <a:t>志鸿优化网</a:t>
            </a:r>
            <a:endParaRPr lang="en-US" altLang="zh-CN" sz="2400" b="1" smtClean="0">
              <a:solidFill>
                <a:srgbClr val="55463D"/>
              </a:solidFill>
              <a:latin typeface="华文新魏" panose="02010800040101010101" pitchFamily="2" charset="-122"/>
              <a:ea typeface="华文新魏" panose="02010800040101010101" pitchFamily="2" charset="-122"/>
            </a:endParaRPr>
          </a:p>
          <a:p>
            <a:pPr algn="ctr" fontAlgn="auto">
              <a:lnSpc>
                <a:spcPct val="150000"/>
              </a:lnSpc>
            </a:pPr>
            <a:r>
              <a:rPr lang="en-US" altLang="zh-CN" sz="2400" smtClean="0">
                <a:solidFill>
                  <a:srgbClr val="55463D"/>
                </a:solidFill>
              </a:rPr>
              <a:t>http</a:t>
            </a:r>
            <a:r>
              <a:rPr lang="en-US" altLang="zh-CN" sz="2400">
                <a:solidFill>
                  <a:srgbClr val="55463D"/>
                </a:solidFill>
              </a:rPr>
              <a:t>://www.zhyh.org</a:t>
            </a:r>
            <a:r>
              <a:rPr lang="en-US" altLang="zh-CN" sz="2400" smtClean="0">
                <a:solidFill>
                  <a:srgbClr val="55463D"/>
                </a:solidFill>
              </a:rPr>
              <a:t>/</a:t>
            </a:r>
            <a:endParaRPr lang="zh-CN" altLang="en-US" sz="2400">
              <a:solidFill>
                <a:srgbClr val="55463D"/>
              </a:solidFill>
            </a:endParaRPr>
          </a:p>
        </p:txBody>
      </p:sp>
      <p:pic>
        <p:nvPicPr>
          <p:cNvPr id="11" name="图片 10"/>
          <p:cNvPicPr>
            <a:picLocks noChangeAspect="1"/>
          </p:cNvPicPr>
          <p:nvPr/>
        </p:nvPicPr>
        <p:blipFill>
          <a:blip r:embed="rId3">
            <a:clrChange>
              <a:clrFrom>
                <a:srgbClr val="ECECEE"/>
              </a:clrFrom>
              <a:clrTo>
                <a:srgbClr val="ECECEE">
                  <a:alpha val="0"/>
                </a:srgbClr>
              </a:clrTo>
            </a:clrChange>
          </a:blip>
          <a:stretch>
            <a:fillRect/>
          </a:stretch>
        </p:blipFill>
        <p:spPr>
          <a:xfrm>
            <a:off x="123290" y="4517181"/>
            <a:ext cx="2325712" cy="2253486"/>
          </a:xfrm>
          <a:prstGeom prst="rect">
            <a:avLst/>
          </a:prstGeom>
        </p:spPr>
      </p:pic>
      <p:sp>
        <p:nvSpPr>
          <p:cNvPr id="12" name="文本框 11"/>
          <p:cNvSpPr txBox="1"/>
          <p:nvPr/>
        </p:nvSpPr>
        <p:spPr>
          <a:xfrm>
            <a:off x="3451123" y="2222090"/>
            <a:ext cx="4994787" cy="1015663"/>
          </a:xfrm>
          <a:prstGeom prst="rect">
            <a:avLst/>
          </a:prstGeom>
          <a:noFill/>
        </p:spPr>
        <p:txBody>
          <a:bodyPr wrap="square" rtlCol="0">
            <a:spAutoFit/>
          </a:bodyPr>
          <a:lstStyle/>
          <a:p>
            <a:r>
              <a:rPr lang="zh-CN" altLang="en-US" sz="6000" b="1">
                <a:solidFill>
                  <a:srgbClr val="55463D"/>
                </a:solidFill>
                <a:latin typeface="思源黑体 CN Medium" panose="020B0600000000000000" pitchFamily="34" charset="-122"/>
                <a:ea typeface="思源黑体 CN Medium" panose="020B0600000000000000" pitchFamily="34" charset="-122"/>
              </a:rPr>
              <a:t>本  课  结  束</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5"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vertical)">
                                      <p:cBhvr>
                                        <p:cTn id="7" dur="500"/>
                                        <p:tgtEl>
                                          <p:spTgt spid="9"/>
                                        </p:tgtEl>
                                      </p:cBhvr>
                                    </p:animEffect>
                                  </p:childTnLst>
                                </p:cTn>
                              </p:par>
                              <p:par>
                                <p:cTn id="8" presetID="3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800" decel="100000"/>
                                        <p:tgtEl>
                                          <p:spTgt spid="11"/>
                                        </p:tgtEl>
                                      </p:cBhvr>
                                    </p:animEffect>
                                    <p:anim calcmode="lin" valueType="num">
                                      <p:cBhvr>
                                        <p:cTn id="11" dur="800" decel="100000" fill="hold"/>
                                        <p:tgtEl>
                                          <p:spTgt spid="11"/>
                                        </p:tgtEl>
                                        <p:attrNameLst>
                                          <p:attrName>style.rotation</p:attrName>
                                        </p:attrNameLst>
                                      </p:cBhvr>
                                      <p:tavLst>
                                        <p:tav tm="0">
                                          <p:val>
                                            <p:fltVal val="-90"/>
                                          </p:val>
                                        </p:tav>
                                        <p:tav tm="100000">
                                          <p:val>
                                            <p:fltVal val="0"/>
                                          </p:val>
                                        </p:tav>
                                      </p:tavLst>
                                    </p:anim>
                                    <p:anim calcmode="lin" valueType="num">
                                      <p:cBhvr>
                                        <p:cTn id="12" dur="800" decel="100000" fill="hold"/>
                                        <p:tgtEl>
                                          <p:spTgt spid="11"/>
                                        </p:tgtEl>
                                        <p:attrNameLst>
                                          <p:attrName>ppt_x</p:attrName>
                                        </p:attrNameLst>
                                      </p:cBhvr>
                                      <p:tavLst>
                                        <p:tav tm="0">
                                          <p:val>
                                            <p:strVal val="#ppt_x+0.4"/>
                                          </p:val>
                                        </p:tav>
                                        <p:tav tm="100000">
                                          <p:val>
                                            <p:strVal val="#ppt_x-0.05"/>
                                          </p:val>
                                        </p:tav>
                                      </p:tavLst>
                                    </p:anim>
                                    <p:anim calcmode="lin" valueType="num">
                                      <p:cBhvr>
                                        <p:cTn id="13" dur="800" decel="100000" fill="hold"/>
                                        <p:tgtEl>
                                          <p:spTgt spid="11"/>
                                        </p:tgtEl>
                                        <p:attrNameLst>
                                          <p:attrName>ppt_y</p:attrName>
                                        </p:attrNameLst>
                                      </p:cBhvr>
                                      <p:tavLst>
                                        <p:tav tm="0">
                                          <p:val>
                                            <p:strVal val="#ppt_y-0.4"/>
                                          </p:val>
                                        </p:tav>
                                        <p:tav tm="100000">
                                          <p:val>
                                            <p:strVal val="#ppt_y+0.1"/>
                                          </p:val>
                                        </p:tav>
                                      </p:tavLst>
                                    </p:anim>
                                    <p:anim calcmode="lin" valueType="num">
                                      <p:cBhvr>
                                        <p:cTn id="14" dur="200" accel="100000" fill="hold">
                                          <p:stCondLst>
                                            <p:cond delay="800"/>
                                          </p:stCondLst>
                                        </p:cTn>
                                        <p:tgtEl>
                                          <p:spTgt spid="11"/>
                                        </p:tgtEl>
                                        <p:attrNameLst>
                                          <p:attrName>ppt_x</p:attrName>
                                        </p:attrNameLst>
                                      </p:cBhvr>
                                      <p:tavLst>
                                        <p:tav tm="0">
                                          <p:val>
                                            <p:strVal val="#ppt_x-0.05"/>
                                          </p:val>
                                        </p:tav>
                                        <p:tav tm="100000">
                                          <p:val>
                                            <p:strVal val="#ppt_x"/>
                                          </p:val>
                                        </p:tav>
                                      </p:tavLst>
                                    </p:anim>
                                    <p:anim calcmode="lin" valueType="num">
                                      <p:cBhvr>
                                        <p:cTn id="15" dur="200" accel="100000" fill="hold">
                                          <p:stCondLst>
                                            <p:cond delay="800"/>
                                          </p:stCondLst>
                                        </p:cTn>
                                        <p:tgtEl>
                                          <p:spTgt spid="11"/>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tags/tag1.xml><?xml version="1.0" encoding="utf-8"?>
<p:tagLst xmlns:a="http://schemas.openxmlformats.org/drawingml/2006/main" xmlns:r="http://schemas.openxmlformats.org/officeDocument/2006/relationships" xmlns:p="http://schemas.openxmlformats.org/presentationml/2006/main">
  <p:tag name="MH" val="20161022204519"/>
  <p:tag name="MH_LIBRARY" val="GRAPHIC"/>
  <p:tag name="MH_ORDER" val="TextBox 3"/>
</p:tagLst>
</file>

<file path=ppt/theme/theme1.xml><?xml version="1.0" encoding="utf-8"?>
<a:theme xmlns:a="http://schemas.openxmlformats.org/drawingml/2006/main" name="1_Office 主题">
  <a:themeElements>
    <a:clrScheme name="模块">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演示文稿1" id="{721B1EAD-A6C0-47A7-B782-D5918D0D228F}" vid="{2963E896-880A-42B6-99FF-93DBD5586BD1}"/>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理科模板</Template>
  <TotalTime>280</TotalTime>
  <Words>2814</Words>
  <Application>Microsoft Office PowerPoint</Application>
  <PresentationFormat>宽屏</PresentationFormat>
  <Paragraphs>198</Paragraphs>
  <Slides>55</Slides>
  <Notes>0</Notes>
  <HiddenSlides>0</HiddenSlides>
  <MMClips>0</MMClips>
  <ScaleCrop>false</ScaleCrop>
  <HeadingPairs>
    <vt:vector size="8" baseType="variant">
      <vt:variant>
        <vt:lpstr>已用的字体</vt:lpstr>
      </vt:variant>
      <vt:variant>
        <vt:i4>19</vt:i4>
      </vt:variant>
      <vt:variant>
        <vt:lpstr>主题</vt:lpstr>
      </vt:variant>
      <vt:variant>
        <vt:i4>1</vt:i4>
      </vt:variant>
      <vt:variant>
        <vt:lpstr>嵌入 OLE 服务器</vt:lpstr>
      </vt:variant>
      <vt:variant>
        <vt:i4>1</vt:i4>
      </vt:variant>
      <vt:variant>
        <vt:lpstr>幻灯片标题</vt:lpstr>
      </vt:variant>
      <vt:variant>
        <vt:i4>55</vt:i4>
      </vt:variant>
    </vt:vector>
  </HeadingPairs>
  <TitlesOfParts>
    <vt:vector size="76" baseType="lpstr">
      <vt:lpstr>NEU-BZ-S92</vt:lpstr>
      <vt:lpstr>Open Sans</vt:lpstr>
      <vt:lpstr>方正书宋_GBK</vt:lpstr>
      <vt:lpstr>方正姚体</vt:lpstr>
      <vt:lpstr>方正正中黑简体</vt:lpstr>
      <vt:lpstr>仿宋</vt:lpstr>
      <vt:lpstr>黑体</vt:lpstr>
      <vt:lpstr>华文细黑</vt:lpstr>
      <vt:lpstr>华文新魏</vt:lpstr>
      <vt:lpstr>楷体</vt:lpstr>
      <vt:lpstr>隶书</vt:lpstr>
      <vt:lpstr>思源黑体 CN Medium</vt:lpstr>
      <vt:lpstr>宋体</vt:lpstr>
      <vt:lpstr>微软雅黑</vt:lpstr>
      <vt:lpstr>Arial</vt:lpstr>
      <vt:lpstr>Calibri</vt:lpstr>
      <vt:lpstr>Cambria Math</vt:lpstr>
      <vt:lpstr>Microsoft Yi Baiti</vt:lpstr>
      <vt:lpstr>Times New Roman</vt:lpstr>
      <vt:lpstr>1_Office 主题</vt:lpstr>
      <vt:lpstr>文档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ITSK.com</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SkyUser</dc:creator>
  <cp:lastModifiedBy>SkyUser</cp:lastModifiedBy>
  <cp:revision>45</cp:revision>
  <dcterms:created xsi:type="dcterms:W3CDTF">2021-08-30T08:30:26Z</dcterms:created>
  <dcterms:modified xsi:type="dcterms:W3CDTF">2025-08-09T07:27:54Z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2052-11.1.0.10000</vt:lpwstr>
  </property>
</Properties>
</file>