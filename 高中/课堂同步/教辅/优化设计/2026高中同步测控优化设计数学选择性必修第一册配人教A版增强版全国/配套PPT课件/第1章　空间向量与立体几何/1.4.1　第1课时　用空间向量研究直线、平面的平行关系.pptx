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698" r:id="rId18"/>
    <p:sldId id="407" r:id="rId19"/>
    <p:sldId id="394" r:id="rId20"/>
    <p:sldId id="699" r:id="rId21"/>
    <p:sldId id="700" r:id="rId22"/>
    <p:sldId id="701" r:id="rId23"/>
    <p:sldId id="702" r:id="rId24"/>
    <p:sldId id="706" r:id="rId25"/>
    <p:sldId id="402" r:id="rId26"/>
    <p:sldId id="712" r:id="rId27"/>
    <p:sldId id="713" r:id="rId28"/>
    <p:sldId id="714" r:id="rId29"/>
    <p:sldId id="715" r:id="rId30"/>
    <p:sldId id="498" r:id="rId31"/>
    <p:sldId id="730" r:id="rId32"/>
    <p:sldId id="733" r:id="rId33"/>
    <p:sldId id="743" r:id="rId34"/>
    <p:sldId id="744" r:id="rId35"/>
    <p:sldId id="762" r:id="rId36"/>
    <p:sldId id="763" r:id="rId37"/>
    <p:sldId id="740" r:id="rId38"/>
    <p:sldId id="739" r:id="rId39"/>
    <p:sldId id="745" r:id="rId40"/>
    <p:sldId id="398" r:id="rId41"/>
    <p:sldId id="395" r:id="rId42"/>
    <p:sldId id="764" r:id="rId43"/>
    <p:sldId id="756" r:id="rId44"/>
    <p:sldId id="757" r:id="rId45"/>
    <p:sldId id="758" r:id="rId46"/>
    <p:sldId id="759" r:id="rId47"/>
    <p:sldId id="760" r:id="rId48"/>
    <p:sldId id="761" r:id="rId49"/>
    <p:sldId id="490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663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7.xml"/><Relationship Id="rId4" Type="http://schemas.openxmlformats.org/officeDocument/2006/relationships/slide" Target="../slides/slide3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7969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604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238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7872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.docx"/><Relationship Id="rId3" Type="http://schemas.openxmlformats.org/officeDocument/2006/relationships/image" Target="../media/image5.jpe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__2.docx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Relationship Id="rId9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jpeg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2.jpeg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7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3.jpeg"/><Relationship Id="rId4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5.jpeg"/><Relationship Id="rId4" Type="http://schemas.openxmlformats.org/officeDocument/2006/relationships/image" Target="../media/image3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8.jpeg"/><Relationship Id="rId4" Type="http://schemas.openxmlformats.org/officeDocument/2006/relationships/image" Target="../media/image3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2.jpeg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3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5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44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8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0.emf"/><Relationship Id="rId5" Type="http://schemas.openxmlformats.org/officeDocument/2006/relationships/package" Target="../embeddings/Microsoft_Word___34.docx"/><Relationship Id="rId4" Type="http://schemas.openxmlformats.org/officeDocument/2006/relationships/image" Target="../media/image4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2.emf"/><Relationship Id="rId5" Type="http://schemas.openxmlformats.org/officeDocument/2006/relationships/package" Target="../embeddings/Microsoft_Word___36.docx"/><Relationship Id="rId4" Type="http://schemas.openxmlformats.org/officeDocument/2006/relationships/image" Target="../media/image51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55.jpeg"/><Relationship Id="rId4" Type="http://schemas.openxmlformats.org/officeDocument/2006/relationships/image" Target="../media/image5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5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sp>
        <p:nvSpPr>
          <p:cNvPr id="6" name="矩形 5"/>
          <p:cNvSpPr/>
          <p:nvPr/>
        </p:nvSpPr>
        <p:spPr>
          <a:xfrm>
            <a:off x="635" y="2775585"/>
            <a:ext cx="12191365" cy="1478915"/>
          </a:xfrm>
          <a:prstGeom prst="rect">
            <a:avLst/>
          </a:prstGeom>
          <a:solidFill>
            <a:srgbClr val="6B7278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第一</a:t>
            </a:r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1.4.1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3" name="矩形 12"/>
          <p:cNvSpPr/>
          <p:nvPr/>
        </p:nvSpPr>
        <p:spPr>
          <a:xfrm>
            <a:off x="3545840" y="3217261"/>
            <a:ext cx="86042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第</a:t>
            </a:r>
            <a:r>
              <a:rPr lang="en-US" altLang="zh-CN" sz="3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1</a:t>
            </a:r>
            <a:r>
              <a:rPr lang="zh-CN" altLang="en-US" sz="3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课时　用空间向量研究直线、平面的平行关系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05468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能用向量语言描述点、直线和平面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理解直线的方向向量与平面的法向量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掌握直线的方向向量和平面的法向量的求法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能用向量语言表述直线与直线、直线与平面、平面与平面的平行关系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能用向量方法证明有关直线、平面之间的平行关系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体会向量方法在研究几何问题中的应用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抽象、直观想象、逻辑推理与数学运算素养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243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 空间中点、直线的向量表示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我们知道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点、直线和平面是空间的基本图形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阅读教材第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回答下列两个问题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如何用向量表示空间中的一个点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在空间中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取一定点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作为基点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空间中的任意一点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就可以用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上的一个点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上的充要条件是什么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VMX1TRAX11.eps" descr="id:2147495552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43575" y="3362123"/>
            <a:ext cx="2736252" cy="2214650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737251"/>
              </p:ext>
            </p:extLst>
          </p:nvPr>
        </p:nvGraphicFramePr>
        <p:xfrm>
          <a:off x="348048" y="3113679"/>
          <a:ext cx="7413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文档" r:id="rId4" imgW="301578" imgH="198231" progId="Word.Document.12">
                  <p:embed/>
                </p:oleObj>
              </mc:Choice>
              <mc:Fallback>
                <p:oleObj name="文档" r:id="rId4" imgW="301578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8048" y="3113679"/>
                        <a:ext cx="741363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544943"/>
              </p:ext>
            </p:extLst>
          </p:nvPr>
        </p:nvGraphicFramePr>
        <p:xfrm>
          <a:off x="2300415" y="4201684"/>
          <a:ext cx="669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文档" r:id="rId6" imgW="272787" imgH="198231" progId="Word.Document.12">
                  <p:embed/>
                </p:oleObj>
              </mc:Choice>
              <mc:Fallback>
                <p:oleObj name="文档" r:id="rId6" imgW="272787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0415" y="4201684"/>
                        <a:ext cx="669925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798137"/>
              </p:ext>
            </p:extLst>
          </p:nvPr>
        </p:nvGraphicFramePr>
        <p:xfrm>
          <a:off x="41190" y="5108865"/>
          <a:ext cx="11301965" cy="99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文档" r:id="rId8" imgW="4520786" imgH="396823" progId="Word.Document.12">
                  <p:embed/>
                </p:oleObj>
              </mc:Choice>
              <mc:Fallback>
                <p:oleObj name="文档" r:id="rId8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190" y="5108865"/>
                        <a:ext cx="11301965" cy="992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5763" y="224123"/>
            <a:ext cx="11403012" cy="6216413"/>
            <a:chOff x="385763" y="639763"/>
            <a:chExt cx="11403012" cy="6216413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7127104"/>
                </p:ext>
              </p:extLst>
            </p:nvPr>
          </p:nvGraphicFramePr>
          <p:xfrm>
            <a:off x="385763" y="639763"/>
            <a:ext cx="11403012" cy="4494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文档" r:id="rId3" imgW="4510061" imgH="1789323" progId="Word.Document.12">
                    <p:embed/>
                  </p:oleObj>
                </mc:Choice>
                <mc:Fallback>
                  <p:oleObj name="文档" r:id="rId3" imgW="4510061" imgH="17893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5763" y="639763"/>
                          <a:ext cx="11403012" cy="4494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VMX1TRAX12.eps" descr="id:2147495559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83755" y="4732464"/>
              <a:ext cx="2424490" cy="2123712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2863503" y="991165"/>
            <a:ext cx="11902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875192" y="1428125"/>
            <a:ext cx="1185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251240" y="991165"/>
            <a:ext cx="11785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262905" y="1428125"/>
            <a:ext cx="11735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043092" y="3474592"/>
            <a:ext cx="110423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054800" y="3911552"/>
            <a:ext cx="10995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387783" y="3474592"/>
            <a:ext cx="132289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399547" y="3911552"/>
            <a:ext cx="13173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6290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(1,4,7)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的一个方向向量为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(1,2,3)	B.(1,3,2) 	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(2,1,3)	D.(3,2,1)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665510"/>
              </p:ext>
            </p:extLst>
          </p:nvPr>
        </p:nvGraphicFramePr>
        <p:xfrm>
          <a:off x="47275" y="2671108"/>
          <a:ext cx="11301965" cy="99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75" y="2671108"/>
                        <a:ext cx="11301965" cy="992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3486586"/>
            <a:ext cx="16139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329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二、空间中平面的向量表示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设两条直线相交于点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它们确定平面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这两条直线的方向向量分别为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内的充要条件是什么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3889"/>
              </p:ext>
            </p:extLst>
          </p:nvPr>
        </p:nvGraphicFramePr>
        <p:xfrm>
          <a:off x="41190" y="430841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430841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NMX1TRAX50.eps" descr="id:2147513643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3302" y="2480387"/>
            <a:ext cx="5865396" cy="17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5763" y="480290"/>
            <a:ext cx="11403012" cy="4852724"/>
            <a:chOff x="385763" y="985622"/>
            <a:chExt cx="11403012" cy="4852724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4702963"/>
                </p:ext>
              </p:extLst>
            </p:nvPr>
          </p:nvGraphicFramePr>
          <p:xfrm>
            <a:off x="385763" y="985622"/>
            <a:ext cx="11403012" cy="199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0" name="文档" r:id="rId3" imgW="4510061" imgH="794654" progId="Word.Document.12">
                    <p:embed/>
                  </p:oleObj>
                </mc:Choice>
                <mc:Fallback>
                  <p:oleObj name="文档" r:id="rId3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5763" y="985622"/>
                          <a:ext cx="11403012" cy="199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" name="VMX1TRAX14.eps" descr="id:2147495573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72283" y="3147570"/>
              <a:ext cx="4847435" cy="2690776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7257604" y="1257292"/>
            <a:ext cx="226305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269431" y="1694252"/>
            <a:ext cx="22535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675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397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我们称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的法向量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给定一个点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和一个向量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且以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为法向量的平面完全确定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可以表示为集合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P|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   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0}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VMX1TRAX15.eps" descr="id:2147495580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3302" y="2635763"/>
            <a:ext cx="5865397" cy="2513350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098805"/>
              </p:ext>
            </p:extLst>
          </p:nvPr>
        </p:nvGraphicFramePr>
        <p:xfrm>
          <a:off x="5872077" y="1917672"/>
          <a:ext cx="7508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文档" r:id="rId4" imgW="301578" imgH="198592" progId="Word.Document.12">
                  <p:embed/>
                </p:oleObj>
              </mc:Choice>
              <mc:Fallback>
                <p:oleObj name="文档" r:id="rId4" imgW="30157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72077" y="1917672"/>
                        <a:ext cx="75088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9795575" y="782347"/>
            <a:ext cx="8654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807215" y="1229698"/>
            <a:ext cx="8618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028699" y="1323567"/>
            <a:ext cx="8654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9040339" y="1770918"/>
            <a:ext cx="8618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204843" y="1917672"/>
            <a:ext cx="187136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216484" y="2354632"/>
            <a:ext cx="18635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1274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则下列点在平面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89620"/>
              </p:ext>
            </p:extLst>
          </p:nvPr>
        </p:nvGraphicFramePr>
        <p:xfrm>
          <a:off x="64395" y="2326082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文档" r:id="rId3" imgW="4510061" imgH="1390734" progId="Word.Document.12">
                  <p:embed/>
                </p:oleObj>
              </mc:Choice>
              <mc:Fallback>
                <p:oleObj name="文档" r:id="rId3" imgW="4510061" imgH="13907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2326082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561568"/>
              </p:ext>
            </p:extLst>
          </p:nvPr>
        </p:nvGraphicFramePr>
        <p:xfrm>
          <a:off x="64395" y="134854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134854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836252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3113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三、空间中直线、平面的平行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设空间两条直线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的方向向量分别为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的法向量分别为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试根据直线的方向向量、平面的法向量的定义回答下列问题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2847"/>
            <a:ext cx="4776949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空间中直线、平面的平行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59839"/>
              </p:ext>
            </p:extLst>
          </p:nvPr>
        </p:nvGraphicFramePr>
        <p:xfrm>
          <a:off x="381000" y="1271091"/>
          <a:ext cx="11430000" cy="5224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文档" r:id="rId3" imgW="4520786" imgH="2066290" progId="Word.Document.12">
                  <p:embed/>
                </p:oleObj>
              </mc:Choice>
              <mc:Fallback>
                <p:oleObj name="文档" r:id="rId3" imgW="4520786" imgH="20662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271091"/>
                        <a:ext cx="11430000" cy="5224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322572" y="2642608"/>
            <a:ext cx="95794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652607" y="2640601"/>
            <a:ext cx="2880801" cy="40531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12129" y="4417264"/>
            <a:ext cx="733159" cy="40531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17121" y="4417264"/>
            <a:ext cx="1159187" cy="40531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708636"/>
              </p:ext>
            </p:extLst>
          </p:nvPr>
        </p:nvGraphicFramePr>
        <p:xfrm>
          <a:off x="381000" y="1191305"/>
          <a:ext cx="11430000" cy="4189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文档" r:id="rId3" imgW="4520786" imgH="1656853" progId="Word.Document.12">
                  <p:embed/>
                </p:oleObj>
              </mc:Choice>
              <mc:Fallback>
                <p:oleObj name="文档" r:id="rId3" imgW="4520786" imgH="16568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191305"/>
                        <a:ext cx="11430000" cy="4189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925266" y="3017396"/>
            <a:ext cx="98363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65692" y="3017396"/>
            <a:ext cx="341318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139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(2,4,5),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979262"/>
              </p:ext>
            </p:extLst>
          </p:nvPr>
        </p:nvGraphicFramePr>
        <p:xfrm>
          <a:off x="64395" y="187335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187335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4637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的法向量为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293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900687"/>
              </p:ext>
            </p:extLst>
          </p:nvPr>
        </p:nvGraphicFramePr>
        <p:xfrm>
          <a:off x="64395" y="258545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258545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42123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36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9329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一个平面的法向量都是同向的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若两条直线平行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则它们的方向向量的方向相同或相反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直线的方向向量与平面的法向量平行时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直线与平面平行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若平面外的一条直线的方向向量与平面的法向量垂直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则该直线与平面平行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0" y="2300423"/>
            <a:ext cx="52300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705466" y="2799999"/>
            <a:ext cx="43223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094409" y="3401860"/>
            <a:ext cx="52300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97984" y="4461984"/>
            <a:ext cx="43223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89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求平面的法向量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6004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已知四边形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是直角梯形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SA=AB=BC=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试建立适当的空间直角坐标系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找平面的垂线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用待定系数法设出法向量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法向量与平面内的两条不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计算出平面的一个法向量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188357"/>
              </p:ext>
            </p:extLst>
          </p:nvPr>
        </p:nvGraphicFramePr>
        <p:xfrm>
          <a:off x="4358965" y="1201621"/>
          <a:ext cx="471121" cy="75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文档" r:id="rId3" imgW="255873" imgH="398985" progId="Word.Document.12">
                  <p:embed/>
                </p:oleObj>
              </mc:Choice>
              <mc:Fallback>
                <p:oleObj name="文档" r:id="rId3" imgW="255873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8965" y="1201621"/>
                        <a:ext cx="471121" cy="75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NMX1TRAX56.eps" descr="id:2147513686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9577" y="2144836"/>
            <a:ext cx="3358438" cy="2707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1907" y="273787"/>
            <a:ext cx="11739093" cy="5619334"/>
            <a:chOff x="71907" y="429652"/>
            <a:chExt cx="11739093" cy="5619334"/>
          </a:xfrm>
        </p:grpSpPr>
        <p:grpSp>
          <p:nvGrpSpPr>
            <p:cNvPr id="6" name="组合 5"/>
            <p:cNvGrpSpPr/>
            <p:nvPr/>
          </p:nvGrpSpPr>
          <p:grpSpPr>
            <a:xfrm>
              <a:off x="71907" y="429652"/>
              <a:ext cx="11739093" cy="5619334"/>
              <a:chOff x="71907" y="429652"/>
              <a:chExt cx="11739093" cy="5619334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429652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两两垂直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为原点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所在直线分别为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轴、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轴、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建立空间直角坐标系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如图所示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5251101"/>
                  </p:ext>
                </p:extLst>
              </p:nvPr>
            </p:nvGraphicFramePr>
            <p:xfrm>
              <a:off x="71907" y="1556261"/>
              <a:ext cx="11430000" cy="25077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8" name="文档" r:id="rId3" imgW="4520786" imgH="991877" progId="Word.Document.12">
                      <p:embed/>
                    </p:oleObj>
                  </mc:Choice>
                  <mc:Fallback>
                    <p:oleObj name="文档" r:id="rId3" imgW="4520786" imgH="991877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1907" y="1556261"/>
                            <a:ext cx="11430000" cy="250778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3893322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∩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SA=A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⊥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平面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640611"/>
                  </p:ext>
                </p:extLst>
              </p:nvPr>
            </p:nvGraphicFramePr>
            <p:xfrm>
              <a:off x="71907" y="5045689"/>
              <a:ext cx="11430000" cy="1003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9" name="文档" r:id="rId5" imgW="4520786" imgH="396823" progId="Word.Document.12">
                      <p:embed/>
                    </p:oleObj>
                  </mc:Choice>
                  <mc:Fallback>
                    <p:oleObj name="文档" r:id="rId5" imgW="4520786" imgH="396823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1907" y="5045689"/>
                            <a:ext cx="11430000" cy="100329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7" name="VMX1TRAX20.eps" descr="id:2147495616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01177" y="1884871"/>
              <a:ext cx="3709823" cy="3305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006269"/>
              </p:ext>
            </p:extLst>
          </p:nvPr>
        </p:nvGraphicFramePr>
        <p:xfrm>
          <a:off x="71907" y="250412"/>
          <a:ext cx="11430000" cy="55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文档" r:id="rId3" imgW="4520786" imgH="2181985" progId="Word.Document.12">
                  <p:embed/>
                </p:oleObj>
              </mc:Choice>
              <mc:Fallback>
                <p:oleObj name="文档" r:id="rId3" imgW="4520786" imgH="2181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07" y="250412"/>
                        <a:ext cx="11430000" cy="5516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4395" y="139579"/>
            <a:ext cx="11746605" cy="6326064"/>
            <a:chOff x="64395" y="160361"/>
            <a:chExt cx="11746605" cy="63260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0361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若一个几何体中存在线面垂直关系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则平面的垂线的方向向量即为平面的法向量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一般情况下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使用待定系数法求平面的法向量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步骤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如下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设出平面的法向量为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找出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平面内的两个不共线的向量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299674"/>
                </p:ext>
              </p:extLst>
            </p:nvPr>
          </p:nvGraphicFramePr>
          <p:xfrm>
            <a:off x="64395" y="3014824"/>
            <a:ext cx="11301965" cy="992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3014824"/>
                          <a:ext cx="11301965" cy="9920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3981124"/>
              <a:ext cx="11430000" cy="250530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解方程组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取其中的一个解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即得法向量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在利用上述步骤求解平面的法向量时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方程组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有无数多个解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5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只需给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中的一个变量赋予一个值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((0,0,0)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除外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即可确定平面的一个法向量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赋的值不同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所求平面的法向量就不同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但它们是共线向量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2830148"/>
                </p:ext>
              </p:extLst>
            </p:nvPr>
          </p:nvGraphicFramePr>
          <p:xfrm>
            <a:off x="7843744" y="4305737"/>
            <a:ext cx="1593850" cy="1006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1" name="文档" r:id="rId5" imgW="638064" imgH="398985" progId="Word.Document.12">
                    <p:embed/>
                  </p:oleObj>
                </mc:Choice>
                <mc:Fallback>
                  <p:oleObj name="文档" r:id="rId5" imgW="638064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843744" y="4305737"/>
                          <a:ext cx="1593850" cy="1006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092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在棱长为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的正方体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在空间直角坐标系中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BDEF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5" name="NMX1TRAX57.eps" descr="id:214751370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51949" y="1509053"/>
            <a:ext cx="3088105" cy="29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395" y="191068"/>
            <a:ext cx="11746605" cy="5893093"/>
            <a:chOff x="64395" y="274196"/>
            <a:chExt cx="11746605" cy="589309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74196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已知正方体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-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的棱长为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(0,0,0),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(2,2,0),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(2,0,0),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(0,2,0),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(1,0,2)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BDD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380190"/>
                </p:ext>
              </p:extLst>
            </p:nvPr>
          </p:nvGraphicFramePr>
          <p:xfrm>
            <a:off x="64395" y="1932273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3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932273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01492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BDEF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的一个法向量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利用空间向量证明线线平行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6042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在正方体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四边形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是平行四边形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转化为证明直线的方向向量平行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8" name="VMX1TRAX22.eps" descr="id:2147495644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0568" y="2034970"/>
            <a:ext cx="3310864" cy="3222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5563" y="-69129"/>
            <a:ext cx="11755437" cy="6476174"/>
            <a:chOff x="55563" y="-79520"/>
            <a:chExt cx="11755437" cy="6476174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5649615"/>
                </p:ext>
              </p:extLst>
            </p:nvPr>
          </p:nvGraphicFramePr>
          <p:xfrm>
            <a:off x="55563" y="-79520"/>
            <a:ext cx="11401425" cy="549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7" name="文档" r:id="rId3" imgW="4510061" imgH="2185028" progId="Word.Document.12">
                    <p:embed/>
                  </p:oleObj>
                </mc:Choice>
                <mc:Fallback>
                  <p:oleObj name="文档" r:id="rId3" imgW="4510061" imgH="21850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563" y="-79520"/>
                          <a:ext cx="11401425" cy="54975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24428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AE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AE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所以四边形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AEC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是平行四边形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VMX1TRAX23.eps" descr="id:2147495651;FounderCES"/>
            <p:cNvPicPr/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732918" y="3614288"/>
              <a:ext cx="2688058" cy="2590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12635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两直线平行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两直线的方向向量共线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两直线的方向向量共线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两直线平行或重合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所以由两直线的方向向量共线证明两直线平行时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必须指出两直线不重合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9307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在长方体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分别是面对角线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1906" y="382194"/>
            <a:ext cx="11739094" cy="5209811"/>
            <a:chOff x="71906" y="590014"/>
            <a:chExt cx="11739094" cy="520981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0014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所在直线分别为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轴、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轴、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建立空间直角坐标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系</a:t>
              </a: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Dxyz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0192512"/>
                </p:ext>
              </p:extLst>
            </p:nvPr>
          </p:nvGraphicFramePr>
          <p:xfrm>
            <a:off x="71906" y="2289655"/>
            <a:ext cx="11430000" cy="3510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5" name="文档" r:id="rId3" imgW="4510061" imgH="1427854" progId="Word.Document.12">
                    <p:embed/>
                  </p:oleObj>
                </mc:Choice>
                <mc:Fallback>
                  <p:oleObj name="文档" r:id="rId3" imgW="4510061" imgH="14278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906" y="2289655"/>
                          <a:ext cx="11430000" cy="35101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VMX1TRAX24.eps" descr="id:2147495665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05157" y="1851785"/>
              <a:ext cx="3310864" cy="3234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利用空间向量证明线面、面面平行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065392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已知正方体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的棱长为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要让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要让平面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需证明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488650"/>
              </p:ext>
            </p:extLst>
          </p:nvPr>
        </p:nvGraphicFramePr>
        <p:xfrm>
          <a:off x="10708269" y="3390809"/>
          <a:ext cx="9525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文档" r:id="rId3" imgW="384709" imgH="198231" progId="Word.Document.12">
                  <p:embed/>
                </p:oleObj>
              </mc:Choice>
              <mc:Fallback>
                <p:oleObj name="文档" r:id="rId3" imgW="384709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08269" y="3390809"/>
                        <a:ext cx="9525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395" y="51036"/>
            <a:ext cx="11812903" cy="6587640"/>
            <a:chOff x="64395" y="38157"/>
            <a:chExt cx="11812903" cy="65876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8157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所在直线分别为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轴、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轴、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建立空间直角坐标系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Dxyz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(0,0,0),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(2,0,0),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(0,2,0),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(0,2,2),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(2,2,1),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(0,0,1),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(2,2,2),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8095634"/>
                </p:ext>
              </p:extLst>
            </p:nvPr>
          </p:nvGraphicFramePr>
          <p:xfrm>
            <a:off x="64395" y="1611140"/>
            <a:ext cx="11430000" cy="5014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name="文档" r:id="rId3" imgW="4520786" imgH="1983394" progId="Word.Document.12">
                    <p:embed/>
                  </p:oleObj>
                </mc:Choice>
                <mc:Fallback>
                  <p:oleObj name="文档" r:id="rId3" imgW="4520786" imgH="19833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611140"/>
                          <a:ext cx="11430000" cy="50146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VMX1TRAX25.eps" descr="id:2147495679;FounderCES"/>
            <p:cNvPicPr/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23726" y="2277375"/>
              <a:ext cx="2153572" cy="2075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516" y="785082"/>
            <a:ext cx="11759484" cy="4209605"/>
            <a:chOff x="51516" y="1065639"/>
            <a:chExt cx="11759484" cy="420960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65639"/>
              <a:ext cx="665759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的法向量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0195644"/>
                </p:ext>
              </p:extLst>
            </p:nvPr>
          </p:nvGraphicFramePr>
          <p:xfrm>
            <a:off x="51516" y="1692367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9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1692367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12287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的一个法向量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ADE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2179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利用空间向量证明线面平行一般有三种方法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证明直线的方向向量与平面内任意两个不共线的向量共面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即可用平面内的一组基底表示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证明直线的方向向量与平面内某一向量共线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转化为线线平行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利用线面平行判定定理得证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先求直线的方向向量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然后求平面的法向量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再证明直线的方向向量与平面的法向量垂直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利用空间向量证明面面平行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求出两平面的法向量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若两法向量是共线向量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则可判定两平面平行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2137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在长方体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上是否存在一点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X1TRAX59.eps" descr="id:2147513822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928" y="1916042"/>
            <a:ext cx="4006145" cy="33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093283"/>
              </p:ext>
            </p:extLst>
          </p:nvPr>
        </p:nvGraphicFramePr>
        <p:xfrm>
          <a:off x="41564" y="148691"/>
          <a:ext cx="11275153" cy="6357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文档" r:id="rId3" imgW="4510061" imgH="2542967" progId="Word.Document.12">
                  <p:embed/>
                </p:oleObj>
              </mc:Choice>
              <mc:Fallback>
                <p:oleObj name="文档" r:id="rId3" imgW="4510061" imgH="25429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48691"/>
                        <a:ext cx="11275153" cy="6357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MX1TRAX229.eps" descr="id:2147513829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87809" y="1656065"/>
            <a:ext cx="4133862" cy="33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3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33338"/>
              </p:ext>
            </p:extLst>
          </p:nvPr>
        </p:nvGraphicFramePr>
        <p:xfrm>
          <a:off x="42787" y="1166814"/>
          <a:ext cx="11275153" cy="3308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文档" r:id="rId3" imgW="4510061" imgH="1323234" progId="Word.Document.12">
                  <p:embed/>
                </p:oleObj>
              </mc:Choice>
              <mc:Fallback>
                <p:oleObj name="文档" r:id="rId3" imgW="4510061" imgH="13232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87" y="1166814"/>
                        <a:ext cx="11275153" cy="3308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09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1268101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忽视直线与平面平行的条件致误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即直线与平面平行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9138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本题错误在于对直线与平面平行的条件理解不清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混淆了直线与平面平行和向量与平面平行的区别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即直线与平面平行或在平面内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在用向量方法判断直线与平面的平行关系时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必须考虑直线是否在平面内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的法向量垂直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为方向向量的直线有可能与平面平行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也有可能在平面内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594591"/>
            <a:ext cx="11430000" cy="234429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不在平面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与平面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相交但不垂直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81177"/>
              </p:ext>
            </p:extLst>
          </p:nvPr>
        </p:nvGraphicFramePr>
        <p:xfrm>
          <a:off x="3693536" y="693878"/>
          <a:ext cx="7270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文档" r:id="rId3" imgW="301211" imgH="199294" progId="Word.Document.12">
                  <p:embed/>
                </p:oleObj>
              </mc:Choice>
              <mc:Fallback>
                <p:oleObj name="文档" r:id="rId3" imgW="301211" imgH="199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3536" y="693878"/>
                        <a:ext cx="7270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970742"/>
              </p:ext>
            </p:extLst>
          </p:nvPr>
        </p:nvGraphicFramePr>
        <p:xfrm>
          <a:off x="72737" y="2800994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737" y="2800994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362520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不在平面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为正方体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建立如下空间直角坐标系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Axyz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则下列结论正确的是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的一个方向向量为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(0,0,1)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的一个方向向量为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(0,1,1)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(0,1,0)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的一个法向量为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(1,1,1)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5N07.eps" descr="id:2147513805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62136" y="1515370"/>
            <a:ext cx="2792780" cy="3005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288510"/>
              </p:ext>
            </p:extLst>
          </p:nvPr>
        </p:nvGraphicFramePr>
        <p:xfrm>
          <a:off x="458424" y="1190879"/>
          <a:ext cx="11275153" cy="283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文档" r:id="rId3" imgW="4510061" imgH="1135638" progId="Word.Document.12">
                  <p:embed/>
                </p:oleObj>
              </mc:Choice>
              <mc:Fallback>
                <p:oleObj name="文档" r:id="rId3" imgW="4510061" imgH="11356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190879"/>
                        <a:ext cx="11275153" cy="2839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939134"/>
            <a:ext cx="182934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6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783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的法向量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	B.1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097399"/>
              </p:ext>
            </p:extLst>
          </p:nvPr>
        </p:nvGraphicFramePr>
        <p:xfrm>
          <a:off x="485262" y="1858835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文档" r:id="rId3" imgW="4520786" imgH="1586931" progId="Word.Document.12">
                  <p:embed/>
                </p:oleObj>
              </mc:Choice>
              <mc:Fallback>
                <p:oleObj name="文档" r:id="rId3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262" y="1858835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858228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7284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的法向量分别为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,1,3),(1,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,9),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100763"/>
              </p:ext>
            </p:extLst>
          </p:nvPr>
        </p:nvGraphicFramePr>
        <p:xfrm>
          <a:off x="485262" y="2238093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262" y="2238093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408481"/>
              </p:ext>
            </p:extLst>
          </p:nvPr>
        </p:nvGraphicFramePr>
        <p:xfrm>
          <a:off x="485262" y="416649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262" y="416649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135209"/>
              </p:ext>
            </p:extLst>
          </p:nvPr>
        </p:nvGraphicFramePr>
        <p:xfrm>
          <a:off x="484031" y="870018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031" y="870018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81000" y="2422681"/>
            <a:ext cx="11533031" cy="1621268"/>
            <a:chOff x="381000" y="2952621"/>
            <a:chExt cx="11533031" cy="162126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952621"/>
              <a:ext cx="7234673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的方向向量与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的法向量垂直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5590731"/>
                </p:ext>
              </p:extLst>
            </p:nvPr>
          </p:nvGraphicFramePr>
          <p:xfrm>
            <a:off x="484031" y="3570592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5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031" y="3570592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3981603"/>
            <a:ext cx="139172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707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在多面体中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AE=BE=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VMX1TRAX27.eps" descr="id:2147495721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2621" y="1976843"/>
            <a:ext cx="4406759" cy="335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973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两两垂直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所在直线分别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建立空间直角坐标系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(2,4,0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(0,3,0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(2,2,0),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561022"/>
              </p:ext>
            </p:extLst>
          </p:nvPr>
        </p:nvGraphicFramePr>
        <p:xfrm>
          <a:off x="458424" y="4717507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4717507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VMX1TRAX28.eps" descr="id:2147495728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4844" y="1062904"/>
            <a:ext cx="4253076" cy="339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03244"/>
              </p:ext>
            </p:extLst>
          </p:nvPr>
        </p:nvGraphicFramePr>
        <p:xfrm>
          <a:off x="479206" y="729674"/>
          <a:ext cx="11275153" cy="41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文档" r:id="rId3" imgW="4510061" imgH="1666070" progId="Word.Document.12">
                  <p:embed/>
                </p:oleObj>
              </mc:Choice>
              <mc:Fallback>
                <p:oleObj name="文档" r:id="rId3" imgW="4510061" imgH="16660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729674"/>
                        <a:ext cx="11275153" cy="41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17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279</TotalTime>
  <Words>2357</Words>
  <Application>Microsoft Office PowerPoint</Application>
  <PresentationFormat>宽屏</PresentationFormat>
  <Paragraphs>177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48</cp:revision>
  <dcterms:created xsi:type="dcterms:W3CDTF">2021-08-30T08:30:26Z</dcterms:created>
  <dcterms:modified xsi:type="dcterms:W3CDTF">2025-08-09T07:38:38Z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