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693" r:id="rId13"/>
    <p:sldId id="694" r:id="rId14"/>
    <p:sldId id="695" r:id="rId15"/>
    <p:sldId id="696" r:id="rId16"/>
    <p:sldId id="697" r:id="rId17"/>
    <p:sldId id="698" r:id="rId18"/>
    <p:sldId id="407" r:id="rId19"/>
    <p:sldId id="394" r:id="rId20"/>
    <p:sldId id="699" r:id="rId21"/>
    <p:sldId id="700" r:id="rId22"/>
    <p:sldId id="701" r:id="rId23"/>
    <p:sldId id="702" r:id="rId24"/>
    <p:sldId id="706" r:id="rId25"/>
    <p:sldId id="707" r:id="rId26"/>
    <p:sldId id="402" r:id="rId27"/>
    <p:sldId id="712" r:id="rId28"/>
    <p:sldId id="713" r:id="rId29"/>
    <p:sldId id="714" r:id="rId30"/>
    <p:sldId id="715" r:id="rId31"/>
    <p:sldId id="719" r:id="rId32"/>
    <p:sldId id="498" r:id="rId33"/>
    <p:sldId id="730" r:id="rId34"/>
    <p:sldId id="733" r:id="rId35"/>
    <p:sldId id="743" r:id="rId36"/>
    <p:sldId id="744" r:id="rId37"/>
    <p:sldId id="740" r:id="rId38"/>
    <p:sldId id="739" r:id="rId39"/>
    <p:sldId id="746" r:id="rId40"/>
    <p:sldId id="747" r:id="rId41"/>
    <p:sldId id="741" r:id="rId42"/>
    <p:sldId id="738" r:id="rId43"/>
    <p:sldId id="751" r:id="rId44"/>
    <p:sldId id="398" r:id="rId45"/>
    <p:sldId id="395" r:id="rId46"/>
    <p:sldId id="756" r:id="rId47"/>
    <p:sldId id="757" r:id="rId48"/>
    <p:sldId id="758" r:id="rId49"/>
    <p:sldId id="759" r:id="rId50"/>
    <p:sldId id="761" r:id="rId51"/>
    <p:sldId id="490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28"/>
        <p:guide pos="257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image" Target="../media/image58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image" Target="../media/image61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image" Target="../media/image64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image" Target="../media/image66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41.xml"/><Relationship Id="rId5" Type="http://schemas.openxmlformats.org/officeDocument/2006/relationships/slide" Target="../slides/slide37.xml"/><Relationship Id="rId4" Type="http://schemas.openxmlformats.org/officeDocument/2006/relationships/slide" Target="../slides/slide3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6736663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780300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886935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探究四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6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4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7" Type="http://schemas.openxmlformats.org/officeDocument/2006/relationships/image" Target="../media/image7.jpe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package" Target="../embeddings/Microsoft_Word___4.docx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png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Word___7.docx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8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5.jpeg"/><Relationship Id="rId4" Type="http://schemas.openxmlformats.org/officeDocument/2006/relationships/image" Target="../media/image14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6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7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8.emf"/><Relationship Id="rId5" Type="http://schemas.openxmlformats.org/officeDocument/2006/relationships/package" Target="../embeddings/Microsoft_Word___12.docx"/><Relationship Id="rId4" Type="http://schemas.openxmlformats.org/officeDocument/2006/relationships/image" Target="../media/image17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1.emf"/><Relationship Id="rId5" Type="http://schemas.openxmlformats.org/officeDocument/2006/relationships/package" Target="../embeddings/Microsoft_Word___14.docx"/><Relationship Id="rId4" Type="http://schemas.openxmlformats.org/officeDocument/2006/relationships/image" Target="../media/image20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4.jpeg"/><Relationship Id="rId4" Type="http://schemas.openxmlformats.org/officeDocument/2006/relationships/image" Target="../media/image23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5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7.emf"/><Relationship Id="rId5" Type="http://schemas.openxmlformats.org/officeDocument/2006/relationships/package" Target="../embeddings/Microsoft_Word___19.docx"/><Relationship Id="rId4" Type="http://schemas.openxmlformats.org/officeDocument/2006/relationships/image" Target="../media/image2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7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9.emf"/><Relationship Id="rId5" Type="http://schemas.openxmlformats.org/officeDocument/2006/relationships/package" Target="../embeddings/Microsoft_Word___21.docx"/><Relationship Id="rId4" Type="http://schemas.openxmlformats.org/officeDocument/2006/relationships/image" Target="../media/image28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31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34.jpeg"/><Relationship Id="rId7" Type="http://schemas.openxmlformats.org/officeDocument/2006/relationships/image" Target="../media/image3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package" Target="../embeddings/Microsoft_Word___24.docx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3.docx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7.jpeg"/><Relationship Id="rId4" Type="http://schemas.openxmlformats.org/officeDocument/2006/relationships/image" Target="../media/image3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38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1.png"/><Relationship Id="rId5" Type="http://schemas.openxmlformats.org/officeDocument/2006/relationships/image" Target="../media/image40.jpeg"/><Relationship Id="rId4" Type="http://schemas.openxmlformats.org/officeDocument/2006/relationships/image" Target="../media/image39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41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46.jpeg"/><Relationship Id="rId4" Type="http://schemas.openxmlformats.org/officeDocument/2006/relationships/image" Target="../media/image45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47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48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2.docx"/><Relationship Id="rId7" Type="http://schemas.openxmlformats.org/officeDocument/2006/relationships/image" Target="../media/image5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package" Target="../embeddings/Microsoft_Word___33.docx"/><Relationship Id="rId5" Type="http://schemas.openxmlformats.org/officeDocument/2006/relationships/image" Target="../media/image51.jpeg"/><Relationship Id="rId4" Type="http://schemas.openxmlformats.org/officeDocument/2006/relationships/image" Target="../media/image49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52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54.emf"/><Relationship Id="rId5" Type="http://schemas.openxmlformats.org/officeDocument/2006/relationships/package" Target="../embeddings/Microsoft_Word___36.docx"/><Relationship Id="rId4" Type="http://schemas.openxmlformats.org/officeDocument/2006/relationships/image" Target="../media/image53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package" Target="../embeddings/Microsoft_Word___37.docx"/><Relationship Id="rId7" Type="http://schemas.openxmlformats.org/officeDocument/2006/relationships/package" Target="../embeddings/Microsoft_Word___3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56.emf"/><Relationship Id="rId5" Type="http://schemas.openxmlformats.org/officeDocument/2006/relationships/package" Target="../embeddings/Microsoft_Word___38.docx"/><Relationship Id="rId4" Type="http://schemas.openxmlformats.org/officeDocument/2006/relationships/image" Target="../media/image55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0.docx"/><Relationship Id="rId7" Type="http://schemas.openxmlformats.org/officeDocument/2006/relationships/image" Target="../media/image59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9.vml"/><Relationship Id="rId6" Type="http://schemas.openxmlformats.org/officeDocument/2006/relationships/package" Target="../embeddings/Microsoft_Word___41.docx"/><Relationship Id="rId5" Type="http://schemas.openxmlformats.org/officeDocument/2006/relationships/image" Target="../media/image60.jpeg"/><Relationship Id="rId4" Type="http://schemas.openxmlformats.org/officeDocument/2006/relationships/image" Target="../media/image58.e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package" Target="../embeddings/Microsoft_Word___42.docx"/><Relationship Id="rId7" Type="http://schemas.openxmlformats.org/officeDocument/2006/relationships/package" Target="../embeddings/Microsoft_Word___44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62.emf"/><Relationship Id="rId5" Type="http://schemas.openxmlformats.org/officeDocument/2006/relationships/package" Target="../embeddings/Microsoft_Word___43.docx"/><Relationship Id="rId4" Type="http://schemas.openxmlformats.org/officeDocument/2006/relationships/image" Target="../media/image61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5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65.emf"/><Relationship Id="rId5" Type="http://schemas.openxmlformats.org/officeDocument/2006/relationships/package" Target="../embeddings/Microsoft_Word___46.docx"/><Relationship Id="rId4" Type="http://schemas.openxmlformats.org/officeDocument/2006/relationships/image" Target="../media/image64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7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67.emf"/><Relationship Id="rId5" Type="http://schemas.openxmlformats.org/officeDocument/2006/relationships/package" Target="../embeddings/Microsoft_Word___48.docx"/><Relationship Id="rId4" Type="http://schemas.openxmlformats.org/officeDocument/2006/relationships/image" Target="../media/image66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9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68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1.1.1</a:t>
              </a:r>
              <a:r>
                <a:rPr lang="zh-CN" altLang="en-US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空间向量及其线性运算</a:t>
              </a:r>
              <a:endParaRPr lang="zh-CN" altLang="en-US" sz="36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第一</a:t>
            </a:r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1.1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经历由平面向量推广到空间向量的过程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了解空间向量的概念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经历由平面向量的线性运算及其运算律推广到空间向量的过程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掌握空间向量的线性运算及其运算律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掌握空间向量共线、共面的充要条件及其应用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抽象、直观想象与数学运算素养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00315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一、空间向量的概念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小刘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放学后回家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先从学校大门口出发向北行走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再向东行走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最后乘电梯上行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米到达住处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据此回答下列问题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小刘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放学回家的三个位移在同一平面内吗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不在同一平面内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你能用示意图表示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一下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小刘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放学回家的总位移吗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endParaRPr lang="zh-CN" altLang="en-US" sz="2800" dirty="0"/>
          </a:p>
        </p:txBody>
      </p:sp>
      <p:pic>
        <p:nvPicPr>
          <p:cNvPr id="4" name="ZMX1TRA01.eps" descr="id:2147494460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82229" y="3657341"/>
            <a:ext cx="2840223" cy="243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1541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.(1)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我们把具有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大小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方向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的量叫做空间向量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长度或模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空间向量的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大小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叫做空间向量的长度或模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036047"/>
              </p:ext>
            </p:extLst>
          </p:nvPr>
        </p:nvGraphicFramePr>
        <p:xfrm>
          <a:off x="41564" y="2283279"/>
          <a:ext cx="11275153" cy="3470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文档" r:id="rId3" imgW="4510061" imgH="1388212" progId="Word.Document.12">
                  <p:embed/>
                </p:oleObj>
              </mc:Choice>
              <mc:Fallback>
                <p:oleObj name="文档" r:id="rId3" imgW="4510061" imgH="1388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2283279"/>
                        <a:ext cx="11275153" cy="34705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4842692" y="1227084"/>
            <a:ext cx="69576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4854303" y="1664044"/>
            <a:ext cx="69284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5917755" y="1227084"/>
            <a:ext cx="69576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5929366" y="1664044"/>
            <a:ext cx="69284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411073" y="1784117"/>
            <a:ext cx="69576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4422684" y="2221077"/>
            <a:ext cx="69284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664301" y="2553045"/>
            <a:ext cx="113927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929365" y="3188587"/>
            <a:ext cx="141700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110759" y="4923869"/>
            <a:ext cx="47549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075677" y="4986215"/>
            <a:ext cx="30434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751305" y="4986215"/>
            <a:ext cx="58554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4841"/>
            <a:ext cx="4208203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几类常见的空间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7105499"/>
              </p:ext>
            </p:extLst>
          </p:nvPr>
        </p:nvGraphicFramePr>
        <p:xfrm>
          <a:off x="381000" y="702541"/>
          <a:ext cx="11430000" cy="6724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文档" r:id="rId3" imgW="4609869" imgH="2711914" progId="Word.Document.12">
                  <p:embed/>
                </p:oleObj>
              </mc:Choice>
              <mc:Fallback>
                <p:oleObj name="文档" r:id="rId3" imgW="4609869" imgH="27119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702541"/>
                        <a:ext cx="11430000" cy="6724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547228" y="1320596"/>
            <a:ext cx="255846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204328" y="2085103"/>
            <a:ext cx="255846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377168" y="2095494"/>
            <a:ext cx="192221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873459" y="2095494"/>
            <a:ext cx="192221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543983" y="2885204"/>
            <a:ext cx="685661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268874" y="2885204"/>
            <a:ext cx="685661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756444" y="2864422"/>
            <a:ext cx="685661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492996" y="3882174"/>
            <a:ext cx="1372073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229644" y="3893123"/>
            <a:ext cx="685661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537248" y="4380654"/>
            <a:ext cx="685661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12872" y="4906851"/>
            <a:ext cx="685661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127734" y="5676728"/>
            <a:ext cx="685661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537248" y="5676728"/>
            <a:ext cx="685661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939510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下列说法错误的是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零向量没有确定的方向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互为相反向量的两个向量必共线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若向量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与向量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的模相等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的方向相同或相反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任意两个空间向量都可以平移到同一个平面内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|=|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不能确定向量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;ABD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8004"/>
            <a:ext cx="11641282" cy="4573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二、空间向量的线性运算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观察正方体中过同一个顶点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的三条棱所表示的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回答下列问题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三条棱所表示的向量在同一平面内吗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这三个向量是相等向量吗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不在同一平面内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这三个向量不是相等向量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903903"/>
              </p:ext>
            </p:extLst>
          </p:nvPr>
        </p:nvGraphicFramePr>
        <p:xfrm>
          <a:off x="9903837" y="681610"/>
          <a:ext cx="18399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文档" r:id="rId3" imgW="732489" imgH="201096" progId="Word.Document.12">
                  <p:embed/>
                </p:oleObj>
              </mc:Choice>
              <mc:Fallback>
                <p:oleObj name="文档" r:id="rId3" imgW="732489" imgH="2010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03837" y="681610"/>
                        <a:ext cx="1839912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976563"/>
              </p:ext>
            </p:extLst>
          </p:nvPr>
        </p:nvGraphicFramePr>
        <p:xfrm>
          <a:off x="53179" y="4296534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文档" r:id="rId5" imgW="4510061" imgH="396786" progId="Word.Document.12">
                  <p:embed/>
                </p:oleObj>
              </mc:Choice>
              <mc:Fallback>
                <p:oleObj name="文档" r:id="rId5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179" y="4296534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5047883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能运算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由于任意两个空间向量都可以通过平移转化为同一平面内的向量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故任意两个空间向量的运算就可以转化为平面向量的运算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可类比平面向量的运算法则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借助平行四边形法则或三角形法则求解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NMX1TRAX01.eps" descr="id:2147512524;FounderCES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70958" y="1215555"/>
            <a:ext cx="2261365" cy="213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3178" y="189924"/>
            <a:ext cx="11845281" cy="6080832"/>
            <a:chOff x="53178" y="189924"/>
            <a:chExt cx="11845281" cy="608083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89924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空间向量的加法、减法以及数乘运算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由图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知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838173"/>
                </p:ext>
              </p:extLst>
            </p:nvPr>
          </p:nvGraphicFramePr>
          <p:xfrm>
            <a:off x="53178" y="1312728"/>
            <a:ext cx="11275153" cy="49580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0" name="文档" r:id="rId3" imgW="4510061" imgH="1983211" progId="Word.Document.12">
                    <p:embed/>
                  </p:oleObj>
                </mc:Choice>
                <mc:Fallback>
                  <p:oleObj name="文档" r:id="rId3" imgW="4510061" imgH="198321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3178" y="1312728"/>
                          <a:ext cx="11275153" cy="495802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522784" y="992970"/>
              <a:ext cx="7375675" cy="2490488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/>
        </p:nvSpPr>
        <p:spPr>
          <a:xfrm>
            <a:off x="1809826" y="2541209"/>
            <a:ext cx="137191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1821607" y="2978169"/>
            <a:ext cx="136614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564106" y="2541209"/>
            <a:ext cx="47837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3575896" y="2978169"/>
            <a:ext cx="47636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4151807" y="4065786"/>
            <a:ext cx="54988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4163748" y="4502746"/>
            <a:ext cx="5475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828509" y="5022262"/>
            <a:ext cx="625815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3840607" y="5459222"/>
            <a:ext cx="6231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833737" y="5716772"/>
            <a:ext cx="16648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5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859415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与平面向量一样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空间向量的线性运算满足以下运算律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交换律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结合律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λμ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分配律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对于三个不共面的向量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以任意点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为起点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为邻边作平行六面体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的和等于以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为起点的平行六面体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对角线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所表示的向量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744854" y="1491727"/>
            <a:ext cx="61038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2735504" y="1928687"/>
            <a:ext cx="6078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3378568" y="2052836"/>
            <a:ext cx="124114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3359580" y="2489796"/>
            <a:ext cx="13383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5824631" y="2063227"/>
            <a:ext cx="790183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>
            <a:off x="5836306" y="2500187"/>
            <a:ext cx="7868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3205897" y="2627820"/>
            <a:ext cx="95280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>
            <a:off x="3136703" y="3064780"/>
            <a:ext cx="102742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5508742" y="2627820"/>
            <a:ext cx="95280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>
            <a:off x="5510028" y="3043998"/>
            <a:ext cx="9488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5182084" y="3698083"/>
            <a:ext cx="24964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/>
          <p:cNvCxnSpPr/>
          <p:nvPr/>
        </p:nvCxnSpPr>
        <p:spPr>
          <a:xfrm>
            <a:off x="5183454" y="4135043"/>
            <a:ext cx="2485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8606002" y="3708474"/>
            <a:ext cx="107425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/>
        </p:nvCxnSpPr>
        <p:spPr>
          <a:xfrm>
            <a:off x="8618091" y="4145434"/>
            <a:ext cx="10697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218988"/>
              </p:ext>
            </p:extLst>
          </p:nvPr>
        </p:nvGraphicFramePr>
        <p:xfrm>
          <a:off x="51955" y="1284783"/>
          <a:ext cx="11275153" cy="1487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4" name="文档" r:id="rId3" imgW="4510061" imgH="596081" progId="Word.Document.12">
                  <p:embed/>
                </p:oleObj>
              </mc:Choice>
              <mc:Fallback>
                <p:oleObj name="文档" r:id="rId3" imgW="4510061" imgH="5960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1284783"/>
                        <a:ext cx="11275153" cy="14874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770029"/>
              </p:ext>
            </p:extLst>
          </p:nvPr>
        </p:nvGraphicFramePr>
        <p:xfrm>
          <a:off x="51955" y="2772281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5" name="文档" r:id="rId5" imgW="4510061" imgH="396786" progId="Word.Document.12">
                  <p:embed/>
                </p:oleObj>
              </mc:Choice>
              <mc:Fallback>
                <p:oleObj name="文档" r:id="rId5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955" y="2772281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3673101"/>
            <a:ext cx="161294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48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76197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三、共线向量与共面向量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根据平面向量知识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回答下列两个问题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在平面向量中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共线的充要条件是什么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对于空间向量是否也成立呢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在平面向量中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的充要条件是存在实数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对于空间向量仍然成立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已知平面内任意两个不共线向量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对于这个平面内任意一个向量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能否用向量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怎样表示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存在唯一确定的有序实数对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使向量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2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3090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两个向量共线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的充要条件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对任意两个空间向量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的充要条件是存在实数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</a:t>
            </a:r>
            <a:r>
              <a:rPr lang="en-US" altLang="zh-CN" sz="28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直线的方向向量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上取非零向量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则对于直线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上任意一点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存在实数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i="1" dirty="0" err="1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我们把与向量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平行的非零向量称为直线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方向向量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ZMX1TRA05.eps" descr="id:2147494496;FounderCES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72283" y="3222507"/>
            <a:ext cx="4847435" cy="2449380"/>
          </a:xfrm>
          <a:prstGeom prst="rect">
            <a:avLst/>
          </a:prstGeom>
        </p:spPr>
      </p:pic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107646"/>
              </p:ext>
            </p:extLst>
          </p:nvPr>
        </p:nvGraphicFramePr>
        <p:xfrm>
          <a:off x="6028027" y="2013220"/>
          <a:ext cx="814387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8" name="文档" r:id="rId4" imgW="332040" imgH="201096" progId="Word.Document.12">
                  <p:embed/>
                </p:oleObj>
              </mc:Choice>
              <mc:Fallback>
                <p:oleObj name="文档" r:id="rId4" imgW="332040" imgH="2010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28027" y="2013220"/>
                        <a:ext cx="814387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4634100" y="864790"/>
            <a:ext cx="825303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4635497" y="1291359"/>
            <a:ext cx="8218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6991343" y="1974836"/>
            <a:ext cx="42966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7003226" y="2401405"/>
            <a:ext cx="4278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047343" y="2540415"/>
            <a:ext cx="142781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3059071" y="2966984"/>
            <a:ext cx="14218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89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019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与直线、平面平行的向量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有向线段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与直线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平行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那么称向量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平行于直线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平行于平面</a:t>
            </a:r>
            <a:r>
              <a:rPr lang="en-US" altLang="zh-CN" sz="28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在平面</a:t>
            </a:r>
            <a:r>
              <a:rPr lang="en-US" altLang="zh-CN" sz="28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称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平行于平面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共面向量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平行于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同一个平面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叫做共面向量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空间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共面的充要条件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如果两个向量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不共线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那么向量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与向量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共面的充要条件是存在唯一的有序实数对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779880"/>
              </p:ext>
            </p:extLst>
          </p:nvPr>
        </p:nvGraphicFramePr>
        <p:xfrm>
          <a:off x="3056227" y="1341293"/>
          <a:ext cx="814387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5" name="文档" r:id="rId3" imgW="332040" imgH="201817" progId="Word.Document.12">
                  <p:embed/>
                </p:oleObj>
              </mc:Choice>
              <mc:Fallback>
                <p:oleObj name="文档" r:id="rId3" imgW="332040" imgH="2018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6227" y="1341293"/>
                        <a:ext cx="814387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461127" y="1878879"/>
            <a:ext cx="70975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472767" y="2315839"/>
            <a:ext cx="7067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545295" y="1878879"/>
            <a:ext cx="70272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1556921" y="2315839"/>
            <a:ext cx="6997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701612" y="2429597"/>
            <a:ext cx="200749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1713280" y="2876948"/>
            <a:ext cx="19990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076040" y="2429597"/>
            <a:ext cx="1571313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4087773" y="2876948"/>
            <a:ext cx="15647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750666" y="3539636"/>
            <a:ext cx="177729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3762399" y="3986987"/>
            <a:ext cx="17698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8478604" y="4100745"/>
            <a:ext cx="103946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8490337" y="4537705"/>
            <a:ext cx="10351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9567146" y="4685925"/>
            <a:ext cx="975145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9578979" y="5122885"/>
            <a:ext cx="97104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" name="23TA02.eps" descr="id:2147512552;FounderCES"/>
          <p:cNvPicPr/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47997" y="594591"/>
            <a:ext cx="3402497" cy="272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827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2" grpId="0" animBg="1"/>
      <p:bldP spid="15" grpId="0" animBg="1"/>
      <p:bldP spid="18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4591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对于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空间中任意三个向量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它们一定是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共面向量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共线向量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不共面向量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既不共线也不共面向量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当向量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不共线时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由向量共面的充要条件知这三个向量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当向量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共线时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这三个向量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既共线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又共面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所以它们一定是共面向量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365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3178" y="354459"/>
            <a:ext cx="11757822" cy="5285331"/>
            <a:chOff x="53178" y="447978"/>
            <a:chExt cx="11757822" cy="528533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447978"/>
              <a:ext cx="11430000" cy="395313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正确的在后面的括号内画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”,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错误的画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“×”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任意一个空间向量都可以进行平移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  √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任意两个非零空间向量相加时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一定可以用平行四边形法则运算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×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若表示两个空间向量的有向线段所在的直线为异面直线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则这两个向量不是共面向量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×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3961451"/>
                </p:ext>
              </p:extLst>
            </p:nvPr>
          </p:nvGraphicFramePr>
          <p:xfrm>
            <a:off x="53178" y="4234855"/>
            <a:ext cx="11275153" cy="9919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6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3178" y="4234855"/>
                          <a:ext cx="11275153" cy="99196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5080823"/>
              <a:ext cx="7778091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其中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</a:t>
              </a:r>
              <a:r>
                <a:rPr lang="en-US" altLang="zh-CN" sz="28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共面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  √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6809974" y="1542392"/>
            <a:ext cx="359754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57320" y="2682202"/>
            <a:ext cx="442880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287457" y="3792940"/>
            <a:ext cx="442880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155847" y="4394528"/>
            <a:ext cx="598743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5352" y="5052239"/>
            <a:ext cx="402618" cy="587551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897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空间向量的有关概念</a:t>
                </a: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61327" y="889579"/>
            <a:ext cx="11749673" cy="4938134"/>
            <a:chOff x="61327" y="889579"/>
            <a:chExt cx="11749673" cy="493813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889579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下列说法正确的是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|&lt;|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zh-CN" sz="2800" i="1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</a:t>
              </a:r>
              <a:r>
                <a:rPr lang="en-US" altLang="zh-CN" sz="28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互为相反向量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r>
                <a:rPr lang="en-US" altLang="zh-CN" sz="28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空间中两平行向量相等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8843603"/>
                </p:ext>
              </p:extLst>
            </p:nvPr>
          </p:nvGraphicFramePr>
          <p:xfrm>
            <a:off x="61327" y="2966500"/>
            <a:ext cx="11275153" cy="9919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0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1327" y="2966500"/>
                          <a:ext cx="11275153" cy="99196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9094322"/>
                </p:ext>
              </p:extLst>
            </p:nvPr>
          </p:nvGraphicFramePr>
          <p:xfrm>
            <a:off x="385763" y="3833813"/>
            <a:ext cx="11403012" cy="199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1" name="文档" r:id="rId5" imgW="4510061" imgH="794654" progId="Word.Document.12">
                    <p:embed/>
                  </p:oleObj>
                </mc:Choice>
                <mc:Fallback>
                  <p:oleObj name="文档" r:id="rId5" imgW="4510061" imgH="7946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5763" y="3833813"/>
                          <a:ext cx="11403012" cy="199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0" name="ZMX1TRA07.eps" descr="id:2147494524;FounderCES"/>
            <p:cNvPicPr/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852640" y="1057838"/>
              <a:ext cx="2997980" cy="260647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6316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根据相等向量、相反向量的概念判断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向量的模有大小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但向量不能比较大小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相反向量的和为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相等向量满足模相等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方向相同两个条件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平行向量不一定具备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868502"/>
              </p:ext>
            </p:extLst>
          </p:nvPr>
        </p:nvGraphicFramePr>
        <p:xfrm>
          <a:off x="381000" y="2789861"/>
          <a:ext cx="11430000" cy="2010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0" name="文档" r:id="rId3" imgW="4510061" imgH="793212" progId="Word.Document.12">
                  <p:embed/>
                </p:oleObj>
              </mc:Choice>
              <mc:Fallback>
                <p:oleObj name="文档" r:id="rId3" imgW="4510061" imgH="793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2789861"/>
                        <a:ext cx="11430000" cy="2010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212394"/>
              </p:ext>
            </p:extLst>
          </p:nvPr>
        </p:nvGraphicFramePr>
        <p:xfrm>
          <a:off x="51955" y="4608115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1" name="文档" r:id="rId5" imgW="4510061" imgH="396786" progId="Word.Document.12">
                  <p:embed/>
                </p:oleObj>
              </mc:Choice>
              <mc:Fallback>
                <p:oleObj name="文档" r:id="rId5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955" y="4608115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空间向量关于零向量、单位向量、向量的模、相等向量、相反向量等概念与平面向量相对应的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概念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一致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由于向量是由其模和方向确定的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因此解答空间向量有关概念问题时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通常抓住这两点来解决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零向量是一个特殊向量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其方向是任意的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且与任何向量都共线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81000" y="1243879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下列说法错误的是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若两个空间向量相等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则表示它们有向线段的起点相同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终点也相同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190230"/>
              </p:ext>
            </p:extLst>
          </p:nvPr>
        </p:nvGraphicFramePr>
        <p:xfrm>
          <a:off x="73960" y="2437810"/>
          <a:ext cx="11275153" cy="1764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" name="文档" r:id="rId3" imgW="4510061" imgH="705821" progId="Word.Document.12">
                  <p:embed/>
                </p:oleObj>
              </mc:Choice>
              <mc:Fallback>
                <p:oleObj name="文档" r:id="rId3" imgW="4510061" imgH="7058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960" y="2437810"/>
                        <a:ext cx="11275153" cy="17645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043044"/>
              </p:ext>
            </p:extLst>
          </p:nvPr>
        </p:nvGraphicFramePr>
        <p:xfrm>
          <a:off x="385763" y="727075"/>
          <a:ext cx="11423650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0" name="文档" r:id="rId3" imgW="4510061" imgH="891958" progId="Word.Document.12">
                  <p:embed/>
                </p:oleObj>
              </mc:Choice>
              <mc:Fallback>
                <p:oleObj name="文档" r:id="rId3" imgW="4510061" imgH="89195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5763" y="727075"/>
                        <a:ext cx="11423650" cy="2247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NMX1TRAX07.eps" descr="id:2147512587;FounderCES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92928" y="3026129"/>
            <a:ext cx="4006145" cy="185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2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8892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两个空间向量相等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其模相等且方向相同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但与起点和终点的位置无关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向量的模可以比较大小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但向量不能比较大小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902378"/>
              </p:ext>
            </p:extLst>
          </p:nvPr>
        </p:nvGraphicFramePr>
        <p:xfrm>
          <a:off x="385687" y="2523822"/>
          <a:ext cx="11275153" cy="227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" name="文档" r:id="rId3" imgW="4510061" imgH="908870" progId="Word.Document.12">
                  <p:embed/>
                </p:oleObj>
              </mc:Choice>
              <mc:Fallback>
                <p:oleObj name="文档" r:id="rId3" imgW="4510061" imgH="9088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5687" y="2523822"/>
                        <a:ext cx="11275153" cy="2272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329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2394132"/>
              </p:ext>
            </p:extLst>
          </p:nvPr>
        </p:nvGraphicFramePr>
        <p:xfrm>
          <a:off x="83128" y="4516384"/>
          <a:ext cx="11430000" cy="593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8" name="文档" r:id="rId3" imgW="4510061" imgH="234315" progId="Word.Document.12">
                  <p:embed/>
                </p:oleObj>
              </mc:Choice>
              <mc:Fallback>
                <p:oleObj name="文档" r:id="rId3" imgW="4510061" imgH="2343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128" y="4516384"/>
                        <a:ext cx="11430000" cy="5938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693121"/>
              </p:ext>
            </p:extLst>
          </p:nvPr>
        </p:nvGraphicFramePr>
        <p:xfrm>
          <a:off x="458424" y="612200"/>
          <a:ext cx="11275153" cy="3767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9" name="文档" r:id="rId5" imgW="4510061" imgH="1507139" progId="Word.Document.12">
                  <p:embed/>
                </p:oleObj>
              </mc:Choice>
              <mc:Fallback>
                <p:oleObj name="文档" r:id="rId5" imgW="4510061" imgH="15071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424" y="612200"/>
                        <a:ext cx="11275153" cy="37678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769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空间向量的线性运算</a:t>
                </a: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61327" y="671368"/>
            <a:ext cx="11749673" cy="5408006"/>
            <a:chOff x="61327" y="785669"/>
            <a:chExt cx="11749673" cy="5408006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5537729"/>
                </p:ext>
              </p:extLst>
            </p:nvPr>
          </p:nvGraphicFramePr>
          <p:xfrm>
            <a:off x="381000" y="785669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22" name="文档" r:id="rId3" imgW="4510061" imgH="794654" progId="Word.Document.12">
                    <p:embed/>
                  </p:oleObj>
                </mc:Choice>
                <mc:Fallback>
                  <p:oleObj name="文档" r:id="rId3" imgW="4510061" imgH="7946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" y="785669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7763962"/>
                </p:ext>
              </p:extLst>
            </p:nvPr>
          </p:nvGraphicFramePr>
          <p:xfrm>
            <a:off x="61327" y="5698142"/>
            <a:ext cx="11275153" cy="495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23" name="文档" r:id="rId5" imgW="4510061" imgH="198213" progId="Word.Document.12">
                    <p:embed/>
                  </p:oleObj>
                </mc:Choice>
                <mc:Fallback>
                  <p:oleObj name="文档" r:id="rId5" imgW="4510061" imgH="19821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1327" y="5698142"/>
                          <a:ext cx="11275153" cy="49553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6" name="25N01.eps" descr="id:2147512601;FounderCES"/>
          <p:cNvPicPr/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20716" y="2275665"/>
            <a:ext cx="2909930" cy="3030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4841"/>
            <a:ext cx="4637808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070955"/>
              </p:ext>
            </p:extLst>
          </p:nvPr>
        </p:nvGraphicFramePr>
        <p:xfrm>
          <a:off x="51955" y="540146"/>
          <a:ext cx="11430000" cy="6031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3" name="文档" r:id="rId3" imgW="4510061" imgH="2379997" progId="Word.Document.12">
                  <p:embed/>
                </p:oleObj>
              </mc:Choice>
              <mc:Fallback>
                <p:oleObj name="文档" r:id="rId3" imgW="4510061" imgH="23799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540146"/>
                        <a:ext cx="11430000" cy="60317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延伸探究H.eps" descr="id:2147494559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314053"/>
            <a:ext cx="2016224" cy="367706"/>
          </a:xfrm>
          <a:prstGeom prst="rect">
            <a:avLst/>
          </a:prstGeom>
        </p:spPr>
      </p:pic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0692990"/>
              </p:ext>
            </p:extLst>
          </p:nvPr>
        </p:nvGraphicFramePr>
        <p:xfrm>
          <a:off x="41564" y="706332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6" name="文档" r:id="rId4" imgW="4510061" imgH="396786" progId="Word.Document.12">
                  <p:embed/>
                </p:oleObj>
              </mc:Choice>
              <mc:Fallback>
                <p:oleObj name="文档" r:id="rId4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564" y="706332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124132"/>
              </p:ext>
            </p:extLst>
          </p:nvPr>
        </p:nvGraphicFramePr>
        <p:xfrm>
          <a:off x="41564" y="1584523"/>
          <a:ext cx="11275153" cy="4462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7" name="文档" r:id="rId6" imgW="4510061" imgH="1784998" progId="Word.Document.12">
                  <p:embed/>
                </p:oleObj>
              </mc:Choice>
              <mc:Fallback>
                <p:oleObj name="文档" r:id="rId6" imgW="4510061" imgH="17849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564" y="1584523"/>
                        <a:ext cx="11275153" cy="4462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ZMX1TRA10.eps" descr="id:2147494566;FounderCES"/>
          <p:cNvPicPr/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90849" y="2188181"/>
            <a:ext cx="2904215" cy="294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86972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已知向量表示未知向量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是向量线性运算的基础类型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解决这类问题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要注意以下方面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熟练掌握空间向量线性运算法则和运算律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要注意数形结合思想的运用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提升直观想象素养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49948"/>
            <a:ext cx="11430000" cy="6408103"/>
            <a:chOff x="381000" y="49948"/>
            <a:chExt cx="11430000" cy="640810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49948"/>
              <a:ext cx="11430000" cy="65248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如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图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在平行六面体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ABCD-A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中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的中点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4463363"/>
                </p:ext>
              </p:extLst>
            </p:nvPr>
          </p:nvGraphicFramePr>
          <p:xfrm>
            <a:off x="381000" y="3944534"/>
            <a:ext cx="11430000" cy="2513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63" name="文档" r:id="rId3" imgW="4510061" imgH="991786" progId="Word.Document.12">
                    <p:embed/>
                  </p:oleObj>
                </mc:Choice>
                <mc:Fallback>
                  <p:oleObj name="文档" r:id="rId3" imgW="4510061" imgH="991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" y="3944534"/>
                          <a:ext cx="11430000" cy="251351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8" name="NMX1TRAX09.eps" descr="id:2147512629;FounderCES"/>
          <p:cNvPicPr/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47495" y="776304"/>
            <a:ext cx="3298834" cy="310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3566"/>
              </p:ext>
            </p:extLst>
          </p:nvPr>
        </p:nvGraphicFramePr>
        <p:xfrm>
          <a:off x="53179" y="542636"/>
          <a:ext cx="11275153" cy="4958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7" name="文档" r:id="rId3" imgW="4510061" imgH="1986455" progId="Word.Document.12">
                  <p:embed/>
                </p:oleObj>
              </mc:Choice>
              <mc:Fallback>
                <p:oleObj name="文档" r:id="rId3" imgW="4510061" imgH="19864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179" y="542636"/>
                        <a:ext cx="11275153" cy="49580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9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向量共线问题</a:t>
                </a:r>
              </a:p>
            </p:txBody>
          </p:sp>
        </p:grp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415714"/>
              </p:ext>
            </p:extLst>
          </p:nvPr>
        </p:nvGraphicFramePr>
        <p:xfrm>
          <a:off x="51955" y="4891270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6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4891270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NMX1TRAX10.eps" descr="id:2147512643;FounderCES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91062" y="2286906"/>
            <a:ext cx="3009876" cy="2455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>
                <a:spLocks noChangeAspect="1"/>
              </p:cNvSpPr>
              <p:nvPr/>
            </p:nvSpPr>
            <p:spPr>
              <a:xfrm>
                <a:off x="381000" y="702541"/>
                <a:ext cx="11430000" cy="19472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【例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】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NEU-BZ-S92"/>
                    <a:ea typeface="Arial" panose="020B06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如图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已知四边形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ABCD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是空间四边形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分别是边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的中点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分别是边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CB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上的点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且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CB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CG=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CD.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求证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四边形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EFGH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是梯形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702541"/>
                <a:ext cx="11430000" cy="1947264"/>
              </a:xfrm>
              <a:prstGeom prst="rect">
                <a:avLst/>
              </a:prstGeom>
              <a:blipFill rotWithShape="0">
                <a:blip r:embed="rId6"/>
                <a:stretch>
                  <a:fillRect l="-1120" t="-625" b="-7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1955" y="320303"/>
            <a:ext cx="11759045" cy="5629629"/>
            <a:chOff x="51955" y="289130"/>
            <a:chExt cx="11759045" cy="562962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89130"/>
              <a:ext cx="5913798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证明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分别是边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6340118"/>
                </p:ext>
              </p:extLst>
            </p:nvPr>
          </p:nvGraphicFramePr>
          <p:xfrm>
            <a:off x="51955" y="910443"/>
            <a:ext cx="11275153" cy="3966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3" name="文档" r:id="rId3" imgW="4510061" imgH="1586785" progId="Word.Document.12">
                    <p:embed/>
                  </p:oleObj>
                </mc:Choice>
                <mc:Fallback>
                  <p:oleObj name="文档" r:id="rId3" imgW="4510061" imgH="15867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955" y="910443"/>
                          <a:ext cx="11275153" cy="39669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766392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又点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不在直线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EH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四边形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EFGH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是梯形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本题利用空间向量共线证明了线线平行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解题时应注意向量共线与两直线平行的区别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判断或证明两空间向量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共线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就是寻找实数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为此常结合题目图形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运用空间向量的线性运算法则将目标向量化简或用同一组向量表达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5102616"/>
            <a:ext cx="373852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三点共线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>
                <a:spLocks noChangeAspect="1"/>
              </p:cNvSpPr>
              <p:nvPr/>
            </p:nvSpPr>
            <p:spPr>
              <a:xfrm>
                <a:off x="381000" y="313317"/>
                <a:ext cx="11430000" cy="140153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【变式训练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】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NEU-BZ-S92"/>
                    <a:ea typeface="Arial" panose="020B06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如图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在正方体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ABCD-A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且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在对角线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且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FC.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13317"/>
                <a:ext cx="11430000" cy="1401538"/>
              </a:xfrm>
              <a:prstGeom prst="rect">
                <a:avLst/>
              </a:prstGeom>
              <a:blipFill rotWithShape="0">
                <a:blip r:embed="rId2"/>
                <a:stretch>
                  <a:fillRect l="-1120" t="-870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24C01.eps" descr="id:2147512657;FounderCES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40568" y="1872081"/>
            <a:ext cx="3310864" cy="311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128588"/>
                <a:ext cx="11430000" cy="609391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𝐴𝐷</m:t>
                        </m:r>
                      </m:e>
                    </m:acc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因为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FC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</m:acc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acc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</m:acc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𝐴𝐷</m:t>
                        </m:r>
                      </m:e>
                    </m:acc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acc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𝐴𝐶</m:t>
                        </m:r>
                      </m:e>
                    </m:acc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𝐴𝐵</m:t>
                        </m:r>
                      </m:e>
                    </m:acc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𝐴𝐷</m:t>
                        </m:r>
                      </m:e>
                    </m:acc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𝐸𝐹</m:t>
                        </m:r>
                      </m:e>
                    </m:acc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acc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</m:acc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zh-CN" sz="2800" i="1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m:rPr>
                            <m:nor/>
                          </m:rPr>
                          <a:rPr lang="en-US" altLang="zh-CN" sz="2800" i="1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又因为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𝐸𝐵</m:t>
                        </m:r>
                      </m:e>
                    </m:acc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800" b="1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b="1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b="1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𝐸𝐹</m:t>
                        </m:r>
                      </m:e>
                    </m:acc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𝐸𝐵</m:t>
                        </m:r>
                      </m:e>
                    </m:acc>
                  </m:oMath>
                </a14:m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又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因为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𝐸𝐹</m:t>
                        </m:r>
                      </m:e>
                    </m:acc>
                    <m:r>
                      <a:rPr lang="zh-CN" altLang="zh-CN" sz="2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与</m:t>
                    </m:r>
                    <m:acc>
                      <m:accPr>
                        <m:chr m:val="⃗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𝐸𝐵</m:t>
                        </m:r>
                      </m:e>
                    </m:acc>
                  </m:oMath>
                </a14:m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有公共点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三点共线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28588"/>
                <a:ext cx="11430000" cy="6093912"/>
              </a:xfrm>
              <a:prstGeom prst="rect">
                <a:avLst/>
              </a:prstGeom>
              <a:blipFill rotWithShape="0">
                <a:blip r:embed="rId2"/>
                <a:stretch>
                  <a:fillRect b="-18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" name="矩形 2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探究四</a:t>
                </a: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空间向量共面问题</a:t>
                </a:r>
              </a:p>
            </p:txBody>
          </p:sp>
        </p:grpSp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67289"/>
              </p:ext>
            </p:extLst>
          </p:nvPr>
        </p:nvGraphicFramePr>
        <p:xfrm>
          <a:off x="458424" y="698371"/>
          <a:ext cx="11275153" cy="1226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5" name="文档" r:id="rId3" imgW="4510061" imgH="490553" progId="Word.Document.12">
                  <p:embed/>
                </p:oleObj>
              </mc:Choice>
              <mc:Fallback>
                <p:oleObj name="文档" r:id="rId3" imgW="4510061" imgH="4905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698371"/>
                        <a:ext cx="11275153" cy="12263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>
            <a:spLocks noChangeAspect="1"/>
          </p:cNvSpPr>
          <p:nvPr/>
        </p:nvSpPr>
        <p:spPr>
          <a:xfrm>
            <a:off x="381000" y="4633604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四点共面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要证明四点共面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让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一点为起点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其余点为终点得到三个向量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证明其中一个向量可以用另外两个向量线性表示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2" name="NMX1TRAX12.eps" descr="id:2147512723;FounderCES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89254" y="1727632"/>
            <a:ext cx="3213492" cy="303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100432"/>
              </p:ext>
            </p:extLst>
          </p:nvPr>
        </p:nvGraphicFramePr>
        <p:xfrm>
          <a:off x="51955" y="1054794"/>
          <a:ext cx="11430000" cy="3797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7" name="文档" r:id="rId3" imgW="4510061" imgH="1498252" progId="Word.Document.12">
                  <p:embed/>
                </p:oleObj>
              </mc:Choice>
              <mc:Fallback>
                <p:oleObj name="文档" r:id="rId3" imgW="4510061" imgH="14982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1054794"/>
                        <a:ext cx="11430000" cy="37970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8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902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证明三个空间向量共面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常用如下方法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证明其中一个向量可以表示成另两个向量的线性组合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即若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则向量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共面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寻找平面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证明这些向量与平面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平行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对空间四点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可通过证明下列结论成立来证明四点共面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53"/>
              </p:ext>
            </p:extLst>
          </p:nvPr>
        </p:nvGraphicFramePr>
        <p:xfrm>
          <a:off x="58882" y="3028393"/>
          <a:ext cx="11430000" cy="3518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5" name="文档" r:id="rId3" imgW="4510061" imgH="1388212" progId="Word.Document.12">
                  <p:embed/>
                </p:oleObj>
              </mc:Choice>
              <mc:Fallback>
                <p:oleObj name="文档" r:id="rId3" imgW="4510061" imgH="1388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882" y="3028393"/>
                        <a:ext cx="11430000" cy="3518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831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423550"/>
              </p:ext>
            </p:extLst>
          </p:nvPr>
        </p:nvGraphicFramePr>
        <p:xfrm>
          <a:off x="381000" y="135997"/>
          <a:ext cx="11430000" cy="1737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9" name="文档" r:id="rId3" imgW="4510061" imgH="685696" progId="Word.Document.12">
                  <p:embed/>
                </p:oleObj>
              </mc:Choice>
              <mc:Fallback>
                <p:oleObj name="文档" r:id="rId3" imgW="4510061" imgH="6856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35997"/>
                        <a:ext cx="11430000" cy="17377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NMX1TRAX13.eps" descr="id:2147512737;FounderCES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40568" y="1243879"/>
            <a:ext cx="3310864" cy="2796638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152421"/>
              </p:ext>
            </p:extLst>
          </p:nvPr>
        </p:nvGraphicFramePr>
        <p:xfrm>
          <a:off x="58881" y="4165209"/>
          <a:ext cx="11430000" cy="2342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0" name="文档" r:id="rId6" imgW="4510061" imgH="924323" progId="Word.Document.12">
                  <p:embed/>
                </p:oleObj>
              </mc:Choice>
              <mc:Fallback>
                <p:oleObj name="文档" r:id="rId6" imgW="4510061" imgH="9243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881" y="4165209"/>
                        <a:ext cx="11430000" cy="2342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2002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0077030"/>
              </p:ext>
            </p:extLst>
          </p:nvPr>
        </p:nvGraphicFramePr>
        <p:xfrm>
          <a:off x="381000" y="1071328"/>
          <a:ext cx="11430000" cy="3015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1" name="文档" r:id="rId3" imgW="4510061" imgH="1189999" progId="Word.Document.12">
                  <p:embed/>
                </p:oleObj>
              </mc:Choice>
              <mc:Fallback>
                <p:oleObj name="文档" r:id="rId3" imgW="4510061" imgH="11899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071328"/>
                        <a:ext cx="11430000" cy="30158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419671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799538" y="591607"/>
            <a:ext cx="459292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因用错三角形减法法则致</a:t>
            </a:r>
            <a:r>
              <a:rPr lang="zh-CN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误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999727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对向量的减法法则理解、记忆错误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进而对向量的差推断运算错误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16208"/>
              </p:ext>
            </p:extLst>
          </p:nvPr>
        </p:nvGraphicFramePr>
        <p:xfrm>
          <a:off x="63568" y="1591940"/>
          <a:ext cx="11275153" cy="1487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0" name="文档" r:id="rId3" imgW="4510061" imgH="594999" progId="Word.Document.12">
                  <p:embed/>
                </p:oleObj>
              </mc:Choice>
              <mc:Fallback>
                <p:oleObj name="文档" r:id="rId3" imgW="4510061" imgH="5949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568" y="1591940"/>
                        <a:ext cx="11275153" cy="14874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63568" y="3100220"/>
            <a:ext cx="11747432" cy="2053290"/>
            <a:chOff x="63568" y="3100220"/>
            <a:chExt cx="11747432" cy="2053290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3197905"/>
                </p:ext>
              </p:extLst>
            </p:nvPr>
          </p:nvGraphicFramePr>
          <p:xfrm>
            <a:off x="63568" y="3100220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21" name="文档" r:id="rId5" imgW="4510061" imgH="396786" progId="Word.Document.12">
                    <p:embed/>
                  </p:oleObj>
                </mc:Choice>
                <mc:Fallback>
                  <p:oleObj name="文档" r:id="rId5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3568" y="3100220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81000" y="4001143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熟知向量加减运算法则的代数运算和几何运算形式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是解决这类问题的关键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530919"/>
              </p:ext>
            </p:extLst>
          </p:nvPr>
        </p:nvGraphicFramePr>
        <p:xfrm>
          <a:off x="51955" y="1442615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9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1442615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615277"/>
              </p:ext>
            </p:extLst>
          </p:nvPr>
        </p:nvGraphicFramePr>
        <p:xfrm>
          <a:off x="51955" y="2209755"/>
          <a:ext cx="11430000" cy="1507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0" name="文档" r:id="rId5" imgW="4510061" imgH="594999" progId="Word.Document.12">
                  <p:embed/>
                </p:oleObj>
              </mc:Choice>
              <mc:Fallback>
                <p:oleObj name="文档" r:id="rId5" imgW="4510061" imgH="5949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955" y="2209755"/>
                        <a:ext cx="11430000" cy="15079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395050"/>
              </p:ext>
            </p:extLst>
          </p:nvPr>
        </p:nvGraphicFramePr>
        <p:xfrm>
          <a:off x="51955" y="3811201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1" name="文档" r:id="rId7" imgW="4510061" imgH="396786" progId="Word.Document.12">
                  <p:embed/>
                </p:oleObj>
              </mc:Choice>
              <mc:Fallback>
                <p:oleObj name="文档" r:id="rId7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955" y="3811201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4591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下列说法正确的是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任意两个空间向量都可以比较大小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方向不定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不能与任何向量平行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|=|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共线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空间向量的模可以比较大小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任意两个空间向量都不能比较大小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规定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的方向是任意的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它与任意向量平行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仅知两向量的模相等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无法判断两向量是否共线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由于向量的模是一个实数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故可以比较大小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9787732"/>
              </p:ext>
            </p:extLst>
          </p:nvPr>
        </p:nvGraphicFramePr>
        <p:xfrm>
          <a:off x="473075" y="110981"/>
          <a:ext cx="11403013" cy="399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8" name="文档" r:id="rId3" imgW="4510061" imgH="1589308" progId="Word.Document.12">
                  <p:embed/>
                </p:oleObj>
              </mc:Choice>
              <mc:Fallback>
                <p:oleObj name="文档" r:id="rId3" imgW="4510061" imgH="15893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3075" y="110981"/>
                        <a:ext cx="11403013" cy="3998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ZMX1TRA14.eps" descr="id:2147494650;FounderCES"/>
          <p:cNvPicPr/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47616" y="1065125"/>
            <a:ext cx="3131043" cy="3039283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206380"/>
              </p:ext>
            </p:extLst>
          </p:nvPr>
        </p:nvGraphicFramePr>
        <p:xfrm>
          <a:off x="473075" y="4107159"/>
          <a:ext cx="11430000" cy="1507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9" name="文档" r:id="rId6" imgW="4510061" imgH="594999" progId="Word.Document.12">
                  <p:embed/>
                </p:oleObj>
              </mc:Choice>
              <mc:Fallback>
                <p:oleObj name="文档" r:id="rId6" imgW="4510061" imgH="5949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3075" y="4107159"/>
                        <a:ext cx="11430000" cy="15079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5485147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297749"/>
              </p:ext>
            </p:extLst>
          </p:nvPr>
        </p:nvGraphicFramePr>
        <p:xfrm>
          <a:off x="474518" y="1234798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7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4518" y="1234798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5395907"/>
              </p:ext>
            </p:extLst>
          </p:nvPr>
        </p:nvGraphicFramePr>
        <p:xfrm>
          <a:off x="474518" y="2156014"/>
          <a:ext cx="11430000" cy="2010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8" name="文档" r:id="rId5" imgW="4510061" imgH="793212" progId="Word.Document.12">
                  <p:embed/>
                </p:oleObj>
              </mc:Choice>
              <mc:Fallback>
                <p:oleObj name="文档" r:id="rId5" imgW="4510061" imgH="793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4518" y="2156014"/>
                        <a:ext cx="11430000" cy="2010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8495250"/>
              </p:ext>
            </p:extLst>
          </p:nvPr>
        </p:nvGraphicFramePr>
        <p:xfrm>
          <a:off x="474518" y="4119440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9" name="文档" r:id="rId7" imgW="4510061" imgH="396786" progId="Word.Document.12">
                  <p:embed/>
                </p:oleObj>
              </mc:Choice>
              <mc:Fallback>
                <p:oleObj name="文档" r:id="rId7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4518" y="4119440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已知非零向量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不共线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共线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实数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因为非零向量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不共线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13175"/>
              </p:ext>
            </p:extLst>
          </p:nvPr>
        </p:nvGraphicFramePr>
        <p:xfrm>
          <a:off x="474518" y="3576932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8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4518" y="3576932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739066"/>
              </p:ext>
            </p:extLst>
          </p:nvPr>
        </p:nvGraphicFramePr>
        <p:xfrm>
          <a:off x="474518" y="4572129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9" name="文档" r:id="rId5" imgW="4510061" imgH="396786" progId="Word.Document.12">
                  <p:embed/>
                </p:oleObj>
              </mc:Choice>
              <mc:Fallback>
                <p:oleObj name="文档" r:id="rId5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4518" y="4572129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81000" y="136748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三点不共线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对于平面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外任意一点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判断在下列条件下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是否与点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137703"/>
              </p:ext>
            </p:extLst>
          </p:nvPr>
        </p:nvGraphicFramePr>
        <p:xfrm>
          <a:off x="428770" y="1314514"/>
          <a:ext cx="11430000" cy="1122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2" name="文档" r:id="rId3" imgW="4510061" imgH="442755" progId="Word.Document.12">
                  <p:embed/>
                </p:oleObj>
              </mc:Choice>
              <mc:Fallback>
                <p:oleObj name="文档" r:id="rId3" imgW="4510061" imgH="4427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8770" y="1314514"/>
                        <a:ext cx="11430000" cy="11220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719744"/>
              </p:ext>
            </p:extLst>
          </p:nvPr>
        </p:nvGraphicFramePr>
        <p:xfrm>
          <a:off x="427251" y="2446994"/>
          <a:ext cx="11275153" cy="3970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3" name="文档" r:id="rId5" imgW="4510061" imgH="1588097" progId="Word.Document.12">
                  <p:embed/>
                </p:oleObj>
              </mc:Choice>
              <mc:Fallback>
                <p:oleObj name="文档" r:id="rId5" imgW="4510061" imgH="15880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7251" y="2446994"/>
                        <a:ext cx="11275153" cy="39702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107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8854057"/>
              </p:ext>
            </p:extLst>
          </p:nvPr>
        </p:nvGraphicFramePr>
        <p:xfrm>
          <a:off x="428770" y="1264661"/>
          <a:ext cx="11275153" cy="1366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8" name="文档" r:id="rId3" imgW="4510061" imgH="546616" progId="Word.Document.12">
                  <p:embed/>
                </p:oleObj>
              </mc:Choice>
              <mc:Fallback>
                <p:oleObj name="文档" r:id="rId3" imgW="4510061" imgH="54661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8770" y="1264661"/>
                        <a:ext cx="11275153" cy="1366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381000" y="2579246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2≠1,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不共面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07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296</TotalTime>
  <Words>1811</Words>
  <Application>Microsoft Office PowerPoint</Application>
  <PresentationFormat>宽屏</PresentationFormat>
  <Paragraphs>156</Paragraphs>
  <Slides>51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72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57</cp:revision>
  <dcterms:created xsi:type="dcterms:W3CDTF">2021-08-30T08:30:26Z</dcterms:created>
  <dcterms:modified xsi:type="dcterms:W3CDTF">2025-08-09T01:08:38Z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