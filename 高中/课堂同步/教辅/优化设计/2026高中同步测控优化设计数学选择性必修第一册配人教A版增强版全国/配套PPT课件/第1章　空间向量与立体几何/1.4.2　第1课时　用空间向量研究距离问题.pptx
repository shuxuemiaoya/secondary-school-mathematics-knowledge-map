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677" r:id="rId2"/>
    <p:sldId id="488" r:id="rId3"/>
    <p:sldId id="494" r:id="rId4"/>
    <p:sldId id="392" r:id="rId5"/>
    <p:sldId id="686" r:id="rId6"/>
    <p:sldId id="687" r:id="rId7"/>
    <p:sldId id="688" r:id="rId8"/>
    <p:sldId id="689" r:id="rId9"/>
    <p:sldId id="690" r:id="rId10"/>
    <p:sldId id="691" r:id="rId11"/>
    <p:sldId id="692" r:id="rId12"/>
    <p:sldId id="693" r:id="rId13"/>
    <p:sldId id="694" r:id="rId14"/>
    <p:sldId id="407" r:id="rId15"/>
    <p:sldId id="394" r:id="rId16"/>
    <p:sldId id="699" r:id="rId17"/>
    <p:sldId id="700" r:id="rId18"/>
    <p:sldId id="763" r:id="rId19"/>
    <p:sldId id="701" r:id="rId20"/>
    <p:sldId id="702" r:id="rId21"/>
    <p:sldId id="706" r:id="rId22"/>
    <p:sldId id="402" r:id="rId23"/>
    <p:sldId id="712" r:id="rId24"/>
    <p:sldId id="713" r:id="rId25"/>
    <p:sldId id="714" r:id="rId26"/>
    <p:sldId id="715" r:id="rId27"/>
    <p:sldId id="719" r:id="rId28"/>
    <p:sldId id="720" r:id="rId29"/>
    <p:sldId id="498" r:id="rId30"/>
    <p:sldId id="730" r:id="rId31"/>
    <p:sldId id="733" r:id="rId32"/>
    <p:sldId id="743" r:id="rId33"/>
    <p:sldId id="744" r:id="rId34"/>
    <p:sldId id="734" r:id="rId35"/>
    <p:sldId id="398" r:id="rId36"/>
    <p:sldId id="395" r:id="rId37"/>
    <p:sldId id="756" r:id="rId38"/>
    <p:sldId id="757" r:id="rId39"/>
    <p:sldId id="758" r:id="rId40"/>
    <p:sldId id="759" r:id="rId41"/>
    <p:sldId id="760" r:id="rId42"/>
    <p:sldId id="761" r:id="rId43"/>
    <p:sldId id="762" r:id="rId44"/>
    <p:sldId id="490"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19" autoAdjust="0"/>
    <p:restoredTop sz="94660"/>
  </p:normalViewPr>
  <p:slideViewPr>
    <p:cSldViewPr snapToGrid="0">
      <p:cViewPr varScale="1">
        <p:scale>
          <a:sx n="92" d="100"/>
          <a:sy n="92" d="100"/>
        </p:scale>
        <p:origin x="492" y="84"/>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9.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42.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image" Target="../media/image49.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image" Target="../media/image58.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image" Target="../media/image61.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6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2024-07-17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 Id="rId4" Type="http://schemas.openxmlformats.org/officeDocument/2006/relationships/slide" Target="../slides/slide29.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895291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1001925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108559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Word___1.docx"/><Relationship Id="rId7" Type="http://schemas.openxmlformats.org/officeDocument/2006/relationships/image" Target="../media/image4.jpeg"/><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package" Target="../embeddings/Microsoft_Word___2.docx"/><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Word___3.docx"/><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package" Target="../embeddings/Microsoft_Word___4.docx"/><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Word___5.docx"/><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8.jpeg"/><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6.docx"/><Relationship Id="rId7" Type="http://schemas.openxmlformats.org/officeDocument/2006/relationships/image" Target="../media/image12.jpeg"/><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11.emf"/><Relationship Id="rId5" Type="http://schemas.openxmlformats.org/officeDocument/2006/relationships/package" Target="../embeddings/Microsoft_Word___7.docx"/><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Word___8.docx"/><Relationship Id="rId7" Type="http://schemas.openxmlformats.org/officeDocument/2006/relationships/image" Target="../media/image15.jpeg"/><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14.emf"/><Relationship Id="rId5" Type="http://schemas.openxmlformats.org/officeDocument/2006/relationships/package" Target="../embeddings/Microsoft_Word___9.docx"/><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10.docx"/><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Word___11.docx"/><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image" Target="../media/image18.emf"/><Relationship Id="rId5" Type="http://schemas.openxmlformats.org/officeDocument/2006/relationships/package" Target="../embeddings/Microsoft_Word___12.docx"/><Relationship Id="rId4" Type="http://schemas.openxmlformats.org/officeDocument/2006/relationships/image" Target="../media/image17.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Word___13.docx"/><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0.emf"/></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2.emf"/></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3.emf"/></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24.emf"/><Relationship Id="rId4" Type="http://schemas.openxmlformats.org/officeDocument/2006/relationships/package" Target="../embeddings/Microsoft_Word___16.docx"/></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17.docx"/><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7.jpeg"/><Relationship Id="rId4" Type="http://schemas.openxmlformats.org/officeDocument/2006/relationships/image" Target="../media/image26.emf"/></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__18.docx"/><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8.emf"/></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Word___19.docx"/><Relationship Id="rId7" Type="http://schemas.openxmlformats.org/officeDocument/2006/relationships/image" Target="../media/image31.jpeg"/><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30.emf"/><Relationship Id="rId5" Type="http://schemas.openxmlformats.org/officeDocument/2006/relationships/package" Target="../embeddings/Microsoft_Word___20.docx"/><Relationship Id="rId4" Type="http://schemas.openxmlformats.org/officeDocument/2006/relationships/image" Target="../media/image29.emf"/></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32.emf"/><Relationship Id="rId4" Type="http://schemas.openxmlformats.org/officeDocument/2006/relationships/package" Target="../embeddings/Microsoft_Word___21.docx"/></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4.emf"/></Relationships>
</file>

<file path=ppt/slides/_rels/slide2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35.emf"/><Relationship Id="rId4" Type="http://schemas.openxmlformats.org/officeDocument/2006/relationships/package" Target="../embeddings/Microsoft_Word___23.docx"/></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38.jpeg"/><Relationship Id="rId4" Type="http://schemas.openxmlformats.org/officeDocument/2006/relationships/image" Target="../media/image37.emf"/></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Word___25.docx"/><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35.emf"/><Relationship Id="rId5" Type="http://schemas.openxmlformats.org/officeDocument/2006/relationships/package" Target="../embeddings/Microsoft_Word___26.docx"/><Relationship Id="rId4" Type="http://schemas.openxmlformats.org/officeDocument/2006/relationships/image" Target="../media/image39.emf"/></Relationships>
</file>

<file path=ppt/slides/_rels/slide2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40.emf"/><Relationship Id="rId4" Type="http://schemas.openxmlformats.org/officeDocument/2006/relationships/package" Target="../embeddings/Microsoft_Word___27.docx"/></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28.docx"/><Relationship Id="rId7" Type="http://schemas.openxmlformats.org/officeDocument/2006/relationships/image" Target="../media/image44.jpeg"/><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43.emf"/><Relationship Id="rId5" Type="http://schemas.openxmlformats.org/officeDocument/2006/relationships/package" Target="../embeddings/Microsoft_Word___29.docx"/><Relationship Id="rId4" Type="http://schemas.openxmlformats.org/officeDocument/2006/relationships/image" Target="../media/image42.emf"/></Relationships>
</file>

<file path=ppt/slides/_rels/slide31.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package" Target="../embeddings/Microsoft_Word___30.docx"/><Relationship Id="rId7" Type="http://schemas.openxmlformats.org/officeDocument/2006/relationships/package" Target="../embeddings/Microsoft_Word___32.docx"/><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46.emf"/><Relationship Id="rId5" Type="http://schemas.openxmlformats.org/officeDocument/2006/relationships/package" Target="../embeddings/Microsoft_Word___31.docx"/><Relationship Id="rId4" Type="http://schemas.openxmlformats.org/officeDocument/2006/relationships/image" Target="../media/image45.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Word___33.docx"/><Relationship Id="rId7" Type="http://schemas.openxmlformats.org/officeDocument/2006/relationships/image" Target="../media/image51.jpeg"/><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50.emf"/><Relationship Id="rId5" Type="http://schemas.openxmlformats.org/officeDocument/2006/relationships/package" Target="../embeddings/Microsoft_Word___34.docx"/><Relationship Id="rId4" Type="http://schemas.openxmlformats.org/officeDocument/2006/relationships/image" Target="../media/image49.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35.docx"/><Relationship Id="rId2" Type="http://schemas.openxmlformats.org/officeDocument/2006/relationships/slideLayout" Target="../slideLayouts/slideLayout1.xml"/><Relationship Id="rId1" Type="http://schemas.openxmlformats.org/officeDocument/2006/relationships/vmlDrawing" Target="../drawings/vmlDrawing24.vml"/><Relationship Id="rId4" Type="http://schemas.openxmlformats.org/officeDocument/2006/relationships/image" Target="../media/image52.emf"/></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Word___36.docx"/><Relationship Id="rId2" Type="http://schemas.openxmlformats.org/officeDocument/2006/relationships/slideLayout" Target="../slideLayouts/slideLayout1.xml"/><Relationship Id="rId1" Type="http://schemas.openxmlformats.org/officeDocument/2006/relationships/vmlDrawing" Target="../drawings/vmlDrawing25.vml"/><Relationship Id="rId5" Type="http://schemas.openxmlformats.org/officeDocument/2006/relationships/image" Target="../media/image54.jpeg"/><Relationship Id="rId4" Type="http://schemas.openxmlformats.org/officeDocument/2006/relationships/image" Target="../media/image53.emf"/></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37.docx"/><Relationship Id="rId2" Type="http://schemas.openxmlformats.org/officeDocument/2006/relationships/slideLayout" Target="../slideLayouts/slideLayout1.xml"/><Relationship Id="rId1" Type="http://schemas.openxmlformats.org/officeDocument/2006/relationships/vmlDrawing" Target="../drawings/vmlDrawing26.vml"/><Relationship Id="rId4" Type="http://schemas.openxmlformats.org/officeDocument/2006/relationships/image" Target="../media/image55.emf"/></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Word___38.docx"/><Relationship Id="rId2" Type="http://schemas.openxmlformats.org/officeDocument/2006/relationships/slideLayout" Target="../slideLayouts/slideLayout1.xml"/><Relationship Id="rId1" Type="http://schemas.openxmlformats.org/officeDocument/2006/relationships/vmlDrawing" Target="../drawings/vmlDrawing27.vml"/><Relationship Id="rId5" Type="http://schemas.openxmlformats.org/officeDocument/2006/relationships/image" Target="../media/image57.jpeg"/><Relationship Id="rId4" Type="http://schemas.openxmlformats.org/officeDocument/2006/relationships/image" Target="../media/image56.emf"/></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Word___39.docx"/><Relationship Id="rId7" Type="http://schemas.openxmlformats.org/officeDocument/2006/relationships/image" Target="../media/image60.jpeg"/><Relationship Id="rId2" Type="http://schemas.openxmlformats.org/officeDocument/2006/relationships/slideLayout" Target="../slideLayouts/slideLayout1.xml"/><Relationship Id="rId1" Type="http://schemas.openxmlformats.org/officeDocument/2006/relationships/vmlDrawing" Target="../drawings/vmlDrawing28.vml"/><Relationship Id="rId6" Type="http://schemas.openxmlformats.org/officeDocument/2006/relationships/image" Target="../media/image59.emf"/><Relationship Id="rId5" Type="http://schemas.openxmlformats.org/officeDocument/2006/relationships/package" Target="../embeddings/Microsoft_Word___40.docx"/><Relationship Id="rId4" Type="http://schemas.openxmlformats.org/officeDocument/2006/relationships/image" Target="../media/image58.emf"/></Relationships>
</file>

<file path=ppt/slides/_rels/slide41.xml.rels><?xml version="1.0" encoding="UTF-8" standalone="yes"?>
<Relationships xmlns="http://schemas.openxmlformats.org/package/2006/relationships"><Relationship Id="rId3" Type="http://schemas.openxmlformats.org/officeDocument/2006/relationships/package" Target="../embeddings/Microsoft_Word___41.docx"/><Relationship Id="rId2" Type="http://schemas.openxmlformats.org/officeDocument/2006/relationships/slideLayout" Target="../slideLayouts/slideLayout1.xml"/><Relationship Id="rId1" Type="http://schemas.openxmlformats.org/officeDocument/2006/relationships/vmlDrawing" Target="../drawings/vmlDrawing29.vml"/><Relationship Id="rId6" Type="http://schemas.openxmlformats.org/officeDocument/2006/relationships/image" Target="../media/image62.emf"/><Relationship Id="rId5" Type="http://schemas.openxmlformats.org/officeDocument/2006/relationships/package" Target="../embeddings/Microsoft_Word___42.docx"/><Relationship Id="rId4" Type="http://schemas.openxmlformats.org/officeDocument/2006/relationships/image" Target="../media/image61.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Word___43.docx"/><Relationship Id="rId2" Type="http://schemas.openxmlformats.org/officeDocument/2006/relationships/slideLayout" Target="../slideLayouts/slideLayout1.xml"/><Relationship Id="rId1" Type="http://schemas.openxmlformats.org/officeDocument/2006/relationships/vmlDrawing" Target="../drawings/vmlDrawing30.vml"/><Relationship Id="rId5" Type="http://schemas.openxmlformats.org/officeDocument/2006/relationships/image" Target="../media/image64.jpeg"/><Relationship Id="rId4" Type="http://schemas.openxmlformats.org/officeDocument/2006/relationships/image" Target="../media/image63.emf"/></Relationships>
</file>

<file path=ppt/slides/_rels/slide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dirty="0">
                  <a:solidFill>
                    <a:schemeClr val="bg1"/>
                  </a:solidFill>
                  <a:latin typeface="华文细黑" panose="02010600040101010101" charset="-122"/>
                  <a:ea typeface="华文细黑" panose="02010600040101010101" charset="-122"/>
                </a:rPr>
                <a:t>第</a:t>
              </a:r>
              <a:r>
                <a:rPr lang="en-US" altLang="zh-CN" sz="3600" b="1" dirty="0">
                  <a:solidFill>
                    <a:schemeClr val="bg1"/>
                  </a:solidFill>
                  <a:latin typeface="华文细黑" panose="02010600040101010101" charset="-122"/>
                  <a:ea typeface="华文细黑" panose="02010600040101010101" charset="-122"/>
                </a:rPr>
                <a:t>1</a:t>
              </a:r>
              <a:r>
                <a:rPr lang="zh-CN" altLang="en-US" sz="3600" b="1" dirty="0">
                  <a:solidFill>
                    <a:schemeClr val="bg1"/>
                  </a:solidFill>
                  <a:latin typeface="华文细黑" panose="02010600040101010101" charset="-122"/>
                  <a:ea typeface="华文细黑" panose="02010600040101010101" charset="-122"/>
                </a:rPr>
                <a:t>课时　用空间向量研究距离问题</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a:solidFill>
                  <a:schemeClr val="bg1"/>
                </a:solidFill>
                <a:latin typeface="华文细黑" panose="02010600040101010101" charset="-122"/>
                <a:ea typeface="华文细黑" panose="02010600040101010101" charset="-122"/>
                <a:cs typeface="Open Sans" panose="020B0606030504020204" pitchFamily="34" charset="0"/>
              </a:rPr>
              <a:t>第一</a:t>
            </a: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1.4.2</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5680"/>
            <a:ext cx="11430000" cy="340099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掌握点到直线的距离公式、点到平面的距离公式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能用向量方法解决点到直线、点到平面、两条平行直线以及两个平行平面的距离问题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能描述用向量方法解决距离问题的程序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体会向量方法在研究几何距离问题中的作用</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4</a:t>
            </a:r>
            <a:r>
              <a:rPr lang="en-US" altLang="zh-CN" sz="2800" i="1" dirty="0">
                <a:solidFill>
                  <a:srgbClr val="000000"/>
                </a:solidFill>
                <a:latin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提升直观想象、逻辑推理和数学运算素养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75530"/>
            <a:ext cx="11430000" cy="573042"/>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 点到直线的</a:t>
            </a:r>
            <a:r>
              <a:rPr lang="zh-CN" altLang="zh-CN" sz="2800" dirty="0" smtClean="0">
                <a:solidFill>
                  <a:srgbClr val="000000"/>
                </a:solidFill>
                <a:latin typeface="NEU-BZ-S92"/>
                <a:ea typeface="方正正中黑简体"/>
                <a:cs typeface="Times New Roman" panose="02020603050405020304" pitchFamily="18" charset="0"/>
              </a:rPr>
              <a:t>距离</a:t>
            </a:r>
            <a:endParaRPr lang="zh-CN" altLang="zh-CN" sz="2800" dirty="0">
              <a:solidFill>
                <a:srgbClr val="000000"/>
              </a:solidFill>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92975478"/>
              </p:ext>
            </p:extLst>
          </p:nvPr>
        </p:nvGraphicFramePr>
        <p:xfrm>
          <a:off x="381000" y="848572"/>
          <a:ext cx="11430000" cy="2005680"/>
        </p:xfrm>
        <a:graphic>
          <a:graphicData uri="http://schemas.openxmlformats.org/presentationml/2006/ole">
            <mc:AlternateContent xmlns:mc="http://schemas.openxmlformats.org/markup-compatibility/2006">
              <mc:Choice xmlns:v="urn:schemas-microsoft-com:vml" Requires="v">
                <p:oleObj spid="_x0000_s1064"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381000" y="848572"/>
                        <a:ext cx="11430000" cy="200568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544903127"/>
              </p:ext>
            </p:extLst>
          </p:nvPr>
        </p:nvGraphicFramePr>
        <p:xfrm>
          <a:off x="51816" y="4871917"/>
          <a:ext cx="11430000" cy="1003297"/>
        </p:xfrm>
        <a:graphic>
          <a:graphicData uri="http://schemas.openxmlformats.org/presentationml/2006/ole">
            <mc:AlternateContent xmlns:mc="http://schemas.openxmlformats.org/markup-compatibility/2006">
              <mc:Choice xmlns:v="urn:schemas-microsoft-com:vml" Requires="v">
                <p:oleObj spid="_x0000_s1065"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51816" y="4871917"/>
                        <a:ext cx="11430000" cy="1003297"/>
                      </a:xfrm>
                      <a:prstGeom prst="rect">
                        <a:avLst/>
                      </a:prstGeom>
                    </p:spPr>
                  </p:pic>
                </p:oleObj>
              </mc:Fallback>
            </mc:AlternateContent>
          </a:graphicData>
        </a:graphic>
      </p:graphicFrame>
      <p:pic>
        <p:nvPicPr>
          <p:cNvPr id="5" name="VMX1TRAX78.eps" descr="id:2147496186;FounderCES"/>
          <p:cNvPicPr>
            <a:picLocks noChangeAspect="1"/>
          </p:cNvPicPr>
          <p:nvPr/>
        </p:nvPicPr>
        <p:blipFill>
          <a:blip r:embed="rId7">
            <a:clrChange>
              <a:clrFrom>
                <a:srgbClr val="FFFFFF"/>
              </a:clrFrom>
              <a:clrTo>
                <a:srgbClr val="FFFFFF">
                  <a:alpha val="0"/>
                </a:srgbClr>
              </a:clrTo>
            </a:clrChange>
          </a:blip>
          <a:stretch>
            <a:fillRect/>
          </a:stretch>
        </p:blipFill>
        <p:spPr>
          <a:xfrm>
            <a:off x="4092928" y="3025745"/>
            <a:ext cx="4006145" cy="2020939"/>
          </a:xfrm>
          <a:prstGeom prst="rect">
            <a:avLst/>
          </a:prstGeom>
        </p:spPr>
      </p:pic>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925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设与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方向相同的单位向量为</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在向量</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上的投影向量等于什么</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537338001"/>
              </p:ext>
            </p:extLst>
          </p:nvPr>
        </p:nvGraphicFramePr>
        <p:xfrm>
          <a:off x="64008" y="1861626"/>
          <a:ext cx="11430000" cy="1003297"/>
        </p:xfrm>
        <a:graphic>
          <a:graphicData uri="http://schemas.openxmlformats.org/presentationml/2006/ole">
            <mc:AlternateContent xmlns:mc="http://schemas.openxmlformats.org/markup-compatibility/2006">
              <mc:Choice xmlns:v="urn:schemas-microsoft-com:vml" Requires="v">
                <p:oleObj spid="_x0000_s2090"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4008" y="1861626"/>
                        <a:ext cx="11430000" cy="1003297"/>
                      </a:xfrm>
                      <a:prstGeom prst="rect">
                        <a:avLst/>
                      </a:prstGeom>
                    </p:spPr>
                  </p:pic>
                </p:oleObj>
              </mc:Fallback>
            </mc:AlternateContent>
          </a:graphicData>
        </a:graphic>
      </p:graphicFrame>
      <p:sp>
        <p:nvSpPr>
          <p:cNvPr id="4" name="矩形 3"/>
          <p:cNvSpPr>
            <a:spLocks noChangeAspect="1"/>
          </p:cNvSpPr>
          <p:nvPr/>
        </p:nvSpPr>
        <p:spPr>
          <a:xfrm>
            <a:off x="381000" y="2864923"/>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在上图中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怎样求线段</a:t>
            </a:r>
            <a:r>
              <a:rPr lang="en-US" altLang="zh-CN" sz="2800" i="1" dirty="0">
                <a:solidFill>
                  <a:srgbClr val="000000"/>
                </a:solidFill>
                <a:latin typeface="Times New Roman" panose="02020603050405020304" pitchFamily="18" charset="0"/>
                <a:cs typeface="Times New Roman" panose="02020603050405020304" pitchFamily="18" charset="0"/>
              </a:rPr>
              <a:t>MM</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的长度</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长度的表达式是什么</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sz="2800" dirty="0">
                <a:solidFill>
                  <a:srgbClr val="000000"/>
                </a:solidFill>
                <a:latin typeface="Times New Roman" panose="02020603050405020304" pitchFamily="18" charset="0"/>
                <a:cs typeface="Times New Roman" panose="02020603050405020304" pitchFamily="18" charset="0"/>
              </a:rPr>
              <a:t>Rt</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MOM</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利用勾股定理可得</a:t>
            </a:r>
            <a:r>
              <a:rPr lang="en-US" altLang="zh-CN" sz="2800" i="1" dirty="0">
                <a:solidFill>
                  <a:srgbClr val="000000"/>
                </a:solidFill>
                <a:latin typeface="Times New Roman" panose="02020603050405020304" pitchFamily="18" charset="0"/>
                <a:cs typeface="Times New Roman" panose="02020603050405020304" pitchFamily="18" charset="0"/>
              </a:rPr>
              <a:t>MM</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的长度</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468539727"/>
              </p:ext>
            </p:extLst>
          </p:nvPr>
        </p:nvGraphicFramePr>
        <p:xfrm>
          <a:off x="64008" y="4047331"/>
          <a:ext cx="11275153" cy="991965"/>
        </p:xfrm>
        <a:graphic>
          <a:graphicData uri="http://schemas.openxmlformats.org/presentationml/2006/ole">
            <mc:AlternateContent xmlns:mc="http://schemas.openxmlformats.org/markup-compatibility/2006">
              <mc:Choice xmlns:v="urn:schemas-microsoft-com:vml" Requires="v">
                <p:oleObj spid="_x0000_s2091"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64008" y="4047331"/>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charRg st="31" end="60"/>
                                            </p:txEl>
                                          </p:spTgt>
                                        </p:tgtEl>
                                        <p:attrNameLst>
                                          <p:attrName>style.visibility</p:attrName>
                                        </p:attrNameLst>
                                      </p:cBhvr>
                                      <p:to>
                                        <p:strVal val="visible"/>
                                      </p:to>
                                    </p:set>
                                    <p:animEffect transition="in" filter="randombar(horizontal)">
                                      <p:cBhvr>
                                        <p:cTn id="12" dur="500"/>
                                        <p:tgtEl>
                                          <p:spTgt spid="4">
                                            <p:txEl>
                                              <p:charRg st="31" end="6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381000" y="151311"/>
            <a:ext cx="11430000" cy="6229253"/>
            <a:chOff x="381000" y="151311"/>
            <a:chExt cx="11430000" cy="6229253"/>
          </a:xfrm>
        </p:grpSpPr>
        <p:sp>
          <p:nvSpPr>
            <p:cNvPr id="2" name="矩形 1"/>
            <p:cNvSpPr>
              <a:spLocks noChangeAspect="1"/>
            </p:cNvSpPr>
            <p:nvPr/>
          </p:nvSpPr>
          <p:spPr>
            <a:xfrm>
              <a:off x="381000" y="151311"/>
              <a:ext cx="3340658"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点</a:t>
              </a:r>
              <a:r>
                <a:rPr lang="zh-CN" altLang="zh-CN" sz="2800" dirty="0">
                  <a:solidFill>
                    <a:srgbClr val="000000"/>
                  </a:solidFill>
                  <a:latin typeface="Times New Roman" panose="02020603050405020304" pitchFamily="18" charset="0"/>
                  <a:cs typeface="Times New Roman" panose="02020603050405020304" pitchFamily="18" charset="0"/>
                </a:rPr>
                <a:t>到直线的</a:t>
              </a:r>
              <a:r>
                <a:rPr lang="zh-CN" altLang="zh-CN" sz="2800" dirty="0" smtClean="0">
                  <a:solidFill>
                    <a:srgbClr val="000000"/>
                  </a:solidFill>
                  <a:latin typeface="Times New Roman" panose="02020603050405020304" pitchFamily="18" charset="0"/>
                  <a:cs typeface="Times New Roman" panose="02020603050405020304" pitchFamily="18" charset="0"/>
                </a:rPr>
                <a:t>距离</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947938408"/>
                </p:ext>
              </p:extLst>
            </p:nvPr>
          </p:nvGraphicFramePr>
          <p:xfrm>
            <a:off x="381000" y="824579"/>
            <a:ext cx="11430000" cy="2507784"/>
          </p:xfrm>
          <a:graphic>
            <a:graphicData uri="http://schemas.openxmlformats.org/presentationml/2006/ole">
              <mc:AlternateContent xmlns:mc="http://schemas.openxmlformats.org/markup-compatibility/2006">
                <mc:Choice xmlns:v="urn:schemas-microsoft-com:vml" Requires="v">
                  <p:oleObj spid="_x0000_s3093"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381000" y="824579"/>
                          <a:ext cx="11430000" cy="2507784"/>
                        </a:xfrm>
                        <a:prstGeom prst="rect">
                          <a:avLst/>
                        </a:prstGeom>
                      </p:spPr>
                    </p:pic>
                  </p:oleObj>
                </mc:Fallback>
              </mc:AlternateContent>
            </a:graphicData>
          </a:graphic>
        </p:graphicFrame>
        <p:pic>
          <p:nvPicPr>
            <p:cNvPr id="4" name="VMX1TRAX79.eps" descr="id:2147496193;FounderCES"/>
            <p:cNvPicPr>
              <a:picLocks noChangeAspect="1"/>
            </p:cNvPicPr>
            <p:nvPr/>
          </p:nvPicPr>
          <p:blipFill>
            <a:blip r:embed="rId5">
              <a:clrChange>
                <a:clrFrom>
                  <a:srgbClr val="FFFFFF"/>
                </a:clrFrom>
                <a:clrTo>
                  <a:srgbClr val="FFFFFF">
                    <a:alpha val="0"/>
                  </a:srgbClr>
                </a:clrTo>
              </a:clrChange>
            </a:blip>
            <a:stretch>
              <a:fillRect/>
            </a:stretch>
          </p:blipFill>
          <p:spPr>
            <a:xfrm>
              <a:off x="4092928" y="3415522"/>
              <a:ext cx="4006145" cy="2965042"/>
            </a:xfrm>
            <a:prstGeom prst="rect">
              <a:avLst/>
            </a:prstGeom>
          </p:spPr>
        </p:pic>
      </p:grpSp>
      <p:sp>
        <p:nvSpPr>
          <p:cNvPr id="6" name="矩形 5"/>
          <p:cNvSpPr/>
          <p:nvPr/>
        </p:nvSpPr>
        <p:spPr>
          <a:xfrm>
            <a:off x="8859143" y="1593843"/>
            <a:ext cx="909560"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8870744" y="2030803"/>
            <a:ext cx="90574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49388"/>
            <a:ext cx="11430000" cy="1152367"/>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如</a:t>
            </a:r>
            <a:r>
              <a:rPr lang="zh-CN" altLang="zh-CN" sz="2800" dirty="0">
                <a:solidFill>
                  <a:srgbClr val="000000"/>
                </a:solidFill>
                <a:latin typeface="Times New Roman" panose="02020603050405020304" pitchFamily="18" charset="0"/>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在长方体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GF</a:t>
            </a:r>
            <a:r>
              <a:rPr lang="zh-CN" altLang="zh-CN" sz="2800" dirty="0">
                <a:solidFill>
                  <a:srgbClr val="000000"/>
                </a:solidFill>
                <a:latin typeface="Times New Roman" panose="02020603050405020304" pitchFamily="18" charset="0"/>
                <a:cs typeface="Times New Roman" panose="02020603050405020304" pitchFamily="18" charset="0"/>
              </a:rPr>
              <a:t>的距离为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VMX1TRAX80.eps" descr="id:2147496200;FounderCES"/>
          <p:cNvPicPr>
            <a:picLocks noChangeAspect="1"/>
          </p:cNvPicPr>
          <p:nvPr/>
        </p:nvPicPr>
        <p:blipFill>
          <a:blip r:embed="rId2">
            <a:clrChange>
              <a:clrFrom>
                <a:srgbClr val="FFFFFF"/>
              </a:clrFrom>
              <a:clrTo>
                <a:srgbClr val="FFFFFF">
                  <a:alpha val="0"/>
                </a:srgbClr>
              </a:clrTo>
            </a:clrChange>
          </a:blip>
          <a:stretch>
            <a:fillRect/>
          </a:stretch>
        </p:blipFill>
        <p:spPr>
          <a:xfrm>
            <a:off x="4440568" y="1765207"/>
            <a:ext cx="3310864" cy="3310864"/>
          </a:xfrm>
          <a:prstGeom prst="rect">
            <a:avLst/>
          </a:prstGeom>
        </p:spPr>
      </p:pic>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6" name="矩形 5"/>
          <p:cNvSpPr>
            <a:spLocks noChangeAspect="1"/>
          </p:cNvSpPr>
          <p:nvPr/>
        </p:nvSpPr>
        <p:spPr>
          <a:xfrm>
            <a:off x="381000" y="56591"/>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GD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(0,0,2),</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(1,1,0),</a:t>
            </a:r>
            <a:r>
              <a:rPr lang="en-US" altLang="zh-CN" sz="2800" i="1" dirty="0">
                <a:solidFill>
                  <a:srgbClr val="000000"/>
                </a:solidFill>
                <a:latin typeface="Times New Roman" panose="02020603050405020304" pitchFamily="18" charset="0"/>
                <a:cs typeface="Times New Roman" panose="02020603050405020304" pitchFamily="18" charset="0"/>
              </a:rPr>
              <a:t>G</a:t>
            </a:r>
            <a:r>
              <a:rPr lang="en-US" altLang="zh-CN" sz="2800" dirty="0">
                <a:solidFill>
                  <a:srgbClr val="000000"/>
                </a:solidFill>
                <a:latin typeface="Times New Roman" panose="02020603050405020304" pitchFamily="18" charset="0"/>
                <a:cs typeface="Times New Roman" panose="02020603050405020304" pitchFamily="18" charset="0"/>
              </a:rPr>
              <a:t>(0,2,1),</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433740341"/>
              </p:ext>
            </p:extLst>
          </p:nvPr>
        </p:nvGraphicFramePr>
        <p:xfrm>
          <a:off x="73152" y="1758929"/>
          <a:ext cx="11430000" cy="4012272"/>
        </p:xfrm>
        <a:graphic>
          <a:graphicData uri="http://schemas.openxmlformats.org/presentationml/2006/ole">
            <mc:AlternateContent xmlns:mc="http://schemas.openxmlformats.org/markup-compatibility/2006">
              <mc:Choice xmlns:v="urn:schemas-microsoft-com:vml" Requires="v">
                <p:oleObj spid="_x0000_s4130" name="文档" r:id="rId3" imgW="4520786" imgH="1586931" progId="Word.Document.12">
                  <p:embed/>
                </p:oleObj>
              </mc:Choice>
              <mc:Fallback>
                <p:oleObj name="文档" r:id="rId3" imgW="4520786" imgH="1586931" progId="Word.Document.12">
                  <p:embed/>
                  <p:pic>
                    <p:nvPicPr>
                      <p:cNvPr id="0" name=""/>
                      <p:cNvPicPr/>
                      <p:nvPr/>
                    </p:nvPicPr>
                    <p:blipFill>
                      <a:blip r:embed="rId4"/>
                      <a:stretch>
                        <a:fillRect/>
                      </a:stretch>
                    </p:blipFill>
                    <p:spPr>
                      <a:xfrm>
                        <a:off x="73152" y="1758929"/>
                        <a:ext cx="11430000" cy="4012272"/>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405257376"/>
              </p:ext>
            </p:extLst>
          </p:nvPr>
        </p:nvGraphicFramePr>
        <p:xfrm>
          <a:off x="73152" y="5672488"/>
          <a:ext cx="11430000" cy="1003297"/>
        </p:xfrm>
        <a:graphic>
          <a:graphicData uri="http://schemas.openxmlformats.org/presentationml/2006/ole">
            <mc:AlternateContent xmlns:mc="http://schemas.openxmlformats.org/markup-compatibility/2006">
              <mc:Choice xmlns:v="urn:schemas-microsoft-com:vml" Requires="v">
                <p:oleObj spid="_x0000_s4131"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73152" y="5672488"/>
                        <a:ext cx="11430000" cy="1003297"/>
                      </a:xfrm>
                      <a:prstGeom prst="rect">
                        <a:avLst/>
                      </a:prstGeom>
                    </p:spPr>
                  </p:pic>
                </p:oleObj>
              </mc:Fallback>
            </mc:AlternateContent>
          </a:graphicData>
        </a:graphic>
      </p:graphicFrame>
      <p:pic>
        <p:nvPicPr>
          <p:cNvPr id="9" name="VMX1TRAX81.eps" descr="id:2147496207;FounderCES"/>
          <p:cNvPicPr/>
          <p:nvPr/>
        </p:nvPicPr>
        <p:blipFill>
          <a:blip r:embed="rId7">
            <a:clrChange>
              <a:clrFrom>
                <a:srgbClr val="FFFFFF"/>
              </a:clrFrom>
              <a:clrTo>
                <a:srgbClr val="FFFFFF">
                  <a:alpha val="0"/>
                </a:srgbClr>
              </a:clrTo>
            </a:clrChange>
          </a:blip>
          <a:stretch>
            <a:fillRect/>
          </a:stretch>
        </p:blipFill>
        <p:spPr>
          <a:xfrm>
            <a:off x="7995968" y="1069513"/>
            <a:ext cx="2953525" cy="3075767"/>
          </a:xfrm>
          <a:prstGeom prst="rect">
            <a:avLst/>
          </a:prstGeom>
        </p:spPr>
      </p:pic>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99482"/>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二、点到平面的距离</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的法向量为</a:t>
            </a:r>
            <a:r>
              <a:rPr lang="en-US" altLang="zh-CN" sz="2800" b="1" dirty="0" err="1">
                <a:solidFill>
                  <a:srgbClr val="000000"/>
                </a:solidFill>
                <a:latin typeface="Times New Roman" panose="02020603050405020304" pitchFamily="18" charset="0"/>
                <a:cs typeface="Times New Roman" panose="02020603050405020304" pitchFamily="18" charset="0"/>
              </a:rPr>
              <a:t>n</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是平面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内的定点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是平面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外一点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作平面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的垂线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交平面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于点</a:t>
            </a:r>
            <a:r>
              <a:rPr lang="en-US" altLang="zh-CN" sz="2800" i="1" dirty="0">
                <a:solidFill>
                  <a:srgbClr val="000000"/>
                </a:solidFill>
                <a:latin typeface="Times New Roman" panose="02020603050405020304" pitchFamily="18" charset="0"/>
                <a:cs typeface="Times New Roman" panose="02020603050405020304" pitchFamily="18" charset="0"/>
              </a:rPr>
              <a:t>Q</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回答下列问题</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的距离是哪一线段的长度</a:t>
            </a:r>
            <a:r>
              <a:rPr lang="en-US" altLang="zh-CN" sz="2800" dirty="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线段</a:t>
            </a:r>
            <a:r>
              <a:rPr lang="en-US" altLang="zh-CN" sz="2800" i="1" dirty="0">
                <a:solidFill>
                  <a:srgbClr val="000000"/>
                </a:solidFill>
                <a:latin typeface="Times New Roman" panose="02020603050405020304" pitchFamily="18" charset="0"/>
                <a:cs typeface="Times New Roman" panose="02020603050405020304" pitchFamily="18" charset="0"/>
              </a:rPr>
              <a:t>PQ.</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从向量投影的角度来看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的距离又是什么</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08022421"/>
              </p:ext>
            </p:extLst>
          </p:nvPr>
        </p:nvGraphicFramePr>
        <p:xfrm>
          <a:off x="48768" y="3479976"/>
          <a:ext cx="11430000" cy="1003297"/>
        </p:xfrm>
        <a:graphic>
          <a:graphicData uri="http://schemas.openxmlformats.org/presentationml/2006/ole">
            <mc:AlternateContent xmlns:mc="http://schemas.openxmlformats.org/markup-compatibility/2006">
              <mc:Choice xmlns:v="urn:schemas-microsoft-com:vml" Requires="v">
                <p:oleObj spid="_x0000_s5156"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8768" y="3479976"/>
                        <a:ext cx="11430000" cy="1003297"/>
                      </a:xfrm>
                      <a:prstGeom prst="rect">
                        <a:avLst/>
                      </a:prstGeom>
                    </p:spPr>
                  </p:pic>
                </p:oleObj>
              </mc:Fallback>
            </mc:AlternateContent>
          </a:graphicData>
        </a:graphic>
      </p:graphicFrame>
      <p:sp>
        <p:nvSpPr>
          <p:cNvPr id="4" name="矩形 3"/>
          <p:cNvSpPr>
            <a:spLocks noChangeAspect="1"/>
          </p:cNvSpPr>
          <p:nvPr/>
        </p:nvSpPr>
        <p:spPr>
          <a:xfrm>
            <a:off x="381000" y="4316071"/>
            <a:ext cx="11430000" cy="65248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根据向量投影的定义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你能得出点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的距离的表达式吗</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877576538"/>
              </p:ext>
            </p:extLst>
          </p:nvPr>
        </p:nvGraphicFramePr>
        <p:xfrm>
          <a:off x="48768" y="4936719"/>
          <a:ext cx="11430000" cy="1003297"/>
        </p:xfrm>
        <a:graphic>
          <a:graphicData uri="http://schemas.openxmlformats.org/presentationml/2006/ole">
            <mc:AlternateContent xmlns:mc="http://schemas.openxmlformats.org/markup-compatibility/2006">
              <mc:Choice xmlns:v="urn:schemas-microsoft-com:vml" Requires="v">
                <p:oleObj spid="_x0000_s5157"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8768" y="4936719"/>
                        <a:ext cx="11430000" cy="1003297"/>
                      </a:xfrm>
                      <a:prstGeom prst="rect">
                        <a:avLst/>
                      </a:prstGeom>
                    </p:spPr>
                  </p:pic>
                </p:oleObj>
              </mc:Fallback>
            </mc:AlternateContent>
          </a:graphicData>
        </a:graphic>
      </p:graphicFrame>
      <p:pic>
        <p:nvPicPr>
          <p:cNvPr id="6" name="NMX1TRAX76.eps" descr="id:2147514303;FounderCES"/>
          <p:cNvPicPr/>
          <p:nvPr/>
        </p:nvPicPr>
        <p:blipFill>
          <a:blip r:embed="rId7">
            <a:clrChange>
              <a:clrFrom>
                <a:srgbClr val="FFFFFF"/>
              </a:clrFrom>
              <a:clrTo>
                <a:srgbClr val="FFFFFF">
                  <a:alpha val="0"/>
                </a:srgbClr>
              </a:clrTo>
            </a:clrChange>
          </a:blip>
          <a:stretch>
            <a:fillRect/>
          </a:stretch>
        </p:blipFill>
        <p:spPr>
          <a:xfrm>
            <a:off x="9353870" y="1926108"/>
            <a:ext cx="2550649" cy="1875790"/>
          </a:xfrm>
          <a:prstGeom prst="rect">
            <a:avLst/>
          </a:prstGeom>
        </p:spPr>
      </p:pic>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603684"/>
            <a:ext cx="3340658"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点</a:t>
            </a:r>
            <a:r>
              <a:rPr lang="zh-CN" altLang="zh-CN" sz="2800" dirty="0">
                <a:solidFill>
                  <a:srgbClr val="000000"/>
                </a:solidFill>
                <a:latin typeface="Times New Roman" panose="02020603050405020304" pitchFamily="18" charset="0"/>
                <a:cs typeface="Times New Roman" panose="02020603050405020304" pitchFamily="18" charset="0"/>
              </a:rPr>
              <a:t>到平面的</a:t>
            </a:r>
            <a:r>
              <a:rPr lang="zh-CN" altLang="zh-CN" sz="2800" dirty="0" smtClean="0">
                <a:solidFill>
                  <a:srgbClr val="000000"/>
                </a:solidFill>
                <a:latin typeface="Times New Roman" panose="02020603050405020304" pitchFamily="18" charset="0"/>
                <a:cs typeface="Times New Roman" panose="02020603050405020304" pitchFamily="18" charset="0"/>
              </a:rPr>
              <a:t>距离</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066714387"/>
              </p:ext>
            </p:extLst>
          </p:nvPr>
        </p:nvGraphicFramePr>
        <p:xfrm>
          <a:off x="381000" y="2345587"/>
          <a:ext cx="11430000" cy="1504488"/>
        </p:xfrm>
        <a:graphic>
          <a:graphicData uri="http://schemas.openxmlformats.org/presentationml/2006/ole">
            <mc:AlternateContent xmlns:mc="http://schemas.openxmlformats.org/markup-compatibility/2006">
              <mc:Choice xmlns:v="urn:schemas-microsoft-com:vml" Requires="v">
                <p:oleObj spid="_x0000_s6163"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381000" y="2345587"/>
                        <a:ext cx="11430000" cy="1504488"/>
                      </a:xfrm>
                      <a:prstGeom prst="rect">
                        <a:avLst/>
                      </a:prstGeom>
                    </p:spPr>
                  </p:pic>
                </p:oleObj>
              </mc:Fallback>
            </mc:AlternateContent>
          </a:graphicData>
        </a:graphic>
      </p:graphicFrame>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6" name="组合 5"/>
          <p:cNvGrpSpPr/>
          <p:nvPr/>
        </p:nvGrpSpPr>
        <p:grpSpPr>
          <a:xfrm>
            <a:off x="64008" y="378181"/>
            <a:ext cx="11746992" cy="2204432"/>
            <a:chOff x="64008" y="596392"/>
            <a:chExt cx="11746992" cy="2204432"/>
          </a:xfrm>
        </p:grpSpPr>
        <p:sp>
          <p:nvSpPr>
            <p:cNvPr id="2" name="矩形 1"/>
            <p:cNvSpPr>
              <a:spLocks noChangeAspect="1"/>
            </p:cNvSpPr>
            <p:nvPr/>
          </p:nvSpPr>
          <p:spPr>
            <a:xfrm>
              <a:off x="381000" y="596392"/>
              <a:ext cx="11430000" cy="121264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已知</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的一个法向量</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1,3,0)</a:t>
              </a:r>
              <a:r>
                <a:rPr lang="zh-CN" altLang="zh-CN" sz="2800" dirty="0">
                  <a:solidFill>
                    <a:srgbClr val="000000"/>
                  </a:solidFill>
                  <a:latin typeface="Times New Roman" panose="02020603050405020304" pitchFamily="18" charset="0"/>
                  <a:cs typeface="Times New Roman" panose="02020603050405020304" pitchFamily="18" charset="0"/>
                </a:rPr>
                <a:t>在平面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内</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2,1,4)</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258912630"/>
                </p:ext>
              </p:extLst>
            </p:nvPr>
          </p:nvGraphicFramePr>
          <p:xfrm>
            <a:off x="64008" y="1797527"/>
            <a:ext cx="11430000" cy="1003297"/>
          </p:xfrm>
          <a:graphic>
            <a:graphicData uri="http://schemas.openxmlformats.org/presentationml/2006/ole">
              <mc:AlternateContent xmlns:mc="http://schemas.openxmlformats.org/markup-compatibility/2006">
                <mc:Choice xmlns:v="urn:schemas-microsoft-com:vml" Requires="v">
                  <p:oleObj spid="_x0000_s7204"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4008" y="1797527"/>
                          <a:ext cx="11430000" cy="1003297"/>
                        </a:xfrm>
                        <a:prstGeom prst="rect">
                          <a:avLst/>
                        </a:prstGeom>
                      </p:spPr>
                    </p:pic>
                  </p:oleObj>
                </mc:Fallback>
              </mc:AlternateContent>
            </a:graphicData>
          </a:graphic>
        </p:graphicFrame>
      </p:grpSp>
      <p:graphicFrame>
        <p:nvGraphicFramePr>
          <p:cNvPr id="4" name="对象 3"/>
          <p:cNvGraphicFramePr>
            <a:graphicFrameLocks noChangeAspect="1"/>
          </p:cNvGraphicFramePr>
          <p:nvPr>
            <p:extLst>
              <p:ext uri="{D42A27DB-BD31-4B8C-83A1-F6EECF244321}">
                <p14:modId xmlns:p14="http://schemas.microsoft.com/office/powerpoint/2010/main" val="4148584732"/>
              </p:ext>
            </p:extLst>
          </p:nvPr>
        </p:nvGraphicFramePr>
        <p:xfrm>
          <a:off x="64008" y="2533845"/>
          <a:ext cx="11430000" cy="2507784"/>
        </p:xfrm>
        <a:graphic>
          <a:graphicData uri="http://schemas.openxmlformats.org/presentationml/2006/ole">
            <mc:AlternateContent xmlns:mc="http://schemas.openxmlformats.org/markup-compatibility/2006">
              <mc:Choice xmlns:v="urn:schemas-microsoft-com:vml" Requires="v">
                <p:oleObj spid="_x0000_s7205" name="文档" r:id="rId5" imgW="4520786" imgH="991877" progId="Word.Document.12">
                  <p:embed/>
                </p:oleObj>
              </mc:Choice>
              <mc:Fallback>
                <p:oleObj name="文档" r:id="rId5" imgW="4520786" imgH="991877" progId="Word.Document.12">
                  <p:embed/>
                  <p:pic>
                    <p:nvPicPr>
                      <p:cNvPr id="0" name=""/>
                      <p:cNvPicPr/>
                      <p:nvPr/>
                    </p:nvPicPr>
                    <p:blipFill>
                      <a:blip r:embed="rId6"/>
                      <a:stretch>
                        <a:fillRect/>
                      </a:stretch>
                    </p:blipFill>
                    <p:spPr>
                      <a:xfrm>
                        <a:off x="64008" y="2533845"/>
                        <a:ext cx="11430000" cy="2507784"/>
                      </a:xfrm>
                      <a:prstGeom prst="rect">
                        <a:avLst/>
                      </a:prstGeom>
                    </p:spPr>
                  </p:pic>
                </p:oleObj>
              </mc:Fallback>
            </mc:AlternateContent>
          </a:graphicData>
        </a:graphic>
      </p:graphicFrame>
      <p:sp>
        <p:nvSpPr>
          <p:cNvPr id="5" name="矩形 4"/>
          <p:cNvSpPr>
            <a:spLocks noChangeAspect="1"/>
          </p:cNvSpPr>
          <p:nvPr/>
        </p:nvSpPr>
        <p:spPr>
          <a:xfrm>
            <a:off x="381000" y="5005053"/>
            <a:ext cx="1633781"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186484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2541"/>
            <a:ext cx="11430000" cy="451328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点到直线的距离实质上就是点与直线上的一点构成的向量在直线的方向向量上的投影向量的模</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点到平面的距离实质就是从该点出发的斜线段对应的向量在平面的法向量上的投影向量的长度</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线面距离、面面距离均可转化为点面距离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用求点面距离的方法进行求解</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p:nvPr/>
        </p:nvSpPr>
        <p:spPr>
          <a:xfrm>
            <a:off x="5004611" y="2517749"/>
            <a:ext cx="5865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025393" y="3582434"/>
            <a:ext cx="400635"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471701" y="4719858"/>
            <a:ext cx="400635"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3326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点到直线的距离</a:t>
                </a:r>
              </a:p>
            </p:txBody>
          </p:sp>
        </p:grpSp>
      </p:grpSp>
      <p:sp>
        <p:nvSpPr>
          <p:cNvPr id="2" name="矩形 1"/>
          <p:cNvSpPr>
            <a:spLocks noChangeAspect="1"/>
          </p:cNvSpPr>
          <p:nvPr/>
        </p:nvSpPr>
        <p:spPr>
          <a:xfrm>
            <a:off x="381000" y="703132"/>
            <a:ext cx="11430000" cy="5693866"/>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在空间直角坐标系中有棱长为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是线段</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利用点到直线的距离公式求解</a:t>
            </a:r>
            <a:r>
              <a:rPr lang="en-US" altLang="zh-CN" sz="2800" i="1" dirty="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8" name="VMX1TRAX83.eps" descr="id:2147496235;FounderCES"/>
          <p:cNvPicPr>
            <a:picLocks noChangeAspect="1"/>
          </p:cNvPicPr>
          <p:nvPr/>
        </p:nvPicPr>
        <p:blipFill>
          <a:blip r:embed="rId2">
            <a:clrChange>
              <a:clrFrom>
                <a:srgbClr val="FFFFFF"/>
              </a:clrFrom>
              <a:clrTo>
                <a:srgbClr val="FFFFFF">
                  <a:alpha val="0"/>
                </a:srgbClr>
              </a:clrTo>
            </a:clrChange>
          </a:blip>
          <a:stretch>
            <a:fillRect/>
          </a:stretch>
        </p:blipFill>
        <p:spPr>
          <a:xfrm>
            <a:off x="4270867" y="1931259"/>
            <a:ext cx="3650266" cy="356553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animEffect transition="in" filter="barn(inVertical)">
                                      <p:cBhvr>
                                        <p:cTn id="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79659434"/>
              </p:ext>
            </p:extLst>
          </p:nvPr>
        </p:nvGraphicFramePr>
        <p:xfrm>
          <a:off x="32396" y="936585"/>
          <a:ext cx="11275153" cy="3971140"/>
        </p:xfrm>
        <a:graphic>
          <a:graphicData uri="http://schemas.openxmlformats.org/presentationml/2006/ole">
            <mc:AlternateContent xmlns:mc="http://schemas.openxmlformats.org/markup-compatibility/2006">
              <mc:Choice xmlns:v="urn:schemas-microsoft-com:vml" Requires="v">
                <p:oleObj spid="_x0000_s8209" name="文档" r:id="rId3" imgW="4510061" imgH="1588456" progId="Word.Document.12">
                  <p:embed/>
                </p:oleObj>
              </mc:Choice>
              <mc:Fallback>
                <p:oleObj name="文档" r:id="rId3" imgW="4510061" imgH="1588456" progId="Word.Document.12">
                  <p:embed/>
                  <p:pic>
                    <p:nvPicPr>
                      <p:cNvPr id="0" name=""/>
                      <p:cNvPicPr/>
                      <p:nvPr/>
                    </p:nvPicPr>
                    <p:blipFill>
                      <a:blip r:embed="rId4"/>
                      <a:stretch>
                        <a:fillRect/>
                      </a:stretch>
                    </p:blipFill>
                    <p:spPr>
                      <a:xfrm>
                        <a:off x="32396" y="936585"/>
                        <a:ext cx="11275153" cy="3971140"/>
                      </a:xfrm>
                      <a:prstGeom prst="rect">
                        <a:avLst/>
                      </a:prstGeom>
                    </p:spPr>
                  </p:pic>
                </p:oleObj>
              </mc:Fallback>
            </mc:AlternateContent>
          </a:graphicData>
        </a:graphic>
      </p:graphicFrame>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pic>
        <p:nvPicPr>
          <p:cNvPr id="2" name="延伸探究H.eps" descr="id:2147494559;FounderCES"/>
          <p:cNvPicPr/>
          <p:nvPr/>
        </p:nvPicPr>
        <p:blipFill>
          <a:blip r:embed="rId2">
            <a:clrChange>
              <a:clrFrom>
                <a:srgbClr val="FFFFFF"/>
              </a:clrFrom>
              <a:clrTo>
                <a:srgbClr val="FFFFFF">
                  <a:alpha val="0"/>
                </a:srgbClr>
              </a:clrTo>
            </a:clrChange>
          </a:blip>
          <a:stretch>
            <a:fillRect/>
          </a:stretch>
        </p:blipFill>
        <p:spPr>
          <a:xfrm>
            <a:off x="4757688" y="1461071"/>
            <a:ext cx="2016224" cy="367706"/>
          </a:xfrm>
          <a:prstGeom prst="rect">
            <a:avLst/>
          </a:prstGeom>
        </p:spPr>
      </p:pic>
      <p:sp>
        <p:nvSpPr>
          <p:cNvPr id="3" name="矩形 2"/>
          <p:cNvSpPr>
            <a:spLocks noChangeAspect="1"/>
          </p:cNvSpPr>
          <p:nvPr/>
        </p:nvSpPr>
        <p:spPr>
          <a:xfrm>
            <a:off x="381000" y="1910519"/>
            <a:ext cx="11430000" cy="1152367"/>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cs typeface="Times New Roman" panose="02020603050405020304" pitchFamily="18" charset="0"/>
              </a:rPr>
              <a:t>若本例中的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是线段</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改为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是线段</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上的动点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其他条件不变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试求点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距离的最小值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3108495740"/>
              </p:ext>
            </p:extLst>
          </p:nvPr>
        </p:nvGraphicFramePr>
        <p:xfrm>
          <a:off x="34704" y="459508"/>
          <a:ext cx="11275153" cy="5127443"/>
        </p:xfrm>
        <a:graphic>
          <a:graphicData uri="http://schemas.openxmlformats.org/presentationml/2006/ole">
            <mc:AlternateContent xmlns:mc="http://schemas.openxmlformats.org/markup-compatibility/2006">
              <mc:Choice xmlns:v="urn:schemas-microsoft-com:vml" Requires="v">
                <p:oleObj spid="_x0000_s30731" name="文档" r:id="rId3" imgW="4510061" imgH="2047384" progId="Word.Document.12">
                  <p:embed/>
                </p:oleObj>
              </mc:Choice>
              <mc:Fallback>
                <p:oleObj name="文档" r:id="rId3" imgW="4510061" imgH="2047384" progId="Word.Document.12">
                  <p:embed/>
                  <p:pic>
                    <p:nvPicPr>
                      <p:cNvPr id="0" name=""/>
                      <p:cNvPicPr/>
                      <p:nvPr/>
                    </p:nvPicPr>
                    <p:blipFill>
                      <a:blip r:embed="rId4"/>
                      <a:stretch>
                        <a:fillRect/>
                      </a:stretch>
                    </p:blipFill>
                    <p:spPr>
                      <a:xfrm>
                        <a:off x="34704" y="459508"/>
                        <a:ext cx="11275153" cy="5127443"/>
                      </a:xfrm>
                      <a:prstGeom prst="rect">
                        <a:avLst/>
                      </a:prstGeom>
                    </p:spPr>
                  </p:pic>
                </p:oleObj>
              </mc:Fallback>
            </mc:AlternateContent>
          </a:graphicData>
        </a:graphic>
      </p:graphicFrame>
    </p:spTree>
    <p:extLst>
      <p:ext uri="{BB962C8B-B14F-4D97-AF65-F5344CB8AC3E}">
        <p14:creationId xmlns:p14="http://schemas.microsoft.com/office/powerpoint/2010/main" val="25058839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896833"/>
            <a:ext cx="11430000" cy="1212640"/>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向量方法求直线外一点</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到直线的距离的步骤</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第一步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依据图形先求出直线的单位方向向量</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60307232"/>
              </p:ext>
            </p:extLst>
          </p:nvPr>
        </p:nvGraphicFramePr>
        <p:xfrm>
          <a:off x="393192" y="2142920"/>
          <a:ext cx="11430000" cy="2507784"/>
        </p:xfrm>
        <a:graphic>
          <a:graphicData uri="http://schemas.openxmlformats.org/presentationml/2006/ole">
            <mc:AlternateContent xmlns:mc="http://schemas.openxmlformats.org/markup-compatibility/2006">
              <mc:Choice xmlns:v="urn:schemas-microsoft-com:vml" Requires="v">
                <p:oleObj spid="_x0000_s10257"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393192" y="2142920"/>
                        <a:ext cx="11430000" cy="2507784"/>
                      </a:xfrm>
                      <a:prstGeom prst="rect">
                        <a:avLst/>
                      </a:prstGeom>
                    </p:spPr>
                  </p:pic>
                </p:oleObj>
              </mc:Fallback>
            </mc:AlternateContent>
          </a:graphicData>
        </a:graphic>
      </p:graphicFrame>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pic>
        <p:nvPicPr>
          <p:cNvPr id="3" name="VMX1TRAX84.eps" descr="id:2147496256;FounderCES"/>
          <p:cNvPicPr>
            <a:picLocks noChangeAspect="1"/>
          </p:cNvPicPr>
          <p:nvPr/>
        </p:nvPicPr>
        <p:blipFill>
          <a:blip r:embed="rId3">
            <a:clrChange>
              <a:clrFrom>
                <a:srgbClr val="FFFFFF"/>
              </a:clrFrom>
              <a:clrTo>
                <a:srgbClr val="FFFFFF">
                  <a:alpha val="0"/>
                </a:srgbClr>
              </a:clrTo>
            </a:clrChange>
          </a:blip>
          <a:stretch>
            <a:fillRect/>
          </a:stretch>
        </p:blipFill>
        <p:spPr>
          <a:xfrm>
            <a:off x="4727874" y="1659047"/>
            <a:ext cx="2736252" cy="3636521"/>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3631152782"/>
              </p:ext>
            </p:extLst>
          </p:nvPr>
        </p:nvGraphicFramePr>
        <p:xfrm>
          <a:off x="381000" y="372112"/>
          <a:ext cx="11430000" cy="1003297"/>
        </p:xfrm>
        <a:graphic>
          <a:graphicData uri="http://schemas.openxmlformats.org/presentationml/2006/ole">
            <mc:AlternateContent xmlns:mc="http://schemas.openxmlformats.org/markup-compatibility/2006">
              <mc:Choice xmlns:v="urn:schemas-microsoft-com:vml" Requires="v">
                <p:oleObj spid="_x0000_s11281" name="文档" r:id="rId4" imgW="4520786" imgH="396823" progId="Word.Document.12">
                  <p:embed/>
                </p:oleObj>
              </mc:Choice>
              <mc:Fallback>
                <p:oleObj name="文档" r:id="rId4" imgW="4520786" imgH="396823" progId="Word.Document.12">
                  <p:embed/>
                  <p:pic>
                    <p:nvPicPr>
                      <p:cNvPr id="0" name=""/>
                      <p:cNvPicPr/>
                      <p:nvPr/>
                    </p:nvPicPr>
                    <p:blipFill>
                      <a:blip r:embed="rId5"/>
                      <a:stretch>
                        <a:fillRect/>
                      </a:stretch>
                    </p:blipFill>
                    <p:spPr>
                      <a:xfrm>
                        <a:off x="381000" y="372112"/>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274522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4008" y="410517"/>
            <a:ext cx="11746992" cy="5202985"/>
            <a:chOff x="64008" y="597555"/>
            <a:chExt cx="11746992" cy="5202985"/>
          </a:xfrm>
        </p:grpSpPr>
        <p:sp>
          <p:nvSpPr>
            <p:cNvPr id="2" name="矩形 1"/>
            <p:cNvSpPr>
              <a:spLocks noChangeAspect="1"/>
            </p:cNvSpPr>
            <p:nvPr/>
          </p:nvSpPr>
          <p:spPr>
            <a:xfrm>
              <a:off x="381000" y="597555"/>
              <a:ext cx="11430000" cy="5922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Dxyz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90055382"/>
                </p:ext>
              </p:extLst>
            </p:nvPr>
          </p:nvGraphicFramePr>
          <p:xfrm>
            <a:off x="64008" y="1287077"/>
            <a:ext cx="11430000" cy="4513463"/>
          </p:xfrm>
          <a:graphic>
            <a:graphicData uri="http://schemas.openxmlformats.org/presentationml/2006/ole">
              <mc:AlternateContent xmlns:mc="http://schemas.openxmlformats.org/markup-compatibility/2006">
                <mc:Choice xmlns:v="urn:schemas-microsoft-com:vml" Requires="v">
                  <p:oleObj spid="_x0000_s12305" name="文档" r:id="rId3" imgW="4520786" imgH="1785162" progId="Word.Document.12">
                    <p:embed/>
                  </p:oleObj>
                </mc:Choice>
                <mc:Fallback>
                  <p:oleObj name="文档" r:id="rId3" imgW="4520786" imgH="1785162" progId="Word.Document.12">
                    <p:embed/>
                    <p:pic>
                      <p:nvPicPr>
                        <p:cNvPr id="0" name=""/>
                        <p:cNvPicPr/>
                        <p:nvPr/>
                      </p:nvPicPr>
                      <p:blipFill>
                        <a:blip r:embed="rId4"/>
                        <a:stretch>
                          <a:fillRect/>
                        </a:stretch>
                      </p:blipFill>
                      <p:spPr>
                        <a:xfrm>
                          <a:off x="64008" y="1287077"/>
                          <a:ext cx="11430000" cy="4513463"/>
                        </a:xfrm>
                        <a:prstGeom prst="rect">
                          <a:avLst/>
                        </a:prstGeom>
                      </p:spPr>
                    </p:pic>
                  </p:oleObj>
                </mc:Fallback>
              </mc:AlternateContent>
            </a:graphicData>
          </a:graphic>
        </p:graphicFrame>
        <p:pic>
          <p:nvPicPr>
            <p:cNvPr id="4" name="VMX1TRAX85.eps" descr="id:2147496263;FounderCES"/>
            <p:cNvPicPr/>
            <p:nvPr/>
          </p:nvPicPr>
          <p:blipFill>
            <a:blip r:embed="rId5">
              <a:clrChange>
                <a:clrFrom>
                  <a:srgbClr val="FFFFFF"/>
                </a:clrFrom>
                <a:clrTo>
                  <a:srgbClr val="FFFFFF">
                    <a:alpha val="0"/>
                  </a:srgbClr>
                </a:clrTo>
              </a:clrChange>
            </a:blip>
            <a:stretch>
              <a:fillRect/>
            </a:stretch>
          </p:blipFill>
          <p:spPr>
            <a:xfrm>
              <a:off x="8884729" y="1601533"/>
              <a:ext cx="2492239" cy="3699135"/>
            </a:xfrm>
            <a:prstGeom prst="rect">
              <a:avLst/>
            </a:prstGeom>
          </p:spPr>
        </p:pic>
      </p:grpSp>
    </p:spTree>
    <p:extLst>
      <p:ext uri="{BB962C8B-B14F-4D97-AF65-F5344CB8AC3E}">
        <p14:creationId xmlns:p14="http://schemas.microsoft.com/office/powerpoint/2010/main" val="9932925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点到平面的距离</a:t>
                </a:r>
              </a:p>
            </p:txBody>
          </p:sp>
        </p:grpSp>
      </p:grpSp>
      <p:sp>
        <p:nvSpPr>
          <p:cNvPr id="2" name="矩形 1"/>
          <p:cNvSpPr>
            <a:spLocks noChangeAspect="1"/>
          </p:cNvSpPr>
          <p:nvPr/>
        </p:nvSpPr>
        <p:spPr>
          <a:xfrm>
            <a:off x="381000" y="1243879"/>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设正方体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的棱长为</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间的距离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5" name="组合 4"/>
          <p:cNvGrpSpPr/>
          <p:nvPr/>
        </p:nvGrpSpPr>
        <p:grpSpPr>
          <a:xfrm>
            <a:off x="381000" y="2887299"/>
            <a:ext cx="11430000" cy="2173218"/>
            <a:chOff x="381000" y="3132940"/>
            <a:chExt cx="11430000" cy="2173218"/>
          </a:xfrm>
        </p:grpSpPr>
        <p:graphicFrame>
          <p:nvGraphicFramePr>
            <p:cNvPr id="3" name="对象 2"/>
            <p:cNvGraphicFramePr>
              <a:graphicFrameLocks noChangeAspect="1"/>
            </p:cNvGraphicFramePr>
            <p:nvPr>
              <p:extLst>
                <p:ext uri="{D42A27DB-BD31-4B8C-83A1-F6EECF244321}">
                  <p14:modId xmlns:p14="http://schemas.microsoft.com/office/powerpoint/2010/main" val="3674716331"/>
                </p:ext>
              </p:extLst>
            </p:nvPr>
          </p:nvGraphicFramePr>
          <p:xfrm>
            <a:off x="381000" y="3132940"/>
            <a:ext cx="11430000" cy="1504488"/>
          </p:xfrm>
          <a:graphic>
            <a:graphicData uri="http://schemas.openxmlformats.org/presentationml/2006/ole">
              <mc:AlternateContent xmlns:mc="http://schemas.openxmlformats.org/markup-compatibility/2006">
                <mc:Choice xmlns:v="urn:schemas-microsoft-com:vml" Requires="v">
                  <p:oleObj spid="_x0000_s13328"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381000" y="3132940"/>
                          <a:ext cx="11430000" cy="1504488"/>
                        </a:xfrm>
                        <a:prstGeom prst="rect">
                          <a:avLst/>
                        </a:prstGeom>
                      </p:spPr>
                    </p:pic>
                  </p:oleObj>
                </mc:Fallback>
              </mc:AlternateContent>
            </a:graphicData>
          </a:graphic>
        </p:graphicFrame>
        <p:sp>
          <p:nvSpPr>
            <p:cNvPr id="4" name="矩形 3"/>
            <p:cNvSpPr>
              <a:spLocks noChangeAspect="1"/>
            </p:cNvSpPr>
            <p:nvPr/>
          </p:nvSpPr>
          <p:spPr>
            <a:xfrm>
              <a:off x="381000" y="4653672"/>
              <a:ext cx="11430000" cy="65248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间的距离等于点</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0960" y="56737"/>
            <a:ext cx="11848482" cy="6563359"/>
            <a:chOff x="60960" y="56737"/>
            <a:chExt cx="11848482" cy="6563359"/>
          </a:xfrm>
        </p:grpSpPr>
        <p:sp>
          <p:nvSpPr>
            <p:cNvPr id="2" name="矩形 1"/>
            <p:cNvSpPr>
              <a:spLocks noChangeAspect="1"/>
            </p:cNvSpPr>
            <p:nvPr/>
          </p:nvSpPr>
          <p:spPr>
            <a:xfrm>
              <a:off x="381000" y="5673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Dxyz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(2,0,2),</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(2,2,0),</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32370355"/>
                </p:ext>
              </p:extLst>
            </p:nvPr>
          </p:nvGraphicFramePr>
          <p:xfrm>
            <a:off x="60960" y="1209104"/>
            <a:ext cx="11430000" cy="3510170"/>
          </p:xfrm>
          <a:graphic>
            <a:graphicData uri="http://schemas.openxmlformats.org/presentationml/2006/ole">
              <mc:AlternateContent xmlns:mc="http://schemas.openxmlformats.org/markup-compatibility/2006">
                <mc:Choice xmlns:v="urn:schemas-microsoft-com:vml" Requires="v">
                  <p:oleObj spid="_x0000_s14364" name="文档" r:id="rId3" imgW="4520786" imgH="1388340" progId="Word.Document.12">
                    <p:embed/>
                  </p:oleObj>
                </mc:Choice>
                <mc:Fallback>
                  <p:oleObj name="文档" r:id="rId3" imgW="4520786" imgH="1388340" progId="Word.Document.12">
                    <p:embed/>
                    <p:pic>
                      <p:nvPicPr>
                        <p:cNvPr id="0" name=""/>
                        <p:cNvPicPr/>
                        <p:nvPr/>
                      </p:nvPicPr>
                      <p:blipFill>
                        <a:blip r:embed="rId4"/>
                        <a:stretch>
                          <a:fillRect/>
                        </a:stretch>
                      </p:blipFill>
                      <p:spPr>
                        <a:xfrm>
                          <a:off x="60960" y="1209104"/>
                          <a:ext cx="11430000" cy="3510170"/>
                        </a:xfrm>
                        <a:prstGeom prst="rect">
                          <a:avLst/>
                        </a:prstGeom>
                      </p:spPr>
                    </p:pic>
                  </p:oleObj>
                </mc:Fallback>
              </mc:AlternateContent>
            </a:graphicData>
          </a:graphic>
        </p:graphicFrame>
        <p:sp>
          <p:nvSpPr>
            <p:cNvPr id="5" name="矩形 4"/>
            <p:cNvSpPr>
              <a:spLocks noChangeAspect="1"/>
            </p:cNvSpPr>
            <p:nvPr/>
          </p:nvSpPr>
          <p:spPr>
            <a:xfrm>
              <a:off x="381000" y="4530741"/>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的一个法向量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889580040"/>
                </p:ext>
              </p:extLst>
            </p:nvPr>
          </p:nvGraphicFramePr>
          <p:xfrm>
            <a:off x="60960" y="5616799"/>
            <a:ext cx="11430000" cy="1003297"/>
          </p:xfrm>
          <a:graphic>
            <a:graphicData uri="http://schemas.openxmlformats.org/presentationml/2006/ole">
              <mc:AlternateContent xmlns:mc="http://schemas.openxmlformats.org/markup-compatibility/2006">
                <mc:Choice xmlns:v="urn:schemas-microsoft-com:vml" Requires="v">
                  <p:oleObj spid="_x0000_s14365"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60960" y="5616799"/>
                          <a:ext cx="11430000" cy="1003297"/>
                        </a:xfrm>
                        <a:prstGeom prst="rect">
                          <a:avLst/>
                        </a:prstGeom>
                      </p:spPr>
                    </p:pic>
                  </p:oleObj>
                </mc:Fallback>
              </mc:AlternateContent>
            </a:graphicData>
          </a:graphic>
        </p:graphicFrame>
        <p:pic>
          <p:nvPicPr>
            <p:cNvPr id="7" name="VMX1TRAX86.eps" descr="id:2147496277;FounderCES"/>
            <p:cNvPicPr/>
            <p:nvPr/>
          </p:nvPicPr>
          <p:blipFill>
            <a:blip r:embed="rId7">
              <a:clrChange>
                <a:clrFrom>
                  <a:srgbClr val="FFFFFF"/>
                </a:clrFrom>
                <a:clrTo>
                  <a:srgbClr val="FFFFFF">
                    <a:alpha val="0"/>
                  </a:srgbClr>
                </a:clrTo>
              </a:clrChange>
            </a:blip>
            <a:stretch>
              <a:fillRect/>
            </a:stretch>
          </p:blipFill>
          <p:spPr>
            <a:xfrm>
              <a:off x="9153715" y="1464834"/>
              <a:ext cx="2755727" cy="2656062"/>
            </a:xfrm>
            <a:prstGeom prst="rect">
              <a:avLst/>
            </a:prstGeom>
          </p:spPr>
        </p:pic>
      </p:grpSp>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60960" y="56642"/>
            <a:ext cx="11750040" cy="6452918"/>
            <a:chOff x="60960" y="56642"/>
            <a:chExt cx="11750040" cy="6452918"/>
          </a:xfrm>
        </p:grpSpPr>
        <p:sp>
          <p:nvSpPr>
            <p:cNvPr id="2" name="矩形 1"/>
            <p:cNvSpPr>
              <a:spLocks noChangeAspect="1"/>
            </p:cNvSpPr>
            <p:nvPr/>
          </p:nvSpPr>
          <p:spPr>
            <a:xfrm>
              <a:off x="381000" y="56642"/>
              <a:ext cx="11430000" cy="457356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根据题意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D</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所以四边形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为平行四边形</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同理</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BD=B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间的距离等于点</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图片 2"/>
            <p:cNvPicPr/>
            <p:nvPr/>
          </p:nvPicPr>
          <p:blipFill>
            <a:blip r:embed="rId3">
              <a:clrChange>
                <a:clrFrom>
                  <a:srgbClr val="FFFFFF"/>
                </a:clrFrom>
                <a:clrTo>
                  <a:srgbClr val="FFFFFF">
                    <a:alpha val="0"/>
                  </a:srgbClr>
                </a:clrTo>
              </a:clrChange>
            </a:blip>
            <a:stretch>
              <a:fillRect/>
            </a:stretch>
          </p:blipFill>
          <p:spPr>
            <a:xfrm>
              <a:off x="3823827" y="263876"/>
              <a:ext cx="248301" cy="251656"/>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2884236686"/>
                </p:ext>
              </p:extLst>
            </p:nvPr>
          </p:nvGraphicFramePr>
          <p:xfrm>
            <a:off x="60960" y="4503880"/>
            <a:ext cx="11430000" cy="2005680"/>
          </p:xfrm>
          <a:graphic>
            <a:graphicData uri="http://schemas.openxmlformats.org/presentationml/2006/ole">
              <mc:AlternateContent xmlns:mc="http://schemas.openxmlformats.org/markup-compatibility/2006">
                <mc:Choice xmlns:v="urn:schemas-microsoft-com:vml" Requires="v">
                  <p:oleObj spid="_x0000_s15374" name="文档" r:id="rId4" imgW="4520786" imgH="793285" progId="Word.Document.12">
                    <p:embed/>
                  </p:oleObj>
                </mc:Choice>
                <mc:Fallback>
                  <p:oleObj name="文档" r:id="rId4" imgW="4520786" imgH="793285" progId="Word.Document.12">
                    <p:embed/>
                    <p:pic>
                      <p:nvPicPr>
                        <p:cNvPr id="0" name=""/>
                        <p:cNvPicPr/>
                        <p:nvPr/>
                      </p:nvPicPr>
                      <p:blipFill>
                        <a:blip r:embed="rId5"/>
                        <a:stretch>
                          <a:fillRect/>
                        </a:stretch>
                      </p:blipFill>
                      <p:spPr>
                        <a:xfrm>
                          <a:off x="60960" y="4503880"/>
                          <a:ext cx="11430000" cy="2005680"/>
                        </a:xfrm>
                        <a:prstGeom prst="rect">
                          <a:avLst/>
                        </a:prstGeom>
                      </p:spPr>
                    </p:pic>
                  </p:oleObj>
                </mc:Fallback>
              </mc:AlternateContent>
            </a:graphicData>
          </a:graphic>
        </p:graphicFrame>
      </p:gr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81000" y="448584"/>
            <a:ext cx="11442192" cy="4722147"/>
            <a:chOff x="381000" y="704342"/>
            <a:chExt cx="11442192" cy="4722147"/>
          </a:xfrm>
        </p:grpSpPr>
        <p:sp>
          <p:nvSpPr>
            <p:cNvPr id="2" name="矩形 1"/>
            <p:cNvSpPr>
              <a:spLocks noChangeAspect="1"/>
            </p:cNvSpPr>
            <p:nvPr/>
          </p:nvSpPr>
          <p:spPr>
            <a:xfrm>
              <a:off x="381000" y="704342"/>
              <a:ext cx="11430000" cy="1772793"/>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向量方法求点面距的步骤</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建立适当的空间直角坐标系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求点坐标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写出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相关点的坐标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a:spLocks noChangeAspect="1"/>
            </p:cNvSpPr>
            <p:nvPr/>
          </p:nvSpPr>
          <p:spPr>
            <a:xfrm>
              <a:off x="381000" y="4834276"/>
              <a:ext cx="11430000" cy="5922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提醒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用向量方法求线面距、面面距时一般要转化为求点面距</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545115851"/>
                </p:ext>
              </p:extLst>
            </p:nvPr>
          </p:nvGraphicFramePr>
          <p:xfrm>
            <a:off x="393192" y="2350876"/>
            <a:ext cx="11430000" cy="2507784"/>
          </p:xfrm>
          <a:graphic>
            <a:graphicData uri="http://schemas.openxmlformats.org/presentationml/2006/ole">
              <mc:AlternateContent xmlns:mc="http://schemas.openxmlformats.org/markup-compatibility/2006">
                <mc:Choice xmlns:v="urn:schemas-microsoft-com:vml" Requires="v">
                  <p:oleObj spid="_x0000_s16399"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393192" y="2350876"/>
                          <a:ext cx="11430000" cy="2507784"/>
                        </a:xfrm>
                        <a:prstGeom prst="rect">
                          <a:avLst/>
                        </a:prstGeom>
                      </p:spPr>
                    </p:pic>
                  </p:oleObj>
                </mc:Fallback>
              </mc:AlternateContent>
            </a:graphicData>
          </a:graphic>
        </p:graphicFrame>
      </p:gr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169142"/>
            <a:ext cx="11430000" cy="177279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如</a:t>
            </a:r>
            <a:r>
              <a:rPr lang="zh-CN" altLang="zh-CN" sz="2800" dirty="0" smtClean="0">
                <a:solidFill>
                  <a:srgbClr val="000000"/>
                </a:solidFill>
                <a:latin typeface="Times New Roman" panose="02020603050405020304" pitchFamily="18" charset="0"/>
                <a:cs typeface="Times New Roman" panose="02020603050405020304" pitchFamily="18" charset="0"/>
              </a:rPr>
              <a:t>图</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在直三棱柱</a:t>
            </a:r>
            <a:r>
              <a:rPr lang="en-US" altLang="zh-CN" sz="2800" i="1" dirty="0">
                <a:solidFill>
                  <a:srgbClr val="000000"/>
                </a:solidFill>
                <a:latin typeface="Times New Roman" panose="02020603050405020304" pitchFamily="18" charset="0"/>
                <a:cs typeface="Times New Roman" panose="02020603050405020304" pitchFamily="18" charset="0"/>
              </a:rPr>
              <a:t>ABC-A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底面是等腰直角三角形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ACB=</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侧棱</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试问在线段</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上是否存在一点</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不与端点重合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使得点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AED</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zh-CN" altLang="zh-CN" sz="2800" dirty="0" smtClean="0">
                <a:solidFill>
                  <a:srgbClr val="000000"/>
                </a:solidFill>
                <a:latin typeface="Times New Roman" panose="02020603050405020304" pitchFamily="18" charset="0"/>
                <a:cs typeface="Times New Roman" panose="02020603050405020304" pitchFamily="18" charset="0"/>
              </a:rPr>
              <a:t>为</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NMX1TRAX80.eps" descr="id:2147514448;FounderCES"/>
          <p:cNvPicPr>
            <a:picLocks noChangeAspect="1"/>
          </p:cNvPicPr>
          <p:nvPr/>
        </p:nvPicPr>
        <p:blipFill>
          <a:blip r:embed="rId3">
            <a:clrChange>
              <a:clrFrom>
                <a:srgbClr val="FFFFFF"/>
              </a:clrFrom>
              <a:clrTo>
                <a:srgbClr val="FFFFFF">
                  <a:alpha val="0"/>
                </a:srgbClr>
              </a:clrTo>
            </a:clrChange>
          </a:blip>
          <a:stretch>
            <a:fillRect/>
          </a:stretch>
        </p:blipFill>
        <p:spPr>
          <a:xfrm>
            <a:off x="4591062" y="2130536"/>
            <a:ext cx="3009876" cy="3619857"/>
          </a:xfrm>
          <a:prstGeom prst="rect">
            <a:avLst/>
          </a:prstGeom>
        </p:spPr>
      </p:pic>
      <p:graphicFrame>
        <p:nvGraphicFramePr>
          <p:cNvPr id="6" name="对象 5"/>
          <p:cNvGraphicFramePr>
            <a:graphicFrameLocks noChangeAspect="1"/>
          </p:cNvGraphicFramePr>
          <p:nvPr>
            <p:extLst>
              <p:ext uri="{D42A27DB-BD31-4B8C-83A1-F6EECF244321}">
                <p14:modId xmlns:p14="http://schemas.microsoft.com/office/powerpoint/2010/main" val="3004540097"/>
              </p:ext>
            </p:extLst>
          </p:nvPr>
        </p:nvGraphicFramePr>
        <p:xfrm>
          <a:off x="9146798" y="1271630"/>
          <a:ext cx="636908" cy="670305"/>
        </p:xfrm>
        <a:graphic>
          <a:graphicData uri="http://schemas.openxmlformats.org/presentationml/2006/ole">
            <mc:AlternateContent xmlns:mc="http://schemas.openxmlformats.org/markup-compatibility/2006">
              <mc:Choice xmlns:v="urn:schemas-microsoft-com:vml" Requires="v">
                <p:oleObj spid="_x0000_s31755" name="文档" r:id="rId4" imgW="342312" imgH="353270" progId="Word.Document.12">
                  <p:embed/>
                </p:oleObj>
              </mc:Choice>
              <mc:Fallback>
                <p:oleObj name="文档" r:id="rId4" imgW="342312" imgH="353270" progId="Word.Document.12">
                  <p:embed/>
                  <p:pic>
                    <p:nvPicPr>
                      <p:cNvPr id="0" name=""/>
                      <p:cNvPicPr/>
                      <p:nvPr/>
                    </p:nvPicPr>
                    <p:blipFill>
                      <a:blip r:embed="rId5"/>
                      <a:stretch>
                        <a:fillRect/>
                      </a:stretch>
                    </p:blipFill>
                    <p:spPr>
                      <a:xfrm>
                        <a:off x="9146798" y="1271630"/>
                        <a:ext cx="636908" cy="670305"/>
                      </a:xfrm>
                      <a:prstGeom prst="rect">
                        <a:avLst/>
                      </a:prstGeom>
                    </p:spPr>
                  </p:pic>
                </p:oleObj>
              </mc:Fallback>
            </mc:AlternateContent>
          </a:graphicData>
        </a:graphic>
      </p:graphicFrame>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81000" y="273052"/>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以点</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为坐标原点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分别以</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轴和</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(2,0,0),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(2,0,2),</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(0,0,1),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(0,2,0),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805724199"/>
              </p:ext>
            </p:extLst>
          </p:nvPr>
        </p:nvGraphicFramePr>
        <p:xfrm>
          <a:off x="41564" y="1498156"/>
          <a:ext cx="11275153" cy="4124775"/>
        </p:xfrm>
        <a:graphic>
          <a:graphicData uri="http://schemas.openxmlformats.org/presentationml/2006/ole">
            <mc:AlternateContent xmlns:mc="http://schemas.openxmlformats.org/markup-compatibility/2006">
              <mc:Choice xmlns:v="urn:schemas-microsoft-com:vml" Requires="v">
                <p:oleObj spid="_x0000_s17424" name="文档" r:id="rId3" imgW="4510061" imgH="1649910" progId="Word.Document.12">
                  <p:embed/>
                </p:oleObj>
              </mc:Choice>
              <mc:Fallback>
                <p:oleObj name="文档" r:id="rId3" imgW="4510061" imgH="1649910" progId="Word.Document.12">
                  <p:embed/>
                  <p:pic>
                    <p:nvPicPr>
                      <p:cNvPr id="0" name=""/>
                      <p:cNvPicPr/>
                      <p:nvPr/>
                    </p:nvPicPr>
                    <p:blipFill>
                      <a:blip r:embed="rId4"/>
                      <a:stretch>
                        <a:fillRect/>
                      </a:stretch>
                    </p:blipFill>
                    <p:spPr>
                      <a:xfrm>
                        <a:off x="41564" y="1498156"/>
                        <a:ext cx="11275153" cy="4124775"/>
                      </a:xfrm>
                      <a:prstGeom prst="rect">
                        <a:avLst/>
                      </a:prstGeom>
                    </p:spPr>
                  </p:pic>
                </p:oleObj>
              </mc:Fallback>
            </mc:AlternateContent>
          </a:graphicData>
        </a:graphic>
      </p:graphicFrame>
      <p:pic>
        <p:nvPicPr>
          <p:cNvPr id="14" name="NMX1TRAX245.eps" descr="id:2147514455;FounderCES"/>
          <p:cNvPicPr/>
          <p:nvPr/>
        </p:nvPicPr>
        <p:blipFill>
          <a:blip r:embed="rId5">
            <a:clrChange>
              <a:clrFrom>
                <a:srgbClr val="FFFFFF"/>
              </a:clrFrom>
              <a:clrTo>
                <a:srgbClr val="FFFFFF">
                  <a:alpha val="0"/>
                </a:srgbClr>
              </a:clrTo>
            </a:clrChange>
          </a:blip>
          <a:stretch>
            <a:fillRect/>
          </a:stretch>
        </p:blipFill>
        <p:spPr>
          <a:xfrm>
            <a:off x="8765749" y="1839192"/>
            <a:ext cx="2696441" cy="3595255"/>
          </a:xfrm>
          <a:prstGeom prst="rect">
            <a:avLst/>
          </a:prstGeom>
        </p:spPr>
      </p:pic>
    </p:spTree>
    <p:extLst>
      <p:ext uri="{BB962C8B-B14F-4D97-AF65-F5344CB8AC3E}">
        <p14:creationId xmlns:p14="http://schemas.microsoft.com/office/powerpoint/2010/main" val="42490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748403336"/>
              </p:ext>
            </p:extLst>
          </p:nvPr>
        </p:nvGraphicFramePr>
        <p:xfrm>
          <a:off x="41564" y="1285269"/>
          <a:ext cx="11275153" cy="2193113"/>
        </p:xfrm>
        <a:graphic>
          <a:graphicData uri="http://schemas.openxmlformats.org/presentationml/2006/ole">
            <mc:AlternateContent xmlns:mc="http://schemas.openxmlformats.org/markup-compatibility/2006">
              <mc:Choice xmlns:v="urn:schemas-microsoft-com:vml" Requires="v">
                <p:oleObj spid="_x0000_s18455" name="文档" r:id="rId3" imgW="4510061" imgH="877245" progId="Word.Document.12">
                  <p:embed/>
                </p:oleObj>
              </mc:Choice>
              <mc:Fallback>
                <p:oleObj name="文档" r:id="rId3" imgW="4510061" imgH="877245" progId="Word.Document.12">
                  <p:embed/>
                  <p:pic>
                    <p:nvPicPr>
                      <p:cNvPr id="0" name=""/>
                      <p:cNvPicPr/>
                      <p:nvPr/>
                    </p:nvPicPr>
                    <p:blipFill>
                      <a:blip r:embed="rId4"/>
                      <a:stretch>
                        <a:fillRect/>
                      </a:stretch>
                    </p:blipFill>
                    <p:spPr>
                      <a:xfrm>
                        <a:off x="41564" y="1285269"/>
                        <a:ext cx="11275153" cy="2193113"/>
                      </a:xfrm>
                      <a:prstGeom prst="rect">
                        <a:avLst/>
                      </a:prstGeom>
                    </p:spPr>
                  </p:pic>
                </p:oleObj>
              </mc:Fallback>
            </mc:AlternateContent>
          </a:graphicData>
        </a:graphic>
      </p:graphicFrame>
      <p:sp>
        <p:nvSpPr>
          <p:cNvPr id="6" name="矩形 5"/>
          <p:cNvSpPr>
            <a:spLocks noChangeAspect="1"/>
          </p:cNvSpPr>
          <p:nvPr/>
        </p:nvSpPr>
        <p:spPr>
          <a:xfrm>
            <a:off x="381000" y="3412124"/>
            <a:ext cx="11430000" cy="652486"/>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存在点</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且当点</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的中点时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AED</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的距离</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585466296"/>
              </p:ext>
            </p:extLst>
          </p:nvPr>
        </p:nvGraphicFramePr>
        <p:xfrm>
          <a:off x="10393708" y="3331959"/>
          <a:ext cx="636908" cy="670305"/>
        </p:xfrm>
        <a:graphic>
          <a:graphicData uri="http://schemas.openxmlformats.org/presentationml/2006/ole">
            <mc:AlternateContent xmlns:mc="http://schemas.openxmlformats.org/markup-compatibility/2006">
              <mc:Choice xmlns:v="urn:schemas-microsoft-com:vml" Requires="v">
                <p:oleObj spid="_x0000_s18456" name="文档" r:id="rId5" imgW="342312" imgH="353270" progId="Word.Document.12">
                  <p:embed/>
                </p:oleObj>
              </mc:Choice>
              <mc:Fallback>
                <p:oleObj name="文档" r:id="rId5" imgW="342312" imgH="353270" progId="Word.Document.12">
                  <p:embed/>
                  <p:pic>
                    <p:nvPicPr>
                      <p:cNvPr id="0" name=""/>
                      <p:cNvPicPr/>
                      <p:nvPr/>
                    </p:nvPicPr>
                    <p:blipFill>
                      <a:blip r:embed="rId6"/>
                      <a:stretch>
                        <a:fillRect/>
                      </a:stretch>
                    </p:blipFill>
                    <p:spPr>
                      <a:xfrm>
                        <a:off x="10393708" y="3331959"/>
                        <a:ext cx="636908" cy="670305"/>
                      </a:xfrm>
                      <a:prstGeom prst="rect">
                        <a:avLst/>
                      </a:prstGeom>
                    </p:spPr>
                  </p:pic>
                </p:oleObj>
              </mc:Fallback>
            </mc:AlternateContent>
          </a:graphicData>
        </a:graphic>
      </p:graphicFrame>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易错辨析</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grpSp>
        <p:nvGrpSpPr>
          <p:cNvPr id="3" name="组合 2"/>
          <p:cNvGrpSpPr/>
          <p:nvPr/>
        </p:nvGrpSpPr>
        <p:grpSpPr>
          <a:xfrm>
            <a:off x="381000" y="704342"/>
            <a:ext cx="11430000" cy="5417023"/>
            <a:chOff x="381000" y="704342"/>
            <a:chExt cx="11430000" cy="5417023"/>
          </a:xfrm>
        </p:grpSpPr>
        <p:sp>
          <p:nvSpPr>
            <p:cNvPr id="2" name="矩形 1"/>
            <p:cNvSpPr>
              <a:spLocks noChangeAspect="1"/>
            </p:cNvSpPr>
            <p:nvPr/>
          </p:nvSpPr>
          <p:spPr>
            <a:xfrm>
              <a:off x="381000" y="704342"/>
              <a:ext cx="11430000" cy="1767022"/>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用向量方法求点到平面的距离时因选错向量致误</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在正四棱柱</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底面边长为</a:t>
              </a:r>
              <a:r>
                <a:rPr lang="en-US" altLang="zh-CN" sz="2800" dirty="0" smtClean="0">
                  <a:solidFill>
                    <a:srgbClr val="000000"/>
                  </a:solidFill>
                  <a:latin typeface="Times New Roman" panose="02020603050405020304" pitchFamily="18" charset="0"/>
                  <a:cs typeface="Times New Roman" panose="02020603050405020304" pitchFamily="18" charset="0"/>
                </a:rPr>
                <a:t>2      ,</a:t>
              </a:r>
              <a:r>
                <a:rPr lang="zh-CN" altLang="zh-CN" sz="2800" dirty="0">
                  <a:solidFill>
                    <a:srgbClr val="000000"/>
                  </a:solidFill>
                  <a:latin typeface="Times New Roman" panose="02020603050405020304" pitchFamily="18" charset="0"/>
                  <a:cs typeface="Times New Roman" panose="02020603050405020304" pitchFamily="18" charset="0"/>
                </a:rPr>
                <a:t>侧棱长为</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分别为</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14" name="VMX1TRAX91.eps" descr="id:2147496326;FounderCES"/>
            <p:cNvPicPr>
              <a:picLocks noChangeAspect="1"/>
            </p:cNvPicPr>
            <p:nvPr/>
          </p:nvPicPr>
          <p:blipFill>
            <a:blip r:embed="rId3">
              <a:clrChange>
                <a:clrFrom>
                  <a:srgbClr val="FFFFFF"/>
                </a:clrFrom>
                <a:clrTo>
                  <a:srgbClr val="FFFFFF">
                    <a:alpha val="0"/>
                  </a:srgbClr>
                </a:clrTo>
              </a:clrChange>
            </a:blip>
            <a:stretch>
              <a:fillRect/>
            </a:stretch>
          </p:blipFill>
          <p:spPr>
            <a:xfrm>
              <a:off x="4591062" y="2556708"/>
              <a:ext cx="3009876" cy="3564657"/>
            </a:xfrm>
            <a:prstGeom prst="rect">
              <a:avLst/>
            </a:prstGeom>
          </p:spPr>
        </p:pic>
        <p:graphicFrame>
          <p:nvGraphicFramePr>
            <p:cNvPr id="15" name="对象 14"/>
            <p:cNvGraphicFramePr>
              <a:graphicFrameLocks noChangeAspect="1"/>
            </p:cNvGraphicFramePr>
            <p:nvPr>
              <p:extLst>
                <p:ext uri="{D42A27DB-BD31-4B8C-83A1-F6EECF244321}">
                  <p14:modId xmlns:p14="http://schemas.microsoft.com/office/powerpoint/2010/main" val="3106059265"/>
                </p:ext>
              </p:extLst>
            </p:nvPr>
          </p:nvGraphicFramePr>
          <p:xfrm>
            <a:off x="9707880" y="1345537"/>
            <a:ext cx="673100" cy="533400"/>
          </p:xfrm>
          <a:graphic>
            <a:graphicData uri="http://schemas.openxmlformats.org/presentationml/2006/ole">
              <mc:AlternateContent xmlns:mc="http://schemas.openxmlformats.org/markup-compatibility/2006">
                <mc:Choice xmlns:v="urn:schemas-microsoft-com:vml" Requires="v">
                  <p:oleObj spid="_x0000_s19470" name="文档" r:id="rId4" imgW="271708" imgH="211567" progId="Word.Document.12">
                    <p:embed/>
                  </p:oleObj>
                </mc:Choice>
                <mc:Fallback>
                  <p:oleObj name="文档" r:id="rId4" imgW="271708" imgH="211567" progId="Word.Document.12">
                    <p:embed/>
                    <p:pic>
                      <p:nvPicPr>
                        <p:cNvPr id="0" name=""/>
                        <p:cNvPicPr/>
                        <p:nvPr/>
                      </p:nvPicPr>
                      <p:blipFill>
                        <a:blip r:embed="rId5"/>
                        <a:stretch>
                          <a:fillRect/>
                        </a:stretch>
                      </p:blipFill>
                      <p:spPr>
                        <a:xfrm>
                          <a:off x="9707880" y="1345537"/>
                          <a:ext cx="673100" cy="533400"/>
                        </a:xfrm>
                        <a:prstGeom prst="rect">
                          <a:avLst/>
                        </a:prstGeom>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4008" y="55006"/>
            <a:ext cx="11746992" cy="6827378"/>
            <a:chOff x="64008" y="55006"/>
            <a:chExt cx="11746992" cy="6827378"/>
          </a:xfrm>
        </p:grpSpPr>
        <p:sp>
          <p:nvSpPr>
            <p:cNvPr id="2" name="矩形 1"/>
            <p:cNvSpPr>
              <a:spLocks noChangeAspect="1"/>
            </p:cNvSpPr>
            <p:nvPr/>
          </p:nvSpPr>
          <p:spPr>
            <a:xfrm>
              <a:off x="381000" y="55006"/>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错解</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06096135"/>
                </p:ext>
              </p:extLst>
            </p:nvPr>
          </p:nvGraphicFramePr>
          <p:xfrm>
            <a:off x="64008" y="1233488"/>
            <a:ext cx="11430000" cy="5014657"/>
          </p:xfrm>
          <a:graphic>
            <a:graphicData uri="http://schemas.openxmlformats.org/presentationml/2006/ole">
              <mc:AlternateContent xmlns:mc="http://schemas.openxmlformats.org/markup-compatibility/2006">
                <mc:Choice xmlns:v="urn:schemas-microsoft-com:vml" Requires="v">
                  <p:oleObj spid="_x0000_s20508" name="文档" r:id="rId3" imgW="4520786" imgH="1983394" progId="Word.Document.12">
                    <p:embed/>
                  </p:oleObj>
                </mc:Choice>
                <mc:Fallback>
                  <p:oleObj name="文档" r:id="rId3" imgW="4520786" imgH="1983394" progId="Word.Document.12">
                    <p:embed/>
                    <p:pic>
                      <p:nvPicPr>
                        <p:cNvPr id="0" name=""/>
                        <p:cNvPicPr/>
                        <p:nvPr/>
                      </p:nvPicPr>
                      <p:blipFill>
                        <a:blip r:embed="rId4"/>
                        <a:stretch>
                          <a:fillRect/>
                        </a:stretch>
                      </p:blipFill>
                      <p:spPr>
                        <a:xfrm>
                          <a:off x="64008" y="1233488"/>
                          <a:ext cx="11430000" cy="501465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62385437"/>
                </p:ext>
              </p:extLst>
            </p:nvPr>
          </p:nvGraphicFramePr>
          <p:xfrm>
            <a:off x="64008" y="5879087"/>
            <a:ext cx="11430000" cy="1003297"/>
          </p:xfrm>
          <a:graphic>
            <a:graphicData uri="http://schemas.openxmlformats.org/presentationml/2006/ole">
              <mc:AlternateContent xmlns:mc="http://schemas.openxmlformats.org/markup-compatibility/2006">
                <mc:Choice xmlns:v="urn:schemas-microsoft-com:vml" Requires="v">
                  <p:oleObj spid="_x0000_s20509"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64008" y="5879087"/>
                          <a:ext cx="11430000" cy="1003297"/>
                        </a:xfrm>
                        <a:prstGeom prst="rect">
                          <a:avLst/>
                        </a:prstGeom>
                      </p:spPr>
                    </p:pic>
                  </p:oleObj>
                </mc:Fallback>
              </mc:AlternateContent>
            </a:graphicData>
          </a:graphic>
        </p:graphicFrame>
      </p:grpSp>
      <p:pic>
        <p:nvPicPr>
          <p:cNvPr id="6" name="NMX1TRAX82.eps" descr="id:2147514476;FounderCES"/>
          <p:cNvPicPr/>
          <p:nvPr/>
        </p:nvPicPr>
        <p:blipFill>
          <a:blip r:embed="rId7">
            <a:clrChange>
              <a:clrFrom>
                <a:srgbClr val="FFFFFF"/>
              </a:clrFrom>
              <a:clrTo>
                <a:srgbClr val="FFFFFF">
                  <a:alpha val="0"/>
                </a:srgbClr>
              </a:clrTo>
            </a:clrChange>
          </a:blip>
          <a:stretch>
            <a:fillRect/>
          </a:stretch>
        </p:blipFill>
        <p:spPr>
          <a:xfrm>
            <a:off x="9410620" y="2644487"/>
            <a:ext cx="2400380" cy="2779568"/>
          </a:xfrm>
          <a:prstGeom prst="rect">
            <a:avLst/>
          </a:prstGeom>
        </p:spPr>
      </p:pic>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64198"/>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出错的原因是什么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你如何改正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你如何防范</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716600679"/>
              </p:ext>
            </p:extLst>
          </p:nvPr>
        </p:nvGraphicFramePr>
        <p:xfrm>
          <a:off x="458424" y="1458243"/>
          <a:ext cx="11275153" cy="1784818"/>
        </p:xfrm>
        <a:graphic>
          <a:graphicData uri="http://schemas.openxmlformats.org/presentationml/2006/ole">
            <mc:AlternateContent xmlns:mc="http://schemas.openxmlformats.org/markup-compatibility/2006">
              <mc:Choice xmlns:v="urn:schemas-microsoft-com:vml" Requires="v">
                <p:oleObj spid="_x0000_s21539" name="文档" r:id="rId3" imgW="4510061" imgH="713927" progId="Word.Document.12">
                  <p:embed/>
                </p:oleObj>
              </mc:Choice>
              <mc:Fallback>
                <p:oleObj name="文档" r:id="rId3" imgW="4510061" imgH="713927" progId="Word.Document.12">
                  <p:embed/>
                  <p:pic>
                    <p:nvPicPr>
                      <p:cNvPr id="0" name=""/>
                      <p:cNvPicPr/>
                      <p:nvPr/>
                    </p:nvPicPr>
                    <p:blipFill>
                      <a:blip r:embed="rId4"/>
                      <a:stretch>
                        <a:fillRect/>
                      </a:stretch>
                    </p:blipFill>
                    <p:spPr>
                      <a:xfrm>
                        <a:off x="458424" y="1458243"/>
                        <a:ext cx="11275153" cy="1784818"/>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179917984"/>
              </p:ext>
            </p:extLst>
          </p:nvPr>
        </p:nvGraphicFramePr>
        <p:xfrm>
          <a:off x="60960" y="3334009"/>
          <a:ext cx="11430000" cy="1504488"/>
        </p:xfrm>
        <a:graphic>
          <a:graphicData uri="http://schemas.openxmlformats.org/presentationml/2006/ole">
            <mc:AlternateContent xmlns:mc="http://schemas.openxmlformats.org/markup-compatibility/2006">
              <mc:Choice xmlns:v="urn:schemas-microsoft-com:vml" Requires="v">
                <p:oleObj spid="_x0000_s21540" name="文档" r:id="rId5" imgW="4520786" imgH="595054" progId="Word.Document.12">
                  <p:embed/>
                </p:oleObj>
              </mc:Choice>
              <mc:Fallback>
                <p:oleObj name="文档" r:id="rId5" imgW="4520786" imgH="595054" progId="Word.Document.12">
                  <p:embed/>
                  <p:pic>
                    <p:nvPicPr>
                      <p:cNvPr id="0" name=""/>
                      <p:cNvPicPr/>
                      <p:nvPr/>
                    </p:nvPicPr>
                    <p:blipFill>
                      <a:blip r:embed="rId6"/>
                      <a:stretch>
                        <a:fillRect/>
                      </a:stretch>
                    </p:blipFill>
                    <p:spPr>
                      <a:xfrm>
                        <a:off x="60960" y="3334009"/>
                        <a:ext cx="11430000" cy="1504488"/>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191562010"/>
              </p:ext>
            </p:extLst>
          </p:nvPr>
        </p:nvGraphicFramePr>
        <p:xfrm>
          <a:off x="60960" y="4718992"/>
          <a:ext cx="11430000" cy="1003297"/>
        </p:xfrm>
        <a:graphic>
          <a:graphicData uri="http://schemas.openxmlformats.org/presentationml/2006/ole">
            <mc:AlternateContent xmlns:mc="http://schemas.openxmlformats.org/markup-compatibility/2006">
              <mc:Choice xmlns:v="urn:schemas-microsoft-com:vml" Requires="v">
                <p:oleObj spid="_x0000_s21541" name="文档" r:id="rId7" imgW="4520786" imgH="396823" progId="Word.Document.12">
                  <p:embed/>
                </p:oleObj>
              </mc:Choice>
              <mc:Fallback>
                <p:oleObj name="文档" r:id="rId7" imgW="4520786" imgH="396823" progId="Word.Document.12">
                  <p:embed/>
                  <p:pic>
                    <p:nvPicPr>
                      <p:cNvPr id="0" name=""/>
                      <p:cNvPicPr/>
                      <p:nvPr/>
                    </p:nvPicPr>
                    <p:blipFill>
                      <a:blip r:embed="rId8"/>
                      <a:stretch>
                        <a:fillRect/>
                      </a:stretch>
                    </p:blipFill>
                    <p:spPr>
                      <a:xfrm>
                        <a:off x="60960" y="4718992"/>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25200"/>
            <a:ext cx="11430000" cy="1772793"/>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防范措施</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平面的法向量要计算正确</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计算点到平面的距离时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选取的向量是该点与平面内的一点构成的向量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90041"/>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是以</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为直角的直角三角形</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SA=BC=</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SND</a:t>
            </a:r>
            <a:r>
              <a:rPr lang="zh-CN" altLang="zh-CN" sz="2800" dirty="0">
                <a:solidFill>
                  <a:srgbClr val="000000"/>
                </a:solidFill>
                <a:latin typeface="Times New Roman" panose="02020603050405020304" pitchFamily="18" charset="0"/>
                <a:cs typeface="Times New Roman" panose="02020603050405020304" pitchFamily="18" charset="0"/>
              </a:rPr>
              <a:t>的距离为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VMX1TRAX93.eps" descr="id:2147496347;FounderCES"/>
          <p:cNvPicPr>
            <a:picLocks noChangeAspect="1"/>
          </p:cNvPicPr>
          <p:nvPr/>
        </p:nvPicPr>
        <p:blipFill>
          <a:blip r:embed="rId2">
            <a:clrChange>
              <a:clrFrom>
                <a:srgbClr val="FFFFFF"/>
              </a:clrFrom>
              <a:clrTo>
                <a:srgbClr val="FFFFFF">
                  <a:alpha val="0"/>
                </a:srgbClr>
              </a:clrTo>
            </a:clrChange>
          </a:blip>
          <a:stretch>
            <a:fillRect/>
          </a:stretch>
        </p:blipFill>
        <p:spPr>
          <a:xfrm>
            <a:off x="4092928" y="2337992"/>
            <a:ext cx="4006145" cy="2833914"/>
          </a:xfrm>
          <a:prstGeom prst="rect">
            <a:avLst/>
          </a:prstGeom>
        </p:spPr>
      </p:pic>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072508624"/>
              </p:ext>
            </p:extLst>
          </p:nvPr>
        </p:nvGraphicFramePr>
        <p:xfrm>
          <a:off x="0" y="5574494"/>
          <a:ext cx="11430000" cy="1003297"/>
        </p:xfrm>
        <a:graphic>
          <a:graphicData uri="http://schemas.openxmlformats.org/presentationml/2006/ole">
            <mc:AlternateContent xmlns:mc="http://schemas.openxmlformats.org/markup-compatibility/2006">
              <mc:Choice xmlns:v="urn:schemas-microsoft-com:vml" Requires="v">
                <p:oleObj spid="_x0000_s22554"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0" y="5574494"/>
                        <a:ext cx="11430000" cy="1003297"/>
                      </a:xfrm>
                      <a:prstGeom prst="rect">
                        <a:avLst/>
                      </a:prstGeom>
                    </p:spPr>
                  </p:pic>
                </p:oleObj>
              </mc:Fallback>
            </mc:AlternateContent>
          </a:graphicData>
        </a:graphic>
      </p:graphicFrame>
      <p:grpSp>
        <p:nvGrpSpPr>
          <p:cNvPr id="6" name="组合 5"/>
          <p:cNvGrpSpPr/>
          <p:nvPr/>
        </p:nvGrpSpPr>
        <p:grpSpPr>
          <a:xfrm>
            <a:off x="60960" y="56642"/>
            <a:ext cx="11750040" cy="5702406"/>
            <a:chOff x="60960" y="56642"/>
            <a:chExt cx="11750040" cy="5702406"/>
          </a:xfrm>
        </p:grpSpPr>
        <p:sp>
          <p:nvSpPr>
            <p:cNvPr id="2" name="矩形 1"/>
            <p:cNvSpPr>
              <a:spLocks noChangeAspect="1"/>
            </p:cNvSpPr>
            <p:nvPr/>
          </p:nvSpPr>
          <p:spPr>
            <a:xfrm>
              <a:off x="381000" y="56642"/>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Axyz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(0,2,0),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dirty="0">
                  <a:solidFill>
                    <a:srgbClr val="000000"/>
                  </a:solidFill>
                  <a:latin typeface="Times New Roman" panose="02020603050405020304" pitchFamily="18" charset="0"/>
                  <a:cs typeface="Times New Roman" panose="02020603050405020304" pitchFamily="18" charset="0"/>
                </a:rPr>
                <a:t>(0,0,2),</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1,4,0),</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86772259"/>
                </p:ext>
              </p:extLst>
            </p:nvPr>
          </p:nvGraphicFramePr>
          <p:xfrm>
            <a:off x="60960" y="1245585"/>
            <a:ext cx="11430000" cy="4513463"/>
          </p:xfrm>
          <a:graphic>
            <a:graphicData uri="http://schemas.openxmlformats.org/presentationml/2006/ole">
              <mc:AlternateContent xmlns:mc="http://schemas.openxmlformats.org/markup-compatibility/2006">
                <mc:Choice xmlns:v="urn:schemas-microsoft-com:vml" Requires="v">
                  <p:oleObj spid="_x0000_s22555" name="文档" r:id="rId5" imgW="4520786" imgH="1785162" progId="Word.Document.12">
                    <p:embed/>
                  </p:oleObj>
                </mc:Choice>
                <mc:Fallback>
                  <p:oleObj name="文档" r:id="rId5" imgW="4520786" imgH="1785162" progId="Word.Document.12">
                    <p:embed/>
                    <p:pic>
                      <p:nvPicPr>
                        <p:cNvPr id="0" name=""/>
                        <p:cNvPicPr/>
                        <p:nvPr/>
                      </p:nvPicPr>
                      <p:blipFill>
                        <a:blip r:embed="rId6"/>
                        <a:stretch>
                          <a:fillRect/>
                        </a:stretch>
                      </p:blipFill>
                      <p:spPr>
                        <a:xfrm>
                          <a:off x="60960" y="1245585"/>
                          <a:ext cx="11430000" cy="4513463"/>
                        </a:xfrm>
                        <a:prstGeom prst="rect">
                          <a:avLst/>
                        </a:prstGeom>
                      </p:spPr>
                    </p:pic>
                  </p:oleObj>
                </mc:Fallback>
              </mc:AlternateContent>
            </a:graphicData>
          </a:graphic>
        </p:graphicFrame>
        <p:pic>
          <p:nvPicPr>
            <p:cNvPr id="5" name="VMX1TRAX94.eps" descr="id:2147496354;FounderCES"/>
            <p:cNvPicPr/>
            <p:nvPr/>
          </p:nvPicPr>
          <p:blipFill>
            <a:blip r:embed="rId7">
              <a:clrChange>
                <a:clrFrom>
                  <a:srgbClr val="FFFFFF"/>
                </a:clrFrom>
                <a:clrTo>
                  <a:srgbClr val="FFFFFF">
                    <a:alpha val="0"/>
                  </a:srgbClr>
                </a:clrTo>
              </a:clrChange>
            </a:blip>
            <a:stretch>
              <a:fillRect/>
            </a:stretch>
          </p:blipFill>
          <p:spPr>
            <a:xfrm>
              <a:off x="7383653" y="1274034"/>
              <a:ext cx="4260244" cy="2840927"/>
            </a:xfrm>
            <a:prstGeom prst="rect">
              <a:avLst/>
            </a:prstGeom>
          </p:spPr>
        </p:pic>
      </p:grpSp>
    </p:spTree>
    <p:extLst>
      <p:ext uri="{BB962C8B-B14F-4D97-AF65-F5344CB8AC3E}">
        <p14:creationId xmlns:p14="http://schemas.microsoft.com/office/powerpoint/2010/main" val="720165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的棱长为</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69348958"/>
              </p:ext>
            </p:extLst>
          </p:nvPr>
        </p:nvGraphicFramePr>
        <p:xfrm>
          <a:off x="481140" y="2427834"/>
          <a:ext cx="11430000" cy="1504488"/>
        </p:xfrm>
        <a:graphic>
          <a:graphicData uri="http://schemas.openxmlformats.org/presentationml/2006/ole">
            <mc:AlternateContent xmlns:mc="http://schemas.openxmlformats.org/markup-compatibility/2006">
              <mc:Choice xmlns:v="urn:schemas-microsoft-com:vml" Requires="v">
                <p:oleObj spid="_x0000_s23564"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481140" y="2427834"/>
                        <a:ext cx="11430000" cy="1504488"/>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5086299"/>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6" name="组合 5"/>
          <p:cNvGrpSpPr/>
          <p:nvPr/>
        </p:nvGrpSpPr>
        <p:grpSpPr>
          <a:xfrm>
            <a:off x="381000" y="435954"/>
            <a:ext cx="11517948" cy="4674729"/>
            <a:chOff x="381000" y="706120"/>
            <a:chExt cx="11517948" cy="4674729"/>
          </a:xfrm>
        </p:grpSpPr>
        <p:sp>
          <p:nvSpPr>
            <p:cNvPr id="2" name="矩形 1"/>
            <p:cNvSpPr>
              <a:spLocks noChangeAspect="1"/>
            </p:cNvSpPr>
            <p:nvPr/>
          </p:nvSpPr>
          <p:spPr>
            <a:xfrm>
              <a:off x="381000" y="706120"/>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Dxyz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E.</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(4,0,4),</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(4,4,0),</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(0,4,2),</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80810378"/>
                </p:ext>
              </p:extLst>
            </p:nvPr>
          </p:nvGraphicFramePr>
          <p:xfrm>
            <a:off x="468948" y="1870679"/>
            <a:ext cx="11430000" cy="3510170"/>
          </p:xfrm>
          <a:graphic>
            <a:graphicData uri="http://schemas.openxmlformats.org/presentationml/2006/ole">
              <mc:AlternateContent xmlns:mc="http://schemas.openxmlformats.org/markup-compatibility/2006">
                <mc:Choice xmlns:v="urn:schemas-microsoft-com:vml" Requires="v">
                  <p:oleObj spid="_x0000_s24589" name="文档" r:id="rId3" imgW="4520786" imgH="1388340" progId="Word.Document.12">
                    <p:embed/>
                  </p:oleObj>
                </mc:Choice>
                <mc:Fallback>
                  <p:oleObj name="文档" r:id="rId3" imgW="4520786" imgH="1388340" progId="Word.Document.12">
                    <p:embed/>
                    <p:pic>
                      <p:nvPicPr>
                        <p:cNvPr id="0" name=""/>
                        <p:cNvPicPr/>
                        <p:nvPr/>
                      </p:nvPicPr>
                      <p:blipFill>
                        <a:blip r:embed="rId4"/>
                        <a:stretch>
                          <a:fillRect/>
                        </a:stretch>
                      </p:blipFill>
                      <p:spPr>
                        <a:xfrm>
                          <a:off x="468948" y="1870679"/>
                          <a:ext cx="11430000" cy="3510170"/>
                        </a:xfrm>
                        <a:prstGeom prst="rect">
                          <a:avLst/>
                        </a:prstGeom>
                      </p:spPr>
                    </p:pic>
                  </p:oleObj>
                </mc:Fallback>
              </mc:AlternateContent>
            </a:graphicData>
          </a:graphic>
        </p:graphicFrame>
        <p:pic>
          <p:nvPicPr>
            <p:cNvPr id="5" name="VMX1TRAX95.eps" descr="id:2147496368;FounderCES"/>
            <p:cNvPicPr/>
            <p:nvPr/>
          </p:nvPicPr>
          <p:blipFill>
            <a:blip r:embed="rId5">
              <a:clrChange>
                <a:clrFrom>
                  <a:srgbClr val="FFFFFF"/>
                </a:clrFrom>
                <a:clrTo>
                  <a:srgbClr val="FFFFFF">
                    <a:alpha val="0"/>
                  </a:srgbClr>
                </a:clrTo>
              </a:clrChange>
            </a:blip>
            <a:stretch>
              <a:fillRect/>
            </a:stretch>
          </p:blipFill>
          <p:spPr>
            <a:xfrm>
              <a:off x="8093011" y="1663415"/>
              <a:ext cx="3166289" cy="3051777"/>
            </a:xfrm>
            <a:prstGeom prst="rect">
              <a:avLst/>
            </a:prstGeom>
          </p:spPr>
        </p:pic>
      </p:gr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455940"/>
            <a:ext cx="11430000" cy="5922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的棱长为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cs typeface="Times New Roman" panose="02020603050405020304" pitchFamily="18" charset="0"/>
              </a:rPr>
              <a:t>的距离是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52317887"/>
              </p:ext>
            </p:extLst>
          </p:nvPr>
        </p:nvGraphicFramePr>
        <p:xfrm>
          <a:off x="493332" y="2160938"/>
          <a:ext cx="11430000" cy="2005680"/>
        </p:xfrm>
        <a:graphic>
          <a:graphicData uri="http://schemas.openxmlformats.org/presentationml/2006/ole">
            <mc:AlternateContent xmlns:mc="http://schemas.openxmlformats.org/markup-compatibility/2006">
              <mc:Choice xmlns:v="urn:schemas-microsoft-com:vml" Requires="v">
                <p:oleObj spid="_x0000_s25612"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93332" y="2160938"/>
                        <a:ext cx="11430000" cy="2005680"/>
                      </a:xfrm>
                      <a:prstGeom prst="rect">
                        <a:avLst/>
                      </a:prstGeom>
                    </p:spPr>
                  </p:pic>
                </p:oleObj>
              </mc:Fallback>
            </mc:AlternateContent>
          </a:graphicData>
        </a:graphic>
      </p:graphicFrame>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4786720"/>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6" name="组合 5"/>
          <p:cNvGrpSpPr/>
          <p:nvPr/>
        </p:nvGrpSpPr>
        <p:grpSpPr>
          <a:xfrm>
            <a:off x="381000" y="674414"/>
            <a:ext cx="11566716" cy="4161074"/>
            <a:chOff x="381000" y="923798"/>
            <a:chExt cx="11566716" cy="4161074"/>
          </a:xfrm>
        </p:grpSpPr>
        <p:sp>
          <p:nvSpPr>
            <p:cNvPr id="2" name="矩形 1"/>
            <p:cNvSpPr>
              <a:spLocks noChangeAspect="1"/>
            </p:cNvSpPr>
            <p:nvPr/>
          </p:nvSpPr>
          <p:spPr>
            <a:xfrm>
              <a:off x="381000" y="923798"/>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73954634"/>
                </p:ext>
              </p:extLst>
            </p:nvPr>
          </p:nvGraphicFramePr>
          <p:xfrm>
            <a:off x="493332" y="2075896"/>
            <a:ext cx="11430000" cy="3008976"/>
          </p:xfrm>
          <a:graphic>
            <a:graphicData uri="http://schemas.openxmlformats.org/presentationml/2006/ole">
              <mc:AlternateContent xmlns:mc="http://schemas.openxmlformats.org/markup-compatibility/2006">
                <mc:Choice xmlns:v="urn:schemas-microsoft-com:vml" Requires="v">
                  <p:oleObj spid="_x0000_s26636"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493332" y="2075896"/>
                          <a:ext cx="11430000" cy="3008976"/>
                        </a:xfrm>
                        <a:prstGeom prst="rect">
                          <a:avLst/>
                        </a:prstGeom>
                      </p:spPr>
                    </p:pic>
                  </p:oleObj>
                </mc:Fallback>
              </mc:AlternateContent>
            </a:graphicData>
          </a:graphic>
        </p:graphicFrame>
        <p:pic>
          <p:nvPicPr>
            <p:cNvPr id="5" name="VMX1TRAX96.eps" descr="id:2147496375;FounderCES"/>
            <p:cNvPicPr/>
            <p:nvPr/>
          </p:nvPicPr>
          <p:blipFill>
            <a:blip r:embed="rId5">
              <a:clrChange>
                <a:clrFrom>
                  <a:srgbClr val="FFFFFF"/>
                </a:clrFrom>
                <a:clrTo>
                  <a:srgbClr val="FFFFFF">
                    <a:alpha val="0"/>
                  </a:srgbClr>
                </a:clrTo>
              </a:clrChange>
            </a:blip>
            <a:stretch>
              <a:fillRect/>
            </a:stretch>
          </p:blipFill>
          <p:spPr>
            <a:xfrm>
              <a:off x="9158246" y="2075896"/>
              <a:ext cx="2789470" cy="2753310"/>
            </a:xfrm>
            <a:prstGeom prst="rect">
              <a:avLst/>
            </a:prstGeom>
          </p:spPr>
        </p:pic>
      </p:grpSp>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81000" y="348679"/>
            <a:ext cx="11430000" cy="2332946"/>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若直角三角形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的两条直角边</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PC</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PC</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的距离是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 </a:t>
            </a:r>
            <a:endParaRPr lang="en-US" altLang="zh-CN" sz="2800" i="1" dirty="0" smtClean="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AP</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为坐标原点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826951981"/>
              </p:ext>
            </p:extLst>
          </p:nvPr>
        </p:nvGraphicFramePr>
        <p:xfrm>
          <a:off x="10474077" y="338288"/>
          <a:ext cx="482810" cy="654680"/>
        </p:xfrm>
        <a:graphic>
          <a:graphicData uri="http://schemas.openxmlformats.org/presentationml/2006/ole">
            <mc:AlternateContent xmlns:mc="http://schemas.openxmlformats.org/markup-compatibility/2006">
              <mc:Choice xmlns:v="urn:schemas-microsoft-com:vml" Requires="v">
                <p:oleObj spid="_x0000_s27670" name="文档" r:id="rId3" imgW="237509" imgH="314457" progId="Word.Document.12">
                  <p:embed/>
                </p:oleObj>
              </mc:Choice>
              <mc:Fallback>
                <p:oleObj name="文档" r:id="rId3" imgW="237509" imgH="314457" progId="Word.Document.12">
                  <p:embed/>
                  <p:pic>
                    <p:nvPicPr>
                      <p:cNvPr id="0" name=""/>
                      <p:cNvPicPr/>
                      <p:nvPr/>
                    </p:nvPicPr>
                    <p:blipFill>
                      <a:blip r:embed="rId4"/>
                      <a:stretch>
                        <a:fillRect/>
                      </a:stretch>
                    </p:blipFill>
                    <p:spPr>
                      <a:xfrm>
                        <a:off x="10474077" y="338288"/>
                        <a:ext cx="482810" cy="65468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276382764"/>
              </p:ext>
            </p:extLst>
          </p:nvPr>
        </p:nvGraphicFramePr>
        <p:xfrm>
          <a:off x="468815" y="2652525"/>
          <a:ext cx="11275153" cy="2497685"/>
        </p:xfrm>
        <a:graphic>
          <a:graphicData uri="http://schemas.openxmlformats.org/presentationml/2006/ole">
            <mc:AlternateContent xmlns:mc="http://schemas.openxmlformats.org/markup-compatibility/2006">
              <mc:Choice xmlns:v="urn:schemas-microsoft-com:vml" Requires="v">
                <p:oleObj spid="_x0000_s27671" name="文档" r:id="rId5" imgW="4510061" imgH="999074" progId="Word.Document.12">
                  <p:embed/>
                </p:oleObj>
              </mc:Choice>
              <mc:Fallback>
                <p:oleObj name="文档" r:id="rId5" imgW="4510061" imgH="999074" progId="Word.Document.12">
                  <p:embed/>
                  <p:pic>
                    <p:nvPicPr>
                      <p:cNvPr id="0" name=""/>
                      <p:cNvPicPr/>
                      <p:nvPr/>
                    </p:nvPicPr>
                    <p:blipFill>
                      <a:blip r:embed="rId6"/>
                      <a:stretch>
                        <a:fillRect/>
                      </a:stretch>
                    </p:blipFill>
                    <p:spPr>
                      <a:xfrm>
                        <a:off x="468815" y="2652525"/>
                        <a:ext cx="11275153" cy="2497685"/>
                      </a:xfrm>
                      <a:prstGeom prst="rect">
                        <a:avLst/>
                      </a:prstGeom>
                    </p:spPr>
                  </p:pic>
                </p:oleObj>
              </mc:Fallback>
            </mc:AlternateContent>
          </a:graphicData>
        </a:graphic>
      </p:graphicFrame>
      <p:sp>
        <p:nvSpPr>
          <p:cNvPr id="9" name="矩形 8"/>
          <p:cNvSpPr>
            <a:spLocks noChangeAspect="1"/>
          </p:cNvSpPr>
          <p:nvPr/>
        </p:nvSpPr>
        <p:spPr>
          <a:xfrm>
            <a:off x="381000" y="5052651"/>
            <a:ext cx="1271502" cy="652486"/>
          </a:xfrm>
          <a:prstGeom prst="rect">
            <a:avLst/>
          </a:prstGeom>
        </p:spPr>
        <p:txBody>
          <a:bodyPr wrap="none">
            <a:spAutoFit/>
          </a:bodyPr>
          <a:lstStyle/>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3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10" name="NMX1TRAX249.eps" descr="id:2147514525;FounderCES"/>
          <p:cNvPicPr/>
          <p:nvPr/>
        </p:nvPicPr>
        <p:blipFill>
          <a:blip r:embed="rId7">
            <a:clrChange>
              <a:clrFrom>
                <a:srgbClr val="FFFFFF"/>
              </a:clrFrom>
              <a:clrTo>
                <a:srgbClr val="FFFFFF">
                  <a:alpha val="0"/>
                </a:srgbClr>
              </a:clrTo>
            </a:clrChange>
          </a:blip>
          <a:stretch>
            <a:fillRect/>
          </a:stretch>
        </p:blipFill>
        <p:spPr>
          <a:xfrm>
            <a:off x="9491441" y="2662916"/>
            <a:ext cx="2309168" cy="1883110"/>
          </a:xfrm>
          <a:prstGeom prst="rect">
            <a:avLst/>
          </a:prstGeom>
        </p:spPr>
      </p:pic>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down)">
                                      <p:cBhvr>
                                        <p:cTn id="7" dur="500"/>
                                        <p:tgtEl>
                                          <p:spTgt spid="5">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inVertical)">
                                      <p:cBhvr>
                                        <p:cTn id="10" dur="500"/>
                                        <p:tgtEl>
                                          <p:spTgt spid="8"/>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barn(inVertical)">
                                      <p:cBhvr>
                                        <p:cTn id="18"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88491"/>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的法向量为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(1,0,1),</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内一点</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的坐标为</a:t>
            </a:r>
            <a:r>
              <a:rPr lang="en-US" altLang="zh-CN" sz="2800" dirty="0">
                <a:solidFill>
                  <a:srgbClr val="000000"/>
                </a:solidFill>
                <a:latin typeface="Times New Roman" panose="02020603050405020304" pitchFamily="18" charset="0"/>
                <a:cs typeface="Times New Roman" panose="02020603050405020304" pitchFamily="18" charset="0"/>
              </a:rPr>
              <a:t>(0,0,1),</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上点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的坐标为</a:t>
            </a:r>
            <a:r>
              <a:rPr lang="en-US" altLang="zh-CN" sz="2800" dirty="0">
                <a:solidFill>
                  <a:srgbClr val="000000"/>
                </a:solidFill>
                <a:latin typeface="Times New Roman" panose="02020603050405020304" pitchFamily="18" charset="0"/>
                <a:cs typeface="Times New Roman" panose="02020603050405020304" pitchFamily="18" charset="0"/>
              </a:rPr>
              <a:t>(1,2,1),</a:t>
            </a:r>
            <a:r>
              <a:rPr lang="zh-CN" altLang="zh-CN" sz="2800" dirty="0">
                <a:solidFill>
                  <a:srgbClr val="000000"/>
                </a:solidFill>
                <a:latin typeface="Times New Roman" panose="02020603050405020304" pitchFamily="18" charset="0"/>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的距离为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57360800"/>
              </p:ext>
            </p:extLst>
          </p:nvPr>
        </p:nvGraphicFramePr>
        <p:xfrm>
          <a:off x="478536" y="1853086"/>
          <a:ext cx="11430000" cy="2507784"/>
        </p:xfrm>
        <a:graphic>
          <a:graphicData uri="http://schemas.openxmlformats.org/presentationml/2006/ole">
            <mc:AlternateContent xmlns:mc="http://schemas.openxmlformats.org/markup-compatibility/2006">
              <mc:Choice xmlns:v="urn:schemas-microsoft-com:vml" Requires="v">
                <p:oleObj spid="_x0000_s28694"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478536" y="1853086"/>
                        <a:ext cx="11430000" cy="250778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51205301"/>
              </p:ext>
            </p:extLst>
          </p:nvPr>
        </p:nvGraphicFramePr>
        <p:xfrm>
          <a:off x="478536" y="4252943"/>
          <a:ext cx="11430000" cy="1003297"/>
        </p:xfrm>
        <a:graphic>
          <a:graphicData uri="http://schemas.openxmlformats.org/presentationml/2006/ole">
            <mc:AlternateContent xmlns:mc="http://schemas.openxmlformats.org/markup-compatibility/2006">
              <mc:Choice xmlns:v="urn:schemas-microsoft-com:vml" Requires="v">
                <p:oleObj spid="_x0000_s28695"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78536" y="4252943"/>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2888750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025702"/>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已知正方形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的边长为</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CG</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CG=</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到平面</a:t>
            </a:r>
            <a:r>
              <a:rPr lang="en-US" altLang="zh-CN" sz="2800" i="1" dirty="0">
                <a:solidFill>
                  <a:srgbClr val="000000"/>
                </a:solidFill>
                <a:latin typeface="Times New Roman" panose="02020603050405020304" pitchFamily="18" charset="0"/>
                <a:cs typeface="Times New Roman" panose="02020603050405020304" pitchFamily="18" charset="0"/>
              </a:rPr>
              <a:t>GEF</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1901708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81000" y="203041"/>
            <a:ext cx="11542332" cy="6130448"/>
            <a:chOff x="381000" y="203041"/>
            <a:chExt cx="11542332" cy="6130448"/>
          </a:xfrm>
        </p:grpSpPr>
        <p:sp>
          <p:nvSpPr>
            <p:cNvPr id="2" name="矩形 1"/>
            <p:cNvSpPr>
              <a:spLocks noChangeAspect="1"/>
            </p:cNvSpPr>
            <p:nvPr/>
          </p:nvSpPr>
          <p:spPr>
            <a:xfrm>
              <a:off x="381000" y="203041"/>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Cxyz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(0,4,0),</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(2,4,0),</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(4,2,0),</a:t>
              </a:r>
              <a:r>
                <a:rPr lang="en-US" altLang="zh-CN" sz="2800" i="1" dirty="0">
                  <a:solidFill>
                    <a:srgbClr val="000000"/>
                  </a:solidFill>
                  <a:latin typeface="Times New Roman" panose="02020603050405020304" pitchFamily="18" charset="0"/>
                  <a:cs typeface="Times New Roman" panose="02020603050405020304" pitchFamily="18" charset="0"/>
                </a:rPr>
                <a:t>G</a:t>
              </a:r>
              <a:r>
                <a:rPr lang="en-US" altLang="zh-CN" sz="2800" dirty="0">
                  <a:solidFill>
                    <a:srgbClr val="000000"/>
                  </a:solidFill>
                  <a:latin typeface="Times New Roman" panose="02020603050405020304" pitchFamily="18" charset="0"/>
                  <a:cs typeface="Times New Roman" panose="02020603050405020304" pitchFamily="18" charset="0"/>
                </a:rPr>
                <a:t>(0,0,2),</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97947325"/>
                </p:ext>
              </p:extLst>
            </p:nvPr>
          </p:nvGraphicFramePr>
          <p:xfrm>
            <a:off x="493332" y="1318832"/>
            <a:ext cx="11430000" cy="5014657"/>
          </p:xfrm>
          <a:graphic>
            <a:graphicData uri="http://schemas.openxmlformats.org/presentationml/2006/ole">
              <mc:AlternateContent xmlns:mc="http://schemas.openxmlformats.org/markup-compatibility/2006">
                <mc:Choice xmlns:v="urn:schemas-microsoft-com:vml" Requires="v">
                  <p:oleObj spid="_x0000_s29708" name="文档" r:id="rId3" imgW="4520786" imgH="1983394" progId="Word.Document.12">
                    <p:embed/>
                  </p:oleObj>
                </mc:Choice>
                <mc:Fallback>
                  <p:oleObj name="文档" r:id="rId3" imgW="4520786" imgH="1983394" progId="Word.Document.12">
                    <p:embed/>
                    <p:pic>
                      <p:nvPicPr>
                        <p:cNvPr id="0" name=""/>
                        <p:cNvPicPr/>
                        <p:nvPr/>
                      </p:nvPicPr>
                      <p:blipFill>
                        <a:blip r:embed="rId4"/>
                        <a:stretch>
                          <a:fillRect/>
                        </a:stretch>
                      </p:blipFill>
                      <p:spPr>
                        <a:xfrm>
                          <a:off x="493332" y="1318832"/>
                          <a:ext cx="11430000" cy="5014657"/>
                        </a:xfrm>
                        <a:prstGeom prst="rect">
                          <a:avLst/>
                        </a:prstGeom>
                      </p:spPr>
                    </p:pic>
                  </p:oleObj>
                </mc:Fallback>
              </mc:AlternateContent>
            </a:graphicData>
          </a:graphic>
        </p:graphicFrame>
        <p:pic>
          <p:nvPicPr>
            <p:cNvPr id="4" name="VMX1TRAX97.eps" descr="id:2147496382;FounderCES"/>
            <p:cNvPicPr/>
            <p:nvPr/>
          </p:nvPicPr>
          <p:blipFill>
            <a:blip r:embed="rId5">
              <a:clrChange>
                <a:clrFrom>
                  <a:srgbClr val="FFFFFF"/>
                </a:clrFrom>
                <a:clrTo>
                  <a:srgbClr val="FFFFFF">
                    <a:alpha val="0"/>
                  </a:srgbClr>
                </a:clrTo>
              </a:clrChange>
            </a:blip>
            <a:stretch>
              <a:fillRect/>
            </a:stretch>
          </p:blipFill>
          <p:spPr>
            <a:xfrm>
              <a:off x="7679499" y="1753425"/>
              <a:ext cx="3765763" cy="3336480"/>
            </a:xfrm>
            <a:prstGeom prst="rect">
              <a:avLst/>
            </a:prstGeom>
          </p:spPr>
        </p:pic>
      </p:grpSp>
    </p:spTree>
    <p:extLst>
      <p:ext uri="{BB962C8B-B14F-4D97-AF65-F5344CB8AC3E}">
        <p14:creationId xmlns:p14="http://schemas.microsoft.com/office/powerpoint/2010/main" val="32744474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376</TotalTime>
  <Words>1556</Words>
  <Application>Microsoft Office PowerPoint</Application>
  <PresentationFormat>宽屏</PresentationFormat>
  <Paragraphs>109</Paragraphs>
  <Slides>44</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2</vt:i4>
      </vt:variant>
      <vt:variant>
        <vt:lpstr>幻灯片标题</vt:lpstr>
      </vt:variant>
      <vt:variant>
        <vt:i4>44</vt:i4>
      </vt:variant>
    </vt:vector>
  </HeadingPairs>
  <TitlesOfParts>
    <vt:vector size="66"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Microsoft Word 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33</cp:revision>
  <dcterms:created xsi:type="dcterms:W3CDTF">2021-08-30T08:30:26Z</dcterms:created>
  <dcterms:modified xsi:type="dcterms:W3CDTF">2024-07-17T01:31:50Z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