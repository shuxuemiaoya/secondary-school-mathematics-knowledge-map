
<file path=[Content_Types].xml><?xml version="1.0" encoding="utf-8"?>
<Types xmlns="http://schemas.openxmlformats.org/package/2006/content-types">
  <Default Extension="png" ContentType="image/png"/>
  <Default Extension="emf" ContentType="image/x-emf"/>
  <Default Extension="jpeg" ContentType="image/jpeg"/>
  <Default Extension="rels" ContentType="application/vnd.openxmlformats-package.relationships+xml"/>
  <Default Extension="xml" ContentType="application/xml"/>
  <Default Extension="docx" ContentType="application/vnd.openxmlformats-officedocument.wordprocessingml.document"/>
  <Default Extension="wdp" ContentType="image/vnd.ms-photo"/>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tags/tag1.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51"/>
  </p:notesMasterIdLst>
  <p:sldIdLst>
    <p:sldId id="677" r:id="rId2"/>
    <p:sldId id="488" r:id="rId3"/>
    <p:sldId id="494" r:id="rId4"/>
    <p:sldId id="392" r:id="rId5"/>
    <p:sldId id="686" r:id="rId6"/>
    <p:sldId id="687" r:id="rId7"/>
    <p:sldId id="688" r:id="rId8"/>
    <p:sldId id="689" r:id="rId9"/>
    <p:sldId id="690" r:id="rId10"/>
    <p:sldId id="691" r:id="rId11"/>
    <p:sldId id="692" r:id="rId12"/>
    <p:sldId id="693" r:id="rId13"/>
    <p:sldId id="694" r:id="rId14"/>
    <p:sldId id="695" r:id="rId15"/>
    <p:sldId id="696" r:id="rId16"/>
    <p:sldId id="407" r:id="rId17"/>
    <p:sldId id="394" r:id="rId18"/>
    <p:sldId id="699" r:id="rId19"/>
    <p:sldId id="700" r:id="rId20"/>
    <p:sldId id="701" r:id="rId21"/>
    <p:sldId id="402" r:id="rId22"/>
    <p:sldId id="712" r:id="rId23"/>
    <p:sldId id="713" r:id="rId24"/>
    <p:sldId id="714" r:id="rId25"/>
    <p:sldId id="715" r:id="rId26"/>
    <p:sldId id="719" r:id="rId27"/>
    <p:sldId id="498" r:id="rId28"/>
    <p:sldId id="730" r:id="rId29"/>
    <p:sldId id="733" r:id="rId30"/>
    <p:sldId id="743" r:id="rId31"/>
    <p:sldId id="744" r:id="rId32"/>
    <p:sldId id="740" r:id="rId33"/>
    <p:sldId id="739" r:id="rId34"/>
    <p:sldId id="745" r:id="rId35"/>
    <p:sldId id="746" r:id="rId36"/>
    <p:sldId id="741" r:id="rId37"/>
    <p:sldId id="738" r:id="rId38"/>
    <p:sldId id="751" r:id="rId39"/>
    <p:sldId id="752" r:id="rId40"/>
    <p:sldId id="753" r:id="rId41"/>
    <p:sldId id="398" r:id="rId42"/>
    <p:sldId id="395" r:id="rId43"/>
    <p:sldId id="756" r:id="rId44"/>
    <p:sldId id="757" r:id="rId45"/>
    <p:sldId id="758" r:id="rId46"/>
    <p:sldId id="759" r:id="rId47"/>
    <p:sldId id="760" r:id="rId48"/>
    <p:sldId id="761" r:id="rId49"/>
    <p:sldId id="490" r:id="rId50"/>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68">
          <p15:clr>
            <a:srgbClr val="A4A3A4"/>
          </p15:clr>
        </p15:guide>
        <p15:guide id="2" pos="211" userDrawn="1">
          <p15:clr>
            <a:srgbClr val="A4A3A4"/>
          </p15:clr>
        </p15:guide>
        <p15:guide id="3" orient="horz" pos="414" userDrawn="1">
          <p15:clr>
            <a:srgbClr val="A4A3A4"/>
          </p15:clr>
        </p15:guide>
        <p15:guide id="4" orient="horz" pos="777" userDrawn="1">
          <p15:clr>
            <a:srgbClr val="A4A3A4"/>
          </p15:clr>
        </p15:guide>
        <p15:guide id="5" orient="horz" pos="28" userDrawn="1">
          <p15:clr>
            <a:srgbClr val="A4A3A4"/>
          </p15:clr>
        </p15:guide>
        <p15:guide id="6" pos="257" userDrawn="1">
          <p15:clr>
            <a:srgbClr val="A4A3A4"/>
          </p15:clr>
        </p15:guide>
        <p15:guide id="7" orient="horz" pos="73"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DC5B3E"/>
    <a:srgbClr val="7088DB"/>
    <a:srgbClr val="CF5B1B"/>
    <a:srgbClr val="38425D"/>
    <a:srgbClr val="4472C4"/>
    <a:srgbClr val="DFF0F5"/>
    <a:srgbClr val="4040C8"/>
    <a:srgbClr val="159470"/>
    <a:srgbClr val="157392"/>
    <a:srgbClr val="15937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4" autoAdjust="0"/>
    <p:restoredTop sz="94660"/>
  </p:normalViewPr>
  <p:slideViewPr>
    <p:cSldViewPr snapToGrid="0">
      <p:cViewPr varScale="1">
        <p:scale>
          <a:sx n="92" d="100"/>
          <a:sy n="92" d="100"/>
        </p:scale>
        <p:origin x="498" y="84"/>
      </p:cViewPr>
      <p:guideLst>
        <p:guide orient="horz" pos="368"/>
        <p:guide pos="211"/>
        <p:guide orient="horz" pos="414"/>
        <p:guide orient="horz" pos="777"/>
        <p:guide orient="horz" pos="28"/>
        <p:guide pos="257"/>
        <p:guide orient="horz" pos="73"/>
      </p:guideLst>
    </p:cSldViewPr>
  </p:slideViewPr>
  <p:notesTextViewPr>
    <p:cViewPr>
      <p:scale>
        <a:sx n="1" d="1"/>
        <a:sy n="1" d="1"/>
      </p:scale>
      <p:origin x="0" y="0"/>
    </p:cViewPr>
  </p:notesTextViewPr>
  <p:sorterViewPr>
    <p:cViewPr>
      <p:scale>
        <a:sx n="100" d="100"/>
        <a:sy n="100" d="100"/>
      </p:scale>
      <p:origin x="0" y="-9918"/>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notesMaster" Target="notesMasters/notes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2.emf"/></Relationships>
</file>

<file path=ppt/drawings/_rels/vmlDrawing2.v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image" Target="../media/image2.emf"/></Relationships>
</file>

<file path=ppt/drawings/_rels/vmlDrawing3.v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image" Target="../media/image5.e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8.emf"/></Relationships>
</file>

<file path=ppt/drawings/_rels/vmlDrawing5.vml.rels><?xml version="1.0" encoding="UTF-8" standalone="yes"?>
<Relationships xmlns="http://schemas.openxmlformats.org/package/2006/relationships"><Relationship Id="rId2" Type="http://schemas.openxmlformats.org/officeDocument/2006/relationships/image" Target="../media/image10.emf"/><Relationship Id="rId1" Type="http://schemas.openxmlformats.org/officeDocument/2006/relationships/image" Target="../media/image9.e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11.e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13.e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16.emf"/></Relationships>
</file>

<file path=ppt/drawings/_rels/vmlDrawing9.vml.rels><?xml version="1.0" encoding="UTF-8" standalone="yes"?>
<Relationships xmlns="http://schemas.openxmlformats.org/package/2006/relationships"><Relationship Id="rId2" Type="http://schemas.openxmlformats.org/officeDocument/2006/relationships/image" Target="../media/image19.emf"/><Relationship Id="rId1" Type="http://schemas.openxmlformats.org/officeDocument/2006/relationships/image" Target="../media/image18.e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20.emf"/></Relationships>
</file>

<file path=ppt/drawings/_rels/vmlDrawing11.vml.rels><?xml version="1.0" encoding="UTF-8" standalone="yes"?>
<Relationships xmlns="http://schemas.openxmlformats.org/package/2006/relationships"><Relationship Id="rId1" Type="http://schemas.openxmlformats.org/officeDocument/2006/relationships/image" Target="../media/image21.emf"/></Relationships>
</file>

<file path=ppt/drawings/_rels/vmlDrawing12.vml.rels><?xml version="1.0" encoding="UTF-8" standalone="yes"?>
<Relationships xmlns="http://schemas.openxmlformats.org/package/2006/relationships"><Relationship Id="rId1" Type="http://schemas.openxmlformats.org/officeDocument/2006/relationships/image" Target="../media/image23.emf"/></Relationships>
</file>

<file path=ppt/drawings/_rels/vmlDrawing13.vml.rels><?xml version="1.0" encoding="UTF-8" standalone="yes"?>
<Relationships xmlns="http://schemas.openxmlformats.org/package/2006/relationships"><Relationship Id="rId2" Type="http://schemas.openxmlformats.org/officeDocument/2006/relationships/image" Target="../media/image25.emf"/><Relationship Id="rId1" Type="http://schemas.openxmlformats.org/officeDocument/2006/relationships/image" Target="../media/image24.emf"/></Relationships>
</file>

<file path=ppt/drawings/_rels/vmlDrawing14.vml.rels><?xml version="1.0" encoding="UTF-8" standalone="yes"?>
<Relationships xmlns="http://schemas.openxmlformats.org/package/2006/relationships"><Relationship Id="rId1" Type="http://schemas.openxmlformats.org/officeDocument/2006/relationships/image" Target="../media/image26.emf"/></Relationships>
</file>

<file path=ppt/drawings/_rels/vmlDrawing15.vml.rels><?xml version="1.0" encoding="UTF-8" standalone="yes"?>
<Relationships xmlns="http://schemas.openxmlformats.org/package/2006/relationships"><Relationship Id="rId1" Type="http://schemas.openxmlformats.org/officeDocument/2006/relationships/image" Target="../media/image28.emf"/></Relationships>
</file>

<file path=ppt/drawings/_rels/vmlDrawing16.vml.rels><?xml version="1.0" encoding="UTF-8" standalone="yes"?>
<Relationships xmlns="http://schemas.openxmlformats.org/package/2006/relationships"><Relationship Id="rId1" Type="http://schemas.openxmlformats.org/officeDocument/2006/relationships/image" Target="../media/image30.emf"/></Relationships>
</file>

<file path=ppt/drawings/_rels/vmlDrawing17.vml.rels><?xml version="1.0" encoding="UTF-8" standalone="yes"?>
<Relationships xmlns="http://schemas.openxmlformats.org/package/2006/relationships"><Relationship Id="rId1" Type="http://schemas.openxmlformats.org/officeDocument/2006/relationships/image" Target="../media/image31.emf"/></Relationships>
</file>

<file path=ppt/drawings/_rels/vmlDrawing18.vml.rels><?xml version="1.0" encoding="UTF-8" standalone="yes"?>
<Relationships xmlns="http://schemas.openxmlformats.org/package/2006/relationships"><Relationship Id="rId1" Type="http://schemas.openxmlformats.org/officeDocument/2006/relationships/image" Target="../media/image32.emf"/></Relationships>
</file>

<file path=ppt/drawings/_rels/vmlDrawing19.vml.rels><?xml version="1.0" encoding="UTF-8" standalone="yes"?>
<Relationships xmlns="http://schemas.openxmlformats.org/package/2006/relationships"><Relationship Id="rId2" Type="http://schemas.openxmlformats.org/officeDocument/2006/relationships/image" Target="../media/image39.emf"/><Relationship Id="rId1" Type="http://schemas.openxmlformats.org/officeDocument/2006/relationships/image" Target="../media/image38.emf"/></Relationships>
</file>

<file path=ppt/drawings/_rels/vmlDrawing20.vml.rels><?xml version="1.0" encoding="UTF-8" standalone="yes"?>
<Relationships xmlns="http://schemas.openxmlformats.org/package/2006/relationships"><Relationship Id="rId1" Type="http://schemas.openxmlformats.org/officeDocument/2006/relationships/image" Target="../media/image41.emf"/></Relationships>
</file>

<file path=ppt/drawings/_rels/vmlDrawing21.vml.rels><?xml version="1.0" encoding="UTF-8" standalone="yes"?>
<Relationships xmlns="http://schemas.openxmlformats.org/package/2006/relationships"><Relationship Id="rId1" Type="http://schemas.openxmlformats.org/officeDocument/2006/relationships/image" Target="../media/image42.emf"/></Relationships>
</file>

<file path=ppt/drawings/_rels/vmlDrawing22.vml.rels><?xml version="1.0" encoding="UTF-8" standalone="yes"?>
<Relationships xmlns="http://schemas.openxmlformats.org/package/2006/relationships"><Relationship Id="rId1" Type="http://schemas.openxmlformats.org/officeDocument/2006/relationships/image" Target="../media/image43.emf"/></Relationships>
</file>

<file path=ppt/drawings/_rels/vmlDrawing23.vml.rels><?xml version="1.0" encoding="UTF-8" standalone="yes"?>
<Relationships xmlns="http://schemas.openxmlformats.org/package/2006/relationships"><Relationship Id="rId1" Type="http://schemas.openxmlformats.org/officeDocument/2006/relationships/image" Target="../media/image46.emf"/></Relationships>
</file>

<file path=ppt/drawings/_rels/vmlDrawing24.vml.rels><?xml version="1.0" encoding="UTF-8" standalone="yes"?>
<Relationships xmlns="http://schemas.openxmlformats.org/package/2006/relationships"><Relationship Id="rId2" Type="http://schemas.openxmlformats.org/officeDocument/2006/relationships/image" Target="../media/image48.emf"/><Relationship Id="rId1" Type="http://schemas.openxmlformats.org/officeDocument/2006/relationships/image" Target="../media/image47.emf"/></Relationships>
</file>

<file path=ppt/drawings/_rels/vmlDrawing25.vml.rels><?xml version="1.0" encoding="UTF-8" standalone="yes"?>
<Relationships xmlns="http://schemas.openxmlformats.org/package/2006/relationships"><Relationship Id="rId1" Type="http://schemas.openxmlformats.org/officeDocument/2006/relationships/image" Target="../media/image49.emf"/></Relationships>
</file>

<file path=ppt/drawings/_rels/vmlDrawing26.vml.rels><?xml version="1.0" encoding="UTF-8" standalone="yes"?>
<Relationships xmlns="http://schemas.openxmlformats.org/package/2006/relationships"><Relationship Id="rId2" Type="http://schemas.openxmlformats.org/officeDocument/2006/relationships/image" Target="../media/image51.emf"/><Relationship Id="rId1" Type="http://schemas.openxmlformats.org/officeDocument/2006/relationships/image" Target="../media/image50.emf"/></Relationships>
</file>

<file path=ppt/drawings/_rels/vmlDrawing27.vml.rels><?xml version="1.0" encoding="UTF-8" standalone="yes"?>
<Relationships xmlns="http://schemas.openxmlformats.org/package/2006/relationships"><Relationship Id="rId2" Type="http://schemas.openxmlformats.org/officeDocument/2006/relationships/image" Target="../media/image53.emf"/><Relationship Id="rId1" Type="http://schemas.openxmlformats.org/officeDocument/2006/relationships/image" Target="../media/image52.emf"/></Relationships>
</file>

<file path=ppt/drawings/_rels/vmlDrawing28.vml.rels><?xml version="1.0" encoding="UTF-8" standalone="yes"?>
<Relationships xmlns="http://schemas.openxmlformats.org/package/2006/relationships"><Relationship Id="rId2" Type="http://schemas.openxmlformats.org/officeDocument/2006/relationships/image" Target="../media/image55.emf"/><Relationship Id="rId1" Type="http://schemas.openxmlformats.org/officeDocument/2006/relationships/image" Target="../media/image54.emf"/></Relationships>
</file>

<file path=ppt/drawings/_rels/vmlDrawing29.vml.rels><?xml version="1.0" encoding="UTF-8" standalone="yes"?>
<Relationships xmlns="http://schemas.openxmlformats.org/package/2006/relationships"><Relationship Id="rId1" Type="http://schemas.openxmlformats.org/officeDocument/2006/relationships/image" Target="../media/image57.emf"/></Relationships>
</file>

<file path=ppt/drawings/_rels/vmlDrawing30.vml.rels><?xml version="1.0" encoding="UTF-8" standalone="yes"?>
<Relationships xmlns="http://schemas.openxmlformats.org/package/2006/relationships"><Relationship Id="rId1" Type="http://schemas.openxmlformats.org/officeDocument/2006/relationships/image" Target="../media/image59.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44B3386-1164-4DE5-87D6-99DD641BC976}" type="datetimeFigureOut">
              <a:rPr lang="zh-CN" altLang="en-US" smtClean="0"/>
              <a:t>2025-08-09</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5BDB411-4171-48A7-B819-B87F89F6C7EE}" type="slidenum">
              <a:rPr lang="zh-CN" altLang="en-US" smtClean="0"/>
              <a:t>‹#›</a:t>
            </a:fld>
            <a:endParaRPr lang="zh-CN" altLang="en-US"/>
          </a:p>
        </p:txBody>
      </p:sp>
    </p:spTree>
    <p:extLst>
      <p:ext uri="{BB962C8B-B14F-4D97-AF65-F5344CB8AC3E}">
        <p14:creationId xmlns:p14="http://schemas.microsoft.com/office/powerpoint/2010/main" val="125448893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slide" Target="../slides/slide21.xml"/><Relationship Id="rId2" Type="http://schemas.openxmlformats.org/officeDocument/2006/relationships/slide" Target="../slides/slide17.xml"/><Relationship Id="rId1" Type="http://schemas.openxmlformats.org/officeDocument/2006/relationships/slideMaster" Target="../slideMasters/slideMaster1.xml"/><Relationship Id="rId6" Type="http://schemas.openxmlformats.org/officeDocument/2006/relationships/slide" Target="../slides/slide36.xml"/><Relationship Id="rId5" Type="http://schemas.openxmlformats.org/officeDocument/2006/relationships/slide" Target="../slides/slide32.xml"/><Relationship Id="rId4" Type="http://schemas.openxmlformats.org/officeDocument/2006/relationships/slide" Target="../slides/slide27.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6_标题幻灯片">
    <p:spTree>
      <p:nvGrpSpPr>
        <p:cNvPr id="1" name=""/>
        <p:cNvGrpSpPr/>
        <p:nvPr/>
      </p:nvGrpSpPr>
      <p:grpSpPr>
        <a:xfrm>
          <a:off x="0" y="0"/>
          <a:ext cx="0" cy="0"/>
          <a:chOff x="0" y="0"/>
          <a:chExt cx="0" cy="0"/>
        </a:xfrm>
      </p:grpSpPr>
      <p:sp>
        <p:nvSpPr>
          <p:cNvPr id="7" name="圆角矩形 6">
            <a:hlinkClick r:id="rId2" action="ppaction://hlinksldjump"/>
          </p:cNvPr>
          <p:cNvSpPr/>
          <p:nvPr userDrawn="1"/>
        </p:nvSpPr>
        <p:spPr>
          <a:xfrm>
            <a:off x="6736663" y="6512560"/>
            <a:ext cx="984481" cy="274320"/>
          </a:xfrm>
          <a:prstGeom prst="roundRect">
            <a:avLst>
              <a:gd name="adj" fmla="val 50000"/>
            </a:avLst>
          </a:prstGeom>
          <a:solidFill>
            <a:srgbClr val="7F7F7F"/>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smtClean="0">
                <a:ln>
                  <a:solidFill>
                    <a:schemeClr val="bg1"/>
                  </a:solidFill>
                </a:ln>
                <a:solidFill>
                  <a:schemeClr val="bg1"/>
                </a:solidFill>
              </a:rPr>
              <a:t>探究一</a:t>
            </a:r>
            <a:endParaRPr lang="zh-CN" altLang="en-US" sz="1400" dirty="0">
              <a:ln>
                <a:solidFill>
                  <a:schemeClr val="bg1"/>
                </a:solidFill>
              </a:ln>
              <a:solidFill>
                <a:schemeClr val="bg1"/>
              </a:solidFill>
            </a:endParaRPr>
          </a:p>
        </p:txBody>
      </p:sp>
      <p:sp>
        <p:nvSpPr>
          <p:cNvPr id="8" name="圆角矩形 7">
            <a:hlinkClick r:id="rId3" action="ppaction://hlinksldjump"/>
          </p:cNvPr>
          <p:cNvSpPr/>
          <p:nvPr userDrawn="1"/>
        </p:nvSpPr>
        <p:spPr>
          <a:xfrm>
            <a:off x="7803007" y="6512560"/>
            <a:ext cx="984481" cy="274320"/>
          </a:xfrm>
          <a:prstGeom prst="roundRect">
            <a:avLst>
              <a:gd name="adj" fmla="val 50000"/>
            </a:avLst>
          </a:prstGeom>
          <a:solidFill>
            <a:srgbClr val="7F7F7F"/>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zh-CN" altLang="en-US" sz="1400" dirty="0" smtClean="0">
                <a:ln>
                  <a:solidFill>
                    <a:schemeClr val="bg1"/>
                  </a:solidFill>
                </a:ln>
                <a:solidFill>
                  <a:schemeClr val="bg1"/>
                </a:solidFill>
              </a:rPr>
              <a:t>探究二</a:t>
            </a:r>
            <a:endParaRPr lang="zh-CN" altLang="en-US" sz="1400" dirty="0">
              <a:ln>
                <a:solidFill>
                  <a:schemeClr val="bg1"/>
                </a:solidFill>
              </a:ln>
              <a:solidFill>
                <a:schemeClr val="bg1"/>
              </a:solidFill>
            </a:endParaRPr>
          </a:p>
        </p:txBody>
      </p:sp>
      <p:sp>
        <p:nvSpPr>
          <p:cNvPr id="9" name="圆角矩形 8">
            <a:hlinkClick r:id="rId4" action="ppaction://hlinksldjump"/>
          </p:cNvPr>
          <p:cNvSpPr/>
          <p:nvPr userDrawn="1"/>
        </p:nvSpPr>
        <p:spPr>
          <a:xfrm>
            <a:off x="8869351" y="6512560"/>
            <a:ext cx="984481" cy="274320"/>
          </a:xfrm>
          <a:prstGeom prst="roundRect">
            <a:avLst>
              <a:gd name="adj" fmla="val 50000"/>
            </a:avLst>
          </a:prstGeom>
          <a:solidFill>
            <a:srgbClr val="7F7F7F"/>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zh-CN" altLang="en-US" sz="1400" dirty="0" smtClean="0">
                <a:ln>
                  <a:solidFill>
                    <a:schemeClr val="bg1"/>
                  </a:solidFill>
                </a:ln>
                <a:solidFill>
                  <a:schemeClr val="bg1"/>
                </a:solidFill>
              </a:rPr>
              <a:t>探究三</a:t>
            </a:r>
            <a:endParaRPr lang="zh-CN" altLang="en-US" sz="1400" dirty="0">
              <a:ln>
                <a:solidFill>
                  <a:schemeClr val="bg1"/>
                </a:solidFill>
              </a:ln>
              <a:solidFill>
                <a:schemeClr val="bg1"/>
              </a:solidFill>
            </a:endParaRPr>
          </a:p>
        </p:txBody>
      </p:sp>
      <p:sp>
        <p:nvSpPr>
          <p:cNvPr id="5" name="圆角矩形 4">
            <a:hlinkClick r:id="rId5" action="ppaction://hlinksldjump"/>
          </p:cNvPr>
          <p:cNvSpPr/>
          <p:nvPr userDrawn="1"/>
        </p:nvSpPr>
        <p:spPr>
          <a:xfrm>
            <a:off x="9935695" y="6512560"/>
            <a:ext cx="984481" cy="274320"/>
          </a:xfrm>
          <a:prstGeom prst="roundRect">
            <a:avLst>
              <a:gd name="adj" fmla="val 50000"/>
            </a:avLst>
          </a:prstGeom>
          <a:solidFill>
            <a:srgbClr val="7F7F7F"/>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zh-CN" altLang="en-US" sz="1400" dirty="0" smtClean="0">
                <a:ln>
                  <a:solidFill>
                    <a:schemeClr val="bg1"/>
                  </a:solidFill>
                </a:ln>
                <a:solidFill>
                  <a:schemeClr val="bg1"/>
                </a:solidFill>
              </a:rPr>
              <a:t>探究四</a:t>
            </a:r>
            <a:endParaRPr lang="zh-CN" altLang="en-US" sz="1400" dirty="0">
              <a:ln>
                <a:solidFill>
                  <a:schemeClr val="bg1"/>
                </a:solidFill>
              </a:ln>
              <a:solidFill>
                <a:schemeClr val="bg1"/>
              </a:solidFill>
            </a:endParaRPr>
          </a:p>
        </p:txBody>
      </p:sp>
      <p:sp>
        <p:nvSpPr>
          <p:cNvPr id="6" name="圆角矩形 5">
            <a:hlinkClick r:id="rId6" action="ppaction://hlinksldjump"/>
          </p:cNvPr>
          <p:cNvSpPr/>
          <p:nvPr userDrawn="1"/>
        </p:nvSpPr>
        <p:spPr>
          <a:xfrm>
            <a:off x="11002039" y="6512560"/>
            <a:ext cx="984481" cy="274320"/>
          </a:xfrm>
          <a:prstGeom prst="roundRect">
            <a:avLst>
              <a:gd name="adj" fmla="val 50000"/>
            </a:avLst>
          </a:prstGeom>
          <a:solidFill>
            <a:srgbClr val="7F7F7F"/>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zh-CN" altLang="en-US" sz="1400" dirty="0" smtClean="0">
                <a:ln>
                  <a:solidFill>
                    <a:schemeClr val="bg1"/>
                  </a:solidFill>
                </a:ln>
                <a:solidFill>
                  <a:schemeClr val="bg1"/>
                </a:solidFill>
              </a:rPr>
              <a:t>易错辨析</a:t>
            </a:r>
            <a:endParaRPr lang="zh-CN" altLang="en-US" sz="1400" dirty="0">
              <a:ln>
                <a:solidFill>
                  <a:schemeClr val="bg1"/>
                </a:solidFill>
              </a:ln>
              <a:solidFill>
                <a:schemeClr val="bg1"/>
              </a:solidFill>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pattFill prst="lgConfetti">
          <a:fgClr>
            <a:srgbClr val="E8F4E9"/>
          </a:fgClr>
          <a:bgClr>
            <a:schemeClr val="bg1"/>
          </a:bgClr>
        </a:patt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61" r:id="rId3"/>
  </p:sldLayoutIdLst>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slide" Target="slide16.xml"/><Relationship Id="rId2" Type="http://schemas.openxmlformats.org/officeDocument/2006/relationships/slide" Target="slide4.xml"/><Relationship Id="rId1" Type="http://schemas.openxmlformats.org/officeDocument/2006/relationships/slideLayout" Target="../slideLayouts/slideLayout1.xml"/><Relationship Id="rId4" Type="http://schemas.openxmlformats.org/officeDocument/2006/relationships/slide" Target="slide41.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package" Target="../embeddings/Microsoft_Word___1.docx"/><Relationship Id="rId2" Type="http://schemas.openxmlformats.org/officeDocument/2006/relationships/slideLayout" Target="../slideLayouts/slideLayout3.xml"/><Relationship Id="rId1" Type="http://schemas.openxmlformats.org/officeDocument/2006/relationships/vmlDrawing" Target="../drawings/vmlDrawing1.vml"/><Relationship Id="rId4" Type="http://schemas.openxmlformats.org/officeDocument/2006/relationships/image" Target="../media/image2.emf"/></Relationships>
</file>

<file path=ppt/slides/_rels/slide6.xml.rels><?xml version="1.0" encoding="UTF-8" standalone="yes"?>
<Relationships xmlns="http://schemas.openxmlformats.org/package/2006/relationships"><Relationship Id="rId3" Type="http://schemas.openxmlformats.org/officeDocument/2006/relationships/package" Target="../embeddings/Microsoft_Word___2.docx"/><Relationship Id="rId7" Type="http://schemas.openxmlformats.org/officeDocument/2006/relationships/image" Target="../media/image4.jpeg"/><Relationship Id="rId2" Type="http://schemas.openxmlformats.org/officeDocument/2006/relationships/slideLayout" Target="../slideLayouts/slideLayout3.xml"/><Relationship Id="rId1" Type="http://schemas.openxmlformats.org/officeDocument/2006/relationships/vmlDrawing" Target="../drawings/vmlDrawing2.vml"/><Relationship Id="rId6" Type="http://schemas.openxmlformats.org/officeDocument/2006/relationships/image" Target="../media/image3.emf"/><Relationship Id="rId5" Type="http://schemas.openxmlformats.org/officeDocument/2006/relationships/package" Target="../embeddings/Microsoft_Word___3.docx"/><Relationship Id="rId4" Type="http://schemas.openxmlformats.org/officeDocument/2006/relationships/image" Target="../media/image2.emf"/></Relationships>
</file>

<file path=ppt/slides/_rels/slide7.xml.rels><?xml version="1.0" encoding="UTF-8" standalone="yes"?>
<Relationships xmlns="http://schemas.openxmlformats.org/package/2006/relationships"><Relationship Id="rId3" Type="http://schemas.openxmlformats.org/officeDocument/2006/relationships/package" Target="../embeddings/Microsoft_Word___4.docx"/><Relationship Id="rId7" Type="http://schemas.openxmlformats.org/officeDocument/2006/relationships/image" Target="../media/image7.jpeg"/><Relationship Id="rId2" Type="http://schemas.openxmlformats.org/officeDocument/2006/relationships/slideLayout" Target="../slideLayouts/slideLayout3.xml"/><Relationship Id="rId1" Type="http://schemas.openxmlformats.org/officeDocument/2006/relationships/vmlDrawing" Target="../drawings/vmlDrawing3.vml"/><Relationship Id="rId6" Type="http://schemas.openxmlformats.org/officeDocument/2006/relationships/image" Target="../media/image6.emf"/><Relationship Id="rId5" Type="http://schemas.openxmlformats.org/officeDocument/2006/relationships/package" Target="../embeddings/Microsoft_Word___5.docx"/><Relationship Id="rId4" Type="http://schemas.openxmlformats.org/officeDocument/2006/relationships/image" Target="../media/image5.emf"/></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package" Target="../embeddings/Microsoft_Word___6.docx"/><Relationship Id="rId2" Type="http://schemas.openxmlformats.org/officeDocument/2006/relationships/slideLayout" Target="../slideLayouts/slideLayout3.xml"/><Relationship Id="rId1" Type="http://schemas.openxmlformats.org/officeDocument/2006/relationships/vmlDrawing" Target="../drawings/vmlDrawing4.vml"/><Relationship Id="rId4" Type="http://schemas.openxmlformats.org/officeDocument/2006/relationships/image" Target="../media/image8.emf"/></Relationships>
</file>

<file path=ppt/slides/_rels/slide10.xml.rels><?xml version="1.0" encoding="UTF-8" standalone="yes"?>
<Relationships xmlns="http://schemas.openxmlformats.org/package/2006/relationships"><Relationship Id="rId3" Type="http://schemas.openxmlformats.org/officeDocument/2006/relationships/package" Target="../embeddings/Microsoft_Word___7.docx"/><Relationship Id="rId2" Type="http://schemas.openxmlformats.org/officeDocument/2006/relationships/slideLayout" Target="../slideLayouts/slideLayout3.xml"/><Relationship Id="rId1" Type="http://schemas.openxmlformats.org/officeDocument/2006/relationships/vmlDrawing" Target="../drawings/vmlDrawing5.vml"/><Relationship Id="rId6" Type="http://schemas.openxmlformats.org/officeDocument/2006/relationships/image" Target="../media/image10.emf"/><Relationship Id="rId5" Type="http://schemas.openxmlformats.org/officeDocument/2006/relationships/package" Target="../embeddings/Microsoft_Word___8.docx"/><Relationship Id="rId4" Type="http://schemas.openxmlformats.org/officeDocument/2006/relationships/image" Target="../media/image9.emf"/></Relationships>
</file>

<file path=ppt/slides/_rels/slide11.xml.rels><?xml version="1.0" encoding="UTF-8" standalone="yes"?>
<Relationships xmlns="http://schemas.openxmlformats.org/package/2006/relationships"><Relationship Id="rId3" Type="http://schemas.openxmlformats.org/officeDocument/2006/relationships/package" Target="../embeddings/Microsoft_Word___9.docx"/><Relationship Id="rId2" Type="http://schemas.openxmlformats.org/officeDocument/2006/relationships/slideLayout" Target="../slideLayouts/slideLayout3.xml"/><Relationship Id="rId1" Type="http://schemas.openxmlformats.org/officeDocument/2006/relationships/vmlDrawing" Target="../drawings/vmlDrawing6.vml"/><Relationship Id="rId5" Type="http://schemas.openxmlformats.org/officeDocument/2006/relationships/image" Target="../media/image12.jpeg"/><Relationship Id="rId4" Type="http://schemas.openxmlformats.org/officeDocument/2006/relationships/image" Target="../media/image11.emf"/></Relationships>
</file>

<file path=ppt/slides/_rels/slide12.xml.rels><?xml version="1.0" encoding="UTF-8" standalone="yes"?>
<Relationships xmlns="http://schemas.openxmlformats.org/package/2006/relationships"><Relationship Id="rId3" Type="http://schemas.openxmlformats.org/officeDocument/2006/relationships/package" Target="../embeddings/Microsoft_Word___10.docx"/><Relationship Id="rId2" Type="http://schemas.openxmlformats.org/officeDocument/2006/relationships/slideLayout" Target="../slideLayouts/slideLayout3.xml"/><Relationship Id="rId1" Type="http://schemas.openxmlformats.org/officeDocument/2006/relationships/vmlDrawing" Target="../drawings/vmlDrawing7.v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emf"/></Relationships>
</file>

<file path=ppt/slides/_rels/slide1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slideLayout" Target="../slideLayouts/slideLayout3.xml"/><Relationship Id="rId1" Type="http://schemas.openxmlformats.org/officeDocument/2006/relationships/vmlDrawing" Target="../drawings/vmlDrawing8.vml"/><Relationship Id="rId5" Type="http://schemas.openxmlformats.org/officeDocument/2006/relationships/image" Target="../media/image16.emf"/><Relationship Id="rId4" Type="http://schemas.openxmlformats.org/officeDocument/2006/relationships/package" Target="../embeddings/Microsoft_Word___11.docx"/></Relationships>
</file>

<file path=ppt/slides/_rels/slide14.xml.rels><?xml version="1.0" encoding="UTF-8" standalone="yes"?>
<Relationships xmlns="http://schemas.openxmlformats.org/package/2006/relationships"><Relationship Id="rId3" Type="http://schemas.openxmlformats.org/officeDocument/2006/relationships/package" Target="../embeddings/Microsoft_Word___12.docx"/><Relationship Id="rId2" Type="http://schemas.openxmlformats.org/officeDocument/2006/relationships/slideLayout" Target="../slideLayouts/slideLayout3.xml"/><Relationship Id="rId1" Type="http://schemas.openxmlformats.org/officeDocument/2006/relationships/vmlDrawing" Target="../drawings/vmlDrawing9.vml"/><Relationship Id="rId6" Type="http://schemas.openxmlformats.org/officeDocument/2006/relationships/image" Target="../media/image19.emf"/><Relationship Id="rId5" Type="http://schemas.openxmlformats.org/officeDocument/2006/relationships/package" Target="../embeddings/Microsoft_Word___13.docx"/><Relationship Id="rId4" Type="http://schemas.openxmlformats.org/officeDocument/2006/relationships/image" Target="../media/image18.emf"/></Relationships>
</file>

<file path=ppt/slides/_rels/slide15.xml.rels><?xml version="1.0" encoding="UTF-8" standalone="yes"?>
<Relationships xmlns="http://schemas.openxmlformats.org/package/2006/relationships"><Relationship Id="rId3" Type="http://schemas.openxmlformats.org/officeDocument/2006/relationships/package" Target="../embeddings/Microsoft_Word___14.docx"/><Relationship Id="rId2" Type="http://schemas.openxmlformats.org/officeDocument/2006/relationships/slideLayout" Target="../slideLayouts/slideLayout3.xml"/><Relationship Id="rId1" Type="http://schemas.openxmlformats.org/officeDocument/2006/relationships/vmlDrawing" Target="../drawings/vmlDrawing10.vml"/><Relationship Id="rId4" Type="http://schemas.openxmlformats.org/officeDocument/2006/relationships/image" Target="../media/image20.emf"/></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package" Target="../embeddings/Microsoft_Word___15.docx"/><Relationship Id="rId2" Type="http://schemas.openxmlformats.org/officeDocument/2006/relationships/slideLayout" Target="../slideLayouts/slideLayout2.xml"/><Relationship Id="rId1" Type="http://schemas.openxmlformats.org/officeDocument/2006/relationships/vmlDrawing" Target="../drawings/vmlDrawing11.vml"/><Relationship Id="rId5" Type="http://schemas.openxmlformats.org/officeDocument/2006/relationships/image" Target="../media/image22.jpeg"/><Relationship Id="rId4" Type="http://schemas.openxmlformats.org/officeDocument/2006/relationships/image" Target="../media/image21.emf"/></Relationships>
</file>

<file path=ppt/slides/_rels/slide18.xml.rels><?xml version="1.0" encoding="UTF-8" standalone="yes"?>
<Relationships xmlns="http://schemas.openxmlformats.org/package/2006/relationships"><Relationship Id="rId3" Type="http://schemas.openxmlformats.org/officeDocument/2006/relationships/package" Target="../embeddings/Microsoft_Word___16.docx"/><Relationship Id="rId2" Type="http://schemas.openxmlformats.org/officeDocument/2006/relationships/slideLayout" Target="../slideLayouts/slideLayout2.xml"/><Relationship Id="rId1" Type="http://schemas.openxmlformats.org/officeDocument/2006/relationships/vmlDrawing" Target="../drawings/vmlDrawing12.vml"/><Relationship Id="rId4" Type="http://schemas.openxmlformats.org/officeDocument/2006/relationships/image" Target="../media/image23.emf"/></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package" Target="../embeddings/Microsoft_Word___17.docx"/><Relationship Id="rId2" Type="http://schemas.openxmlformats.org/officeDocument/2006/relationships/slideLayout" Target="../slideLayouts/slideLayout2.xml"/><Relationship Id="rId1" Type="http://schemas.openxmlformats.org/officeDocument/2006/relationships/vmlDrawing" Target="../drawings/vmlDrawing13.vml"/><Relationship Id="rId6" Type="http://schemas.openxmlformats.org/officeDocument/2006/relationships/image" Target="../media/image25.emf"/><Relationship Id="rId5" Type="http://schemas.openxmlformats.org/officeDocument/2006/relationships/package" Target="../embeddings/Microsoft_Word___18.docx"/><Relationship Id="rId4" Type="http://schemas.openxmlformats.org/officeDocument/2006/relationships/image" Target="../media/image24.emf"/></Relationships>
</file>

<file path=ppt/slides/_rels/slide21.xml.rels><?xml version="1.0" encoding="UTF-8" standalone="yes"?>
<Relationships xmlns="http://schemas.openxmlformats.org/package/2006/relationships"><Relationship Id="rId3" Type="http://schemas.openxmlformats.org/officeDocument/2006/relationships/package" Target="../embeddings/Microsoft_Word___19.docx"/><Relationship Id="rId2" Type="http://schemas.openxmlformats.org/officeDocument/2006/relationships/slideLayout" Target="../slideLayouts/slideLayout2.xml"/><Relationship Id="rId1" Type="http://schemas.openxmlformats.org/officeDocument/2006/relationships/vmlDrawing" Target="../drawings/vmlDrawing14.vml"/><Relationship Id="rId5" Type="http://schemas.openxmlformats.org/officeDocument/2006/relationships/image" Target="../media/image27.jpeg"/><Relationship Id="rId4" Type="http://schemas.openxmlformats.org/officeDocument/2006/relationships/image" Target="../media/image26.emf"/></Relationships>
</file>

<file path=ppt/slides/_rels/slide22.xml.rels><?xml version="1.0" encoding="UTF-8" standalone="yes"?>
<Relationships xmlns="http://schemas.openxmlformats.org/package/2006/relationships"><Relationship Id="rId3" Type="http://schemas.openxmlformats.org/officeDocument/2006/relationships/package" Target="../embeddings/Microsoft_Word___20.docx"/><Relationship Id="rId2" Type="http://schemas.openxmlformats.org/officeDocument/2006/relationships/slideLayout" Target="../slideLayouts/slideLayout2.xml"/><Relationship Id="rId1" Type="http://schemas.openxmlformats.org/officeDocument/2006/relationships/vmlDrawing" Target="../drawings/vmlDrawing15.vml"/><Relationship Id="rId4" Type="http://schemas.openxmlformats.org/officeDocument/2006/relationships/image" Target="../media/image28.emf"/></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9.jpe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package" Target="../embeddings/Microsoft_Word___21.docx"/><Relationship Id="rId2" Type="http://schemas.openxmlformats.org/officeDocument/2006/relationships/slideLayout" Target="../slideLayouts/slideLayout2.xml"/><Relationship Id="rId1" Type="http://schemas.openxmlformats.org/officeDocument/2006/relationships/vmlDrawing" Target="../drawings/vmlDrawing16.vml"/><Relationship Id="rId4" Type="http://schemas.openxmlformats.org/officeDocument/2006/relationships/image" Target="../media/image30.emf"/></Relationships>
</file>

<file path=ppt/slides/_rels/slide26.xml.rels><?xml version="1.0" encoding="UTF-8" standalone="yes"?>
<Relationships xmlns="http://schemas.openxmlformats.org/package/2006/relationships"><Relationship Id="rId3" Type="http://schemas.openxmlformats.org/officeDocument/2006/relationships/package" Target="../embeddings/Microsoft_Word___22.docx"/><Relationship Id="rId2" Type="http://schemas.openxmlformats.org/officeDocument/2006/relationships/slideLayout" Target="../slideLayouts/slideLayout2.xml"/><Relationship Id="rId1" Type="http://schemas.openxmlformats.org/officeDocument/2006/relationships/vmlDrawing" Target="../drawings/vmlDrawing17.vml"/><Relationship Id="rId4" Type="http://schemas.openxmlformats.org/officeDocument/2006/relationships/image" Target="../media/image31.emf"/></Relationships>
</file>

<file path=ppt/slides/_rels/slide27.xml.rels><?xml version="1.0" encoding="UTF-8" standalone="yes"?>
<Relationships xmlns="http://schemas.openxmlformats.org/package/2006/relationships"><Relationship Id="rId3" Type="http://schemas.openxmlformats.org/officeDocument/2006/relationships/package" Target="../embeddings/Microsoft_Word___23.docx"/><Relationship Id="rId2" Type="http://schemas.openxmlformats.org/officeDocument/2006/relationships/slideLayout" Target="../slideLayouts/slideLayout2.xml"/><Relationship Id="rId1" Type="http://schemas.openxmlformats.org/officeDocument/2006/relationships/vmlDrawing" Target="../drawings/vmlDrawing18.vml"/><Relationship Id="rId6" Type="http://schemas.openxmlformats.org/officeDocument/2006/relationships/image" Target="../media/image34.png"/><Relationship Id="rId5" Type="http://schemas.openxmlformats.org/officeDocument/2006/relationships/image" Target="../media/image33.jpeg"/><Relationship Id="rId4" Type="http://schemas.openxmlformats.org/officeDocument/2006/relationships/image" Target="../media/image32.emf"/></Relationships>
</file>

<file path=ppt/slides/_rels/slide28.xml.rels><?xml version="1.0" encoding="UTF-8" standalone="yes"?>
<Relationships xmlns="http://schemas.openxmlformats.org/package/2006/relationships"><Relationship Id="rId3" Type="http://schemas.openxmlformats.org/officeDocument/2006/relationships/image" Target="../media/image36.jpeg"/><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package" Target="../embeddings/Microsoft_Word___24.docx"/><Relationship Id="rId7" Type="http://schemas.openxmlformats.org/officeDocument/2006/relationships/image" Target="../media/image40.jpeg"/><Relationship Id="rId2" Type="http://schemas.openxmlformats.org/officeDocument/2006/relationships/slideLayout" Target="../slideLayouts/slideLayout2.xml"/><Relationship Id="rId1" Type="http://schemas.openxmlformats.org/officeDocument/2006/relationships/vmlDrawing" Target="../drawings/vmlDrawing19.vml"/><Relationship Id="rId6" Type="http://schemas.openxmlformats.org/officeDocument/2006/relationships/image" Target="../media/image39.emf"/><Relationship Id="rId5" Type="http://schemas.openxmlformats.org/officeDocument/2006/relationships/package" Target="../embeddings/Microsoft_Word___25.docx"/><Relationship Id="rId4" Type="http://schemas.openxmlformats.org/officeDocument/2006/relationships/image" Target="../media/image38.emf"/></Relationships>
</file>

<file path=ppt/slides/_rels/slide32.xml.rels><?xml version="1.0" encoding="UTF-8" standalone="yes"?>
<Relationships xmlns="http://schemas.openxmlformats.org/package/2006/relationships"><Relationship Id="rId3" Type="http://schemas.openxmlformats.org/officeDocument/2006/relationships/package" Target="../embeddings/Microsoft_Word___26.docx"/><Relationship Id="rId2" Type="http://schemas.openxmlformats.org/officeDocument/2006/relationships/slideLayout" Target="../slideLayouts/slideLayout2.xml"/><Relationship Id="rId1" Type="http://schemas.openxmlformats.org/officeDocument/2006/relationships/vmlDrawing" Target="../drawings/vmlDrawing20.vml"/><Relationship Id="rId4" Type="http://schemas.openxmlformats.org/officeDocument/2006/relationships/image" Target="../media/image41.emf"/></Relationships>
</file>

<file path=ppt/slides/_rels/slide33.xml.rels><?xml version="1.0" encoding="UTF-8" standalone="yes"?>
<Relationships xmlns="http://schemas.openxmlformats.org/package/2006/relationships"><Relationship Id="rId3" Type="http://schemas.openxmlformats.org/officeDocument/2006/relationships/package" Target="../embeddings/Microsoft_Word___27.docx"/><Relationship Id="rId2" Type="http://schemas.openxmlformats.org/officeDocument/2006/relationships/slideLayout" Target="../slideLayouts/slideLayout2.xml"/><Relationship Id="rId1" Type="http://schemas.openxmlformats.org/officeDocument/2006/relationships/vmlDrawing" Target="../drawings/vmlDrawing21.vml"/><Relationship Id="rId4" Type="http://schemas.openxmlformats.org/officeDocument/2006/relationships/image" Target="../media/image42.emf"/></Relationships>
</file>

<file path=ppt/slides/_rels/slide34.xml.rels><?xml version="1.0" encoding="UTF-8" standalone="yes"?>
<Relationships xmlns="http://schemas.openxmlformats.org/package/2006/relationships"><Relationship Id="rId3" Type="http://schemas.openxmlformats.org/officeDocument/2006/relationships/package" Target="../embeddings/Microsoft_Word___28.docx"/><Relationship Id="rId2" Type="http://schemas.openxmlformats.org/officeDocument/2006/relationships/slideLayout" Target="../slideLayouts/slideLayout2.xml"/><Relationship Id="rId1" Type="http://schemas.openxmlformats.org/officeDocument/2006/relationships/vmlDrawing" Target="../drawings/vmlDrawing22.vml"/><Relationship Id="rId4" Type="http://schemas.openxmlformats.org/officeDocument/2006/relationships/image" Target="../media/image43.emf"/></Relationships>
</file>

<file path=ppt/slides/_rels/slide35.xml.rels><?xml version="1.0" encoding="UTF-8" standalone="yes"?>
<Relationships xmlns="http://schemas.openxmlformats.org/package/2006/relationships"><Relationship Id="rId3" Type="http://schemas.openxmlformats.org/officeDocument/2006/relationships/image" Target="../media/image45.jpeg"/><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package" Target="../embeddings/Microsoft_Word___29.docx"/><Relationship Id="rId2" Type="http://schemas.openxmlformats.org/officeDocument/2006/relationships/slideLayout" Target="../slideLayouts/slideLayout2.xml"/><Relationship Id="rId1" Type="http://schemas.openxmlformats.org/officeDocument/2006/relationships/vmlDrawing" Target="../drawings/vmlDrawing23.vml"/><Relationship Id="rId4" Type="http://schemas.openxmlformats.org/officeDocument/2006/relationships/image" Target="../media/image46.emf"/></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package" Target="../embeddings/Microsoft_Word___30.docx"/><Relationship Id="rId2" Type="http://schemas.openxmlformats.org/officeDocument/2006/relationships/slideLayout" Target="../slideLayouts/slideLayout2.xml"/><Relationship Id="rId1" Type="http://schemas.openxmlformats.org/officeDocument/2006/relationships/vmlDrawing" Target="../drawings/vmlDrawing24.vml"/><Relationship Id="rId6" Type="http://schemas.openxmlformats.org/officeDocument/2006/relationships/image" Target="../media/image48.emf"/><Relationship Id="rId5" Type="http://schemas.openxmlformats.org/officeDocument/2006/relationships/package" Target="../embeddings/Microsoft_Word___31.docx"/><Relationship Id="rId4" Type="http://schemas.openxmlformats.org/officeDocument/2006/relationships/image" Target="../media/image47.emf"/></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package" Target="../embeddings/Microsoft_Word___32.docx"/><Relationship Id="rId2" Type="http://schemas.openxmlformats.org/officeDocument/2006/relationships/slideLayout" Target="../slideLayouts/slideLayout2.xml"/><Relationship Id="rId1" Type="http://schemas.openxmlformats.org/officeDocument/2006/relationships/vmlDrawing" Target="../drawings/vmlDrawing25.vml"/><Relationship Id="rId4" Type="http://schemas.openxmlformats.org/officeDocument/2006/relationships/image" Target="../media/image49.emf"/></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3" Type="http://schemas.openxmlformats.org/officeDocument/2006/relationships/package" Target="../embeddings/Microsoft_Word___33.docx"/><Relationship Id="rId2" Type="http://schemas.openxmlformats.org/officeDocument/2006/relationships/slideLayout" Target="../slideLayouts/slideLayout1.xml"/><Relationship Id="rId1" Type="http://schemas.openxmlformats.org/officeDocument/2006/relationships/vmlDrawing" Target="../drawings/vmlDrawing26.vml"/><Relationship Id="rId6" Type="http://schemas.openxmlformats.org/officeDocument/2006/relationships/image" Target="../media/image51.emf"/><Relationship Id="rId5" Type="http://schemas.openxmlformats.org/officeDocument/2006/relationships/package" Target="../embeddings/Microsoft_Word___34.docx"/><Relationship Id="rId4" Type="http://schemas.openxmlformats.org/officeDocument/2006/relationships/image" Target="../media/image50.emf"/></Relationships>
</file>

<file path=ppt/slides/_rels/slide44.xml.rels><?xml version="1.0" encoding="UTF-8" standalone="yes"?>
<Relationships xmlns="http://schemas.openxmlformats.org/package/2006/relationships"><Relationship Id="rId3" Type="http://schemas.openxmlformats.org/officeDocument/2006/relationships/package" Target="../embeddings/Microsoft_Word___35.docx"/><Relationship Id="rId2" Type="http://schemas.openxmlformats.org/officeDocument/2006/relationships/slideLayout" Target="../slideLayouts/slideLayout1.xml"/><Relationship Id="rId1" Type="http://schemas.openxmlformats.org/officeDocument/2006/relationships/vmlDrawing" Target="../drawings/vmlDrawing27.vml"/><Relationship Id="rId6" Type="http://schemas.openxmlformats.org/officeDocument/2006/relationships/image" Target="../media/image53.emf"/><Relationship Id="rId5" Type="http://schemas.openxmlformats.org/officeDocument/2006/relationships/package" Target="../embeddings/Microsoft_Word___36.docx"/><Relationship Id="rId4" Type="http://schemas.openxmlformats.org/officeDocument/2006/relationships/image" Target="../media/image52.emf"/></Relationships>
</file>

<file path=ppt/slides/_rels/slide45.xml.rels><?xml version="1.0" encoding="UTF-8" standalone="yes"?>
<Relationships xmlns="http://schemas.openxmlformats.org/package/2006/relationships"><Relationship Id="rId3" Type="http://schemas.openxmlformats.org/officeDocument/2006/relationships/package" Target="../embeddings/Microsoft_Word___37.docx"/><Relationship Id="rId7" Type="http://schemas.openxmlformats.org/officeDocument/2006/relationships/image" Target="../media/image56.jpeg"/><Relationship Id="rId2" Type="http://schemas.openxmlformats.org/officeDocument/2006/relationships/slideLayout" Target="../slideLayouts/slideLayout1.xml"/><Relationship Id="rId1" Type="http://schemas.openxmlformats.org/officeDocument/2006/relationships/vmlDrawing" Target="../drawings/vmlDrawing28.vml"/><Relationship Id="rId6" Type="http://schemas.openxmlformats.org/officeDocument/2006/relationships/image" Target="../media/image55.emf"/><Relationship Id="rId5" Type="http://schemas.openxmlformats.org/officeDocument/2006/relationships/package" Target="../embeddings/Microsoft_Word___38.docx"/><Relationship Id="rId4" Type="http://schemas.openxmlformats.org/officeDocument/2006/relationships/image" Target="../media/image54.emf"/></Relationships>
</file>

<file path=ppt/slides/_rels/slide46.xml.rels><?xml version="1.0" encoding="UTF-8" standalone="yes"?>
<Relationships xmlns="http://schemas.openxmlformats.org/package/2006/relationships"><Relationship Id="rId3" Type="http://schemas.openxmlformats.org/officeDocument/2006/relationships/package" Target="../embeddings/Microsoft_Word___39.docx"/><Relationship Id="rId2" Type="http://schemas.openxmlformats.org/officeDocument/2006/relationships/slideLayout" Target="../slideLayouts/slideLayout1.xml"/><Relationship Id="rId1" Type="http://schemas.openxmlformats.org/officeDocument/2006/relationships/vmlDrawing" Target="../drawings/vmlDrawing29.vml"/><Relationship Id="rId4" Type="http://schemas.openxmlformats.org/officeDocument/2006/relationships/image" Target="../media/image57.emf"/></Relationships>
</file>

<file path=ppt/slides/_rels/slide47.xml.rels><?xml version="1.0" encoding="UTF-8" standalone="yes"?>
<Relationships xmlns="http://schemas.openxmlformats.org/package/2006/relationships"><Relationship Id="rId2" Type="http://schemas.openxmlformats.org/officeDocument/2006/relationships/image" Target="../media/image58.jpeg"/><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3" Type="http://schemas.openxmlformats.org/officeDocument/2006/relationships/package" Target="../embeddings/Microsoft_Word___40.docx"/><Relationship Id="rId2" Type="http://schemas.openxmlformats.org/officeDocument/2006/relationships/slideLayout" Target="../slideLayouts/slideLayout1.xml"/><Relationship Id="rId1" Type="http://schemas.openxmlformats.org/officeDocument/2006/relationships/vmlDrawing" Target="../drawings/vmlDrawing30.vml"/><Relationship Id="rId4" Type="http://schemas.openxmlformats.org/officeDocument/2006/relationships/image" Target="../media/image59.emf"/></Relationships>
</file>

<file path=ppt/slides/_rels/slide49.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image" Target="../media/image60.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2300879" y="519978"/>
            <a:ext cx="4047903" cy="461665"/>
          </a:xfrm>
          <a:prstGeom prst="rect">
            <a:avLst/>
          </a:prstGeom>
        </p:spPr>
        <p:txBody>
          <a:bodyPr wrap="none">
            <a:spAutoFit/>
          </a:bodyPr>
          <a:lstStyle/>
          <a:p>
            <a:pPr algn="dist"/>
            <a:r>
              <a:rPr lang="zh-CN" altLang="en-US" sz="2400" b="1" spc="600" dirty="0" smtClean="0">
                <a:solidFill>
                  <a:srgbClr val="757C82"/>
                </a:solidFill>
                <a:latin typeface="黑体" panose="02010609060101010101" pitchFamily="49" charset="-122"/>
                <a:ea typeface="黑体" panose="02010609060101010101" pitchFamily="49" charset="-122"/>
              </a:rPr>
              <a:t>高中同步测控优化设计</a:t>
            </a:r>
            <a:endParaRPr lang="zh-CN" altLang="en-US" sz="2400" b="1" spc="600" dirty="0">
              <a:solidFill>
                <a:srgbClr val="757C82"/>
              </a:solidFill>
              <a:latin typeface="黑体" panose="02010609060101010101" pitchFamily="49" charset="-122"/>
              <a:ea typeface="黑体" panose="02010609060101010101" pitchFamily="49" charset="-122"/>
            </a:endParaRPr>
          </a:p>
        </p:txBody>
      </p:sp>
      <p:cxnSp>
        <p:nvCxnSpPr>
          <p:cNvPr id="3" name="直接连接符 2"/>
          <p:cNvCxnSpPr/>
          <p:nvPr/>
        </p:nvCxnSpPr>
        <p:spPr>
          <a:xfrm>
            <a:off x="2282351" y="1003843"/>
            <a:ext cx="4305485" cy="0"/>
          </a:xfrm>
          <a:prstGeom prst="line">
            <a:avLst/>
          </a:prstGeom>
          <a:ln>
            <a:solidFill>
              <a:schemeClr val="tx1"/>
            </a:solidFill>
            <a:prstDash val="lgDashDotDot"/>
            <a:headEnd type="diamond" w="med" len="med"/>
            <a:tailEnd type="diamond" w="med" len="med"/>
          </a:ln>
          <a:effectLst/>
        </p:spPr>
        <p:style>
          <a:lnRef idx="1">
            <a:schemeClr val="accent1"/>
          </a:lnRef>
          <a:fillRef idx="0">
            <a:schemeClr val="accent1"/>
          </a:fillRef>
          <a:effectRef idx="0">
            <a:schemeClr val="accent1"/>
          </a:effectRef>
          <a:fontRef idx="minor">
            <a:schemeClr val="tx1"/>
          </a:fontRef>
        </p:style>
      </p:cxnSp>
      <p:sp>
        <p:nvSpPr>
          <p:cNvPr id="4" name="矩形 3"/>
          <p:cNvSpPr/>
          <p:nvPr/>
        </p:nvSpPr>
        <p:spPr>
          <a:xfrm>
            <a:off x="2173232" y="1026313"/>
            <a:ext cx="4414604" cy="338554"/>
          </a:xfrm>
          <a:prstGeom prst="rect">
            <a:avLst/>
          </a:prstGeom>
        </p:spPr>
        <p:txBody>
          <a:bodyPr wrap="square">
            <a:spAutoFit/>
          </a:bodyPr>
          <a:lstStyle/>
          <a:p>
            <a:pPr algn="ctr"/>
            <a:r>
              <a:rPr lang="en-US" altLang="zh-CN" sz="1600" b="1" dirty="0" smtClean="0">
                <a:solidFill>
                  <a:srgbClr val="757C82"/>
                </a:solidFill>
                <a:latin typeface="黑体" panose="02010609060101010101" pitchFamily="49" charset="-122"/>
                <a:ea typeface="黑体" panose="02010609060101010101" pitchFamily="49" charset="-122"/>
              </a:rPr>
              <a:t>GAO ZHONG TONG </a:t>
            </a:r>
            <a:r>
              <a:rPr lang="en-US" altLang="zh-CN" sz="1600" b="1" dirty="0">
                <a:solidFill>
                  <a:srgbClr val="757C82"/>
                </a:solidFill>
                <a:latin typeface="黑体" panose="02010609060101010101" pitchFamily="49" charset="-122"/>
                <a:ea typeface="黑体" panose="02010609060101010101" pitchFamily="49" charset="-122"/>
              </a:rPr>
              <a:t>B</a:t>
            </a:r>
            <a:r>
              <a:rPr lang="en-US" altLang="zh-CN" sz="1600" b="1" dirty="0" smtClean="0">
                <a:solidFill>
                  <a:srgbClr val="757C82"/>
                </a:solidFill>
                <a:latin typeface="黑体" panose="02010609060101010101" pitchFamily="49" charset="-122"/>
                <a:ea typeface="黑体" panose="02010609060101010101" pitchFamily="49" charset="-122"/>
              </a:rPr>
              <a:t>U CE KONG YOU HUA SHE JI</a:t>
            </a:r>
          </a:p>
        </p:txBody>
      </p:sp>
      <p:grpSp>
        <p:nvGrpSpPr>
          <p:cNvPr id="5" name="组合 4"/>
          <p:cNvGrpSpPr/>
          <p:nvPr/>
        </p:nvGrpSpPr>
        <p:grpSpPr>
          <a:xfrm>
            <a:off x="635" y="2775585"/>
            <a:ext cx="12191365" cy="1478915"/>
            <a:chOff x="303375" y="3227146"/>
            <a:chExt cx="11560182" cy="1479076"/>
          </a:xfrm>
        </p:grpSpPr>
        <p:sp>
          <p:nvSpPr>
            <p:cNvPr id="6" name="矩形 5"/>
            <p:cNvSpPr/>
            <p:nvPr/>
          </p:nvSpPr>
          <p:spPr>
            <a:xfrm>
              <a:off x="303375" y="3227146"/>
              <a:ext cx="11560182" cy="1479076"/>
            </a:xfrm>
            <a:prstGeom prst="rect">
              <a:avLst/>
            </a:prstGeom>
            <a:solidFill>
              <a:srgbClr val="6B7278"/>
            </a:solidFill>
            <a:ln>
              <a:noFill/>
            </a:ln>
            <a:scene3d>
              <a:camera prst="orthographicFront"/>
              <a:lightRig rig="threePt" dir="t"/>
            </a:scene3d>
            <a:sp3d>
              <a:bevelT w="114300" prst="hardEdg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p:cNvSpPr/>
            <p:nvPr/>
          </p:nvSpPr>
          <p:spPr>
            <a:xfrm>
              <a:off x="3665034" y="3614538"/>
              <a:ext cx="8158783" cy="645230"/>
            </a:xfrm>
            <a:prstGeom prst="rect">
              <a:avLst/>
            </a:prstGeom>
          </p:spPr>
          <p:txBody>
            <a:bodyPr wrap="square">
              <a:spAutoFit/>
            </a:bodyPr>
            <a:lstStyle/>
            <a:p>
              <a:r>
                <a:rPr lang="en-US" altLang="zh-CN" sz="3600" b="1" dirty="0">
                  <a:solidFill>
                    <a:schemeClr val="bg1"/>
                  </a:solidFill>
                  <a:latin typeface="华文细黑" panose="02010600040101010101" charset="-122"/>
                  <a:ea typeface="华文细黑" panose="02010600040101010101" charset="-122"/>
                </a:rPr>
                <a:t>1.1.2</a:t>
              </a:r>
              <a:r>
                <a:rPr lang="zh-CN" altLang="en-US" sz="3600" b="1" dirty="0">
                  <a:solidFill>
                    <a:schemeClr val="bg1"/>
                  </a:solidFill>
                  <a:latin typeface="华文细黑" panose="02010600040101010101" charset="-122"/>
                  <a:ea typeface="华文细黑" panose="02010600040101010101" charset="-122"/>
                </a:rPr>
                <a:t>　空间向量的数量积运算</a:t>
              </a:r>
            </a:p>
          </p:txBody>
        </p:sp>
      </p:grpSp>
      <p:sp>
        <p:nvSpPr>
          <p:cNvPr id="8" name="矩形 7"/>
          <p:cNvSpPr/>
          <p:nvPr/>
        </p:nvSpPr>
        <p:spPr>
          <a:xfrm>
            <a:off x="1109345" y="2277745"/>
            <a:ext cx="2282825" cy="2407920"/>
          </a:xfrm>
          <a:prstGeom prst="rect">
            <a:avLst/>
          </a:prstGeom>
          <a:solidFill>
            <a:srgbClr val="748773"/>
          </a:solidFill>
          <a:ln w="12700" cap="flat" cmpd="sng" algn="ctr">
            <a:noFill/>
            <a:prstDash val="solid"/>
            <a:miter lim="800000"/>
          </a:ln>
          <a:effectLst>
            <a:outerShdw blurRad="317500" dist="127000" dir="2700000" algn="tl" rotWithShape="0">
              <a:prstClr val="black">
                <a:alpha val="25000"/>
              </a:prstClr>
            </a:outerShdw>
          </a:effectLst>
          <a:scene3d>
            <a:camera prst="orthographicFront"/>
            <a:lightRig rig="threePt" dir="t"/>
          </a:scene3d>
          <a:sp3d>
            <a:bevelT w="101600" prst="riblet"/>
          </a:sp3d>
        </p:spPr>
        <p:txBody>
          <a:bodyPr wrap="none" rtlCol="0" anchor="ctr"/>
          <a:lstStyle/>
          <a:p>
            <a:pPr algn="ctr"/>
            <a:r>
              <a:rPr lang="zh-CN" altLang="en-US" sz="3600" b="1" kern="0" dirty="0">
                <a:solidFill>
                  <a:schemeClr val="bg1"/>
                </a:solidFill>
                <a:latin typeface="华文细黑" panose="02010600040101010101" charset="-122"/>
                <a:ea typeface="华文细黑" panose="02010600040101010101" charset="-122"/>
                <a:cs typeface="Open Sans" panose="020B0606030504020204" pitchFamily="34" charset="0"/>
              </a:rPr>
              <a:t>第一</a:t>
            </a:r>
            <a:r>
              <a:rPr lang="zh-CN" altLang="en-US" sz="3600" b="1" kern="0" dirty="0" smtClean="0">
                <a:solidFill>
                  <a:schemeClr val="bg1"/>
                </a:solidFill>
                <a:latin typeface="华文细黑" panose="02010600040101010101" charset="-122"/>
                <a:ea typeface="华文细黑" panose="02010600040101010101" charset="-122"/>
                <a:cs typeface="Open Sans" panose="020B0606030504020204" pitchFamily="34" charset="0"/>
              </a:rPr>
              <a:t>章</a:t>
            </a:r>
            <a:endParaRPr lang="en-US" altLang="zh-CN" sz="3600" b="1" kern="0" dirty="0" smtClean="0">
              <a:solidFill>
                <a:schemeClr val="bg1"/>
              </a:solidFill>
              <a:latin typeface="华文细黑" panose="02010600040101010101" charset="-122"/>
              <a:ea typeface="华文细黑" panose="02010600040101010101" charset="-122"/>
              <a:cs typeface="Open Sans" panose="020B0606030504020204" pitchFamily="34" charset="0"/>
            </a:endParaRPr>
          </a:p>
          <a:p>
            <a:pPr algn="ctr"/>
            <a:r>
              <a:rPr lang="en-US" altLang="zh-CN" sz="3600" b="1" kern="0" dirty="0" smtClean="0">
                <a:solidFill>
                  <a:schemeClr val="bg1"/>
                </a:solidFill>
                <a:latin typeface="华文细黑" panose="02010600040101010101" charset="-122"/>
                <a:ea typeface="华文细黑" panose="02010600040101010101" charset="-122"/>
                <a:cs typeface="Open Sans" panose="020B0606030504020204" pitchFamily="34" charset="0"/>
              </a:rPr>
              <a:t>1.1</a:t>
            </a:r>
          </a:p>
        </p:txBody>
      </p:sp>
      <p:pic>
        <p:nvPicPr>
          <p:cNvPr id="10" name="图片 9" descr="e37b0ec1d4924ecca897357d279cf883"/>
          <p:cNvPicPr>
            <a:picLocks noChangeAspect="1"/>
          </p:cNvPicPr>
          <p:nvPr/>
        </p:nvPicPr>
        <p:blipFill>
          <a:blip r:embed="rId2">
            <a:extLst>
              <a:ext uri="{BEBA8EAE-BF5A-486C-A8C5-ECC9F3942E4B}">
                <a14:imgProps xmlns:a14="http://schemas.microsoft.com/office/drawing/2010/main">
                  <a14:imgLayer r:embed="rId3">
                    <a14:imgEffect>
                      <a14:sharpenSoften amount="-50000"/>
                    </a14:imgEffect>
                    <a14:imgEffect>
                      <a14:saturation sat="0"/>
                    </a14:imgEffect>
                  </a14:imgLayer>
                </a14:imgProps>
              </a:ext>
            </a:extLst>
          </a:blip>
          <a:stretch>
            <a:fillRect/>
          </a:stretch>
        </p:blipFill>
        <p:spPr>
          <a:xfrm>
            <a:off x="801370" y="175260"/>
            <a:ext cx="1453515" cy="1453515"/>
          </a:xfrm>
          <a:prstGeom prst="rect">
            <a:avLst/>
          </a:prstGeom>
        </p:spPr>
      </p:pic>
      <p:sp>
        <p:nvSpPr>
          <p:cNvPr id="11" name="矩形 10"/>
          <p:cNvSpPr/>
          <p:nvPr/>
        </p:nvSpPr>
        <p:spPr>
          <a:xfrm>
            <a:off x="1001385" y="587446"/>
            <a:ext cx="1052723" cy="58701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b="1" dirty="0" smtClean="0">
                <a:solidFill>
                  <a:srgbClr val="757C82"/>
                </a:solidFill>
                <a:latin typeface="Times New Roman" panose="02020603050405020304" pitchFamily="18" charset="0"/>
                <a:cs typeface="Times New Roman" panose="02020603050405020304" pitchFamily="18" charset="0"/>
              </a:rPr>
              <a:t>2025</a:t>
            </a:r>
          </a:p>
        </p:txBody>
      </p:sp>
    </p:spTree>
    <p:extLst>
      <p:ext uri="{BB962C8B-B14F-4D97-AF65-F5344CB8AC3E}">
        <p14:creationId xmlns:p14="http://schemas.microsoft.com/office/powerpoint/2010/main" val="394998433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bldLst>
      <p:bldP spid="2" grpId="0"/>
      <p:bldP spid="4" grpId="0"/>
      <p:bldP spid="8" grpId="0" bldLvl="0" animBg="1"/>
      <p:bldP spid="11" grpId="0" bldLvl="0" animBg="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文本框 22"/>
          <p:cNvSpPr txBox="1"/>
          <p:nvPr/>
        </p:nvSpPr>
        <p:spPr>
          <a:xfrm>
            <a:off x="1788494" y="1591871"/>
            <a:ext cx="942982" cy="3046988"/>
          </a:xfrm>
          <a:prstGeom prst="rect">
            <a:avLst/>
          </a:prstGeom>
          <a:noFill/>
        </p:spPr>
        <p:txBody>
          <a:bodyPr wrap="square" rtlCol="0">
            <a:spAutoFit/>
          </a:bodyPr>
          <a:lstStyle/>
          <a:p>
            <a:r>
              <a:rPr kumimoji="1" lang="zh-CN" altLang="en-US" sz="4800" smtClean="0">
                <a:solidFill>
                  <a:srgbClr val="2C3814"/>
                </a:solidFill>
                <a:cs typeface="+mn-ea"/>
                <a:sym typeface="+mn-lt"/>
              </a:rPr>
              <a:t>内容索引</a:t>
            </a:r>
            <a:endParaRPr kumimoji="1" lang="zh-CN" altLang="en-US" sz="4800" dirty="0">
              <a:solidFill>
                <a:srgbClr val="2C3814"/>
              </a:solidFill>
              <a:cs typeface="+mn-ea"/>
              <a:sym typeface="+mn-lt"/>
            </a:endParaRPr>
          </a:p>
        </p:txBody>
      </p:sp>
      <p:grpSp>
        <p:nvGrpSpPr>
          <p:cNvPr id="25" name="组合 24"/>
          <p:cNvGrpSpPr/>
          <p:nvPr/>
        </p:nvGrpSpPr>
        <p:grpSpPr>
          <a:xfrm>
            <a:off x="1378713" y="856615"/>
            <a:ext cx="1105802" cy="815646"/>
            <a:chOff x="-1604504" y="2147667"/>
            <a:chExt cx="3687215" cy="2719712"/>
          </a:xfrm>
        </p:grpSpPr>
        <p:cxnSp>
          <p:nvCxnSpPr>
            <p:cNvPr id="26" name="直接连接符 25"/>
            <p:cNvCxnSpPr/>
            <p:nvPr/>
          </p:nvCxnSpPr>
          <p:spPr>
            <a:xfrm flipH="1">
              <a:off x="-1604504" y="2687623"/>
              <a:ext cx="2592288" cy="2179756"/>
            </a:xfrm>
            <a:prstGeom prst="line">
              <a:avLst/>
            </a:prstGeom>
            <a:noFill/>
            <a:ln w="76200" cap="flat" cmpd="sng" algn="ctr">
              <a:solidFill>
                <a:schemeClr val="tx2">
                  <a:lumMod val="50000"/>
                </a:schemeClr>
              </a:solidFill>
              <a:prstDash val="solid"/>
            </a:ln>
            <a:effectLst/>
          </p:spPr>
        </p:cxnSp>
        <p:cxnSp>
          <p:nvCxnSpPr>
            <p:cNvPr id="27" name="直接连接符 26"/>
            <p:cNvCxnSpPr/>
            <p:nvPr/>
          </p:nvCxnSpPr>
          <p:spPr>
            <a:xfrm flipH="1">
              <a:off x="-509577" y="2147667"/>
              <a:ext cx="2592288" cy="2179756"/>
            </a:xfrm>
            <a:prstGeom prst="line">
              <a:avLst/>
            </a:prstGeom>
            <a:noFill/>
            <a:ln w="12700" cap="flat" cmpd="sng" algn="ctr">
              <a:solidFill>
                <a:schemeClr val="tx2">
                  <a:lumMod val="50000"/>
                </a:schemeClr>
              </a:solidFill>
              <a:prstDash val="solid"/>
            </a:ln>
            <a:effectLst/>
          </p:spPr>
        </p:cxnSp>
      </p:grpSp>
      <p:grpSp>
        <p:nvGrpSpPr>
          <p:cNvPr id="28" name="组合 27"/>
          <p:cNvGrpSpPr/>
          <p:nvPr/>
        </p:nvGrpSpPr>
        <p:grpSpPr>
          <a:xfrm flipH="1" flipV="1">
            <a:off x="1707083" y="4546456"/>
            <a:ext cx="1105803" cy="815646"/>
            <a:chOff x="-1604504" y="2147667"/>
            <a:chExt cx="3687215" cy="2719712"/>
          </a:xfrm>
        </p:grpSpPr>
        <p:cxnSp>
          <p:nvCxnSpPr>
            <p:cNvPr id="38" name="直接连接符 37"/>
            <p:cNvCxnSpPr/>
            <p:nvPr/>
          </p:nvCxnSpPr>
          <p:spPr>
            <a:xfrm flipH="1">
              <a:off x="-1604504" y="2687623"/>
              <a:ext cx="2592288" cy="2179756"/>
            </a:xfrm>
            <a:prstGeom prst="line">
              <a:avLst/>
            </a:prstGeom>
            <a:noFill/>
            <a:ln w="76200" cap="flat" cmpd="sng" algn="ctr">
              <a:solidFill>
                <a:sysClr val="windowText" lastClr="000000">
                  <a:lumMod val="85000"/>
                  <a:lumOff val="15000"/>
                </a:sysClr>
              </a:solidFill>
              <a:prstDash val="solid"/>
            </a:ln>
            <a:effectLst/>
          </p:spPr>
        </p:cxnSp>
        <p:cxnSp>
          <p:nvCxnSpPr>
            <p:cNvPr id="39" name="直接连接符 38"/>
            <p:cNvCxnSpPr/>
            <p:nvPr/>
          </p:nvCxnSpPr>
          <p:spPr>
            <a:xfrm flipH="1">
              <a:off x="-509577" y="2147667"/>
              <a:ext cx="2592288" cy="2179756"/>
            </a:xfrm>
            <a:prstGeom prst="line">
              <a:avLst/>
            </a:prstGeom>
            <a:noFill/>
            <a:ln w="12700" cap="flat" cmpd="sng" algn="ctr">
              <a:solidFill>
                <a:sysClr val="windowText" lastClr="000000">
                  <a:lumMod val="85000"/>
                  <a:lumOff val="15000"/>
                </a:sysClr>
              </a:solidFill>
              <a:prstDash val="solid"/>
            </a:ln>
            <a:effectLst/>
          </p:spPr>
        </p:cxnSp>
      </p:grpSp>
      <p:grpSp>
        <p:nvGrpSpPr>
          <p:cNvPr id="40" name="组合 39"/>
          <p:cNvGrpSpPr/>
          <p:nvPr/>
        </p:nvGrpSpPr>
        <p:grpSpPr>
          <a:xfrm>
            <a:off x="4764013" y="1194282"/>
            <a:ext cx="804581" cy="804581"/>
            <a:chOff x="3685832" y="623962"/>
            <a:chExt cx="739840" cy="739840"/>
          </a:xfrm>
        </p:grpSpPr>
        <p:sp>
          <p:nvSpPr>
            <p:cNvPr id="44" name="椭圆 43"/>
            <p:cNvSpPr/>
            <p:nvPr/>
          </p:nvSpPr>
          <p:spPr>
            <a:xfrm>
              <a:off x="3685832" y="623962"/>
              <a:ext cx="739840" cy="739840"/>
            </a:xfrm>
            <a:prstGeom prst="ellipse">
              <a:avLst/>
            </a:prstGeom>
            <a:gradFill flip="none" rotWithShape="1">
              <a:gsLst>
                <a:gs pos="0">
                  <a:srgbClr val="FFFFFF">
                    <a:lumMod val="95000"/>
                    <a:lumOff val="5000"/>
                  </a:srgbClr>
                </a:gs>
                <a:gs pos="0">
                  <a:srgbClr val="FFFFFF">
                    <a:lumMod val="75000"/>
                  </a:srgbClr>
                </a:gs>
                <a:gs pos="70000">
                  <a:srgbClr val="FAFAFA"/>
                </a:gs>
              </a:gsLst>
              <a:lin ang="8100000" scaled="1"/>
              <a:tileRect/>
            </a:gradFill>
            <a:ln w="25400" cap="flat" cmpd="sng" algn="ctr">
              <a:solidFill>
                <a:srgbClr val="FFFFFF"/>
              </a:solidFill>
              <a:prstDash val="solid"/>
            </a:ln>
            <a:effectLst>
              <a:outerShdw blurRad="254000" dist="190500" dir="8100000" algn="tr" rotWithShape="0">
                <a:prstClr val="black">
                  <a:alpha val="15000"/>
                </a:prstClr>
              </a:outerShdw>
            </a:effectLst>
          </p:spPr>
          <p:txBody>
            <a:bodyPr rtlCol="0" anchor="ctr"/>
            <a:lstStyle/>
            <a:p>
              <a:pPr marL="0" marR="0" lvl="0" indent="0" algn="ctr" defTabSz="1219200" eaLnBrk="1" fontAlgn="auto" latinLnBrk="0" hangingPunct="1">
                <a:lnSpc>
                  <a:spcPct val="100000"/>
                </a:lnSpc>
                <a:spcBef>
                  <a:spcPts val="0"/>
                </a:spcBef>
                <a:spcAft>
                  <a:spcPts val="0"/>
                </a:spcAft>
                <a:buClrTx/>
                <a:buSzTx/>
                <a:buFontTx/>
                <a:buNone/>
                <a:defRPr/>
              </a:pPr>
              <a:endParaRPr kumimoji="0" lang="zh-CN" altLang="en-US" sz="2135" b="0" i="0" u="none" strike="noStrike" kern="0" cap="none" spc="0" normalizeH="0" baseline="0" noProof="0" dirty="0" smtClean="0">
                <a:ln>
                  <a:noFill/>
                </a:ln>
                <a:solidFill>
                  <a:srgbClr val="E93F30"/>
                </a:solidFill>
                <a:effectLst/>
                <a:uLnTx/>
                <a:uFillTx/>
                <a:latin typeface="Arial" panose="020B0604020202020204" pitchFamily="34" charset="0"/>
              </a:endParaRPr>
            </a:p>
          </p:txBody>
        </p:sp>
        <p:sp>
          <p:nvSpPr>
            <p:cNvPr id="45" name="TextBox 7"/>
            <p:cNvSpPr txBox="1"/>
            <p:nvPr/>
          </p:nvSpPr>
          <p:spPr>
            <a:xfrm>
              <a:off x="3786929" y="743838"/>
              <a:ext cx="537648" cy="500090"/>
            </a:xfrm>
            <a:prstGeom prst="rect">
              <a:avLst/>
            </a:prstGeom>
            <a:noFill/>
          </p:spPr>
          <p:txBody>
            <a:bodyPr wrap="none" rtlCol="0" anchor="ctr">
              <a:spAutoFit/>
            </a:bodyPr>
            <a:lstStyle/>
            <a:p>
              <a:pPr marL="0" marR="0" lvl="0" indent="0" algn="ctr" defTabSz="1219200" eaLnBrk="1" fontAlgn="auto" latinLnBrk="0" hangingPunct="1">
                <a:lnSpc>
                  <a:spcPct val="100000"/>
                </a:lnSpc>
                <a:spcBef>
                  <a:spcPts val="0"/>
                </a:spcBef>
                <a:spcAft>
                  <a:spcPts val="0"/>
                </a:spcAft>
                <a:buClrTx/>
                <a:buSzTx/>
                <a:buFontTx/>
                <a:buNone/>
                <a:defRPr/>
              </a:pPr>
              <a:r>
                <a:rPr kumimoji="0" lang="en-US" altLang="zh-CN" sz="3735" b="0" i="0" u="none" strike="noStrike" kern="0" cap="none" spc="0" normalizeH="0" baseline="0" noProof="0" dirty="0" smtClean="0">
                  <a:ln>
                    <a:noFill/>
                  </a:ln>
                  <a:solidFill>
                    <a:srgbClr val="000000">
                      <a:lumMod val="65000"/>
                      <a:lumOff val="35000"/>
                    </a:srgbClr>
                  </a:solidFill>
                  <a:effectLst>
                    <a:innerShdw blurRad="63500" dist="50800" dir="18900000">
                      <a:prstClr val="black">
                        <a:alpha val="30000"/>
                      </a:prstClr>
                    </a:innerShdw>
                  </a:effectLst>
                  <a:uLnTx/>
                  <a:uFillTx/>
                  <a:latin typeface="Arial" panose="020B0604020202020204" pitchFamily="34" charset="0"/>
                </a:rPr>
                <a:t>01</a:t>
              </a:r>
              <a:endParaRPr kumimoji="0" lang="zh-CN" altLang="en-US" sz="3735" b="0" i="0" u="none" strike="noStrike" kern="0" cap="none" spc="0" normalizeH="0" baseline="0" noProof="0" dirty="0" smtClean="0">
                <a:ln>
                  <a:noFill/>
                </a:ln>
                <a:solidFill>
                  <a:srgbClr val="000000">
                    <a:lumMod val="65000"/>
                    <a:lumOff val="35000"/>
                  </a:srgbClr>
                </a:solidFill>
                <a:effectLst>
                  <a:innerShdw blurRad="63500" dist="50800" dir="18900000">
                    <a:prstClr val="black">
                      <a:alpha val="30000"/>
                    </a:prstClr>
                  </a:innerShdw>
                </a:effectLst>
                <a:uLnTx/>
                <a:uFillTx/>
                <a:latin typeface="Arial" panose="020B0604020202020204" pitchFamily="34" charset="0"/>
              </a:endParaRPr>
            </a:p>
          </p:txBody>
        </p:sp>
      </p:grpSp>
      <p:grpSp>
        <p:nvGrpSpPr>
          <p:cNvPr id="46" name="组合 45"/>
          <p:cNvGrpSpPr/>
          <p:nvPr/>
        </p:nvGrpSpPr>
        <p:grpSpPr>
          <a:xfrm>
            <a:off x="4764013" y="2760859"/>
            <a:ext cx="804581" cy="804581"/>
            <a:chOff x="3685832" y="1673493"/>
            <a:chExt cx="739840" cy="739840"/>
          </a:xfrm>
        </p:grpSpPr>
        <p:sp>
          <p:nvSpPr>
            <p:cNvPr id="47" name="椭圆 46"/>
            <p:cNvSpPr/>
            <p:nvPr/>
          </p:nvSpPr>
          <p:spPr>
            <a:xfrm>
              <a:off x="3685832" y="1673493"/>
              <a:ext cx="739840" cy="739840"/>
            </a:xfrm>
            <a:prstGeom prst="ellipse">
              <a:avLst/>
            </a:prstGeom>
            <a:gradFill flip="none" rotWithShape="1">
              <a:gsLst>
                <a:gs pos="0">
                  <a:srgbClr val="FFFFFF">
                    <a:lumMod val="95000"/>
                    <a:lumOff val="5000"/>
                  </a:srgbClr>
                </a:gs>
                <a:gs pos="0">
                  <a:srgbClr val="FFFFFF">
                    <a:lumMod val="75000"/>
                  </a:srgbClr>
                </a:gs>
                <a:gs pos="70000">
                  <a:srgbClr val="FAFAFA"/>
                </a:gs>
              </a:gsLst>
              <a:lin ang="8100000" scaled="1"/>
              <a:tileRect/>
            </a:gradFill>
            <a:ln w="25400" cap="flat" cmpd="sng" algn="ctr">
              <a:solidFill>
                <a:srgbClr val="FFFFFF"/>
              </a:solidFill>
              <a:prstDash val="solid"/>
            </a:ln>
            <a:effectLst>
              <a:outerShdw blurRad="254000" dist="190500" dir="8100000" algn="tr" rotWithShape="0">
                <a:prstClr val="black">
                  <a:alpha val="15000"/>
                </a:prstClr>
              </a:outerShdw>
            </a:effectLst>
          </p:spPr>
          <p:txBody>
            <a:bodyPr rtlCol="0" anchor="ctr"/>
            <a:lstStyle/>
            <a:p>
              <a:pPr marL="0" marR="0" lvl="0" indent="0" algn="ctr" defTabSz="1219200" eaLnBrk="1" fontAlgn="auto" latinLnBrk="0" hangingPunct="1">
                <a:lnSpc>
                  <a:spcPct val="100000"/>
                </a:lnSpc>
                <a:spcBef>
                  <a:spcPts val="0"/>
                </a:spcBef>
                <a:spcAft>
                  <a:spcPts val="0"/>
                </a:spcAft>
                <a:buClrTx/>
                <a:buSzTx/>
                <a:buFontTx/>
                <a:buNone/>
                <a:defRPr/>
              </a:pPr>
              <a:endParaRPr kumimoji="0" lang="zh-CN" altLang="en-US" sz="2135" b="0" i="0" u="none" strike="noStrike" kern="0" cap="none" spc="0" normalizeH="0" baseline="0" noProof="0" dirty="0" smtClean="0">
                <a:ln>
                  <a:noFill/>
                </a:ln>
                <a:solidFill>
                  <a:srgbClr val="3574A0"/>
                </a:solidFill>
                <a:effectLst/>
                <a:uLnTx/>
                <a:uFillTx/>
                <a:latin typeface="Arial" panose="020B0604020202020204" pitchFamily="34" charset="0"/>
              </a:endParaRPr>
            </a:p>
          </p:txBody>
        </p:sp>
        <p:sp>
          <p:nvSpPr>
            <p:cNvPr id="48" name="TextBox 10"/>
            <p:cNvSpPr txBox="1"/>
            <p:nvPr/>
          </p:nvSpPr>
          <p:spPr>
            <a:xfrm>
              <a:off x="3786931" y="1793369"/>
              <a:ext cx="537648" cy="500090"/>
            </a:xfrm>
            <a:prstGeom prst="rect">
              <a:avLst/>
            </a:prstGeom>
            <a:noFill/>
          </p:spPr>
          <p:txBody>
            <a:bodyPr wrap="none" rtlCol="0" anchor="ctr">
              <a:spAutoFit/>
            </a:bodyPr>
            <a:lstStyle/>
            <a:p>
              <a:pPr marL="0" marR="0" lvl="0" indent="0" algn="ctr" defTabSz="1219200" eaLnBrk="1" fontAlgn="auto" latinLnBrk="0" hangingPunct="1">
                <a:lnSpc>
                  <a:spcPct val="100000"/>
                </a:lnSpc>
                <a:spcBef>
                  <a:spcPts val="0"/>
                </a:spcBef>
                <a:spcAft>
                  <a:spcPts val="0"/>
                </a:spcAft>
                <a:buClrTx/>
                <a:buSzTx/>
                <a:buFontTx/>
                <a:buNone/>
                <a:defRPr/>
              </a:pPr>
              <a:r>
                <a:rPr kumimoji="0" lang="en-US" altLang="zh-CN" sz="3735" b="0" i="0" u="none" strike="noStrike" kern="0" cap="none" spc="0" normalizeH="0" baseline="0" noProof="0" dirty="0" smtClean="0">
                  <a:ln>
                    <a:noFill/>
                  </a:ln>
                  <a:solidFill>
                    <a:srgbClr val="000000">
                      <a:lumMod val="65000"/>
                      <a:lumOff val="35000"/>
                    </a:srgbClr>
                  </a:solidFill>
                  <a:effectLst>
                    <a:innerShdw blurRad="63500" dist="50800" dir="18900000">
                      <a:prstClr val="black">
                        <a:alpha val="30000"/>
                      </a:prstClr>
                    </a:innerShdw>
                  </a:effectLst>
                  <a:uLnTx/>
                  <a:uFillTx/>
                  <a:latin typeface="Arial" panose="020B0604020202020204" pitchFamily="34" charset="0"/>
                </a:rPr>
                <a:t>02</a:t>
              </a:r>
              <a:endParaRPr kumimoji="0" lang="zh-CN" altLang="en-US" sz="3735" b="0" i="0" u="none" strike="noStrike" kern="0" cap="none" spc="0" normalizeH="0" baseline="0" noProof="0" dirty="0" smtClean="0">
                <a:ln>
                  <a:noFill/>
                </a:ln>
                <a:solidFill>
                  <a:srgbClr val="000000">
                    <a:lumMod val="65000"/>
                    <a:lumOff val="35000"/>
                  </a:srgbClr>
                </a:solidFill>
                <a:effectLst>
                  <a:innerShdw blurRad="63500" dist="50800" dir="18900000">
                    <a:prstClr val="black">
                      <a:alpha val="30000"/>
                    </a:prstClr>
                  </a:innerShdw>
                </a:effectLst>
                <a:uLnTx/>
                <a:uFillTx/>
                <a:latin typeface="Arial" panose="020B0604020202020204" pitchFamily="34" charset="0"/>
              </a:endParaRPr>
            </a:p>
          </p:txBody>
        </p:sp>
      </p:grpSp>
      <p:grpSp>
        <p:nvGrpSpPr>
          <p:cNvPr id="49" name="组合 48"/>
          <p:cNvGrpSpPr/>
          <p:nvPr/>
        </p:nvGrpSpPr>
        <p:grpSpPr>
          <a:xfrm>
            <a:off x="4764013" y="4327435"/>
            <a:ext cx="804581" cy="804581"/>
            <a:chOff x="3685832" y="2723024"/>
            <a:chExt cx="739840" cy="739840"/>
          </a:xfrm>
        </p:grpSpPr>
        <p:sp>
          <p:nvSpPr>
            <p:cNvPr id="50" name="椭圆 49"/>
            <p:cNvSpPr/>
            <p:nvPr/>
          </p:nvSpPr>
          <p:spPr>
            <a:xfrm>
              <a:off x="3685832" y="2723024"/>
              <a:ext cx="739840" cy="739840"/>
            </a:xfrm>
            <a:prstGeom prst="ellipse">
              <a:avLst/>
            </a:prstGeom>
            <a:gradFill flip="none" rotWithShape="1">
              <a:gsLst>
                <a:gs pos="0">
                  <a:srgbClr val="FFFFFF">
                    <a:lumMod val="95000"/>
                    <a:lumOff val="5000"/>
                  </a:srgbClr>
                </a:gs>
                <a:gs pos="0">
                  <a:srgbClr val="FFFFFF">
                    <a:lumMod val="75000"/>
                  </a:srgbClr>
                </a:gs>
                <a:gs pos="70000">
                  <a:srgbClr val="FAFAFA"/>
                </a:gs>
              </a:gsLst>
              <a:lin ang="8100000" scaled="1"/>
              <a:tileRect/>
            </a:gradFill>
            <a:ln w="19050" cap="flat" cmpd="sng" algn="ctr">
              <a:solidFill>
                <a:srgbClr val="FFFFFF"/>
              </a:solidFill>
              <a:prstDash val="solid"/>
            </a:ln>
            <a:effectLst>
              <a:outerShdw blurRad="254000" dist="190500" dir="8100000" algn="tr" rotWithShape="0">
                <a:prstClr val="black">
                  <a:alpha val="15000"/>
                </a:prstClr>
              </a:outerShdw>
            </a:effectLst>
          </p:spPr>
          <p:txBody>
            <a:bodyPr rtlCol="0" anchor="ctr"/>
            <a:lstStyle/>
            <a:p>
              <a:pPr marL="0" marR="0" lvl="0" indent="0" algn="ctr" defTabSz="1219200" eaLnBrk="1" fontAlgn="auto" latinLnBrk="0" hangingPunct="1">
                <a:lnSpc>
                  <a:spcPct val="100000"/>
                </a:lnSpc>
                <a:spcBef>
                  <a:spcPts val="0"/>
                </a:spcBef>
                <a:spcAft>
                  <a:spcPts val="0"/>
                </a:spcAft>
                <a:buClrTx/>
                <a:buSzTx/>
                <a:buFontTx/>
                <a:buNone/>
                <a:defRPr/>
              </a:pPr>
              <a:endParaRPr kumimoji="0" lang="zh-CN" altLang="en-US" sz="2135" b="0" i="0" u="none" strike="noStrike" kern="0" cap="none" spc="0" normalizeH="0" baseline="0" noProof="0" dirty="0" smtClean="0">
                <a:ln>
                  <a:noFill/>
                </a:ln>
                <a:solidFill>
                  <a:srgbClr val="3574A0"/>
                </a:solidFill>
                <a:effectLst/>
                <a:uLnTx/>
                <a:uFillTx/>
                <a:latin typeface="Arial" panose="020B0604020202020204" pitchFamily="34" charset="0"/>
              </a:endParaRPr>
            </a:p>
          </p:txBody>
        </p:sp>
        <p:sp>
          <p:nvSpPr>
            <p:cNvPr id="51" name="TextBox 13"/>
            <p:cNvSpPr txBox="1"/>
            <p:nvPr/>
          </p:nvSpPr>
          <p:spPr>
            <a:xfrm>
              <a:off x="3786929" y="2842900"/>
              <a:ext cx="537648" cy="500090"/>
            </a:xfrm>
            <a:prstGeom prst="rect">
              <a:avLst/>
            </a:prstGeom>
            <a:noFill/>
          </p:spPr>
          <p:txBody>
            <a:bodyPr wrap="none" rtlCol="0" anchor="ctr">
              <a:spAutoFit/>
            </a:bodyPr>
            <a:lstStyle/>
            <a:p>
              <a:pPr marL="0" marR="0" lvl="0" indent="0" algn="ctr" defTabSz="1219200" eaLnBrk="1" fontAlgn="auto" latinLnBrk="0" hangingPunct="1">
                <a:lnSpc>
                  <a:spcPct val="100000"/>
                </a:lnSpc>
                <a:spcBef>
                  <a:spcPts val="0"/>
                </a:spcBef>
                <a:spcAft>
                  <a:spcPts val="0"/>
                </a:spcAft>
                <a:buClrTx/>
                <a:buSzTx/>
                <a:buFontTx/>
                <a:buNone/>
                <a:defRPr/>
              </a:pPr>
              <a:r>
                <a:rPr kumimoji="0" lang="en-US" altLang="zh-CN" sz="3735" b="0" i="0" u="none" strike="noStrike" kern="0" cap="none" spc="0" normalizeH="0" baseline="0" noProof="0" dirty="0" smtClean="0">
                  <a:ln>
                    <a:noFill/>
                  </a:ln>
                  <a:solidFill>
                    <a:srgbClr val="000000">
                      <a:lumMod val="65000"/>
                      <a:lumOff val="35000"/>
                    </a:srgbClr>
                  </a:solidFill>
                  <a:effectLst>
                    <a:innerShdw blurRad="63500" dist="50800" dir="18900000">
                      <a:prstClr val="black">
                        <a:alpha val="30000"/>
                      </a:prstClr>
                    </a:innerShdw>
                  </a:effectLst>
                  <a:uLnTx/>
                  <a:uFillTx/>
                  <a:latin typeface="Arial" panose="020B0604020202020204" pitchFamily="34" charset="0"/>
                </a:rPr>
                <a:t>03</a:t>
              </a:r>
              <a:endParaRPr kumimoji="0" lang="zh-CN" altLang="en-US" sz="3735" b="0" i="0" u="none" strike="noStrike" kern="0" cap="none" spc="0" normalizeH="0" baseline="0" noProof="0" dirty="0" smtClean="0">
                <a:ln>
                  <a:noFill/>
                </a:ln>
                <a:solidFill>
                  <a:srgbClr val="000000">
                    <a:lumMod val="65000"/>
                    <a:lumOff val="35000"/>
                  </a:srgbClr>
                </a:solidFill>
                <a:effectLst>
                  <a:innerShdw blurRad="63500" dist="50800" dir="18900000">
                    <a:prstClr val="black">
                      <a:alpha val="30000"/>
                    </a:prstClr>
                  </a:innerShdw>
                </a:effectLst>
                <a:uLnTx/>
                <a:uFillTx/>
                <a:latin typeface="Arial" panose="020B0604020202020204" pitchFamily="34" charset="0"/>
              </a:endParaRPr>
            </a:p>
          </p:txBody>
        </p:sp>
      </p:grpSp>
      <p:sp>
        <p:nvSpPr>
          <p:cNvPr id="52" name="矩形 51">
            <a:hlinkClick r:id="rId2" action="ppaction://hlinksldjump"/>
          </p:cNvPr>
          <p:cNvSpPr/>
          <p:nvPr/>
        </p:nvSpPr>
        <p:spPr>
          <a:xfrm>
            <a:off x="5678538" y="1286748"/>
            <a:ext cx="2997835" cy="501650"/>
          </a:xfrm>
          <a:prstGeom prst="rect">
            <a:avLst/>
          </a:prstGeom>
        </p:spPr>
        <p:txBody>
          <a:bodyPr wrap="none">
            <a:spAutoFit/>
          </a:bodyPr>
          <a:lstStyle/>
          <a:p>
            <a:pPr defTabSz="1219200"/>
            <a:r>
              <a:rPr lang="zh-CN" altLang="en-US" sz="2665" b="1" dirty="0" smtClean="0">
                <a:solidFill>
                  <a:srgbClr val="4D4D4D"/>
                </a:solidFill>
                <a:latin typeface="方正姚体" panose="02010601030101010101" charset="-122"/>
                <a:ea typeface="方正姚体" panose="02010601030101010101" charset="-122"/>
                <a:cs typeface="方正姚体" panose="02010601030101010101" charset="-122"/>
              </a:rPr>
              <a:t>自主预习 新知导学</a:t>
            </a:r>
            <a:endParaRPr lang="zh-CN" altLang="en-US" sz="2665" b="1" dirty="0">
              <a:solidFill>
                <a:srgbClr val="4D4D4D"/>
              </a:solidFill>
              <a:latin typeface="方正姚体" panose="02010601030101010101" charset="-122"/>
              <a:ea typeface="方正姚体" panose="02010601030101010101" charset="-122"/>
              <a:cs typeface="方正姚体" panose="02010601030101010101" charset="-122"/>
            </a:endParaRPr>
          </a:p>
        </p:txBody>
      </p:sp>
      <p:sp>
        <p:nvSpPr>
          <p:cNvPr id="53" name="矩形 52">
            <a:hlinkClick r:id="rId3" action="ppaction://hlinksldjump"/>
          </p:cNvPr>
          <p:cNvSpPr/>
          <p:nvPr/>
        </p:nvSpPr>
        <p:spPr>
          <a:xfrm>
            <a:off x="5678538" y="2871606"/>
            <a:ext cx="2997835" cy="501650"/>
          </a:xfrm>
          <a:prstGeom prst="rect">
            <a:avLst/>
          </a:prstGeom>
        </p:spPr>
        <p:txBody>
          <a:bodyPr wrap="none">
            <a:spAutoFit/>
          </a:bodyPr>
          <a:lstStyle/>
          <a:p>
            <a:pPr defTabSz="1219200"/>
            <a:r>
              <a:rPr lang="zh-CN" altLang="en-US" sz="2665" b="1" dirty="0" smtClean="0">
                <a:solidFill>
                  <a:srgbClr val="4D4D4D"/>
                </a:solidFill>
                <a:latin typeface="方正姚体" panose="02010601030101010101" charset="-122"/>
                <a:ea typeface="方正姚体" panose="02010601030101010101" charset="-122"/>
                <a:cs typeface="方正姚体" panose="02010601030101010101" charset="-122"/>
              </a:rPr>
              <a:t>合作探究 释疑解惑</a:t>
            </a:r>
            <a:endParaRPr lang="zh-CN" altLang="en-US" sz="2665" b="1" dirty="0">
              <a:solidFill>
                <a:srgbClr val="4D4D4D"/>
              </a:solidFill>
              <a:latin typeface="方正姚体" panose="02010601030101010101" charset="-122"/>
              <a:ea typeface="方正姚体" panose="02010601030101010101" charset="-122"/>
              <a:cs typeface="方正姚体" panose="02010601030101010101" charset="-122"/>
            </a:endParaRPr>
          </a:p>
        </p:txBody>
      </p:sp>
      <p:sp>
        <p:nvSpPr>
          <p:cNvPr id="54" name="矩形 53">
            <a:hlinkClick r:id="rId4" action="ppaction://hlinksldjump"/>
          </p:cNvPr>
          <p:cNvSpPr/>
          <p:nvPr/>
        </p:nvSpPr>
        <p:spPr>
          <a:xfrm>
            <a:off x="5678538" y="4456463"/>
            <a:ext cx="1556836" cy="502445"/>
          </a:xfrm>
          <a:prstGeom prst="rect">
            <a:avLst/>
          </a:prstGeom>
        </p:spPr>
        <p:txBody>
          <a:bodyPr wrap="none">
            <a:spAutoFit/>
          </a:bodyPr>
          <a:lstStyle/>
          <a:p>
            <a:pPr defTabSz="1219200"/>
            <a:r>
              <a:rPr lang="zh-CN" altLang="en-US" sz="2665" b="1" dirty="0" smtClean="0">
                <a:solidFill>
                  <a:srgbClr val="4D4D4D"/>
                </a:solidFill>
                <a:latin typeface="方正姚体" panose="02010601030101010101" charset="-122"/>
                <a:ea typeface="方正姚体" panose="02010601030101010101" charset="-122"/>
                <a:cs typeface="方正姚体" panose="02010601030101010101" charset="-122"/>
              </a:rPr>
              <a:t>随堂练习</a:t>
            </a:r>
            <a:endParaRPr lang="zh-CN" altLang="en-US" sz="2665" b="1" dirty="0">
              <a:solidFill>
                <a:srgbClr val="4D4D4D"/>
              </a:solidFill>
              <a:latin typeface="方正姚体" panose="02010601030101010101" charset="-122"/>
              <a:ea typeface="方正姚体" panose="02010601030101010101" charset="-122"/>
              <a:cs typeface="方正姚体" panose="02010601030101010101" charset="-122"/>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317500" y="701716"/>
            <a:ext cx="11557000" cy="5689151"/>
          </a:xfrm>
          <a:prstGeom prst="rect">
            <a:avLst/>
          </a:prstGeom>
          <a:noFill/>
          <a:ln w="19050">
            <a:gradFill>
              <a:gsLst>
                <a:gs pos="100000">
                  <a:schemeClr val="accent1">
                    <a:lumMod val="5000"/>
                    <a:lumOff val="95000"/>
                  </a:schemeClr>
                </a:gs>
                <a:gs pos="57000">
                  <a:schemeClr val="tx1">
                    <a:lumMod val="50000"/>
                    <a:lumOff val="50000"/>
                  </a:schemeClr>
                </a:gs>
                <a:gs pos="29000">
                  <a:schemeClr val="tx1"/>
                </a:gs>
                <a:gs pos="100000">
                  <a:schemeClr val="bg1"/>
                </a:gs>
              </a:gsLst>
              <a:lin ang="5400000" scaled="1"/>
            </a:gra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00"/>
          </a:p>
        </p:txBody>
      </p:sp>
      <p:sp>
        <p:nvSpPr>
          <p:cNvPr id="9" name="文本框 8"/>
          <p:cNvSpPr txBox="1"/>
          <p:nvPr>
            <p:custDataLst>
              <p:tags r:id="rId1"/>
            </p:custDataLst>
          </p:nvPr>
        </p:nvSpPr>
        <p:spPr>
          <a:xfrm>
            <a:off x="4766695" y="446122"/>
            <a:ext cx="3253105" cy="490640"/>
          </a:xfrm>
          <a:prstGeom prst="roundRect">
            <a:avLst>
              <a:gd name="adj" fmla="val 50000"/>
            </a:avLst>
          </a:prstGeom>
          <a:solidFill>
            <a:schemeClr val="bg2">
              <a:lumMod val="50000"/>
            </a:schemeClr>
          </a:solidFill>
        </p:spPr>
        <p:txBody>
          <a:bodyPr wrap="square" lIns="0" tIns="0" rIns="0" bIns="0" rtlCol="0" anchor="ctr" anchorCtr="0">
            <a:noAutofit/>
          </a:bodyPr>
          <a:lstStyle/>
          <a:p>
            <a:pPr lvl="0" algn="ctr" fontAlgn="base">
              <a:spcBef>
                <a:spcPct val="0"/>
              </a:spcBef>
              <a:spcAft>
                <a:spcPct val="0"/>
              </a:spcAft>
              <a:defRPr/>
            </a:pPr>
            <a:r>
              <a:rPr lang="zh-CN" altLang="en-US" sz="2800" kern="0" dirty="0">
                <a:solidFill>
                  <a:srgbClr val="FFFFFF"/>
                </a:solidFill>
                <a:latin typeface="Arial" panose="020B0604020202020204" pitchFamily="34" charset="0"/>
                <a:ea typeface="微软雅黑" panose="020B0503020204020204" pitchFamily="34" charset="-122"/>
                <a:sym typeface="Arial" panose="020B0604020202020204" pitchFamily="34" charset="0"/>
              </a:rPr>
              <a:t>课标定</a:t>
            </a:r>
            <a:r>
              <a:rPr lang="zh-CN" altLang="en-US" sz="2800" kern="0" dirty="0" smtClean="0">
                <a:solidFill>
                  <a:srgbClr val="FFFFFF"/>
                </a:solidFill>
                <a:latin typeface="Arial" panose="020B0604020202020204" pitchFamily="34" charset="0"/>
                <a:ea typeface="微软雅黑" panose="020B0503020204020204" pitchFamily="34" charset="-122"/>
                <a:sym typeface="Arial" panose="020B0604020202020204" pitchFamily="34" charset="0"/>
              </a:rPr>
              <a:t>位素养</a:t>
            </a:r>
            <a:r>
              <a:rPr lang="zh-CN" altLang="en-US" sz="2800" kern="0" dirty="0">
                <a:solidFill>
                  <a:srgbClr val="FFFFFF"/>
                </a:solidFill>
                <a:latin typeface="Arial" panose="020B0604020202020204" pitchFamily="34" charset="0"/>
                <a:ea typeface="微软雅黑" panose="020B0503020204020204" pitchFamily="34" charset="-122"/>
                <a:sym typeface="Arial" panose="020B0604020202020204" pitchFamily="34" charset="0"/>
              </a:rPr>
              <a:t>阐释</a:t>
            </a:r>
          </a:p>
        </p:txBody>
      </p:sp>
      <p:sp>
        <p:nvSpPr>
          <p:cNvPr id="3" name="矩形 2"/>
          <p:cNvSpPr>
            <a:spLocks noChangeAspect="1"/>
          </p:cNvSpPr>
          <p:nvPr/>
        </p:nvSpPr>
        <p:spPr>
          <a:xfrm>
            <a:off x="381000" y="1243879"/>
            <a:ext cx="11430000" cy="3453253"/>
          </a:xfrm>
          <a:prstGeom prst="rect">
            <a:avLst/>
          </a:prstGeom>
        </p:spPr>
        <p:txBody>
          <a:bodyPr>
            <a:spAutoFit/>
          </a:bodyPr>
          <a:lstStyle/>
          <a:p>
            <a:pPr>
              <a:lnSpc>
                <a:spcPct val="130000"/>
              </a:lnSpc>
              <a:spcAft>
                <a:spcPts val="0"/>
              </a:spcAft>
              <a:tabLst>
                <a:tab pos="1188085" algn="l"/>
                <a:tab pos="2163445" algn="l"/>
                <a:tab pos="3142615" algn="l"/>
                <a:tab pos="4190365" algn="l"/>
              </a:tabLst>
            </a:pPr>
            <a:r>
              <a:rPr lang="en-US" altLang="zh-CN" sz="28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掌握空间向量的夹角的概念</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掌握空间向量的数量积的定义、性质、运算律及计算方法</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dirty="0">
                <a:solidFill>
                  <a:srgbClr val="000000"/>
                </a:solidFill>
                <a:latin typeface="Times New Roman" panose="02020603050405020304" pitchFamily="18" charset="0"/>
                <a:cs typeface="Times New Roman" panose="02020603050405020304" pitchFamily="18" charset="0"/>
              </a:rPr>
              <a:t>3</a:t>
            </a:r>
            <a:r>
              <a:rPr lang="en-US" altLang="zh-CN" sz="2800" i="1"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了解空间向量投影的概念以及投影向量的意义</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dirty="0">
                <a:solidFill>
                  <a:srgbClr val="000000"/>
                </a:solidFill>
                <a:latin typeface="Times New Roman" panose="02020603050405020304" pitchFamily="18" charset="0"/>
                <a:cs typeface="Times New Roman" panose="02020603050405020304" pitchFamily="18" charset="0"/>
              </a:rPr>
              <a:t>4</a:t>
            </a:r>
            <a:r>
              <a:rPr lang="en-US" altLang="zh-CN" sz="2800" i="1"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能用向量的数量积解决立体几何中的垂直、夹角、长度等问题</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pPr>
            <a:r>
              <a:rPr lang="en-US" altLang="zh-CN" sz="2800" dirty="0">
                <a:solidFill>
                  <a:srgbClr val="000000"/>
                </a:solidFill>
                <a:latin typeface="Times New Roman" panose="02020603050405020304" pitchFamily="18" charset="0"/>
              </a:rPr>
              <a:t>5</a:t>
            </a:r>
            <a:r>
              <a:rPr lang="en-US" altLang="zh-CN" sz="2800" i="1" dirty="0">
                <a:solidFill>
                  <a:srgbClr val="000000"/>
                </a:solidFill>
                <a:latin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加强数学抽象和直观</a:t>
            </a:r>
            <a:r>
              <a:rPr lang="zh-CN" altLang="zh-CN" sz="2800" dirty="0" smtClean="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想象</a:t>
            </a:r>
            <a:r>
              <a:rPr lang="zh-CN" altLang="en-US"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素养</a:t>
            </a:r>
            <a:r>
              <a:rPr lang="zh-CN" altLang="zh-CN" sz="2800" dirty="0" smtClean="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的</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培养</a:t>
            </a:r>
            <a:r>
              <a:rPr lang="en-US" altLang="zh-CN" sz="2800" dirty="0">
                <a:solidFill>
                  <a:srgbClr val="000000"/>
                </a:solidFill>
                <a:latin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进一步提升逻辑推理与数学运算素养</a:t>
            </a:r>
            <a:r>
              <a:rPr lang="en-US" altLang="zh-CN" sz="2800" i="1" dirty="0">
                <a:solidFill>
                  <a:srgbClr val="000000"/>
                </a:solidFill>
                <a:latin typeface="Times New Roman" panose="02020603050405020304" pitchFamily="18" charset="0"/>
              </a:rPr>
              <a:t>.</a:t>
            </a:r>
            <a:endParaRPr lang="zh-CN" altLang="en-US" sz="2800" dirty="0"/>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组合 5"/>
          <p:cNvGrpSpPr/>
          <p:nvPr/>
        </p:nvGrpSpPr>
        <p:grpSpPr>
          <a:xfrm>
            <a:off x="2180083" y="2636520"/>
            <a:ext cx="1105802" cy="815646"/>
            <a:chOff x="-1604504" y="2147667"/>
            <a:chExt cx="3687215" cy="2719712"/>
          </a:xfrm>
        </p:grpSpPr>
        <p:cxnSp>
          <p:nvCxnSpPr>
            <p:cNvPr id="7" name="直接连接符 6"/>
            <p:cNvCxnSpPr/>
            <p:nvPr/>
          </p:nvCxnSpPr>
          <p:spPr>
            <a:xfrm flipH="1">
              <a:off x="-1604504" y="2687623"/>
              <a:ext cx="2592288" cy="2179756"/>
            </a:xfrm>
            <a:prstGeom prst="line">
              <a:avLst/>
            </a:prstGeom>
            <a:noFill/>
            <a:ln w="76200" cap="flat" cmpd="sng" algn="ctr">
              <a:solidFill>
                <a:schemeClr val="tx2">
                  <a:lumMod val="50000"/>
                </a:schemeClr>
              </a:solidFill>
              <a:prstDash val="solid"/>
            </a:ln>
            <a:effectLst/>
          </p:spPr>
        </p:cxnSp>
        <p:cxnSp>
          <p:nvCxnSpPr>
            <p:cNvPr id="8" name="直接连接符 7"/>
            <p:cNvCxnSpPr/>
            <p:nvPr/>
          </p:nvCxnSpPr>
          <p:spPr>
            <a:xfrm flipH="1">
              <a:off x="-509577" y="2147667"/>
              <a:ext cx="2592288" cy="2179756"/>
            </a:xfrm>
            <a:prstGeom prst="line">
              <a:avLst/>
            </a:prstGeom>
            <a:noFill/>
            <a:ln w="12700" cap="flat" cmpd="sng" algn="ctr">
              <a:solidFill>
                <a:schemeClr val="tx2">
                  <a:lumMod val="50000"/>
                </a:schemeClr>
              </a:solidFill>
              <a:prstDash val="solid"/>
            </a:ln>
            <a:effectLst/>
          </p:spPr>
        </p:cxnSp>
      </p:grpSp>
      <p:grpSp>
        <p:nvGrpSpPr>
          <p:cNvPr id="9" name="组合 8"/>
          <p:cNvGrpSpPr/>
          <p:nvPr/>
        </p:nvGrpSpPr>
        <p:grpSpPr>
          <a:xfrm flipH="1" flipV="1">
            <a:off x="8735898" y="2665586"/>
            <a:ext cx="1105803" cy="815646"/>
            <a:chOff x="-1604504" y="2147667"/>
            <a:chExt cx="3687215" cy="2719712"/>
          </a:xfrm>
        </p:grpSpPr>
        <p:cxnSp>
          <p:nvCxnSpPr>
            <p:cNvPr id="10" name="直接连接符 9"/>
            <p:cNvCxnSpPr/>
            <p:nvPr/>
          </p:nvCxnSpPr>
          <p:spPr>
            <a:xfrm flipH="1">
              <a:off x="-1604504" y="2687623"/>
              <a:ext cx="2592288" cy="2179756"/>
            </a:xfrm>
            <a:prstGeom prst="line">
              <a:avLst/>
            </a:prstGeom>
            <a:noFill/>
            <a:ln w="76200" cap="flat" cmpd="sng" algn="ctr">
              <a:solidFill>
                <a:sysClr val="windowText" lastClr="000000">
                  <a:lumMod val="85000"/>
                  <a:lumOff val="15000"/>
                </a:sysClr>
              </a:solidFill>
              <a:prstDash val="solid"/>
            </a:ln>
            <a:effectLst/>
          </p:spPr>
        </p:cxnSp>
        <p:cxnSp>
          <p:nvCxnSpPr>
            <p:cNvPr id="11" name="直接连接符 10"/>
            <p:cNvCxnSpPr/>
            <p:nvPr/>
          </p:nvCxnSpPr>
          <p:spPr>
            <a:xfrm flipH="1">
              <a:off x="-509577" y="2147667"/>
              <a:ext cx="2592288" cy="2179756"/>
            </a:xfrm>
            <a:prstGeom prst="line">
              <a:avLst/>
            </a:prstGeom>
            <a:noFill/>
            <a:ln w="12700" cap="flat" cmpd="sng" algn="ctr">
              <a:solidFill>
                <a:sysClr val="windowText" lastClr="000000">
                  <a:lumMod val="85000"/>
                  <a:lumOff val="15000"/>
                </a:sysClr>
              </a:solidFill>
              <a:prstDash val="solid"/>
            </a:ln>
            <a:effectLst/>
          </p:spPr>
        </p:cxnSp>
      </p:grpSp>
      <p:sp>
        <p:nvSpPr>
          <p:cNvPr id="12" name="文本框 11"/>
          <p:cNvSpPr txBox="1"/>
          <p:nvPr/>
        </p:nvSpPr>
        <p:spPr>
          <a:xfrm>
            <a:off x="2969260" y="2585720"/>
            <a:ext cx="6252845" cy="922020"/>
          </a:xfrm>
          <a:prstGeom prst="rect">
            <a:avLst/>
          </a:prstGeom>
          <a:noFill/>
        </p:spPr>
        <p:txBody>
          <a:bodyPr wrap="square" rtlCol="0">
            <a:spAutoFit/>
          </a:bodyPr>
          <a:lstStyle/>
          <a:p>
            <a:r>
              <a:rPr lang="zh-CN" altLang="en-US" sz="5400" b="1" dirty="0" smtClean="0">
                <a:solidFill>
                  <a:srgbClr val="4D4D4D"/>
                </a:solidFill>
                <a:latin typeface="方正姚体" panose="02010601030101010101" charset="-122"/>
                <a:ea typeface="方正姚体" panose="02010601030101010101" charset="-122"/>
                <a:cs typeface="方正姚体" panose="02010601030101010101" charset="-122"/>
                <a:sym typeface="+mn-ea"/>
              </a:rPr>
              <a:t>自主预习 新知导学</a:t>
            </a:r>
            <a:endParaRPr lang="zh-CN" altLang="en-US" sz="5400" b="1" dirty="0">
              <a:solidFill>
                <a:srgbClr val="4D4D4D"/>
              </a:solidFill>
              <a:latin typeface="方正姚体" panose="02010601030101010101" charset="-122"/>
              <a:ea typeface="方正姚体" panose="02010601030101010101" charset="-122"/>
              <a:cs typeface="方正姚体" panose="02010601030101010101" charset="-122"/>
              <a:sym typeface="+mn-ea"/>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pattFill prst="smCheck">
          <a:fgClr>
            <a:srgbClr val="E8F4E9"/>
          </a:fgClr>
          <a:bgClr>
            <a:schemeClr val="bg1"/>
          </a:bgClr>
        </a:pattFill>
        <a:effectLst/>
      </p:bgPr>
    </p:bg>
    <p:spTree>
      <p:nvGrpSpPr>
        <p:cNvPr id="1" name=""/>
        <p:cNvGrpSpPr/>
        <p:nvPr/>
      </p:nvGrpSpPr>
      <p:grpSpPr>
        <a:xfrm>
          <a:off x="0" y="0"/>
          <a:ext cx="0" cy="0"/>
          <a:chOff x="0" y="0"/>
          <a:chExt cx="0" cy="0"/>
        </a:xfrm>
      </p:grpSpPr>
      <p:sp>
        <p:nvSpPr>
          <p:cNvPr id="2" name="矩形 1"/>
          <p:cNvSpPr>
            <a:spLocks noChangeAspect="1"/>
          </p:cNvSpPr>
          <p:nvPr/>
        </p:nvSpPr>
        <p:spPr>
          <a:xfrm>
            <a:off x="381000" y="1115146"/>
            <a:ext cx="11430000" cy="3453253"/>
          </a:xfrm>
          <a:prstGeom prst="rect">
            <a:avLst/>
          </a:prstGeom>
        </p:spPr>
        <p:txBody>
          <a:bodyPr>
            <a:spAutoFit/>
          </a:bodyPr>
          <a:lstStyle/>
          <a:p>
            <a:pPr indent="279400">
              <a:lnSpc>
                <a:spcPct val="130000"/>
              </a:lnSpc>
              <a:spcAft>
                <a:spcPts val="0"/>
              </a:spcAft>
              <a:tabLst>
                <a:tab pos="1188085" algn="l"/>
                <a:tab pos="2163445" algn="l"/>
                <a:tab pos="3142615" algn="l"/>
                <a:tab pos="4190365" algn="l"/>
              </a:tabLst>
            </a:pPr>
            <a:r>
              <a:rPr lang="zh-CN" altLang="zh-CN" sz="2800" dirty="0">
                <a:solidFill>
                  <a:srgbClr val="000000"/>
                </a:solidFill>
                <a:latin typeface="NEU-BZ-S92"/>
                <a:ea typeface="方正正中黑简体"/>
                <a:cs typeface="Times New Roman" panose="02020603050405020304" pitchFamily="18" charset="0"/>
              </a:rPr>
              <a:t>一、空间向量的夹角</a:t>
            </a:r>
            <a:endParaRPr lang="zh-CN" altLang="zh-CN" sz="2800" dirty="0">
              <a:solidFill>
                <a:srgbClr val="000000"/>
              </a:solidFill>
              <a:effectLst/>
              <a:latin typeface="NEU-BZ-S92"/>
              <a:ea typeface="方正书宋_GBK" panose="03000509000000000000" pitchFamily="65" charset="-122"/>
              <a:cs typeface="Times New Roman" panose="02020603050405020304" pitchFamily="18" charset="0"/>
            </a:endParaRPr>
          </a:p>
          <a:p>
            <a:pPr indent="280670">
              <a:lnSpc>
                <a:spcPct val="130000"/>
              </a:lnSpc>
              <a:spcAft>
                <a:spcPts val="0"/>
              </a:spcAft>
              <a:tabLst>
                <a:tab pos="1188085" algn="l"/>
                <a:tab pos="2163445" algn="l"/>
                <a:tab pos="3142615" algn="l"/>
                <a:tab pos="4190365" algn="l"/>
              </a:tabLst>
            </a:pPr>
            <a:r>
              <a:rPr lang="en-US" altLang="zh-CN" sz="2800" b="1" dirty="0" smtClean="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平面内的两个向量</a:t>
            </a:r>
            <a:r>
              <a:rPr lang="en-US" altLang="zh-CN" sz="2800" b="1" i="1" dirty="0" err="1">
                <a:solidFill>
                  <a:srgbClr val="000000"/>
                </a:solidFill>
                <a:latin typeface="Times New Roman" panose="02020603050405020304" pitchFamily="18" charset="0"/>
                <a:cs typeface="Times New Roman" panose="02020603050405020304" pitchFamily="18" charset="0"/>
              </a:rPr>
              <a:t>a</a:t>
            </a:r>
            <a:r>
              <a:rPr lang="en-US" altLang="zh-CN" sz="2800" dirty="0" err="1">
                <a:solidFill>
                  <a:srgbClr val="000000"/>
                </a:solidFill>
                <a:latin typeface="Times New Roman" panose="02020603050405020304" pitchFamily="18" charset="0"/>
                <a:cs typeface="Times New Roman" panose="02020603050405020304" pitchFamily="18" charset="0"/>
              </a:rPr>
              <a:t>,</a:t>
            </a:r>
            <a:r>
              <a:rPr lang="en-US" altLang="zh-CN" sz="2800" b="1" i="1" dirty="0" err="1">
                <a:solidFill>
                  <a:srgbClr val="000000"/>
                </a:solidFill>
                <a:latin typeface="Times New Roman" panose="02020603050405020304" pitchFamily="18" charset="0"/>
                <a:cs typeface="Times New Roman" panose="02020603050405020304" pitchFamily="18" charset="0"/>
              </a:rPr>
              <a:t>b</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它们的夹角是如何定义的</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范围多少</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这个定义适用于空间向量吗</a:t>
            </a:r>
            <a:r>
              <a:rPr lang="en-US" altLang="zh-CN" sz="2800"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effectLst/>
              <a:latin typeface="NEU-BZ-S92"/>
              <a:ea typeface="方正书宋_GBK" panose="03000509000000000000" pitchFamily="65" charset="-122"/>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zh-CN" altLang="zh-CN" sz="2800" dirty="0">
                <a:solidFill>
                  <a:srgbClr val="FF0000"/>
                </a:solidFill>
                <a:effectLst/>
                <a:latin typeface="Arial" panose="020B0604020202020204" pitchFamily="34" charset="0"/>
                <a:ea typeface="黑体" panose="02010609060101010101" pitchFamily="49" charset="-122"/>
                <a:cs typeface="Times New Roman" panose="02020603050405020304" pitchFamily="18" charset="0"/>
              </a:rPr>
              <a:t>提示</a:t>
            </a:r>
            <a:r>
              <a:rPr lang="en-US" altLang="zh-CN" sz="2800" dirty="0">
                <a:solidFill>
                  <a:srgbClr val="FF0000"/>
                </a:solidFill>
                <a:effectLst/>
                <a:latin typeface="Arial" panose="020B0604020202020204" pitchFamily="34" charset="0"/>
                <a:ea typeface="黑体" panose="02010609060101010101" pitchFamily="49" charset="-122"/>
                <a:cs typeface="Times New Roman" panose="02020603050405020304" pitchFamily="18" charset="0"/>
              </a:rPr>
              <a:t>:</a:t>
            </a:r>
            <a:r>
              <a:rPr lang="zh-CN" altLang="zh-CN" sz="28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定义</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两个非零向量</a:t>
            </a:r>
            <a:r>
              <a:rPr lang="en-US" altLang="zh-CN" sz="2800" b="1" i="1" dirty="0" err="1">
                <a:solidFill>
                  <a:srgbClr val="000000"/>
                </a:solidFill>
                <a:latin typeface="Times New Roman" panose="02020603050405020304" pitchFamily="18" charset="0"/>
                <a:cs typeface="Times New Roman" panose="02020603050405020304" pitchFamily="18" charset="0"/>
              </a:rPr>
              <a:t>a</a:t>
            </a:r>
            <a:r>
              <a:rPr lang="en-US" altLang="zh-CN" sz="2800" dirty="0" err="1">
                <a:solidFill>
                  <a:srgbClr val="000000"/>
                </a:solidFill>
                <a:latin typeface="Times New Roman" panose="02020603050405020304" pitchFamily="18" charset="0"/>
                <a:cs typeface="Times New Roman" panose="02020603050405020304" pitchFamily="18" charset="0"/>
              </a:rPr>
              <a:t>,</a:t>
            </a:r>
            <a:r>
              <a:rPr lang="en-US" altLang="zh-CN" sz="2800" b="1" i="1" dirty="0" err="1">
                <a:solidFill>
                  <a:srgbClr val="000000"/>
                </a:solidFill>
                <a:latin typeface="Times New Roman" panose="02020603050405020304" pitchFamily="18" charset="0"/>
                <a:cs typeface="Times New Roman" panose="02020603050405020304" pitchFamily="18" charset="0"/>
              </a:rPr>
              <a:t>b</a:t>
            </a:r>
            <a:r>
              <a:rPr lang="en-US" altLang="zh-CN" sz="2800" dirty="0" err="1">
                <a:solidFill>
                  <a:srgbClr val="000000"/>
                </a:solidFill>
                <a:latin typeface="Times New Roman" panose="02020603050405020304" pitchFamily="18" charset="0"/>
                <a:cs typeface="Times New Roman" panose="02020603050405020304" pitchFamily="18" charset="0"/>
              </a:rPr>
              <a:t>,</a:t>
            </a:r>
            <a:r>
              <a:rPr lang="en-US" altLang="zh-CN" sz="2800" i="1" dirty="0" err="1">
                <a:solidFill>
                  <a:srgbClr val="000000"/>
                </a:solidFill>
                <a:latin typeface="Times New Roman" panose="02020603050405020304" pitchFamily="18" charset="0"/>
                <a:cs typeface="Times New Roman" panose="02020603050405020304" pitchFamily="18" charset="0"/>
              </a:rPr>
              <a:t>O</a:t>
            </a:r>
            <a:r>
              <a:rPr lang="zh-CN" altLang="zh-CN" sz="28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是平面内的任意一点</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smtClean="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作</a:t>
            </a:r>
            <a:r>
              <a:rPr lang="en-US" altLang="zh-CN" sz="2800" dirty="0" smtClean="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                      </a:t>
            </a:r>
            <a:r>
              <a:rPr lang="en-US" altLang="zh-CN" sz="2800" dirty="0" smtClean="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则</a:t>
            </a:r>
            <a:r>
              <a:rPr lang="zh-CN" altLang="zh-CN" sz="2800" dirty="0">
                <a:solidFill>
                  <a:srgbClr val="000000"/>
                </a:solidFill>
                <a:latin typeface="NEU-BZ-S92"/>
                <a:cs typeface="宋体" panose="02010600030101010101" pitchFamily="2" charset="-122"/>
              </a:rPr>
              <a:t>∠</a:t>
            </a:r>
            <a:r>
              <a:rPr lang="en-US" altLang="zh-CN" sz="2800" i="1" dirty="0">
                <a:solidFill>
                  <a:srgbClr val="000000"/>
                </a:solidFill>
                <a:latin typeface="Times New Roman" panose="02020603050405020304" pitchFamily="18" charset="0"/>
                <a:cs typeface="Times New Roman" panose="02020603050405020304" pitchFamily="18" charset="0"/>
              </a:rPr>
              <a:t>AOB=</a:t>
            </a:r>
            <a:r>
              <a:rPr lang="en-US" altLang="zh-CN" sz="2800" i="1" dirty="0">
                <a:solidFill>
                  <a:srgbClr val="000000"/>
                </a:solidFill>
                <a:effectLst/>
                <a:latin typeface="Times New Roman" panose="02020603050405020304" pitchFamily="18" charset="0"/>
                <a:ea typeface="Microsoft Yi Baiti" panose="03000500000000000000" pitchFamily="66" charset="0"/>
                <a:cs typeface="Times New Roman" panose="02020603050405020304" pitchFamily="18" charset="0"/>
              </a:rPr>
              <a:t>θ</a:t>
            </a:r>
            <a:r>
              <a:rPr lang="en-US" altLang="zh-CN" sz="2800" dirty="0">
                <a:solidFill>
                  <a:srgbClr val="000000"/>
                </a:solidFill>
                <a:latin typeface="Times New Roman" panose="02020603050405020304" pitchFamily="18" charset="0"/>
                <a:cs typeface="Times New Roman" panose="02020603050405020304" pitchFamily="18" charset="0"/>
              </a:rPr>
              <a:t>(0</a:t>
            </a:r>
            <a:r>
              <a:rPr lang="en-US" altLang="zh-CN" sz="2800" dirty="0">
                <a:solidFill>
                  <a:srgbClr val="000000"/>
                </a:solidFill>
                <a:effectLst/>
                <a:latin typeface="宋体" panose="02010600030101010101" pitchFamily="2" charset="-122"/>
                <a:ea typeface="方正书宋_GBK" panose="03000509000000000000" pitchFamily="65" charset="-122"/>
                <a:cs typeface="Times New Roman" panose="02020603050405020304" pitchFamily="18" charset="0"/>
              </a:rPr>
              <a:t>≤</a:t>
            </a:r>
            <a:r>
              <a:rPr lang="en-US" altLang="zh-CN" sz="2800" i="1" dirty="0">
                <a:solidFill>
                  <a:srgbClr val="000000"/>
                </a:solidFill>
                <a:effectLst/>
                <a:latin typeface="Times New Roman" panose="02020603050405020304" pitchFamily="18" charset="0"/>
                <a:ea typeface="Microsoft Yi Baiti" panose="03000500000000000000" pitchFamily="66" charset="0"/>
                <a:cs typeface="Times New Roman" panose="02020603050405020304" pitchFamily="18" charset="0"/>
              </a:rPr>
              <a:t>θ</a:t>
            </a:r>
            <a:r>
              <a:rPr lang="en-US" altLang="zh-CN" sz="2800" dirty="0">
                <a:solidFill>
                  <a:srgbClr val="000000"/>
                </a:solidFill>
                <a:effectLst/>
                <a:latin typeface="宋体" panose="02010600030101010101" pitchFamily="2" charset="-122"/>
                <a:ea typeface="方正书宋_GBK" panose="03000509000000000000" pitchFamily="65" charset="-122"/>
                <a:cs typeface="Times New Roman" panose="02020603050405020304" pitchFamily="18" charset="0"/>
              </a:rPr>
              <a:t>≤</a:t>
            </a:r>
            <a:r>
              <a:rPr lang="en-US" altLang="zh-CN" sz="2800" dirty="0">
                <a:solidFill>
                  <a:srgbClr val="000000"/>
                </a:solidFill>
                <a:effectLst/>
                <a:latin typeface="Times New Roman" panose="02020603050405020304" pitchFamily="18" charset="0"/>
                <a:ea typeface="Microsoft Yi Baiti" panose="03000500000000000000" pitchFamily="66" charset="0"/>
                <a:cs typeface="Times New Roman" panose="02020603050405020304" pitchFamily="18" charset="0"/>
              </a:rPr>
              <a:t>π</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叫做向量</a:t>
            </a:r>
            <a:r>
              <a:rPr lang="en-US" altLang="zh-CN" sz="2800" b="1" i="1" dirty="0">
                <a:solidFill>
                  <a:srgbClr val="000000"/>
                </a:solidFill>
                <a:latin typeface="Times New Roman" panose="02020603050405020304" pitchFamily="18" charset="0"/>
                <a:cs typeface="Times New Roman" panose="02020603050405020304" pitchFamily="18" charset="0"/>
              </a:rPr>
              <a:t>a</a:t>
            </a:r>
            <a:r>
              <a:rPr lang="zh-CN" altLang="zh-CN" sz="28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与</a:t>
            </a:r>
            <a:r>
              <a:rPr lang="en-US" altLang="zh-CN" sz="2800" b="1" i="1" dirty="0">
                <a:solidFill>
                  <a:srgbClr val="000000"/>
                </a:solidFill>
                <a:latin typeface="Times New Roman" panose="02020603050405020304" pitchFamily="18" charset="0"/>
                <a:cs typeface="Times New Roman" panose="02020603050405020304" pitchFamily="18" charset="0"/>
              </a:rPr>
              <a:t>b</a:t>
            </a:r>
            <a:r>
              <a:rPr lang="zh-CN" altLang="zh-CN" sz="28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的夹角</a:t>
            </a:r>
            <a:r>
              <a:rPr lang="en-US" altLang="zh-CN" sz="2800" i="1"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范围</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effectLst/>
                <a:latin typeface="Times New Roman" panose="02020603050405020304" pitchFamily="18" charset="0"/>
                <a:ea typeface="Microsoft Yi Baiti" panose="03000500000000000000" pitchFamily="66" charset="0"/>
                <a:cs typeface="Times New Roman" panose="02020603050405020304" pitchFamily="18" charset="0"/>
              </a:rPr>
              <a:t>θ</a:t>
            </a:r>
            <a:r>
              <a:rPr lang="zh-CN" altLang="zh-CN" sz="2800" dirty="0">
                <a:solidFill>
                  <a:srgbClr val="000000"/>
                </a:solidFill>
                <a:latin typeface="NEU-BZ-S92"/>
                <a:cs typeface="宋体" panose="02010600030101010101" pitchFamily="2" charset="-122"/>
              </a:rPr>
              <a:t>∈</a:t>
            </a:r>
            <a:r>
              <a:rPr lang="en-US" altLang="zh-CN" sz="2800" dirty="0">
                <a:solidFill>
                  <a:srgbClr val="000000"/>
                </a:solidFill>
                <a:latin typeface="Times New Roman" panose="02020603050405020304" pitchFamily="18" charset="0"/>
                <a:cs typeface="Times New Roman" panose="02020603050405020304" pitchFamily="18" charset="0"/>
              </a:rPr>
              <a:t>[0,</a:t>
            </a:r>
            <a:r>
              <a:rPr lang="en-US" altLang="zh-CN" sz="2800" dirty="0">
                <a:solidFill>
                  <a:srgbClr val="000000"/>
                </a:solidFill>
                <a:effectLst/>
                <a:latin typeface="Times New Roman" panose="02020603050405020304" pitchFamily="18" charset="0"/>
                <a:ea typeface="Microsoft Yi Baiti" panose="03000500000000000000" pitchFamily="66" charset="0"/>
                <a:cs typeface="Times New Roman" panose="02020603050405020304" pitchFamily="18" charset="0"/>
              </a:rPr>
              <a:t>π</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这个定义也适用于空间向量</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effectLst/>
              <a:latin typeface="NEU-BZ-S92"/>
              <a:ea typeface="方正书宋_GBK" panose="03000509000000000000" pitchFamily="65" charset="-122"/>
              <a:cs typeface="Times New Roman" panose="02020603050405020304" pitchFamily="18" charset="0"/>
            </a:endParaRPr>
          </a:p>
        </p:txBody>
      </p:sp>
      <p:graphicFrame>
        <p:nvGraphicFramePr>
          <p:cNvPr id="3" name="对象 2"/>
          <p:cNvGraphicFramePr>
            <a:graphicFrameLocks noChangeAspect="1"/>
          </p:cNvGraphicFramePr>
          <p:nvPr>
            <p:extLst>
              <p:ext uri="{D42A27DB-BD31-4B8C-83A1-F6EECF244321}">
                <p14:modId xmlns:p14="http://schemas.microsoft.com/office/powerpoint/2010/main" val="2941483019"/>
              </p:ext>
            </p:extLst>
          </p:nvPr>
        </p:nvGraphicFramePr>
        <p:xfrm>
          <a:off x="9020608" y="2895886"/>
          <a:ext cx="2390775" cy="506413"/>
        </p:xfrm>
        <a:graphic>
          <a:graphicData uri="http://schemas.openxmlformats.org/presentationml/2006/ole">
            <mc:AlternateContent xmlns:mc="http://schemas.openxmlformats.org/markup-compatibility/2006">
              <mc:Choice xmlns:v="urn:schemas-microsoft-com:vml" Requires="v">
                <p:oleObj spid="_x0000_s1053" name="文档" r:id="rId3" imgW="950948" imgH="201096" progId="Word.Document.12">
                  <p:embed/>
                </p:oleObj>
              </mc:Choice>
              <mc:Fallback>
                <p:oleObj name="文档" r:id="rId3" imgW="950948" imgH="201096" progId="Word.Document.12">
                  <p:embed/>
                  <p:pic>
                    <p:nvPicPr>
                      <p:cNvPr id="0" name=""/>
                      <p:cNvPicPr/>
                      <p:nvPr/>
                    </p:nvPicPr>
                    <p:blipFill>
                      <a:blip r:embed="rId4"/>
                      <a:stretch>
                        <a:fillRect/>
                      </a:stretch>
                    </p:blipFill>
                    <p:spPr>
                      <a:xfrm>
                        <a:off x="9020608" y="2895886"/>
                        <a:ext cx="2390775" cy="506413"/>
                      </a:xfrm>
                      <a:prstGeom prst="rect">
                        <a:avLst/>
                      </a:prstGeom>
                    </p:spPr>
                  </p:pic>
                </p:oleObj>
              </mc:Fallback>
            </mc:AlternateContent>
          </a:graphicData>
        </a:graphic>
      </p:graphicFrame>
    </p:spTree>
    <p:extLst>
      <p:ext uri="{BB962C8B-B14F-4D97-AF65-F5344CB8AC3E}">
        <p14:creationId xmlns:p14="http://schemas.microsoft.com/office/powerpoint/2010/main" val="309350289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2">
                                            <p:txEl>
                                              <p:pRg st="2" end="2"/>
                                            </p:txEl>
                                          </p:spTgt>
                                        </p:tgtEl>
                                        <p:attrNameLst>
                                          <p:attrName>style.visibility</p:attrName>
                                        </p:attrNameLst>
                                      </p:cBhvr>
                                      <p:to>
                                        <p:strVal val="visible"/>
                                      </p:to>
                                    </p:set>
                                    <p:animEffect transition="in" filter="wipe(down)">
                                      <p:cBhvr>
                                        <p:cTn id="7" dur="500"/>
                                        <p:tgtEl>
                                          <p:spTgt spid="2">
                                            <p:txEl>
                                              <p:pRg st="2" end="2"/>
                                            </p:txEl>
                                          </p:spTgt>
                                        </p:tgtEl>
                                      </p:cBhvr>
                                    </p:animEffect>
                                  </p:childTnLst>
                                </p:cTn>
                              </p:par>
                              <p:par>
                                <p:cTn id="8" presetID="22" presetClass="entr" presetSubtype="4" fill="hold"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wipe(down)">
                                      <p:cBhvr>
                                        <p:cTn id="10"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bg>
      <p:bgPr>
        <a:pattFill prst="smCheck">
          <a:fgClr>
            <a:srgbClr val="E8F4E9"/>
          </a:fgClr>
          <a:bgClr>
            <a:schemeClr val="bg1"/>
          </a:bgClr>
        </a:pattFill>
        <a:effectLst/>
      </p:bgPr>
    </p:bg>
    <p:spTree>
      <p:nvGrpSpPr>
        <p:cNvPr id="1" name=""/>
        <p:cNvGrpSpPr/>
        <p:nvPr/>
      </p:nvGrpSpPr>
      <p:grpSpPr>
        <a:xfrm>
          <a:off x="0" y="0"/>
          <a:ext cx="0" cy="0"/>
          <a:chOff x="0" y="0"/>
          <a:chExt cx="0" cy="0"/>
        </a:xfrm>
      </p:grpSpPr>
      <p:sp>
        <p:nvSpPr>
          <p:cNvPr id="4" name="矩形 3"/>
          <p:cNvSpPr>
            <a:spLocks noChangeAspect="1"/>
          </p:cNvSpPr>
          <p:nvPr/>
        </p:nvSpPr>
        <p:spPr>
          <a:xfrm>
            <a:off x="381000" y="881393"/>
            <a:ext cx="11430000" cy="4135940"/>
          </a:xfrm>
          <a:prstGeom prst="rect">
            <a:avLst/>
          </a:prstGeom>
        </p:spPr>
        <p:txBody>
          <a:bodyPr>
            <a:spAutoFit/>
          </a:bodyPr>
          <a:lstStyle/>
          <a:p>
            <a:pPr indent="280670">
              <a:lnSpc>
                <a:spcPct val="130000"/>
              </a:lnSpc>
              <a:spcAft>
                <a:spcPts val="0"/>
              </a:spcAft>
              <a:tabLst>
                <a:tab pos="1188085" algn="l"/>
                <a:tab pos="2163445" algn="l"/>
                <a:tab pos="3142615" algn="l"/>
                <a:tab pos="4190365" algn="l"/>
              </a:tabLst>
            </a:pPr>
            <a:r>
              <a:rPr lang="en-US" altLang="zh-CN" sz="2800" b="1" dirty="0" smtClean="0">
                <a:solidFill>
                  <a:srgbClr val="000000"/>
                </a:solidFill>
                <a:latin typeface="Times New Roman" panose="02020603050405020304" pitchFamily="18" charset="0"/>
                <a:cs typeface="Times New Roman" panose="02020603050405020304" pitchFamily="18" charset="0"/>
              </a:rPr>
              <a:t>2</a:t>
            </a:r>
            <a:r>
              <a:rPr lang="en-US" altLang="zh-CN" sz="2800" i="1" dirty="0" smtClean="0">
                <a:solidFill>
                  <a:srgbClr val="000000"/>
                </a:solidFill>
                <a:latin typeface="Times New Roman" panose="02020603050405020304" pitchFamily="18" charset="0"/>
                <a:cs typeface="Times New Roman" panose="02020603050405020304" pitchFamily="18" charset="0"/>
              </a:rPr>
              <a:t>.</a:t>
            </a:r>
            <a:r>
              <a:rPr lang="zh-CN" altLang="zh-CN" sz="2800" dirty="0" smtClean="0">
                <a:solidFill>
                  <a:srgbClr val="000000"/>
                </a:solidFill>
                <a:latin typeface="Times New Roman" panose="02020603050405020304" pitchFamily="18" charset="0"/>
                <a:cs typeface="Times New Roman" panose="02020603050405020304" pitchFamily="18" charset="0"/>
              </a:rPr>
              <a:t>空间</a:t>
            </a:r>
            <a:r>
              <a:rPr lang="zh-CN" altLang="zh-CN" sz="2800" dirty="0">
                <a:solidFill>
                  <a:srgbClr val="000000"/>
                </a:solidFill>
                <a:latin typeface="Times New Roman" panose="02020603050405020304" pitchFamily="18" charset="0"/>
                <a:cs typeface="Times New Roman" panose="02020603050405020304" pitchFamily="18" charset="0"/>
              </a:rPr>
              <a:t>两个向量的夹角</a:t>
            </a:r>
            <a:endParaRPr lang="zh-CN" altLang="zh-CN" sz="2800" dirty="0">
              <a:solidFill>
                <a:srgbClr val="000000"/>
              </a:solidFill>
              <a:effectLst/>
              <a:latin typeface="NEU-BZ-S92"/>
              <a:ea typeface="方正书宋_GBK" panose="03000509000000000000" pitchFamily="65" charset="-122"/>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en-US" altLang="zh-CN" sz="2800" dirty="0">
                <a:solidFill>
                  <a:srgbClr val="000000"/>
                </a:solidFill>
                <a:latin typeface="Times New Roman" panose="02020603050405020304" pitchFamily="18" charset="0"/>
                <a:cs typeface="Times New Roman" panose="02020603050405020304" pitchFamily="18" charset="0"/>
              </a:rPr>
              <a:t>(1)</a:t>
            </a:r>
            <a:r>
              <a:rPr lang="zh-CN" altLang="zh-CN" sz="2800" dirty="0">
                <a:solidFill>
                  <a:srgbClr val="000000"/>
                </a:solidFill>
                <a:latin typeface="Times New Roman" panose="02020603050405020304" pitchFamily="18" charset="0"/>
                <a:cs typeface="Times New Roman" panose="02020603050405020304" pitchFamily="18" charset="0"/>
              </a:rPr>
              <a:t>定义</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如图</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已知两个非零向量</a:t>
            </a:r>
            <a:r>
              <a:rPr lang="en-US" altLang="zh-CN" sz="2800" b="1" dirty="0" err="1">
                <a:solidFill>
                  <a:srgbClr val="000000"/>
                </a:solidFill>
                <a:latin typeface="Times New Roman" panose="02020603050405020304" pitchFamily="18" charset="0"/>
                <a:cs typeface="Times New Roman" panose="02020603050405020304" pitchFamily="18" charset="0"/>
              </a:rPr>
              <a:t>a</a:t>
            </a:r>
            <a:r>
              <a:rPr lang="en-US" altLang="zh-CN" sz="2800" dirty="0" err="1">
                <a:solidFill>
                  <a:srgbClr val="000000"/>
                </a:solidFill>
                <a:latin typeface="Times New Roman" panose="02020603050405020304" pitchFamily="18" charset="0"/>
                <a:cs typeface="Times New Roman" panose="02020603050405020304" pitchFamily="18" charset="0"/>
              </a:rPr>
              <a:t>,</a:t>
            </a:r>
            <a:r>
              <a:rPr lang="en-US" altLang="zh-CN" sz="2800" b="1" dirty="0" err="1">
                <a:solidFill>
                  <a:srgbClr val="000000"/>
                </a:solidFill>
                <a:latin typeface="Times New Roman" panose="02020603050405020304" pitchFamily="18" charset="0"/>
                <a:cs typeface="Times New Roman" panose="02020603050405020304" pitchFamily="18" charset="0"/>
              </a:rPr>
              <a:t>b</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在空间任取一点</a:t>
            </a:r>
            <a:r>
              <a:rPr lang="en-US" altLang="zh-CN" sz="2800" i="1" dirty="0">
                <a:solidFill>
                  <a:srgbClr val="000000"/>
                </a:solidFill>
                <a:latin typeface="Times New Roman" panose="02020603050405020304" pitchFamily="18" charset="0"/>
                <a:cs typeface="Times New Roman" panose="02020603050405020304" pitchFamily="18" charset="0"/>
              </a:rPr>
              <a:t>O</a:t>
            </a:r>
            <a:r>
              <a:rPr lang="en-US" altLang="zh-CN" sz="2800" dirty="0" smtClean="0">
                <a:solidFill>
                  <a:srgbClr val="000000"/>
                </a:solidFill>
                <a:latin typeface="Times New Roman" panose="02020603050405020304" pitchFamily="18" charset="0"/>
                <a:cs typeface="Times New Roman" panose="02020603050405020304" pitchFamily="18" charset="0"/>
              </a:rPr>
              <a:t>,</a:t>
            </a:r>
          </a:p>
          <a:p>
            <a:pPr>
              <a:lnSpc>
                <a:spcPct val="130000"/>
              </a:lnSpc>
              <a:spcAft>
                <a:spcPts val="0"/>
              </a:spcAft>
              <a:tabLst>
                <a:tab pos="1188085" algn="l"/>
                <a:tab pos="2163445" algn="l"/>
                <a:tab pos="3142615" algn="l"/>
                <a:tab pos="4190365" algn="l"/>
              </a:tabLst>
            </a:pPr>
            <a:r>
              <a:rPr lang="zh-CN" altLang="zh-CN" sz="2800" dirty="0" smtClean="0">
                <a:solidFill>
                  <a:srgbClr val="000000"/>
                </a:solidFill>
                <a:latin typeface="Times New Roman" panose="02020603050405020304" pitchFamily="18" charset="0"/>
                <a:cs typeface="Times New Roman" panose="02020603050405020304" pitchFamily="18" charset="0"/>
              </a:rPr>
              <a:t>作</a:t>
            </a:r>
            <a:r>
              <a:rPr lang="en-US" altLang="zh-CN" sz="2800" dirty="0" smtClean="0">
                <a:solidFill>
                  <a:srgbClr val="000000"/>
                </a:solidFill>
                <a:latin typeface="Times New Roman" panose="02020603050405020304" pitchFamily="18" charset="0"/>
                <a:cs typeface="Times New Roman" panose="02020603050405020304" pitchFamily="18" charset="0"/>
              </a:rPr>
              <a:t>                      ,</a:t>
            </a:r>
            <a:r>
              <a:rPr lang="zh-CN" altLang="zh-CN" sz="2800" dirty="0">
                <a:solidFill>
                  <a:srgbClr val="000000"/>
                </a:solidFill>
                <a:latin typeface="Times New Roman" panose="02020603050405020304" pitchFamily="18" charset="0"/>
                <a:cs typeface="Times New Roman" panose="02020603050405020304" pitchFamily="18" charset="0"/>
              </a:rPr>
              <a:t>则</a:t>
            </a:r>
            <a:r>
              <a:rPr lang="zh-CN" altLang="zh-CN" sz="2800" dirty="0">
                <a:solidFill>
                  <a:srgbClr val="FF0000"/>
                </a:solidFill>
                <a:latin typeface="NEU-BZ-S92"/>
                <a:cs typeface="宋体" panose="02010600030101010101" pitchFamily="2" charset="-122"/>
              </a:rPr>
              <a:t>∠</a:t>
            </a:r>
            <a:r>
              <a:rPr lang="en-US" altLang="zh-CN" sz="2800" i="1" dirty="0">
                <a:solidFill>
                  <a:srgbClr val="FF0000"/>
                </a:solidFill>
                <a:latin typeface="Times New Roman" panose="02020603050405020304" pitchFamily="18" charset="0"/>
                <a:cs typeface="Times New Roman" panose="02020603050405020304" pitchFamily="18" charset="0"/>
              </a:rPr>
              <a:t>AOB</a:t>
            </a:r>
            <a:r>
              <a:rPr lang="zh-CN" altLang="zh-CN" sz="2800" dirty="0">
                <a:solidFill>
                  <a:srgbClr val="000000"/>
                </a:solidFill>
                <a:latin typeface="Times New Roman" panose="02020603050405020304" pitchFamily="18" charset="0"/>
                <a:cs typeface="Times New Roman" panose="02020603050405020304" pitchFamily="18" charset="0"/>
              </a:rPr>
              <a:t>叫做向量</a:t>
            </a:r>
            <a:r>
              <a:rPr lang="en-US" altLang="zh-CN" sz="2800" b="1" dirty="0" err="1">
                <a:solidFill>
                  <a:srgbClr val="000000"/>
                </a:solidFill>
                <a:latin typeface="Times New Roman" panose="02020603050405020304" pitchFamily="18" charset="0"/>
                <a:cs typeface="Times New Roman" panose="02020603050405020304" pitchFamily="18" charset="0"/>
              </a:rPr>
              <a:t>a</a:t>
            </a:r>
            <a:r>
              <a:rPr lang="en-US" altLang="zh-CN" sz="2800" dirty="0" err="1">
                <a:solidFill>
                  <a:srgbClr val="000000"/>
                </a:solidFill>
                <a:latin typeface="Times New Roman" panose="02020603050405020304" pitchFamily="18" charset="0"/>
                <a:cs typeface="Times New Roman" panose="02020603050405020304" pitchFamily="18" charset="0"/>
              </a:rPr>
              <a:t>,</a:t>
            </a:r>
            <a:r>
              <a:rPr lang="en-US" altLang="zh-CN" sz="2800" b="1" dirty="0" err="1">
                <a:solidFill>
                  <a:srgbClr val="000000"/>
                </a:solidFill>
                <a:latin typeface="Times New Roman" panose="02020603050405020304" pitchFamily="18" charset="0"/>
                <a:cs typeface="Times New Roman" panose="02020603050405020304" pitchFamily="18" charset="0"/>
              </a:rPr>
              <a:t>b</a:t>
            </a:r>
            <a:r>
              <a:rPr lang="zh-CN" altLang="zh-CN" sz="2800" dirty="0">
                <a:solidFill>
                  <a:srgbClr val="000000"/>
                </a:solidFill>
                <a:latin typeface="Times New Roman" panose="02020603050405020304" pitchFamily="18" charset="0"/>
                <a:cs typeface="Times New Roman" panose="02020603050405020304" pitchFamily="18" charset="0"/>
              </a:rPr>
              <a:t>的夹角</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记作</a:t>
            </a:r>
            <a:r>
              <a:rPr lang="en-US" altLang="zh-CN" sz="2800" i="1" dirty="0">
                <a:solidFill>
                  <a:srgbClr val="FF0000"/>
                </a:solidFill>
                <a:latin typeface="Times New Roman" panose="02020603050405020304" pitchFamily="18" charset="0"/>
                <a:cs typeface="Times New Roman" panose="02020603050405020304" pitchFamily="18" charset="0"/>
              </a:rPr>
              <a:t>&lt;</a:t>
            </a:r>
            <a:r>
              <a:rPr lang="en-US" altLang="zh-CN" sz="2800" b="1" dirty="0" err="1">
                <a:solidFill>
                  <a:srgbClr val="FF0000"/>
                </a:solidFill>
                <a:latin typeface="Times New Roman" panose="02020603050405020304" pitchFamily="18" charset="0"/>
                <a:cs typeface="Times New Roman" panose="02020603050405020304" pitchFamily="18" charset="0"/>
              </a:rPr>
              <a:t>a</a:t>
            </a:r>
            <a:r>
              <a:rPr lang="en-US" altLang="zh-CN" sz="2800" dirty="0" err="1">
                <a:solidFill>
                  <a:srgbClr val="FF0000"/>
                </a:solidFill>
                <a:latin typeface="Times New Roman" panose="02020603050405020304" pitchFamily="18" charset="0"/>
                <a:cs typeface="Times New Roman" panose="02020603050405020304" pitchFamily="18" charset="0"/>
              </a:rPr>
              <a:t>,</a:t>
            </a:r>
            <a:r>
              <a:rPr lang="en-US" altLang="zh-CN" sz="2800" b="1" dirty="0" err="1">
                <a:solidFill>
                  <a:srgbClr val="FF0000"/>
                </a:solidFill>
                <a:latin typeface="Times New Roman" panose="02020603050405020304" pitchFamily="18" charset="0"/>
                <a:cs typeface="Times New Roman" panose="02020603050405020304" pitchFamily="18" charset="0"/>
              </a:rPr>
              <a:t>b</a:t>
            </a:r>
            <a:r>
              <a:rPr lang="en-US" altLang="zh-CN" sz="2800" i="1" dirty="0">
                <a:solidFill>
                  <a:srgbClr val="FF0000"/>
                </a:solidFill>
                <a:latin typeface="Times New Roman" panose="02020603050405020304" pitchFamily="18" charset="0"/>
                <a:cs typeface="Times New Roman" panose="02020603050405020304" pitchFamily="18" charset="0"/>
              </a:rPr>
              <a:t>&gt;</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effectLst/>
              <a:latin typeface="NEU-BZ-S92"/>
              <a:ea typeface="方正书宋_GBK" panose="03000509000000000000" pitchFamily="65" charset="-122"/>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en-US" altLang="zh-CN" sz="2800" dirty="0">
                <a:solidFill>
                  <a:srgbClr val="000000"/>
                </a:solidFill>
                <a:latin typeface="Times New Roman" panose="02020603050405020304" pitchFamily="18" charset="0"/>
                <a:cs typeface="Times New Roman" panose="02020603050405020304" pitchFamily="18" charset="0"/>
              </a:rPr>
              <a:t>(2)</a:t>
            </a:r>
            <a:r>
              <a:rPr lang="zh-CN" altLang="zh-CN" sz="2800" dirty="0">
                <a:solidFill>
                  <a:srgbClr val="000000"/>
                </a:solidFill>
                <a:latin typeface="Times New Roman" panose="02020603050405020304" pitchFamily="18" charset="0"/>
                <a:cs typeface="Times New Roman" panose="02020603050405020304" pitchFamily="18" charset="0"/>
              </a:rPr>
              <a:t>范围</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&lt;</a:t>
            </a:r>
            <a:r>
              <a:rPr lang="en-US" altLang="zh-CN" sz="2800" b="1" dirty="0" err="1">
                <a:solidFill>
                  <a:srgbClr val="000000"/>
                </a:solidFill>
                <a:latin typeface="Times New Roman" panose="02020603050405020304" pitchFamily="18" charset="0"/>
                <a:cs typeface="Times New Roman" panose="02020603050405020304" pitchFamily="18" charset="0"/>
              </a:rPr>
              <a:t>a</a:t>
            </a:r>
            <a:r>
              <a:rPr lang="en-US" altLang="zh-CN" sz="2800" dirty="0" err="1">
                <a:solidFill>
                  <a:srgbClr val="000000"/>
                </a:solidFill>
                <a:latin typeface="Times New Roman" panose="02020603050405020304" pitchFamily="18" charset="0"/>
                <a:cs typeface="Times New Roman" panose="02020603050405020304" pitchFamily="18" charset="0"/>
              </a:rPr>
              <a:t>,</a:t>
            </a:r>
            <a:r>
              <a:rPr lang="en-US" altLang="zh-CN" sz="2800" b="1" dirty="0" err="1">
                <a:solidFill>
                  <a:srgbClr val="000000"/>
                </a:solidFill>
                <a:latin typeface="Times New Roman" panose="02020603050405020304" pitchFamily="18" charset="0"/>
                <a:cs typeface="Times New Roman" panose="02020603050405020304" pitchFamily="18" charset="0"/>
              </a:rPr>
              <a:t>b</a:t>
            </a:r>
            <a:r>
              <a:rPr lang="en-US" altLang="zh-CN" sz="2800" i="1" dirty="0">
                <a:solidFill>
                  <a:srgbClr val="000000"/>
                </a:solidFill>
                <a:latin typeface="Times New Roman" panose="02020603050405020304" pitchFamily="18" charset="0"/>
                <a:cs typeface="Times New Roman" panose="02020603050405020304" pitchFamily="18" charset="0"/>
              </a:rPr>
              <a:t>&gt;</a:t>
            </a:r>
            <a:r>
              <a:rPr lang="zh-CN" altLang="zh-CN" sz="2800" dirty="0">
                <a:solidFill>
                  <a:srgbClr val="000000"/>
                </a:solidFill>
                <a:latin typeface="NEU-BZ-S92"/>
                <a:cs typeface="宋体" panose="02010600030101010101" pitchFamily="2" charset="-122"/>
              </a:rPr>
              <a:t>∈</a:t>
            </a:r>
            <a:r>
              <a:rPr lang="en-US" altLang="zh-CN" sz="2800" dirty="0">
                <a:solidFill>
                  <a:srgbClr val="FF0000"/>
                </a:solidFill>
                <a:latin typeface="Times New Roman" panose="02020603050405020304" pitchFamily="18" charset="0"/>
                <a:cs typeface="Times New Roman" panose="02020603050405020304" pitchFamily="18" charset="0"/>
              </a:rPr>
              <a:t>[0,</a:t>
            </a:r>
            <a:r>
              <a:rPr lang="en-US" altLang="zh-CN" sz="2800" dirty="0">
                <a:solidFill>
                  <a:srgbClr val="FF0000"/>
                </a:solidFill>
                <a:effectLst/>
                <a:latin typeface="Times New Roman" panose="02020603050405020304" pitchFamily="18" charset="0"/>
                <a:ea typeface="Microsoft Yi Baiti" panose="03000500000000000000" pitchFamily="66" charset="0"/>
                <a:cs typeface="Times New Roman" panose="02020603050405020304" pitchFamily="18" charset="0"/>
              </a:rPr>
              <a:t>π</a:t>
            </a:r>
            <a:r>
              <a:rPr lang="en-US" altLang="zh-CN" sz="2800" dirty="0">
                <a:solidFill>
                  <a:srgbClr val="FF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如果</a:t>
            </a:r>
            <a:r>
              <a:rPr lang="en-US" altLang="zh-CN" sz="2800" i="1" dirty="0">
                <a:solidFill>
                  <a:srgbClr val="000000"/>
                </a:solidFill>
                <a:latin typeface="Times New Roman" panose="02020603050405020304" pitchFamily="18" charset="0"/>
                <a:cs typeface="Times New Roman" panose="02020603050405020304" pitchFamily="18" charset="0"/>
              </a:rPr>
              <a:t>&lt;</a:t>
            </a:r>
            <a:r>
              <a:rPr lang="en-US" altLang="zh-CN" sz="2800" b="1" dirty="0" err="1">
                <a:solidFill>
                  <a:srgbClr val="000000"/>
                </a:solidFill>
                <a:latin typeface="Times New Roman" panose="02020603050405020304" pitchFamily="18" charset="0"/>
                <a:cs typeface="Times New Roman" panose="02020603050405020304" pitchFamily="18" charset="0"/>
              </a:rPr>
              <a:t>a</a:t>
            </a:r>
            <a:r>
              <a:rPr lang="en-US" altLang="zh-CN" sz="2800" dirty="0" err="1">
                <a:solidFill>
                  <a:srgbClr val="000000"/>
                </a:solidFill>
                <a:latin typeface="Times New Roman" panose="02020603050405020304" pitchFamily="18" charset="0"/>
                <a:cs typeface="Times New Roman" panose="02020603050405020304" pitchFamily="18" charset="0"/>
              </a:rPr>
              <a:t>,</a:t>
            </a:r>
            <a:r>
              <a:rPr lang="en-US" altLang="zh-CN" sz="2800" b="1" dirty="0" err="1">
                <a:solidFill>
                  <a:srgbClr val="000000"/>
                </a:solidFill>
                <a:latin typeface="Times New Roman" panose="02020603050405020304" pitchFamily="18" charset="0"/>
                <a:cs typeface="Times New Roman" panose="02020603050405020304" pitchFamily="18" charset="0"/>
              </a:rPr>
              <a:t>b</a:t>
            </a:r>
            <a:r>
              <a:rPr lang="en-US" altLang="zh-CN" sz="2800" i="1" dirty="0">
                <a:solidFill>
                  <a:srgbClr val="000000"/>
                </a:solidFill>
                <a:latin typeface="Times New Roman" panose="02020603050405020304" pitchFamily="18" charset="0"/>
                <a:cs typeface="Times New Roman" panose="02020603050405020304" pitchFamily="18" charset="0"/>
              </a:rPr>
              <a:t>&gt;=</a:t>
            </a:r>
            <a:r>
              <a:rPr lang="en-US" altLang="zh-CN" sz="2800" dirty="0">
                <a:solidFill>
                  <a:srgbClr val="000000"/>
                </a:solidFill>
                <a:latin typeface="Times New Roman" panose="02020603050405020304" pitchFamily="18" charset="0"/>
                <a:cs typeface="Times New Roman" panose="02020603050405020304" pitchFamily="18" charset="0"/>
              </a:rPr>
              <a:t>0,</a:t>
            </a:r>
            <a:r>
              <a:rPr lang="zh-CN" altLang="zh-CN" sz="2800" dirty="0">
                <a:solidFill>
                  <a:srgbClr val="000000"/>
                </a:solidFill>
                <a:latin typeface="Times New Roman" panose="02020603050405020304" pitchFamily="18" charset="0"/>
                <a:cs typeface="Times New Roman" panose="02020603050405020304" pitchFamily="18" charset="0"/>
              </a:rPr>
              <a:t>那么向量</a:t>
            </a:r>
            <a:r>
              <a:rPr lang="en-US" altLang="zh-CN" sz="2800" b="1" dirty="0" err="1">
                <a:solidFill>
                  <a:srgbClr val="000000"/>
                </a:solidFill>
                <a:latin typeface="Times New Roman" panose="02020603050405020304" pitchFamily="18" charset="0"/>
                <a:cs typeface="Times New Roman" panose="02020603050405020304" pitchFamily="18" charset="0"/>
              </a:rPr>
              <a:t>a</a:t>
            </a:r>
            <a:r>
              <a:rPr lang="en-US" altLang="zh-CN" sz="2800" dirty="0" err="1">
                <a:solidFill>
                  <a:srgbClr val="000000"/>
                </a:solidFill>
                <a:latin typeface="Times New Roman" panose="02020603050405020304" pitchFamily="18" charset="0"/>
                <a:cs typeface="Times New Roman" panose="02020603050405020304" pitchFamily="18" charset="0"/>
              </a:rPr>
              <a:t>,</a:t>
            </a:r>
            <a:r>
              <a:rPr lang="en-US" altLang="zh-CN" sz="2800" b="1" dirty="0" err="1">
                <a:solidFill>
                  <a:srgbClr val="000000"/>
                </a:solidFill>
                <a:latin typeface="Times New Roman" panose="02020603050405020304" pitchFamily="18" charset="0"/>
                <a:cs typeface="Times New Roman" panose="02020603050405020304" pitchFamily="18" charset="0"/>
              </a:rPr>
              <a:t>b</a:t>
            </a:r>
            <a:r>
              <a:rPr lang="zh-CN" altLang="zh-CN" sz="2800" dirty="0">
                <a:solidFill>
                  <a:srgbClr val="000000"/>
                </a:solidFill>
                <a:latin typeface="Times New Roman" panose="02020603050405020304" pitchFamily="18" charset="0"/>
                <a:cs typeface="Times New Roman" panose="02020603050405020304" pitchFamily="18" charset="0"/>
              </a:rPr>
              <a:t>同</a:t>
            </a:r>
            <a:r>
              <a:rPr lang="zh-CN" altLang="zh-CN" sz="2800" dirty="0" smtClean="0">
                <a:solidFill>
                  <a:srgbClr val="000000"/>
                </a:solidFill>
                <a:latin typeface="Times New Roman" panose="02020603050405020304" pitchFamily="18" charset="0"/>
                <a:cs typeface="Times New Roman" panose="02020603050405020304" pitchFamily="18" charset="0"/>
              </a:rPr>
              <a:t>向</a:t>
            </a:r>
            <a:endParaRPr lang="en-US" altLang="zh-CN" sz="2800" dirty="0" smtClean="0">
              <a:solidFill>
                <a:srgbClr val="000000"/>
              </a:solidFill>
              <a:latin typeface="Times New Roman" panose="02020603050405020304" pitchFamily="18" charset="0"/>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zh-CN" altLang="zh-CN" sz="2800" dirty="0" smtClean="0">
                <a:solidFill>
                  <a:srgbClr val="000000"/>
                </a:solidFill>
                <a:latin typeface="Times New Roman" panose="02020603050405020304" pitchFamily="18" charset="0"/>
                <a:cs typeface="Times New Roman" panose="02020603050405020304" pitchFamily="18" charset="0"/>
              </a:rPr>
              <a:t>共线</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如果</a:t>
            </a:r>
            <a:r>
              <a:rPr lang="en-US" altLang="zh-CN" sz="2800" i="1" dirty="0">
                <a:solidFill>
                  <a:srgbClr val="000000"/>
                </a:solidFill>
                <a:latin typeface="Times New Roman" panose="02020603050405020304" pitchFamily="18" charset="0"/>
                <a:cs typeface="Times New Roman" panose="02020603050405020304" pitchFamily="18" charset="0"/>
              </a:rPr>
              <a:t>&lt;</a:t>
            </a:r>
            <a:r>
              <a:rPr lang="en-US" altLang="zh-CN" sz="2800" b="1" dirty="0" err="1">
                <a:solidFill>
                  <a:srgbClr val="000000"/>
                </a:solidFill>
                <a:latin typeface="Times New Roman" panose="02020603050405020304" pitchFamily="18" charset="0"/>
                <a:cs typeface="Times New Roman" panose="02020603050405020304" pitchFamily="18" charset="0"/>
              </a:rPr>
              <a:t>a</a:t>
            </a:r>
            <a:r>
              <a:rPr lang="en-US" altLang="zh-CN" sz="2800" dirty="0" err="1">
                <a:solidFill>
                  <a:srgbClr val="000000"/>
                </a:solidFill>
                <a:latin typeface="Times New Roman" panose="02020603050405020304" pitchFamily="18" charset="0"/>
                <a:cs typeface="Times New Roman" panose="02020603050405020304" pitchFamily="18" charset="0"/>
              </a:rPr>
              <a:t>,</a:t>
            </a:r>
            <a:r>
              <a:rPr lang="en-US" altLang="zh-CN" sz="2800" b="1" dirty="0" err="1">
                <a:solidFill>
                  <a:srgbClr val="000000"/>
                </a:solidFill>
                <a:latin typeface="Times New Roman" panose="02020603050405020304" pitchFamily="18" charset="0"/>
                <a:cs typeface="Times New Roman" panose="02020603050405020304" pitchFamily="18" charset="0"/>
              </a:rPr>
              <a:t>b</a:t>
            </a:r>
            <a:r>
              <a:rPr lang="en-US" altLang="zh-CN" sz="2800" i="1" dirty="0">
                <a:solidFill>
                  <a:srgbClr val="000000"/>
                </a:solidFill>
                <a:latin typeface="Times New Roman" panose="02020603050405020304" pitchFamily="18" charset="0"/>
                <a:cs typeface="Times New Roman" panose="02020603050405020304" pitchFamily="18" charset="0"/>
              </a:rPr>
              <a:t>&gt;=</a:t>
            </a:r>
            <a:r>
              <a:rPr lang="en-US" altLang="zh-CN" sz="2800" dirty="0">
                <a:solidFill>
                  <a:srgbClr val="FF0000"/>
                </a:solidFill>
                <a:effectLst/>
                <a:latin typeface="Times New Roman" panose="02020603050405020304" pitchFamily="18" charset="0"/>
                <a:ea typeface="Microsoft Yi Baiti" panose="03000500000000000000" pitchFamily="66" charset="0"/>
                <a:cs typeface="Times New Roman" panose="02020603050405020304" pitchFamily="18" charset="0"/>
              </a:rPr>
              <a:t>π</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那么向量</a:t>
            </a:r>
            <a:r>
              <a:rPr lang="en-US" altLang="zh-CN" sz="2800" b="1" dirty="0" err="1">
                <a:solidFill>
                  <a:srgbClr val="000000"/>
                </a:solidFill>
                <a:latin typeface="Times New Roman" panose="02020603050405020304" pitchFamily="18" charset="0"/>
                <a:cs typeface="Times New Roman" panose="02020603050405020304" pitchFamily="18" charset="0"/>
              </a:rPr>
              <a:t>a</a:t>
            </a:r>
            <a:r>
              <a:rPr lang="en-US" altLang="zh-CN" sz="2800" dirty="0" err="1">
                <a:solidFill>
                  <a:srgbClr val="000000"/>
                </a:solidFill>
                <a:latin typeface="Times New Roman" panose="02020603050405020304" pitchFamily="18" charset="0"/>
                <a:cs typeface="Times New Roman" panose="02020603050405020304" pitchFamily="18" charset="0"/>
              </a:rPr>
              <a:t>,</a:t>
            </a:r>
            <a:r>
              <a:rPr lang="en-US" altLang="zh-CN" sz="2800" b="1" dirty="0" err="1">
                <a:solidFill>
                  <a:srgbClr val="000000"/>
                </a:solidFill>
                <a:latin typeface="Times New Roman" panose="02020603050405020304" pitchFamily="18" charset="0"/>
                <a:cs typeface="Times New Roman" panose="02020603050405020304" pitchFamily="18" charset="0"/>
              </a:rPr>
              <a:t>b</a:t>
            </a:r>
            <a:r>
              <a:rPr lang="zh-CN" altLang="zh-CN" sz="2800" dirty="0">
                <a:solidFill>
                  <a:srgbClr val="000000"/>
                </a:solidFill>
                <a:latin typeface="Times New Roman" panose="02020603050405020304" pitchFamily="18" charset="0"/>
                <a:cs typeface="Times New Roman" panose="02020603050405020304" pitchFamily="18" charset="0"/>
              </a:rPr>
              <a:t>反向共线</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所以若</a:t>
            </a:r>
            <a:r>
              <a:rPr lang="en-US" altLang="zh-CN" sz="2800" b="1" dirty="0">
                <a:solidFill>
                  <a:srgbClr val="000000"/>
                </a:solidFill>
                <a:latin typeface="Times New Roman" panose="02020603050405020304" pitchFamily="18" charset="0"/>
                <a:cs typeface="Times New Roman" panose="02020603050405020304" pitchFamily="18" charset="0"/>
              </a:rPr>
              <a:t>a</a:t>
            </a:r>
            <a:r>
              <a:rPr lang="zh-CN" altLang="zh-CN" sz="2800" dirty="0">
                <a:solidFill>
                  <a:srgbClr val="000000"/>
                </a:solidFill>
                <a:latin typeface="NEU-BZ-S92"/>
                <a:cs typeface="宋体" panose="02010600030101010101" pitchFamily="2" charset="-122"/>
              </a:rPr>
              <a:t>∥</a:t>
            </a:r>
            <a:r>
              <a:rPr lang="en-US" altLang="zh-CN" sz="2800" b="1" dirty="0">
                <a:solidFill>
                  <a:srgbClr val="000000"/>
                </a:solidFill>
                <a:latin typeface="Times New Roman" panose="02020603050405020304" pitchFamily="18" charset="0"/>
                <a:cs typeface="Times New Roman" panose="02020603050405020304" pitchFamily="18" charset="0"/>
              </a:rPr>
              <a:t>b</a:t>
            </a:r>
            <a:r>
              <a:rPr lang="en-US" altLang="zh-CN" sz="2800" dirty="0" smtClean="0">
                <a:solidFill>
                  <a:srgbClr val="000000"/>
                </a:solidFill>
                <a:latin typeface="Times New Roman" panose="02020603050405020304" pitchFamily="18" charset="0"/>
                <a:cs typeface="Times New Roman" panose="02020603050405020304" pitchFamily="18" charset="0"/>
              </a:rPr>
              <a:t>,</a:t>
            </a:r>
          </a:p>
          <a:p>
            <a:pPr>
              <a:lnSpc>
                <a:spcPct val="130000"/>
              </a:lnSpc>
              <a:spcAft>
                <a:spcPts val="0"/>
              </a:spcAft>
              <a:tabLst>
                <a:tab pos="1188085" algn="l"/>
                <a:tab pos="2163445" algn="l"/>
                <a:tab pos="3142615" algn="l"/>
                <a:tab pos="4190365" algn="l"/>
              </a:tabLst>
            </a:pPr>
            <a:r>
              <a:rPr lang="zh-CN" altLang="zh-CN" sz="2800" dirty="0" smtClean="0">
                <a:solidFill>
                  <a:srgbClr val="000000"/>
                </a:solidFill>
                <a:latin typeface="Times New Roman" panose="02020603050405020304" pitchFamily="18" charset="0"/>
                <a:cs typeface="Times New Roman" panose="02020603050405020304" pitchFamily="18" charset="0"/>
              </a:rPr>
              <a:t>则</a:t>
            </a:r>
            <a:r>
              <a:rPr lang="en-US" altLang="zh-CN" sz="2800" i="1" dirty="0">
                <a:solidFill>
                  <a:srgbClr val="000000"/>
                </a:solidFill>
                <a:latin typeface="Times New Roman" panose="02020603050405020304" pitchFamily="18" charset="0"/>
                <a:cs typeface="Times New Roman" panose="02020603050405020304" pitchFamily="18" charset="0"/>
              </a:rPr>
              <a:t>&lt;</a:t>
            </a:r>
            <a:r>
              <a:rPr lang="en-US" altLang="zh-CN" sz="2800" b="1" dirty="0" err="1">
                <a:solidFill>
                  <a:srgbClr val="000000"/>
                </a:solidFill>
                <a:latin typeface="Times New Roman" panose="02020603050405020304" pitchFamily="18" charset="0"/>
                <a:cs typeface="Times New Roman" panose="02020603050405020304" pitchFamily="18" charset="0"/>
              </a:rPr>
              <a:t>a</a:t>
            </a:r>
            <a:r>
              <a:rPr lang="en-US" altLang="zh-CN" sz="2800" dirty="0" err="1">
                <a:solidFill>
                  <a:srgbClr val="000000"/>
                </a:solidFill>
                <a:latin typeface="Times New Roman" panose="02020603050405020304" pitchFamily="18" charset="0"/>
                <a:cs typeface="Times New Roman" panose="02020603050405020304" pitchFamily="18" charset="0"/>
              </a:rPr>
              <a:t>,</a:t>
            </a:r>
            <a:r>
              <a:rPr lang="en-US" altLang="zh-CN" sz="2800" b="1" dirty="0" err="1">
                <a:solidFill>
                  <a:srgbClr val="000000"/>
                </a:solidFill>
                <a:latin typeface="Times New Roman" panose="02020603050405020304" pitchFamily="18" charset="0"/>
                <a:cs typeface="Times New Roman" panose="02020603050405020304" pitchFamily="18" charset="0"/>
              </a:rPr>
              <a:t>b</a:t>
            </a:r>
            <a:r>
              <a:rPr lang="en-US" altLang="zh-CN" sz="2800" i="1" dirty="0">
                <a:solidFill>
                  <a:srgbClr val="000000"/>
                </a:solidFill>
                <a:latin typeface="Times New Roman" panose="02020603050405020304" pitchFamily="18" charset="0"/>
                <a:cs typeface="Times New Roman" panose="02020603050405020304" pitchFamily="18" charset="0"/>
              </a:rPr>
              <a:t>&gt;=</a:t>
            </a:r>
            <a:r>
              <a:rPr lang="en-US" altLang="zh-CN" sz="2800" dirty="0">
                <a:solidFill>
                  <a:srgbClr val="FF0000"/>
                </a:solidFill>
                <a:latin typeface="Times New Roman" panose="02020603050405020304" pitchFamily="18" charset="0"/>
                <a:cs typeface="Times New Roman" panose="02020603050405020304" pitchFamily="18" charset="0"/>
              </a:rPr>
              <a:t>0</a:t>
            </a:r>
            <a:r>
              <a:rPr lang="zh-CN" altLang="zh-CN" sz="2800" dirty="0">
                <a:solidFill>
                  <a:srgbClr val="FF0000"/>
                </a:solidFill>
                <a:latin typeface="Times New Roman" panose="02020603050405020304" pitchFamily="18" charset="0"/>
                <a:cs typeface="Times New Roman" panose="02020603050405020304" pitchFamily="18" charset="0"/>
              </a:rPr>
              <a:t>或</a:t>
            </a:r>
            <a:r>
              <a:rPr lang="en-US" altLang="zh-CN" sz="2800" dirty="0">
                <a:solidFill>
                  <a:srgbClr val="FF0000"/>
                </a:solidFill>
                <a:effectLst/>
                <a:latin typeface="Times New Roman" panose="02020603050405020304" pitchFamily="18" charset="0"/>
                <a:ea typeface="Microsoft Yi Baiti" panose="03000500000000000000" pitchFamily="66" charset="0"/>
                <a:cs typeface="Times New Roman" panose="02020603050405020304" pitchFamily="18" charset="0"/>
              </a:rPr>
              <a:t>π</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如果</a:t>
            </a:r>
            <a:r>
              <a:rPr lang="en-US" altLang="zh-CN" sz="2800" i="1" dirty="0">
                <a:solidFill>
                  <a:srgbClr val="000000"/>
                </a:solidFill>
                <a:latin typeface="Times New Roman" panose="02020603050405020304" pitchFamily="18" charset="0"/>
                <a:cs typeface="Times New Roman" panose="02020603050405020304" pitchFamily="18" charset="0"/>
              </a:rPr>
              <a:t>&lt;</a:t>
            </a:r>
            <a:r>
              <a:rPr lang="en-US" altLang="zh-CN" sz="2800" b="1" dirty="0" err="1">
                <a:solidFill>
                  <a:srgbClr val="000000"/>
                </a:solidFill>
                <a:latin typeface="Times New Roman" panose="02020603050405020304" pitchFamily="18" charset="0"/>
                <a:cs typeface="Times New Roman" panose="02020603050405020304" pitchFamily="18" charset="0"/>
              </a:rPr>
              <a:t>a</a:t>
            </a:r>
            <a:r>
              <a:rPr lang="en-US" altLang="zh-CN" sz="2800" dirty="0" err="1">
                <a:solidFill>
                  <a:srgbClr val="000000"/>
                </a:solidFill>
                <a:latin typeface="Times New Roman" panose="02020603050405020304" pitchFamily="18" charset="0"/>
                <a:cs typeface="Times New Roman" panose="02020603050405020304" pitchFamily="18" charset="0"/>
              </a:rPr>
              <a:t>,</a:t>
            </a:r>
            <a:r>
              <a:rPr lang="en-US" altLang="zh-CN" sz="2800" b="1" dirty="0" err="1">
                <a:solidFill>
                  <a:srgbClr val="000000"/>
                </a:solidFill>
                <a:latin typeface="Times New Roman" panose="02020603050405020304" pitchFamily="18" charset="0"/>
                <a:cs typeface="Times New Roman" panose="02020603050405020304" pitchFamily="18" charset="0"/>
              </a:rPr>
              <a:t>b</a:t>
            </a:r>
            <a:r>
              <a:rPr lang="en-US" altLang="zh-CN" sz="2800" i="1" dirty="0" smtClean="0">
                <a:solidFill>
                  <a:srgbClr val="000000"/>
                </a:solidFill>
                <a:latin typeface="Times New Roman" panose="02020603050405020304" pitchFamily="18" charset="0"/>
                <a:cs typeface="Times New Roman" panose="02020603050405020304" pitchFamily="18" charset="0"/>
              </a:rPr>
              <a:t>&gt;=   </a:t>
            </a:r>
            <a:r>
              <a:rPr lang="en-US" altLang="zh-CN" sz="2800" dirty="0" smtClean="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那么向量</a:t>
            </a:r>
            <a:r>
              <a:rPr lang="en-US" altLang="zh-CN" sz="2800" b="1" dirty="0" err="1">
                <a:solidFill>
                  <a:srgbClr val="000000"/>
                </a:solidFill>
                <a:latin typeface="Times New Roman" panose="02020603050405020304" pitchFamily="18" charset="0"/>
                <a:cs typeface="Times New Roman" panose="02020603050405020304" pitchFamily="18" charset="0"/>
              </a:rPr>
              <a:t>a</a:t>
            </a:r>
            <a:r>
              <a:rPr lang="en-US" altLang="zh-CN" sz="2800" dirty="0" err="1">
                <a:solidFill>
                  <a:srgbClr val="000000"/>
                </a:solidFill>
                <a:latin typeface="Times New Roman" panose="02020603050405020304" pitchFamily="18" charset="0"/>
                <a:cs typeface="Times New Roman" panose="02020603050405020304" pitchFamily="18" charset="0"/>
              </a:rPr>
              <a:t>,</a:t>
            </a:r>
            <a:r>
              <a:rPr lang="en-US" altLang="zh-CN" sz="2800" b="1" dirty="0" err="1">
                <a:solidFill>
                  <a:srgbClr val="000000"/>
                </a:solidFill>
                <a:latin typeface="Times New Roman" panose="02020603050405020304" pitchFamily="18" charset="0"/>
                <a:cs typeface="Times New Roman" panose="02020603050405020304" pitchFamily="18" charset="0"/>
              </a:rPr>
              <a:t>b</a:t>
            </a:r>
            <a:r>
              <a:rPr lang="zh-CN" altLang="zh-CN" sz="2800" dirty="0">
                <a:solidFill>
                  <a:srgbClr val="000000"/>
                </a:solidFill>
                <a:latin typeface="Times New Roman" panose="02020603050405020304" pitchFamily="18" charset="0"/>
                <a:cs typeface="Times New Roman" panose="02020603050405020304" pitchFamily="18" charset="0"/>
              </a:rPr>
              <a:t>互相</a:t>
            </a:r>
            <a:r>
              <a:rPr lang="zh-CN" altLang="zh-CN" sz="2800" dirty="0">
                <a:solidFill>
                  <a:srgbClr val="FF0000"/>
                </a:solidFill>
                <a:latin typeface="Times New Roman" panose="02020603050405020304" pitchFamily="18" charset="0"/>
                <a:cs typeface="Times New Roman" panose="02020603050405020304" pitchFamily="18" charset="0"/>
              </a:rPr>
              <a:t>垂直</a:t>
            </a:r>
            <a:r>
              <a:rPr lang="en-US" altLang="zh-CN" sz="2800" dirty="0" smtClean="0">
                <a:solidFill>
                  <a:srgbClr val="000000"/>
                </a:solidFill>
                <a:latin typeface="Times New Roman" panose="02020603050405020304" pitchFamily="18" charset="0"/>
                <a:cs typeface="Times New Roman" panose="02020603050405020304" pitchFamily="18" charset="0"/>
              </a:rPr>
              <a:t>,</a:t>
            </a:r>
          </a:p>
          <a:p>
            <a:pPr>
              <a:lnSpc>
                <a:spcPct val="130000"/>
              </a:lnSpc>
              <a:spcAft>
                <a:spcPts val="0"/>
              </a:spcAft>
              <a:tabLst>
                <a:tab pos="1188085" algn="l"/>
                <a:tab pos="2163445" algn="l"/>
                <a:tab pos="3142615" algn="l"/>
                <a:tab pos="4190365" algn="l"/>
              </a:tabLst>
            </a:pPr>
            <a:r>
              <a:rPr lang="zh-CN" altLang="zh-CN" sz="2800" dirty="0" smtClean="0">
                <a:solidFill>
                  <a:srgbClr val="000000"/>
                </a:solidFill>
                <a:latin typeface="Times New Roman" panose="02020603050405020304" pitchFamily="18" charset="0"/>
                <a:cs typeface="Times New Roman" panose="02020603050405020304" pitchFamily="18" charset="0"/>
              </a:rPr>
              <a:t>记</a:t>
            </a:r>
            <a:r>
              <a:rPr lang="zh-CN" altLang="zh-CN" sz="2800" dirty="0">
                <a:solidFill>
                  <a:srgbClr val="000000"/>
                </a:solidFill>
                <a:latin typeface="Times New Roman" panose="02020603050405020304" pitchFamily="18" charset="0"/>
                <a:cs typeface="Times New Roman" panose="02020603050405020304" pitchFamily="18" charset="0"/>
              </a:rPr>
              <a:t>作</a:t>
            </a:r>
            <a:r>
              <a:rPr lang="en-US" altLang="zh-CN" sz="2800" b="1" dirty="0">
                <a:solidFill>
                  <a:srgbClr val="FF0000"/>
                </a:solidFill>
                <a:latin typeface="Times New Roman" panose="02020603050405020304" pitchFamily="18" charset="0"/>
                <a:cs typeface="Times New Roman" panose="02020603050405020304" pitchFamily="18" charset="0"/>
              </a:rPr>
              <a:t>a</a:t>
            </a:r>
            <a:r>
              <a:rPr lang="zh-CN" altLang="zh-CN" sz="2800" dirty="0">
                <a:solidFill>
                  <a:srgbClr val="FF0000"/>
                </a:solidFill>
                <a:latin typeface="NEU-BZ-S92"/>
                <a:cs typeface="宋体" panose="02010600030101010101" pitchFamily="2" charset="-122"/>
              </a:rPr>
              <a:t>⊥</a:t>
            </a:r>
            <a:r>
              <a:rPr lang="en-US" altLang="zh-CN" sz="2800" b="1" dirty="0">
                <a:solidFill>
                  <a:srgbClr val="FF0000"/>
                </a:solidFill>
                <a:latin typeface="Times New Roman" panose="02020603050405020304" pitchFamily="18" charset="0"/>
                <a:cs typeface="Times New Roman" panose="02020603050405020304" pitchFamily="18" charset="0"/>
              </a:rPr>
              <a:t>b</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effectLst/>
              <a:latin typeface="NEU-BZ-S92"/>
              <a:ea typeface="方正书宋_GBK" panose="03000509000000000000" pitchFamily="65" charset="-122"/>
              <a:cs typeface="Times New Roman" panose="02020603050405020304" pitchFamily="18" charset="0"/>
            </a:endParaRPr>
          </a:p>
        </p:txBody>
      </p:sp>
      <p:graphicFrame>
        <p:nvGraphicFramePr>
          <p:cNvPr id="5" name="对象 4"/>
          <p:cNvGraphicFramePr>
            <a:graphicFrameLocks noChangeAspect="1"/>
          </p:cNvGraphicFramePr>
          <p:nvPr>
            <p:extLst>
              <p:ext uri="{D42A27DB-BD31-4B8C-83A1-F6EECF244321}">
                <p14:modId xmlns:p14="http://schemas.microsoft.com/office/powerpoint/2010/main" val="777524671"/>
              </p:ext>
            </p:extLst>
          </p:nvPr>
        </p:nvGraphicFramePr>
        <p:xfrm>
          <a:off x="889288" y="2099826"/>
          <a:ext cx="2390775" cy="506413"/>
        </p:xfrm>
        <a:graphic>
          <a:graphicData uri="http://schemas.openxmlformats.org/presentationml/2006/ole">
            <mc:AlternateContent xmlns:mc="http://schemas.openxmlformats.org/markup-compatibility/2006">
              <mc:Choice xmlns:v="urn:schemas-microsoft-com:vml" Requires="v">
                <p:oleObj spid="_x0000_s2104" name="文档" r:id="rId3" imgW="950948" imgH="201096" progId="Word.Document.12">
                  <p:embed/>
                </p:oleObj>
              </mc:Choice>
              <mc:Fallback>
                <p:oleObj name="文档" r:id="rId3" imgW="950948" imgH="201096" progId="Word.Document.12">
                  <p:embed/>
                  <p:pic>
                    <p:nvPicPr>
                      <p:cNvPr id="0" name=""/>
                      <p:cNvPicPr/>
                      <p:nvPr/>
                    </p:nvPicPr>
                    <p:blipFill>
                      <a:blip r:embed="rId4"/>
                      <a:stretch>
                        <a:fillRect/>
                      </a:stretch>
                    </p:blipFill>
                    <p:spPr>
                      <a:xfrm>
                        <a:off x="889288" y="2099826"/>
                        <a:ext cx="2390775" cy="506413"/>
                      </a:xfrm>
                      <a:prstGeom prst="rect">
                        <a:avLst/>
                      </a:prstGeom>
                    </p:spPr>
                  </p:pic>
                </p:oleObj>
              </mc:Fallback>
            </mc:AlternateContent>
          </a:graphicData>
        </a:graphic>
      </p:graphicFrame>
      <p:graphicFrame>
        <p:nvGraphicFramePr>
          <p:cNvPr id="7" name="对象 6"/>
          <p:cNvGraphicFramePr>
            <a:graphicFrameLocks noChangeAspect="1"/>
          </p:cNvGraphicFramePr>
          <p:nvPr>
            <p:extLst>
              <p:ext uri="{D42A27DB-BD31-4B8C-83A1-F6EECF244321}">
                <p14:modId xmlns:p14="http://schemas.microsoft.com/office/powerpoint/2010/main" val="3372982415"/>
              </p:ext>
            </p:extLst>
          </p:nvPr>
        </p:nvGraphicFramePr>
        <p:xfrm>
          <a:off x="4624958" y="3595436"/>
          <a:ext cx="491994" cy="829174"/>
        </p:xfrm>
        <a:graphic>
          <a:graphicData uri="http://schemas.openxmlformats.org/presentationml/2006/ole">
            <mc:AlternateContent xmlns:mc="http://schemas.openxmlformats.org/markup-compatibility/2006">
              <mc:Choice xmlns:v="urn:schemas-microsoft-com:vml" Requires="v">
                <p:oleObj spid="_x0000_s2105" name="文档" r:id="rId5" imgW="242627" imgH="397868" progId="Word.Document.12">
                  <p:embed/>
                </p:oleObj>
              </mc:Choice>
              <mc:Fallback>
                <p:oleObj name="文档" r:id="rId5" imgW="242627" imgH="397868" progId="Word.Document.12">
                  <p:embed/>
                  <p:pic>
                    <p:nvPicPr>
                      <p:cNvPr id="0" name=""/>
                      <p:cNvPicPr/>
                      <p:nvPr/>
                    </p:nvPicPr>
                    <p:blipFill>
                      <a:blip r:embed="rId6"/>
                      <a:stretch>
                        <a:fillRect/>
                      </a:stretch>
                    </p:blipFill>
                    <p:spPr>
                      <a:xfrm>
                        <a:off x="4624958" y="3595436"/>
                        <a:ext cx="491994" cy="829174"/>
                      </a:xfrm>
                      <a:prstGeom prst="rect">
                        <a:avLst/>
                      </a:prstGeom>
                    </p:spPr>
                  </p:pic>
                </p:oleObj>
              </mc:Fallback>
            </mc:AlternateContent>
          </a:graphicData>
        </a:graphic>
      </p:graphicFrame>
      <p:sp>
        <p:nvSpPr>
          <p:cNvPr id="8" name="矩形 7"/>
          <p:cNvSpPr/>
          <p:nvPr/>
        </p:nvSpPr>
        <p:spPr>
          <a:xfrm>
            <a:off x="3233567" y="2058262"/>
            <a:ext cx="1042029" cy="441435"/>
          </a:xfrm>
          <a:prstGeom prst="rect">
            <a:avLst/>
          </a:prstGeom>
          <a:pattFill prst="smCheck">
            <a:fgClr>
              <a:srgbClr val="E8F4E9"/>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9" name="直接连接符 8"/>
          <p:cNvCxnSpPr/>
          <p:nvPr/>
        </p:nvCxnSpPr>
        <p:spPr>
          <a:xfrm>
            <a:off x="3245272" y="2495222"/>
            <a:ext cx="1037651" cy="0"/>
          </a:xfrm>
          <a:prstGeom prst="line">
            <a:avLst/>
          </a:prstGeom>
        </p:spPr>
        <p:style>
          <a:lnRef idx="2">
            <a:schemeClr val="dk1"/>
          </a:lnRef>
          <a:fillRef idx="0">
            <a:schemeClr val="dk1"/>
          </a:fillRef>
          <a:effectRef idx="1">
            <a:schemeClr val="dk1"/>
          </a:effectRef>
          <a:fontRef idx="minor">
            <a:schemeClr val="tx1"/>
          </a:fontRef>
        </p:style>
      </p:cxnSp>
      <p:sp>
        <p:nvSpPr>
          <p:cNvPr id="11" name="矩形 10"/>
          <p:cNvSpPr/>
          <p:nvPr/>
        </p:nvSpPr>
        <p:spPr>
          <a:xfrm>
            <a:off x="8035565" y="2068653"/>
            <a:ext cx="923303" cy="441435"/>
          </a:xfrm>
          <a:prstGeom prst="rect">
            <a:avLst/>
          </a:prstGeom>
          <a:pattFill prst="smCheck">
            <a:fgClr>
              <a:srgbClr val="E8F4E9"/>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2" name="直接连接符 11"/>
          <p:cNvCxnSpPr/>
          <p:nvPr/>
        </p:nvCxnSpPr>
        <p:spPr>
          <a:xfrm>
            <a:off x="8047021" y="2505613"/>
            <a:ext cx="919423" cy="0"/>
          </a:xfrm>
          <a:prstGeom prst="line">
            <a:avLst/>
          </a:prstGeom>
        </p:spPr>
        <p:style>
          <a:lnRef idx="2">
            <a:schemeClr val="dk1"/>
          </a:lnRef>
          <a:fillRef idx="0">
            <a:schemeClr val="dk1"/>
          </a:fillRef>
          <a:effectRef idx="1">
            <a:schemeClr val="dk1"/>
          </a:effectRef>
          <a:fontRef idx="minor">
            <a:schemeClr val="tx1"/>
          </a:fontRef>
        </p:style>
      </p:cxnSp>
      <p:sp>
        <p:nvSpPr>
          <p:cNvPr id="13" name="矩形 12"/>
          <p:cNvSpPr/>
          <p:nvPr/>
        </p:nvSpPr>
        <p:spPr>
          <a:xfrm>
            <a:off x="3277111" y="2659510"/>
            <a:ext cx="663488" cy="441435"/>
          </a:xfrm>
          <a:prstGeom prst="rect">
            <a:avLst/>
          </a:prstGeom>
          <a:pattFill prst="smCheck">
            <a:fgClr>
              <a:srgbClr val="E8F4E9"/>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4" name="直接连接符 13"/>
          <p:cNvCxnSpPr/>
          <p:nvPr/>
        </p:nvCxnSpPr>
        <p:spPr>
          <a:xfrm>
            <a:off x="3288796" y="3096470"/>
            <a:ext cx="660701" cy="0"/>
          </a:xfrm>
          <a:prstGeom prst="line">
            <a:avLst/>
          </a:prstGeom>
        </p:spPr>
        <p:style>
          <a:lnRef idx="2">
            <a:schemeClr val="dk1"/>
          </a:lnRef>
          <a:fillRef idx="0">
            <a:schemeClr val="dk1"/>
          </a:fillRef>
          <a:effectRef idx="1">
            <a:schemeClr val="dk1"/>
          </a:effectRef>
          <a:fontRef idx="minor">
            <a:schemeClr val="tx1"/>
          </a:fontRef>
        </p:style>
      </p:cxnSp>
      <p:sp>
        <p:nvSpPr>
          <p:cNvPr id="16" name="矩形 15"/>
          <p:cNvSpPr/>
          <p:nvPr/>
        </p:nvSpPr>
        <p:spPr>
          <a:xfrm>
            <a:off x="3171848" y="3182230"/>
            <a:ext cx="180649" cy="441435"/>
          </a:xfrm>
          <a:prstGeom prst="rect">
            <a:avLst/>
          </a:prstGeom>
          <a:pattFill prst="smCheck">
            <a:fgClr>
              <a:srgbClr val="E8F4E9"/>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7" name="直接连接符 16"/>
          <p:cNvCxnSpPr/>
          <p:nvPr/>
        </p:nvCxnSpPr>
        <p:spPr>
          <a:xfrm>
            <a:off x="3183582" y="3619190"/>
            <a:ext cx="179891" cy="0"/>
          </a:xfrm>
          <a:prstGeom prst="line">
            <a:avLst/>
          </a:prstGeom>
        </p:spPr>
        <p:style>
          <a:lnRef idx="2">
            <a:schemeClr val="dk1"/>
          </a:lnRef>
          <a:fillRef idx="0">
            <a:schemeClr val="dk1"/>
          </a:fillRef>
          <a:effectRef idx="1">
            <a:schemeClr val="dk1"/>
          </a:effectRef>
          <a:fontRef idx="minor">
            <a:schemeClr val="tx1"/>
          </a:fontRef>
        </p:style>
      </p:cxnSp>
      <p:sp>
        <p:nvSpPr>
          <p:cNvPr id="19" name="矩形 18"/>
          <p:cNvSpPr/>
          <p:nvPr/>
        </p:nvSpPr>
        <p:spPr>
          <a:xfrm>
            <a:off x="2018457" y="3731153"/>
            <a:ext cx="703961" cy="441435"/>
          </a:xfrm>
          <a:prstGeom prst="rect">
            <a:avLst/>
          </a:prstGeom>
          <a:pattFill prst="smCheck">
            <a:fgClr>
              <a:srgbClr val="E8F4E9"/>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0" name="直接连接符 19"/>
          <p:cNvCxnSpPr/>
          <p:nvPr/>
        </p:nvCxnSpPr>
        <p:spPr>
          <a:xfrm>
            <a:off x="2030191" y="4168113"/>
            <a:ext cx="701007" cy="0"/>
          </a:xfrm>
          <a:prstGeom prst="line">
            <a:avLst/>
          </a:prstGeom>
        </p:spPr>
        <p:style>
          <a:lnRef idx="2">
            <a:schemeClr val="dk1"/>
          </a:lnRef>
          <a:fillRef idx="0">
            <a:schemeClr val="dk1"/>
          </a:fillRef>
          <a:effectRef idx="1">
            <a:schemeClr val="dk1"/>
          </a:effectRef>
          <a:fontRef idx="minor">
            <a:schemeClr val="tx1"/>
          </a:fontRef>
        </p:style>
      </p:cxnSp>
      <p:sp>
        <p:nvSpPr>
          <p:cNvPr id="22" name="矩形 21"/>
          <p:cNvSpPr/>
          <p:nvPr/>
        </p:nvSpPr>
        <p:spPr>
          <a:xfrm>
            <a:off x="7673193" y="3731153"/>
            <a:ext cx="703961" cy="441435"/>
          </a:xfrm>
          <a:prstGeom prst="rect">
            <a:avLst/>
          </a:prstGeom>
          <a:pattFill prst="smCheck">
            <a:fgClr>
              <a:srgbClr val="E8F4E9"/>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3" name="直接连接符 22"/>
          <p:cNvCxnSpPr/>
          <p:nvPr/>
        </p:nvCxnSpPr>
        <p:spPr>
          <a:xfrm>
            <a:off x="7684927" y="4168113"/>
            <a:ext cx="701007" cy="0"/>
          </a:xfrm>
          <a:prstGeom prst="line">
            <a:avLst/>
          </a:prstGeom>
        </p:spPr>
        <p:style>
          <a:lnRef idx="2">
            <a:schemeClr val="dk1"/>
          </a:lnRef>
          <a:fillRef idx="0">
            <a:schemeClr val="dk1"/>
          </a:fillRef>
          <a:effectRef idx="1">
            <a:schemeClr val="dk1"/>
          </a:effectRef>
          <a:fontRef idx="minor">
            <a:schemeClr val="tx1"/>
          </a:fontRef>
        </p:style>
      </p:cxnSp>
      <p:sp>
        <p:nvSpPr>
          <p:cNvPr id="24" name="矩形 23"/>
          <p:cNvSpPr/>
          <p:nvPr/>
        </p:nvSpPr>
        <p:spPr>
          <a:xfrm>
            <a:off x="1180869" y="4276629"/>
            <a:ext cx="725292" cy="441435"/>
          </a:xfrm>
          <a:prstGeom prst="rect">
            <a:avLst/>
          </a:prstGeom>
          <a:pattFill prst="smCheck">
            <a:fgClr>
              <a:srgbClr val="E8F4E9"/>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5" name="直接连接符 24"/>
          <p:cNvCxnSpPr/>
          <p:nvPr/>
        </p:nvCxnSpPr>
        <p:spPr>
          <a:xfrm>
            <a:off x="1192648" y="4713589"/>
            <a:ext cx="722248" cy="0"/>
          </a:xfrm>
          <a:prstGeom prst="line">
            <a:avLst/>
          </a:prstGeom>
        </p:spPr>
        <p:style>
          <a:lnRef idx="2">
            <a:schemeClr val="dk1"/>
          </a:lnRef>
          <a:fillRef idx="0">
            <a:schemeClr val="dk1"/>
          </a:fillRef>
          <a:effectRef idx="1">
            <a:schemeClr val="dk1"/>
          </a:effectRef>
          <a:fontRef idx="minor">
            <a:schemeClr val="tx1"/>
          </a:fontRef>
        </p:style>
      </p:cxnSp>
      <p:pic>
        <p:nvPicPr>
          <p:cNvPr id="26" name="NMX1TRAX15.eps" descr="id:2147512784;FounderCES"/>
          <p:cNvPicPr/>
          <p:nvPr/>
        </p:nvPicPr>
        <p:blipFill>
          <a:blip r:embed="rId7">
            <a:clrChange>
              <a:clrFrom>
                <a:srgbClr val="FFFFFF"/>
              </a:clrFrom>
              <a:clrTo>
                <a:srgbClr val="FFFFFF">
                  <a:alpha val="0"/>
                </a:srgbClr>
              </a:clrTo>
            </a:clrChange>
          </a:blip>
          <a:stretch>
            <a:fillRect/>
          </a:stretch>
        </p:blipFill>
        <p:spPr>
          <a:xfrm>
            <a:off x="9476231" y="1213621"/>
            <a:ext cx="2258968" cy="3063008"/>
          </a:xfrm>
          <a:prstGeom prst="rect">
            <a:avLst/>
          </a:prstGeom>
        </p:spPr>
      </p:pic>
    </p:spTree>
    <p:extLst>
      <p:ext uri="{BB962C8B-B14F-4D97-AF65-F5344CB8AC3E}">
        <p14:creationId xmlns:p14="http://schemas.microsoft.com/office/powerpoint/2010/main" val="180617622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xit" presetSubtype="4" fill="hold" grpId="0" nodeType="clickEffect">
                                  <p:stCondLst>
                                    <p:cond delay="0"/>
                                  </p:stCondLst>
                                  <p:childTnLst>
                                    <p:animEffect transition="out" filter="wipe(down)">
                                      <p:cBhvr>
                                        <p:cTn id="6" dur="500"/>
                                        <p:tgtEl>
                                          <p:spTgt spid="8"/>
                                        </p:tgtEl>
                                      </p:cBhvr>
                                    </p:animEffect>
                                    <p:set>
                                      <p:cBhvr>
                                        <p:cTn id="7" dur="1" fill="hold">
                                          <p:stCondLst>
                                            <p:cond delay="499"/>
                                          </p:stCondLst>
                                        </p:cTn>
                                        <p:tgtEl>
                                          <p:spTgt spid="8"/>
                                        </p:tgtEl>
                                        <p:attrNameLst>
                                          <p:attrName>style.visibility</p:attrName>
                                        </p:attrNameLst>
                                      </p:cBhvr>
                                      <p:to>
                                        <p:strVal val="hidden"/>
                                      </p:to>
                                    </p:set>
                                  </p:childTnLst>
                                </p:cTn>
                              </p:par>
                            </p:childTnLst>
                          </p:cTn>
                        </p:par>
                      </p:childTnLst>
                    </p:cTn>
                  </p:par>
                  <p:par>
                    <p:cTn id="8" fill="hold">
                      <p:stCondLst>
                        <p:cond delay="indefinite"/>
                      </p:stCondLst>
                      <p:childTnLst>
                        <p:par>
                          <p:cTn id="9" fill="hold">
                            <p:stCondLst>
                              <p:cond delay="0"/>
                            </p:stCondLst>
                            <p:childTnLst>
                              <p:par>
                                <p:cTn id="10" presetID="22" presetClass="exit" presetSubtype="4" fill="hold" grpId="0" nodeType="clickEffect">
                                  <p:stCondLst>
                                    <p:cond delay="0"/>
                                  </p:stCondLst>
                                  <p:childTnLst>
                                    <p:animEffect transition="out" filter="wipe(down)">
                                      <p:cBhvr>
                                        <p:cTn id="11" dur="500"/>
                                        <p:tgtEl>
                                          <p:spTgt spid="11"/>
                                        </p:tgtEl>
                                      </p:cBhvr>
                                    </p:animEffect>
                                    <p:set>
                                      <p:cBhvr>
                                        <p:cTn id="12" dur="1" fill="hold">
                                          <p:stCondLst>
                                            <p:cond delay="499"/>
                                          </p:stCondLst>
                                        </p:cTn>
                                        <p:tgtEl>
                                          <p:spTgt spid="11"/>
                                        </p:tgtEl>
                                        <p:attrNameLst>
                                          <p:attrName>style.visibility</p:attrName>
                                        </p:attrNameLst>
                                      </p:cBhvr>
                                      <p:to>
                                        <p:strVal val="hidden"/>
                                      </p:to>
                                    </p:set>
                                  </p:childTnLst>
                                </p:cTn>
                              </p:par>
                            </p:childTnLst>
                          </p:cTn>
                        </p:par>
                      </p:childTnLst>
                    </p:cTn>
                  </p:par>
                  <p:par>
                    <p:cTn id="13" fill="hold">
                      <p:stCondLst>
                        <p:cond delay="indefinite"/>
                      </p:stCondLst>
                      <p:childTnLst>
                        <p:par>
                          <p:cTn id="14" fill="hold">
                            <p:stCondLst>
                              <p:cond delay="0"/>
                            </p:stCondLst>
                            <p:childTnLst>
                              <p:par>
                                <p:cTn id="15" presetID="22" presetClass="exit" presetSubtype="4" fill="hold" grpId="0" nodeType="clickEffect">
                                  <p:stCondLst>
                                    <p:cond delay="0"/>
                                  </p:stCondLst>
                                  <p:childTnLst>
                                    <p:animEffect transition="out" filter="wipe(down)">
                                      <p:cBhvr>
                                        <p:cTn id="16" dur="500"/>
                                        <p:tgtEl>
                                          <p:spTgt spid="13"/>
                                        </p:tgtEl>
                                      </p:cBhvr>
                                    </p:animEffect>
                                    <p:set>
                                      <p:cBhvr>
                                        <p:cTn id="17" dur="1" fill="hold">
                                          <p:stCondLst>
                                            <p:cond delay="499"/>
                                          </p:stCondLst>
                                        </p:cTn>
                                        <p:tgtEl>
                                          <p:spTgt spid="13"/>
                                        </p:tgtEl>
                                        <p:attrNameLst>
                                          <p:attrName>style.visibility</p:attrName>
                                        </p:attrNameLst>
                                      </p:cBhvr>
                                      <p:to>
                                        <p:strVal val="hidden"/>
                                      </p:to>
                                    </p:set>
                                  </p:childTnLst>
                                </p:cTn>
                              </p:par>
                            </p:childTnLst>
                          </p:cTn>
                        </p:par>
                      </p:childTnLst>
                    </p:cTn>
                  </p:par>
                  <p:par>
                    <p:cTn id="18" fill="hold">
                      <p:stCondLst>
                        <p:cond delay="indefinite"/>
                      </p:stCondLst>
                      <p:childTnLst>
                        <p:par>
                          <p:cTn id="19" fill="hold">
                            <p:stCondLst>
                              <p:cond delay="0"/>
                            </p:stCondLst>
                            <p:childTnLst>
                              <p:par>
                                <p:cTn id="20" presetID="22" presetClass="exit" presetSubtype="4" fill="hold" grpId="0" nodeType="clickEffect">
                                  <p:stCondLst>
                                    <p:cond delay="0"/>
                                  </p:stCondLst>
                                  <p:childTnLst>
                                    <p:animEffect transition="out" filter="wipe(down)">
                                      <p:cBhvr>
                                        <p:cTn id="21" dur="500"/>
                                        <p:tgtEl>
                                          <p:spTgt spid="16"/>
                                        </p:tgtEl>
                                      </p:cBhvr>
                                    </p:animEffect>
                                    <p:set>
                                      <p:cBhvr>
                                        <p:cTn id="22" dur="1" fill="hold">
                                          <p:stCondLst>
                                            <p:cond delay="499"/>
                                          </p:stCondLst>
                                        </p:cTn>
                                        <p:tgtEl>
                                          <p:spTgt spid="16"/>
                                        </p:tgtEl>
                                        <p:attrNameLst>
                                          <p:attrName>style.visibility</p:attrName>
                                        </p:attrNameLst>
                                      </p:cBhvr>
                                      <p:to>
                                        <p:strVal val="hidden"/>
                                      </p:to>
                                    </p:set>
                                  </p:childTnLst>
                                </p:cTn>
                              </p:par>
                            </p:childTnLst>
                          </p:cTn>
                        </p:par>
                      </p:childTnLst>
                    </p:cTn>
                  </p:par>
                  <p:par>
                    <p:cTn id="23" fill="hold">
                      <p:stCondLst>
                        <p:cond delay="indefinite"/>
                      </p:stCondLst>
                      <p:childTnLst>
                        <p:par>
                          <p:cTn id="24" fill="hold">
                            <p:stCondLst>
                              <p:cond delay="0"/>
                            </p:stCondLst>
                            <p:childTnLst>
                              <p:par>
                                <p:cTn id="25" presetID="22" presetClass="exit" presetSubtype="4" fill="hold" grpId="0" nodeType="clickEffect">
                                  <p:stCondLst>
                                    <p:cond delay="0"/>
                                  </p:stCondLst>
                                  <p:childTnLst>
                                    <p:animEffect transition="out" filter="wipe(down)">
                                      <p:cBhvr>
                                        <p:cTn id="26" dur="500"/>
                                        <p:tgtEl>
                                          <p:spTgt spid="19"/>
                                        </p:tgtEl>
                                      </p:cBhvr>
                                    </p:animEffect>
                                    <p:set>
                                      <p:cBhvr>
                                        <p:cTn id="27" dur="1" fill="hold">
                                          <p:stCondLst>
                                            <p:cond delay="499"/>
                                          </p:stCondLst>
                                        </p:cTn>
                                        <p:tgtEl>
                                          <p:spTgt spid="19"/>
                                        </p:tgtEl>
                                        <p:attrNameLst>
                                          <p:attrName>style.visibility</p:attrName>
                                        </p:attrNameLst>
                                      </p:cBhvr>
                                      <p:to>
                                        <p:strVal val="hidden"/>
                                      </p:to>
                                    </p:set>
                                  </p:childTnLst>
                                </p:cTn>
                              </p:par>
                            </p:childTnLst>
                          </p:cTn>
                        </p:par>
                      </p:childTnLst>
                    </p:cTn>
                  </p:par>
                  <p:par>
                    <p:cTn id="28" fill="hold">
                      <p:stCondLst>
                        <p:cond delay="indefinite"/>
                      </p:stCondLst>
                      <p:childTnLst>
                        <p:par>
                          <p:cTn id="29" fill="hold">
                            <p:stCondLst>
                              <p:cond delay="0"/>
                            </p:stCondLst>
                            <p:childTnLst>
                              <p:par>
                                <p:cTn id="30" presetID="22" presetClass="exit" presetSubtype="4" fill="hold" grpId="0" nodeType="clickEffect">
                                  <p:stCondLst>
                                    <p:cond delay="0"/>
                                  </p:stCondLst>
                                  <p:childTnLst>
                                    <p:animEffect transition="out" filter="wipe(down)">
                                      <p:cBhvr>
                                        <p:cTn id="31" dur="500"/>
                                        <p:tgtEl>
                                          <p:spTgt spid="22"/>
                                        </p:tgtEl>
                                      </p:cBhvr>
                                    </p:animEffect>
                                    <p:set>
                                      <p:cBhvr>
                                        <p:cTn id="32" dur="1" fill="hold">
                                          <p:stCondLst>
                                            <p:cond delay="499"/>
                                          </p:stCondLst>
                                        </p:cTn>
                                        <p:tgtEl>
                                          <p:spTgt spid="22"/>
                                        </p:tgtEl>
                                        <p:attrNameLst>
                                          <p:attrName>style.visibility</p:attrName>
                                        </p:attrNameLst>
                                      </p:cBhvr>
                                      <p:to>
                                        <p:strVal val="hidden"/>
                                      </p:to>
                                    </p:set>
                                  </p:childTnLst>
                                </p:cTn>
                              </p:par>
                            </p:childTnLst>
                          </p:cTn>
                        </p:par>
                      </p:childTnLst>
                    </p:cTn>
                  </p:par>
                  <p:par>
                    <p:cTn id="33" fill="hold">
                      <p:stCondLst>
                        <p:cond delay="indefinite"/>
                      </p:stCondLst>
                      <p:childTnLst>
                        <p:par>
                          <p:cTn id="34" fill="hold">
                            <p:stCondLst>
                              <p:cond delay="0"/>
                            </p:stCondLst>
                            <p:childTnLst>
                              <p:par>
                                <p:cTn id="35" presetID="22" presetClass="exit" presetSubtype="4" fill="hold" grpId="0" nodeType="clickEffect">
                                  <p:stCondLst>
                                    <p:cond delay="0"/>
                                  </p:stCondLst>
                                  <p:childTnLst>
                                    <p:animEffect transition="out" filter="wipe(down)">
                                      <p:cBhvr>
                                        <p:cTn id="36" dur="500"/>
                                        <p:tgtEl>
                                          <p:spTgt spid="24"/>
                                        </p:tgtEl>
                                      </p:cBhvr>
                                    </p:animEffect>
                                    <p:set>
                                      <p:cBhvr>
                                        <p:cTn id="37" dur="1" fill="hold">
                                          <p:stCondLst>
                                            <p:cond delay="499"/>
                                          </p:stCondLst>
                                        </p:cTn>
                                        <p:tgtEl>
                                          <p:spTgt spid="2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1" grpId="0" animBg="1"/>
      <p:bldP spid="13" grpId="0" animBg="1"/>
      <p:bldP spid="16" grpId="0" animBg="1"/>
      <p:bldP spid="19" grpId="0" animBg="1"/>
      <p:bldP spid="22" grpId="0" animBg="1"/>
      <p:bldP spid="24"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bg>
      <p:bgPr>
        <a:pattFill prst="smCheck">
          <a:fgClr>
            <a:srgbClr val="E8F4E9"/>
          </a:fgClr>
          <a:bgClr>
            <a:schemeClr val="bg1"/>
          </a:bgClr>
        </a:pattFill>
        <a:effectLst/>
      </p:bgPr>
    </p:bg>
    <p:spTree>
      <p:nvGrpSpPr>
        <p:cNvPr id="1" name=""/>
        <p:cNvGrpSpPr/>
        <p:nvPr/>
      </p:nvGrpSpPr>
      <p:grpSpPr>
        <a:xfrm>
          <a:off x="0" y="0"/>
          <a:ext cx="0" cy="0"/>
          <a:chOff x="0" y="0"/>
          <a:chExt cx="0" cy="0"/>
        </a:xfrm>
      </p:grpSpPr>
      <p:sp>
        <p:nvSpPr>
          <p:cNvPr id="2" name="矩形 1"/>
          <p:cNvSpPr>
            <a:spLocks noChangeAspect="1"/>
          </p:cNvSpPr>
          <p:nvPr/>
        </p:nvSpPr>
        <p:spPr>
          <a:xfrm>
            <a:off x="381000" y="53620"/>
            <a:ext cx="11547764" cy="1212640"/>
          </a:xfrm>
          <a:prstGeom prst="rect">
            <a:avLst/>
          </a:prstGeom>
        </p:spPr>
        <p:txBody>
          <a:bodyPr wrap="square">
            <a:spAutoFit/>
          </a:bodyPr>
          <a:lstStyle/>
          <a:p>
            <a:pPr indent="280670">
              <a:lnSpc>
                <a:spcPct val="130000"/>
              </a:lnSpc>
              <a:spcAft>
                <a:spcPts val="0"/>
              </a:spcAft>
              <a:tabLst>
                <a:tab pos="1188085" algn="l"/>
                <a:tab pos="2163445" algn="l"/>
                <a:tab pos="3142615" algn="l"/>
                <a:tab pos="4190365" algn="l"/>
              </a:tabLst>
            </a:pPr>
            <a:r>
              <a:rPr lang="en-US" altLang="zh-CN" sz="2800" b="1" dirty="0">
                <a:solidFill>
                  <a:srgbClr val="000000"/>
                </a:solidFill>
                <a:latin typeface="Times New Roman" panose="02020603050405020304" pitchFamily="18" charset="0"/>
                <a:cs typeface="Times New Roman" panose="02020603050405020304" pitchFamily="18" charset="0"/>
              </a:rPr>
              <a:t>3</a:t>
            </a:r>
            <a:r>
              <a:rPr lang="en-US" altLang="zh-CN" sz="2800" i="1" dirty="0" smtClean="0">
                <a:solidFill>
                  <a:srgbClr val="000000"/>
                </a:solidFill>
                <a:latin typeface="Times New Roman" panose="02020603050405020304" pitchFamily="18" charset="0"/>
                <a:cs typeface="Times New Roman" panose="02020603050405020304" pitchFamily="18" charset="0"/>
              </a:rPr>
              <a:t>.</a:t>
            </a:r>
            <a:r>
              <a:rPr lang="zh-CN" altLang="zh-CN" sz="2800" dirty="0" smtClean="0">
                <a:solidFill>
                  <a:srgbClr val="000000"/>
                </a:solidFill>
                <a:latin typeface="Times New Roman" panose="02020603050405020304" pitchFamily="18" charset="0"/>
                <a:cs typeface="Times New Roman" panose="02020603050405020304" pitchFamily="18" charset="0"/>
              </a:rPr>
              <a:t>如图</a:t>
            </a:r>
            <a:r>
              <a:rPr lang="zh-CN" altLang="en-US" sz="2800" dirty="0">
                <a:solidFill>
                  <a:srgbClr val="000000"/>
                </a:solidFill>
                <a:latin typeface="Times New Roman" panose="02020603050405020304" pitchFamily="18" charset="0"/>
                <a:cs typeface="Times New Roman" panose="02020603050405020304" pitchFamily="18" charset="0"/>
              </a:rPr>
              <a:t>所示</a:t>
            </a:r>
            <a:r>
              <a:rPr lang="en-US" altLang="zh-CN" sz="2800" dirty="0" smtClean="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在正方体</a:t>
            </a:r>
            <a:r>
              <a:rPr lang="en-US" altLang="zh-CN" sz="2800" i="1" dirty="0">
                <a:solidFill>
                  <a:srgbClr val="000000"/>
                </a:solidFill>
                <a:latin typeface="Times New Roman" panose="02020603050405020304" pitchFamily="18" charset="0"/>
                <a:cs typeface="Times New Roman" panose="02020603050405020304" pitchFamily="18" charset="0"/>
              </a:rPr>
              <a:t>ABCD-A'B'C'D'</a:t>
            </a:r>
            <a:r>
              <a:rPr lang="zh-CN" altLang="zh-CN" sz="2800" dirty="0">
                <a:solidFill>
                  <a:srgbClr val="000000"/>
                </a:solidFill>
                <a:latin typeface="Times New Roman" panose="02020603050405020304" pitchFamily="18" charset="0"/>
                <a:cs typeface="Times New Roman" panose="02020603050405020304" pitchFamily="18" charset="0"/>
              </a:rPr>
              <a:t>中</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下列各对向量的夹角为</a:t>
            </a:r>
            <a:r>
              <a:rPr lang="en-US" altLang="zh-CN" sz="2800" dirty="0">
                <a:solidFill>
                  <a:srgbClr val="000000"/>
                </a:solidFill>
                <a:latin typeface="Times New Roman" panose="02020603050405020304" pitchFamily="18" charset="0"/>
                <a:cs typeface="Times New Roman" panose="02020603050405020304" pitchFamily="18" charset="0"/>
              </a:rPr>
              <a:t>135</a:t>
            </a:r>
            <a:r>
              <a:rPr lang="en-US" altLang="zh-CN" sz="2800" dirty="0">
                <a:solidFill>
                  <a:srgbClr val="000000"/>
                </a:solidFill>
                <a:latin typeface="宋体" panose="02010600030101010101" pitchFamily="2" charset="-122"/>
                <a:ea typeface="方正书宋_GBK" panose="03000509000000000000" pitchFamily="65" charset="-122"/>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的</a:t>
            </a:r>
            <a:r>
              <a:rPr lang="zh-CN" altLang="zh-CN" sz="2800" dirty="0" smtClean="0">
                <a:solidFill>
                  <a:srgbClr val="000000"/>
                </a:solidFill>
                <a:latin typeface="Times New Roman" panose="02020603050405020304" pitchFamily="18" charset="0"/>
                <a:cs typeface="Times New Roman" panose="02020603050405020304" pitchFamily="18" charset="0"/>
              </a:rPr>
              <a:t>是</a:t>
            </a:r>
            <a:endParaRPr lang="en-US" altLang="zh-CN" sz="2800" dirty="0" smtClean="0">
              <a:solidFill>
                <a:srgbClr val="000000"/>
              </a:solidFill>
              <a:latin typeface="Times New Roman" panose="02020603050405020304" pitchFamily="18" charset="0"/>
              <a:cs typeface="Times New Roman" panose="02020603050405020304" pitchFamily="18" charset="0"/>
            </a:endParaRPr>
          </a:p>
          <a:p>
            <a:pPr indent="280670" algn="r">
              <a:lnSpc>
                <a:spcPct val="130000"/>
              </a:lnSpc>
              <a:spcAft>
                <a:spcPts val="0"/>
              </a:spcAft>
              <a:tabLst>
                <a:tab pos="1188085" algn="l"/>
                <a:tab pos="2163445" algn="l"/>
                <a:tab pos="3142615" algn="l"/>
                <a:tab pos="4190365" algn="l"/>
              </a:tabLst>
            </a:pPr>
            <a:r>
              <a:rPr lang="en-US" altLang="zh-CN" sz="2800" dirty="0" smtClean="0">
                <a:solidFill>
                  <a:srgbClr val="000000"/>
                </a:solidFill>
                <a:latin typeface="Times New Roman" panose="02020603050405020304" pitchFamily="18" charset="0"/>
                <a:cs typeface="Times New Roman" panose="02020603050405020304" pitchFamily="18" charset="0"/>
              </a:rPr>
              <a:t>(</a:t>
            </a:r>
            <a:r>
              <a:rPr lang="zh-CN" altLang="zh-CN" sz="2800" i="1" dirty="0">
                <a:solidFill>
                  <a:srgbClr val="000000"/>
                </a:solidFill>
                <a:latin typeface="Times New Roman" panose="02020603050405020304" pitchFamily="18" charset="0"/>
                <a:cs typeface="Times New Roman" panose="02020603050405020304" pitchFamily="18" charset="0"/>
              </a:rPr>
              <a:t>　　</a:t>
            </a:r>
            <a:r>
              <a:rPr lang="en-US" altLang="zh-CN" sz="2800"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effectLst/>
              <a:latin typeface="NEU-BZ-S92"/>
              <a:ea typeface="方正书宋_GBK" panose="03000509000000000000" pitchFamily="65" charset="-122"/>
              <a:cs typeface="Times New Roman" panose="02020603050405020304" pitchFamily="18" charset="0"/>
            </a:endParaRPr>
          </a:p>
        </p:txBody>
      </p:sp>
      <p:graphicFrame>
        <p:nvGraphicFramePr>
          <p:cNvPr id="3" name="对象 2"/>
          <p:cNvGraphicFramePr>
            <a:graphicFrameLocks noChangeAspect="1"/>
          </p:cNvGraphicFramePr>
          <p:nvPr>
            <p:extLst>
              <p:ext uri="{D42A27DB-BD31-4B8C-83A1-F6EECF244321}">
                <p14:modId xmlns:p14="http://schemas.microsoft.com/office/powerpoint/2010/main" val="976783024"/>
              </p:ext>
            </p:extLst>
          </p:nvPr>
        </p:nvGraphicFramePr>
        <p:xfrm>
          <a:off x="51955" y="1029340"/>
          <a:ext cx="11430000" cy="2010264"/>
        </p:xfrm>
        <a:graphic>
          <a:graphicData uri="http://schemas.openxmlformats.org/presentationml/2006/ole">
            <mc:AlternateContent xmlns:mc="http://schemas.openxmlformats.org/markup-compatibility/2006">
              <mc:Choice xmlns:v="urn:schemas-microsoft-com:vml" Requires="v">
                <p:oleObj spid="_x0000_s3132" name="文档" r:id="rId3" imgW="4510061" imgH="793212" progId="Word.Document.12">
                  <p:embed/>
                </p:oleObj>
              </mc:Choice>
              <mc:Fallback>
                <p:oleObj name="文档" r:id="rId3" imgW="4510061" imgH="793212" progId="Word.Document.12">
                  <p:embed/>
                  <p:pic>
                    <p:nvPicPr>
                      <p:cNvPr id="0" name=""/>
                      <p:cNvPicPr/>
                      <p:nvPr/>
                    </p:nvPicPr>
                    <p:blipFill>
                      <a:blip r:embed="rId4"/>
                      <a:stretch>
                        <a:fillRect/>
                      </a:stretch>
                    </p:blipFill>
                    <p:spPr>
                      <a:xfrm>
                        <a:off x="51955" y="1029340"/>
                        <a:ext cx="11430000" cy="2010264"/>
                      </a:xfrm>
                      <a:prstGeom prst="rect">
                        <a:avLst/>
                      </a:prstGeom>
                    </p:spPr>
                  </p:pic>
                </p:oleObj>
              </mc:Fallback>
            </mc:AlternateContent>
          </a:graphicData>
        </a:graphic>
      </p:graphicFrame>
      <p:graphicFrame>
        <p:nvGraphicFramePr>
          <p:cNvPr id="4" name="对象 3"/>
          <p:cNvGraphicFramePr>
            <a:graphicFrameLocks noChangeAspect="1"/>
          </p:cNvGraphicFramePr>
          <p:nvPr>
            <p:extLst>
              <p:ext uri="{D42A27DB-BD31-4B8C-83A1-F6EECF244321}">
                <p14:modId xmlns:p14="http://schemas.microsoft.com/office/powerpoint/2010/main" val="2631864255"/>
              </p:ext>
            </p:extLst>
          </p:nvPr>
        </p:nvGraphicFramePr>
        <p:xfrm>
          <a:off x="51955" y="2846948"/>
          <a:ext cx="11430000" cy="4021443"/>
        </p:xfrm>
        <a:graphic>
          <a:graphicData uri="http://schemas.openxmlformats.org/presentationml/2006/ole">
            <mc:AlternateContent xmlns:mc="http://schemas.openxmlformats.org/markup-compatibility/2006">
              <mc:Choice xmlns:v="urn:schemas-microsoft-com:vml" Requires="v">
                <p:oleObj spid="_x0000_s3133" name="文档" r:id="rId5" imgW="4510061" imgH="1586785" progId="Word.Document.12">
                  <p:embed/>
                </p:oleObj>
              </mc:Choice>
              <mc:Fallback>
                <p:oleObj name="文档" r:id="rId5" imgW="4510061" imgH="1586785" progId="Word.Document.12">
                  <p:embed/>
                  <p:pic>
                    <p:nvPicPr>
                      <p:cNvPr id="0" name=""/>
                      <p:cNvPicPr/>
                      <p:nvPr/>
                    </p:nvPicPr>
                    <p:blipFill>
                      <a:blip r:embed="rId6"/>
                      <a:stretch>
                        <a:fillRect/>
                      </a:stretch>
                    </p:blipFill>
                    <p:spPr>
                      <a:xfrm>
                        <a:off x="51955" y="2846948"/>
                        <a:ext cx="11430000" cy="4021443"/>
                      </a:xfrm>
                      <a:prstGeom prst="rect">
                        <a:avLst/>
                      </a:prstGeom>
                    </p:spPr>
                  </p:pic>
                </p:oleObj>
              </mc:Fallback>
            </mc:AlternateContent>
          </a:graphicData>
        </a:graphic>
      </p:graphicFrame>
      <p:sp>
        <p:nvSpPr>
          <p:cNvPr id="6" name="矩形 5"/>
          <p:cNvSpPr>
            <a:spLocks noChangeAspect="1"/>
          </p:cNvSpPr>
          <p:nvPr/>
        </p:nvSpPr>
        <p:spPr>
          <a:xfrm>
            <a:off x="11158737" y="641279"/>
            <a:ext cx="423514" cy="604909"/>
          </a:xfrm>
          <a:prstGeom prst="rect">
            <a:avLst/>
          </a:prstGeom>
        </p:spPr>
        <p:txBody>
          <a:bodyPr wrap="none">
            <a:spAutoFit/>
          </a:bodyPr>
          <a:lstStyle/>
          <a:p>
            <a:pPr>
              <a:lnSpc>
                <a:spcPct val="130000"/>
              </a:lnSpc>
            </a:pPr>
            <a:r>
              <a:rPr lang="en-US" altLang="zh-CN" sz="2800" b="1" dirty="0" smtClean="0">
                <a:solidFill>
                  <a:srgbClr val="FF0000"/>
                </a:solidFill>
                <a:latin typeface="Times New Roman" panose="02020603050405020304" pitchFamily="18" charset="0"/>
              </a:rPr>
              <a:t>B</a:t>
            </a:r>
            <a:endParaRPr lang="zh-CN" altLang="en-US" sz="2800" dirty="0">
              <a:solidFill>
                <a:srgbClr val="FF0000"/>
              </a:solidFill>
            </a:endParaRPr>
          </a:p>
        </p:txBody>
      </p:sp>
      <p:pic>
        <p:nvPicPr>
          <p:cNvPr id="8" name="NMX1TRAX17.eps" descr="id:2147512791;FounderCES"/>
          <p:cNvPicPr/>
          <p:nvPr/>
        </p:nvPicPr>
        <p:blipFill>
          <a:blip r:embed="rId7">
            <a:clrChange>
              <a:clrFrom>
                <a:srgbClr val="FFFFFF"/>
              </a:clrFrom>
              <a:clrTo>
                <a:srgbClr val="FFFFFF">
                  <a:alpha val="0"/>
                </a:srgbClr>
              </a:clrTo>
            </a:clrChange>
          </a:blip>
          <a:stretch>
            <a:fillRect/>
          </a:stretch>
        </p:blipFill>
        <p:spPr>
          <a:xfrm>
            <a:off x="8049230" y="1844319"/>
            <a:ext cx="2895483" cy="2780406"/>
          </a:xfrm>
          <a:prstGeom prst="rect">
            <a:avLst/>
          </a:prstGeom>
        </p:spPr>
      </p:pic>
    </p:spTree>
    <p:extLst>
      <p:ext uri="{BB962C8B-B14F-4D97-AF65-F5344CB8AC3E}">
        <p14:creationId xmlns:p14="http://schemas.microsoft.com/office/powerpoint/2010/main" val="115493334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down)">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barn(inVertical)">
                                      <p:cBhvr>
                                        <p:cTn id="12"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8.xml><?xml version="1.0" encoding="utf-8"?>
<p:sld xmlns:a="http://schemas.openxmlformats.org/drawingml/2006/main" xmlns:r="http://schemas.openxmlformats.org/officeDocument/2006/relationships" xmlns:p="http://schemas.openxmlformats.org/presentationml/2006/main">
  <p:cSld>
    <p:bg>
      <p:bgPr>
        <a:pattFill prst="smCheck">
          <a:fgClr>
            <a:srgbClr val="E8F4E9"/>
          </a:fgClr>
          <a:bgClr>
            <a:schemeClr val="bg1"/>
          </a:bgClr>
        </a:pattFill>
        <a:effectLst/>
      </p:bgPr>
    </p:bg>
    <p:spTree>
      <p:nvGrpSpPr>
        <p:cNvPr id="1" name=""/>
        <p:cNvGrpSpPr/>
        <p:nvPr/>
      </p:nvGrpSpPr>
      <p:grpSpPr>
        <a:xfrm>
          <a:off x="0" y="0"/>
          <a:ext cx="0" cy="0"/>
          <a:chOff x="0" y="0"/>
          <a:chExt cx="0" cy="0"/>
        </a:xfrm>
      </p:grpSpPr>
      <p:sp>
        <p:nvSpPr>
          <p:cNvPr id="2" name="矩形 1"/>
          <p:cNvSpPr>
            <a:spLocks noChangeAspect="1"/>
          </p:cNvSpPr>
          <p:nvPr/>
        </p:nvSpPr>
        <p:spPr>
          <a:xfrm>
            <a:off x="381000" y="1243879"/>
            <a:ext cx="11430000" cy="2893100"/>
          </a:xfrm>
          <a:prstGeom prst="rect">
            <a:avLst/>
          </a:prstGeom>
        </p:spPr>
        <p:txBody>
          <a:bodyPr>
            <a:spAutoFit/>
          </a:bodyPr>
          <a:lstStyle/>
          <a:p>
            <a:pPr indent="279400">
              <a:lnSpc>
                <a:spcPct val="130000"/>
              </a:lnSpc>
              <a:spcAft>
                <a:spcPts val="0"/>
              </a:spcAft>
              <a:tabLst>
                <a:tab pos="1188085" algn="l"/>
                <a:tab pos="2163445" algn="l"/>
                <a:tab pos="3142615" algn="l"/>
                <a:tab pos="4190365" algn="l"/>
              </a:tabLst>
            </a:pPr>
            <a:r>
              <a:rPr lang="zh-CN" altLang="zh-CN" sz="2800" dirty="0">
                <a:solidFill>
                  <a:srgbClr val="000000"/>
                </a:solidFill>
                <a:latin typeface="NEU-BZ-S92"/>
                <a:ea typeface="方正正中黑简体"/>
                <a:cs typeface="Times New Roman" panose="02020603050405020304" pitchFamily="18" charset="0"/>
              </a:rPr>
              <a:t>二、空间向量的数量积及其性质</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a:p>
            <a:pPr indent="280670">
              <a:lnSpc>
                <a:spcPct val="130000"/>
              </a:lnSpc>
              <a:spcAft>
                <a:spcPts val="0"/>
              </a:spcAft>
              <a:tabLst>
                <a:tab pos="1188085" algn="l"/>
                <a:tab pos="2163445" algn="l"/>
                <a:tab pos="3142615" algn="l"/>
                <a:tab pos="4190365" algn="l"/>
              </a:tabLst>
            </a:pPr>
            <a:r>
              <a:rPr lang="en-US" altLang="zh-CN" sz="2800" b="1" dirty="0" smtClean="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平面内的两个非零向量</a:t>
            </a:r>
            <a:r>
              <a:rPr lang="en-US" altLang="zh-CN" sz="2800" b="1" i="1" dirty="0" err="1">
                <a:solidFill>
                  <a:srgbClr val="000000"/>
                </a:solidFill>
                <a:latin typeface="Times New Roman" panose="02020603050405020304" pitchFamily="18" charset="0"/>
                <a:cs typeface="Times New Roman" panose="02020603050405020304" pitchFamily="18" charset="0"/>
              </a:rPr>
              <a:t>a</a:t>
            </a:r>
            <a:r>
              <a:rPr lang="en-US" altLang="zh-CN" sz="2800" dirty="0" err="1">
                <a:solidFill>
                  <a:srgbClr val="000000"/>
                </a:solidFill>
                <a:latin typeface="Times New Roman" panose="02020603050405020304" pitchFamily="18" charset="0"/>
                <a:cs typeface="Times New Roman" panose="02020603050405020304" pitchFamily="18" charset="0"/>
              </a:rPr>
              <a:t>,</a:t>
            </a:r>
            <a:r>
              <a:rPr lang="en-US" altLang="zh-CN" sz="2800" b="1" i="1" dirty="0" err="1">
                <a:solidFill>
                  <a:srgbClr val="000000"/>
                </a:solidFill>
                <a:latin typeface="Times New Roman" panose="02020603050405020304" pitchFamily="18" charset="0"/>
                <a:cs typeface="Times New Roman" panose="02020603050405020304" pitchFamily="18" charset="0"/>
              </a:rPr>
              <a:t>b</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它们的数量积</a:t>
            </a:r>
            <a:r>
              <a:rPr lang="en-US" altLang="zh-CN" sz="2800" b="1" i="1" dirty="0" err="1">
                <a:solidFill>
                  <a:srgbClr val="000000"/>
                </a:solidFill>
                <a:latin typeface="Times New Roman" panose="02020603050405020304" pitchFamily="18" charset="0"/>
                <a:cs typeface="Times New Roman" panose="02020603050405020304" pitchFamily="18" charset="0"/>
              </a:rPr>
              <a:t>a</a:t>
            </a:r>
            <a:r>
              <a:rPr lang="en-US" altLang="zh-CN" sz="2800" dirty="0" err="1">
                <a:solidFill>
                  <a:srgbClr val="000000"/>
                </a:solidFill>
                <a:latin typeface="Times New Roman" panose="02020603050405020304" pitchFamily="18" charset="0"/>
                <a:cs typeface="Times New Roman" panose="02020603050405020304" pitchFamily="18" charset="0"/>
              </a:rPr>
              <a:t>·</a:t>
            </a:r>
            <a:r>
              <a:rPr lang="en-US" altLang="zh-CN" sz="2800" b="1" i="1" dirty="0" err="1">
                <a:solidFill>
                  <a:srgbClr val="000000"/>
                </a:solidFill>
                <a:latin typeface="Times New Roman" panose="02020603050405020304" pitchFamily="18" charset="0"/>
                <a:cs typeface="Times New Roman" panose="02020603050405020304" pitchFamily="18" charset="0"/>
              </a:rPr>
              <a:t>b</a:t>
            </a:r>
            <a:r>
              <a:rPr lang="zh-CN" altLang="zh-CN" sz="2800" dirty="0">
                <a:solidFill>
                  <a:srgbClr val="000000"/>
                </a:solidFill>
                <a:latin typeface="Times New Roman" panose="02020603050405020304" pitchFamily="18" charset="0"/>
                <a:cs typeface="Times New Roman" panose="02020603050405020304" pitchFamily="18" charset="0"/>
              </a:rPr>
              <a:t>是如何定义的</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这个定义适用于空间向量吗</a:t>
            </a:r>
            <a:r>
              <a:rPr lang="en-US" altLang="zh-CN" sz="2800"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zh-CN"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提示</a:t>
            </a:r>
            <a:r>
              <a:rPr lang="en-US"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定义</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两个非零向量</a:t>
            </a:r>
            <a:r>
              <a:rPr lang="en-US" altLang="zh-CN" sz="2800" b="1" i="1" dirty="0">
                <a:solidFill>
                  <a:srgbClr val="000000"/>
                </a:solidFill>
                <a:latin typeface="Times New Roman" panose="02020603050405020304" pitchFamily="18" charset="0"/>
                <a:cs typeface="Times New Roman" panose="02020603050405020304" pitchFamily="18" charset="0"/>
              </a:rPr>
              <a:t>a</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与</a:t>
            </a:r>
            <a:r>
              <a:rPr lang="en-US" altLang="zh-CN" sz="2800" b="1" i="1" dirty="0">
                <a:solidFill>
                  <a:srgbClr val="000000"/>
                </a:solidFill>
                <a:latin typeface="Times New Roman" panose="02020603050405020304" pitchFamily="18" charset="0"/>
                <a:cs typeface="Times New Roman" panose="02020603050405020304" pitchFamily="18" charset="0"/>
              </a:rPr>
              <a:t>b</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它们的夹角为</a:t>
            </a:r>
            <a:r>
              <a:rPr lang="en-US" altLang="zh-CN" sz="2800" i="1" dirty="0">
                <a:solidFill>
                  <a:srgbClr val="000000"/>
                </a:solidFill>
                <a:latin typeface="Times New Roman" panose="02020603050405020304" pitchFamily="18" charset="0"/>
                <a:ea typeface="Microsoft Yi Baiti" panose="03000500000000000000" pitchFamily="66" charset="0"/>
                <a:cs typeface="Times New Roman" panose="02020603050405020304" pitchFamily="18" charset="0"/>
              </a:rPr>
              <a:t>θ</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我们把数量</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b="1" i="1" dirty="0">
                <a:solidFill>
                  <a:srgbClr val="000000"/>
                </a:solidFill>
                <a:latin typeface="Times New Roman" panose="02020603050405020304" pitchFamily="18" charset="0"/>
                <a:cs typeface="Times New Roman" panose="02020603050405020304" pitchFamily="18" charset="0"/>
              </a:rPr>
              <a:t>a</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b="1" i="1" dirty="0" err="1">
                <a:solidFill>
                  <a:srgbClr val="000000"/>
                </a:solidFill>
                <a:latin typeface="Times New Roman" panose="02020603050405020304" pitchFamily="18" charset="0"/>
                <a:cs typeface="Times New Roman" panose="02020603050405020304" pitchFamily="18" charset="0"/>
              </a:rPr>
              <a:t>b</a:t>
            </a:r>
            <a:r>
              <a:rPr lang="en-US" altLang="zh-CN" sz="2800" i="1" dirty="0" err="1">
                <a:solidFill>
                  <a:srgbClr val="000000"/>
                </a:solidFill>
                <a:latin typeface="Times New Roman" panose="02020603050405020304" pitchFamily="18" charset="0"/>
                <a:cs typeface="Times New Roman" panose="02020603050405020304" pitchFamily="18" charset="0"/>
              </a:rPr>
              <a:t>|</a:t>
            </a:r>
            <a:r>
              <a:rPr lang="en-US" altLang="zh-CN" sz="2800" dirty="0" err="1">
                <a:solidFill>
                  <a:srgbClr val="000000"/>
                </a:solidFill>
                <a:latin typeface="Times New Roman" panose="02020603050405020304" pitchFamily="18" charset="0"/>
                <a:cs typeface="Times New Roman" panose="02020603050405020304" pitchFamily="18" charset="0"/>
              </a:rPr>
              <a:t>cos</a:t>
            </a:r>
            <a:r>
              <a:rPr lang="en-US"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 </a:t>
            </a:r>
            <a:r>
              <a:rPr lang="en-US" altLang="zh-CN" sz="2800" i="1" dirty="0">
                <a:solidFill>
                  <a:srgbClr val="000000"/>
                </a:solidFill>
                <a:latin typeface="Times New Roman" panose="02020603050405020304" pitchFamily="18" charset="0"/>
                <a:ea typeface="Microsoft Yi Baiti" panose="03000500000000000000" pitchFamily="66" charset="0"/>
                <a:cs typeface="Times New Roman" panose="02020603050405020304" pitchFamily="18" charset="0"/>
              </a:rPr>
              <a:t>θ</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叫做向量</a:t>
            </a:r>
            <a:r>
              <a:rPr lang="en-US" altLang="zh-CN" sz="2800" b="1" i="1" dirty="0">
                <a:solidFill>
                  <a:srgbClr val="000000"/>
                </a:solidFill>
                <a:latin typeface="Times New Roman" panose="02020603050405020304" pitchFamily="18" charset="0"/>
                <a:cs typeface="Times New Roman" panose="02020603050405020304" pitchFamily="18" charset="0"/>
              </a:rPr>
              <a:t>a</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与</a:t>
            </a:r>
            <a:r>
              <a:rPr lang="en-US" altLang="zh-CN" sz="2800" b="1" i="1" dirty="0">
                <a:solidFill>
                  <a:srgbClr val="000000"/>
                </a:solidFill>
                <a:latin typeface="Times New Roman" panose="02020603050405020304" pitchFamily="18" charset="0"/>
                <a:cs typeface="Times New Roman" panose="02020603050405020304" pitchFamily="18" charset="0"/>
              </a:rPr>
              <a:t>b</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的数量</a:t>
            </a:r>
            <a:r>
              <a:rPr lang="zh-CN" altLang="zh-CN" sz="2800" dirty="0" smtClean="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积</a:t>
            </a:r>
            <a:r>
              <a:rPr lang="en-US" altLang="zh-CN" sz="2800" dirty="0" smtClean="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记作</a:t>
            </a:r>
            <a:r>
              <a:rPr lang="en-US" altLang="zh-CN" sz="2800" b="1" i="1" dirty="0" err="1">
                <a:solidFill>
                  <a:srgbClr val="000000"/>
                </a:solidFill>
                <a:latin typeface="Times New Roman" panose="02020603050405020304" pitchFamily="18" charset="0"/>
                <a:cs typeface="Times New Roman" panose="02020603050405020304" pitchFamily="18" charset="0"/>
              </a:rPr>
              <a:t>a</a:t>
            </a:r>
            <a:r>
              <a:rPr lang="en-US" altLang="zh-CN" sz="2800" dirty="0" err="1">
                <a:solidFill>
                  <a:srgbClr val="000000"/>
                </a:solidFill>
                <a:latin typeface="Times New Roman" panose="02020603050405020304" pitchFamily="18" charset="0"/>
                <a:cs typeface="Times New Roman" panose="02020603050405020304" pitchFamily="18" charset="0"/>
              </a:rPr>
              <a:t>·</a:t>
            </a:r>
            <a:r>
              <a:rPr lang="en-US" altLang="zh-CN" sz="2800" b="1" i="1" dirty="0" err="1">
                <a:solidFill>
                  <a:srgbClr val="000000"/>
                </a:solidFill>
                <a:latin typeface="Times New Roman" panose="02020603050405020304" pitchFamily="18" charset="0"/>
                <a:cs typeface="Times New Roman" panose="02020603050405020304" pitchFamily="18" charset="0"/>
              </a:rPr>
              <a:t>b</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即</a:t>
            </a:r>
            <a:r>
              <a:rPr lang="en-US" altLang="zh-CN" sz="2800" b="1" i="1" dirty="0" err="1">
                <a:solidFill>
                  <a:srgbClr val="000000"/>
                </a:solidFill>
                <a:latin typeface="Times New Roman" panose="02020603050405020304" pitchFamily="18" charset="0"/>
                <a:cs typeface="Times New Roman" panose="02020603050405020304" pitchFamily="18" charset="0"/>
              </a:rPr>
              <a:t>a</a:t>
            </a:r>
            <a:r>
              <a:rPr lang="en-US" altLang="zh-CN" sz="2800" dirty="0" err="1">
                <a:solidFill>
                  <a:srgbClr val="000000"/>
                </a:solidFill>
                <a:latin typeface="Times New Roman" panose="02020603050405020304" pitchFamily="18" charset="0"/>
                <a:cs typeface="Times New Roman" panose="02020603050405020304" pitchFamily="18" charset="0"/>
              </a:rPr>
              <a:t>·</a:t>
            </a:r>
            <a:r>
              <a:rPr lang="en-US" altLang="zh-CN" sz="2800" b="1" i="1" dirty="0" err="1">
                <a:solidFill>
                  <a:srgbClr val="000000"/>
                </a:solidFill>
                <a:latin typeface="Times New Roman" panose="02020603050405020304" pitchFamily="18" charset="0"/>
                <a:cs typeface="Times New Roman" panose="02020603050405020304" pitchFamily="18" charset="0"/>
              </a:rPr>
              <a:t>b</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b="1" i="1" dirty="0">
                <a:solidFill>
                  <a:srgbClr val="000000"/>
                </a:solidFill>
                <a:latin typeface="Times New Roman" panose="02020603050405020304" pitchFamily="18" charset="0"/>
                <a:cs typeface="Times New Roman" panose="02020603050405020304" pitchFamily="18" charset="0"/>
              </a:rPr>
              <a:t>a</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b="1" i="1" dirty="0" err="1">
                <a:solidFill>
                  <a:srgbClr val="000000"/>
                </a:solidFill>
                <a:latin typeface="Times New Roman" panose="02020603050405020304" pitchFamily="18" charset="0"/>
                <a:cs typeface="Times New Roman" panose="02020603050405020304" pitchFamily="18" charset="0"/>
              </a:rPr>
              <a:t>b</a:t>
            </a:r>
            <a:r>
              <a:rPr lang="en-US" altLang="zh-CN" sz="2800" i="1" dirty="0" err="1">
                <a:solidFill>
                  <a:srgbClr val="000000"/>
                </a:solidFill>
                <a:latin typeface="Times New Roman" panose="02020603050405020304" pitchFamily="18" charset="0"/>
                <a:cs typeface="Times New Roman" panose="02020603050405020304" pitchFamily="18" charset="0"/>
              </a:rPr>
              <a:t>|</a:t>
            </a:r>
            <a:r>
              <a:rPr lang="en-US" altLang="zh-CN" sz="2800" dirty="0" err="1">
                <a:solidFill>
                  <a:srgbClr val="000000"/>
                </a:solidFill>
                <a:latin typeface="Times New Roman" panose="02020603050405020304" pitchFamily="18" charset="0"/>
                <a:cs typeface="Times New Roman" panose="02020603050405020304" pitchFamily="18" charset="0"/>
              </a:rPr>
              <a:t>cos</a:t>
            </a:r>
            <a:r>
              <a:rPr lang="en-US"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 </a:t>
            </a:r>
            <a:r>
              <a:rPr lang="en-US" altLang="zh-CN" sz="2800" i="1" dirty="0">
                <a:solidFill>
                  <a:srgbClr val="000000"/>
                </a:solidFill>
                <a:latin typeface="Times New Roman" panose="02020603050405020304" pitchFamily="18" charset="0"/>
                <a:ea typeface="Microsoft Yi Baiti" panose="03000500000000000000" pitchFamily="66" charset="0"/>
                <a:cs typeface="Times New Roman" panose="02020603050405020304" pitchFamily="18" charset="0"/>
              </a:rPr>
              <a:t>θ</a:t>
            </a:r>
            <a:r>
              <a:rPr lang="en-US" altLang="zh-CN" sz="2800" i="1"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这个定义也适用于空间向量</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effectLst/>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22810313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2">
                                            <p:txEl>
                                              <p:pRg st="2" end="2"/>
                                            </p:txEl>
                                          </p:spTgt>
                                        </p:tgtEl>
                                        <p:attrNameLst>
                                          <p:attrName>style.visibility</p:attrName>
                                        </p:attrNameLst>
                                      </p:cBhvr>
                                      <p:to>
                                        <p:strVal val="visible"/>
                                      </p:to>
                                    </p:set>
                                    <p:animEffect transition="in" filter="wipe(down)">
                                      <p:cBhvr>
                                        <p:cTn id="7" dur="500"/>
                                        <p:tgtEl>
                                          <p:spTgt spid="2">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bg>
      <p:bgPr>
        <a:pattFill prst="smCheck">
          <a:fgClr>
            <a:srgbClr val="E8F4E9"/>
          </a:fgClr>
          <a:bgClr>
            <a:schemeClr val="bg1"/>
          </a:bgClr>
        </a:pattFill>
        <a:effectLst/>
      </p:bgPr>
    </p:bg>
    <p:spTree>
      <p:nvGrpSpPr>
        <p:cNvPr id="1" name=""/>
        <p:cNvGrpSpPr/>
        <p:nvPr/>
      </p:nvGrpSpPr>
      <p:grpSpPr>
        <a:xfrm>
          <a:off x="0" y="0"/>
          <a:ext cx="0" cy="0"/>
          <a:chOff x="0" y="0"/>
          <a:chExt cx="0" cy="0"/>
        </a:xfrm>
      </p:grpSpPr>
      <p:sp>
        <p:nvSpPr>
          <p:cNvPr id="2" name="矩形 1"/>
          <p:cNvSpPr>
            <a:spLocks noChangeAspect="1"/>
          </p:cNvSpPr>
          <p:nvPr/>
        </p:nvSpPr>
        <p:spPr>
          <a:xfrm>
            <a:off x="381000" y="588240"/>
            <a:ext cx="5136021" cy="592213"/>
          </a:xfrm>
          <a:prstGeom prst="rect">
            <a:avLst/>
          </a:prstGeom>
        </p:spPr>
        <p:txBody>
          <a:bodyPr wrap="none">
            <a:spAutoFit/>
          </a:bodyPr>
          <a:lstStyle/>
          <a:p>
            <a:pPr indent="280670">
              <a:lnSpc>
                <a:spcPct val="130000"/>
              </a:lnSpc>
              <a:spcAft>
                <a:spcPts val="0"/>
              </a:spcAft>
              <a:tabLst>
                <a:tab pos="1029335" algn="l"/>
                <a:tab pos="1850390" algn="l"/>
                <a:tab pos="2538095" algn="l"/>
                <a:tab pos="3221990" algn="l"/>
              </a:tabLst>
            </a:pPr>
            <a:r>
              <a:rPr lang="en-US" altLang="zh-CN" sz="2800" b="1"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空间向量的数量积及其性质</a:t>
            </a:r>
            <a:r>
              <a:rPr lang="en-US" altLang="zh-CN" sz="2800" dirty="0">
                <a:solidFill>
                  <a:srgbClr val="000000"/>
                </a:solidFill>
                <a:latin typeface="Times New Roman" panose="02020603050405020304" pitchFamily="18" charset="0"/>
                <a:cs typeface="Times New Roman" panose="02020603050405020304" pitchFamily="18" charset="0"/>
              </a:rPr>
              <a:t> </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p:txBody>
      </p:sp>
      <p:graphicFrame>
        <p:nvGraphicFramePr>
          <p:cNvPr id="14" name="对象 13"/>
          <p:cNvGraphicFramePr>
            <a:graphicFrameLocks noChangeAspect="1"/>
          </p:cNvGraphicFramePr>
          <p:nvPr>
            <p:extLst>
              <p:ext uri="{D42A27DB-BD31-4B8C-83A1-F6EECF244321}">
                <p14:modId xmlns:p14="http://schemas.microsoft.com/office/powerpoint/2010/main" val="3226705163"/>
              </p:ext>
            </p:extLst>
          </p:nvPr>
        </p:nvGraphicFramePr>
        <p:xfrm>
          <a:off x="385763" y="1222375"/>
          <a:ext cx="11423650" cy="4892675"/>
        </p:xfrm>
        <a:graphic>
          <a:graphicData uri="http://schemas.openxmlformats.org/presentationml/2006/ole">
            <mc:AlternateContent xmlns:mc="http://schemas.openxmlformats.org/markup-compatibility/2006">
              <mc:Choice xmlns:v="urn:schemas-microsoft-com:vml" Requires="v">
                <p:oleObj spid="_x0000_s4130" name="文档" r:id="rId3" imgW="4620033" imgH="1985013" progId="Word.Document.12">
                  <p:embed/>
                </p:oleObj>
              </mc:Choice>
              <mc:Fallback>
                <p:oleObj name="文档" r:id="rId3" imgW="4620033" imgH="1985013" progId="Word.Document.12">
                  <p:embed/>
                  <p:pic>
                    <p:nvPicPr>
                      <p:cNvPr id="0" name=""/>
                      <p:cNvPicPr/>
                      <p:nvPr/>
                    </p:nvPicPr>
                    <p:blipFill>
                      <a:blip r:embed="rId4"/>
                      <a:stretch>
                        <a:fillRect/>
                      </a:stretch>
                    </p:blipFill>
                    <p:spPr>
                      <a:xfrm>
                        <a:off x="385763" y="1222375"/>
                        <a:ext cx="11423650" cy="4892675"/>
                      </a:xfrm>
                      <a:prstGeom prst="rect">
                        <a:avLst/>
                      </a:prstGeom>
                    </p:spPr>
                  </p:pic>
                </p:oleObj>
              </mc:Fallback>
            </mc:AlternateContent>
          </a:graphicData>
        </a:graphic>
      </p:graphicFrame>
      <p:sp>
        <p:nvSpPr>
          <p:cNvPr id="15" name="矩形 14"/>
          <p:cNvSpPr/>
          <p:nvPr/>
        </p:nvSpPr>
        <p:spPr>
          <a:xfrm>
            <a:off x="2738759" y="1329332"/>
            <a:ext cx="684922" cy="350588"/>
          </a:xfrm>
          <a:prstGeom prst="rect">
            <a:avLst/>
          </a:prstGeom>
          <a:pattFill prst="smCheck">
            <a:fgClr>
              <a:srgbClr val="E8F4E9"/>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矩形 15"/>
          <p:cNvSpPr/>
          <p:nvPr/>
        </p:nvSpPr>
        <p:spPr>
          <a:xfrm>
            <a:off x="5107273" y="1318941"/>
            <a:ext cx="2072482" cy="350588"/>
          </a:xfrm>
          <a:prstGeom prst="rect">
            <a:avLst/>
          </a:prstGeom>
          <a:pattFill prst="smCheck">
            <a:fgClr>
              <a:srgbClr val="E8F4E9"/>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矩形 16"/>
          <p:cNvSpPr/>
          <p:nvPr/>
        </p:nvSpPr>
        <p:spPr>
          <a:xfrm>
            <a:off x="2571296" y="1723088"/>
            <a:ext cx="2221981" cy="393398"/>
          </a:xfrm>
          <a:prstGeom prst="rect">
            <a:avLst/>
          </a:prstGeom>
          <a:pattFill prst="smCheck">
            <a:fgClr>
              <a:srgbClr val="E8F4E9"/>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矩形 17"/>
          <p:cNvSpPr/>
          <p:nvPr/>
        </p:nvSpPr>
        <p:spPr>
          <a:xfrm>
            <a:off x="10577675" y="1720448"/>
            <a:ext cx="189451" cy="385647"/>
          </a:xfrm>
          <a:prstGeom prst="rect">
            <a:avLst/>
          </a:prstGeom>
          <a:pattFill prst="smCheck">
            <a:fgClr>
              <a:srgbClr val="E8F4E9"/>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矩形 18"/>
          <p:cNvSpPr/>
          <p:nvPr/>
        </p:nvSpPr>
        <p:spPr>
          <a:xfrm>
            <a:off x="2052378" y="2146514"/>
            <a:ext cx="172228" cy="385647"/>
          </a:xfrm>
          <a:prstGeom prst="rect">
            <a:avLst/>
          </a:prstGeom>
          <a:pattFill prst="smCheck">
            <a:fgClr>
              <a:srgbClr val="E8F4E9"/>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矩形 19"/>
          <p:cNvSpPr/>
          <p:nvPr/>
        </p:nvSpPr>
        <p:spPr>
          <a:xfrm>
            <a:off x="4541386" y="2640605"/>
            <a:ext cx="873818" cy="336909"/>
          </a:xfrm>
          <a:prstGeom prst="rect">
            <a:avLst/>
          </a:prstGeom>
          <a:pattFill prst="smCheck">
            <a:fgClr>
              <a:srgbClr val="E8F4E9"/>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矩形 20"/>
          <p:cNvSpPr/>
          <p:nvPr/>
        </p:nvSpPr>
        <p:spPr>
          <a:xfrm>
            <a:off x="4376197" y="3106300"/>
            <a:ext cx="444396" cy="390739"/>
          </a:xfrm>
          <a:prstGeom prst="rect">
            <a:avLst/>
          </a:prstGeom>
          <a:pattFill prst="smCheck">
            <a:fgClr>
              <a:srgbClr val="E8F4E9"/>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矩形 22"/>
          <p:cNvSpPr/>
          <p:nvPr/>
        </p:nvSpPr>
        <p:spPr>
          <a:xfrm>
            <a:off x="2305240" y="3606681"/>
            <a:ext cx="867037" cy="348218"/>
          </a:xfrm>
          <a:prstGeom prst="rect">
            <a:avLst/>
          </a:prstGeom>
          <a:pattFill prst="smCheck">
            <a:fgClr>
              <a:srgbClr val="E8F4E9"/>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矩形 23"/>
          <p:cNvSpPr/>
          <p:nvPr/>
        </p:nvSpPr>
        <p:spPr>
          <a:xfrm>
            <a:off x="2567529" y="4580430"/>
            <a:ext cx="1123035" cy="316562"/>
          </a:xfrm>
          <a:prstGeom prst="rect">
            <a:avLst/>
          </a:prstGeom>
          <a:pattFill prst="smCheck">
            <a:fgClr>
              <a:srgbClr val="E8F4E9"/>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405871972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xit" presetSubtype="4" fill="hold" grpId="0" nodeType="clickEffect">
                                  <p:stCondLst>
                                    <p:cond delay="0"/>
                                  </p:stCondLst>
                                  <p:childTnLst>
                                    <p:animEffect transition="out" filter="wipe(down)">
                                      <p:cBhvr>
                                        <p:cTn id="6" dur="500"/>
                                        <p:tgtEl>
                                          <p:spTgt spid="15"/>
                                        </p:tgtEl>
                                      </p:cBhvr>
                                    </p:animEffect>
                                    <p:set>
                                      <p:cBhvr>
                                        <p:cTn id="7" dur="1" fill="hold">
                                          <p:stCondLst>
                                            <p:cond delay="499"/>
                                          </p:stCondLst>
                                        </p:cTn>
                                        <p:tgtEl>
                                          <p:spTgt spid="15"/>
                                        </p:tgtEl>
                                        <p:attrNameLst>
                                          <p:attrName>style.visibility</p:attrName>
                                        </p:attrNameLst>
                                      </p:cBhvr>
                                      <p:to>
                                        <p:strVal val="hidden"/>
                                      </p:to>
                                    </p:set>
                                  </p:childTnLst>
                                </p:cTn>
                              </p:par>
                            </p:childTnLst>
                          </p:cTn>
                        </p:par>
                      </p:childTnLst>
                    </p:cTn>
                  </p:par>
                  <p:par>
                    <p:cTn id="8" fill="hold">
                      <p:stCondLst>
                        <p:cond delay="indefinite"/>
                      </p:stCondLst>
                      <p:childTnLst>
                        <p:par>
                          <p:cTn id="9" fill="hold">
                            <p:stCondLst>
                              <p:cond delay="0"/>
                            </p:stCondLst>
                            <p:childTnLst>
                              <p:par>
                                <p:cTn id="10" presetID="22" presetClass="exit" presetSubtype="4" fill="hold" grpId="0" nodeType="clickEffect">
                                  <p:stCondLst>
                                    <p:cond delay="0"/>
                                  </p:stCondLst>
                                  <p:childTnLst>
                                    <p:animEffect transition="out" filter="wipe(down)">
                                      <p:cBhvr>
                                        <p:cTn id="11" dur="500"/>
                                        <p:tgtEl>
                                          <p:spTgt spid="16"/>
                                        </p:tgtEl>
                                      </p:cBhvr>
                                    </p:animEffect>
                                    <p:set>
                                      <p:cBhvr>
                                        <p:cTn id="12" dur="1" fill="hold">
                                          <p:stCondLst>
                                            <p:cond delay="499"/>
                                          </p:stCondLst>
                                        </p:cTn>
                                        <p:tgtEl>
                                          <p:spTgt spid="16"/>
                                        </p:tgtEl>
                                        <p:attrNameLst>
                                          <p:attrName>style.visibility</p:attrName>
                                        </p:attrNameLst>
                                      </p:cBhvr>
                                      <p:to>
                                        <p:strVal val="hidden"/>
                                      </p:to>
                                    </p:set>
                                  </p:childTnLst>
                                </p:cTn>
                              </p:par>
                            </p:childTnLst>
                          </p:cTn>
                        </p:par>
                      </p:childTnLst>
                    </p:cTn>
                  </p:par>
                  <p:par>
                    <p:cTn id="13" fill="hold">
                      <p:stCondLst>
                        <p:cond delay="indefinite"/>
                      </p:stCondLst>
                      <p:childTnLst>
                        <p:par>
                          <p:cTn id="14" fill="hold">
                            <p:stCondLst>
                              <p:cond delay="0"/>
                            </p:stCondLst>
                            <p:childTnLst>
                              <p:par>
                                <p:cTn id="15" presetID="22" presetClass="exit" presetSubtype="4" fill="hold" grpId="0" nodeType="clickEffect">
                                  <p:stCondLst>
                                    <p:cond delay="0"/>
                                  </p:stCondLst>
                                  <p:childTnLst>
                                    <p:animEffect transition="out" filter="wipe(down)">
                                      <p:cBhvr>
                                        <p:cTn id="16" dur="500"/>
                                        <p:tgtEl>
                                          <p:spTgt spid="17"/>
                                        </p:tgtEl>
                                      </p:cBhvr>
                                    </p:animEffect>
                                    <p:set>
                                      <p:cBhvr>
                                        <p:cTn id="17" dur="1" fill="hold">
                                          <p:stCondLst>
                                            <p:cond delay="499"/>
                                          </p:stCondLst>
                                        </p:cTn>
                                        <p:tgtEl>
                                          <p:spTgt spid="17"/>
                                        </p:tgtEl>
                                        <p:attrNameLst>
                                          <p:attrName>style.visibility</p:attrName>
                                        </p:attrNameLst>
                                      </p:cBhvr>
                                      <p:to>
                                        <p:strVal val="hidden"/>
                                      </p:to>
                                    </p:set>
                                  </p:childTnLst>
                                </p:cTn>
                              </p:par>
                            </p:childTnLst>
                          </p:cTn>
                        </p:par>
                      </p:childTnLst>
                    </p:cTn>
                  </p:par>
                  <p:par>
                    <p:cTn id="18" fill="hold">
                      <p:stCondLst>
                        <p:cond delay="indefinite"/>
                      </p:stCondLst>
                      <p:childTnLst>
                        <p:par>
                          <p:cTn id="19" fill="hold">
                            <p:stCondLst>
                              <p:cond delay="0"/>
                            </p:stCondLst>
                            <p:childTnLst>
                              <p:par>
                                <p:cTn id="20" presetID="22" presetClass="exit" presetSubtype="4" fill="hold" grpId="0" nodeType="clickEffect">
                                  <p:stCondLst>
                                    <p:cond delay="0"/>
                                  </p:stCondLst>
                                  <p:childTnLst>
                                    <p:animEffect transition="out" filter="wipe(down)">
                                      <p:cBhvr>
                                        <p:cTn id="21" dur="500"/>
                                        <p:tgtEl>
                                          <p:spTgt spid="18"/>
                                        </p:tgtEl>
                                      </p:cBhvr>
                                    </p:animEffect>
                                    <p:set>
                                      <p:cBhvr>
                                        <p:cTn id="22" dur="1" fill="hold">
                                          <p:stCondLst>
                                            <p:cond delay="499"/>
                                          </p:stCondLst>
                                        </p:cTn>
                                        <p:tgtEl>
                                          <p:spTgt spid="18"/>
                                        </p:tgtEl>
                                        <p:attrNameLst>
                                          <p:attrName>style.visibility</p:attrName>
                                        </p:attrNameLst>
                                      </p:cBhvr>
                                      <p:to>
                                        <p:strVal val="hidden"/>
                                      </p:to>
                                    </p:set>
                                  </p:childTnLst>
                                </p:cTn>
                              </p:par>
                            </p:childTnLst>
                          </p:cTn>
                        </p:par>
                      </p:childTnLst>
                    </p:cTn>
                  </p:par>
                  <p:par>
                    <p:cTn id="23" fill="hold">
                      <p:stCondLst>
                        <p:cond delay="indefinite"/>
                      </p:stCondLst>
                      <p:childTnLst>
                        <p:par>
                          <p:cTn id="24" fill="hold">
                            <p:stCondLst>
                              <p:cond delay="0"/>
                            </p:stCondLst>
                            <p:childTnLst>
                              <p:par>
                                <p:cTn id="25" presetID="22" presetClass="exit" presetSubtype="4" fill="hold" grpId="0" nodeType="clickEffect">
                                  <p:stCondLst>
                                    <p:cond delay="0"/>
                                  </p:stCondLst>
                                  <p:childTnLst>
                                    <p:animEffect transition="out" filter="wipe(down)">
                                      <p:cBhvr>
                                        <p:cTn id="26" dur="500"/>
                                        <p:tgtEl>
                                          <p:spTgt spid="19"/>
                                        </p:tgtEl>
                                      </p:cBhvr>
                                    </p:animEffect>
                                    <p:set>
                                      <p:cBhvr>
                                        <p:cTn id="27" dur="1" fill="hold">
                                          <p:stCondLst>
                                            <p:cond delay="499"/>
                                          </p:stCondLst>
                                        </p:cTn>
                                        <p:tgtEl>
                                          <p:spTgt spid="19"/>
                                        </p:tgtEl>
                                        <p:attrNameLst>
                                          <p:attrName>style.visibility</p:attrName>
                                        </p:attrNameLst>
                                      </p:cBhvr>
                                      <p:to>
                                        <p:strVal val="hidden"/>
                                      </p:to>
                                    </p:set>
                                  </p:childTnLst>
                                </p:cTn>
                              </p:par>
                            </p:childTnLst>
                          </p:cTn>
                        </p:par>
                      </p:childTnLst>
                    </p:cTn>
                  </p:par>
                  <p:par>
                    <p:cTn id="28" fill="hold">
                      <p:stCondLst>
                        <p:cond delay="indefinite"/>
                      </p:stCondLst>
                      <p:childTnLst>
                        <p:par>
                          <p:cTn id="29" fill="hold">
                            <p:stCondLst>
                              <p:cond delay="0"/>
                            </p:stCondLst>
                            <p:childTnLst>
                              <p:par>
                                <p:cTn id="30" presetID="22" presetClass="exit" presetSubtype="4" fill="hold" grpId="0" nodeType="clickEffect">
                                  <p:stCondLst>
                                    <p:cond delay="0"/>
                                  </p:stCondLst>
                                  <p:childTnLst>
                                    <p:animEffect transition="out" filter="wipe(down)">
                                      <p:cBhvr>
                                        <p:cTn id="31" dur="500"/>
                                        <p:tgtEl>
                                          <p:spTgt spid="20"/>
                                        </p:tgtEl>
                                      </p:cBhvr>
                                    </p:animEffect>
                                    <p:set>
                                      <p:cBhvr>
                                        <p:cTn id="32" dur="1" fill="hold">
                                          <p:stCondLst>
                                            <p:cond delay="499"/>
                                          </p:stCondLst>
                                        </p:cTn>
                                        <p:tgtEl>
                                          <p:spTgt spid="20"/>
                                        </p:tgtEl>
                                        <p:attrNameLst>
                                          <p:attrName>style.visibility</p:attrName>
                                        </p:attrNameLst>
                                      </p:cBhvr>
                                      <p:to>
                                        <p:strVal val="hidden"/>
                                      </p:to>
                                    </p:set>
                                  </p:childTnLst>
                                </p:cTn>
                              </p:par>
                            </p:childTnLst>
                          </p:cTn>
                        </p:par>
                      </p:childTnLst>
                    </p:cTn>
                  </p:par>
                  <p:par>
                    <p:cTn id="33" fill="hold">
                      <p:stCondLst>
                        <p:cond delay="indefinite"/>
                      </p:stCondLst>
                      <p:childTnLst>
                        <p:par>
                          <p:cTn id="34" fill="hold">
                            <p:stCondLst>
                              <p:cond delay="0"/>
                            </p:stCondLst>
                            <p:childTnLst>
                              <p:par>
                                <p:cTn id="35" presetID="22" presetClass="exit" presetSubtype="4" fill="hold" grpId="0" nodeType="clickEffect">
                                  <p:stCondLst>
                                    <p:cond delay="0"/>
                                  </p:stCondLst>
                                  <p:childTnLst>
                                    <p:animEffect transition="out" filter="wipe(down)">
                                      <p:cBhvr>
                                        <p:cTn id="36" dur="500"/>
                                        <p:tgtEl>
                                          <p:spTgt spid="21"/>
                                        </p:tgtEl>
                                      </p:cBhvr>
                                    </p:animEffect>
                                    <p:set>
                                      <p:cBhvr>
                                        <p:cTn id="37" dur="1" fill="hold">
                                          <p:stCondLst>
                                            <p:cond delay="499"/>
                                          </p:stCondLst>
                                        </p:cTn>
                                        <p:tgtEl>
                                          <p:spTgt spid="21"/>
                                        </p:tgtEl>
                                        <p:attrNameLst>
                                          <p:attrName>style.visibility</p:attrName>
                                        </p:attrNameLst>
                                      </p:cBhvr>
                                      <p:to>
                                        <p:strVal val="hidden"/>
                                      </p:to>
                                    </p:set>
                                  </p:childTnLst>
                                </p:cTn>
                              </p:par>
                            </p:childTnLst>
                          </p:cTn>
                        </p:par>
                      </p:childTnLst>
                    </p:cTn>
                  </p:par>
                  <p:par>
                    <p:cTn id="38" fill="hold">
                      <p:stCondLst>
                        <p:cond delay="indefinite"/>
                      </p:stCondLst>
                      <p:childTnLst>
                        <p:par>
                          <p:cTn id="39" fill="hold">
                            <p:stCondLst>
                              <p:cond delay="0"/>
                            </p:stCondLst>
                            <p:childTnLst>
                              <p:par>
                                <p:cTn id="40" presetID="22" presetClass="exit" presetSubtype="4" fill="hold" grpId="0" nodeType="clickEffect">
                                  <p:stCondLst>
                                    <p:cond delay="0"/>
                                  </p:stCondLst>
                                  <p:childTnLst>
                                    <p:animEffect transition="out" filter="wipe(down)">
                                      <p:cBhvr>
                                        <p:cTn id="41" dur="500"/>
                                        <p:tgtEl>
                                          <p:spTgt spid="23"/>
                                        </p:tgtEl>
                                      </p:cBhvr>
                                    </p:animEffect>
                                    <p:set>
                                      <p:cBhvr>
                                        <p:cTn id="42" dur="1" fill="hold">
                                          <p:stCondLst>
                                            <p:cond delay="499"/>
                                          </p:stCondLst>
                                        </p:cTn>
                                        <p:tgtEl>
                                          <p:spTgt spid="23"/>
                                        </p:tgtEl>
                                        <p:attrNameLst>
                                          <p:attrName>style.visibility</p:attrName>
                                        </p:attrNameLst>
                                      </p:cBhvr>
                                      <p:to>
                                        <p:strVal val="hidden"/>
                                      </p:to>
                                    </p:set>
                                  </p:childTnLst>
                                </p:cTn>
                              </p:par>
                            </p:childTnLst>
                          </p:cTn>
                        </p:par>
                      </p:childTnLst>
                    </p:cTn>
                  </p:par>
                  <p:par>
                    <p:cTn id="43" fill="hold">
                      <p:stCondLst>
                        <p:cond delay="indefinite"/>
                      </p:stCondLst>
                      <p:childTnLst>
                        <p:par>
                          <p:cTn id="44" fill="hold">
                            <p:stCondLst>
                              <p:cond delay="0"/>
                            </p:stCondLst>
                            <p:childTnLst>
                              <p:par>
                                <p:cTn id="45" presetID="22" presetClass="exit" presetSubtype="4" fill="hold" grpId="0" nodeType="clickEffect">
                                  <p:stCondLst>
                                    <p:cond delay="0"/>
                                  </p:stCondLst>
                                  <p:childTnLst>
                                    <p:animEffect transition="out" filter="wipe(down)">
                                      <p:cBhvr>
                                        <p:cTn id="46" dur="500"/>
                                        <p:tgtEl>
                                          <p:spTgt spid="24"/>
                                        </p:tgtEl>
                                      </p:cBhvr>
                                    </p:animEffect>
                                    <p:set>
                                      <p:cBhvr>
                                        <p:cTn id="47" dur="1" fill="hold">
                                          <p:stCondLst>
                                            <p:cond delay="499"/>
                                          </p:stCondLst>
                                        </p:cTn>
                                        <p:tgtEl>
                                          <p:spTgt spid="2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6" grpId="0" animBg="1"/>
      <p:bldP spid="17" grpId="0" animBg="1"/>
      <p:bldP spid="18" grpId="0" animBg="1"/>
      <p:bldP spid="19" grpId="0" animBg="1"/>
      <p:bldP spid="20" grpId="0" animBg="1"/>
      <p:bldP spid="21" grpId="0" animBg="1"/>
      <p:bldP spid="23" grpId="0" animBg="1"/>
      <p:bldP spid="24"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bg>
      <p:bgPr>
        <a:pattFill prst="smCheck">
          <a:fgClr>
            <a:srgbClr val="E8F4E9"/>
          </a:fgClr>
          <a:bgClr>
            <a:schemeClr val="bg1"/>
          </a:bgClr>
        </a:pattFill>
        <a:effectLst/>
      </p:bgPr>
    </p:bg>
    <p:spTree>
      <p:nvGrpSpPr>
        <p:cNvPr id="1" name=""/>
        <p:cNvGrpSpPr/>
        <p:nvPr/>
      </p:nvGrpSpPr>
      <p:grpSpPr>
        <a:xfrm>
          <a:off x="0" y="0"/>
          <a:ext cx="0" cy="0"/>
          <a:chOff x="0" y="0"/>
          <a:chExt cx="0" cy="0"/>
        </a:xfrm>
      </p:grpSpPr>
      <p:grpSp>
        <p:nvGrpSpPr>
          <p:cNvPr id="7" name="组合 6"/>
          <p:cNvGrpSpPr/>
          <p:nvPr/>
        </p:nvGrpSpPr>
        <p:grpSpPr>
          <a:xfrm>
            <a:off x="58882" y="418228"/>
            <a:ext cx="11752118" cy="2821253"/>
            <a:chOff x="58882" y="418228"/>
            <a:chExt cx="11752118" cy="2821253"/>
          </a:xfrm>
        </p:grpSpPr>
        <p:sp>
          <p:nvSpPr>
            <p:cNvPr id="2" name="矩形 1"/>
            <p:cNvSpPr>
              <a:spLocks noChangeAspect="1"/>
            </p:cNvSpPr>
            <p:nvPr/>
          </p:nvSpPr>
          <p:spPr>
            <a:xfrm>
              <a:off x="381000" y="418228"/>
              <a:ext cx="11430000" cy="2332946"/>
            </a:xfrm>
            <a:prstGeom prst="rect">
              <a:avLst/>
            </a:prstGeom>
          </p:spPr>
          <p:txBody>
            <a:bodyPr>
              <a:spAutoFit/>
            </a:bodyPr>
            <a:lstStyle/>
            <a:p>
              <a:pPr indent="280670">
                <a:lnSpc>
                  <a:spcPct val="130000"/>
                </a:lnSpc>
                <a:spcAft>
                  <a:spcPts val="0"/>
                </a:spcAft>
                <a:tabLst>
                  <a:tab pos="1188085" algn="l"/>
                  <a:tab pos="2163445" algn="l"/>
                  <a:tab pos="3142615" algn="l"/>
                  <a:tab pos="4190365" algn="l"/>
                </a:tabLst>
              </a:pPr>
              <a:r>
                <a:rPr lang="en-US" altLang="zh-CN" sz="2800" b="1" dirty="0">
                  <a:solidFill>
                    <a:srgbClr val="000000"/>
                  </a:solidFill>
                  <a:latin typeface="Times New Roman" panose="02020603050405020304" pitchFamily="18" charset="0"/>
                  <a:cs typeface="Times New Roman" panose="02020603050405020304" pitchFamily="18" charset="0"/>
                </a:rPr>
                <a:t>3</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(1)</a:t>
              </a:r>
              <a:r>
                <a:rPr lang="zh-CN" altLang="zh-CN" sz="2800" dirty="0">
                  <a:solidFill>
                    <a:srgbClr val="000000"/>
                  </a:solidFill>
                  <a:latin typeface="Times New Roman" panose="02020603050405020304" pitchFamily="18" charset="0"/>
                  <a:cs typeface="Times New Roman" panose="02020603050405020304" pitchFamily="18" charset="0"/>
                </a:rPr>
                <a:t>下列式子正确的是</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i="1" dirty="0">
                  <a:solidFill>
                    <a:srgbClr val="000000"/>
                  </a:solidFill>
                  <a:latin typeface="Times New Roman" panose="02020603050405020304" pitchFamily="18" charset="0"/>
                  <a:cs typeface="Times New Roman" panose="02020603050405020304" pitchFamily="18" charset="0"/>
                </a:rPr>
                <a:t>　　</a:t>
              </a:r>
              <a:r>
                <a:rPr lang="en-US" altLang="zh-CN" sz="2800"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en-US" altLang="zh-CN" sz="2800" dirty="0">
                  <a:solidFill>
                    <a:srgbClr val="000000"/>
                  </a:solidFill>
                  <a:latin typeface="Times New Roman" panose="02020603050405020304" pitchFamily="18" charset="0"/>
                  <a:cs typeface="Times New Roman" panose="02020603050405020304" pitchFamily="18" charset="0"/>
                </a:rPr>
                <a:t>A</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b="1" i="1" dirty="0" err="1">
                  <a:solidFill>
                    <a:srgbClr val="000000"/>
                  </a:solidFill>
                  <a:latin typeface="Times New Roman" panose="02020603050405020304" pitchFamily="18" charset="0"/>
                  <a:cs typeface="Times New Roman" panose="02020603050405020304" pitchFamily="18" charset="0"/>
                </a:rPr>
                <a:t>a</a:t>
              </a:r>
              <a:r>
                <a:rPr lang="en-US" altLang="zh-CN" sz="2800" i="1" dirty="0" err="1">
                  <a:solidFill>
                    <a:srgbClr val="000000"/>
                  </a:solidFill>
                  <a:latin typeface="Times New Roman" panose="02020603050405020304" pitchFamily="18" charset="0"/>
                  <a:cs typeface="Times New Roman" panose="02020603050405020304" pitchFamily="18" charset="0"/>
                </a:rPr>
                <a:t>|</a:t>
              </a:r>
              <a:r>
                <a:rPr lang="en-US" altLang="zh-CN" sz="2800" b="1" i="1" dirty="0" err="1">
                  <a:solidFill>
                    <a:srgbClr val="000000"/>
                  </a:solidFill>
                  <a:latin typeface="Times New Roman" panose="02020603050405020304" pitchFamily="18" charset="0"/>
                  <a:cs typeface="Times New Roman" panose="02020603050405020304" pitchFamily="18" charset="0"/>
                </a:rPr>
                <a:t>a</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b="1" i="1" dirty="0">
                  <a:solidFill>
                    <a:srgbClr val="000000"/>
                  </a:solidFill>
                  <a:latin typeface="Times New Roman" panose="02020603050405020304" pitchFamily="18" charset="0"/>
                  <a:cs typeface="Times New Roman" panose="02020603050405020304" pitchFamily="18" charset="0"/>
                </a:rPr>
                <a:t>a</a:t>
              </a:r>
              <a:r>
                <a:rPr lang="en-US" altLang="zh-CN" sz="2800" baseline="30000" dirty="0">
                  <a:solidFill>
                    <a:srgbClr val="000000"/>
                  </a:solidFill>
                  <a:latin typeface="Times New Roman" panose="02020603050405020304" pitchFamily="18" charset="0"/>
                  <a:cs typeface="Times New Roman" panose="02020603050405020304" pitchFamily="18" charset="0"/>
                </a:rPr>
                <a:t>2</a:t>
              </a:r>
              <a:r>
                <a:rPr lang="en-US" altLang="zh-CN" sz="2800">
                  <a:solidFill>
                    <a:srgbClr val="000000"/>
                  </a:solidFill>
                  <a:latin typeface="Times New Roman" panose="02020603050405020304" pitchFamily="18" charset="0"/>
                  <a:cs typeface="Times New Roman" panose="02020603050405020304" pitchFamily="18" charset="0"/>
                </a:rPr>
                <a:t>	</a:t>
              </a:r>
              <a:r>
                <a:rPr lang="en-US" altLang="zh-CN" sz="2800" smtClean="0">
                  <a:solidFill>
                    <a:srgbClr val="000000"/>
                  </a:solidFill>
                  <a:latin typeface="Times New Roman" panose="02020603050405020304" pitchFamily="18" charset="0"/>
                  <a:cs typeface="Times New Roman" panose="02020603050405020304" pitchFamily="18" charset="0"/>
                </a:rPr>
                <a:t>	B</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b="1" i="1" dirty="0" err="1">
                  <a:solidFill>
                    <a:srgbClr val="000000"/>
                  </a:solidFill>
                  <a:latin typeface="Times New Roman" panose="02020603050405020304" pitchFamily="18" charset="0"/>
                  <a:cs typeface="Times New Roman" panose="02020603050405020304" pitchFamily="18" charset="0"/>
                </a:rPr>
                <a:t>a</a:t>
              </a:r>
              <a:r>
                <a:rPr lang="en-US" altLang="zh-CN" sz="2800" dirty="0" err="1">
                  <a:solidFill>
                    <a:srgbClr val="000000"/>
                  </a:solidFill>
                  <a:latin typeface="Times New Roman" panose="02020603050405020304" pitchFamily="18" charset="0"/>
                  <a:cs typeface="Times New Roman" panose="02020603050405020304" pitchFamily="18" charset="0"/>
                </a:rPr>
                <a:t>·</a:t>
              </a:r>
              <a:r>
                <a:rPr lang="en-US" altLang="zh-CN" sz="2800" b="1" i="1" dirty="0" err="1">
                  <a:solidFill>
                    <a:srgbClr val="000000"/>
                  </a:solidFill>
                  <a:latin typeface="Times New Roman" panose="02020603050405020304" pitchFamily="18" charset="0"/>
                  <a:cs typeface="Times New Roman" panose="02020603050405020304" pitchFamily="18" charset="0"/>
                </a:rPr>
                <a:t>b</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baseline="300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b="1" i="1" dirty="0">
                  <a:solidFill>
                    <a:srgbClr val="000000"/>
                  </a:solidFill>
                  <a:latin typeface="Times New Roman" panose="02020603050405020304" pitchFamily="18" charset="0"/>
                  <a:cs typeface="Times New Roman" panose="02020603050405020304" pitchFamily="18" charset="0"/>
                </a:rPr>
                <a:t>a</a:t>
              </a:r>
              <a:r>
                <a:rPr lang="en-US" altLang="zh-CN" sz="2800" baseline="30000" dirty="0">
                  <a:solidFill>
                    <a:srgbClr val="000000"/>
                  </a:solidFill>
                  <a:latin typeface="Times New Roman" panose="02020603050405020304" pitchFamily="18" charset="0"/>
                  <a:cs typeface="Times New Roman" panose="02020603050405020304" pitchFamily="18" charset="0"/>
                </a:rPr>
                <a:t>2</a:t>
              </a:r>
              <a:r>
                <a:rPr lang="en-US" altLang="zh-CN" sz="2800" b="1" i="1" dirty="0">
                  <a:solidFill>
                    <a:srgbClr val="000000"/>
                  </a:solidFill>
                  <a:latin typeface="Times New Roman" panose="02020603050405020304" pitchFamily="18" charset="0"/>
                  <a:cs typeface="Times New Roman" panose="02020603050405020304" pitchFamily="18" charset="0"/>
                </a:rPr>
                <a:t>b</a:t>
              </a:r>
              <a:r>
                <a:rPr lang="en-US" altLang="zh-CN" sz="2800" baseline="30000" dirty="0">
                  <a:solidFill>
                    <a:srgbClr val="000000"/>
                  </a:solidFill>
                  <a:latin typeface="Times New Roman" panose="02020603050405020304" pitchFamily="18" charset="0"/>
                  <a:cs typeface="Times New Roman" panose="02020603050405020304" pitchFamily="18" charset="0"/>
                </a:rPr>
                <a:t>2</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en-US" altLang="zh-CN" sz="2800" dirty="0" err="1">
                  <a:solidFill>
                    <a:srgbClr val="000000"/>
                  </a:solidFill>
                  <a:latin typeface="Times New Roman" panose="02020603050405020304" pitchFamily="18" charset="0"/>
                  <a:cs typeface="Times New Roman" panose="02020603050405020304" pitchFamily="18" charset="0"/>
                </a:rPr>
                <a:t>C</a:t>
              </a:r>
              <a:r>
                <a:rPr lang="en-US" altLang="zh-CN" sz="2800" i="1" dirty="0" err="1">
                  <a:solidFill>
                    <a:srgbClr val="000000"/>
                  </a:solidFill>
                  <a:latin typeface="Times New Roman" panose="02020603050405020304" pitchFamily="18" charset="0"/>
                  <a:cs typeface="Times New Roman" panose="02020603050405020304" pitchFamily="18" charset="0"/>
                </a:rPr>
                <a:t>.</a:t>
              </a:r>
              <a:r>
                <a:rPr lang="en-US" altLang="zh-CN" sz="2800" b="1" i="1" dirty="0" err="1">
                  <a:solidFill>
                    <a:srgbClr val="000000"/>
                  </a:solidFill>
                  <a:latin typeface="Times New Roman" panose="02020603050405020304" pitchFamily="18" charset="0"/>
                  <a:cs typeface="Times New Roman" panose="02020603050405020304" pitchFamily="18" charset="0"/>
                </a:rPr>
                <a:t>a</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b="1" i="1" dirty="0" err="1">
                  <a:solidFill>
                    <a:srgbClr val="000000"/>
                  </a:solidFill>
                  <a:latin typeface="Times New Roman" panose="02020603050405020304" pitchFamily="18" charset="0"/>
                  <a:cs typeface="Times New Roman" panose="02020603050405020304" pitchFamily="18" charset="0"/>
                </a:rPr>
                <a:t>a</a:t>
              </a:r>
              <a:r>
                <a:rPr lang="en-US" altLang="zh-CN" sz="2800" dirty="0" err="1">
                  <a:solidFill>
                    <a:srgbClr val="000000"/>
                  </a:solidFill>
                  <a:latin typeface="Times New Roman" panose="02020603050405020304" pitchFamily="18" charset="0"/>
                  <a:cs typeface="Times New Roman" panose="02020603050405020304" pitchFamily="18" charset="0"/>
                </a:rPr>
                <a:t>·</a:t>
              </a:r>
              <a:r>
                <a:rPr lang="en-US" altLang="zh-CN" sz="2800" b="1" i="1" dirty="0" err="1">
                  <a:solidFill>
                    <a:srgbClr val="000000"/>
                  </a:solidFill>
                  <a:latin typeface="Times New Roman" panose="02020603050405020304" pitchFamily="18" charset="0"/>
                  <a:cs typeface="Times New Roman" panose="02020603050405020304" pitchFamily="18" charset="0"/>
                </a:rPr>
                <a:t>b</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b="1" i="1" dirty="0">
                  <a:solidFill>
                    <a:srgbClr val="000000"/>
                  </a:solidFill>
                  <a:latin typeface="Times New Roman" panose="02020603050405020304" pitchFamily="18" charset="0"/>
                  <a:cs typeface="Times New Roman" panose="02020603050405020304" pitchFamily="18" charset="0"/>
                </a:rPr>
                <a:t>b</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b="1" i="1" dirty="0">
                  <a:solidFill>
                    <a:srgbClr val="000000"/>
                  </a:solidFill>
                  <a:latin typeface="Times New Roman" panose="02020603050405020304" pitchFamily="18" charset="0"/>
                  <a:cs typeface="Times New Roman" panose="02020603050405020304" pitchFamily="18" charset="0"/>
                </a:rPr>
                <a:t>a</a:t>
              </a:r>
              <a:r>
                <a:rPr lang="en-US" altLang="zh-CN" sz="2800" baseline="30000" dirty="0">
                  <a:solidFill>
                    <a:srgbClr val="000000"/>
                  </a:solidFill>
                  <a:latin typeface="Times New Roman" panose="02020603050405020304" pitchFamily="18" charset="0"/>
                  <a:cs typeface="Times New Roman" panose="02020603050405020304" pitchFamily="18" charset="0"/>
                </a:rPr>
                <a:t>2</a:t>
              </a:r>
              <a:r>
                <a:rPr lang="en-US" altLang="zh-CN" sz="2800" dirty="0">
                  <a:solidFill>
                    <a:srgbClr val="000000"/>
                  </a:solidFill>
                  <a:latin typeface="Times New Roman" panose="02020603050405020304" pitchFamily="18" charset="0"/>
                  <a:cs typeface="Times New Roman" panose="02020603050405020304" pitchFamily="18" charset="0"/>
                </a:rPr>
                <a:t>	D.</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b="1" i="1" dirty="0" err="1">
                  <a:solidFill>
                    <a:srgbClr val="000000"/>
                  </a:solidFill>
                  <a:latin typeface="Times New Roman" panose="02020603050405020304" pitchFamily="18" charset="0"/>
                  <a:cs typeface="Times New Roman" panose="02020603050405020304" pitchFamily="18" charset="0"/>
                </a:rPr>
                <a:t>a</a:t>
              </a:r>
              <a:r>
                <a:rPr lang="en-US" altLang="zh-CN" sz="2800" dirty="0" err="1">
                  <a:solidFill>
                    <a:srgbClr val="000000"/>
                  </a:solidFill>
                  <a:latin typeface="Times New Roman" panose="02020603050405020304" pitchFamily="18" charset="0"/>
                  <a:cs typeface="Times New Roman" panose="02020603050405020304" pitchFamily="18" charset="0"/>
                </a:rPr>
                <a:t>·</a:t>
              </a:r>
              <a:r>
                <a:rPr lang="en-US" altLang="zh-CN" sz="2800" b="1" i="1" dirty="0" err="1">
                  <a:solidFill>
                    <a:srgbClr val="000000"/>
                  </a:solidFill>
                  <a:latin typeface="Times New Roman" panose="02020603050405020304" pitchFamily="18" charset="0"/>
                  <a:cs typeface="Times New Roman" panose="02020603050405020304" pitchFamily="18" charset="0"/>
                </a:rPr>
                <a:t>b</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宋体" panose="02010600030101010101" pitchFamily="2" charset="-122"/>
                  <a:ea typeface="方正书宋_GBK" panose="03000509000000000000" pitchFamily="65" charset="-122"/>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b="1" i="1" dirty="0">
                  <a:solidFill>
                    <a:srgbClr val="000000"/>
                  </a:solidFill>
                  <a:latin typeface="Times New Roman" panose="02020603050405020304" pitchFamily="18" charset="0"/>
                  <a:cs typeface="Times New Roman" panose="02020603050405020304" pitchFamily="18" charset="0"/>
                </a:rPr>
                <a:t>a</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b="1" i="1" dirty="0">
                  <a:solidFill>
                    <a:srgbClr val="000000"/>
                  </a:solidFill>
                  <a:latin typeface="Times New Roman" panose="02020603050405020304" pitchFamily="18" charset="0"/>
                  <a:cs typeface="Times New Roman" panose="02020603050405020304" pitchFamily="18" charset="0"/>
                </a:rPr>
                <a:t>b</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en-US" altLang="zh-CN" sz="2800" dirty="0">
                  <a:solidFill>
                    <a:srgbClr val="000000"/>
                  </a:solidFill>
                  <a:latin typeface="Times New Roman" panose="02020603050405020304" pitchFamily="18" charset="0"/>
                  <a:cs typeface="Times New Roman" panose="02020603050405020304" pitchFamily="18" charset="0"/>
                </a:rPr>
                <a:t>(2)</a:t>
              </a:r>
              <a:r>
                <a:rPr lang="zh-CN" altLang="zh-CN" sz="2800" dirty="0">
                  <a:solidFill>
                    <a:srgbClr val="000000"/>
                  </a:solidFill>
                  <a:latin typeface="Times New Roman" panose="02020603050405020304" pitchFamily="18" charset="0"/>
                  <a:cs typeface="Times New Roman" panose="02020603050405020304" pitchFamily="18" charset="0"/>
                </a:rPr>
                <a:t>已知向量</a:t>
              </a:r>
              <a:r>
                <a:rPr lang="en-US" altLang="zh-CN" sz="2800" b="1" i="1" dirty="0">
                  <a:solidFill>
                    <a:srgbClr val="000000"/>
                  </a:solidFill>
                  <a:latin typeface="Times New Roman" panose="02020603050405020304" pitchFamily="18" charset="0"/>
                  <a:cs typeface="Times New Roman" panose="02020603050405020304" pitchFamily="18" charset="0"/>
                </a:rPr>
                <a:t>a</a:t>
              </a:r>
              <a:r>
                <a:rPr lang="zh-CN" altLang="zh-CN" sz="2800" dirty="0">
                  <a:solidFill>
                    <a:srgbClr val="000000"/>
                  </a:solidFill>
                  <a:latin typeface="Times New Roman" panose="02020603050405020304" pitchFamily="18" charset="0"/>
                  <a:cs typeface="Times New Roman" panose="02020603050405020304" pitchFamily="18" charset="0"/>
                </a:rPr>
                <a:t>和</a:t>
              </a:r>
              <a:r>
                <a:rPr lang="en-US" altLang="zh-CN" sz="2800" b="1" i="1" dirty="0">
                  <a:solidFill>
                    <a:srgbClr val="000000"/>
                  </a:solidFill>
                  <a:latin typeface="Times New Roman" panose="02020603050405020304" pitchFamily="18" charset="0"/>
                  <a:cs typeface="Times New Roman" panose="02020603050405020304" pitchFamily="18" charset="0"/>
                </a:rPr>
                <a:t>b</a:t>
              </a:r>
              <a:r>
                <a:rPr lang="zh-CN" altLang="zh-CN" sz="2800" dirty="0">
                  <a:solidFill>
                    <a:srgbClr val="000000"/>
                  </a:solidFill>
                  <a:latin typeface="Times New Roman" panose="02020603050405020304" pitchFamily="18" charset="0"/>
                  <a:cs typeface="Times New Roman" panose="02020603050405020304" pitchFamily="18" charset="0"/>
                </a:rPr>
                <a:t>的夹角为</a:t>
              </a:r>
              <a:r>
                <a:rPr lang="en-US" altLang="zh-CN" sz="2800" dirty="0">
                  <a:solidFill>
                    <a:srgbClr val="000000"/>
                  </a:solidFill>
                  <a:latin typeface="Times New Roman" panose="02020603050405020304" pitchFamily="18" charset="0"/>
                  <a:cs typeface="Times New Roman" panose="02020603050405020304" pitchFamily="18" charset="0"/>
                </a:rPr>
                <a:t>120</a:t>
              </a:r>
              <a:r>
                <a:rPr lang="en-US" altLang="zh-CN" sz="2800" dirty="0">
                  <a:solidFill>
                    <a:srgbClr val="000000"/>
                  </a:solidFill>
                  <a:latin typeface="宋体" panose="02010600030101010101" pitchFamily="2" charset="-122"/>
                  <a:ea typeface="方正书宋_GBK" panose="03000509000000000000" pitchFamily="65" charset="-122"/>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且</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b="1" i="1" dirty="0">
                  <a:solidFill>
                    <a:srgbClr val="000000"/>
                  </a:solidFill>
                  <a:latin typeface="Times New Roman" panose="02020603050405020304" pitchFamily="18" charset="0"/>
                  <a:cs typeface="Times New Roman" panose="02020603050405020304" pitchFamily="18" charset="0"/>
                </a:rPr>
                <a:t>a</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b="1" i="1" dirty="0">
                  <a:solidFill>
                    <a:srgbClr val="000000"/>
                  </a:solidFill>
                  <a:latin typeface="Times New Roman" panose="02020603050405020304" pitchFamily="18" charset="0"/>
                  <a:cs typeface="Times New Roman" panose="02020603050405020304" pitchFamily="18" charset="0"/>
                </a:rPr>
                <a:t>b</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5,</a:t>
              </a:r>
              <a:r>
                <a:rPr lang="zh-CN" altLang="zh-CN" sz="2800" dirty="0">
                  <a:solidFill>
                    <a:srgbClr val="000000"/>
                  </a:solidFill>
                  <a:latin typeface="Times New Roman" panose="02020603050405020304" pitchFamily="18" charset="0"/>
                  <a:cs typeface="Times New Roman" panose="02020603050405020304" pitchFamily="18" charset="0"/>
                </a:rPr>
                <a:t>则</a:t>
              </a:r>
              <a:r>
                <a:rPr lang="en-US" altLang="zh-CN" sz="2800" dirty="0">
                  <a:solidFill>
                    <a:srgbClr val="000000"/>
                  </a:solidFill>
                  <a:latin typeface="Times New Roman" panose="02020603050405020304" pitchFamily="18" charset="0"/>
                  <a:cs typeface="Times New Roman" panose="02020603050405020304" pitchFamily="18" charset="0"/>
                </a:rPr>
                <a:t>(2</a:t>
              </a:r>
              <a:r>
                <a:rPr lang="en-US" altLang="zh-CN" sz="2800" b="1" i="1" dirty="0">
                  <a:solidFill>
                    <a:srgbClr val="000000"/>
                  </a:solidFill>
                  <a:latin typeface="Times New Roman" panose="02020603050405020304" pitchFamily="18" charset="0"/>
                  <a:cs typeface="Times New Roman" panose="02020603050405020304" pitchFamily="18" charset="0"/>
                </a:rPr>
                <a:t>a</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b="1" i="1" dirty="0">
                  <a:solidFill>
                    <a:srgbClr val="000000"/>
                  </a:solidFill>
                  <a:latin typeface="Times New Roman" panose="02020603050405020304" pitchFamily="18" charset="0"/>
                  <a:cs typeface="Times New Roman" panose="02020603050405020304" pitchFamily="18" charset="0"/>
                </a:rPr>
                <a:t>b</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b="1" i="1" dirty="0">
                  <a:solidFill>
                    <a:srgbClr val="000000"/>
                  </a:solidFill>
                  <a:latin typeface="Times New Roman" panose="02020603050405020304" pitchFamily="18" charset="0"/>
                  <a:cs typeface="Times New Roman" panose="02020603050405020304" pitchFamily="18" charset="0"/>
                </a:rPr>
                <a:t>a</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i="1" dirty="0">
                  <a:solidFill>
                    <a:srgbClr val="000000"/>
                  </a:solidFill>
                  <a:latin typeface="Times New Roman" panose="02020603050405020304" pitchFamily="18" charset="0"/>
                  <a:cs typeface="Times New Roman" panose="02020603050405020304" pitchFamily="18" charset="0"/>
                </a:rPr>
                <a:t>　　</a:t>
              </a:r>
              <a:r>
                <a:rPr lang="en-US" altLang="zh-CN" sz="2800"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p:txBody>
        </p:sp>
        <p:graphicFrame>
          <p:nvGraphicFramePr>
            <p:cNvPr id="3" name="对象 2"/>
            <p:cNvGraphicFramePr>
              <a:graphicFrameLocks noChangeAspect="1"/>
            </p:cNvGraphicFramePr>
            <p:nvPr>
              <p:extLst>
                <p:ext uri="{D42A27DB-BD31-4B8C-83A1-F6EECF244321}">
                  <p14:modId xmlns:p14="http://schemas.microsoft.com/office/powerpoint/2010/main" val="1081389530"/>
                </p:ext>
              </p:extLst>
            </p:nvPr>
          </p:nvGraphicFramePr>
          <p:xfrm>
            <a:off x="58882" y="2737143"/>
            <a:ext cx="11430000" cy="502338"/>
          </p:xfrm>
          <a:graphic>
            <a:graphicData uri="http://schemas.openxmlformats.org/presentationml/2006/ole">
              <mc:AlternateContent xmlns:mc="http://schemas.openxmlformats.org/markup-compatibility/2006">
                <mc:Choice xmlns:v="urn:schemas-microsoft-com:vml" Requires="v">
                  <p:oleObj spid="_x0000_s5176" name="文档" r:id="rId3" imgW="4510061" imgH="198213" progId="Word.Document.12">
                    <p:embed/>
                  </p:oleObj>
                </mc:Choice>
                <mc:Fallback>
                  <p:oleObj name="文档" r:id="rId3" imgW="4510061" imgH="198213" progId="Word.Document.12">
                    <p:embed/>
                    <p:pic>
                      <p:nvPicPr>
                        <p:cNvPr id="0" name=""/>
                        <p:cNvPicPr/>
                        <p:nvPr/>
                      </p:nvPicPr>
                      <p:blipFill>
                        <a:blip r:embed="rId4"/>
                        <a:stretch>
                          <a:fillRect/>
                        </a:stretch>
                      </p:blipFill>
                      <p:spPr>
                        <a:xfrm>
                          <a:off x="58882" y="2737143"/>
                          <a:ext cx="11430000" cy="502338"/>
                        </a:xfrm>
                        <a:prstGeom prst="rect">
                          <a:avLst/>
                        </a:prstGeom>
                      </p:spPr>
                    </p:pic>
                  </p:oleObj>
                </mc:Fallback>
              </mc:AlternateContent>
            </a:graphicData>
          </a:graphic>
        </p:graphicFrame>
      </p:grpSp>
      <p:grpSp>
        <p:nvGrpSpPr>
          <p:cNvPr id="8" name="组合 7"/>
          <p:cNvGrpSpPr/>
          <p:nvPr/>
        </p:nvGrpSpPr>
        <p:grpSpPr>
          <a:xfrm>
            <a:off x="58882" y="3297558"/>
            <a:ext cx="11752118" cy="2116391"/>
            <a:chOff x="58882" y="3297558"/>
            <a:chExt cx="11752118" cy="2116391"/>
          </a:xfrm>
        </p:grpSpPr>
        <p:sp>
          <p:nvSpPr>
            <p:cNvPr id="4" name="矩形 3"/>
            <p:cNvSpPr>
              <a:spLocks noChangeAspect="1"/>
            </p:cNvSpPr>
            <p:nvPr/>
          </p:nvSpPr>
          <p:spPr>
            <a:xfrm>
              <a:off x="381000" y="3297558"/>
              <a:ext cx="11430000" cy="1152367"/>
            </a:xfrm>
            <a:prstGeom prst="rect">
              <a:avLst/>
            </a:prstGeom>
          </p:spPr>
          <p:txBody>
            <a:bodyPr>
              <a:spAutoFit/>
            </a:bodyPr>
            <a:lstStyle/>
            <a:p>
              <a:pPr indent="279400">
                <a:lnSpc>
                  <a:spcPct val="130000"/>
                </a:lnSpc>
                <a:spcAft>
                  <a:spcPts val="0"/>
                </a:spcAft>
                <a:tabLst>
                  <a:tab pos="1188085" algn="l"/>
                  <a:tab pos="2163445" algn="l"/>
                  <a:tab pos="3142615" algn="l"/>
                  <a:tab pos="4190365" algn="l"/>
                </a:tabLst>
              </a:pPr>
              <a:r>
                <a:rPr lang="zh-CN"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解析</a:t>
              </a:r>
              <a:r>
                <a:rPr lang="en-US"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(1)</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根据数量积的定义</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知</a:t>
              </a:r>
              <a:r>
                <a:rPr lang="en-US" altLang="zh-CN" sz="2800" dirty="0">
                  <a:solidFill>
                    <a:srgbClr val="000000"/>
                  </a:solidFill>
                  <a:latin typeface="Times New Roman" panose="02020603050405020304" pitchFamily="18" charset="0"/>
                  <a:cs typeface="Times New Roman" panose="02020603050405020304" pitchFamily="18" charset="0"/>
                </a:rPr>
                <a:t>A,B,C</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均不正确</a:t>
              </a:r>
              <a:r>
                <a:rPr lang="en-US" altLang="zh-CN" sz="2800" i="1" dirty="0" smtClean="0">
                  <a:solidFill>
                    <a:srgbClr val="000000"/>
                  </a:solidFill>
                  <a:latin typeface="Times New Roman" panose="02020603050405020304" pitchFamily="18" charset="0"/>
                  <a:cs typeface="Times New Roman" panose="02020603050405020304" pitchFamily="18" charset="0"/>
                </a:rPr>
                <a:t>.</a:t>
              </a:r>
            </a:p>
            <a:p>
              <a:pPr indent="279400">
                <a:lnSpc>
                  <a:spcPct val="130000"/>
                </a:lnSpc>
                <a:spcAft>
                  <a:spcPts val="0"/>
                </a:spcAft>
                <a:tabLst>
                  <a:tab pos="1188085" algn="l"/>
                  <a:tab pos="2163445" algn="l"/>
                  <a:tab pos="3142615" algn="l"/>
                  <a:tab pos="4190365" algn="l"/>
                </a:tabLst>
              </a:pPr>
              <a:r>
                <a:rPr lang="en-US" altLang="zh-CN" sz="2800" i="1" dirty="0" smtClean="0">
                  <a:solidFill>
                    <a:srgbClr val="000000"/>
                  </a:solidFill>
                  <a:latin typeface="Times New Roman" panose="02020603050405020304" pitchFamily="18" charset="0"/>
                  <a:cs typeface="Times New Roman" panose="02020603050405020304" pitchFamily="18" charset="0"/>
                </a:rPr>
                <a:t>|</a:t>
              </a:r>
              <a:r>
                <a:rPr lang="en-US" altLang="zh-CN" sz="2800" b="1" dirty="0" err="1" smtClean="0">
                  <a:solidFill>
                    <a:srgbClr val="000000"/>
                  </a:solidFill>
                  <a:latin typeface="Times New Roman" panose="02020603050405020304" pitchFamily="18" charset="0"/>
                  <a:cs typeface="Times New Roman" panose="02020603050405020304" pitchFamily="18" charset="0"/>
                </a:rPr>
                <a:t>a</a:t>
              </a:r>
              <a:r>
                <a:rPr lang="en-US" altLang="zh-CN" sz="2800" dirty="0" err="1" smtClean="0">
                  <a:solidFill>
                    <a:srgbClr val="000000"/>
                  </a:solidFill>
                  <a:latin typeface="Times New Roman" panose="02020603050405020304" pitchFamily="18" charset="0"/>
                  <a:cs typeface="Times New Roman" panose="02020603050405020304" pitchFamily="18" charset="0"/>
                </a:rPr>
                <a:t>·</a:t>
              </a:r>
              <a:r>
                <a:rPr lang="en-US" altLang="zh-CN" sz="2800" b="1" dirty="0" err="1" smtClean="0">
                  <a:solidFill>
                    <a:srgbClr val="000000"/>
                  </a:solidFill>
                  <a:latin typeface="Times New Roman" panose="02020603050405020304" pitchFamily="18" charset="0"/>
                  <a:cs typeface="Times New Roman" panose="02020603050405020304" pitchFamily="18" charset="0"/>
                </a:rPr>
                <a:t>b</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b="1" dirty="0">
                  <a:solidFill>
                    <a:srgbClr val="000000"/>
                  </a:solidFill>
                  <a:latin typeface="Times New Roman" panose="02020603050405020304" pitchFamily="18" charset="0"/>
                  <a:cs typeface="Times New Roman" panose="02020603050405020304" pitchFamily="18" charset="0"/>
                </a:rPr>
                <a:t>a</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b="1" dirty="0">
                  <a:solidFill>
                    <a:srgbClr val="000000"/>
                  </a:solidFill>
                  <a:latin typeface="Times New Roman" panose="02020603050405020304" pitchFamily="18" charset="0"/>
                  <a:cs typeface="Times New Roman" panose="02020603050405020304" pitchFamily="18" charset="0"/>
                </a:rPr>
                <a:t>b</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err="1">
                  <a:solidFill>
                    <a:srgbClr val="000000"/>
                  </a:solidFill>
                  <a:latin typeface="Times New Roman" panose="02020603050405020304" pitchFamily="18" charset="0"/>
                  <a:cs typeface="Times New Roman" panose="02020603050405020304" pitchFamily="18" charset="0"/>
                </a:rPr>
                <a:t>cos</a:t>
              </a:r>
              <a:r>
                <a:rPr lang="en-US" altLang="zh-CN" sz="2800" i="1" dirty="0">
                  <a:solidFill>
                    <a:srgbClr val="000000"/>
                  </a:solidFill>
                  <a:latin typeface="Times New Roman" panose="02020603050405020304" pitchFamily="18" charset="0"/>
                  <a:cs typeface="Times New Roman" panose="02020603050405020304" pitchFamily="18" charset="0"/>
                </a:rPr>
                <a:t>&lt;</a:t>
              </a:r>
              <a:r>
                <a:rPr lang="en-US" altLang="zh-CN" sz="2800" b="1" dirty="0" err="1">
                  <a:solidFill>
                    <a:srgbClr val="000000"/>
                  </a:solidFill>
                  <a:latin typeface="Times New Roman" panose="02020603050405020304" pitchFamily="18" charset="0"/>
                  <a:cs typeface="Times New Roman" panose="02020603050405020304" pitchFamily="18" charset="0"/>
                </a:rPr>
                <a:t>a</a:t>
              </a:r>
              <a:r>
                <a:rPr lang="en-US" altLang="zh-CN" sz="2800" dirty="0" err="1">
                  <a:solidFill>
                    <a:srgbClr val="000000"/>
                  </a:solidFill>
                  <a:latin typeface="Times New Roman" panose="02020603050405020304" pitchFamily="18" charset="0"/>
                  <a:cs typeface="Times New Roman" panose="02020603050405020304" pitchFamily="18" charset="0"/>
                </a:rPr>
                <a:t>,</a:t>
              </a:r>
              <a:r>
                <a:rPr lang="en-US" altLang="zh-CN" sz="2800" b="1" dirty="0" err="1">
                  <a:solidFill>
                    <a:srgbClr val="000000"/>
                  </a:solidFill>
                  <a:latin typeface="Times New Roman" panose="02020603050405020304" pitchFamily="18" charset="0"/>
                  <a:cs typeface="Times New Roman" panose="02020603050405020304" pitchFamily="18" charset="0"/>
                </a:rPr>
                <a:t>b</a:t>
              </a:r>
              <a:r>
                <a:rPr lang="en-US" altLang="zh-CN" sz="2800" i="1" dirty="0">
                  <a:solidFill>
                    <a:srgbClr val="000000"/>
                  </a:solidFill>
                  <a:latin typeface="Times New Roman" panose="02020603050405020304" pitchFamily="18" charset="0"/>
                  <a:cs typeface="Times New Roman" panose="02020603050405020304" pitchFamily="18" charset="0"/>
                </a:rPr>
                <a:t>&gt;|</a:t>
              </a:r>
              <a:r>
                <a:rPr lang="en-US" altLang="zh-CN" sz="2800" dirty="0">
                  <a:solidFill>
                    <a:srgbClr val="000000"/>
                  </a:solidFill>
                  <a:latin typeface="宋体" panose="02010600030101010101" pitchFamily="2" charset="-122"/>
                  <a:ea typeface="方正书宋_GBK" panose="03000509000000000000" pitchFamily="65" charset="-122"/>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b="1" dirty="0">
                  <a:solidFill>
                    <a:srgbClr val="000000"/>
                  </a:solidFill>
                  <a:latin typeface="Times New Roman" panose="02020603050405020304" pitchFamily="18" charset="0"/>
                  <a:cs typeface="Times New Roman" panose="02020603050405020304" pitchFamily="18" charset="0"/>
                </a:rPr>
                <a:t>a</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b="1" dirty="0">
                  <a:solidFill>
                    <a:srgbClr val="000000"/>
                  </a:solidFill>
                  <a:latin typeface="Times New Roman" panose="02020603050405020304" pitchFamily="18" charset="0"/>
                  <a:cs typeface="Times New Roman" panose="02020603050405020304" pitchFamily="18" charset="0"/>
                </a:rPr>
                <a:t>b</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故</a:t>
              </a:r>
              <a:r>
                <a:rPr lang="en-US" altLang="zh-CN" sz="2800" dirty="0">
                  <a:solidFill>
                    <a:srgbClr val="000000"/>
                  </a:solidFill>
                  <a:latin typeface="Times New Roman" panose="02020603050405020304" pitchFamily="18" charset="0"/>
                  <a:cs typeface="Times New Roman" panose="02020603050405020304" pitchFamily="18" charset="0"/>
                </a:rPr>
                <a:t>D</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正确</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effectLst/>
                <a:latin typeface="NEU-BZ-S92"/>
                <a:ea typeface="方正书宋_GBK" panose="03000509000000000000" pitchFamily="65" charset="-122"/>
                <a:cs typeface="Times New Roman" panose="02020603050405020304" pitchFamily="18" charset="0"/>
              </a:endParaRPr>
            </a:p>
          </p:txBody>
        </p:sp>
        <p:graphicFrame>
          <p:nvGraphicFramePr>
            <p:cNvPr id="5" name="对象 4"/>
            <p:cNvGraphicFramePr>
              <a:graphicFrameLocks noChangeAspect="1"/>
            </p:cNvGraphicFramePr>
            <p:nvPr>
              <p:extLst>
                <p:ext uri="{D42A27DB-BD31-4B8C-83A1-F6EECF244321}">
                  <p14:modId xmlns:p14="http://schemas.microsoft.com/office/powerpoint/2010/main" val="947996777"/>
                </p:ext>
              </p:extLst>
            </p:nvPr>
          </p:nvGraphicFramePr>
          <p:xfrm>
            <a:off x="58882" y="4408361"/>
            <a:ext cx="11430000" cy="1005588"/>
          </p:xfrm>
          <a:graphic>
            <a:graphicData uri="http://schemas.openxmlformats.org/presentationml/2006/ole">
              <mc:AlternateContent xmlns:mc="http://schemas.openxmlformats.org/markup-compatibility/2006">
                <mc:Choice xmlns:v="urn:schemas-microsoft-com:vml" Requires="v">
                  <p:oleObj spid="_x0000_s5177" name="文档" r:id="rId5" imgW="4510061" imgH="396786" progId="Word.Document.12">
                    <p:embed/>
                  </p:oleObj>
                </mc:Choice>
                <mc:Fallback>
                  <p:oleObj name="文档" r:id="rId5" imgW="4510061" imgH="396786" progId="Word.Document.12">
                    <p:embed/>
                    <p:pic>
                      <p:nvPicPr>
                        <p:cNvPr id="0" name=""/>
                        <p:cNvPicPr/>
                        <p:nvPr/>
                      </p:nvPicPr>
                      <p:blipFill>
                        <a:blip r:embed="rId6"/>
                        <a:stretch>
                          <a:fillRect/>
                        </a:stretch>
                      </p:blipFill>
                      <p:spPr>
                        <a:xfrm>
                          <a:off x="58882" y="4408361"/>
                          <a:ext cx="11430000" cy="1005588"/>
                        </a:xfrm>
                        <a:prstGeom prst="rect">
                          <a:avLst/>
                        </a:prstGeom>
                      </p:spPr>
                    </p:pic>
                  </p:oleObj>
                </mc:Fallback>
              </mc:AlternateContent>
            </a:graphicData>
          </a:graphic>
        </p:graphicFrame>
      </p:grpSp>
      <p:sp>
        <p:nvSpPr>
          <p:cNvPr id="6" name="矩形 5"/>
          <p:cNvSpPr>
            <a:spLocks noChangeAspect="1"/>
          </p:cNvSpPr>
          <p:nvPr/>
        </p:nvSpPr>
        <p:spPr>
          <a:xfrm>
            <a:off x="381000" y="5302953"/>
            <a:ext cx="3092513" cy="652486"/>
          </a:xfrm>
          <a:prstGeom prst="rect">
            <a:avLst/>
          </a:prstGeom>
        </p:spPr>
        <p:txBody>
          <a:bodyPr wrap="none">
            <a:spAutoFit/>
          </a:bodyPr>
          <a:lstStyle/>
          <a:p>
            <a:pPr indent="279400">
              <a:lnSpc>
                <a:spcPct val="130000"/>
              </a:lnSpc>
              <a:spcAft>
                <a:spcPts val="0"/>
              </a:spcAft>
              <a:tabLst>
                <a:tab pos="1188085" algn="l"/>
                <a:tab pos="2163445" algn="l"/>
                <a:tab pos="3142615" algn="l"/>
                <a:tab pos="4190365" algn="l"/>
              </a:tabLst>
            </a:pPr>
            <a:r>
              <a:rPr lang="zh-CN"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答案</a:t>
            </a:r>
            <a:r>
              <a:rPr lang="en-US"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(1)D</a:t>
            </a:r>
            <a:r>
              <a:rPr lang="zh-CN" altLang="zh-CN" sz="2800" i="1" dirty="0">
                <a:solidFill>
                  <a:srgbClr val="000000"/>
                </a:solidFill>
                <a:latin typeface="Times New Roman" panose="02020603050405020304" pitchFamily="18" charset="0"/>
                <a:cs typeface="Times New Roman" panose="02020603050405020304" pitchFamily="18" charset="0"/>
              </a:rPr>
              <a:t>　</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dirty="0" smtClean="0">
                <a:solidFill>
                  <a:srgbClr val="000000"/>
                </a:solidFill>
                <a:latin typeface="Times New Roman" panose="02020603050405020304" pitchFamily="18" charset="0"/>
                <a:cs typeface="Times New Roman" panose="02020603050405020304" pitchFamily="18" charset="0"/>
              </a:rPr>
              <a:t>2)D </a:t>
            </a:r>
            <a:endParaRPr lang="zh-CN" altLang="zh-CN" sz="2800" dirty="0">
              <a:solidFill>
                <a:srgbClr val="000000"/>
              </a:solidFill>
              <a:effectLst/>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293364862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down)">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wipe(down)">
                                      <p:cBhvr>
                                        <p:cTn id="12"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11.xml><?xml version="1.0" encoding="utf-8"?>
<p:sld xmlns:a="http://schemas.openxmlformats.org/drawingml/2006/main" xmlns:r="http://schemas.openxmlformats.org/officeDocument/2006/relationships" xmlns:p="http://schemas.openxmlformats.org/presentationml/2006/main">
  <p:cSld>
    <p:bg>
      <p:bgPr>
        <a:pattFill prst="smCheck">
          <a:fgClr>
            <a:srgbClr val="E8F4E9"/>
          </a:fgClr>
          <a:bgClr>
            <a:schemeClr val="bg1"/>
          </a:bgClr>
        </a:pattFill>
        <a:effectLst/>
      </p:bgPr>
    </p:bg>
    <p:spTree>
      <p:nvGrpSpPr>
        <p:cNvPr id="1" name=""/>
        <p:cNvGrpSpPr/>
        <p:nvPr/>
      </p:nvGrpSpPr>
      <p:grpSpPr>
        <a:xfrm>
          <a:off x="0" y="0"/>
          <a:ext cx="0" cy="0"/>
          <a:chOff x="0" y="0"/>
          <a:chExt cx="0" cy="0"/>
        </a:xfrm>
      </p:grpSpPr>
      <p:sp>
        <p:nvSpPr>
          <p:cNvPr id="2" name="矩形 1"/>
          <p:cNvSpPr>
            <a:spLocks noChangeAspect="1"/>
          </p:cNvSpPr>
          <p:nvPr/>
        </p:nvSpPr>
        <p:spPr>
          <a:xfrm>
            <a:off x="381000" y="336144"/>
            <a:ext cx="8144943" cy="1772793"/>
          </a:xfrm>
          <a:prstGeom prst="rect">
            <a:avLst/>
          </a:prstGeom>
        </p:spPr>
        <p:txBody>
          <a:bodyPr wrap="square">
            <a:spAutoFit/>
          </a:bodyPr>
          <a:lstStyle/>
          <a:p>
            <a:pPr indent="279400">
              <a:lnSpc>
                <a:spcPct val="130000"/>
              </a:lnSpc>
              <a:spcAft>
                <a:spcPts val="0"/>
              </a:spcAft>
              <a:tabLst>
                <a:tab pos="1188085" algn="l"/>
                <a:tab pos="2163445" algn="l"/>
                <a:tab pos="3142615" algn="l"/>
                <a:tab pos="4190365" algn="l"/>
              </a:tabLst>
            </a:pPr>
            <a:r>
              <a:rPr lang="zh-CN" altLang="zh-CN" sz="2800" dirty="0">
                <a:solidFill>
                  <a:srgbClr val="000000"/>
                </a:solidFill>
                <a:latin typeface="NEU-BZ-S92"/>
                <a:ea typeface="方正正中黑简体"/>
                <a:cs typeface="Times New Roman" panose="02020603050405020304" pitchFamily="18" charset="0"/>
              </a:rPr>
              <a:t>三、向量的投影</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a:p>
            <a:pPr indent="280670">
              <a:lnSpc>
                <a:spcPct val="130000"/>
              </a:lnSpc>
              <a:spcAft>
                <a:spcPts val="0"/>
              </a:spcAft>
              <a:tabLst>
                <a:tab pos="1188085" algn="l"/>
                <a:tab pos="2163445" algn="l"/>
                <a:tab pos="3142615" algn="l"/>
                <a:tab pos="4190365" algn="l"/>
              </a:tabLst>
            </a:pPr>
            <a:r>
              <a:rPr lang="en-US" altLang="zh-CN" sz="2800" b="1" dirty="0" smtClean="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已知两个非零平面向量</a:t>
            </a:r>
            <a:r>
              <a:rPr lang="en-US" altLang="zh-CN" sz="2800" b="1" i="1" dirty="0" err="1">
                <a:solidFill>
                  <a:srgbClr val="000000"/>
                </a:solidFill>
                <a:latin typeface="Times New Roman" panose="02020603050405020304" pitchFamily="18" charset="0"/>
                <a:cs typeface="Times New Roman" panose="02020603050405020304" pitchFamily="18" charset="0"/>
              </a:rPr>
              <a:t>a</a:t>
            </a:r>
            <a:r>
              <a:rPr lang="en-US" altLang="zh-CN" sz="2800" dirty="0" err="1">
                <a:solidFill>
                  <a:srgbClr val="000000"/>
                </a:solidFill>
                <a:latin typeface="Times New Roman" panose="02020603050405020304" pitchFamily="18" charset="0"/>
                <a:cs typeface="Times New Roman" panose="02020603050405020304" pitchFamily="18" charset="0"/>
              </a:rPr>
              <a:t>,</a:t>
            </a:r>
            <a:r>
              <a:rPr lang="en-US" altLang="zh-CN" sz="2800" b="1" i="1" dirty="0" err="1">
                <a:solidFill>
                  <a:srgbClr val="000000"/>
                </a:solidFill>
                <a:latin typeface="Times New Roman" panose="02020603050405020304" pitchFamily="18" charset="0"/>
                <a:cs typeface="Times New Roman" panose="02020603050405020304" pitchFamily="18" charset="0"/>
              </a:rPr>
              <a:t>b</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怎样作向量</a:t>
            </a:r>
            <a:r>
              <a:rPr lang="en-US" altLang="zh-CN" sz="2800" b="1" i="1" dirty="0">
                <a:solidFill>
                  <a:srgbClr val="000000"/>
                </a:solidFill>
                <a:latin typeface="Times New Roman" panose="02020603050405020304" pitchFamily="18" charset="0"/>
                <a:cs typeface="Times New Roman" panose="02020603050405020304" pitchFamily="18" charset="0"/>
              </a:rPr>
              <a:t>a</a:t>
            </a:r>
            <a:r>
              <a:rPr lang="zh-CN" altLang="zh-CN" sz="2800" dirty="0">
                <a:solidFill>
                  <a:srgbClr val="000000"/>
                </a:solidFill>
                <a:latin typeface="Times New Roman" panose="02020603050405020304" pitchFamily="18" charset="0"/>
                <a:cs typeface="Times New Roman" panose="02020603050405020304" pitchFamily="18" charset="0"/>
              </a:rPr>
              <a:t>向向量</a:t>
            </a:r>
            <a:r>
              <a:rPr lang="en-US" altLang="zh-CN" sz="2800" b="1" i="1" dirty="0">
                <a:solidFill>
                  <a:srgbClr val="000000"/>
                </a:solidFill>
                <a:latin typeface="Times New Roman" panose="02020603050405020304" pitchFamily="18" charset="0"/>
                <a:cs typeface="Times New Roman" panose="02020603050405020304" pitchFamily="18" charset="0"/>
              </a:rPr>
              <a:t>b</a:t>
            </a:r>
            <a:r>
              <a:rPr lang="zh-CN" altLang="zh-CN" sz="2800" dirty="0">
                <a:solidFill>
                  <a:srgbClr val="000000"/>
                </a:solidFill>
                <a:latin typeface="Times New Roman" panose="02020603050405020304" pitchFamily="18" charset="0"/>
                <a:cs typeface="Times New Roman" panose="02020603050405020304" pitchFamily="18" charset="0"/>
              </a:rPr>
              <a:t>的投影</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得到的投影向量是怎么定义的</a:t>
            </a:r>
            <a:r>
              <a:rPr lang="en-US" altLang="zh-CN" sz="2800"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effectLst/>
              <a:latin typeface="NEU-BZ-S92"/>
              <a:ea typeface="方正书宋_GBK" panose="03000509000000000000" pitchFamily="65" charset="-122"/>
              <a:cs typeface="Times New Roman" panose="02020603050405020304" pitchFamily="18" charset="0"/>
            </a:endParaRPr>
          </a:p>
        </p:txBody>
      </p:sp>
      <p:graphicFrame>
        <p:nvGraphicFramePr>
          <p:cNvPr id="3" name="对象 2"/>
          <p:cNvGraphicFramePr>
            <a:graphicFrameLocks noChangeAspect="1"/>
          </p:cNvGraphicFramePr>
          <p:nvPr>
            <p:extLst>
              <p:ext uri="{D42A27DB-BD31-4B8C-83A1-F6EECF244321}">
                <p14:modId xmlns:p14="http://schemas.microsoft.com/office/powerpoint/2010/main" val="575641964"/>
              </p:ext>
            </p:extLst>
          </p:nvPr>
        </p:nvGraphicFramePr>
        <p:xfrm>
          <a:off x="381000" y="2160892"/>
          <a:ext cx="11430000" cy="3518192"/>
        </p:xfrm>
        <a:graphic>
          <a:graphicData uri="http://schemas.openxmlformats.org/presentationml/2006/ole">
            <mc:AlternateContent xmlns:mc="http://schemas.openxmlformats.org/markup-compatibility/2006">
              <mc:Choice xmlns:v="urn:schemas-microsoft-com:vml" Requires="v">
                <p:oleObj spid="_x0000_s6173" name="文档" r:id="rId3" imgW="4510061" imgH="1388212" progId="Word.Document.12">
                  <p:embed/>
                </p:oleObj>
              </mc:Choice>
              <mc:Fallback>
                <p:oleObj name="文档" r:id="rId3" imgW="4510061" imgH="1388212" progId="Word.Document.12">
                  <p:embed/>
                  <p:pic>
                    <p:nvPicPr>
                      <p:cNvPr id="0" name=""/>
                      <p:cNvPicPr/>
                      <p:nvPr/>
                    </p:nvPicPr>
                    <p:blipFill>
                      <a:blip r:embed="rId4"/>
                      <a:stretch>
                        <a:fillRect/>
                      </a:stretch>
                    </p:blipFill>
                    <p:spPr>
                      <a:xfrm>
                        <a:off x="381000" y="2160892"/>
                        <a:ext cx="11430000" cy="3518192"/>
                      </a:xfrm>
                      <a:prstGeom prst="rect">
                        <a:avLst/>
                      </a:prstGeom>
                    </p:spPr>
                  </p:pic>
                </p:oleObj>
              </mc:Fallback>
            </mc:AlternateContent>
          </a:graphicData>
        </a:graphic>
      </p:graphicFrame>
      <p:pic>
        <p:nvPicPr>
          <p:cNvPr id="4" name="ZMX1TRA24.eps" descr="id:2147494750;FounderCES"/>
          <p:cNvPicPr/>
          <p:nvPr/>
        </p:nvPicPr>
        <p:blipFill>
          <a:blip r:embed="rId5">
            <a:clrChange>
              <a:clrFrom>
                <a:srgbClr val="FFFFFF"/>
              </a:clrFrom>
              <a:clrTo>
                <a:srgbClr val="FFFFFF">
                  <a:alpha val="0"/>
                </a:srgbClr>
              </a:clrTo>
            </a:clrChange>
          </a:blip>
          <a:stretch>
            <a:fillRect/>
          </a:stretch>
        </p:blipFill>
        <p:spPr>
          <a:xfrm>
            <a:off x="8536334" y="423263"/>
            <a:ext cx="3285057" cy="1675764"/>
          </a:xfrm>
          <a:prstGeom prst="rect">
            <a:avLst/>
          </a:prstGeom>
        </p:spPr>
      </p:pic>
    </p:spTree>
    <p:extLst>
      <p:ext uri="{BB962C8B-B14F-4D97-AF65-F5344CB8AC3E}">
        <p14:creationId xmlns:p14="http://schemas.microsoft.com/office/powerpoint/2010/main" val="18915044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down)">
                                      <p:cBhvr>
                                        <p:cTn id="7" dur="500"/>
                                        <p:tgtEl>
                                          <p:spTgt spid="3"/>
                                        </p:tgtEl>
                                      </p:cBhvr>
                                    </p:animEffect>
                                  </p:childTnLst>
                                </p:cTn>
                              </p:par>
                              <p:par>
                                <p:cTn id="8" presetID="22" presetClass="entr" presetSubtype="4" fill="hold"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wipe(down)">
                                      <p:cBhvr>
                                        <p:cTn id="10"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bg>
      <p:bgPr>
        <a:pattFill prst="smCheck">
          <a:fgClr>
            <a:srgbClr val="E8F4E9"/>
          </a:fgClr>
          <a:bgClr>
            <a:schemeClr val="bg1"/>
          </a:bgClr>
        </a:pattFill>
        <a:effectLst/>
      </p:bgPr>
    </p:bg>
    <p:spTree>
      <p:nvGrpSpPr>
        <p:cNvPr id="1" name=""/>
        <p:cNvGrpSpPr/>
        <p:nvPr/>
      </p:nvGrpSpPr>
      <p:grpSpPr>
        <a:xfrm>
          <a:off x="0" y="0"/>
          <a:ext cx="0" cy="0"/>
          <a:chOff x="0" y="0"/>
          <a:chExt cx="0" cy="0"/>
        </a:xfrm>
      </p:grpSpPr>
      <p:grpSp>
        <p:nvGrpSpPr>
          <p:cNvPr id="6" name="组合 5"/>
          <p:cNvGrpSpPr/>
          <p:nvPr/>
        </p:nvGrpSpPr>
        <p:grpSpPr>
          <a:xfrm>
            <a:off x="381000" y="594591"/>
            <a:ext cx="11430000" cy="5175017"/>
            <a:chOff x="381000" y="594591"/>
            <a:chExt cx="11430000" cy="5175017"/>
          </a:xfrm>
        </p:grpSpPr>
        <p:sp>
          <p:nvSpPr>
            <p:cNvPr id="2" name="矩形 1"/>
            <p:cNvSpPr>
              <a:spLocks noChangeAspect="1"/>
            </p:cNvSpPr>
            <p:nvPr/>
          </p:nvSpPr>
          <p:spPr>
            <a:xfrm>
              <a:off x="381000" y="594591"/>
              <a:ext cx="11430000" cy="2332946"/>
            </a:xfrm>
            <a:prstGeom prst="rect">
              <a:avLst/>
            </a:prstGeom>
          </p:spPr>
          <p:txBody>
            <a:bodyPr>
              <a:spAutoFit/>
            </a:bodyPr>
            <a:lstStyle/>
            <a:p>
              <a:pPr indent="280670">
                <a:lnSpc>
                  <a:spcPct val="130000"/>
                </a:lnSpc>
                <a:spcAft>
                  <a:spcPts val="0"/>
                </a:spcAft>
                <a:tabLst>
                  <a:tab pos="1188085" algn="l"/>
                  <a:tab pos="2163445" algn="l"/>
                  <a:tab pos="3142615" algn="l"/>
                  <a:tab pos="4190365" algn="l"/>
                </a:tabLst>
              </a:pPr>
              <a:r>
                <a:rPr lang="en-US" altLang="zh-CN" sz="2800" b="1" dirty="0">
                  <a:solidFill>
                    <a:srgbClr val="000000"/>
                  </a:solidFill>
                  <a:latin typeface="Times New Roman" panose="02020603050405020304" pitchFamily="18" charset="0"/>
                  <a:cs typeface="Times New Roman" panose="02020603050405020304" pitchFamily="18" charset="0"/>
                </a:rPr>
                <a:t>2</a:t>
              </a:r>
              <a:r>
                <a:rPr lang="en-US" altLang="zh-CN" sz="2800" i="1" dirty="0" smtClean="0">
                  <a:solidFill>
                    <a:srgbClr val="000000"/>
                  </a:solidFill>
                  <a:latin typeface="Times New Roman" panose="02020603050405020304" pitchFamily="18" charset="0"/>
                  <a:cs typeface="Times New Roman" panose="02020603050405020304" pitchFamily="18" charset="0"/>
                </a:rPr>
                <a:t>.</a:t>
              </a:r>
              <a:r>
                <a:rPr lang="en-US" altLang="zh-CN" sz="2800" dirty="0" smtClean="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1)</a:t>
              </a:r>
              <a:r>
                <a:rPr lang="zh-CN" altLang="zh-CN" sz="2800" dirty="0">
                  <a:solidFill>
                    <a:srgbClr val="000000"/>
                  </a:solidFill>
                  <a:latin typeface="Times New Roman" panose="02020603050405020304" pitchFamily="18" charset="0"/>
                  <a:cs typeface="Times New Roman" panose="02020603050405020304" pitchFamily="18" charset="0"/>
                </a:rPr>
                <a:t>如图</a:t>
              </a:r>
              <a:r>
                <a:rPr lang="zh-CN" altLang="zh-CN" sz="2800" dirty="0">
                  <a:solidFill>
                    <a:srgbClr val="000000"/>
                  </a:solidFill>
                  <a:latin typeface="NEU-BZ-S92"/>
                  <a:cs typeface="宋体" panose="02010600030101010101" pitchFamily="2" charset="-122"/>
                </a:rPr>
                <a:t>①</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在空间</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向量</a:t>
              </a:r>
              <a:r>
                <a:rPr lang="en-US" altLang="zh-CN" sz="2800" b="1" dirty="0">
                  <a:solidFill>
                    <a:srgbClr val="000000"/>
                  </a:solidFill>
                  <a:latin typeface="Times New Roman" panose="02020603050405020304" pitchFamily="18" charset="0"/>
                  <a:cs typeface="Times New Roman" panose="02020603050405020304" pitchFamily="18" charset="0"/>
                </a:rPr>
                <a:t>a</a:t>
              </a:r>
              <a:r>
                <a:rPr lang="zh-CN" altLang="zh-CN" sz="2800" dirty="0">
                  <a:solidFill>
                    <a:srgbClr val="000000"/>
                  </a:solidFill>
                  <a:latin typeface="Times New Roman" panose="02020603050405020304" pitchFamily="18" charset="0"/>
                  <a:cs typeface="Times New Roman" panose="02020603050405020304" pitchFamily="18" charset="0"/>
                </a:rPr>
                <a:t>向向量</a:t>
              </a:r>
              <a:r>
                <a:rPr lang="en-US" altLang="zh-CN" sz="2800" b="1" dirty="0">
                  <a:solidFill>
                    <a:srgbClr val="000000"/>
                  </a:solidFill>
                  <a:latin typeface="Times New Roman" panose="02020603050405020304" pitchFamily="18" charset="0"/>
                  <a:cs typeface="Times New Roman" panose="02020603050405020304" pitchFamily="18" charset="0"/>
                </a:rPr>
                <a:t>b</a:t>
              </a:r>
              <a:r>
                <a:rPr lang="zh-CN" altLang="zh-CN" sz="2800" dirty="0">
                  <a:solidFill>
                    <a:srgbClr val="000000"/>
                  </a:solidFill>
                  <a:latin typeface="Times New Roman" panose="02020603050405020304" pitchFamily="18" charset="0"/>
                  <a:cs typeface="Times New Roman" panose="02020603050405020304" pitchFamily="18" charset="0"/>
                </a:rPr>
                <a:t>投影</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先将它们平移到同一个平面</a:t>
              </a:r>
              <a:r>
                <a:rPr lang="en-US" altLang="zh-CN" sz="2800" i="1" dirty="0">
                  <a:solidFill>
                    <a:srgbClr val="000000"/>
                  </a:solidFill>
                  <a:effectLst/>
                  <a:latin typeface="Times New Roman" panose="02020603050405020304" pitchFamily="18" charset="0"/>
                  <a:ea typeface="Microsoft Yi Baiti" panose="03000500000000000000" pitchFamily="66" charset="0"/>
                  <a:cs typeface="Times New Roman" panose="02020603050405020304" pitchFamily="18" charset="0"/>
                </a:rPr>
                <a:t>α</a:t>
              </a:r>
              <a:r>
                <a:rPr lang="zh-CN" altLang="zh-CN" sz="2800" dirty="0">
                  <a:solidFill>
                    <a:srgbClr val="000000"/>
                  </a:solidFill>
                  <a:latin typeface="Times New Roman" panose="02020603050405020304" pitchFamily="18" charset="0"/>
                  <a:cs typeface="Times New Roman" panose="02020603050405020304" pitchFamily="18" charset="0"/>
                </a:rPr>
                <a:t>内</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利用平面上向量的投影</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得到与向量</a:t>
              </a:r>
              <a:r>
                <a:rPr lang="en-US" altLang="zh-CN" sz="2800" b="1" dirty="0">
                  <a:solidFill>
                    <a:srgbClr val="000000"/>
                  </a:solidFill>
                  <a:latin typeface="Times New Roman" panose="02020603050405020304" pitchFamily="18" charset="0"/>
                  <a:cs typeface="Times New Roman" panose="02020603050405020304" pitchFamily="18" charset="0"/>
                </a:rPr>
                <a:t>b</a:t>
              </a:r>
              <a:r>
                <a:rPr lang="zh-CN" altLang="zh-CN" sz="2800" dirty="0">
                  <a:solidFill>
                    <a:srgbClr val="000000"/>
                  </a:solidFill>
                  <a:latin typeface="Times New Roman" panose="02020603050405020304" pitchFamily="18" charset="0"/>
                  <a:cs typeface="Times New Roman" panose="02020603050405020304" pitchFamily="18" charset="0"/>
                </a:rPr>
                <a:t>共线的向量</a:t>
              </a:r>
              <a:r>
                <a:rPr lang="en-US" altLang="zh-CN" sz="2800" b="1" dirty="0" err="1">
                  <a:solidFill>
                    <a:srgbClr val="000000"/>
                  </a:solidFill>
                  <a:latin typeface="Times New Roman" panose="02020603050405020304" pitchFamily="18" charset="0"/>
                  <a:cs typeface="Times New Roman" panose="02020603050405020304" pitchFamily="18" charset="0"/>
                </a:rPr>
                <a:t>c</a:t>
              </a:r>
              <a:r>
                <a:rPr lang="en-US" altLang="zh-CN" sz="2800" dirty="0" err="1">
                  <a:solidFill>
                    <a:srgbClr val="000000"/>
                  </a:solidFill>
                  <a:latin typeface="Times New Roman" panose="02020603050405020304" pitchFamily="18" charset="0"/>
                  <a:cs typeface="Times New Roman" panose="02020603050405020304" pitchFamily="18" charset="0"/>
                </a:rPr>
                <a:t>,</a:t>
              </a:r>
              <a:r>
                <a:rPr lang="en-US" altLang="zh-CN" sz="2800" b="1" dirty="0" err="1">
                  <a:solidFill>
                    <a:srgbClr val="000000"/>
                  </a:solidFill>
                  <a:latin typeface="Times New Roman" panose="02020603050405020304" pitchFamily="18" charset="0"/>
                  <a:cs typeface="Times New Roman" panose="02020603050405020304" pitchFamily="18" charset="0"/>
                </a:rPr>
                <a:t>c</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FF0000"/>
                  </a:solidFill>
                  <a:latin typeface="Times New Roman" panose="02020603050405020304" pitchFamily="18" charset="0"/>
                  <a:cs typeface="Times New Roman" panose="02020603050405020304" pitchFamily="18" charset="0"/>
                </a:rPr>
                <a:t>|</a:t>
              </a:r>
              <a:r>
                <a:rPr lang="en-US" altLang="zh-CN" sz="2800" b="1" dirty="0" err="1">
                  <a:solidFill>
                    <a:srgbClr val="FF0000"/>
                  </a:solidFill>
                  <a:latin typeface="Times New Roman" panose="02020603050405020304" pitchFamily="18" charset="0"/>
                  <a:cs typeface="Times New Roman" panose="02020603050405020304" pitchFamily="18" charset="0"/>
                </a:rPr>
                <a:t>a</a:t>
              </a:r>
              <a:r>
                <a:rPr lang="en-US" altLang="zh-CN" sz="2800" i="1" dirty="0" err="1">
                  <a:solidFill>
                    <a:srgbClr val="FF0000"/>
                  </a:solidFill>
                  <a:latin typeface="Times New Roman" panose="02020603050405020304" pitchFamily="18" charset="0"/>
                  <a:cs typeface="Times New Roman" panose="02020603050405020304" pitchFamily="18" charset="0"/>
                </a:rPr>
                <a:t>|</a:t>
              </a:r>
              <a:r>
                <a:rPr lang="en-US" altLang="zh-CN" sz="2800" dirty="0" err="1">
                  <a:solidFill>
                    <a:srgbClr val="FF0000"/>
                  </a:solidFill>
                  <a:latin typeface="Times New Roman" panose="02020603050405020304" pitchFamily="18" charset="0"/>
                  <a:cs typeface="Times New Roman" panose="02020603050405020304" pitchFamily="18" charset="0"/>
                </a:rPr>
                <a:t>cos</a:t>
              </a:r>
              <a:r>
                <a:rPr lang="en-US" altLang="zh-CN" sz="2800" i="1" dirty="0">
                  <a:solidFill>
                    <a:srgbClr val="FF0000"/>
                  </a:solidFill>
                  <a:latin typeface="Times New Roman" panose="02020603050405020304" pitchFamily="18" charset="0"/>
                  <a:cs typeface="Times New Roman" panose="02020603050405020304" pitchFamily="18" charset="0"/>
                </a:rPr>
                <a:t>&lt;</a:t>
              </a:r>
              <a:r>
                <a:rPr lang="en-US" altLang="zh-CN" sz="2800" b="1" dirty="0" err="1">
                  <a:solidFill>
                    <a:srgbClr val="FF0000"/>
                  </a:solidFill>
                  <a:latin typeface="Times New Roman" panose="02020603050405020304" pitchFamily="18" charset="0"/>
                  <a:cs typeface="Times New Roman" panose="02020603050405020304" pitchFamily="18" charset="0"/>
                </a:rPr>
                <a:t>a</a:t>
              </a:r>
              <a:r>
                <a:rPr lang="en-US" altLang="zh-CN" sz="2800" dirty="0" err="1">
                  <a:solidFill>
                    <a:srgbClr val="FF0000"/>
                  </a:solidFill>
                  <a:latin typeface="Times New Roman" panose="02020603050405020304" pitchFamily="18" charset="0"/>
                  <a:cs typeface="Times New Roman" panose="02020603050405020304" pitchFamily="18" charset="0"/>
                </a:rPr>
                <a:t>,</a:t>
              </a:r>
              <a:r>
                <a:rPr lang="en-US" altLang="zh-CN" sz="2800" b="1" dirty="0" err="1">
                  <a:solidFill>
                    <a:srgbClr val="FF0000"/>
                  </a:solidFill>
                  <a:latin typeface="Times New Roman" panose="02020603050405020304" pitchFamily="18" charset="0"/>
                  <a:cs typeface="Times New Roman" panose="02020603050405020304" pitchFamily="18" charset="0"/>
                </a:rPr>
                <a:t>b</a:t>
              </a:r>
              <a:r>
                <a:rPr lang="en-US" altLang="zh-CN" sz="2800" i="1" dirty="0" smtClean="0">
                  <a:solidFill>
                    <a:srgbClr val="FF0000"/>
                  </a:solidFill>
                  <a:latin typeface="Times New Roman" panose="02020603050405020304" pitchFamily="18" charset="0"/>
                  <a:cs typeface="Times New Roman" panose="02020603050405020304" pitchFamily="18" charset="0"/>
                </a:rPr>
                <a:t>&gt;    </a:t>
              </a:r>
              <a:r>
                <a:rPr lang="en-US" altLang="zh-CN" sz="2800" dirty="0" smtClean="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向量</a:t>
              </a:r>
              <a:r>
                <a:rPr lang="en-US" altLang="zh-CN" sz="2800" b="1" dirty="0">
                  <a:solidFill>
                    <a:srgbClr val="000000"/>
                  </a:solidFill>
                  <a:latin typeface="Times New Roman" panose="02020603050405020304" pitchFamily="18" charset="0"/>
                  <a:cs typeface="Times New Roman" panose="02020603050405020304" pitchFamily="18" charset="0"/>
                </a:rPr>
                <a:t>c</a:t>
              </a:r>
              <a:r>
                <a:rPr lang="zh-CN" altLang="zh-CN" sz="2800" dirty="0">
                  <a:solidFill>
                    <a:srgbClr val="000000"/>
                  </a:solidFill>
                  <a:latin typeface="Times New Roman" panose="02020603050405020304" pitchFamily="18" charset="0"/>
                  <a:cs typeface="Times New Roman" panose="02020603050405020304" pitchFamily="18" charset="0"/>
                </a:rPr>
                <a:t>称为向量</a:t>
              </a:r>
              <a:r>
                <a:rPr lang="en-US" altLang="zh-CN" sz="2800" b="1" dirty="0">
                  <a:solidFill>
                    <a:srgbClr val="000000"/>
                  </a:solidFill>
                  <a:latin typeface="Times New Roman" panose="02020603050405020304" pitchFamily="18" charset="0"/>
                  <a:cs typeface="Times New Roman" panose="02020603050405020304" pitchFamily="18" charset="0"/>
                </a:rPr>
                <a:t>a</a:t>
              </a:r>
              <a:r>
                <a:rPr lang="zh-CN" altLang="zh-CN" sz="2800" dirty="0">
                  <a:solidFill>
                    <a:srgbClr val="000000"/>
                  </a:solidFill>
                  <a:latin typeface="Times New Roman" panose="02020603050405020304" pitchFamily="18" charset="0"/>
                  <a:cs typeface="Times New Roman" panose="02020603050405020304" pitchFamily="18" charset="0"/>
                </a:rPr>
                <a:t>在向量</a:t>
              </a:r>
              <a:r>
                <a:rPr lang="en-US" altLang="zh-CN" sz="2800" b="1" dirty="0">
                  <a:solidFill>
                    <a:srgbClr val="000000"/>
                  </a:solidFill>
                  <a:latin typeface="Times New Roman" panose="02020603050405020304" pitchFamily="18" charset="0"/>
                  <a:cs typeface="Times New Roman" panose="02020603050405020304" pitchFamily="18" charset="0"/>
                </a:rPr>
                <a:t>b</a:t>
              </a:r>
              <a:r>
                <a:rPr lang="zh-CN" altLang="zh-CN" sz="2800" dirty="0">
                  <a:solidFill>
                    <a:srgbClr val="000000"/>
                  </a:solidFill>
                  <a:latin typeface="Times New Roman" panose="02020603050405020304" pitchFamily="18" charset="0"/>
                  <a:cs typeface="Times New Roman" panose="02020603050405020304" pitchFamily="18" charset="0"/>
                </a:rPr>
                <a:t>上的</a:t>
              </a:r>
              <a:r>
                <a:rPr lang="zh-CN" altLang="zh-CN" sz="2800" dirty="0">
                  <a:solidFill>
                    <a:srgbClr val="FF0000"/>
                  </a:solidFill>
                  <a:latin typeface="Times New Roman" panose="02020603050405020304" pitchFamily="18" charset="0"/>
                  <a:cs typeface="Times New Roman" panose="02020603050405020304" pitchFamily="18" charset="0"/>
                </a:rPr>
                <a:t>投影向量</a:t>
              </a:r>
              <a:r>
                <a:rPr lang="en-US" altLang="zh-CN" sz="2800" i="1"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类似地</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可以将向量</a:t>
              </a:r>
              <a:r>
                <a:rPr lang="en-US" altLang="zh-CN" sz="2800" b="1" dirty="0">
                  <a:solidFill>
                    <a:srgbClr val="000000"/>
                  </a:solidFill>
                  <a:latin typeface="Times New Roman" panose="02020603050405020304" pitchFamily="18" charset="0"/>
                  <a:cs typeface="Times New Roman" panose="02020603050405020304" pitchFamily="18" charset="0"/>
                </a:rPr>
                <a:t>a</a:t>
              </a:r>
              <a:r>
                <a:rPr lang="zh-CN" altLang="zh-CN" sz="2800" dirty="0">
                  <a:solidFill>
                    <a:srgbClr val="000000"/>
                  </a:solidFill>
                  <a:latin typeface="Times New Roman" panose="02020603050405020304" pitchFamily="18" charset="0"/>
                  <a:cs typeface="Times New Roman" panose="02020603050405020304" pitchFamily="18" charset="0"/>
                </a:rPr>
                <a:t>向直线</a:t>
              </a:r>
              <a:r>
                <a:rPr lang="en-US" altLang="zh-CN" sz="2800" i="1" dirty="0">
                  <a:solidFill>
                    <a:srgbClr val="000000"/>
                  </a:solidFill>
                  <a:latin typeface="Times New Roman" panose="02020603050405020304" pitchFamily="18" charset="0"/>
                  <a:cs typeface="Times New Roman" panose="02020603050405020304" pitchFamily="18" charset="0"/>
                </a:rPr>
                <a:t>l</a:t>
              </a:r>
              <a:r>
                <a:rPr lang="zh-CN" altLang="zh-CN" sz="2800" dirty="0">
                  <a:solidFill>
                    <a:srgbClr val="000000"/>
                  </a:solidFill>
                  <a:latin typeface="Times New Roman" panose="02020603050405020304" pitchFamily="18" charset="0"/>
                  <a:cs typeface="Times New Roman" panose="02020603050405020304" pitchFamily="18" charset="0"/>
                </a:rPr>
                <a:t>投影</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如图</a:t>
              </a:r>
              <a:r>
                <a:rPr lang="zh-CN" altLang="zh-CN" sz="2800" dirty="0">
                  <a:solidFill>
                    <a:srgbClr val="000000"/>
                  </a:solidFill>
                  <a:latin typeface="NEU-BZ-S92"/>
                  <a:cs typeface="宋体" panose="02010600030101010101" pitchFamily="2" charset="-122"/>
                </a:rPr>
                <a:t>②</a:t>
              </a:r>
              <a:r>
                <a:rPr lang="zh-CN" altLang="zh-CN" sz="2800" dirty="0">
                  <a:solidFill>
                    <a:srgbClr val="000000"/>
                  </a:solidFill>
                  <a:latin typeface="Times New Roman" panose="02020603050405020304" pitchFamily="18" charset="0"/>
                  <a:cs typeface="Times New Roman" panose="02020603050405020304" pitchFamily="18" charset="0"/>
                </a:rPr>
                <a:t>所示</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effectLst/>
                <a:latin typeface="NEU-BZ-S92"/>
                <a:ea typeface="方正书宋_GBK" panose="03000509000000000000" pitchFamily="65" charset="-122"/>
                <a:cs typeface="Times New Roman" panose="02020603050405020304" pitchFamily="18" charset="0"/>
              </a:endParaRPr>
            </a:p>
          </p:txBody>
        </p:sp>
        <p:graphicFrame>
          <p:nvGraphicFramePr>
            <p:cNvPr id="3" name="对象 2"/>
            <p:cNvGraphicFramePr>
              <a:graphicFrameLocks noChangeAspect="1"/>
            </p:cNvGraphicFramePr>
            <p:nvPr>
              <p:extLst>
                <p:ext uri="{D42A27DB-BD31-4B8C-83A1-F6EECF244321}">
                  <p14:modId xmlns:p14="http://schemas.microsoft.com/office/powerpoint/2010/main" val="2048829667"/>
                </p:ext>
              </p:extLst>
            </p:nvPr>
          </p:nvGraphicFramePr>
          <p:xfrm>
            <a:off x="10237446" y="1058915"/>
            <a:ext cx="518233" cy="829174"/>
          </p:xfrm>
          <a:graphic>
            <a:graphicData uri="http://schemas.openxmlformats.org/presentationml/2006/ole">
              <mc:AlternateContent xmlns:mc="http://schemas.openxmlformats.org/markup-compatibility/2006">
                <mc:Choice xmlns:v="urn:schemas-microsoft-com:vml" Requires="v">
                  <p:oleObj spid="_x0000_s7197" name="文档" r:id="rId3" imgW="257116" imgH="398949" progId="Word.Document.12">
                    <p:embed/>
                  </p:oleObj>
                </mc:Choice>
                <mc:Fallback>
                  <p:oleObj name="文档" r:id="rId3" imgW="257116" imgH="398949" progId="Word.Document.12">
                    <p:embed/>
                    <p:pic>
                      <p:nvPicPr>
                        <p:cNvPr id="0" name=""/>
                        <p:cNvPicPr/>
                        <p:nvPr/>
                      </p:nvPicPr>
                      <p:blipFill>
                        <a:blip r:embed="rId4"/>
                        <a:stretch>
                          <a:fillRect/>
                        </a:stretch>
                      </p:blipFill>
                      <p:spPr>
                        <a:xfrm>
                          <a:off x="10237446" y="1058915"/>
                          <a:ext cx="518233" cy="829174"/>
                        </a:xfrm>
                        <a:prstGeom prst="rect">
                          <a:avLst/>
                        </a:prstGeom>
                      </p:spPr>
                    </p:pic>
                  </p:oleObj>
                </mc:Fallback>
              </mc:AlternateContent>
            </a:graphicData>
          </a:graphic>
        </p:graphicFrame>
        <p:pic>
          <p:nvPicPr>
            <p:cNvPr id="4" name="图片 3"/>
            <p:cNvPicPr>
              <a:picLocks noChangeAspect="1"/>
            </p:cNvPicPr>
            <p:nvPr/>
          </p:nvPicPr>
          <p:blipFill>
            <a:blip r:embed="rId5">
              <a:clrChange>
                <a:clrFrom>
                  <a:srgbClr val="FFFFFF"/>
                </a:clrFrom>
                <a:clrTo>
                  <a:srgbClr val="FFFFFF">
                    <a:alpha val="0"/>
                  </a:srgbClr>
                </a:clrTo>
              </a:clrChange>
            </a:blip>
            <a:stretch>
              <a:fillRect/>
            </a:stretch>
          </p:blipFill>
          <p:spPr>
            <a:xfrm>
              <a:off x="1750143" y="3022614"/>
              <a:ext cx="3759045" cy="2746994"/>
            </a:xfrm>
            <a:prstGeom prst="rect">
              <a:avLst/>
            </a:prstGeom>
          </p:spPr>
        </p:pic>
        <p:pic>
          <p:nvPicPr>
            <p:cNvPr id="5" name="图片 4"/>
            <p:cNvPicPr>
              <a:picLocks noChangeAspect="1"/>
            </p:cNvPicPr>
            <p:nvPr/>
          </p:nvPicPr>
          <p:blipFill>
            <a:blip r:embed="rId6">
              <a:clrChange>
                <a:clrFrom>
                  <a:srgbClr val="FFFFFF"/>
                </a:clrFrom>
                <a:clrTo>
                  <a:srgbClr val="FFFFFF">
                    <a:alpha val="0"/>
                  </a:srgbClr>
                </a:clrTo>
              </a:clrChange>
            </a:blip>
            <a:stretch>
              <a:fillRect/>
            </a:stretch>
          </p:blipFill>
          <p:spPr>
            <a:xfrm>
              <a:off x="6545114" y="3022613"/>
              <a:ext cx="3787276" cy="2746994"/>
            </a:xfrm>
            <a:prstGeom prst="rect">
              <a:avLst/>
            </a:prstGeom>
          </p:spPr>
        </p:pic>
      </p:grpSp>
      <p:sp>
        <p:nvSpPr>
          <p:cNvPr id="17" name="矩形 16"/>
          <p:cNvSpPr/>
          <p:nvPr/>
        </p:nvSpPr>
        <p:spPr>
          <a:xfrm>
            <a:off x="8532818" y="1135999"/>
            <a:ext cx="2091157" cy="677683"/>
          </a:xfrm>
          <a:prstGeom prst="rect">
            <a:avLst/>
          </a:prstGeom>
          <a:pattFill prst="smCheck">
            <a:fgClr>
              <a:srgbClr val="E8F4E9"/>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8" name="直接连接符 17"/>
          <p:cNvCxnSpPr/>
          <p:nvPr/>
        </p:nvCxnSpPr>
        <p:spPr>
          <a:xfrm>
            <a:off x="8544369" y="1812594"/>
            <a:ext cx="2082371" cy="0"/>
          </a:xfrm>
          <a:prstGeom prst="line">
            <a:avLst/>
          </a:prstGeom>
        </p:spPr>
        <p:style>
          <a:lnRef idx="2">
            <a:schemeClr val="dk1"/>
          </a:lnRef>
          <a:fillRef idx="0">
            <a:schemeClr val="dk1"/>
          </a:fillRef>
          <a:effectRef idx="1">
            <a:schemeClr val="dk1"/>
          </a:effectRef>
          <a:fontRef idx="minor">
            <a:schemeClr val="tx1"/>
          </a:fontRef>
        </p:style>
      </p:cxnSp>
      <p:sp>
        <p:nvSpPr>
          <p:cNvPr id="21" name="矩形 20"/>
          <p:cNvSpPr/>
          <p:nvPr/>
        </p:nvSpPr>
        <p:spPr>
          <a:xfrm>
            <a:off x="4040612" y="1791812"/>
            <a:ext cx="1427012" cy="441435"/>
          </a:xfrm>
          <a:prstGeom prst="rect">
            <a:avLst/>
          </a:prstGeom>
          <a:pattFill prst="smCheck">
            <a:fgClr>
              <a:srgbClr val="E8F4E9"/>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2" name="直接连接符 21"/>
          <p:cNvCxnSpPr/>
          <p:nvPr/>
        </p:nvCxnSpPr>
        <p:spPr>
          <a:xfrm>
            <a:off x="4052340" y="2228772"/>
            <a:ext cx="1421016" cy="0"/>
          </a:xfrm>
          <a:prstGeom prst="line">
            <a:avLst/>
          </a:prstGeom>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218648452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xit" presetSubtype="4" fill="hold" grpId="0" nodeType="clickEffect">
                                  <p:stCondLst>
                                    <p:cond delay="0"/>
                                  </p:stCondLst>
                                  <p:childTnLst>
                                    <p:animEffect transition="out" filter="wipe(down)">
                                      <p:cBhvr>
                                        <p:cTn id="6" dur="500"/>
                                        <p:tgtEl>
                                          <p:spTgt spid="17"/>
                                        </p:tgtEl>
                                      </p:cBhvr>
                                    </p:animEffect>
                                    <p:set>
                                      <p:cBhvr>
                                        <p:cTn id="7" dur="1" fill="hold">
                                          <p:stCondLst>
                                            <p:cond delay="499"/>
                                          </p:stCondLst>
                                        </p:cTn>
                                        <p:tgtEl>
                                          <p:spTgt spid="17"/>
                                        </p:tgtEl>
                                        <p:attrNameLst>
                                          <p:attrName>style.visibility</p:attrName>
                                        </p:attrNameLst>
                                      </p:cBhvr>
                                      <p:to>
                                        <p:strVal val="hidden"/>
                                      </p:to>
                                    </p:set>
                                  </p:childTnLst>
                                </p:cTn>
                              </p:par>
                            </p:childTnLst>
                          </p:cTn>
                        </p:par>
                      </p:childTnLst>
                    </p:cTn>
                  </p:par>
                  <p:par>
                    <p:cTn id="8" fill="hold">
                      <p:stCondLst>
                        <p:cond delay="indefinite"/>
                      </p:stCondLst>
                      <p:childTnLst>
                        <p:par>
                          <p:cTn id="9" fill="hold">
                            <p:stCondLst>
                              <p:cond delay="0"/>
                            </p:stCondLst>
                            <p:childTnLst>
                              <p:par>
                                <p:cTn id="10" presetID="22" presetClass="exit" presetSubtype="4" fill="hold" grpId="0" nodeType="clickEffect">
                                  <p:stCondLst>
                                    <p:cond delay="0"/>
                                  </p:stCondLst>
                                  <p:childTnLst>
                                    <p:animEffect transition="out" filter="wipe(down)">
                                      <p:cBhvr>
                                        <p:cTn id="11" dur="500"/>
                                        <p:tgtEl>
                                          <p:spTgt spid="21"/>
                                        </p:tgtEl>
                                      </p:cBhvr>
                                    </p:animEffect>
                                    <p:set>
                                      <p:cBhvr>
                                        <p:cTn id="12" dur="1" fill="hold">
                                          <p:stCondLst>
                                            <p:cond delay="499"/>
                                          </p:stCondLst>
                                        </p:cTn>
                                        <p:tgtEl>
                                          <p:spTgt spid="21"/>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P spid="21"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bg>
      <p:bgPr>
        <a:pattFill prst="smCheck">
          <a:fgClr>
            <a:srgbClr val="E8F4E9"/>
          </a:fgClr>
          <a:bgClr>
            <a:schemeClr val="bg1"/>
          </a:bgClr>
        </a:pattFill>
        <a:effectLst/>
      </p:bgPr>
    </p:bg>
    <p:spTree>
      <p:nvGrpSpPr>
        <p:cNvPr id="1" name=""/>
        <p:cNvGrpSpPr/>
        <p:nvPr/>
      </p:nvGrpSpPr>
      <p:grpSpPr>
        <a:xfrm>
          <a:off x="0" y="0"/>
          <a:ext cx="0" cy="0"/>
          <a:chOff x="0" y="0"/>
          <a:chExt cx="0" cy="0"/>
        </a:xfrm>
      </p:grpSpPr>
      <p:pic>
        <p:nvPicPr>
          <p:cNvPr id="2" name="图片 1"/>
          <p:cNvPicPr>
            <a:picLocks noChangeAspect="1"/>
          </p:cNvPicPr>
          <p:nvPr/>
        </p:nvPicPr>
        <p:blipFill>
          <a:blip r:embed="rId3">
            <a:clrChange>
              <a:clrFrom>
                <a:srgbClr val="FFFFFF"/>
              </a:clrFrom>
              <a:clrTo>
                <a:srgbClr val="FFFFFF">
                  <a:alpha val="0"/>
                </a:srgbClr>
              </a:clrTo>
            </a:clrChange>
          </a:blip>
          <a:stretch>
            <a:fillRect/>
          </a:stretch>
        </p:blipFill>
        <p:spPr>
          <a:xfrm>
            <a:off x="4591062" y="3309927"/>
            <a:ext cx="3009876" cy="2591111"/>
          </a:xfrm>
          <a:prstGeom prst="rect">
            <a:avLst/>
          </a:prstGeom>
        </p:spPr>
      </p:pic>
      <p:graphicFrame>
        <p:nvGraphicFramePr>
          <p:cNvPr id="3" name="对象 2"/>
          <p:cNvGraphicFramePr>
            <a:graphicFrameLocks noChangeAspect="1"/>
          </p:cNvGraphicFramePr>
          <p:nvPr>
            <p:extLst>
              <p:ext uri="{D42A27DB-BD31-4B8C-83A1-F6EECF244321}">
                <p14:modId xmlns:p14="http://schemas.microsoft.com/office/powerpoint/2010/main" val="1637619397"/>
              </p:ext>
            </p:extLst>
          </p:nvPr>
        </p:nvGraphicFramePr>
        <p:xfrm>
          <a:off x="381000" y="465100"/>
          <a:ext cx="11430000" cy="3015855"/>
        </p:xfrm>
        <a:graphic>
          <a:graphicData uri="http://schemas.openxmlformats.org/presentationml/2006/ole">
            <mc:AlternateContent xmlns:mc="http://schemas.openxmlformats.org/markup-compatibility/2006">
              <mc:Choice xmlns:v="urn:schemas-microsoft-com:vml" Requires="v">
                <p:oleObj spid="_x0000_s8221" name="文档" r:id="rId4" imgW="4510061" imgH="1189999" progId="Word.Document.12">
                  <p:embed/>
                </p:oleObj>
              </mc:Choice>
              <mc:Fallback>
                <p:oleObj name="文档" r:id="rId4" imgW="4510061" imgH="1189999" progId="Word.Document.12">
                  <p:embed/>
                  <p:pic>
                    <p:nvPicPr>
                      <p:cNvPr id="0" name=""/>
                      <p:cNvPicPr/>
                      <p:nvPr/>
                    </p:nvPicPr>
                    <p:blipFill>
                      <a:blip r:embed="rId5"/>
                      <a:stretch>
                        <a:fillRect/>
                      </a:stretch>
                    </p:blipFill>
                    <p:spPr>
                      <a:xfrm>
                        <a:off x="381000" y="465100"/>
                        <a:ext cx="11430000" cy="3015855"/>
                      </a:xfrm>
                      <a:prstGeom prst="rect">
                        <a:avLst/>
                      </a:prstGeom>
                    </p:spPr>
                  </p:pic>
                </p:oleObj>
              </mc:Fallback>
            </mc:AlternateContent>
          </a:graphicData>
        </a:graphic>
      </p:graphicFrame>
      <p:sp>
        <p:nvSpPr>
          <p:cNvPr id="4" name="矩形 3"/>
          <p:cNvSpPr/>
          <p:nvPr/>
        </p:nvSpPr>
        <p:spPr>
          <a:xfrm>
            <a:off x="6621529" y="1233488"/>
            <a:ext cx="760950" cy="441435"/>
          </a:xfrm>
          <a:prstGeom prst="rect">
            <a:avLst/>
          </a:prstGeom>
          <a:pattFill prst="smCheck">
            <a:fgClr>
              <a:srgbClr val="E8F4E9"/>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5" name="直接连接符 4"/>
          <p:cNvCxnSpPr/>
          <p:nvPr/>
        </p:nvCxnSpPr>
        <p:spPr>
          <a:xfrm>
            <a:off x="6604879" y="1670448"/>
            <a:ext cx="772984" cy="0"/>
          </a:xfrm>
          <a:prstGeom prst="line">
            <a:avLst/>
          </a:prstGeom>
        </p:spPr>
        <p:style>
          <a:lnRef idx="2">
            <a:schemeClr val="dk1"/>
          </a:lnRef>
          <a:fillRef idx="0">
            <a:schemeClr val="dk1"/>
          </a:fillRef>
          <a:effectRef idx="1">
            <a:schemeClr val="dk1"/>
          </a:effectRef>
          <a:fontRef idx="minor">
            <a:schemeClr val="tx1"/>
          </a:fontRef>
        </p:style>
      </p:cxnSp>
      <p:sp>
        <p:nvSpPr>
          <p:cNvPr id="6" name="矩形 5"/>
          <p:cNvSpPr/>
          <p:nvPr/>
        </p:nvSpPr>
        <p:spPr>
          <a:xfrm>
            <a:off x="8232120" y="1233488"/>
            <a:ext cx="760950" cy="441435"/>
          </a:xfrm>
          <a:prstGeom prst="rect">
            <a:avLst/>
          </a:prstGeom>
          <a:pattFill prst="smCheck">
            <a:fgClr>
              <a:srgbClr val="E8F4E9"/>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7" name="直接连接符 6"/>
          <p:cNvCxnSpPr/>
          <p:nvPr/>
        </p:nvCxnSpPr>
        <p:spPr>
          <a:xfrm>
            <a:off x="8233477" y="1670448"/>
            <a:ext cx="757753" cy="0"/>
          </a:xfrm>
          <a:prstGeom prst="line">
            <a:avLst/>
          </a:prstGeom>
        </p:spPr>
        <p:style>
          <a:lnRef idx="2">
            <a:schemeClr val="dk1"/>
          </a:lnRef>
          <a:fillRef idx="0">
            <a:schemeClr val="dk1"/>
          </a:fillRef>
          <a:effectRef idx="1">
            <a:schemeClr val="dk1"/>
          </a:effectRef>
          <a:fontRef idx="minor">
            <a:schemeClr val="tx1"/>
          </a:fontRef>
        </p:style>
      </p:cxnSp>
      <p:sp>
        <p:nvSpPr>
          <p:cNvPr id="8" name="矩形 7"/>
          <p:cNvSpPr/>
          <p:nvPr/>
        </p:nvSpPr>
        <p:spPr>
          <a:xfrm>
            <a:off x="4393634" y="2207125"/>
            <a:ext cx="458921" cy="441435"/>
          </a:xfrm>
          <a:prstGeom prst="rect">
            <a:avLst/>
          </a:prstGeom>
          <a:pattFill prst="smCheck">
            <a:fgClr>
              <a:srgbClr val="E8F4E9"/>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p:cNvSpPr/>
          <p:nvPr/>
        </p:nvSpPr>
        <p:spPr>
          <a:xfrm>
            <a:off x="5016271" y="2227907"/>
            <a:ext cx="791848" cy="441435"/>
          </a:xfrm>
          <a:prstGeom prst="rect">
            <a:avLst/>
          </a:prstGeom>
          <a:pattFill prst="smCheck">
            <a:fgClr>
              <a:srgbClr val="E8F4E9"/>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1" name="直接连接符 10"/>
          <p:cNvCxnSpPr/>
          <p:nvPr/>
        </p:nvCxnSpPr>
        <p:spPr>
          <a:xfrm>
            <a:off x="5028084" y="2664867"/>
            <a:ext cx="788521" cy="0"/>
          </a:xfrm>
          <a:prstGeom prst="line">
            <a:avLst/>
          </a:prstGeom>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42332655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xit" presetSubtype="4" fill="hold" grpId="0" nodeType="clickEffect">
                                  <p:stCondLst>
                                    <p:cond delay="0"/>
                                  </p:stCondLst>
                                  <p:childTnLst>
                                    <p:animEffect transition="out" filter="wipe(down)">
                                      <p:cBhvr>
                                        <p:cTn id="6" dur="500"/>
                                        <p:tgtEl>
                                          <p:spTgt spid="4"/>
                                        </p:tgtEl>
                                      </p:cBhvr>
                                    </p:animEffect>
                                    <p:set>
                                      <p:cBhvr>
                                        <p:cTn id="7" dur="1" fill="hold">
                                          <p:stCondLst>
                                            <p:cond delay="499"/>
                                          </p:stCondLst>
                                        </p:cTn>
                                        <p:tgtEl>
                                          <p:spTgt spid="4"/>
                                        </p:tgtEl>
                                        <p:attrNameLst>
                                          <p:attrName>style.visibility</p:attrName>
                                        </p:attrNameLst>
                                      </p:cBhvr>
                                      <p:to>
                                        <p:strVal val="hidden"/>
                                      </p:to>
                                    </p:set>
                                  </p:childTnLst>
                                </p:cTn>
                              </p:par>
                            </p:childTnLst>
                          </p:cTn>
                        </p:par>
                      </p:childTnLst>
                    </p:cTn>
                  </p:par>
                  <p:par>
                    <p:cTn id="8" fill="hold">
                      <p:stCondLst>
                        <p:cond delay="indefinite"/>
                      </p:stCondLst>
                      <p:childTnLst>
                        <p:par>
                          <p:cTn id="9" fill="hold">
                            <p:stCondLst>
                              <p:cond delay="0"/>
                            </p:stCondLst>
                            <p:childTnLst>
                              <p:par>
                                <p:cTn id="10" presetID="22" presetClass="exit" presetSubtype="4" fill="hold" grpId="0" nodeType="clickEffect">
                                  <p:stCondLst>
                                    <p:cond delay="0"/>
                                  </p:stCondLst>
                                  <p:childTnLst>
                                    <p:animEffect transition="out" filter="wipe(down)">
                                      <p:cBhvr>
                                        <p:cTn id="11" dur="500"/>
                                        <p:tgtEl>
                                          <p:spTgt spid="6"/>
                                        </p:tgtEl>
                                      </p:cBhvr>
                                    </p:animEffect>
                                    <p:set>
                                      <p:cBhvr>
                                        <p:cTn id="12" dur="1" fill="hold">
                                          <p:stCondLst>
                                            <p:cond delay="499"/>
                                          </p:stCondLst>
                                        </p:cTn>
                                        <p:tgtEl>
                                          <p:spTgt spid="6"/>
                                        </p:tgtEl>
                                        <p:attrNameLst>
                                          <p:attrName>style.visibility</p:attrName>
                                        </p:attrNameLst>
                                      </p:cBhvr>
                                      <p:to>
                                        <p:strVal val="hidden"/>
                                      </p:to>
                                    </p:set>
                                  </p:childTnLst>
                                </p:cTn>
                              </p:par>
                            </p:childTnLst>
                          </p:cTn>
                        </p:par>
                      </p:childTnLst>
                    </p:cTn>
                  </p:par>
                  <p:par>
                    <p:cTn id="13" fill="hold">
                      <p:stCondLst>
                        <p:cond delay="indefinite"/>
                      </p:stCondLst>
                      <p:childTnLst>
                        <p:par>
                          <p:cTn id="14" fill="hold">
                            <p:stCondLst>
                              <p:cond delay="0"/>
                            </p:stCondLst>
                            <p:childTnLst>
                              <p:par>
                                <p:cTn id="15" presetID="22" presetClass="exit" presetSubtype="4" fill="hold" grpId="0" nodeType="clickEffect">
                                  <p:stCondLst>
                                    <p:cond delay="0"/>
                                  </p:stCondLst>
                                  <p:childTnLst>
                                    <p:animEffect transition="out" filter="wipe(down)">
                                      <p:cBhvr>
                                        <p:cTn id="16" dur="500"/>
                                        <p:tgtEl>
                                          <p:spTgt spid="8"/>
                                        </p:tgtEl>
                                      </p:cBhvr>
                                    </p:animEffect>
                                    <p:set>
                                      <p:cBhvr>
                                        <p:cTn id="17" dur="1" fill="hold">
                                          <p:stCondLst>
                                            <p:cond delay="499"/>
                                          </p:stCondLst>
                                        </p:cTn>
                                        <p:tgtEl>
                                          <p:spTgt spid="8"/>
                                        </p:tgtEl>
                                        <p:attrNameLst>
                                          <p:attrName>style.visibility</p:attrName>
                                        </p:attrNameLst>
                                      </p:cBhvr>
                                      <p:to>
                                        <p:strVal val="hidden"/>
                                      </p:to>
                                    </p:set>
                                  </p:childTnLst>
                                </p:cTn>
                              </p:par>
                            </p:childTnLst>
                          </p:cTn>
                        </p:par>
                      </p:childTnLst>
                    </p:cTn>
                  </p:par>
                  <p:par>
                    <p:cTn id="18" fill="hold">
                      <p:stCondLst>
                        <p:cond delay="indefinite"/>
                      </p:stCondLst>
                      <p:childTnLst>
                        <p:par>
                          <p:cTn id="19" fill="hold">
                            <p:stCondLst>
                              <p:cond delay="0"/>
                            </p:stCondLst>
                            <p:childTnLst>
                              <p:par>
                                <p:cTn id="20" presetID="22" presetClass="exit" presetSubtype="4" fill="hold" grpId="0" nodeType="clickEffect">
                                  <p:stCondLst>
                                    <p:cond delay="0"/>
                                  </p:stCondLst>
                                  <p:childTnLst>
                                    <p:animEffect transition="out" filter="wipe(down)">
                                      <p:cBhvr>
                                        <p:cTn id="21" dur="500"/>
                                        <p:tgtEl>
                                          <p:spTgt spid="10"/>
                                        </p:tgtEl>
                                      </p:cBhvr>
                                    </p:animEffect>
                                    <p:set>
                                      <p:cBhvr>
                                        <p:cTn id="22" dur="1" fill="hold">
                                          <p:stCondLst>
                                            <p:cond delay="499"/>
                                          </p:stCondLst>
                                        </p:cTn>
                                        <p:tgtEl>
                                          <p:spTgt spid="10"/>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6" grpId="0" animBg="1"/>
      <p:bldP spid="8" grpId="0" animBg="1"/>
      <p:bldP spid="10"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bg>
      <p:bgPr>
        <a:pattFill prst="smCheck">
          <a:fgClr>
            <a:srgbClr val="E8F4E9"/>
          </a:fgClr>
          <a:bgClr>
            <a:schemeClr val="bg1"/>
          </a:bgClr>
        </a:pattFill>
        <a:effectLst/>
      </p:bgPr>
    </p:bg>
    <p:spTree>
      <p:nvGrpSpPr>
        <p:cNvPr id="1" name=""/>
        <p:cNvGrpSpPr/>
        <p:nvPr/>
      </p:nvGrpSpPr>
      <p:grpSpPr>
        <a:xfrm>
          <a:off x="0" y="0"/>
          <a:ext cx="0" cy="0"/>
          <a:chOff x="0" y="0"/>
          <a:chExt cx="0" cy="0"/>
        </a:xfrm>
      </p:grpSpPr>
      <p:sp>
        <p:nvSpPr>
          <p:cNvPr id="2" name="矩形 1"/>
          <p:cNvSpPr>
            <a:spLocks noChangeAspect="1"/>
          </p:cNvSpPr>
          <p:nvPr/>
        </p:nvSpPr>
        <p:spPr>
          <a:xfrm>
            <a:off x="381000" y="1243879"/>
            <a:ext cx="11430000" cy="1212640"/>
          </a:xfrm>
          <a:prstGeom prst="rect">
            <a:avLst/>
          </a:prstGeom>
        </p:spPr>
        <p:txBody>
          <a:bodyPr>
            <a:spAutoFit/>
          </a:bodyPr>
          <a:lstStyle/>
          <a:p>
            <a:pPr indent="280670">
              <a:lnSpc>
                <a:spcPct val="130000"/>
              </a:lnSpc>
              <a:spcAft>
                <a:spcPts val="0"/>
              </a:spcAft>
              <a:tabLst>
                <a:tab pos="1188085" algn="l"/>
                <a:tab pos="2163445" algn="l"/>
                <a:tab pos="3142615" algn="l"/>
                <a:tab pos="4190365" algn="l"/>
              </a:tabLst>
            </a:pPr>
            <a:r>
              <a:rPr lang="en-US" altLang="zh-CN" sz="2800" b="1" dirty="0">
                <a:solidFill>
                  <a:srgbClr val="000000"/>
                </a:solidFill>
                <a:latin typeface="Times New Roman" panose="02020603050405020304" pitchFamily="18" charset="0"/>
                <a:cs typeface="Times New Roman" panose="02020603050405020304" pitchFamily="18" charset="0"/>
              </a:rPr>
              <a:t>3</a:t>
            </a:r>
            <a:r>
              <a:rPr lang="en-US" altLang="zh-CN" sz="2800" i="1" dirty="0" smtClean="0">
                <a:solidFill>
                  <a:srgbClr val="000000"/>
                </a:solidFill>
                <a:latin typeface="Times New Roman" panose="02020603050405020304" pitchFamily="18" charset="0"/>
                <a:cs typeface="Times New Roman" panose="02020603050405020304" pitchFamily="18" charset="0"/>
              </a:rPr>
              <a:t>.</a:t>
            </a:r>
            <a:r>
              <a:rPr lang="zh-CN" altLang="zh-CN" sz="2800" dirty="0" smtClean="0">
                <a:solidFill>
                  <a:srgbClr val="000000"/>
                </a:solidFill>
                <a:latin typeface="Times New Roman" panose="02020603050405020304" pitchFamily="18" charset="0"/>
                <a:cs typeface="Times New Roman" panose="02020603050405020304" pitchFamily="18" charset="0"/>
              </a:rPr>
              <a:t>已知</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b="1" dirty="0">
                <a:solidFill>
                  <a:srgbClr val="000000"/>
                </a:solidFill>
                <a:latin typeface="Times New Roman" panose="02020603050405020304" pitchFamily="18" charset="0"/>
                <a:cs typeface="Times New Roman" panose="02020603050405020304" pitchFamily="18" charset="0"/>
              </a:rPr>
              <a:t>a</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4,</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b="1" dirty="0">
                <a:solidFill>
                  <a:srgbClr val="000000"/>
                </a:solidFill>
                <a:latin typeface="Times New Roman" panose="02020603050405020304" pitchFamily="18" charset="0"/>
                <a:cs typeface="Times New Roman" panose="02020603050405020304" pitchFamily="18" charset="0"/>
              </a:rPr>
              <a:t>b</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6,</a:t>
            </a:r>
            <a:r>
              <a:rPr lang="en-US" altLang="zh-CN" sz="2800" b="1" dirty="0">
                <a:solidFill>
                  <a:srgbClr val="000000"/>
                </a:solidFill>
                <a:latin typeface="Times New Roman" panose="02020603050405020304" pitchFamily="18" charset="0"/>
                <a:cs typeface="Times New Roman" panose="02020603050405020304" pitchFamily="18" charset="0"/>
              </a:rPr>
              <a:t>a</a:t>
            </a:r>
            <a:r>
              <a:rPr lang="zh-CN" altLang="zh-CN" sz="2800" dirty="0">
                <a:solidFill>
                  <a:srgbClr val="000000"/>
                </a:solidFill>
                <a:latin typeface="Times New Roman" panose="02020603050405020304" pitchFamily="18" charset="0"/>
                <a:cs typeface="Times New Roman" panose="02020603050405020304" pitchFamily="18" charset="0"/>
              </a:rPr>
              <a:t>与</a:t>
            </a:r>
            <a:r>
              <a:rPr lang="en-US" altLang="zh-CN" sz="2800" b="1" dirty="0">
                <a:solidFill>
                  <a:srgbClr val="000000"/>
                </a:solidFill>
                <a:latin typeface="Times New Roman" panose="02020603050405020304" pitchFamily="18" charset="0"/>
                <a:cs typeface="Times New Roman" panose="02020603050405020304" pitchFamily="18" charset="0"/>
              </a:rPr>
              <a:t>b</a:t>
            </a:r>
            <a:r>
              <a:rPr lang="zh-CN" altLang="zh-CN" sz="2800" dirty="0">
                <a:solidFill>
                  <a:srgbClr val="000000"/>
                </a:solidFill>
                <a:latin typeface="Times New Roman" panose="02020603050405020304" pitchFamily="18" charset="0"/>
                <a:cs typeface="Times New Roman" panose="02020603050405020304" pitchFamily="18" charset="0"/>
              </a:rPr>
              <a:t>的夹角为</a:t>
            </a:r>
            <a:r>
              <a:rPr lang="en-US" altLang="zh-CN" sz="2800" dirty="0">
                <a:solidFill>
                  <a:srgbClr val="000000"/>
                </a:solidFill>
                <a:latin typeface="Times New Roman" panose="02020603050405020304" pitchFamily="18" charset="0"/>
                <a:cs typeface="Times New Roman" panose="02020603050405020304" pitchFamily="18" charset="0"/>
              </a:rPr>
              <a:t>60</a:t>
            </a:r>
            <a:r>
              <a:rPr lang="en-US" altLang="zh-CN" sz="2800" dirty="0">
                <a:solidFill>
                  <a:srgbClr val="000000"/>
                </a:solidFill>
                <a:latin typeface="宋体" panose="02010600030101010101" pitchFamily="2" charset="-122"/>
                <a:ea typeface="方正书宋_GBK" panose="03000509000000000000" pitchFamily="65" charset="-122"/>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则向量</a:t>
            </a:r>
            <a:r>
              <a:rPr lang="en-US" altLang="zh-CN" sz="2800" b="1" dirty="0">
                <a:solidFill>
                  <a:srgbClr val="000000"/>
                </a:solidFill>
                <a:latin typeface="Times New Roman" panose="02020603050405020304" pitchFamily="18" charset="0"/>
                <a:cs typeface="Times New Roman" panose="02020603050405020304" pitchFamily="18" charset="0"/>
              </a:rPr>
              <a:t>a</a:t>
            </a:r>
            <a:r>
              <a:rPr lang="zh-CN" altLang="zh-CN" sz="2800" dirty="0">
                <a:solidFill>
                  <a:srgbClr val="000000"/>
                </a:solidFill>
                <a:latin typeface="Times New Roman" panose="02020603050405020304" pitchFamily="18" charset="0"/>
                <a:cs typeface="Times New Roman" panose="02020603050405020304" pitchFamily="18" charset="0"/>
              </a:rPr>
              <a:t>在向量</a:t>
            </a:r>
            <a:r>
              <a:rPr lang="en-US" altLang="zh-CN" sz="2800" b="1" dirty="0">
                <a:solidFill>
                  <a:srgbClr val="000000"/>
                </a:solidFill>
                <a:latin typeface="Times New Roman" panose="02020603050405020304" pitchFamily="18" charset="0"/>
                <a:cs typeface="Times New Roman" panose="02020603050405020304" pitchFamily="18" charset="0"/>
              </a:rPr>
              <a:t>b</a:t>
            </a:r>
            <a:r>
              <a:rPr lang="zh-CN" altLang="zh-CN" sz="2800" dirty="0">
                <a:solidFill>
                  <a:srgbClr val="000000"/>
                </a:solidFill>
                <a:latin typeface="Times New Roman" panose="02020603050405020304" pitchFamily="18" charset="0"/>
                <a:cs typeface="Times New Roman" panose="02020603050405020304" pitchFamily="18" charset="0"/>
              </a:rPr>
              <a:t>上的投影向量是</a:t>
            </a:r>
            <a:r>
              <a:rPr lang="zh-CN" altLang="zh-CN" sz="2800" i="1" u="sng" dirty="0">
                <a:solidFill>
                  <a:srgbClr val="FF0000"/>
                </a:solidFill>
                <a:uFill>
                  <a:solidFill>
                    <a:srgbClr val="000000"/>
                  </a:solidFill>
                </a:uFill>
                <a:latin typeface="Times New Roman" panose="02020603050405020304" pitchFamily="18" charset="0"/>
                <a:cs typeface="Times New Roman" panose="02020603050405020304" pitchFamily="18" charset="0"/>
              </a:rPr>
              <a:t>　　　　　</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宋体" panose="02010600030101010101" pitchFamily="2" charset="-122"/>
                <a:ea typeface="方正书宋_GBK" panose="03000509000000000000" pitchFamily="65" charset="-122"/>
                <a:cs typeface="Times New Roman" panose="02020603050405020304" pitchFamily="18" charset="0"/>
              </a:rPr>
              <a:t> </a:t>
            </a:r>
            <a:endParaRPr lang="zh-CN" altLang="zh-CN" sz="2800" dirty="0">
              <a:solidFill>
                <a:srgbClr val="000000"/>
              </a:solidFill>
              <a:effectLst/>
              <a:latin typeface="NEU-BZ-S92"/>
              <a:ea typeface="方正书宋_GBK" panose="03000509000000000000" pitchFamily="65" charset="-122"/>
              <a:cs typeface="Times New Roman" panose="02020603050405020304" pitchFamily="18" charset="0"/>
            </a:endParaRPr>
          </a:p>
        </p:txBody>
      </p:sp>
      <p:graphicFrame>
        <p:nvGraphicFramePr>
          <p:cNvPr id="3" name="对象 2"/>
          <p:cNvGraphicFramePr>
            <a:graphicFrameLocks noChangeAspect="1"/>
          </p:cNvGraphicFramePr>
          <p:nvPr>
            <p:extLst>
              <p:ext uri="{D42A27DB-BD31-4B8C-83A1-F6EECF244321}">
                <p14:modId xmlns:p14="http://schemas.microsoft.com/office/powerpoint/2010/main" val="2839967541"/>
              </p:ext>
            </p:extLst>
          </p:nvPr>
        </p:nvGraphicFramePr>
        <p:xfrm>
          <a:off x="62346" y="2427419"/>
          <a:ext cx="11430000" cy="1005588"/>
        </p:xfrm>
        <a:graphic>
          <a:graphicData uri="http://schemas.openxmlformats.org/presentationml/2006/ole">
            <mc:AlternateContent xmlns:mc="http://schemas.openxmlformats.org/markup-compatibility/2006">
              <mc:Choice xmlns:v="urn:schemas-microsoft-com:vml" Requires="v">
                <p:oleObj spid="_x0000_s9270" name="文档" r:id="rId3" imgW="4510061" imgH="396786" progId="Word.Document.12">
                  <p:embed/>
                </p:oleObj>
              </mc:Choice>
              <mc:Fallback>
                <p:oleObj name="文档" r:id="rId3" imgW="4510061" imgH="396786" progId="Word.Document.12">
                  <p:embed/>
                  <p:pic>
                    <p:nvPicPr>
                      <p:cNvPr id="0" name=""/>
                      <p:cNvPicPr/>
                      <p:nvPr/>
                    </p:nvPicPr>
                    <p:blipFill>
                      <a:blip r:embed="rId4"/>
                      <a:stretch>
                        <a:fillRect/>
                      </a:stretch>
                    </p:blipFill>
                    <p:spPr>
                      <a:xfrm>
                        <a:off x="62346" y="2427419"/>
                        <a:ext cx="11430000" cy="1005588"/>
                      </a:xfrm>
                      <a:prstGeom prst="rect">
                        <a:avLst/>
                      </a:prstGeom>
                    </p:spPr>
                  </p:pic>
                </p:oleObj>
              </mc:Fallback>
            </mc:AlternateContent>
          </a:graphicData>
        </a:graphic>
      </p:graphicFrame>
      <p:graphicFrame>
        <p:nvGraphicFramePr>
          <p:cNvPr id="4" name="对象 3"/>
          <p:cNvGraphicFramePr>
            <a:graphicFrameLocks noChangeAspect="1"/>
          </p:cNvGraphicFramePr>
          <p:nvPr>
            <p:extLst>
              <p:ext uri="{D42A27DB-BD31-4B8C-83A1-F6EECF244321}">
                <p14:modId xmlns:p14="http://schemas.microsoft.com/office/powerpoint/2010/main" val="117230226"/>
              </p:ext>
            </p:extLst>
          </p:nvPr>
        </p:nvGraphicFramePr>
        <p:xfrm>
          <a:off x="62346" y="3284025"/>
          <a:ext cx="11430000" cy="1005588"/>
        </p:xfrm>
        <a:graphic>
          <a:graphicData uri="http://schemas.openxmlformats.org/presentationml/2006/ole">
            <mc:AlternateContent xmlns:mc="http://schemas.openxmlformats.org/markup-compatibility/2006">
              <mc:Choice xmlns:v="urn:schemas-microsoft-com:vml" Requires="v">
                <p:oleObj spid="_x0000_s9271" name="文档" r:id="rId5" imgW="4510061" imgH="396786" progId="Word.Document.12">
                  <p:embed/>
                </p:oleObj>
              </mc:Choice>
              <mc:Fallback>
                <p:oleObj name="文档" r:id="rId5" imgW="4510061" imgH="396786" progId="Word.Document.12">
                  <p:embed/>
                  <p:pic>
                    <p:nvPicPr>
                      <p:cNvPr id="0" name=""/>
                      <p:cNvPicPr/>
                      <p:nvPr/>
                    </p:nvPicPr>
                    <p:blipFill>
                      <a:blip r:embed="rId6"/>
                      <a:stretch>
                        <a:fillRect/>
                      </a:stretch>
                    </p:blipFill>
                    <p:spPr>
                      <a:xfrm>
                        <a:off x="62346" y="3284025"/>
                        <a:ext cx="11430000" cy="1005588"/>
                      </a:xfrm>
                      <a:prstGeom prst="rect">
                        <a:avLst/>
                      </a:prstGeom>
                    </p:spPr>
                  </p:pic>
                </p:oleObj>
              </mc:Fallback>
            </mc:AlternateContent>
          </a:graphicData>
        </a:graphic>
      </p:graphicFrame>
    </p:spTree>
    <p:extLst>
      <p:ext uri="{BB962C8B-B14F-4D97-AF65-F5344CB8AC3E}">
        <p14:creationId xmlns:p14="http://schemas.microsoft.com/office/powerpoint/2010/main" val="397389837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down)">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wipe(down)">
                                      <p:cBhvr>
                                        <p:cTn id="12"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bg>
      <p:bgPr>
        <a:pattFill prst="smCheck">
          <a:fgClr>
            <a:srgbClr val="E8F4E9"/>
          </a:fgClr>
          <a:bgClr>
            <a:schemeClr val="bg1"/>
          </a:bgClr>
        </a:pattFill>
        <a:effectLst/>
      </p:bgPr>
    </p:bg>
    <p:spTree>
      <p:nvGrpSpPr>
        <p:cNvPr id="1" name=""/>
        <p:cNvGrpSpPr/>
        <p:nvPr/>
      </p:nvGrpSpPr>
      <p:grpSpPr>
        <a:xfrm>
          <a:off x="0" y="0"/>
          <a:ext cx="0" cy="0"/>
          <a:chOff x="0" y="0"/>
          <a:chExt cx="0" cy="0"/>
        </a:xfrm>
      </p:grpSpPr>
      <p:grpSp>
        <p:nvGrpSpPr>
          <p:cNvPr id="5" name="组合 4"/>
          <p:cNvGrpSpPr/>
          <p:nvPr/>
        </p:nvGrpSpPr>
        <p:grpSpPr>
          <a:xfrm>
            <a:off x="41564" y="702541"/>
            <a:ext cx="11769436" cy="4766969"/>
            <a:chOff x="41564" y="702541"/>
            <a:chExt cx="11769436" cy="4766969"/>
          </a:xfrm>
        </p:grpSpPr>
        <p:sp>
          <p:nvSpPr>
            <p:cNvPr id="2" name="矩形 1"/>
            <p:cNvSpPr>
              <a:spLocks noChangeAspect="1"/>
            </p:cNvSpPr>
            <p:nvPr/>
          </p:nvSpPr>
          <p:spPr>
            <a:xfrm>
              <a:off x="381000" y="702541"/>
              <a:ext cx="11430000" cy="1712520"/>
            </a:xfrm>
            <a:prstGeom prst="rect">
              <a:avLst/>
            </a:prstGeom>
          </p:spPr>
          <p:txBody>
            <a:bodyPr>
              <a:spAutoFit/>
            </a:bodyPr>
            <a:lstStyle/>
            <a:p>
              <a:pPr indent="279400">
                <a:lnSpc>
                  <a:spcPct val="130000"/>
                </a:lnSpc>
                <a:spcAft>
                  <a:spcPts val="0"/>
                </a:spcAft>
                <a:tabLst>
                  <a:tab pos="1188085" algn="l"/>
                  <a:tab pos="2163445" algn="l"/>
                  <a:tab pos="3142615" algn="l"/>
                  <a:tab pos="4190365" algn="l"/>
                </a:tabLst>
              </a:pPr>
              <a:r>
                <a:rPr lang="zh-CN" altLang="zh-CN" sz="2800" dirty="0">
                  <a:solidFill>
                    <a:srgbClr val="000000"/>
                  </a:solidFill>
                  <a:latin typeface="Arial" panose="020B0604020202020204" pitchFamily="34" charset="0"/>
                  <a:ea typeface="黑体" panose="02010609060101010101" pitchFamily="49" charset="-122"/>
                  <a:cs typeface="Times New Roman" panose="02020603050405020304" pitchFamily="18" charset="0"/>
                </a:rPr>
                <a:t>【思考辨析】</a:t>
              </a:r>
              <a:r>
                <a:rPr lang="zh-CN" altLang="zh-CN" sz="2800" dirty="0">
                  <a:solidFill>
                    <a:srgbClr val="000000"/>
                  </a:solidFill>
                  <a:latin typeface="NEU-BZ-S92"/>
                  <a:ea typeface="Arial" panose="020B0604020202020204" pitchFamily="34" charset="0"/>
                  <a:cs typeface="Times New Roman" panose="02020603050405020304" pitchFamily="18" charset="0"/>
                </a:rPr>
                <a:t> </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zh-CN" altLang="zh-CN" sz="2800" dirty="0">
                  <a:solidFill>
                    <a:srgbClr val="000000"/>
                  </a:solidFill>
                  <a:latin typeface="Times New Roman" panose="02020603050405020304" pitchFamily="18" charset="0"/>
                  <a:cs typeface="Times New Roman" panose="02020603050405020304" pitchFamily="18" charset="0"/>
                </a:rPr>
                <a:t>判断下列说法是否正确</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正确的在后面的括号内画</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Cambria Math" panose="02040503050406030204" pitchFamily="18" charset="0"/>
                  <a:ea typeface="NEU-BZ-S92"/>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错误的画</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en-US" altLang="zh-CN" sz="28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&lt;</a:t>
              </a:r>
              <a:r>
                <a:rPr lang="en-US" altLang="zh-CN" sz="2800" b="1" dirty="0" err="1">
                  <a:solidFill>
                    <a:srgbClr val="000000"/>
                  </a:solidFill>
                  <a:latin typeface="Times New Roman" panose="02020603050405020304" pitchFamily="18" charset="0"/>
                  <a:cs typeface="Times New Roman" panose="02020603050405020304" pitchFamily="18" charset="0"/>
                </a:rPr>
                <a:t>a</a:t>
              </a:r>
              <a:r>
                <a:rPr lang="en-US" altLang="zh-CN" sz="2800" dirty="0" err="1">
                  <a:solidFill>
                    <a:srgbClr val="000000"/>
                  </a:solidFill>
                  <a:latin typeface="Times New Roman" panose="02020603050405020304" pitchFamily="18" charset="0"/>
                  <a:cs typeface="Times New Roman" panose="02020603050405020304" pitchFamily="18" charset="0"/>
                </a:rPr>
                <a:t>,</a:t>
              </a:r>
              <a:r>
                <a:rPr lang="en-US" altLang="zh-CN" sz="2800" b="1" dirty="0" err="1">
                  <a:solidFill>
                    <a:srgbClr val="000000"/>
                  </a:solidFill>
                  <a:latin typeface="Times New Roman" panose="02020603050405020304" pitchFamily="18" charset="0"/>
                  <a:cs typeface="Times New Roman" panose="02020603050405020304" pitchFamily="18" charset="0"/>
                </a:rPr>
                <a:t>b</a:t>
              </a:r>
              <a:r>
                <a:rPr lang="en-US" altLang="zh-CN" sz="2800" i="1" dirty="0">
                  <a:solidFill>
                    <a:srgbClr val="000000"/>
                  </a:solidFill>
                  <a:latin typeface="Times New Roman" panose="02020603050405020304" pitchFamily="18" charset="0"/>
                  <a:cs typeface="Times New Roman" panose="02020603050405020304" pitchFamily="18" charset="0"/>
                </a:rPr>
                <a:t>&gt;=&lt;</a:t>
              </a:r>
              <a:r>
                <a:rPr lang="en-US" altLang="zh-CN" sz="2800" b="1" dirty="0" err="1">
                  <a:solidFill>
                    <a:srgbClr val="000000"/>
                  </a:solidFill>
                  <a:latin typeface="Times New Roman" panose="02020603050405020304" pitchFamily="18" charset="0"/>
                  <a:cs typeface="Times New Roman" panose="02020603050405020304" pitchFamily="18" charset="0"/>
                </a:rPr>
                <a:t>b</a:t>
              </a:r>
              <a:r>
                <a:rPr lang="en-US" altLang="zh-CN" sz="2800" dirty="0" err="1">
                  <a:solidFill>
                    <a:srgbClr val="000000"/>
                  </a:solidFill>
                  <a:latin typeface="Times New Roman" panose="02020603050405020304" pitchFamily="18" charset="0"/>
                  <a:cs typeface="Times New Roman" panose="02020603050405020304" pitchFamily="18" charset="0"/>
                </a:rPr>
                <a:t>,</a:t>
              </a:r>
              <a:r>
                <a:rPr lang="en-US" altLang="zh-CN" sz="2800" b="1" dirty="0" err="1">
                  <a:solidFill>
                    <a:srgbClr val="000000"/>
                  </a:solidFill>
                  <a:latin typeface="Times New Roman" panose="02020603050405020304" pitchFamily="18" charset="0"/>
                  <a:cs typeface="Times New Roman" panose="02020603050405020304" pitchFamily="18" charset="0"/>
                </a:rPr>
                <a:t>a</a:t>
              </a:r>
              <a:r>
                <a:rPr lang="en-US" altLang="zh-CN" sz="2800" i="1" dirty="0">
                  <a:solidFill>
                    <a:srgbClr val="000000"/>
                  </a:solidFill>
                  <a:latin typeface="Times New Roman" panose="02020603050405020304" pitchFamily="18" charset="0"/>
                  <a:cs typeface="Times New Roman" panose="02020603050405020304" pitchFamily="18" charset="0"/>
                </a:rPr>
                <a:t>&gt;.</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FF0000"/>
                  </a:solidFill>
                  <a:latin typeface="Cambria Math" panose="02040503050406030204" pitchFamily="18" charset="0"/>
                  <a:cs typeface="Times New Roman" panose="02020603050405020304" pitchFamily="18" charset="0"/>
                </a:rPr>
                <a:t>  √  </a:t>
              </a:r>
              <a:r>
                <a:rPr lang="en-US" altLang="zh-CN" sz="2800"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effectLst/>
                <a:latin typeface="NEU-BZ-S92"/>
                <a:ea typeface="方正书宋_GBK" panose="03000509000000000000" pitchFamily="65" charset="-122"/>
                <a:cs typeface="Times New Roman" panose="02020603050405020304" pitchFamily="18" charset="0"/>
              </a:endParaRPr>
            </a:p>
          </p:txBody>
        </p:sp>
        <p:graphicFrame>
          <p:nvGraphicFramePr>
            <p:cNvPr id="3" name="对象 2"/>
            <p:cNvGraphicFramePr>
              <a:graphicFrameLocks noChangeAspect="1"/>
            </p:cNvGraphicFramePr>
            <p:nvPr>
              <p:extLst>
                <p:ext uri="{D42A27DB-BD31-4B8C-83A1-F6EECF244321}">
                  <p14:modId xmlns:p14="http://schemas.microsoft.com/office/powerpoint/2010/main" val="1540760034"/>
                </p:ext>
              </p:extLst>
            </p:nvPr>
          </p:nvGraphicFramePr>
          <p:xfrm>
            <a:off x="41564" y="2322543"/>
            <a:ext cx="11430000" cy="1005588"/>
          </p:xfrm>
          <a:graphic>
            <a:graphicData uri="http://schemas.openxmlformats.org/presentationml/2006/ole">
              <mc:AlternateContent xmlns:mc="http://schemas.openxmlformats.org/markup-compatibility/2006">
                <mc:Choice xmlns:v="urn:schemas-microsoft-com:vml" Requires="v">
                  <p:oleObj spid="_x0000_s10268" name="文档" r:id="rId3" imgW="4510061" imgH="397147" progId="Word.Document.12">
                    <p:embed/>
                  </p:oleObj>
                </mc:Choice>
                <mc:Fallback>
                  <p:oleObj name="文档" r:id="rId3" imgW="4510061" imgH="397147" progId="Word.Document.12">
                    <p:embed/>
                    <p:pic>
                      <p:nvPicPr>
                        <p:cNvPr id="0" name=""/>
                        <p:cNvPicPr/>
                        <p:nvPr/>
                      </p:nvPicPr>
                      <p:blipFill>
                        <a:blip r:embed="rId4"/>
                        <a:stretch>
                          <a:fillRect/>
                        </a:stretch>
                      </p:blipFill>
                      <p:spPr>
                        <a:xfrm>
                          <a:off x="41564" y="2322543"/>
                          <a:ext cx="11430000" cy="1005588"/>
                        </a:xfrm>
                        <a:prstGeom prst="rect">
                          <a:avLst/>
                        </a:prstGeom>
                      </p:spPr>
                    </p:pic>
                  </p:oleObj>
                </mc:Fallback>
              </mc:AlternateContent>
            </a:graphicData>
          </a:graphic>
        </p:graphicFrame>
        <p:sp>
          <p:nvSpPr>
            <p:cNvPr id="4" name="矩形 3"/>
            <p:cNvSpPr>
              <a:spLocks noChangeAspect="1"/>
            </p:cNvSpPr>
            <p:nvPr/>
          </p:nvSpPr>
          <p:spPr>
            <a:xfrm>
              <a:off x="381000" y="3196837"/>
              <a:ext cx="11430000" cy="2272673"/>
            </a:xfrm>
            <a:prstGeom prst="rect">
              <a:avLst/>
            </a:prstGeom>
          </p:spPr>
          <p:txBody>
            <a:bodyPr>
              <a:spAutoFit/>
            </a:bodyPr>
            <a:lstStyle/>
            <a:p>
              <a:pPr indent="279400">
                <a:lnSpc>
                  <a:spcPct val="130000"/>
                </a:lnSpc>
                <a:spcAft>
                  <a:spcPts val="0"/>
                </a:spcAft>
                <a:tabLst>
                  <a:tab pos="1188085" algn="l"/>
                  <a:tab pos="2163445" algn="l"/>
                  <a:tab pos="3142615" algn="l"/>
                  <a:tab pos="4190365" algn="l"/>
                </a:tabLst>
              </a:pPr>
              <a:r>
                <a:rPr lang="en-US" altLang="zh-CN" sz="2800" dirty="0">
                  <a:solidFill>
                    <a:srgbClr val="000000"/>
                  </a:solidFill>
                  <a:latin typeface="Times New Roman" panose="02020603050405020304" pitchFamily="18" charset="0"/>
                  <a:cs typeface="Times New Roman" panose="02020603050405020304" pitchFamily="18" charset="0"/>
                </a:rPr>
                <a:t>(3)</a:t>
              </a:r>
              <a:r>
                <a:rPr lang="zh-CN" altLang="zh-CN" sz="2800" dirty="0">
                  <a:solidFill>
                    <a:srgbClr val="000000"/>
                  </a:solidFill>
                  <a:latin typeface="Times New Roman" panose="02020603050405020304" pitchFamily="18" charset="0"/>
                  <a:cs typeface="Times New Roman" panose="02020603050405020304" pitchFamily="18" charset="0"/>
                </a:rPr>
                <a:t>若</a:t>
              </a:r>
              <a:r>
                <a:rPr lang="en-US" altLang="zh-CN" sz="2800" b="1" dirty="0" err="1">
                  <a:solidFill>
                    <a:srgbClr val="000000"/>
                  </a:solidFill>
                  <a:latin typeface="Times New Roman" panose="02020603050405020304" pitchFamily="18" charset="0"/>
                  <a:cs typeface="Times New Roman" panose="02020603050405020304" pitchFamily="18" charset="0"/>
                </a:rPr>
                <a:t>a</a:t>
              </a:r>
              <a:r>
                <a:rPr lang="en-US" altLang="zh-CN" sz="2800" dirty="0" err="1">
                  <a:solidFill>
                    <a:srgbClr val="000000"/>
                  </a:solidFill>
                  <a:latin typeface="Times New Roman" panose="02020603050405020304" pitchFamily="18" charset="0"/>
                  <a:cs typeface="Times New Roman" panose="02020603050405020304" pitchFamily="18" charset="0"/>
                </a:rPr>
                <a:t>,</a:t>
              </a:r>
              <a:r>
                <a:rPr lang="en-US" altLang="zh-CN" sz="2800" b="1" dirty="0" err="1">
                  <a:solidFill>
                    <a:srgbClr val="000000"/>
                  </a:solidFill>
                  <a:latin typeface="Times New Roman" panose="02020603050405020304" pitchFamily="18" charset="0"/>
                  <a:cs typeface="Times New Roman" panose="02020603050405020304" pitchFamily="18" charset="0"/>
                </a:rPr>
                <a:t>b</a:t>
              </a:r>
              <a:r>
                <a:rPr lang="zh-CN" altLang="zh-CN" sz="2800" dirty="0">
                  <a:solidFill>
                    <a:srgbClr val="000000"/>
                  </a:solidFill>
                  <a:latin typeface="Times New Roman" panose="02020603050405020304" pitchFamily="18" charset="0"/>
                  <a:cs typeface="Times New Roman" panose="02020603050405020304" pitchFamily="18" charset="0"/>
                </a:rPr>
                <a:t>均为非零向量</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则</a:t>
              </a:r>
              <a:r>
                <a:rPr lang="en-US" altLang="zh-CN" sz="2800" b="1" dirty="0" err="1">
                  <a:solidFill>
                    <a:srgbClr val="000000"/>
                  </a:solidFill>
                  <a:latin typeface="Times New Roman" panose="02020603050405020304" pitchFamily="18" charset="0"/>
                  <a:cs typeface="Times New Roman" panose="02020603050405020304" pitchFamily="18" charset="0"/>
                </a:rPr>
                <a:t>a</a:t>
              </a:r>
              <a:r>
                <a:rPr lang="en-US" altLang="zh-CN" sz="2800" dirty="0" err="1">
                  <a:solidFill>
                    <a:srgbClr val="000000"/>
                  </a:solidFill>
                  <a:latin typeface="Times New Roman" panose="02020603050405020304" pitchFamily="18" charset="0"/>
                  <a:cs typeface="Times New Roman" panose="02020603050405020304" pitchFamily="18" charset="0"/>
                </a:rPr>
                <a:t>·</a:t>
              </a:r>
              <a:r>
                <a:rPr lang="en-US" altLang="zh-CN" sz="2800" b="1" dirty="0" err="1">
                  <a:solidFill>
                    <a:srgbClr val="000000"/>
                  </a:solidFill>
                  <a:latin typeface="Times New Roman" panose="02020603050405020304" pitchFamily="18" charset="0"/>
                  <a:cs typeface="Times New Roman" panose="02020603050405020304" pitchFamily="18" charset="0"/>
                </a:rPr>
                <a:t>b</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b="1" dirty="0">
                  <a:solidFill>
                    <a:srgbClr val="000000"/>
                  </a:solidFill>
                  <a:latin typeface="Times New Roman" panose="02020603050405020304" pitchFamily="18" charset="0"/>
                  <a:cs typeface="Times New Roman" panose="02020603050405020304" pitchFamily="18" charset="0"/>
                </a:rPr>
                <a:t>a</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b="1" dirty="0">
                  <a:solidFill>
                    <a:srgbClr val="000000"/>
                  </a:solidFill>
                  <a:latin typeface="Times New Roman" panose="02020603050405020304" pitchFamily="18" charset="0"/>
                  <a:cs typeface="Times New Roman" panose="02020603050405020304" pitchFamily="18" charset="0"/>
                </a:rPr>
                <a:t>b</a:t>
              </a:r>
              <a:r>
                <a:rPr lang="en-US" altLang="zh-CN" sz="2800" i="1"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是</a:t>
              </a:r>
              <a:r>
                <a:rPr lang="en-US" altLang="zh-CN" sz="2800" b="1" dirty="0">
                  <a:solidFill>
                    <a:srgbClr val="000000"/>
                  </a:solidFill>
                  <a:latin typeface="Times New Roman" panose="02020603050405020304" pitchFamily="18" charset="0"/>
                  <a:cs typeface="Times New Roman" panose="02020603050405020304" pitchFamily="18" charset="0"/>
                </a:rPr>
                <a:t>a</a:t>
              </a:r>
              <a:r>
                <a:rPr lang="zh-CN" altLang="zh-CN" sz="2800" dirty="0">
                  <a:solidFill>
                    <a:srgbClr val="000000"/>
                  </a:solidFill>
                  <a:latin typeface="Times New Roman" panose="02020603050405020304" pitchFamily="18" charset="0"/>
                  <a:cs typeface="Times New Roman" panose="02020603050405020304" pitchFamily="18" charset="0"/>
                </a:rPr>
                <a:t>与</a:t>
              </a:r>
              <a:r>
                <a:rPr lang="en-US" altLang="zh-CN" sz="2800" b="1" dirty="0">
                  <a:solidFill>
                    <a:srgbClr val="000000"/>
                  </a:solidFill>
                  <a:latin typeface="Times New Roman" panose="02020603050405020304" pitchFamily="18" charset="0"/>
                  <a:cs typeface="Times New Roman" panose="02020603050405020304" pitchFamily="18" charset="0"/>
                </a:rPr>
                <a:t>b</a:t>
              </a:r>
              <a:r>
                <a:rPr lang="zh-CN" altLang="zh-CN" sz="2800" dirty="0">
                  <a:solidFill>
                    <a:srgbClr val="000000"/>
                  </a:solidFill>
                  <a:latin typeface="Times New Roman" panose="02020603050405020304" pitchFamily="18" charset="0"/>
                  <a:cs typeface="Times New Roman" panose="02020603050405020304" pitchFamily="18" charset="0"/>
                </a:rPr>
                <a:t>共线的充要条件</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FF0000"/>
                  </a:solidFill>
                  <a:latin typeface="Times New Roman" panose="02020603050405020304" pitchFamily="18" charset="0"/>
                  <a:cs typeface="Times New Roman" panose="02020603050405020304" pitchFamily="18" charset="0"/>
                </a:rPr>
                <a:t>  ×  </a:t>
              </a:r>
              <a:r>
                <a:rPr lang="en-US" altLang="zh-CN" sz="2800"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en-US" altLang="zh-CN" sz="2800" dirty="0">
                  <a:solidFill>
                    <a:srgbClr val="000000"/>
                  </a:solidFill>
                  <a:latin typeface="Times New Roman" panose="02020603050405020304" pitchFamily="18" charset="0"/>
                  <a:cs typeface="Times New Roman" panose="02020603050405020304" pitchFamily="18" charset="0"/>
                </a:rPr>
                <a:t>(4)</a:t>
              </a:r>
              <a:r>
                <a:rPr lang="zh-CN" altLang="zh-CN" sz="2800" dirty="0">
                  <a:solidFill>
                    <a:srgbClr val="000000"/>
                  </a:solidFill>
                  <a:latin typeface="Times New Roman" panose="02020603050405020304" pitchFamily="18" charset="0"/>
                  <a:cs typeface="Times New Roman" panose="02020603050405020304" pitchFamily="18" charset="0"/>
                </a:rPr>
                <a:t>对于向量</a:t>
              </a:r>
              <a:r>
                <a:rPr lang="en-US" altLang="zh-CN" sz="2800" b="1" dirty="0" err="1">
                  <a:solidFill>
                    <a:srgbClr val="000000"/>
                  </a:solidFill>
                  <a:latin typeface="Times New Roman" panose="02020603050405020304" pitchFamily="18" charset="0"/>
                  <a:cs typeface="Times New Roman" panose="02020603050405020304" pitchFamily="18" charset="0"/>
                </a:rPr>
                <a:t>a</a:t>
              </a:r>
              <a:r>
                <a:rPr lang="en-US" altLang="zh-CN" sz="2800" dirty="0" err="1">
                  <a:solidFill>
                    <a:srgbClr val="000000"/>
                  </a:solidFill>
                  <a:latin typeface="Times New Roman" panose="02020603050405020304" pitchFamily="18" charset="0"/>
                  <a:cs typeface="Times New Roman" panose="02020603050405020304" pitchFamily="18" charset="0"/>
                </a:rPr>
                <a:t>,</a:t>
              </a:r>
              <a:r>
                <a:rPr lang="en-US" altLang="zh-CN" sz="2800" b="1" dirty="0" err="1">
                  <a:solidFill>
                    <a:srgbClr val="000000"/>
                  </a:solidFill>
                  <a:latin typeface="Times New Roman" panose="02020603050405020304" pitchFamily="18" charset="0"/>
                  <a:cs typeface="Times New Roman" panose="02020603050405020304" pitchFamily="18" charset="0"/>
                </a:rPr>
                <a:t>b</a:t>
              </a:r>
              <a:r>
                <a:rPr lang="en-US" altLang="zh-CN" sz="2800" dirty="0" err="1">
                  <a:solidFill>
                    <a:srgbClr val="000000"/>
                  </a:solidFill>
                  <a:latin typeface="Times New Roman" panose="02020603050405020304" pitchFamily="18" charset="0"/>
                  <a:cs typeface="Times New Roman" panose="02020603050405020304" pitchFamily="18" charset="0"/>
                </a:rPr>
                <a:t>,</a:t>
              </a:r>
              <a:r>
                <a:rPr lang="en-US" altLang="zh-CN" sz="2800" b="1" dirty="0" err="1">
                  <a:solidFill>
                    <a:srgbClr val="000000"/>
                  </a:solidFill>
                  <a:latin typeface="Times New Roman" panose="02020603050405020304" pitchFamily="18" charset="0"/>
                  <a:cs typeface="Times New Roman" panose="02020603050405020304" pitchFamily="18" charset="0"/>
                </a:rPr>
                <a:t>c</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若</a:t>
              </a:r>
              <a:r>
                <a:rPr lang="en-US" altLang="zh-CN" sz="2800" b="1" dirty="0" err="1">
                  <a:solidFill>
                    <a:srgbClr val="000000"/>
                  </a:solidFill>
                  <a:latin typeface="Times New Roman" panose="02020603050405020304" pitchFamily="18" charset="0"/>
                  <a:cs typeface="Times New Roman" panose="02020603050405020304" pitchFamily="18" charset="0"/>
                </a:rPr>
                <a:t>a</a:t>
              </a:r>
              <a:r>
                <a:rPr lang="en-US" altLang="zh-CN" sz="2800" dirty="0" err="1">
                  <a:solidFill>
                    <a:srgbClr val="000000"/>
                  </a:solidFill>
                  <a:latin typeface="Times New Roman" panose="02020603050405020304" pitchFamily="18" charset="0"/>
                  <a:cs typeface="Times New Roman" panose="02020603050405020304" pitchFamily="18" charset="0"/>
                </a:rPr>
                <a:t>·</a:t>
              </a:r>
              <a:r>
                <a:rPr lang="en-US" altLang="zh-CN" sz="2800" b="1" dirty="0" err="1">
                  <a:solidFill>
                    <a:srgbClr val="000000"/>
                  </a:solidFill>
                  <a:latin typeface="Times New Roman" panose="02020603050405020304" pitchFamily="18" charset="0"/>
                  <a:cs typeface="Times New Roman" panose="02020603050405020304" pitchFamily="18" charset="0"/>
                </a:rPr>
                <a:t>b</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b="1" dirty="0" err="1">
                  <a:solidFill>
                    <a:srgbClr val="000000"/>
                  </a:solidFill>
                  <a:latin typeface="Times New Roman" panose="02020603050405020304" pitchFamily="18" charset="0"/>
                  <a:cs typeface="Times New Roman" panose="02020603050405020304" pitchFamily="18" charset="0"/>
                </a:rPr>
                <a:t>a</a:t>
              </a:r>
              <a:r>
                <a:rPr lang="en-US" altLang="zh-CN" sz="2800" dirty="0" err="1">
                  <a:solidFill>
                    <a:srgbClr val="000000"/>
                  </a:solidFill>
                  <a:latin typeface="Times New Roman" panose="02020603050405020304" pitchFamily="18" charset="0"/>
                  <a:cs typeface="Times New Roman" panose="02020603050405020304" pitchFamily="18" charset="0"/>
                </a:rPr>
                <a:t>·</a:t>
              </a:r>
              <a:r>
                <a:rPr lang="en-US" altLang="zh-CN" sz="2800" b="1" dirty="0" err="1">
                  <a:solidFill>
                    <a:srgbClr val="000000"/>
                  </a:solidFill>
                  <a:latin typeface="Times New Roman" panose="02020603050405020304" pitchFamily="18" charset="0"/>
                  <a:cs typeface="Times New Roman" panose="02020603050405020304" pitchFamily="18" charset="0"/>
                </a:rPr>
                <a:t>c</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则</a:t>
              </a:r>
              <a:r>
                <a:rPr lang="en-US" altLang="zh-CN" sz="2800" b="1" dirty="0">
                  <a:solidFill>
                    <a:srgbClr val="000000"/>
                  </a:solidFill>
                  <a:latin typeface="Times New Roman" panose="02020603050405020304" pitchFamily="18" charset="0"/>
                  <a:cs typeface="Times New Roman" panose="02020603050405020304" pitchFamily="18" charset="0"/>
                </a:rPr>
                <a:t>b</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b="1" dirty="0">
                  <a:solidFill>
                    <a:srgbClr val="000000"/>
                  </a:solidFill>
                  <a:latin typeface="Times New Roman" panose="02020603050405020304" pitchFamily="18" charset="0"/>
                  <a:cs typeface="Times New Roman" panose="02020603050405020304" pitchFamily="18" charset="0"/>
                </a:rPr>
                <a:t>c</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FF0000"/>
                  </a:solidFill>
                  <a:latin typeface="Times New Roman" panose="02020603050405020304" pitchFamily="18" charset="0"/>
                  <a:cs typeface="Times New Roman" panose="02020603050405020304" pitchFamily="18" charset="0"/>
                </a:rPr>
                <a:t>  ×  </a:t>
              </a:r>
              <a:r>
                <a:rPr lang="en-US" altLang="zh-CN" sz="2800"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en-US" altLang="zh-CN" sz="2800" dirty="0">
                  <a:solidFill>
                    <a:srgbClr val="000000"/>
                  </a:solidFill>
                  <a:latin typeface="Times New Roman" panose="02020603050405020304" pitchFamily="18" charset="0"/>
                  <a:cs typeface="Times New Roman" panose="02020603050405020304" pitchFamily="18" charset="0"/>
                </a:rPr>
                <a:t>(5)</a:t>
              </a:r>
              <a:r>
                <a:rPr lang="zh-CN" altLang="zh-CN" sz="2800" dirty="0">
                  <a:solidFill>
                    <a:srgbClr val="000000"/>
                  </a:solidFill>
                  <a:latin typeface="Times New Roman" panose="02020603050405020304" pitchFamily="18" charset="0"/>
                  <a:cs typeface="Times New Roman" panose="02020603050405020304" pitchFamily="18" charset="0"/>
                </a:rPr>
                <a:t>对于向量</a:t>
              </a:r>
              <a:r>
                <a:rPr lang="en-US" altLang="zh-CN" sz="2800" b="1" dirty="0" err="1">
                  <a:solidFill>
                    <a:srgbClr val="000000"/>
                  </a:solidFill>
                  <a:latin typeface="Times New Roman" panose="02020603050405020304" pitchFamily="18" charset="0"/>
                  <a:cs typeface="Times New Roman" panose="02020603050405020304" pitchFamily="18" charset="0"/>
                </a:rPr>
                <a:t>a</a:t>
              </a:r>
              <a:r>
                <a:rPr lang="en-US" altLang="zh-CN" sz="2800" dirty="0" err="1">
                  <a:solidFill>
                    <a:srgbClr val="000000"/>
                  </a:solidFill>
                  <a:latin typeface="Times New Roman" panose="02020603050405020304" pitchFamily="18" charset="0"/>
                  <a:cs typeface="Times New Roman" panose="02020603050405020304" pitchFamily="18" charset="0"/>
                </a:rPr>
                <a:t>,</a:t>
              </a:r>
              <a:r>
                <a:rPr lang="en-US" altLang="zh-CN" sz="2800" b="1" dirty="0" err="1">
                  <a:solidFill>
                    <a:srgbClr val="000000"/>
                  </a:solidFill>
                  <a:latin typeface="Times New Roman" panose="02020603050405020304" pitchFamily="18" charset="0"/>
                  <a:cs typeface="Times New Roman" panose="02020603050405020304" pitchFamily="18" charset="0"/>
                </a:rPr>
                <a:t>b</a:t>
              </a:r>
              <a:r>
                <a:rPr lang="en-US" altLang="zh-CN" sz="2800" dirty="0" err="1">
                  <a:solidFill>
                    <a:srgbClr val="000000"/>
                  </a:solidFill>
                  <a:latin typeface="Times New Roman" panose="02020603050405020304" pitchFamily="18" charset="0"/>
                  <a:cs typeface="Times New Roman" panose="02020603050405020304" pitchFamily="18" charset="0"/>
                </a:rPr>
                <a:t>,</a:t>
              </a:r>
              <a:r>
                <a:rPr lang="en-US" altLang="zh-CN" sz="2800" b="1" dirty="0" err="1">
                  <a:solidFill>
                    <a:srgbClr val="000000"/>
                  </a:solidFill>
                  <a:latin typeface="Times New Roman" panose="02020603050405020304" pitchFamily="18" charset="0"/>
                  <a:cs typeface="Times New Roman" panose="02020603050405020304" pitchFamily="18" charset="0"/>
                </a:rPr>
                <a:t>c</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b="1" dirty="0" err="1">
                  <a:solidFill>
                    <a:srgbClr val="000000"/>
                  </a:solidFill>
                  <a:latin typeface="Times New Roman" panose="02020603050405020304" pitchFamily="18" charset="0"/>
                  <a:cs typeface="Times New Roman" panose="02020603050405020304" pitchFamily="18" charset="0"/>
                </a:rPr>
                <a:t>a</a:t>
              </a:r>
              <a:r>
                <a:rPr lang="en-US" altLang="zh-CN" sz="2800" dirty="0" err="1">
                  <a:solidFill>
                    <a:srgbClr val="000000"/>
                  </a:solidFill>
                  <a:latin typeface="Times New Roman" panose="02020603050405020304" pitchFamily="18" charset="0"/>
                  <a:cs typeface="Times New Roman" panose="02020603050405020304" pitchFamily="18" charset="0"/>
                </a:rPr>
                <a:t>·</a:t>
              </a:r>
              <a:r>
                <a:rPr lang="en-US" altLang="zh-CN" sz="2800" b="1" dirty="0" err="1">
                  <a:solidFill>
                    <a:srgbClr val="000000"/>
                  </a:solidFill>
                  <a:latin typeface="Times New Roman" panose="02020603050405020304" pitchFamily="18" charset="0"/>
                  <a:cs typeface="Times New Roman" panose="02020603050405020304" pitchFamily="18" charset="0"/>
                </a:rPr>
                <a:t>b</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b="1" dirty="0">
                  <a:solidFill>
                    <a:srgbClr val="000000"/>
                  </a:solidFill>
                  <a:latin typeface="Times New Roman" panose="02020603050405020304" pitchFamily="18" charset="0"/>
                  <a:cs typeface="Times New Roman" panose="02020603050405020304" pitchFamily="18" charset="0"/>
                </a:rPr>
                <a:t>c</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b="1" dirty="0">
                  <a:solidFill>
                    <a:srgbClr val="000000"/>
                  </a:solidFill>
                  <a:latin typeface="Times New Roman" panose="02020603050405020304" pitchFamily="18" charset="0"/>
                  <a:cs typeface="Times New Roman" panose="02020603050405020304" pitchFamily="18" charset="0"/>
                </a:rPr>
                <a:t>a</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b="1" dirty="0" err="1">
                  <a:solidFill>
                    <a:srgbClr val="000000"/>
                  </a:solidFill>
                  <a:latin typeface="Times New Roman" panose="02020603050405020304" pitchFamily="18" charset="0"/>
                  <a:cs typeface="Times New Roman" panose="02020603050405020304" pitchFamily="18" charset="0"/>
                </a:rPr>
                <a:t>b</a:t>
              </a:r>
              <a:r>
                <a:rPr lang="en-US" altLang="zh-CN" sz="2800" dirty="0" err="1">
                  <a:solidFill>
                    <a:srgbClr val="000000"/>
                  </a:solidFill>
                  <a:latin typeface="Times New Roman" panose="02020603050405020304" pitchFamily="18" charset="0"/>
                  <a:cs typeface="Times New Roman" panose="02020603050405020304" pitchFamily="18" charset="0"/>
                </a:rPr>
                <a:t>·</a:t>
              </a:r>
              <a:r>
                <a:rPr lang="en-US" altLang="zh-CN" sz="2800" b="1" dirty="0" err="1">
                  <a:solidFill>
                    <a:srgbClr val="000000"/>
                  </a:solidFill>
                  <a:latin typeface="Times New Roman" panose="02020603050405020304" pitchFamily="18" charset="0"/>
                  <a:cs typeface="Times New Roman" panose="02020603050405020304" pitchFamily="18" charset="0"/>
                </a:rPr>
                <a:t>c</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FF0000"/>
                  </a:solidFill>
                  <a:latin typeface="Times New Roman" panose="02020603050405020304" pitchFamily="18" charset="0"/>
                  <a:cs typeface="Times New Roman" panose="02020603050405020304" pitchFamily="18" charset="0"/>
                </a:rPr>
                <a:t>  ×  </a:t>
              </a:r>
              <a:r>
                <a:rPr lang="en-US" altLang="zh-CN" sz="2800"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en-US" altLang="zh-CN" sz="2800" dirty="0">
                  <a:solidFill>
                    <a:srgbClr val="000000"/>
                  </a:solidFill>
                  <a:latin typeface="Times New Roman" panose="02020603050405020304" pitchFamily="18" charset="0"/>
                  <a:cs typeface="Times New Roman" panose="02020603050405020304" pitchFamily="18" charset="0"/>
                </a:rPr>
                <a:t>(6)</a:t>
              </a:r>
              <a:r>
                <a:rPr lang="zh-CN" altLang="zh-CN" sz="2800" dirty="0">
                  <a:solidFill>
                    <a:srgbClr val="000000"/>
                  </a:solidFill>
                  <a:latin typeface="Times New Roman" panose="02020603050405020304" pitchFamily="18" charset="0"/>
                  <a:cs typeface="Times New Roman" panose="02020603050405020304" pitchFamily="18" charset="0"/>
                </a:rPr>
                <a:t>向量</a:t>
              </a:r>
              <a:r>
                <a:rPr lang="en-US" altLang="zh-CN" sz="2800" b="1" dirty="0">
                  <a:solidFill>
                    <a:srgbClr val="000000"/>
                  </a:solidFill>
                  <a:latin typeface="Times New Roman" panose="02020603050405020304" pitchFamily="18" charset="0"/>
                  <a:cs typeface="Times New Roman" panose="02020603050405020304" pitchFamily="18" charset="0"/>
                </a:rPr>
                <a:t>a</a:t>
              </a:r>
              <a:r>
                <a:rPr lang="zh-CN" altLang="zh-CN" sz="2800" dirty="0">
                  <a:solidFill>
                    <a:srgbClr val="000000"/>
                  </a:solidFill>
                  <a:latin typeface="Times New Roman" panose="02020603050405020304" pitchFamily="18" charset="0"/>
                  <a:cs typeface="Times New Roman" panose="02020603050405020304" pitchFamily="18" charset="0"/>
                </a:rPr>
                <a:t>向向量</a:t>
              </a:r>
              <a:r>
                <a:rPr lang="en-US" altLang="zh-CN" sz="2800" b="1" dirty="0">
                  <a:solidFill>
                    <a:srgbClr val="000000"/>
                  </a:solidFill>
                  <a:latin typeface="Times New Roman" panose="02020603050405020304" pitchFamily="18" charset="0"/>
                  <a:cs typeface="Times New Roman" panose="02020603050405020304" pitchFamily="18" charset="0"/>
                </a:rPr>
                <a:t>b</a:t>
              </a:r>
              <a:r>
                <a:rPr lang="zh-CN" altLang="zh-CN" sz="2800" dirty="0">
                  <a:solidFill>
                    <a:srgbClr val="000000"/>
                  </a:solidFill>
                  <a:latin typeface="Times New Roman" panose="02020603050405020304" pitchFamily="18" charset="0"/>
                  <a:cs typeface="Times New Roman" panose="02020603050405020304" pitchFamily="18" charset="0"/>
                </a:rPr>
                <a:t>投影</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得到的是与向量</a:t>
              </a:r>
              <a:r>
                <a:rPr lang="en-US" altLang="zh-CN" sz="2800" b="1" dirty="0">
                  <a:solidFill>
                    <a:srgbClr val="000000"/>
                  </a:solidFill>
                  <a:latin typeface="Times New Roman" panose="02020603050405020304" pitchFamily="18" charset="0"/>
                  <a:cs typeface="Times New Roman" panose="02020603050405020304" pitchFamily="18" charset="0"/>
                </a:rPr>
                <a:t>b</a:t>
              </a:r>
              <a:r>
                <a:rPr lang="zh-CN" altLang="zh-CN" sz="2800" dirty="0">
                  <a:solidFill>
                    <a:srgbClr val="000000"/>
                  </a:solidFill>
                  <a:latin typeface="Times New Roman" panose="02020603050405020304" pitchFamily="18" charset="0"/>
                  <a:cs typeface="Times New Roman" panose="02020603050405020304" pitchFamily="18" charset="0"/>
                </a:rPr>
                <a:t>同向的向量</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FF0000"/>
                  </a:solidFill>
                  <a:latin typeface="Times New Roman" panose="02020603050405020304" pitchFamily="18" charset="0"/>
                  <a:cs typeface="Times New Roman" panose="02020603050405020304" pitchFamily="18" charset="0"/>
                </a:rPr>
                <a:t>  ×  </a:t>
              </a:r>
              <a:r>
                <a:rPr lang="en-US" altLang="zh-CN" sz="2800"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effectLst/>
                <a:latin typeface="NEU-BZ-S92"/>
                <a:ea typeface="方正书宋_GBK" panose="03000509000000000000" pitchFamily="65" charset="-122"/>
                <a:cs typeface="Times New Roman" panose="02020603050405020304" pitchFamily="18" charset="0"/>
              </a:endParaRPr>
            </a:p>
          </p:txBody>
        </p:sp>
      </p:grpSp>
      <p:sp>
        <p:nvSpPr>
          <p:cNvPr id="6" name="矩形 5"/>
          <p:cNvSpPr/>
          <p:nvPr/>
        </p:nvSpPr>
        <p:spPr>
          <a:xfrm>
            <a:off x="3561029" y="1899050"/>
            <a:ext cx="439472" cy="534137"/>
          </a:xfrm>
          <a:prstGeom prst="rect">
            <a:avLst/>
          </a:prstGeom>
          <a:pattFill prst="smCheck">
            <a:fgClr>
              <a:srgbClr val="E8F4E9"/>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nvSpPr>
        <p:spPr>
          <a:xfrm>
            <a:off x="5656528" y="2594878"/>
            <a:ext cx="439472" cy="534137"/>
          </a:xfrm>
          <a:prstGeom prst="rect">
            <a:avLst/>
          </a:prstGeom>
          <a:pattFill prst="smCheck">
            <a:fgClr>
              <a:srgbClr val="E8F4E9"/>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p:cNvSpPr/>
          <p:nvPr/>
        </p:nvSpPr>
        <p:spPr>
          <a:xfrm>
            <a:off x="9999928" y="3260246"/>
            <a:ext cx="439472" cy="534137"/>
          </a:xfrm>
          <a:prstGeom prst="rect">
            <a:avLst/>
          </a:prstGeom>
          <a:pattFill prst="smCheck">
            <a:fgClr>
              <a:srgbClr val="E8F4E9"/>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p:cNvSpPr/>
          <p:nvPr/>
        </p:nvSpPr>
        <p:spPr>
          <a:xfrm>
            <a:off x="6321546" y="3804774"/>
            <a:ext cx="439472" cy="534137"/>
          </a:xfrm>
          <a:prstGeom prst="rect">
            <a:avLst/>
          </a:prstGeom>
          <a:pattFill prst="smCheck">
            <a:fgClr>
              <a:srgbClr val="E8F4E9"/>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矩形 10"/>
          <p:cNvSpPr/>
          <p:nvPr/>
        </p:nvSpPr>
        <p:spPr>
          <a:xfrm>
            <a:off x="5746173" y="4389384"/>
            <a:ext cx="439472" cy="534137"/>
          </a:xfrm>
          <a:prstGeom prst="rect">
            <a:avLst/>
          </a:prstGeom>
          <a:pattFill prst="smCheck">
            <a:fgClr>
              <a:srgbClr val="E8F4E9"/>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矩形 11"/>
          <p:cNvSpPr/>
          <p:nvPr/>
        </p:nvSpPr>
        <p:spPr>
          <a:xfrm>
            <a:off x="8915400" y="4935373"/>
            <a:ext cx="439472" cy="534137"/>
          </a:xfrm>
          <a:prstGeom prst="rect">
            <a:avLst/>
          </a:prstGeom>
          <a:pattFill prst="smCheck">
            <a:fgClr>
              <a:srgbClr val="E8F4E9"/>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370282731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xit" presetSubtype="4" fill="hold" grpId="0" nodeType="clickEffect">
                                  <p:stCondLst>
                                    <p:cond delay="0"/>
                                  </p:stCondLst>
                                  <p:childTnLst>
                                    <p:animEffect transition="out" filter="wipe(down)">
                                      <p:cBhvr>
                                        <p:cTn id="6" dur="500"/>
                                        <p:tgtEl>
                                          <p:spTgt spid="6"/>
                                        </p:tgtEl>
                                      </p:cBhvr>
                                    </p:animEffect>
                                    <p:set>
                                      <p:cBhvr>
                                        <p:cTn id="7" dur="1" fill="hold">
                                          <p:stCondLst>
                                            <p:cond delay="499"/>
                                          </p:stCondLst>
                                        </p:cTn>
                                        <p:tgtEl>
                                          <p:spTgt spid="6"/>
                                        </p:tgtEl>
                                        <p:attrNameLst>
                                          <p:attrName>style.visibility</p:attrName>
                                        </p:attrNameLst>
                                      </p:cBhvr>
                                      <p:to>
                                        <p:strVal val="hidden"/>
                                      </p:to>
                                    </p:set>
                                  </p:childTnLst>
                                </p:cTn>
                              </p:par>
                            </p:childTnLst>
                          </p:cTn>
                        </p:par>
                      </p:childTnLst>
                    </p:cTn>
                  </p:par>
                  <p:par>
                    <p:cTn id="8" fill="hold">
                      <p:stCondLst>
                        <p:cond delay="indefinite"/>
                      </p:stCondLst>
                      <p:childTnLst>
                        <p:par>
                          <p:cTn id="9" fill="hold">
                            <p:stCondLst>
                              <p:cond delay="0"/>
                            </p:stCondLst>
                            <p:childTnLst>
                              <p:par>
                                <p:cTn id="10" presetID="22" presetClass="exit" presetSubtype="4" fill="hold" grpId="0" nodeType="clickEffect">
                                  <p:stCondLst>
                                    <p:cond delay="0"/>
                                  </p:stCondLst>
                                  <p:childTnLst>
                                    <p:animEffect transition="out" filter="wipe(down)">
                                      <p:cBhvr>
                                        <p:cTn id="11" dur="500"/>
                                        <p:tgtEl>
                                          <p:spTgt spid="8"/>
                                        </p:tgtEl>
                                      </p:cBhvr>
                                    </p:animEffect>
                                    <p:set>
                                      <p:cBhvr>
                                        <p:cTn id="12" dur="1" fill="hold">
                                          <p:stCondLst>
                                            <p:cond delay="499"/>
                                          </p:stCondLst>
                                        </p:cTn>
                                        <p:tgtEl>
                                          <p:spTgt spid="8"/>
                                        </p:tgtEl>
                                        <p:attrNameLst>
                                          <p:attrName>style.visibility</p:attrName>
                                        </p:attrNameLst>
                                      </p:cBhvr>
                                      <p:to>
                                        <p:strVal val="hidden"/>
                                      </p:to>
                                    </p:set>
                                  </p:childTnLst>
                                </p:cTn>
                              </p:par>
                            </p:childTnLst>
                          </p:cTn>
                        </p:par>
                      </p:childTnLst>
                    </p:cTn>
                  </p:par>
                  <p:par>
                    <p:cTn id="13" fill="hold">
                      <p:stCondLst>
                        <p:cond delay="indefinite"/>
                      </p:stCondLst>
                      <p:childTnLst>
                        <p:par>
                          <p:cTn id="14" fill="hold">
                            <p:stCondLst>
                              <p:cond delay="0"/>
                            </p:stCondLst>
                            <p:childTnLst>
                              <p:par>
                                <p:cTn id="15" presetID="22" presetClass="exit" presetSubtype="4" fill="hold" grpId="0" nodeType="clickEffect">
                                  <p:stCondLst>
                                    <p:cond delay="0"/>
                                  </p:stCondLst>
                                  <p:childTnLst>
                                    <p:animEffect transition="out" filter="wipe(down)">
                                      <p:cBhvr>
                                        <p:cTn id="16" dur="500"/>
                                        <p:tgtEl>
                                          <p:spTgt spid="9"/>
                                        </p:tgtEl>
                                      </p:cBhvr>
                                    </p:animEffect>
                                    <p:set>
                                      <p:cBhvr>
                                        <p:cTn id="17" dur="1" fill="hold">
                                          <p:stCondLst>
                                            <p:cond delay="499"/>
                                          </p:stCondLst>
                                        </p:cTn>
                                        <p:tgtEl>
                                          <p:spTgt spid="9"/>
                                        </p:tgtEl>
                                        <p:attrNameLst>
                                          <p:attrName>style.visibility</p:attrName>
                                        </p:attrNameLst>
                                      </p:cBhvr>
                                      <p:to>
                                        <p:strVal val="hidden"/>
                                      </p:to>
                                    </p:set>
                                  </p:childTnLst>
                                </p:cTn>
                              </p:par>
                            </p:childTnLst>
                          </p:cTn>
                        </p:par>
                      </p:childTnLst>
                    </p:cTn>
                  </p:par>
                  <p:par>
                    <p:cTn id="18" fill="hold">
                      <p:stCondLst>
                        <p:cond delay="indefinite"/>
                      </p:stCondLst>
                      <p:childTnLst>
                        <p:par>
                          <p:cTn id="19" fill="hold">
                            <p:stCondLst>
                              <p:cond delay="0"/>
                            </p:stCondLst>
                            <p:childTnLst>
                              <p:par>
                                <p:cTn id="20" presetID="22" presetClass="exit" presetSubtype="4" fill="hold" grpId="0" nodeType="clickEffect">
                                  <p:stCondLst>
                                    <p:cond delay="0"/>
                                  </p:stCondLst>
                                  <p:childTnLst>
                                    <p:animEffect transition="out" filter="wipe(down)">
                                      <p:cBhvr>
                                        <p:cTn id="21" dur="500"/>
                                        <p:tgtEl>
                                          <p:spTgt spid="10"/>
                                        </p:tgtEl>
                                      </p:cBhvr>
                                    </p:animEffect>
                                    <p:set>
                                      <p:cBhvr>
                                        <p:cTn id="22" dur="1" fill="hold">
                                          <p:stCondLst>
                                            <p:cond delay="499"/>
                                          </p:stCondLst>
                                        </p:cTn>
                                        <p:tgtEl>
                                          <p:spTgt spid="10"/>
                                        </p:tgtEl>
                                        <p:attrNameLst>
                                          <p:attrName>style.visibility</p:attrName>
                                        </p:attrNameLst>
                                      </p:cBhvr>
                                      <p:to>
                                        <p:strVal val="hidden"/>
                                      </p:to>
                                    </p:set>
                                  </p:childTnLst>
                                </p:cTn>
                              </p:par>
                            </p:childTnLst>
                          </p:cTn>
                        </p:par>
                      </p:childTnLst>
                    </p:cTn>
                  </p:par>
                  <p:par>
                    <p:cTn id="23" fill="hold">
                      <p:stCondLst>
                        <p:cond delay="indefinite"/>
                      </p:stCondLst>
                      <p:childTnLst>
                        <p:par>
                          <p:cTn id="24" fill="hold">
                            <p:stCondLst>
                              <p:cond delay="0"/>
                            </p:stCondLst>
                            <p:childTnLst>
                              <p:par>
                                <p:cTn id="25" presetID="22" presetClass="exit" presetSubtype="4" fill="hold" grpId="0" nodeType="clickEffect">
                                  <p:stCondLst>
                                    <p:cond delay="0"/>
                                  </p:stCondLst>
                                  <p:childTnLst>
                                    <p:animEffect transition="out" filter="wipe(down)">
                                      <p:cBhvr>
                                        <p:cTn id="26" dur="500"/>
                                        <p:tgtEl>
                                          <p:spTgt spid="11"/>
                                        </p:tgtEl>
                                      </p:cBhvr>
                                    </p:animEffect>
                                    <p:set>
                                      <p:cBhvr>
                                        <p:cTn id="27" dur="1" fill="hold">
                                          <p:stCondLst>
                                            <p:cond delay="499"/>
                                          </p:stCondLst>
                                        </p:cTn>
                                        <p:tgtEl>
                                          <p:spTgt spid="11"/>
                                        </p:tgtEl>
                                        <p:attrNameLst>
                                          <p:attrName>style.visibility</p:attrName>
                                        </p:attrNameLst>
                                      </p:cBhvr>
                                      <p:to>
                                        <p:strVal val="hidden"/>
                                      </p:to>
                                    </p:set>
                                  </p:childTnLst>
                                </p:cTn>
                              </p:par>
                            </p:childTnLst>
                          </p:cTn>
                        </p:par>
                      </p:childTnLst>
                    </p:cTn>
                  </p:par>
                  <p:par>
                    <p:cTn id="28" fill="hold">
                      <p:stCondLst>
                        <p:cond delay="indefinite"/>
                      </p:stCondLst>
                      <p:childTnLst>
                        <p:par>
                          <p:cTn id="29" fill="hold">
                            <p:stCondLst>
                              <p:cond delay="0"/>
                            </p:stCondLst>
                            <p:childTnLst>
                              <p:par>
                                <p:cTn id="30" presetID="22" presetClass="exit" presetSubtype="4" fill="hold" grpId="0" nodeType="clickEffect">
                                  <p:stCondLst>
                                    <p:cond delay="0"/>
                                  </p:stCondLst>
                                  <p:childTnLst>
                                    <p:animEffect transition="out" filter="wipe(down)">
                                      <p:cBhvr>
                                        <p:cTn id="31" dur="500"/>
                                        <p:tgtEl>
                                          <p:spTgt spid="12"/>
                                        </p:tgtEl>
                                      </p:cBhvr>
                                    </p:animEffect>
                                    <p:set>
                                      <p:cBhvr>
                                        <p:cTn id="32" dur="1" fill="hold">
                                          <p:stCondLst>
                                            <p:cond delay="499"/>
                                          </p:stCondLst>
                                        </p:cTn>
                                        <p:tgtEl>
                                          <p:spTgt spid="12"/>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8" grpId="0" animBg="1"/>
      <p:bldP spid="9" grpId="0" animBg="1"/>
      <p:bldP spid="10" grpId="0" animBg="1"/>
      <p:bldP spid="11" grpId="0" animBg="1"/>
      <p:bldP spid="12"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组合 5"/>
          <p:cNvGrpSpPr/>
          <p:nvPr/>
        </p:nvGrpSpPr>
        <p:grpSpPr>
          <a:xfrm>
            <a:off x="2180083" y="2636520"/>
            <a:ext cx="1105802" cy="815646"/>
            <a:chOff x="-1604504" y="2147667"/>
            <a:chExt cx="3687215" cy="2719712"/>
          </a:xfrm>
        </p:grpSpPr>
        <p:cxnSp>
          <p:nvCxnSpPr>
            <p:cNvPr id="7" name="直接连接符 6"/>
            <p:cNvCxnSpPr/>
            <p:nvPr/>
          </p:nvCxnSpPr>
          <p:spPr>
            <a:xfrm flipH="1">
              <a:off x="-1604504" y="2687623"/>
              <a:ext cx="2592288" cy="2179756"/>
            </a:xfrm>
            <a:prstGeom prst="line">
              <a:avLst/>
            </a:prstGeom>
            <a:noFill/>
            <a:ln w="76200" cap="flat" cmpd="sng" algn="ctr">
              <a:solidFill>
                <a:schemeClr val="tx2">
                  <a:lumMod val="50000"/>
                </a:schemeClr>
              </a:solidFill>
              <a:prstDash val="solid"/>
            </a:ln>
            <a:effectLst/>
          </p:spPr>
        </p:cxnSp>
        <p:cxnSp>
          <p:nvCxnSpPr>
            <p:cNvPr id="8" name="直接连接符 7"/>
            <p:cNvCxnSpPr/>
            <p:nvPr/>
          </p:nvCxnSpPr>
          <p:spPr>
            <a:xfrm flipH="1">
              <a:off x="-509577" y="2147667"/>
              <a:ext cx="2592288" cy="2179756"/>
            </a:xfrm>
            <a:prstGeom prst="line">
              <a:avLst/>
            </a:prstGeom>
            <a:noFill/>
            <a:ln w="12700" cap="flat" cmpd="sng" algn="ctr">
              <a:solidFill>
                <a:schemeClr val="tx2">
                  <a:lumMod val="50000"/>
                </a:schemeClr>
              </a:solidFill>
              <a:prstDash val="solid"/>
            </a:ln>
            <a:effectLst/>
          </p:spPr>
        </p:cxnSp>
      </p:grpSp>
      <p:grpSp>
        <p:nvGrpSpPr>
          <p:cNvPr id="9" name="组合 8"/>
          <p:cNvGrpSpPr/>
          <p:nvPr/>
        </p:nvGrpSpPr>
        <p:grpSpPr>
          <a:xfrm flipH="1" flipV="1">
            <a:off x="8735898" y="2665586"/>
            <a:ext cx="1105803" cy="815646"/>
            <a:chOff x="-1604504" y="2147667"/>
            <a:chExt cx="3687215" cy="2719712"/>
          </a:xfrm>
        </p:grpSpPr>
        <p:cxnSp>
          <p:nvCxnSpPr>
            <p:cNvPr id="10" name="直接连接符 9"/>
            <p:cNvCxnSpPr/>
            <p:nvPr/>
          </p:nvCxnSpPr>
          <p:spPr>
            <a:xfrm flipH="1">
              <a:off x="-1604504" y="2687623"/>
              <a:ext cx="2592288" cy="2179756"/>
            </a:xfrm>
            <a:prstGeom prst="line">
              <a:avLst/>
            </a:prstGeom>
            <a:noFill/>
            <a:ln w="76200" cap="flat" cmpd="sng" algn="ctr">
              <a:solidFill>
                <a:sysClr val="windowText" lastClr="000000">
                  <a:lumMod val="85000"/>
                  <a:lumOff val="15000"/>
                </a:sysClr>
              </a:solidFill>
              <a:prstDash val="solid"/>
            </a:ln>
            <a:effectLst/>
          </p:spPr>
        </p:cxnSp>
        <p:cxnSp>
          <p:nvCxnSpPr>
            <p:cNvPr id="11" name="直接连接符 10"/>
            <p:cNvCxnSpPr/>
            <p:nvPr/>
          </p:nvCxnSpPr>
          <p:spPr>
            <a:xfrm flipH="1">
              <a:off x="-509577" y="2147667"/>
              <a:ext cx="2592288" cy="2179756"/>
            </a:xfrm>
            <a:prstGeom prst="line">
              <a:avLst/>
            </a:prstGeom>
            <a:noFill/>
            <a:ln w="12700" cap="flat" cmpd="sng" algn="ctr">
              <a:solidFill>
                <a:sysClr val="windowText" lastClr="000000">
                  <a:lumMod val="85000"/>
                  <a:lumOff val="15000"/>
                </a:sysClr>
              </a:solidFill>
              <a:prstDash val="solid"/>
            </a:ln>
            <a:effectLst/>
          </p:spPr>
        </p:cxnSp>
      </p:grpSp>
      <p:sp>
        <p:nvSpPr>
          <p:cNvPr id="12" name="文本框 11"/>
          <p:cNvSpPr txBox="1"/>
          <p:nvPr/>
        </p:nvSpPr>
        <p:spPr>
          <a:xfrm>
            <a:off x="2969260" y="2585720"/>
            <a:ext cx="6252845" cy="922020"/>
          </a:xfrm>
          <a:prstGeom prst="rect">
            <a:avLst/>
          </a:prstGeom>
          <a:noFill/>
        </p:spPr>
        <p:txBody>
          <a:bodyPr wrap="square" rtlCol="0">
            <a:spAutoFit/>
          </a:bodyPr>
          <a:lstStyle/>
          <a:p>
            <a:r>
              <a:rPr lang="zh-CN" altLang="en-US" sz="5400" b="1" dirty="0" smtClean="0">
                <a:solidFill>
                  <a:srgbClr val="4D4D4D"/>
                </a:solidFill>
                <a:latin typeface="方正姚体" panose="02010601030101010101" charset="-122"/>
                <a:ea typeface="方正姚体" panose="02010601030101010101" charset="-122"/>
                <a:cs typeface="方正姚体" panose="02010601030101010101" charset="-122"/>
                <a:sym typeface="+mn-ea"/>
              </a:rPr>
              <a:t>合作探究 释疑解惑</a:t>
            </a:r>
            <a:endParaRPr lang="zh-CN" altLang="en-US" sz="5400" b="1" dirty="0">
              <a:solidFill>
                <a:srgbClr val="4D4D4D"/>
              </a:solidFill>
              <a:latin typeface="方正姚体" panose="02010601030101010101" charset="-122"/>
              <a:ea typeface="方正姚体" panose="02010601030101010101" charset="-122"/>
              <a:cs typeface="方正姚体" panose="02010601030101010101" charset="-122"/>
              <a:sym typeface="+mn-ea"/>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bg>
      <p:bgPr>
        <a:pattFill prst="lgConfetti">
          <a:fgClr>
            <a:srgbClr val="E8F4E9"/>
          </a:fgClr>
          <a:bgClr>
            <a:schemeClr val="bg1"/>
          </a:bgClr>
        </a:pattFill>
        <a:effectLst/>
      </p:bgPr>
    </p:bg>
    <p:spTree>
      <p:nvGrpSpPr>
        <p:cNvPr id="1" name=""/>
        <p:cNvGrpSpPr/>
        <p:nvPr/>
      </p:nvGrpSpPr>
      <p:grpSpPr>
        <a:xfrm>
          <a:off x="0" y="0"/>
          <a:ext cx="0" cy="0"/>
          <a:chOff x="0" y="0"/>
          <a:chExt cx="0" cy="0"/>
        </a:xfrm>
      </p:grpSpPr>
      <p:grpSp>
        <p:nvGrpSpPr>
          <p:cNvPr id="35" name="组合 34"/>
          <p:cNvGrpSpPr/>
          <p:nvPr/>
        </p:nvGrpSpPr>
        <p:grpSpPr>
          <a:xfrm>
            <a:off x="2" y="151371"/>
            <a:ext cx="11336478" cy="433754"/>
            <a:chOff x="381000" y="205656"/>
            <a:chExt cx="11336478" cy="433754"/>
          </a:xfrm>
        </p:grpSpPr>
        <p:sp>
          <p:nvSpPr>
            <p:cNvPr id="36" name="矩形 35"/>
            <p:cNvSpPr/>
            <p:nvPr/>
          </p:nvSpPr>
          <p:spPr>
            <a:xfrm>
              <a:off x="1999940" y="230648"/>
              <a:ext cx="192275" cy="401795"/>
            </a:xfrm>
            <a:prstGeom prst="rect">
              <a:avLst/>
            </a:prstGeom>
            <a:noFill/>
            <a:ln w="19050">
              <a:solidFill>
                <a:schemeClr val="accent4">
                  <a:lumMod val="75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00"/>
            </a:p>
          </p:txBody>
        </p:sp>
        <p:grpSp>
          <p:nvGrpSpPr>
            <p:cNvPr id="37" name="组合 36"/>
            <p:cNvGrpSpPr/>
            <p:nvPr/>
          </p:nvGrpSpPr>
          <p:grpSpPr>
            <a:xfrm>
              <a:off x="381000" y="205656"/>
              <a:ext cx="11336478" cy="433754"/>
              <a:chOff x="3048000" y="2286000"/>
              <a:chExt cx="4813646" cy="457200"/>
            </a:xfrm>
          </p:grpSpPr>
          <p:sp>
            <p:nvSpPr>
              <p:cNvPr id="38" name="矩形 37"/>
              <p:cNvSpPr/>
              <p:nvPr/>
            </p:nvSpPr>
            <p:spPr>
              <a:xfrm>
                <a:off x="3048000" y="2286000"/>
                <a:ext cx="769070" cy="457200"/>
              </a:xfrm>
              <a:prstGeom prst="rect">
                <a:avLst/>
              </a:prstGeom>
              <a:solidFill>
                <a:srgbClr val="74877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800" b="1" dirty="0" smtClean="0">
                    <a:solidFill>
                      <a:schemeClr val="bg1"/>
                    </a:solidFill>
                  </a:rPr>
                  <a:t>探究一</a:t>
                </a:r>
              </a:p>
            </p:txBody>
          </p:sp>
          <p:sp>
            <p:nvSpPr>
              <p:cNvPr id="39" name="矩形 38"/>
              <p:cNvSpPr/>
              <p:nvPr/>
            </p:nvSpPr>
            <p:spPr>
              <a:xfrm>
                <a:off x="3909004" y="2286000"/>
                <a:ext cx="3952642" cy="457200"/>
              </a:xfrm>
              <a:prstGeom prst="rect">
                <a:avLst/>
              </a:prstGeom>
              <a:gradFill flip="none" rotWithShape="1">
                <a:gsLst>
                  <a:gs pos="0">
                    <a:srgbClr val="DCDCDC">
                      <a:shade val="30000"/>
                      <a:satMod val="115000"/>
                    </a:srgbClr>
                  </a:gs>
                  <a:gs pos="51000">
                    <a:srgbClr val="DCDCDC">
                      <a:shade val="67500"/>
                      <a:satMod val="115000"/>
                    </a:srgbClr>
                  </a:gs>
                  <a:gs pos="73000">
                    <a:srgbClr val="DCDCDC">
                      <a:shade val="100000"/>
                      <a:satMod val="115000"/>
                      <a:alpha val="0"/>
                    </a:srgb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2800" b="1" dirty="0">
                    <a:solidFill>
                      <a:schemeClr val="bg1"/>
                    </a:solidFill>
                  </a:rPr>
                  <a:t>空间向量的数量积的计算</a:t>
                </a:r>
              </a:p>
            </p:txBody>
          </p:sp>
        </p:grpSp>
      </p:grpSp>
      <p:grpSp>
        <p:nvGrpSpPr>
          <p:cNvPr id="5" name="组合 4"/>
          <p:cNvGrpSpPr/>
          <p:nvPr/>
        </p:nvGrpSpPr>
        <p:grpSpPr>
          <a:xfrm>
            <a:off x="41564" y="589335"/>
            <a:ext cx="11769436" cy="4674144"/>
            <a:chOff x="41564" y="589335"/>
            <a:chExt cx="11769436" cy="4674144"/>
          </a:xfrm>
        </p:grpSpPr>
        <p:sp>
          <p:nvSpPr>
            <p:cNvPr id="2" name="矩形 1"/>
            <p:cNvSpPr>
              <a:spLocks noChangeAspect="1"/>
            </p:cNvSpPr>
            <p:nvPr/>
          </p:nvSpPr>
          <p:spPr>
            <a:xfrm>
              <a:off x="381000" y="589335"/>
              <a:ext cx="11430000" cy="1152367"/>
            </a:xfrm>
            <a:prstGeom prst="rect">
              <a:avLst/>
            </a:prstGeom>
          </p:spPr>
          <p:txBody>
            <a:bodyPr>
              <a:spAutoFit/>
            </a:bodyPr>
            <a:lstStyle/>
            <a:p>
              <a:pPr indent="279400">
                <a:lnSpc>
                  <a:spcPct val="130000"/>
                </a:lnSpc>
                <a:spcAft>
                  <a:spcPts val="0"/>
                </a:spcAft>
                <a:tabLst>
                  <a:tab pos="1188085" algn="l"/>
                  <a:tab pos="2163445" algn="l"/>
                  <a:tab pos="3142615" algn="l"/>
                  <a:tab pos="4190365" algn="l"/>
                </a:tabLst>
              </a:pPr>
              <a:r>
                <a:rPr lang="zh-CN" altLang="zh-CN" sz="2800" dirty="0">
                  <a:solidFill>
                    <a:srgbClr val="000000"/>
                  </a:solidFill>
                  <a:latin typeface="Arial" panose="020B0604020202020204" pitchFamily="34" charset="0"/>
                  <a:ea typeface="黑体" panose="02010609060101010101" pitchFamily="49" charset="-122"/>
                  <a:cs typeface="Times New Roman" panose="02020603050405020304" pitchFamily="18" charset="0"/>
                </a:rPr>
                <a:t>【例</a:t>
              </a:r>
              <a:r>
                <a:rPr lang="en-US" altLang="zh-CN" sz="2800" b="1" dirty="0">
                  <a:solidFill>
                    <a:srgbClr val="000000"/>
                  </a:solidFill>
                  <a:latin typeface="Times New Roman" panose="02020603050405020304" pitchFamily="18" charset="0"/>
                  <a:cs typeface="Times New Roman" panose="02020603050405020304" pitchFamily="18" charset="0"/>
                </a:rPr>
                <a:t>1</a:t>
              </a:r>
              <a:r>
                <a:rPr lang="zh-CN" altLang="zh-CN" sz="2800" dirty="0">
                  <a:solidFill>
                    <a:srgbClr val="000000"/>
                  </a:solidFill>
                  <a:latin typeface="Arial" panose="020B0604020202020204" pitchFamily="34" charset="0"/>
                  <a:ea typeface="黑体" panose="02010609060101010101" pitchFamily="49" charset="-122"/>
                  <a:cs typeface="Times New Roman" panose="02020603050405020304" pitchFamily="18" charset="0"/>
                </a:rPr>
                <a:t>】</a:t>
              </a:r>
              <a:r>
                <a:rPr lang="zh-CN" altLang="zh-CN" sz="2800" dirty="0">
                  <a:solidFill>
                    <a:srgbClr val="000000"/>
                  </a:solidFill>
                  <a:latin typeface="NEU-BZ-S92"/>
                  <a:ea typeface="Arial" panose="020B0604020202020204" pitchFamily="34" charset="0"/>
                  <a:cs typeface="Times New Roman" panose="02020603050405020304" pitchFamily="18" charset="0"/>
                </a:rPr>
                <a:t> </a:t>
              </a:r>
              <a:r>
                <a:rPr lang="zh-CN" altLang="zh-CN" sz="2800" dirty="0">
                  <a:solidFill>
                    <a:srgbClr val="000000"/>
                  </a:solidFill>
                  <a:latin typeface="Times New Roman" panose="02020603050405020304" pitchFamily="18" charset="0"/>
                  <a:cs typeface="Times New Roman" panose="02020603050405020304" pitchFamily="18" charset="0"/>
                </a:rPr>
                <a:t>如图</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已知空间四边形</a:t>
              </a:r>
              <a:r>
                <a:rPr lang="en-US" altLang="zh-CN" sz="2800" i="1" dirty="0">
                  <a:solidFill>
                    <a:srgbClr val="000000"/>
                  </a:solidFill>
                  <a:latin typeface="Times New Roman" panose="02020603050405020304" pitchFamily="18" charset="0"/>
                  <a:cs typeface="Times New Roman" panose="02020603050405020304" pitchFamily="18" charset="0"/>
                </a:rPr>
                <a:t>ABCD</a:t>
              </a:r>
              <a:r>
                <a:rPr lang="zh-CN" altLang="zh-CN" sz="2800" dirty="0">
                  <a:solidFill>
                    <a:srgbClr val="000000"/>
                  </a:solidFill>
                  <a:latin typeface="Times New Roman" panose="02020603050405020304" pitchFamily="18" charset="0"/>
                  <a:cs typeface="Times New Roman" panose="02020603050405020304" pitchFamily="18" charset="0"/>
                </a:rPr>
                <a:t>的每条边和对角线长都等于</a:t>
              </a:r>
              <a:r>
                <a:rPr lang="en-US" altLang="zh-CN" sz="2800" dirty="0">
                  <a:solidFill>
                    <a:srgbClr val="000000"/>
                  </a:solidFill>
                  <a:latin typeface="Times New Roman" panose="02020603050405020304" pitchFamily="18" charset="0"/>
                  <a:cs typeface="Times New Roman" panose="02020603050405020304" pitchFamily="18" charset="0"/>
                </a:rPr>
                <a:t>1,</a:t>
              </a:r>
              <a:r>
                <a:rPr lang="zh-CN" altLang="zh-CN" sz="2800" dirty="0">
                  <a:solidFill>
                    <a:srgbClr val="000000"/>
                  </a:solidFill>
                  <a:latin typeface="Times New Roman" panose="02020603050405020304" pitchFamily="18" charset="0"/>
                  <a:cs typeface="Times New Roman" panose="02020603050405020304" pitchFamily="18" charset="0"/>
                </a:rPr>
                <a:t>点</a:t>
              </a:r>
              <a:r>
                <a:rPr lang="en-US" altLang="zh-CN" sz="2800" i="1" dirty="0">
                  <a:solidFill>
                    <a:srgbClr val="000000"/>
                  </a:solidFill>
                  <a:latin typeface="Times New Roman" panose="02020603050405020304" pitchFamily="18" charset="0"/>
                  <a:cs typeface="Times New Roman" panose="02020603050405020304" pitchFamily="18" charset="0"/>
                </a:rPr>
                <a:t>E</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F</a:t>
              </a:r>
              <a:r>
                <a:rPr lang="zh-CN" altLang="zh-CN" sz="2800" dirty="0">
                  <a:solidFill>
                    <a:srgbClr val="000000"/>
                  </a:solidFill>
                  <a:latin typeface="Times New Roman" panose="02020603050405020304" pitchFamily="18" charset="0"/>
                  <a:cs typeface="Times New Roman" panose="02020603050405020304" pitchFamily="18" charset="0"/>
                </a:rPr>
                <a:t>分别是</a:t>
              </a:r>
              <a:r>
                <a:rPr lang="en-US" altLang="zh-CN" sz="2800" i="1" dirty="0">
                  <a:solidFill>
                    <a:srgbClr val="000000"/>
                  </a:solidFill>
                  <a:latin typeface="Times New Roman" panose="02020603050405020304" pitchFamily="18" charset="0"/>
                  <a:cs typeface="Times New Roman" panose="02020603050405020304" pitchFamily="18" charset="0"/>
                </a:rPr>
                <a:t>AB</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AD</a:t>
              </a:r>
              <a:r>
                <a:rPr lang="zh-CN" altLang="zh-CN" sz="2800" dirty="0">
                  <a:solidFill>
                    <a:srgbClr val="000000"/>
                  </a:solidFill>
                  <a:latin typeface="Times New Roman" panose="02020603050405020304" pitchFamily="18" charset="0"/>
                  <a:cs typeface="Times New Roman" panose="02020603050405020304" pitchFamily="18" charset="0"/>
                </a:rPr>
                <a:t>的中点</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计算</a:t>
              </a:r>
              <a:r>
                <a:rPr lang="en-US" altLang="zh-CN" sz="2800"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effectLst/>
                <a:latin typeface="NEU-BZ-S92"/>
                <a:ea typeface="方正书宋_GBK" panose="03000509000000000000" pitchFamily="65" charset="-122"/>
                <a:cs typeface="Times New Roman" panose="02020603050405020304" pitchFamily="18" charset="0"/>
              </a:endParaRPr>
            </a:p>
          </p:txBody>
        </p:sp>
        <p:graphicFrame>
          <p:nvGraphicFramePr>
            <p:cNvPr id="3" name="对象 2"/>
            <p:cNvGraphicFramePr>
              <a:graphicFrameLocks noChangeAspect="1"/>
            </p:cNvGraphicFramePr>
            <p:nvPr>
              <p:extLst>
                <p:ext uri="{D42A27DB-BD31-4B8C-83A1-F6EECF244321}">
                  <p14:modId xmlns:p14="http://schemas.microsoft.com/office/powerpoint/2010/main" val="3655027094"/>
                </p:ext>
              </p:extLst>
            </p:nvPr>
          </p:nvGraphicFramePr>
          <p:xfrm>
            <a:off x="41564" y="4761141"/>
            <a:ext cx="11430000" cy="502338"/>
          </p:xfrm>
          <a:graphic>
            <a:graphicData uri="http://schemas.openxmlformats.org/presentationml/2006/ole">
              <mc:AlternateContent xmlns:mc="http://schemas.openxmlformats.org/markup-compatibility/2006">
                <mc:Choice xmlns:v="urn:schemas-microsoft-com:vml" Requires="v">
                  <p:oleObj spid="_x0000_s11291" name="文档" r:id="rId3" imgW="4510061" imgH="198213" progId="Word.Document.12">
                    <p:embed/>
                  </p:oleObj>
                </mc:Choice>
                <mc:Fallback>
                  <p:oleObj name="文档" r:id="rId3" imgW="4510061" imgH="198213" progId="Word.Document.12">
                    <p:embed/>
                    <p:pic>
                      <p:nvPicPr>
                        <p:cNvPr id="0" name=""/>
                        <p:cNvPicPr/>
                        <p:nvPr/>
                      </p:nvPicPr>
                      <p:blipFill>
                        <a:blip r:embed="rId4"/>
                        <a:stretch>
                          <a:fillRect/>
                        </a:stretch>
                      </p:blipFill>
                      <p:spPr>
                        <a:xfrm>
                          <a:off x="41564" y="4761141"/>
                          <a:ext cx="11430000" cy="502338"/>
                        </a:xfrm>
                        <a:prstGeom prst="rect">
                          <a:avLst/>
                        </a:prstGeom>
                      </p:spPr>
                    </p:pic>
                  </p:oleObj>
                </mc:Fallback>
              </mc:AlternateContent>
            </a:graphicData>
          </a:graphic>
        </p:graphicFrame>
      </p:grpSp>
      <p:sp>
        <p:nvSpPr>
          <p:cNvPr id="4" name="矩形 3"/>
          <p:cNvSpPr>
            <a:spLocks noChangeAspect="1"/>
          </p:cNvSpPr>
          <p:nvPr/>
        </p:nvSpPr>
        <p:spPr>
          <a:xfrm>
            <a:off x="381000" y="5318924"/>
            <a:ext cx="11430000" cy="1152367"/>
          </a:xfrm>
          <a:prstGeom prst="rect">
            <a:avLst/>
          </a:prstGeom>
        </p:spPr>
        <p:txBody>
          <a:bodyPr>
            <a:spAutoFit/>
          </a:bodyPr>
          <a:lstStyle/>
          <a:p>
            <a:pPr indent="279400">
              <a:lnSpc>
                <a:spcPct val="130000"/>
              </a:lnSpc>
              <a:spcAft>
                <a:spcPts val="0"/>
              </a:spcAft>
              <a:tabLst>
                <a:tab pos="1188085" algn="l"/>
                <a:tab pos="2163445" algn="l"/>
                <a:tab pos="3142615" algn="l"/>
                <a:tab pos="4190365" algn="l"/>
              </a:tabLst>
            </a:pPr>
            <a:r>
              <a:rPr lang="zh-CN"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分析</a:t>
            </a:r>
            <a:r>
              <a:rPr lang="en-US"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求出每组向量中每个向量的模以及它们的夹角</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根据数量积的定义进行计算</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effectLst/>
              <a:latin typeface="NEU-BZ-S92"/>
              <a:ea typeface="方正书宋_GBK" panose="03000509000000000000" pitchFamily="65" charset="-122"/>
              <a:cs typeface="Times New Roman" panose="02020603050405020304" pitchFamily="18" charset="0"/>
            </a:endParaRPr>
          </a:p>
        </p:txBody>
      </p:sp>
      <p:pic>
        <p:nvPicPr>
          <p:cNvPr id="13" name="NMX1TRAX21.eps" descr="id:2147512848;FounderCES"/>
          <p:cNvPicPr>
            <a:picLocks noChangeAspect="1"/>
          </p:cNvPicPr>
          <p:nvPr/>
        </p:nvPicPr>
        <p:blipFill>
          <a:blip r:embed="rId5">
            <a:clrChange>
              <a:clrFrom>
                <a:srgbClr val="FFFFFF"/>
              </a:clrFrom>
              <a:clrTo>
                <a:srgbClr val="FFFFFF">
                  <a:alpha val="0"/>
                </a:srgbClr>
              </a:clrTo>
            </a:clrChange>
          </a:blip>
          <a:stretch>
            <a:fillRect/>
          </a:stretch>
        </p:blipFill>
        <p:spPr>
          <a:xfrm>
            <a:off x="4852250" y="1539110"/>
            <a:ext cx="2487501" cy="2929187"/>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8.xml><?xml version="1.0" encoding="utf-8"?>
<p:sld xmlns:a="http://schemas.openxmlformats.org/drawingml/2006/main" xmlns:r="http://schemas.openxmlformats.org/officeDocument/2006/relationships" xmlns:p="http://schemas.openxmlformats.org/presentationml/2006/main">
  <p:cSld>
    <p:bg>
      <p:bgPr>
        <a:pattFill prst="lgConfetti">
          <a:fgClr>
            <a:srgbClr val="E8F4E9"/>
          </a:fgClr>
          <a:bgClr>
            <a:schemeClr val="bg1"/>
          </a:bgClr>
        </a:pattFill>
        <a:effectLst/>
      </p:bgPr>
    </p:bg>
    <p:spTree>
      <p:nvGrpSpPr>
        <p:cNvPr id="1" name=""/>
        <p:cNvGrpSpPr/>
        <p:nvPr/>
      </p:nvGrpSpPr>
      <p:grpSpPr>
        <a:xfrm>
          <a:off x="0" y="0"/>
          <a:ext cx="0" cy="0"/>
          <a:chOff x="0" y="0"/>
          <a:chExt cx="0" cy="0"/>
        </a:xfrm>
      </p:grpSpPr>
      <p:graphicFrame>
        <p:nvGraphicFramePr>
          <p:cNvPr id="3" name="对象 2"/>
          <p:cNvGraphicFramePr>
            <a:graphicFrameLocks noChangeAspect="1"/>
          </p:cNvGraphicFramePr>
          <p:nvPr>
            <p:extLst>
              <p:ext uri="{D42A27DB-BD31-4B8C-83A1-F6EECF244321}">
                <p14:modId xmlns:p14="http://schemas.microsoft.com/office/powerpoint/2010/main" val="2650670348"/>
              </p:ext>
            </p:extLst>
          </p:nvPr>
        </p:nvGraphicFramePr>
        <p:xfrm>
          <a:off x="51955" y="145290"/>
          <a:ext cx="11430000" cy="6031707"/>
        </p:xfrm>
        <a:graphic>
          <a:graphicData uri="http://schemas.openxmlformats.org/presentationml/2006/ole">
            <mc:AlternateContent xmlns:mc="http://schemas.openxmlformats.org/markup-compatibility/2006">
              <mc:Choice xmlns:v="urn:schemas-microsoft-com:vml" Requires="v">
                <p:oleObj spid="_x0000_s12315" name="文档" r:id="rId3" imgW="4510061" imgH="2382160" progId="Word.Document.12">
                  <p:embed/>
                </p:oleObj>
              </mc:Choice>
              <mc:Fallback>
                <p:oleObj name="文档" r:id="rId3" imgW="4510061" imgH="2382160" progId="Word.Document.12">
                  <p:embed/>
                  <p:pic>
                    <p:nvPicPr>
                      <p:cNvPr id="0" name=""/>
                      <p:cNvPicPr/>
                      <p:nvPr/>
                    </p:nvPicPr>
                    <p:blipFill>
                      <a:blip r:embed="rId4"/>
                      <a:stretch>
                        <a:fillRect/>
                      </a:stretch>
                    </p:blipFill>
                    <p:spPr>
                      <a:xfrm>
                        <a:off x="51955" y="145290"/>
                        <a:ext cx="11430000" cy="6031707"/>
                      </a:xfrm>
                      <a:prstGeom prst="rect">
                        <a:avLst/>
                      </a:prstGeom>
                    </p:spPr>
                  </p:pic>
                </p:oleObj>
              </mc:Fallback>
            </mc:AlternateContent>
          </a:graphicData>
        </a:graphic>
      </p:graphicFrame>
    </p:spTree>
    <p:extLst>
      <p:ext uri="{BB962C8B-B14F-4D97-AF65-F5344CB8AC3E}">
        <p14:creationId xmlns:p14="http://schemas.microsoft.com/office/powerpoint/2010/main" val="84996332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bg>
      <p:bgPr>
        <a:pattFill prst="lgConfetti">
          <a:fgClr>
            <a:srgbClr val="E8F4E9"/>
          </a:fgClr>
          <a:bgClr>
            <a:schemeClr val="bg1"/>
          </a:bgClr>
        </a:pattFill>
        <a:effectLst/>
      </p:bgPr>
    </p:bg>
    <p:spTree>
      <p:nvGrpSpPr>
        <p:cNvPr id="1" name=""/>
        <p:cNvGrpSpPr/>
        <p:nvPr/>
      </p:nvGrpSpPr>
      <p:grpSpPr>
        <a:xfrm>
          <a:off x="0" y="0"/>
          <a:ext cx="0" cy="0"/>
          <a:chOff x="0" y="0"/>
          <a:chExt cx="0" cy="0"/>
        </a:xfrm>
      </p:grpSpPr>
      <p:sp>
        <p:nvSpPr>
          <p:cNvPr id="2" name="矩形 1"/>
          <p:cNvSpPr>
            <a:spLocks noChangeAspect="1"/>
          </p:cNvSpPr>
          <p:nvPr/>
        </p:nvSpPr>
        <p:spPr>
          <a:xfrm>
            <a:off x="381000" y="1077627"/>
            <a:ext cx="11430000" cy="3453253"/>
          </a:xfrm>
          <a:prstGeom prst="rect">
            <a:avLst/>
          </a:prstGeom>
        </p:spPr>
        <p:txBody>
          <a:bodyPr>
            <a:spAutoFit/>
          </a:bodyPr>
          <a:lstStyle/>
          <a:p>
            <a:pPr indent="280670">
              <a:lnSpc>
                <a:spcPct val="130000"/>
              </a:lnSpc>
              <a:spcAft>
                <a:spcPts val="0"/>
              </a:spcAft>
              <a:tabLst>
                <a:tab pos="1188085" algn="l"/>
                <a:tab pos="2163445" algn="l"/>
                <a:tab pos="3142615" algn="l"/>
                <a:tab pos="4190365" algn="l"/>
              </a:tabLst>
            </a:pPr>
            <a:r>
              <a:rPr lang="zh-CN" altLang="en-US" sz="2800" dirty="0" smtClean="0">
                <a:solidFill>
                  <a:srgbClr val="000000"/>
                </a:solidFill>
                <a:latin typeface="黑体" panose="02010609060101010101" pitchFamily="49" charset="-122"/>
                <a:ea typeface="黑体" panose="02010609060101010101" pitchFamily="49" charset="-122"/>
                <a:cs typeface="Times New Roman" panose="02020603050405020304" pitchFamily="18" charset="0"/>
              </a:rPr>
              <a:t>反思感悟 </a:t>
            </a:r>
            <a:r>
              <a:rPr lang="en-US" altLang="zh-CN" sz="2800" b="1" dirty="0" smtClean="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在几何体中进行向量的数量积运算时</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要充分利用几何体的性质</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把待求向量用已知夹角和向量的模表示后再进行运算</a:t>
            </a:r>
            <a:r>
              <a:rPr lang="en-US" altLang="zh-CN" sz="2800" i="1"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在解题过程中要注意两向量的夹角</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正确运用两向量夹角的定义</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en-US" altLang="zh-CN" sz="2800" dirty="0" smtClean="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1)</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与向量的数乘运算区分开</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向量的数乘运算的结果仍是向量</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数量积的结果为数量</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en-US" altLang="zh-CN" sz="2800" dirty="0">
                <a:solidFill>
                  <a:srgbClr val="000000"/>
                </a:solidFill>
                <a:latin typeface="Times New Roman" panose="02020603050405020304" pitchFamily="18" charset="0"/>
                <a:cs typeface="Times New Roman" panose="02020603050405020304" pitchFamily="18" charset="0"/>
              </a:rPr>
              <a:t>(2)</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书写规范</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不能写成</a:t>
            </a:r>
            <a:r>
              <a:rPr lang="en-US" altLang="zh-CN" sz="2800" b="1" i="1" dirty="0" err="1">
                <a:solidFill>
                  <a:srgbClr val="000000"/>
                </a:solidFill>
                <a:latin typeface="Times New Roman" panose="02020603050405020304" pitchFamily="18" charset="0"/>
                <a:cs typeface="Times New Roman" panose="02020603050405020304" pitchFamily="18" charset="0"/>
              </a:rPr>
              <a:t>a</a:t>
            </a:r>
            <a:r>
              <a:rPr lang="en-US" altLang="zh-CN" sz="2800" dirty="0" err="1">
                <a:solidFill>
                  <a:srgbClr val="000000"/>
                </a:solidFill>
                <a:latin typeface="Times New Roman" panose="02020603050405020304" pitchFamily="18" charset="0"/>
                <a:cs typeface="Times New Roman" panose="02020603050405020304" pitchFamily="18" charset="0"/>
              </a:rPr>
              <a:t>×</a:t>
            </a:r>
            <a:r>
              <a:rPr lang="en-US" altLang="zh-CN" sz="2800" b="1" i="1" dirty="0" err="1">
                <a:solidFill>
                  <a:srgbClr val="000000"/>
                </a:solidFill>
                <a:latin typeface="Times New Roman" panose="02020603050405020304" pitchFamily="18" charset="0"/>
                <a:cs typeface="Times New Roman" panose="02020603050405020304" pitchFamily="18" charset="0"/>
              </a:rPr>
              <a:t>b</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也不能写成</a:t>
            </a:r>
            <a:r>
              <a:rPr lang="en-US" altLang="zh-CN" sz="2800" b="1" i="1" dirty="0">
                <a:solidFill>
                  <a:srgbClr val="000000"/>
                </a:solidFill>
                <a:latin typeface="Times New Roman" panose="02020603050405020304" pitchFamily="18" charset="0"/>
                <a:cs typeface="Times New Roman" panose="02020603050405020304" pitchFamily="18" charset="0"/>
              </a:rPr>
              <a:t>ab</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effectLst/>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56435407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bg>
      <p:bgPr>
        <a:pattFill prst="lgConfetti">
          <a:fgClr>
            <a:srgbClr val="E8F4E9"/>
          </a:fgClr>
          <a:bgClr>
            <a:schemeClr val="bg1"/>
          </a:bgClr>
        </a:pattFill>
        <a:effectLst/>
      </p:bgPr>
    </p:bg>
    <p:spTree>
      <p:nvGrpSpPr>
        <p:cNvPr id="1" name=""/>
        <p:cNvGrpSpPr/>
        <p:nvPr/>
      </p:nvGrpSpPr>
      <p:grpSpPr>
        <a:xfrm>
          <a:off x="0" y="0"/>
          <a:ext cx="0" cy="0"/>
          <a:chOff x="0" y="0"/>
          <a:chExt cx="0" cy="0"/>
        </a:xfrm>
      </p:grpSpPr>
      <p:graphicFrame>
        <p:nvGraphicFramePr>
          <p:cNvPr id="6" name="对象 5"/>
          <p:cNvGraphicFramePr>
            <a:graphicFrameLocks noChangeAspect="1"/>
          </p:cNvGraphicFramePr>
          <p:nvPr>
            <p:extLst>
              <p:ext uri="{D42A27DB-BD31-4B8C-83A1-F6EECF244321}">
                <p14:modId xmlns:p14="http://schemas.microsoft.com/office/powerpoint/2010/main" val="1447238234"/>
              </p:ext>
            </p:extLst>
          </p:nvPr>
        </p:nvGraphicFramePr>
        <p:xfrm>
          <a:off x="458424" y="605270"/>
          <a:ext cx="11275153" cy="1681895"/>
        </p:xfrm>
        <a:graphic>
          <a:graphicData uri="http://schemas.openxmlformats.org/presentationml/2006/ole">
            <mc:AlternateContent xmlns:mc="http://schemas.openxmlformats.org/markup-compatibility/2006">
              <mc:Choice xmlns:v="urn:schemas-microsoft-com:vml" Requires="v">
                <p:oleObj spid="_x0000_s13353" name="文档" r:id="rId3" imgW="4510061" imgH="672758" progId="Word.Document.12">
                  <p:embed/>
                </p:oleObj>
              </mc:Choice>
              <mc:Fallback>
                <p:oleObj name="文档" r:id="rId3" imgW="4510061" imgH="672758" progId="Word.Document.12">
                  <p:embed/>
                  <p:pic>
                    <p:nvPicPr>
                      <p:cNvPr id="0" name=""/>
                      <p:cNvPicPr/>
                      <p:nvPr/>
                    </p:nvPicPr>
                    <p:blipFill>
                      <a:blip r:embed="rId4"/>
                      <a:stretch>
                        <a:fillRect/>
                      </a:stretch>
                    </p:blipFill>
                    <p:spPr>
                      <a:xfrm>
                        <a:off x="458424" y="605270"/>
                        <a:ext cx="11275153" cy="1681895"/>
                      </a:xfrm>
                      <a:prstGeom prst="rect">
                        <a:avLst/>
                      </a:prstGeom>
                    </p:spPr>
                  </p:pic>
                </p:oleObj>
              </mc:Fallback>
            </mc:AlternateContent>
          </a:graphicData>
        </a:graphic>
      </p:graphicFrame>
      <p:sp>
        <p:nvSpPr>
          <p:cNvPr id="7" name="矩形 6"/>
          <p:cNvSpPr>
            <a:spLocks noChangeAspect="1"/>
          </p:cNvSpPr>
          <p:nvPr/>
        </p:nvSpPr>
        <p:spPr>
          <a:xfrm>
            <a:off x="381000" y="2266383"/>
            <a:ext cx="11430000" cy="1167435"/>
          </a:xfrm>
          <a:prstGeom prst="rect">
            <a:avLst/>
          </a:prstGeom>
        </p:spPr>
        <p:txBody>
          <a:bodyPr>
            <a:spAutoFit/>
          </a:bodyPr>
          <a:lstStyle/>
          <a:p>
            <a:pPr indent="279400">
              <a:lnSpc>
                <a:spcPct val="130000"/>
              </a:lnSpc>
              <a:spcAft>
                <a:spcPts val="0"/>
              </a:spcAft>
              <a:tabLst>
                <a:tab pos="1029335" algn="l"/>
                <a:tab pos="1850390" algn="l"/>
                <a:tab pos="2538095" algn="l"/>
                <a:tab pos="3221990" algn="l"/>
              </a:tabLst>
            </a:pPr>
            <a:r>
              <a:rPr lang="zh-CN"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解</a:t>
            </a:r>
            <a:r>
              <a:rPr lang="en-US"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(1)</a:t>
            </a:r>
            <a:r>
              <a:rPr lang="zh-CN" altLang="zh-CN" sz="2800" dirty="0">
                <a:solidFill>
                  <a:srgbClr val="000000"/>
                </a:solidFill>
                <a:latin typeface="NEU-BZ-S92"/>
                <a:cs typeface="宋体" panose="02010600030101010101" pitchFamily="2" charset="-122"/>
              </a:rPr>
              <a:t>∵∠</a:t>
            </a:r>
            <a:r>
              <a:rPr lang="en-US" altLang="zh-CN" sz="2800" i="1" dirty="0">
                <a:solidFill>
                  <a:srgbClr val="000000"/>
                </a:solidFill>
                <a:latin typeface="Times New Roman" panose="02020603050405020304" pitchFamily="18" charset="0"/>
                <a:cs typeface="Times New Roman" panose="02020603050405020304" pitchFamily="18" charset="0"/>
              </a:rPr>
              <a:t>BAA</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60</a:t>
            </a:r>
            <a:r>
              <a:rPr lang="en-US" altLang="zh-CN" sz="2800" dirty="0">
                <a:solidFill>
                  <a:srgbClr val="000000"/>
                </a:solidFill>
                <a:latin typeface="宋体" panose="02010600030101010101" pitchFamily="2" charset="-122"/>
                <a:ea typeface="方正书宋_GBK" panose="03000509000000000000" pitchFamily="65" charset="-122"/>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a:p>
            <a:pPr indent="279400">
              <a:lnSpc>
                <a:spcPct val="130000"/>
              </a:lnSpc>
              <a:spcAft>
                <a:spcPts val="0"/>
              </a:spcAft>
              <a:tabLst>
                <a:tab pos="1029335" algn="l"/>
                <a:tab pos="1850390" algn="l"/>
                <a:tab pos="2538095" algn="l"/>
                <a:tab pos="3221990" algn="l"/>
              </a:tabLst>
            </a:pPr>
            <a:r>
              <a:rPr lang="zh-CN" altLang="zh-CN" sz="2800" dirty="0">
                <a:solidFill>
                  <a:srgbClr val="000000"/>
                </a:solidFill>
                <a:latin typeface="NEU-BZ-S92"/>
                <a:cs typeface="宋体" panose="02010600030101010101" pitchFamily="2" charset="-122"/>
              </a:rPr>
              <a:t>∴</a:t>
            </a:r>
            <a:r>
              <a:rPr lang="en-US" altLang="zh-CN" sz="2800" b="1" dirty="0" err="1">
                <a:solidFill>
                  <a:srgbClr val="000000"/>
                </a:solidFill>
                <a:latin typeface="Times New Roman" panose="02020603050405020304" pitchFamily="18" charset="0"/>
                <a:cs typeface="Times New Roman" panose="02020603050405020304" pitchFamily="18" charset="0"/>
              </a:rPr>
              <a:t>a</a:t>
            </a:r>
            <a:r>
              <a:rPr lang="en-US" altLang="zh-CN" sz="2800" dirty="0" err="1">
                <a:solidFill>
                  <a:srgbClr val="000000"/>
                </a:solidFill>
                <a:latin typeface="Times New Roman" panose="02020603050405020304" pitchFamily="18" charset="0"/>
                <a:cs typeface="Times New Roman" panose="02020603050405020304" pitchFamily="18" charset="0"/>
              </a:rPr>
              <a:t>·</a:t>
            </a:r>
            <a:r>
              <a:rPr lang="en-US" altLang="zh-CN" sz="2800" b="1" dirty="0" err="1">
                <a:solidFill>
                  <a:srgbClr val="000000"/>
                </a:solidFill>
                <a:latin typeface="Times New Roman" panose="02020603050405020304" pitchFamily="18" charset="0"/>
                <a:cs typeface="Times New Roman" panose="02020603050405020304" pitchFamily="18" charset="0"/>
              </a:rPr>
              <a:t>b</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b="1" dirty="0">
                <a:solidFill>
                  <a:srgbClr val="000000"/>
                </a:solidFill>
                <a:latin typeface="Times New Roman" panose="02020603050405020304" pitchFamily="18" charset="0"/>
                <a:cs typeface="Times New Roman" panose="02020603050405020304" pitchFamily="18" charset="0"/>
              </a:rPr>
              <a:t>|a||</a:t>
            </a:r>
            <a:r>
              <a:rPr lang="en-US" altLang="zh-CN" sz="2800" b="1" dirty="0" err="1">
                <a:solidFill>
                  <a:srgbClr val="000000"/>
                </a:solidFill>
                <a:latin typeface="Times New Roman" panose="02020603050405020304" pitchFamily="18" charset="0"/>
                <a:cs typeface="Times New Roman" panose="02020603050405020304" pitchFamily="18" charset="0"/>
              </a:rPr>
              <a:t>b</a:t>
            </a:r>
            <a:r>
              <a:rPr lang="en-US" altLang="zh-CN" sz="2800" i="1" dirty="0" err="1">
                <a:solidFill>
                  <a:srgbClr val="000000"/>
                </a:solidFill>
                <a:latin typeface="Times New Roman" panose="02020603050405020304" pitchFamily="18" charset="0"/>
                <a:cs typeface="Times New Roman" panose="02020603050405020304" pitchFamily="18" charset="0"/>
              </a:rPr>
              <a:t>|</a:t>
            </a:r>
            <a:r>
              <a:rPr lang="en-US" altLang="zh-CN" sz="2800" dirty="0" err="1">
                <a:solidFill>
                  <a:srgbClr val="000000"/>
                </a:solidFill>
                <a:latin typeface="Times New Roman" panose="02020603050405020304" pitchFamily="18" charset="0"/>
                <a:cs typeface="Times New Roman" panose="02020603050405020304" pitchFamily="18" charset="0"/>
              </a:rPr>
              <a:t>cos</a:t>
            </a:r>
            <a:r>
              <a:rPr lang="en-US" altLang="zh-CN" sz="2800" i="1" dirty="0">
                <a:solidFill>
                  <a:srgbClr val="000000"/>
                </a:solidFill>
                <a:latin typeface="Times New Roman" panose="02020603050405020304" pitchFamily="18" charset="0"/>
                <a:cs typeface="Times New Roman" panose="02020603050405020304" pitchFamily="18" charset="0"/>
              </a:rPr>
              <a:t>&lt;</a:t>
            </a:r>
            <a:r>
              <a:rPr lang="en-US" altLang="zh-CN" sz="2800" b="1" dirty="0" err="1">
                <a:solidFill>
                  <a:srgbClr val="000000"/>
                </a:solidFill>
                <a:latin typeface="Times New Roman" panose="02020603050405020304" pitchFamily="18" charset="0"/>
                <a:cs typeface="Times New Roman" panose="02020603050405020304" pitchFamily="18" charset="0"/>
              </a:rPr>
              <a:t>a</a:t>
            </a:r>
            <a:r>
              <a:rPr lang="en-US" altLang="zh-CN" sz="2800" dirty="0" err="1">
                <a:solidFill>
                  <a:srgbClr val="000000"/>
                </a:solidFill>
                <a:latin typeface="Times New Roman" panose="02020603050405020304" pitchFamily="18" charset="0"/>
                <a:cs typeface="Times New Roman" panose="02020603050405020304" pitchFamily="18" charset="0"/>
              </a:rPr>
              <a:t>,</a:t>
            </a:r>
            <a:r>
              <a:rPr lang="en-US" altLang="zh-CN" sz="2800" b="1" dirty="0" err="1">
                <a:solidFill>
                  <a:srgbClr val="000000"/>
                </a:solidFill>
                <a:latin typeface="Times New Roman" panose="02020603050405020304" pitchFamily="18" charset="0"/>
                <a:cs typeface="Times New Roman" panose="02020603050405020304" pitchFamily="18" charset="0"/>
              </a:rPr>
              <a:t>b</a:t>
            </a:r>
            <a:r>
              <a:rPr lang="en-US" altLang="zh-CN" sz="2800" i="1" dirty="0">
                <a:solidFill>
                  <a:srgbClr val="000000"/>
                </a:solidFill>
                <a:latin typeface="Times New Roman" panose="02020603050405020304" pitchFamily="18" charset="0"/>
                <a:cs typeface="Times New Roman" panose="02020603050405020304" pitchFamily="18" charset="0"/>
              </a:rPr>
              <a:t>&gt;=</a:t>
            </a:r>
            <a:r>
              <a:rPr lang="en-US" altLang="zh-CN" sz="2800" dirty="0">
                <a:solidFill>
                  <a:srgbClr val="000000"/>
                </a:solidFill>
                <a:latin typeface="Times New Roman" panose="02020603050405020304" pitchFamily="18" charset="0"/>
                <a:cs typeface="Times New Roman" panose="02020603050405020304" pitchFamily="18" charset="0"/>
              </a:rPr>
              <a:t>2×2×cos</a:t>
            </a:r>
            <a:r>
              <a:rPr lang="en-US"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 </a:t>
            </a:r>
            <a:r>
              <a:rPr lang="en-US" altLang="zh-CN" sz="2800" dirty="0">
                <a:solidFill>
                  <a:srgbClr val="000000"/>
                </a:solidFill>
                <a:latin typeface="Times New Roman" panose="02020603050405020304" pitchFamily="18" charset="0"/>
                <a:cs typeface="Times New Roman" panose="02020603050405020304" pitchFamily="18" charset="0"/>
              </a:rPr>
              <a:t>60</a:t>
            </a:r>
            <a:r>
              <a:rPr lang="en-US" altLang="zh-CN" sz="2800" dirty="0">
                <a:solidFill>
                  <a:srgbClr val="000000"/>
                </a:solidFill>
                <a:latin typeface="宋体" panose="02010600030101010101" pitchFamily="2" charset="-122"/>
                <a:ea typeface="方正书宋_GBK" panose="03000509000000000000" pitchFamily="65" charset="-122"/>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effectLst/>
              <a:latin typeface="NEU-BZ-S92"/>
              <a:ea typeface="方正书宋_GBK" panose="03000509000000000000" pitchFamily="65" charset="-122"/>
              <a:cs typeface="Times New Roman" panose="02020603050405020304" pitchFamily="18" charset="0"/>
            </a:endParaRPr>
          </a:p>
        </p:txBody>
      </p:sp>
      <p:graphicFrame>
        <p:nvGraphicFramePr>
          <p:cNvPr id="9" name="对象 8"/>
          <p:cNvGraphicFramePr>
            <a:graphicFrameLocks noChangeAspect="1"/>
          </p:cNvGraphicFramePr>
          <p:nvPr>
            <p:extLst>
              <p:ext uri="{D42A27DB-BD31-4B8C-83A1-F6EECF244321}">
                <p14:modId xmlns:p14="http://schemas.microsoft.com/office/powerpoint/2010/main" val="3594171456"/>
              </p:ext>
            </p:extLst>
          </p:nvPr>
        </p:nvGraphicFramePr>
        <p:xfrm>
          <a:off x="53178" y="3485773"/>
          <a:ext cx="11275153" cy="1714240"/>
        </p:xfrm>
        <a:graphic>
          <a:graphicData uri="http://schemas.openxmlformats.org/presentationml/2006/ole">
            <mc:AlternateContent xmlns:mc="http://schemas.openxmlformats.org/markup-compatibility/2006">
              <mc:Choice xmlns:v="urn:schemas-microsoft-com:vml" Requires="v">
                <p:oleObj spid="_x0000_s13354" name="文档" r:id="rId5" imgW="4510061" imgH="685696" progId="Word.Document.12">
                  <p:embed/>
                </p:oleObj>
              </mc:Choice>
              <mc:Fallback>
                <p:oleObj name="文档" r:id="rId5" imgW="4510061" imgH="685696" progId="Word.Document.12">
                  <p:embed/>
                  <p:pic>
                    <p:nvPicPr>
                      <p:cNvPr id="0" name=""/>
                      <p:cNvPicPr/>
                      <p:nvPr/>
                    </p:nvPicPr>
                    <p:blipFill>
                      <a:blip r:embed="rId6"/>
                      <a:stretch>
                        <a:fillRect/>
                      </a:stretch>
                    </p:blipFill>
                    <p:spPr>
                      <a:xfrm>
                        <a:off x="53178" y="3485773"/>
                        <a:ext cx="11275153" cy="1714240"/>
                      </a:xfrm>
                      <a:prstGeom prst="rect">
                        <a:avLst/>
                      </a:prstGeom>
                    </p:spPr>
                  </p:pic>
                </p:oleObj>
              </mc:Fallback>
            </mc:AlternateContent>
          </a:graphicData>
        </a:graphic>
      </p:graphicFrame>
    </p:spTree>
    <p:extLst>
      <p:ext uri="{BB962C8B-B14F-4D97-AF65-F5344CB8AC3E}">
        <p14:creationId xmlns:p14="http://schemas.microsoft.com/office/powerpoint/2010/main" val="43930006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randombar(horizontal)">
                                      <p:cBhvr>
                                        <p:cTn id="7" dur="500"/>
                                        <p:tgtEl>
                                          <p:spTgt spid="9"/>
                                        </p:tgtEl>
                                      </p:cBhvr>
                                    </p:animEffect>
                                  </p:childTnLst>
                                </p:cTn>
                              </p:par>
                              <p:par>
                                <p:cTn id="8" presetID="14" presetClass="entr" presetSubtype="10" fill="hold" grpId="0"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randombar(horizontal)">
                                      <p:cBhvr>
                                        <p:cTn id="10"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组合 8"/>
          <p:cNvGrpSpPr/>
          <p:nvPr/>
        </p:nvGrpSpPr>
        <p:grpSpPr>
          <a:xfrm>
            <a:off x="2" y="151371"/>
            <a:ext cx="11336478" cy="433754"/>
            <a:chOff x="381000" y="205656"/>
            <a:chExt cx="11336478" cy="433754"/>
          </a:xfrm>
        </p:grpSpPr>
        <p:sp>
          <p:nvSpPr>
            <p:cNvPr id="10" name="矩形 9"/>
            <p:cNvSpPr/>
            <p:nvPr/>
          </p:nvSpPr>
          <p:spPr>
            <a:xfrm>
              <a:off x="1999940" y="230648"/>
              <a:ext cx="192275" cy="401795"/>
            </a:xfrm>
            <a:prstGeom prst="rect">
              <a:avLst/>
            </a:prstGeom>
            <a:noFill/>
            <a:ln w="19050">
              <a:solidFill>
                <a:schemeClr val="accent4">
                  <a:lumMod val="75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00"/>
            </a:p>
          </p:txBody>
        </p:sp>
        <p:grpSp>
          <p:nvGrpSpPr>
            <p:cNvPr id="11" name="组合 10"/>
            <p:cNvGrpSpPr/>
            <p:nvPr/>
          </p:nvGrpSpPr>
          <p:grpSpPr>
            <a:xfrm>
              <a:off x="381000" y="205656"/>
              <a:ext cx="11336478" cy="433754"/>
              <a:chOff x="3048000" y="2286000"/>
              <a:chExt cx="4813646" cy="457200"/>
            </a:xfrm>
          </p:grpSpPr>
          <p:sp>
            <p:nvSpPr>
              <p:cNvPr id="12" name="矩形 11"/>
              <p:cNvSpPr/>
              <p:nvPr/>
            </p:nvSpPr>
            <p:spPr>
              <a:xfrm>
                <a:off x="3048000" y="2286000"/>
                <a:ext cx="769070" cy="457200"/>
              </a:xfrm>
              <a:prstGeom prst="rect">
                <a:avLst/>
              </a:prstGeom>
              <a:solidFill>
                <a:srgbClr val="74877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800" b="1" dirty="0" smtClean="0">
                    <a:solidFill>
                      <a:schemeClr val="bg1"/>
                    </a:solidFill>
                  </a:rPr>
                  <a:t>探究二</a:t>
                </a:r>
              </a:p>
            </p:txBody>
          </p:sp>
          <p:sp>
            <p:nvSpPr>
              <p:cNvPr id="13" name="矩形 12"/>
              <p:cNvSpPr/>
              <p:nvPr/>
            </p:nvSpPr>
            <p:spPr>
              <a:xfrm>
                <a:off x="3909004" y="2286000"/>
                <a:ext cx="3952642" cy="457200"/>
              </a:xfrm>
              <a:prstGeom prst="rect">
                <a:avLst/>
              </a:prstGeom>
              <a:gradFill flip="none" rotWithShape="1">
                <a:gsLst>
                  <a:gs pos="0">
                    <a:srgbClr val="DCDCDC">
                      <a:shade val="30000"/>
                      <a:satMod val="115000"/>
                    </a:srgbClr>
                  </a:gs>
                  <a:gs pos="51000">
                    <a:srgbClr val="DCDCDC">
                      <a:shade val="67500"/>
                      <a:satMod val="115000"/>
                    </a:srgbClr>
                  </a:gs>
                  <a:gs pos="73000">
                    <a:srgbClr val="DCDCDC">
                      <a:shade val="100000"/>
                      <a:satMod val="115000"/>
                      <a:alpha val="0"/>
                    </a:srgb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2800" b="1" dirty="0">
                    <a:solidFill>
                      <a:schemeClr val="bg1"/>
                    </a:solidFill>
                  </a:rPr>
                  <a:t>利用数量积证明空间中的垂直关系</a:t>
                </a:r>
              </a:p>
            </p:txBody>
          </p:sp>
        </p:grpSp>
      </p:grpSp>
      <p:sp>
        <p:nvSpPr>
          <p:cNvPr id="3" name="矩形 2"/>
          <p:cNvSpPr>
            <a:spLocks noChangeAspect="1"/>
          </p:cNvSpPr>
          <p:nvPr/>
        </p:nvSpPr>
        <p:spPr>
          <a:xfrm>
            <a:off x="381000" y="591060"/>
            <a:ext cx="11430000" cy="1152367"/>
          </a:xfrm>
          <a:prstGeom prst="rect">
            <a:avLst/>
          </a:prstGeom>
        </p:spPr>
        <p:txBody>
          <a:bodyPr>
            <a:spAutoFit/>
          </a:bodyPr>
          <a:lstStyle/>
          <a:p>
            <a:pPr indent="279400">
              <a:lnSpc>
                <a:spcPct val="130000"/>
              </a:lnSpc>
              <a:spcAft>
                <a:spcPts val="0"/>
              </a:spcAft>
              <a:tabLst>
                <a:tab pos="1188085" algn="l"/>
                <a:tab pos="2163445" algn="l"/>
                <a:tab pos="3142615" algn="l"/>
                <a:tab pos="4190365" algn="l"/>
              </a:tabLst>
            </a:pPr>
            <a:r>
              <a:rPr lang="zh-CN" altLang="zh-CN" sz="2800" dirty="0">
                <a:solidFill>
                  <a:srgbClr val="000000"/>
                </a:solidFill>
                <a:latin typeface="Arial" panose="020B0604020202020204" pitchFamily="34" charset="0"/>
                <a:ea typeface="黑体" panose="02010609060101010101" pitchFamily="49" charset="-122"/>
                <a:cs typeface="Times New Roman" panose="02020603050405020304" pitchFamily="18" charset="0"/>
              </a:rPr>
              <a:t>【例</a:t>
            </a:r>
            <a:r>
              <a:rPr lang="en-US" altLang="zh-CN" sz="2800" b="1" dirty="0">
                <a:solidFill>
                  <a:srgbClr val="000000"/>
                </a:solidFill>
                <a:latin typeface="Times New Roman" panose="02020603050405020304" pitchFamily="18" charset="0"/>
                <a:cs typeface="Times New Roman" panose="02020603050405020304" pitchFamily="18" charset="0"/>
              </a:rPr>
              <a:t>2</a:t>
            </a:r>
            <a:r>
              <a:rPr lang="zh-CN" altLang="zh-CN" sz="2800" dirty="0">
                <a:solidFill>
                  <a:srgbClr val="000000"/>
                </a:solidFill>
                <a:latin typeface="Arial" panose="020B0604020202020204" pitchFamily="34" charset="0"/>
                <a:ea typeface="黑体" panose="02010609060101010101" pitchFamily="49" charset="-122"/>
                <a:cs typeface="Times New Roman" panose="02020603050405020304" pitchFamily="18" charset="0"/>
              </a:rPr>
              <a:t>】</a:t>
            </a:r>
            <a:r>
              <a:rPr lang="zh-CN" altLang="zh-CN" sz="2800" dirty="0">
                <a:solidFill>
                  <a:srgbClr val="000000"/>
                </a:solidFill>
                <a:latin typeface="NEU-BZ-S92"/>
                <a:ea typeface="Arial" panose="020B0604020202020204" pitchFamily="34" charset="0"/>
                <a:cs typeface="Times New Roman" panose="02020603050405020304" pitchFamily="18" charset="0"/>
              </a:rPr>
              <a:t> </a:t>
            </a:r>
            <a:r>
              <a:rPr lang="zh-CN" altLang="zh-CN" sz="2800" dirty="0">
                <a:solidFill>
                  <a:srgbClr val="000000"/>
                </a:solidFill>
                <a:latin typeface="Times New Roman" panose="02020603050405020304" pitchFamily="18" charset="0"/>
                <a:cs typeface="Times New Roman" panose="02020603050405020304" pitchFamily="18" charset="0"/>
              </a:rPr>
              <a:t>如图</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在正方体</a:t>
            </a:r>
            <a:r>
              <a:rPr lang="en-US" altLang="zh-CN" sz="2800" i="1" dirty="0">
                <a:solidFill>
                  <a:srgbClr val="000000"/>
                </a:solidFill>
                <a:latin typeface="Times New Roman" panose="02020603050405020304" pitchFamily="18" charset="0"/>
                <a:cs typeface="Times New Roman" panose="02020603050405020304" pitchFamily="18" charset="0"/>
              </a:rPr>
              <a:t>ABCD-A</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B</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C</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D</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zh-CN" altLang="zh-CN" sz="2800" dirty="0">
                <a:solidFill>
                  <a:srgbClr val="000000"/>
                </a:solidFill>
                <a:latin typeface="Times New Roman" panose="02020603050405020304" pitchFamily="18" charset="0"/>
                <a:cs typeface="Times New Roman" panose="02020603050405020304" pitchFamily="18" charset="0"/>
              </a:rPr>
              <a:t>中</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E</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F</a:t>
            </a:r>
            <a:r>
              <a:rPr lang="zh-CN" altLang="zh-CN" sz="2800" dirty="0">
                <a:solidFill>
                  <a:srgbClr val="000000"/>
                </a:solidFill>
                <a:latin typeface="Times New Roman" panose="02020603050405020304" pitchFamily="18" charset="0"/>
                <a:cs typeface="Times New Roman" panose="02020603050405020304" pitchFamily="18" charset="0"/>
              </a:rPr>
              <a:t>分别是</a:t>
            </a:r>
            <a:r>
              <a:rPr lang="en-US" altLang="zh-CN" sz="2800" i="1" dirty="0">
                <a:solidFill>
                  <a:srgbClr val="000000"/>
                </a:solidFill>
                <a:latin typeface="Times New Roman" panose="02020603050405020304" pitchFamily="18" charset="0"/>
                <a:cs typeface="Times New Roman" panose="02020603050405020304" pitchFamily="18" charset="0"/>
              </a:rPr>
              <a:t>BB</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D</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B</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zh-CN" altLang="zh-CN" sz="2800" dirty="0">
                <a:solidFill>
                  <a:srgbClr val="000000"/>
                </a:solidFill>
                <a:latin typeface="Times New Roman" panose="02020603050405020304" pitchFamily="18" charset="0"/>
                <a:cs typeface="Times New Roman" panose="02020603050405020304" pitchFamily="18" charset="0"/>
              </a:rPr>
              <a:t>的中点</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求证</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EF</a:t>
            </a:r>
            <a:r>
              <a:rPr lang="zh-CN" altLang="zh-CN" sz="2800" dirty="0">
                <a:solidFill>
                  <a:srgbClr val="000000"/>
                </a:solidFill>
                <a:latin typeface="NEU-BZ-S92"/>
                <a:cs typeface="宋体" panose="02010600030101010101" pitchFamily="2" charset="-122"/>
              </a:rPr>
              <a:t>⊥</a:t>
            </a:r>
            <a:r>
              <a:rPr lang="zh-CN" altLang="zh-CN" sz="2800" dirty="0">
                <a:solidFill>
                  <a:srgbClr val="000000"/>
                </a:solidFill>
                <a:latin typeface="Times New Roman" panose="02020603050405020304" pitchFamily="18" charset="0"/>
                <a:cs typeface="Times New Roman" panose="02020603050405020304" pitchFamily="18" charset="0"/>
              </a:rPr>
              <a:t>平面</a:t>
            </a:r>
            <a:r>
              <a:rPr lang="en-US" altLang="zh-CN" sz="2800" i="1" dirty="0">
                <a:solidFill>
                  <a:srgbClr val="000000"/>
                </a:solidFill>
                <a:latin typeface="Times New Roman" panose="02020603050405020304" pitchFamily="18" charset="0"/>
                <a:cs typeface="Times New Roman" panose="02020603050405020304" pitchFamily="18" charset="0"/>
              </a:rPr>
              <a:t>B</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AC.</a:t>
            </a:r>
            <a:endParaRPr lang="zh-CN" altLang="zh-CN" sz="2800" dirty="0">
              <a:solidFill>
                <a:srgbClr val="000000"/>
              </a:solidFill>
              <a:effectLst/>
              <a:latin typeface="NEU-BZ-S92"/>
              <a:ea typeface="方正书宋_GBK" panose="03000509000000000000" pitchFamily="65" charset="-122"/>
              <a:cs typeface="Times New Roman" panose="02020603050405020304" pitchFamily="18" charset="0"/>
            </a:endParaRPr>
          </a:p>
        </p:txBody>
      </p:sp>
      <p:graphicFrame>
        <p:nvGraphicFramePr>
          <p:cNvPr id="4" name="对象 3"/>
          <p:cNvGraphicFramePr>
            <a:graphicFrameLocks noChangeAspect="1"/>
          </p:cNvGraphicFramePr>
          <p:nvPr>
            <p:extLst>
              <p:ext uri="{D42A27DB-BD31-4B8C-83A1-F6EECF244321}">
                <p14:modId xmlns:p14="http://schemas.microsoft.com/office/powerpoint/2010/main" val="493379535"/>
              </p:ext>
            </p:extLst>
          </p:nvPr>
        </p:nvGraphicFramePr>
        <p:xfrm>
          <a:off x="381000" y="4525137"/>
          <a:ext cx="11430000" cy="2010264"/>
        </p:xfrm>
        <a:graphic>
          <a:graphicData uri="http://schemas.openxmlformats.org/presentationml/2006/ole">
            <mc:AlternateContent xmlns:mc="http://schemas.openxmlformats.org/markup-compatibility/2006">
              <mc:Choice xmlns:v="urn:schemas-microsoft-com:vml" Requires="v">
                <p:oleObj spid="_x0000_s14363" name="文档" r:id="rId3" imgW="4510061" imgH="793212" progId="Word.Document.12">
                  <p:embed/>
                </p:oleObj>
              </mc:Choice>
              <mc:Fallback>
                <p:oleObj name="文档" r:id="rId3" imgW="4510061" imgH="793212" progId="Word.Document.12">
                  <p:embed/>
                  <p:pic>
                    <p:nvPicPr>
                      <p:cNvPr id="0" name=""/>
                      <p:cNvPicPr/>
                      <p:nvPr/>
                    </p:nvPicPr>
                    <p:blipFill>
                      <a:blip r:embed="rId4"/>
                      <a:stretch>
                        <a:fillRect/>
                      </a:stretch>
                    </p:blipFill>
                    <p:spPr>
                      <a:xfrm>
                        <a:off x="381000" y="4525137"/>
                        <a:ext cx="11430000" cy="2010264"/>
                      </a:xfrm>
                      <a:prstGeom prst="rect">
                        <a:avLst/>
                      </a:prstGeom>
                    </p:spPr>
                  </p:pic>
                </p:oleObj>
              </mc:Fallback>
            </mc:AlternateContent>
          </a:graphicData>
        </a:graphic>
      </p:graphicFrame>
      <p:pic>
        <p:nvPicPr>
          <p:cNvPr id="15" name="NMX1TRAX22.eps" descr="id:2147512869;FounderCES"/>
          <p:cNvPicPr>
            <a:picLocks noChangeAspect="1"/>
          </p:cNvPicPr>
          <p:nvPr/>
        </p:nvPicPr>
        <p:blipFill>
          <a:blip r:embed="rId5">
            <a:clrChange>
              <a:clrFrom>
                <a:srgbClr val="FFFFFF"/>
              </a:clrFrom>
              <a:clrTo>
                <a:srgbClr val="FFFFFF">
                  <a:alpha val="0"/>
                </a:srgbClr>
              </a:clrTo>
            </a:clrChange>
          </a:blip>
          <a:stretch>
            <a:fillRect/>
          </a:stretch>
        </p:blipFill>
        <p:spPr>
          <a:xfrm>
            <a:off x="4380559" y="1386028"/>
            <a:ext cx="3430882" cy="3065593"/>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41564" y="-62346"/>
            <a:ext cx="11769436" cy="6492552"/>
            <a:chOff x="41564" y="-62346"/>
            <a:chExt cx="11769436" cy="6492552"/>
          </a:xfrm>
        </p:grpSpPr>
        <p:graphicFrame>
          <p:nvGraphicFramePr>
            <p:cNvPr id="2" name="对象 1"/>
            <p:cNvGraphicFramePr>
              <a:graphicFrameLocks noChangeAspect="1"/>
            </p:cNvGraphicFramePr>
            <p:nvPr>
              <p:extLst>
                <p:ext uri="{D42A27DB-BD31-4B8C-83A1-F6EECF244321}">
                  <p14:modId xmlns:p14="http://schemas.microsoft.com/office/powerpoint/2010/main" val="1543788977"/>
                </p:ext>
              </p:extLst>
            </p:nvPr>
          </p:nvGraphicFramePr>
          <p:xfrm>
            <a:off x="41564" y="-62346"/>
            <a:ext cx="11430000" cy="5529369"/>
          </p:xfrm>
          <a:graphic>
            <a:graphicData uri="http://schemas.openxmlformats.org/presentationml/2006/ole">
              <mc:AlternateContent xmlns:mc="http://schemas.openxmlformats.org/markup-compatibility/2006">
                <mc:Choice xmlns:v="urn:schemas-microsoft-com:vml" Requires="v">
                  <p:oleObj spid="_x0000_s15385" name="文档" r:id="rId3" imgW="4510061" imgH="2181784" progId="Word.Document.12">
                    <p:embed/>
                  </p:oleObj>
                </mc:Choice>
                <mc:Fallback>
                  <p:oleObj name="文档" r:id="rId3" imgW="4510061" imgH="2181784" progId="Word.Document.12">
                    <p:embed/>
                    <p:pic>
                      <p:nvPicPr>
                        <p:cNvPr id="0" name=""/>
                        <p:cNvPicPr/>
                        <p:nvPr/>
                      </p:nvPicPr>
                      <p:blipFill>
                        <a:blip r:embed="rId4"/>
                        <a:stretch>
                          <a:fillRect/>
                        </a:stretch>
                      </p:blipFill>
                      <p:spPr>
                        <a:xfrm>
                          <a:off x="41564" y="-62346"/>
                          <a:ext cx="11430000" cy="5529369"/>
                        </a:xfrm>
                        <a:prstGeom prst="rect">
                          <a:avLst/>
                        </a:prstGeom>
                      </p:spPr>
                    </p:pic>
                  </p:oleObj>
                </mc:Fallback>
              </mc:AlternateContent>
            </a:graphicData>
          </a:graphic>
        </p:graphicFrame>
        <p:sp>
          <p:nvSpPr>
            <p:cNvPr id="3" name="矩形 2"/>
            <p:cNvSpPr>
              <a:spLocks noChangeAspect="1"/>
            </p:cNvSpPr>
            <p:nvPr/>
          </p:nvSpPr>
          <p:spPr>
            <a:xfrm>
              <a:off x="381000" y="5277839"/>
              <a:ext cx="11430000" cy="1152367"/>
            </a:xfrm>
            <a:prstGeom prst="rect">
              <a:avLst/>
            </a:prstGeom>
          </p:spPr>
          <p:txBody>
            <a:bodyPr>
              <a:spAutoFit/>
            </a:bodyPr>
            <a:lstStyle/>
            <a:p>
              <a:pPr indent="279400">
                <a:lnSpc>
                  <a:spcPct val="130000"/>
                </a:lnSpc>
                <a:spcAft>
                  <a:spcPts val="0"/>
                </a:spcAft>
                <a:tabLst>
                  <a:tab pos="1188085" algn="l"/>
                  <a:tab pos="2163445" algn="l"/>
                  <a:tab pos="3142615" algn="l"/>
                  <a:tab pos="4190365" algn="l"/>
                </a:tabLst>
              </a:pP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同理可证</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EF</a:t>
              </a:r>
              <a:r>
                <a:rPr lang="zh-CN" altLang="zh-CN" sz="2800" dirty="0">
                  <a:solidFill>
                    <a:srgbClr val="000000"/>
                  </a:solidFill>
                  <a:latin typeface="NEU-BZ-S92"/>
                  <a:cs typeface="宋体" panose="02010600030101010101" pitchFamily="2" charset="-122"/>
                </a:rPr>
                <a:t>⊥</a:t>
              </a:r>
              <a:r>
                <a:rPr lang="en-US" altLang="zh-CN" sz="2800" i="1" dirty="0">
                  <a:solidFill>
                    <a:srgbClr val="000000"/>
                  </a:solidFill>
                  <a:latin typeface="Times New Roman" panose="02020603050405020304" pitchFamily="18" charset="0"/>
                  <a:cs typeface="Times New Roman" panose="02020603050405020304" pitchFamily="18" charset="0"/>
                </a:rPr>
                <a:t>B</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C.</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zh-CN" altLang="zh-CN" sz="2800" dirty="0">
                  <a:solidFill>
                    <a:srgbClr val="000000"/>
                  </a:solidFill>
                  <a:latin typeface="NEU-BZ-S92"/>
                  <a:cs typeface="宋体" panose="02010600030101010101" pitchFamily="2" charset="-122"/>
                </a:rPr>
                <a:t>∵</a:t>
              </a:r>
              <a:r>
                <a:rPr lang="en-US" altLang="zh-CN" sz="2800" i="1" dirty="0">
                  <a:solidFill>
                    <a:srgbClr val="000000"/>
                  </a:solidFill>
                  <a:latin typeface="Times New Roman" panose="02020603050405020304" pitchFamily="18" charset="0"/>
                  <a:cs typeface="Times New Roman" panose="02020603050405020304" pitchFamily="18" charset="0"/>
                </a:rPr>
                <a:t>AB</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B</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C=B</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且</a:t>
              </a:r>
              <a:r>
                <a:rPr lang="en-US" altLang="zh-CN" sz="2800" i="1" dirty="0">
                  <a:solidFill>
                    <a:srgbClr val="000000"/>
                  </a:solidFill>
                  <a:latin typeface="Times New Roman" panose="02020603050405020304" pitchFamily="18" charset="0"/>
                  <a:cs typeface="Times New Roman" panose="02020603050405020304" pitchFamily="18" charset="0"/>
                </a:rPr>
                <a:t>AB</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B</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C</a:t>
              </a:r>
              <a:r>
                <a:rPr lang="en-US" altLang="zh-CN" sz="2800" dirty="0">
                  <a:solidFill>
                    <a:srgbClr val="000000"/>
                  </a:solidFill>
                  <a:latin typeface="Cambria Math" panose="02040503050406030204" pitchFamily="18" charset="0"/>
                  <a:ea typeface="NEU-BZ-S92"/>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平面</a:t>
              </a:r>
              <a:r>
                <a:rPr lang="en-US" altLang="zh-CN" sz="2800" i="1" dirty="0">
                  <a:solidFill>
                    <a:srgbClr val="000000"/>
                  </a:solidFill>
                  <a:latin typeface="Times New Roman" panose="02020603050405020304" pitchFamily="18" charset="0"/>
                  <a:cs typeface="Times New Roman" panose="02020603050405020304" pitchFamily="18" charset="0"/>
                </a:rPr>
                <a:t>B</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AC</a:t>
              </a:r>
              <a:r>
                <a:rPr lang="en-US" altLang="zh-CN" sz="2800" dirty="0" smtClean="0">
                  <a:solidFill>
                    <a:srgbClr val="000000"/>
                  </a:solidFill>
                  <a:latin typeface="Times New Roman" panose="02020603050405020304" pitchFamily="18" charset="0"/>
                  <a:cs typeface="Times New Roman" panose="02020603050405020304" pitchFamily="18" charset="0"/>
                </a:rPr>
                <a:t>,</a:t>
              </a:r>
              <a:r>
                <a:rPr lang="zh-CN" altLang="zh-CN" sz="2800" dirty="0" smtClean="0">
                  <a:solidFill>
                    <a:srgbClr val="000000"/>
                  </a:solidFill>
                  <a:latin typeface="NEU-BZ-S92"/>
                  <a:cs typeface="宋体" panose="02010600030101010101" pitchFamily="2" charset="-122"/>
                </a:rPr>
                <a:t>∴</a:t>
              </a:r>
              <a:r>
                <a:rPr lang="en-US" altLang="zh-CN" sz="2800" i="1" dirty="0">
                  <a:solidFill>
                    <a:srgbClr val="000000"/>
                  </a:solidFill>
                  <a:latin typeface="Times New Roman" panose="02020603050405020304" pitchFamily="18" charset="0"/>
                  <a:cs typeface="Times New Roman" panose="02020603050405020304" pitchFamily="18" charset="0"/>
                </a:rPr>
                <a:t>EF</a:t>
              </a:r>
              <a:r>
                <a:rPr lang="zh-CN" altLang="zh-CN" sz="2800" dirty="0">
                  <a:solidFill>
                    <a:srgbClr val="000000"/>
                  </a:solidFill>
                  <a:latin typeface="NEU-BZ-S92"/>
                  <a:cs typeface="宋体" panose="02010600030101010101" pitchFamily="2" charset="-122"/>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平面</a:t>
              </a:r>
              <a:r>
                <a:rPr lang="en-US" altLang="zh-CN" sz="2800" i="1" dirty="0">
                  <a:solidFill>
                    <a:srgbClr val="000000"/>
                  </a:solidFill>
                  <a:latin typeface="Times New Roman" panose="02020603050405020304" pitchFamily="18" charset="0"/>
                  <a:cs typeface="Times New Roman" panose="02020603050405020304" pitchFamily="18" charset="0"/>
                </a:rPr>
                <a:t>B</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AC.</a:t>
              </a:r>
              <a:endParaRPr lang="zh-CN" altLang="zh-CN" sz="2800" dirty="0">
                <a:solidFill>
                  <a:srgbClr val="000000"/>
                </a:solidFill>
                <a:effectLst/>
                <a:latin typeface="NEU-BZ-S92"/>
                <a:ea typeface="方正书宋_GBK" panose="03000509000000000000" pitchFamily="65" charset="-122"/>
                <a:cs typeface="Times New Roman" panose="02020603050405020304" pitchFamily="18" charset="0"/>
              </a:endParaRPr>
            </a:p>
          </p:txBody>
        </p:sp>
      </p:grpSp>
    </p:spTree>
    <p:extLst>
      <p:ext uri="{BB962C8B-B14F-4D97-AF65-F5344CB8AC3E}">
        <p14:creationId xmlns:p14="http://schemas.microsoft.com/office/powerpoint/2010/main" val="152731349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81000" y="1610329"/>
            <a:ext cx="11430000" cy="2332946"/>
          </a:xfrm>
          <a:prstGeom prst="rect">
            <a:avLst/>
          </a:prstGeom>
        </p:spPr>
        <p:txBody>
          <a:bodyPr>
            <a:spAutoFit/>
          </a:bodyPr>
          <a:lstStyle/>
          <a:p>
            <a:pPr indent="306000">
              <a:lnSpc>
                <a:spcPct val="130000"/>
              </a:lnSpc>
              <a:spcAft>
                <a:spcPts val="0"/>
              </a:spcAft>
              <a:tabLst>
                <a:tab pos="1188085" algn="l"/>
                <a:tab pos="2163445" algn="l"/>
                <a:tab pos="3142615" algn="l"/>
                <a:tab pos="4190365" algn="l"/>
              </a:tabLst>
            </a:pPr>
            <a:r>
              <a:rPr lang="zh-CN" altLang="en-US" sz="2800" dirty="0">
                <a:solidFill>
                  <a:srgbClr val="000000"/>
                </a:solidFill>
                <a:latin typeface="黑体" panose="02010609060101010101" pitchFamily="49" charset="-122"/>
                <a:ea typeface="黑体" panose="02010609060101010101" pitchFamily="49" charset="-122"/>
                <a:cs typeface="Times New Roman" panose="02020603050405020304" pitchFamily="18" charset="0"/>
              </a:rPr>
              <a:t>反思感悟 </a:t>
            </a:r>
            <a:r>
              <a:rPr lang="zh-CN" altLang="zh-CN" sz="2800" dirty="0" smtClean="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当</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直接当直接证明线线垂直但条件不易利用时</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常常考虑证明两线段所对应的向量的数量积等于零</a:t>
            </a:r>
            <a:r>
              <a:rPr lang="en-US" altLang="zh-CN" sz="2800" i="1"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利用向量证明垂直的一般方法是把线段转化为向量</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并用已知向量表示未知向量</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然后通过向量的线性运算及数量积和垂直条件来完成位置关系的判定</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41452406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81000" y="307686"/>
            <a:ext cx="11430000" cy="5133713"/>
          </a:xfrm>
          <a:prstGeom prst="rect">
            <a:avLst/>
          </a:prstGeom>
        </p:spPr>
        <p:txBody>
          <a:bodyPr>
            <a:spAutoFit/>
          </a:bodyPr>
          <a:lstStyle/>
          <a:p>
            <a:pPr indent="279400">
              <a:lnSpc>
                <a:spcPct val="130000"/>
              </a:lnSpc>
              <a:spcAft>
                <a:spcPts val="0"/>
              </a:spcAft>
              <a:tabLst>
                <a:tab pos="1188085" algn="l"/>
                <a:tab pos="2163445" algn="l"/>
                <a:tab pos="3142615" algn="l"/>
                <a:tab pos="4190365" algn="l"/>
              </a:tabLst>
            </a:pPr>
            <a:r>
              <a:rPr lang="zh-CN" altLang="zh-CN" sz="2800" dirty="0">
                <a:solidFill>
                  <a:srgbClr val="000000"/>
                </a:solidFill>
                <a:latin typeface="Arial" panose="020B0604020202020204" pitchFamily="34" charset="0"/>
                <a:ea typeface="黑体" panose="02010609060101010101" pitchFamily="49" charset="-122"/>
                <a:cs typeface="Times New Roman" panose="02020603050405020304" pitchFamily="18" charset="0"/>
              </a:rPr>
              <a:t>【变式训练</a:t>
            </a:r>
            <a:r>
              <a:rPr lang="en-US" altLang="zh-CN" sz="2800" b="1" dirty="0">
                <a:solidFill>
                  <a:srgbClr val="000000"/>
                </a:solidFill>
                <a:latin typeface="Times New Roman" panose="02020603050405020304" pitchFamily="18" charset="0"/>
                <a:cs typeface="Times New Roman" panose="02020603050405020304" pitchFamily="18" charset="0"/>
              </a:rPr>
              <a:t>2</a:t>
            </a:r>
            <a:r>
              <a:rPr lang="zh-CN" altLang="zh-CN" sz="2800" dirty="0">
                <a:solidFill>
                  <a:srgbClr val="000000"/>
                </a:solidFill>
                <a:latin typeface="Arial" panose="020B0604020202020204" pitchFamily="34" charset="0"/>
                <a:ea typeface="黑体" panose="02010609060101010101" pitchFamily="49" charset="-122"/>
                <a:cs typeface="Times New Roman" panose="02020603050405020304" pitchFamily="18" charset="0"/>
              </a:rPr>
              <a:t>】</a:t>
            </a:r>
            <a:r>
              <a:rPr lang="zh-CN" altLang="zh-CN" sz="2800" dirty="0">
                <a:solidFill>
                  <a:srgbClr val="000000"/>
                </a:solidFill>
                <a:latin typeface="NEU-BZ-S92"/>
                <a:ea typeface="Arial" panose="020B0604020202020204" pitchFamily="34" charset="0"/>
                <a:cs typeface="Times New Roman" panose="02020603050405020304" pitchFamily="18" charset="0"/>
              </a:rPr>
              <a:t> </a:t>
            </a:r>
            <a:r>
              <a:rPr lang="zh-CN" altLang="zh-CN" sz="2800" dirty="0">
                <a:solidFill>
                  <a:srgbClr val="000000"/>
                </a:solidFill>
                <a:latin typeface="Times New Roman" panose="02020603050405020304" pitchFamily="18" charset="0"/>
                <a:cs typeface="Times New Roman" panose="02020603050405020304" pitchFamily="18" charset="0"/>
              </a:rPr>
              <a:t>如图</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在正方体</a:t>
            </a:r>
            <a:r>
              <a:rPr lang="en-US" altLang="zh-CN" sz="2800" i="1" dirty="0">
                <a:solidFill>
                  <a:srgbClr val="000000"/>
                </a:solidFill>
                <a:latin typeface="Times New Roman" panose="02020603050405020304" pitchFamily="18" charset="0"/>
                <a:cs typeface="Times New Roman" panose="02020603050405020304" pitchFamily="18" charset="0"/>
              </a:rPr>
              <a:t>ABCD-A'B'C'D'</a:t>
            </a:r>
            <a:r>
              <a:rPr lang="zh-CN" altLang="zh-CN" sz="2800" dirty="0">
                <a:solidFill>
                  <a:srgbClr val="000000"/>
                </a:solidFill>
                <a:latin typeface="Times New Roman" panose="02020603050405020304" pitchFamily="18" charset="0"/>
                <a:cs typeface="Times New Roman" panose="02020603050405020304" pitchFamily="18" charset="0"/>
              </a:rPr>
              <a:t>中</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CD'</a:t>
            </a:r>
            <a:r>
              <a:rPr lang="zh-CN" altLang="zh-CN" sz="2800" dirty="0">
                <a:solidFill>
                  <a:srgbClr val="000000"/>
                </a:solidFill>
                <a:latin typeface="Times New Roman" panose="02020603050405020304" pitchFamily="18" charset="0"/>
                <a:cs typeface="Times New Roman" panose="02020603050405020304" pitchFamily="18" charset="0"/>
              </a:rPr>
              <a:t>与</a:t>
            </a:r>
            <a:r>
              <a:rPr lang="en-US" altLang="zh-CN" sz="2800" i="1" dirty="0">
                <a:solidFill>
                  <a:srgbClr val="000000"/>
                </a:solidFill>
                <a:latin typeface="Times New Roman" panose="02020603050405020304" pitchFamily="18" charset="0"/>
                <a:cs typeface="Times New Roman" panose="02020603050405020304" pitchFamily="18" charset="0"/>
              </a:rPr>
              <a:t>DC'</a:t>
            </a:r>
            <a:r>
              <a:rPr lang="zh-CN" altLang="zh-CN" sz="2800" dirty="0">
                <a:solidFill>
                  <a:srgbClr val="000000"/>
                </a:solidFill>
                <a:latin typeface="Times New Roman" panose="02020603050405020304" pitchFamily="18" charset="0"/>
                <a:cs typeface="Times New Roman" panose="02020603050405020304" pitchFamily="18" charset="0"/>
              </a:rPr>
              <a:t>相交于点</a:t>
            </a:r>
            <a:r>
              <a:rPr lang="en-US" altLang="zh-CN" sz="2800" i="1" dirty="0">
                <a:solidFill>
                  <a:srgbClr val="000000"/>
                </a:solidFill>
                <a:latin typeface="Times New Roman" panose="02020603050405020304" pitchFamily="18" charset="0"/>
                <a:cs typeface="Times New Roman" panose="02020603050405020304" pitchFamily="18" charset="0"/>
              </a:rPr>
              <a:t>O</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连接</a:t>
            </a:r>
            <a:r>
              <a:rPr lang="en-US" altLang="zh-CN" sz="2800" i="1" dirty="0">
                <a:solidFill>
                  <a:srgbClr val="000000"/>
                </a:solidFill>
                <a:latin typeface="Times New Roman" panose="02020603050405020304" pitchFamily="18" charset="0"/>
                <a:cs typeface="Times New Roman" panose="02020603050405020304" pitchFamily="18" charset="0"/>
              </a:rPr>
              <a:t>AO</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求证</a:t>
            </a:r>
            <a:r>
              <a:rPr lang="en-US" altLang="zh-CN" sz="2800" dirty="0" smtClean="0">
                <a:solidFill>
                  <a:srgbClr val="000000"/>
                </a:solidFill>
                <a:latin typeface="Times New Roman" panose="02020603050405020304" pitchFamily="18" charset="0"/>
                <a:cs typeface="Times New Roman" panose="02020603050405020304" pitchFamily="18" charset="0"/>
              </a:rPr>
              <a:t>:</a:t>
            </a:r>
          </a:p>
          <a:p>
            <a:pPr indent="279400">
              <a:lnSpc>
                <a:spcPct val="130000"/>
              </a:lnSpc>
              <a:spcAft>
                <a:spcPts val="0"/>
              </a:spcAft>
              <a:tabLst>
                <a:tab pos="1188085" algn="l"/>
                <a:tab pos="2163445" algn="l"/>
                <a:tab pos="3142615" algn="l"/>
                <a:tab pos="4190365" algn="l"/>
              </a:tabLst>
            </a:pPr>
            <a:endParaRPr lang="en-US" altLang="zh-CN" sz="2800" dirty="0">
              <a:solidFill>
                <a:srgbClr val="000000"/>
              </a:solidFill>
              <a:latin typeface="Times New Roman" panose="02020603050405020304" pitchFamily="18" charset="0"/>
              <a:ea typeface="方正书宋_GBK" panose="03000509000000000000" pitchFamily="65" charset="-122"/>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endParaRPr lang="en-US" altLang="zh-CN" sz="2800" dirty="0" smtClean="0">
              <a:solidFill>
                <a:srgbClr val="000000"/>
              </a:solidFill>
              <a:latin typeface="Times New Roman" panose="02020603050405020304" pitchFamily="18" charset="0"/>
              <a:ea typeface="方正书宋_GBK" panose="03000509000000000000" pitchFamily="65" charset="-122"/>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endParaRPr lang="en-US" altLang="zh-CN" sz="2800" dirty="0">
              <a:solidFill>
                <a:srgbClr val="000000"/>
              </a:solidFill>
              <a:latin typeface="Times New Roman" panose="02020603050405020304" pitchFamily="18" charset="0"/>
              <a:ea typeface="方正书宋_GBK" panose="03000509000000000000" pitchFamily="65" charset="-122"/>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endParaRPr lang="en-US" altLang="zh-CN" sz="2800" dirty="0" smtClean="0">
              <a:solidFill>
                <a:srgbClr val="000000"/>
              </a:solidFill>
              <a:latin typeface="Times New Roman" panose="02020603050405020304" pitchFamily="18" charset="0"/>
              <a:ea typeface="方正书宋_GBK" panose="03000509000000000000" pitchFamily="65" charset="-122"/>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endParaRPr lang="en-US" altLang="zh-CN" sz="2800" dirty="0">
              <a:solidFill>
                <a:srgbClr val="000000"/>
              </a:solidFill>
              <a:latin typeface="Times New Roman" panose="02020603050405020304" pitchFamily="18" charset="0"/>
              <a:ea typeface="方正书宋_GBK" panose="03000509000000000000" pitchFamily="65" charset="-122"/>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en-US" altLang="zh-CN" sz="28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AO</a:t>
            </a:r>
            <a:r>
              <a:rPr lang="zh-CN" altLang="zh-CN" sz="2800" dirty="0">
                <a:solidFill>
                  <a:srgbClr val="000000"/>
                </a:solidFill>
                <a:latin typeface="NEU-BZ-S92"/>
                <a:cs typeface="宋体" panose="02010600030101010101" pitchFamily="2" charset="-122"/>
              </a:rPr>
              <a:t>⊥</a:t>
            </a:r>
            <a:r>
              <a:rPr lang="en-US" altLang="zh-CN" sz="2800" i="1" dirty="0">
                <a:solidFill>
                  <a:srgbClr val="000000"/>
                </a:solidFill>
                <a:latin typeface="Times New Roman" panose="02020603050405020304" pitchFamily="18" charset="0"/>
                <a:cs typeface="Times New Roman" panose="02020603050405020304" pitchFamily="18" charset="0"/>
              </a:rPr>
              <a:t>CD'</a:t>
            </a:r>
            <a:r>
              <a:rPr lang="en-US" altLang="zh-CN" sz="2800" dirty="0">
                <a:solidFill>
                  <a:srgbClr val="000000"/>
                </a:solidFill>
                <a:latin typeface="Times New Roman" panose="02020603050405020304" pitchFamily="18" charset="0"/>
                <a:cs typeface="Times New Roman" panose="02020603050405020304" pitchFamily="18" charset="0"/>
              </a:rPr>
              <a:t>; (2)</a:t>
            </a:r>
            <a:r>
              <a:rPr lang="en-US" altLang="zh-CN" sz="2800" i="1" dirty="0">
                <a:solidFill>
                  <a:srgbClr val="000000"/>
                </a:solidFill>
                <a:latin typeface="Times New Roman" panose="02020603050405020304" pitchFamily="18" charset="0"/>
                <a:cs typeface="Times New Roman" panose="02020603050405020304" pitchFamily="18" charset="0"/>
              </a:rPr>
              <a:t>AC'</a:t>
            </a:r>
            <a:r>
              <a:rPr lang="zh-CN" altLang="zh-CN" sz="2800" dirty="0">
                <a:solidFill>
                  <a:srgbClr val="000000"/>
                </a:solidFill>
                <a:latin typeface="NEU-BZ-S92"/>
                <a:cs typeface="宋体" panose="02010600030101010101" pitchFamily="2" charset="-122"/>
              </a:rPr>
              <a:t>⊥</a:t>
            </a:r>
            <a:r>
              <a:rPr lang="zh-CN" altLang="zh-CN" sz="2800" dirty="0">
                <a:solidFill>
                  <a:srgbClr val="000000"/>
                </a:solidFill>
                <a:latin typeface="Times New Roman" panose="02020603050405020304" pitchFamily="18" charset="0"/>
                <a:cs typeface="Times New Roman" panose="02020603050405020304" pitchFamily="18" charset="0"/>
              </a:rPr>
              <a:t>平面</a:t>
            </a:r>
            <a:r>
              <a:rPr lang="en-US" altLang="zh-CN" sz="2800" i="1" dirty="0">
                <a:solidFill>
                  <a:srgbClr val="000000"/>
                </a:solidFill>
                <a:latin typeface="Times New Roman" panose="02020603050405020304" pitchFamily="18" charset="0"/>
                <a:cs typeface="Times New Roman" panose="02020603050405020304" pitchFamily="18" charset="0"/>
              </a:rPr>
              <a:t>B'CD'.</a:t>
            </a:r>
            <a:endParaRPr lang="zh-CN" altLang="zh-CN" sz="2800" dirty="0">
              <a:solidFill>
                <a:srgbClr val="000000"/>
              </a:solidFill>
              <a:effectLst/>
              <a:latin typeface="NEU-BZ-S92"/>
              <a:ea typeface="方正书宋_GBK" panose="03000509000000000000" pitchFamily="65" charset="-122"/>
              <a:cs typeface="Times New Roman" panose="02020603050405020304" pitchFamily="18" charset="0"/>
            </a:endParaRPr>
          </a:p>
        </p:txBody>
      </p:sp>
      <p:pic>
        <p:nvPicPr>
          <p:cNvPr id="5" name="NMX1TRAX23.eps" descr="id:2147512883;FounderCES"/>
          <p:cNvPicPr>
            <a:picLocks noChangeAspect="1"/>
          </p:cNvPicPr>
          <p:nvPr/>
        </p:nvPicPr>
        <p:blipFill>
          <a:blip r:embed="rId2">
            <a:clrChange>
              <a:clrFrom>
                <a:srgbClr val="FFFFFF"/>
              </a:clrFrom>
              <a:clrTo>
                <a:srgbClr val="FFFFFF">
                  <a:alpha val="0"/>
                </a:srgbClr>
              </a:clrTo>
            </a:clrChange>
          </a:blip>
          <a:stretch>
            <a:fillRect/>
          </a:stretch>
        </p:blipFill>
        <p:spPr>
          <a:xfrm>
            <a:off x="4440568" y="1243879"/>
            <a:ext cx="3310864" cy="3141023"/>
          </a:xfrm>
          <a:prstGeom prst="rect">
            <a:avLst/>
          </a:prstGeom>
        </p:spPr>
      </p:pic>
    </p:spTree>
    <p:extLst>
      <p:ext uri="{BB962C8B-B14F-4D97-AF65-F5344CB8AC3E}">
        <p14:creationId xmlns:p14="http://schemas.microsoft.com/office/powerpoint/2010/main" val="283917889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对象 1"/>
          <p:cNvGraphicFramePr>
            <a:graphicFrameLocks noChangeAspect="1"/>
          </p:cNvGraphicFramePr>
          <p:nvPr>
            <p:extLst>
              <p:ext uri="{D42A27DB-BD31-4B8C-83A1-F6EECF244321}">
                <p14:modId xmlns:p14="http://schemas.microsoft.com/office/powerpoint/2010/main" val="3694659420"/>
              </p:ext>
            </p:extLst>
          </p:nvPr>
        </p:nvGraphicFramePr>
        <p:xfrm>
          <a:off x="58881" y="646546"/>
          <a:ext cx="11430000" cy="5026119"/>
        </p:xfrm>
        <a:graphic>
          <a:graphicData uri="http://schemas.openxmlformats.org/presentationml/2006/ole">
            <mc:AlternateContent xmlns:mc="http://schemas.openxmlformats.org/markup-compatibility/2006">
              <mc:Choice xmlns:v="urn:schemas-microsoft-com:vml" Requires="v">
                <p:oleObj spid="_x0000_s16409" name="文档" r:id="rId3" imgW="4510061" imgH="1983211" progId="Word.Document.12">
                  <p:embed/>
                </p:oleObj>
              </mc:Choice>
              <mc:Fallback>
                <p:oleObj name="文档" r:id="rId3" imgW="4510061" imgH="1983211" progId="Word.Document.12">
                  <p:embed/>
                  <p:pic>
                    <p:nvPicPr>
                      <p:cNvPr id="0" name=""/>
                      <p:cNvPicPr/>
                      <p:nvPr/>
                    </p:nvPicPr>
                    <p:blipFill>
                      <a:blip r:embed="rId4"/>
                      <a:stretch>
                        <a:fillRect/>
                      </a:stretch>
                    </p:blipFill>
                    <p:spPr>
                      <a:xfrm>
                        <a:off x="58881" y="646546"/>
                        <a:ext cx="11430000" cy="5026119"/>
                      </a:xfrm>
                      <a:prstGeom prst="rect">
                        <a:avLst/>
                      </a:prstGeom>
                    </p:spPr>
                  </p:pic>
                </p:oleObj>
              </mc:Fallback>
            </mc:AlternateContent>
          </a:graphicData>
        </a:graphic>
      </p:graphicFrame>
    </p:spTree>
    <p:extLst>
      <p:ext uri="{BB962C8B-B14F-4D97-AF65-F5344CB8AC3E}">
        <p14:creationId xmlns:p14="http://schemas.microsoft.com/office/powerpoint/2010/main" val="174921147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4"/>
          <p:cNvGrpSpPr/>
          <p:nvPr/>
        </p:nvGrpSpPr>
        <p:grpSpPr>
          <a:xfrm>
            <a:off x="58881" y="229661"/>
            <a:ext cx="11752119" cy="5637523"/>
            <a:chOff x="58881" y="208879"/>
            <a:chExt cx="11752119" cy="5637523"/>
          </a:xfrm>
        </p:grpSpPr>
        <p:graphicFrame>
          <p:nvGraphicFramePr>
            <p:cNvPr id="3" name="对象 2"/>
            <p:cNvGraphicFramePr>
              <a:graphicFrameLocks noChangeAspect="1"/>
            </p:cNvGraphicFramePr>
            <p:nvPr>
              <p:extLst>
                <p:ext uri="{D42A27DB-BD31-4B8C-83A1-F6EECF244321}">
                  <p14:modId xmlns:p14="http://schemas.microsoft.com/office/powerpoint/2010/main" val="1418960247"/>
                </p:ext>
              </p:extLst>
            </p:nvPr>
          </p:nvGraphicFramePr>
          <p:xfrm>
            <a:off x="58881" y="208879"/>
            <a:ext cx="11430000" cy="3015855"/>
          </p:xfrm>
          <a:graphic>
            <a:graphicData uri="http://schemas.openxmlformats.org/presentationml/2006/ole">
              <mc:AlternateContent xmlns:mc="http://schemas.openxmlformats.org/markup-compatibility/2006">
                <mc:Choice xmlns:v="urn:schemas-microsoft-com:vml" Requires="v">
                  <p:oleObj spid="_x0000_s17433" name="文档" r:id="rId3" imgW="4510061" imgH="1189999" progId="Word.Document.12">
                    <p:embed/>
                  </p:oleObj>
                </mc:Choice>
                <mc:Fallback>
                  <p:oleObj name="文档" r:id="rId3" imgW="4510061" imgH="1189999" progId="Word.Document.12">
                    <p:embed/>
                    <p:pic>
                      <p:nvPicPr>
                        <p:cNvPr id="0" name=""/>
                        <p:cNvPicPr/>
                        <p:nvPr/>
                      </p:nvPicPr>
                      <p:blipFill>
                        <a:blip r:embed="rId4"/>
                        <a:stretch>
                          <a:fillRect/>
                        </a:stretch>
                      </p:blipFill>
                      <p:spPr>
                        <a:xfrm>
                          <a:off x="58881" y="208879"/>
                          <a:ext cx="11430000" cy="3015855"/>
                        </a:xfrm>
                        <a:prstGeom prst="rect">
                          <a:avLst/>
                        </a:prstGeom>
                      </p:spPr>
                    </p:pic>
                  </p:oleObj>
                </mc:Fallback>
              </mc:AlternateContent>
            </a:graphicData>
          </a:graphic>
        </p:graphicFrame>
        <p:sp>
          <p:nvSpPr>
            <p:cNvPr id="4" name="矩形 3"/>
            <p:cNvSpPr>
              <a:spLocks noChangeAspect="1"/>
            </p:cNvSpPr>
            <p:nvPr/>
          </p:nvSpPr>
          <p:spPr>
            <a:xfrm>
              <a:off x="381000" y="3013575"/>
              <a:ext cx="11430000" cy="2832827"/>
            </a:xfrm>
            <a:prstGeom prst="rect">
              <a:avLst/>
            </a:prstGeom>
          </p:spPr>
          <p:txBody>
            <a:bodyPr>
              <a:spAutoFit/>
            </a:bodyPr>
            <a:lstStyle/>
            <a:p>
              <a:pPr indent="279400">
                <a:lnSpc>
                  <a:spcPct val="130000"/>
                </a:lnSpc>
                <a:spcAft>
                  <a:spcPts val="0"/>
                </a:spcAft>
                <a:tabLst>
                  <a:tab pos="1188085" algn="l"/>
                  <a:tab pos="2163445" algn="l"/>
                  <a:tab pos="3142615" algn="l"/>
                  <a:tab pos="4190365" algn="l"/>
                </a:tabLst>
              </a:pP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所以</a:t>
              </a:r>
              <a:r>
                <a:rPr lang="en-US" altLang="zh-CN" sz="2800" i="1" dirty="0">
                  <a:solidFill>
                    <a:srgbClr val="000000"/>
                  </a:solidFill>
                  <a:latin typeface="Times New Roman" panose="02020603050405020304" pitchFamily="18" charset="0"/>
                  <a:cs typeface="Times New Roman" panose="02020603050405020304" pitchFamily="18" charset="0"/>
                </a:rPr>
                <a:t>AC'</a:t>
              </a:r>
              <a:r>
                <a:rPr lang="zh-CN" altLang="zh-CN" sz="2800" dirty="0">
                  <a:solidFill>
                    <a:srgbClr val="000000"/>
                  </a:solidFill>
                  <a:latin typeface="NEU-BZ-S92"/>
                  <a:cs typeface="宋体" panose="02010600030101010101" pitchFamily="2" charset="-122"/>
                </a:rPr>
                <a:t>⊥</a:t>
              </a:r>
              <a:r>
                <a:rPr lang="en-US" altLang="zh-CN" sz="2800" i="1" dirty="0">
                  <a:solidFill>
                    <a:srgbClr val="000000"/>
                  </a:solidFill>
                  <a:latin typeface="Times New Roman" panose="02020603050405020304" pitchFamily="18" charset="0"/>
                  <a:cs typeface="Times New Roman" panose="02020603050405020304" pitchFamily="18" charset="0"/>
                </a:rPr>
                <a:t>B'C.</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同理可证</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AC'</a:t>
              </a:r>
              <a:r>
                <a:rPr lang="zh-CN" altLang="zh-CN" sz="2800" dirty="0">
                  <a:solidFill>
                    <a:srgbClr val="000000"/>
                  </a:solidFill>
                  <a:latin typeface="NEU-BZ-S92"/>
                  <a:cs typeface="宋体" panose="02010600030101010101" pitchFamily="2" charset="-122"/>
                </a:rPr>
                <a:t>⊥</a:t>
              </a:r>
              <a:r>
                <a:rPr lang="en-US" altLang="zh-CN" sz="2800" i="1" dirty="0">
                  <a:solidFill>
                    <a:srgbClr val="000000"/>
                  </a:solidFill>
                  <a:latin typeface="Times New Roman" panose="02020603050405020304" pitchFamily="18" charset="0"/>
                  <a:cs typeface="Times New Roman" panose="02020603050405020304" pitchFamily="18" charset="0"/>
                </a:rPr>
                <a:t>B'D'.</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又</a:t>
              </a:r>
              <a:r>
                <a:rPr lang="en-US" altLang="zh-CN" sz="2800" i="1" dirty="0">
                  <a:solidFill>
                    <a:srgbClr val="000000"/>
                  </a:solidFill>
                  <a:latin typeface="Times New Roman" panose="02020603050405020304" pitchFamily="18" charset="0"/>
                  <a:cs typeface="Times New Roman" panose="02020603050405020304" pitchFamily="18" charset="0"/>
                </a:rPr>
                <a:t>B'C</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B'D'</a:t>
              </a:r>
              <a:r>
                <a:rPr lang="en-US" altLang="zh-CN" sz="2800" dirty="0">
                  <a:solidFill>
                    <a:srgbClr val="000000"/>
                  </a:solidFill>
                  <a:latin typeface="Cambria Math" panose="02040503050406030204" pitchFamily="18" charset="0"/>
                  <a:ea typeface="NEU-BZ-S92"/>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平面</a:t>
              </a:r>
              <a:r>
                <a:rPr lang="en-US" altLang="zh-CN" sz="2800" i="1" dirty="0">
                  <a:solidFill>
                    <a:srgbClr val="000000"/>
                  </a:solidFill>
                  <a:latin typeface="Times New Roman" panose="02020603050405020304" pitchFamily="18" charset="0"/>
                  <a:cs typeface="Times New Roman" panose="02020603050405020304" pitchFamily="18" charset="0"/>
                </a:rPr>
                <a:t>B'CD'</a:t>
              </a:r>
              <a:r>
                <a:rPr lang="en-US" altLang="zh-CN" sz="2800"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且</a:t>
              </a:r>
              <a:r>
                <a:rPr lang="en-US" altLang="zh-CN" sz="2800" i="1" dirty="0">
                  <a:solidFill>
                    <a:srgbClr val="000000"/>
                  </a:solidFill>
                  <a:latin typeface="Times New Roman" panose="02020603050405020304" pitchFamily="18" charset="0"/>
                  <a:cs typeface="Times New Roman" panose="02020603050405020304" pitchFamily="18" charset="0"/>
                </a:rPr>
                <a:t>B'C</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B'D'=B'</a:t>
              </a:r>
              <a:r>
                <a:rPr lang="en-US" altLang="zh-CN" sz="2800"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所以</a:t>
              </a:r>
              <a:r>
                <a:rPr lang="en-US" altLang="zh-CN" sz="2800" i="1" dirty="0">
                  <a:solidFill>
                    <a:srgbClr val="000000"/>
                  </a:solidFill>
                  <a:latin typeface="Times New Roman" panose="02020603050405020304" pitchFamily="18" charset="0"/>
                  <a:cs typeface="Times New Roman" panose="02020603050405020304" pitchFamily="18" charset="0"/>
                </a:rPr>
                <a:t>AC'</a:t>
              </a:r>
              <a:r>
                <a:rPr lang="zh-CN" altLang="zh-CN" sz="2800" dirty="0">
                  <a:solidFill>
                    <a:srgbClr val="000000"/>
                  </a:solidFill>
                  <a:latin typeface="NEU-BZ-S92"/>
                  <a:cs typeface="宋体" panose="02010600030101010101" pitchFamily="2" charset="-122"/>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平面</a:t>
              </a:r>
              <a:r>
                <a:rPr lang="en-US" altLang="zh-CN" sz="2800" i="1" dirty="0">
                  <a:solidFill>
                    <a:srgbClr val="000000"/>
                  </a:solidFill>
                  <a:latin typeface="Times New Roman" panose="02020603050405020304" pitchFamily="18" charset="0"/>
                  <a:cs typeface="Times New Roman" panose="02020603050405020304" pitchFamily="18" charset="0"/>
                </a:rPr>
                <a:t>B'CD'.</a:t>
              </a:r>
              <a:endParaRPr lang="zh-CN" altLang="zh-CN" sz="2800" dirty="0">
                <a:solidFill>
                  <a:srgbClr val="000000"/>
                </a:solidFill>
                <a:effectLst/>
                <a:latin typeface="NEU-BZ-S92"/>
                <a:ea typeface="方正书宋_GBK" panose="03000509000000000000" pitchFamily="65" charset="-122"/>
                <a:cs typeface="Times New Roman" panose="02020603050405020304" pitchFamily="18" charset="0"/>
              </a:endParaRPr>
            </a:p>
          </p:txBody>
        </p:sp>
      </p:grpSp>
    </p:spTree>
    <p:extLst>
      <p:ext uri="{BB962C8B-B14F-4D97-AF65-F5344CB8AC3E}">
        <p14:creationId xmlns:p14="http://schemas.microsoft.com/office/powerpoint/2010/main" val="4249090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组合 8"/>
          <p:cNvGrpSpPr/>
          <p:nvPr/>
        </p:nvGrpSpPr>
        <p:grpSpPr>
          <a:xfrm>
            <a:off x="2" y="151371"/>
            <a:ext cx="11336478" cy="433754"/>
            <a:chOff x="381000" y="205656"/>
            <a:chExt cx="11336478" cy="433754"/>
          </a:xfrm>
        </p:grpSpPr>
        <p:sp>
          <p:nvSpPr>
            <p:cNvPr id="10" name="矩形 9"/>
            <p:cNvSpPr/>
            <p:nvPr/>
          </p:nvSpPr>
          <p:spPr>
            <a:xfrm>
              <a:off x="1999940" y="230648"/>
              <a:ext cx="192275" cy="401795"/>
            </a:xfrm>
            <a:prstGeom prst="rect">
              <a:avLst/>
            </a:prstGeom>
            <a:noFill/>
            <a:ln w="19050">
              <a:solidFill>
                <a:schemeClr val="accent4">
                  <a:lumMod val="75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00"/>
            </a:p>
          </p:txBody>
        </p:sp>
        <p:grpSp>
          <p:nvGrpSpPr>
            <p:cNvPr id="11" name="组合 10"/>
            <p:cNvGrpSpPr/>
            <p:nvPr/>
          </p:nvGrpSpPr>
          <p:grpSpPr>
            <a:xfrm>
              <a:off x="381000" y="205656"/>
              <a:ext cx="11336478" cy="433754"/>
              <a:chOff x="3048000" y="2286000"/>
              <a:chExt cx="4813646" cy="457200"/>
            </a:xfrm>
          </p:grpSpPr>
          <p:sp>
            <p:nvSpPr>
              <p:cNvPr id="12" name="矩形 11"/>
              <p:cNvSpPr/>
              <p:nvPr/>
            </p:nvSpPr>
            <p:spPr>
              <a:xfrm>
                <a:off x="3048000" y="2286000"/>
                <a:ext cx="769070" cy="457200"/>
              </a:xfrm>
              <a:prstGeom prst="rect">
                <a:avLst/>
              </a:prstGeom>
              <a:solidFill>
                <a:srgbClr val="74877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800" b="1" dirty="0" smtClean="0">
                    <a:solidFill>
                      <a:schemeClr val="bg1"/>
                    </a:solidFill>
                  </a:rPr>
                  <a:t>探究三</a:t>
                </a:r>
              </a:p>
            </p:txBody>
          </p:sp>
          <p:sp>
            <p:nvSpPr>
              <p:cNvPr id="13" name="矩形 12"/>
              <p:cNvSpPr/>
              <p:nvPr/>
            </p:nvSpPr>
            <p:spPr>
              <a:xfrm>
                <a:off x="3909004" y="2286000"/>
                <a:ext cx="3952642" cy="457200"/>
              </a:xfrm>
              <a:prstGeom prst="rect">
                <a:avLst/>
              </a:prstGeom>
              <a:gradFill flip="none" rotWithShape="1">
                <a:gsLst>
                  <a:gs pos="0">
                    <a:srgbClr val="DCDCDC">
                      <a:shade val="30000"/>
                      <a:satMod val="115000"/>
                    </a:srgbClr>
                  </a:gs>
                  <a:gs pos="51000">
                    <a:srgbClr val="DCDCDC">
                      <a:shade val="67500"/>
                      <a:satMod val="115000"/>
                    </a:srgbClr>
                  </a:gs>
                  <a:gs pos="73000">
                    <a:srgbClr val="DCDCDC">
                      <a:shade val="100000"/>
                      <a:satMod val="115000"/>
                      <a:alpha val="0"/>
                    </a:srgb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2800" b="1" dirty="0">
                    <a:solidFill>
                      <a:schemeClr val="bg1"/>
                    </a:solidFill>
                  </a:rPr>
                  <a:t>利用数量积求向量的夹角</a:t>
                </a:r>
              </a:p>
            </p:txBody>
          </p:sp>
        </p:grpSp>
      </p:grpSp>
      <p:graphicFrame>
        <p:nvGraphicFramePr>
          <p:cNvPr id="2" name="对象 1"/>
          <p:cNvGraphicFramePr>
            <a:graphicFrameLocks noChangeAspect="1"/>
          </p:cNvGraphicFramePr>
          <p:nvPr>
            <p:extLst>
              <p:ext uri="{D42A27DB-BD31-4B8C-83A1-F6EECF244321}">
                <p14:modId xmlns:p14="http://schemas.microsoft.com/office/powerpoint/2010/main" val="3447371129"/>
              </p:ext>
            </p:extLst>
          </p:nvPr>
        </p:nvGraphicFramePr>
        <p:xfrm>
          <a:off x="381000" y="536285"/>
          <a:ext cx="11430000" cy="1507927"/>
        </p:xfrm>
        <a:graphic>
          <a:graphicData uri="http://schemas.openxmlformats.org/presentationml/2006/ole">
            <mc:AlternateContent xmlns:mc="http://schemas.openxmlformats.org/markup-compatibility/2006">
              <mc:Choice xmlns:v="urn:schemas-microsoft-com:vml" Requires="v">
                <p:oleObj spid="_x0000_s18479" name="文档" r:id="rId3" imgW="4510061" imgH="594999" progId="Word.Document.12">
                  <p:embed/>
                </p:oleObj>
              </mc:Choice>
              <mc:Fallback>
                <p:oleObj name="文档" r:id="rId3" imgW="4510061" imgH="594999" progId="Word.Document.12">
                  <p:embed/>
                  <p:pic>
                    <p:nvPicPr>
                      <p:cNvPr id="0" name=""/>
                      <p:cNvPicPr/>
                      <p:nvPr/>
                    </p:nvPicPr>
                    <p:blipFill>
                      <a:blip r:embed="rId4"/>
                      <a:stretch>
                        <a:fillRect/>
                      </a:stretch>
                    </p:blipFill>
                    <p:spPr>
                      <a:xfrm>
                        <a:off x="381000" y="536285"/>
                        <a:ext cx="11430000" cy="1507927"/>
                      </a:xfrm>
                      <a:prstGeom prst="rect">
                        <a:avLst/>
                      </a:prstGeom>
                    </p:spPr>
                  </p:pic>
                </p:oleObj>
              </mc:Fallback>
            </mc:AlternateContent>
          </a:graphicData>
        </a:graphic>
      </p:graphicFrame>
      <p:pic>
        <p:nvPicPr>
          <p:cNvPr id="15" name="NMX1TRAX24.eps" descr="id:2147512897;FounderCES"/>
          <p:cNvPicPr>
            <a:picLocks noChangeAspect="1"/>
          </p:cNvPicPr>
          <p:nvPr/>
        </p:nvPicPr>
        <p:blipFill>
          <a:blip r:embed="rId5">
            <a:clrChange>
              <a:clrFrom>
                <a:srgbClr val="FFFFFF"/>
              </a:clrFrom>
              <a:clrTo>
                <a:srgbClr val="FFFFFF">
                  <a:alpha val="0"/>
                </a:srgbClr>
              </a:clrTo>
            </a:clrChange>
          </a:blip>
          <a:stretch>
            <a:fillRect/>
          </a:stretch>
        </p:blipFill>
        <p:spPr>
          <a:xfrm>
            <a:off x="4591062" y="1466550"/>
            <a:ext cx="3009876" cy="2869643"/>
          </a:xfrm>
          <a:prstGeom prst="rect">
            <a:avLst/>
          </a:prstGeom>
        </p:spPr>
      </p:pic>
      <mc:AlternateContent xmlns:mc="http://schemas.openxmlformats.org/markup-compatibility/2006">
        <mc:Choice xmlns:a14="http://schemas.microsoft.com/office/drawing/2010/main" Requires="a14">
          <p:sp>
            <p:nvSpPr>
              <p:cNvPr id="4" name="矩形 3"/>
              <p:cNvSpPr>
                <a:spLocks noChangeAspect="1"/>
              </p:cNvSpPr>
              <p:nvPr/>
            </p:nvSpPr>
            <p:spPr>
              <a:xfrm>
                <a:off x="381000" y="4573449"/>
                <a:ext cx="11430000" cy="1558504"/>
              </a:xfrm>
              <a:prstGeom prst="rect">
                <a:avLst/>
              </a:prstGeom>
            </p:spPr>
            <p:txBody>
              <a:bodyPr>
                <a:spAutoFit/>
              </a:bodyPr>
              <a:lstStyle/>
              <a:p>
                <a:pPr indent="279400">
                  <a:lnSpc>
                    <a:spcPct val="130000"/>
                  </a:lnSpc>
                  <a:spcAft>
                    <a:spcPts val="0"/>
                  </a:spcAft>
                  <a:tabLst>
                    <a:tab pos="1188085" algn="l"/>
                    <a:tab pos="2163445" algn="l"/>
                    <a:tab pos="3142615" algn="l"/>
                    <a:tab pos="4190365" algn="l"/>
                  </a:tabLst>
                </a:pPr>
                <a:r>
                  <a:rPr lang="zh-CN"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分析</a:t>
                </a:r>
                <a:r>
                  <a:rPr lang="en-US" altLang="zh-CN" sz="2800" dirty="0">
                    <a:solidFill>
                      <a:srgbClr val="FF0000"/>
                    </a:solidFill>
                    <a:effectLst/>
                    <a:latin typeface="Arial" panose="020B0604020202020204" pitchFamily="34" charset="0"/>
                    <a:ea typeface="黑体" panose="02010609060101010101" pitchFamily="49" charset="-122"/>
                    <a:cs typeface="Times New Roman" panose="02020603050405020304" pitchFamily="18" charset="0"/>
                  </a:rPr>
                  <a:t>:</a:t>
                </a:r>
                <a:r>
                  <a:rPr lang="zh-CN" altLang="zh-CN" sz="28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方法一</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利用几何图形转化为求平面角的大小</a:t>
                </a:r>
                <a:r>
                  <a:rPr lang="en-US" altLang="zh-CN" sz="2800" dirty="0" smtClean="0">
                    <a:solidFill>
                      <a:srgbClr val="000000"/>
                    </a:solidFill>
                    <a:latin typeface="Times New Roman" panose="02020603050405020304" pitchFamily="18" charset="0"/>
                    <a:cs typeface="Times New Roman" panose="02020603050405020304" pitchFamily="18" charset="0"/>
                  </a:rPr>
                  <a:t>;</a:t>
                </a:r>
              </a:p>
              <a:p>
                <a:pPr indent="279400">
                  <a:lnSpc>
                    <a:spcPct val="130000"/>
                  </a:lnSpc>
                  <a:spcAft>
                    <a:spcPts val="0"/>
                  </a:spcAft>
                  <a:tabLst>
                    <a:tab pos="1188085" algn="l"/>
                    <a:tab pos="2163445" algn="l"/>
                    <a:tab pos="3142615" algn="l"/>
                    <a:tab pos="4190365" algn="l"/>
                  </a:tabLst>
                </a:pPr>
                <a:r>
                  <a:rPr lang="zh-CN" altLang="zh-CN" sz="2800" dirty="0" smtClean="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方法</a:t>
                </a:r>
                <a:r>
                  <a:rPr lang="zh-CN" altLang="zh-CN" sz="28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二</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利用夹角公式</a:t>
                </a:r>
                <a:r>
                  <a:rPr lang="en-US" altLang="zh-CN" sz="2800" dirty="0" err="1">
                    <a:solidFill>
                      <a:srgbClr val="000000"/>
                    </a:solidFill>
                    <a:latin typeface="Times New Roman" panose="02020603050405020304" pitchFamily="18" charset="0"/>
                    <a:cs typeface="Times New Roman" panose="02020603050405020304" pitchFamily="18" charset="0"/>
                  </a:rPr>
                  <a:t>cos</a:t>
                </a:r>
                <a:r>
                  <a:rPr lang="en-US" altLang="zh-CN" sz="2800" i="1" dirty="0">
                    <a:solidFill>
                      <a:srgbClr val="000000"/>
                    </a:solidFill>
                    <a:latin typeface="Times New Roman" panose="02020603050405020304" pitchFamily="18" charset="0"/>
                    <a:cs typeface="Times New Roman" panose="02020603050405020304" pitchFamily="18" charset="0"/>
                  </a:rPr>
                  <a:t>&lt;</a:t>
                </a:r>
                <a:r>
                  <a:rPr lang="en-US" altLang="zh-CN" sz="2800" b="1" i="1" dirty="0" err="1">
                    <a:solidFill>
                      <a:srgbClr val="000000"/>
                    </a:solidFill>
                    <a:latin typeface="Times New Roman" panose="02020603050405020304" pitchFamily="18" charset="0"/>
                    <a:cs typeface="Times New Roman" panose="02020603050405020304" pitchFamily="18" charset="0"/>
                  </a:rPr>
                  <a:t>a</a:t>
                </a:r>
                <a:r>
                  <a:rPr lang="en-US" altLang="zh-CN" sz="2800" dirty="0" err="1">
                    <a:solidFill>
                      <a:srgbClr val="000000"/>
                    </a:solidFill>
                    <a:latin typeface="Times New Roman" panose="02020603050405020304" pitchFamily="18" charset="0"/>
                    <a:cs typeface="Times New Roman" panose="02020603050405020304" pitchFamily="18" charset="0"/>
                  </a:rPr>
                  <a:t>,</a:t>
                </a:r>
                <a:r>
                  <a:rPr lang="en-US" altLang="zh-CN" sz="2800" b="1" i="1" dirty="0" err="1">
                    <a:solidFill>
                      <a:srgbClr val="000000"/>
                    </a:solidFill>
                    <a:latin typeface="Times New Roman" panose="02020603050405020304" pitchFamily="18" charset="0"/>
                    <a:cs typeface="Times New Roman" panose="02020603050405020304" pitchFamily="18" charset="0"/>
                  </a:rPr>
                  <a:t>b</a:t>
                </a:r>
                <a:r>
                  <a:rPr lang="en-US" altLang="zh-CN" sz="2800" i="1" dirty="0">
                    <a:solidFill>
                      <a:srgbClr val="000000"/>
                    </a:solidFill>
                    <a:latin typeface="Times New Roman" panose="02020603050405020304" pitchFamily="18" charset="0"/>
                    <a:cs typeface="Times New Roman" panose="02020603050405020304" pitchFamily="18" charset="0"/>
                  </a:rPr>
                  <a:t>&gt;=</a:t>
                </a:r>
                <a14:m>
                  <m:oMath xmlns:m="http://schemas.openxmlformats.org/officeDocument/2006/math">
                    <m:f>
                      <m:fPr>
                        <m:ctrlPr>
                          <a:rPr lang="zh-CN" altLang="zh-CN" sz="2800"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sz="2800" i="1">
                            <a:solidFill>
                              <a:srgbClr val="000000"/>
                            </a:solidFill>
                            <a:latin typeface="Cambria Math" panose="02040503050406030204" pitchFamily="18" charset="0"/>
                            <a:cs typeface="Times New Roman" panose="02020603050405020304" pitchFamily="18" charset="0"/>
                          </a:rPr>
                          <m:t>𝑎</m:t>
                        </m:r>
                        <m:r>
                          <m:rPr>
                            <m:nor/>
                          </m:rPr>
                          <a:rPr lang="en-US" altLang="zh-CN" sz="2800">
                            <a:solidFill>
                              <a:srgbClr val="000000"/>
                            </a:solidFill>
                            <a:latin typeface="Times New Roman" panose="02020603050405020304" pitchFamily="18" charset="0"/>
                            <a:cs typeface="Times New Roman" panose="02020603050405020304" pitchFamily="18" charset="0"/>
                          </a:rPr>
                          <m:t>·</m:t>
                        </m:r>
                        <m:r>
                          <a:rPr lang="en-US" altLang="zh-CN" sz="2800" i="1">
                            <a:solidFill>
                              <a:srgbClr val="000000"/>
                            </a:solidFill>
                            <a:latin typeface="Cambria Math" panose="02040503050406030204" pitchFamily="18" charset="0"/>
                            <a:cs typeface="Times New Roman" panose="02020603050405020304" pitchFamily="18" charset="0"/>
                          </a:rPr>
                          <m:t>𝑏</m:t>
                        </m:r>
                      </m:num>
                      <m:den>
                        <m:r>
                          <m:rPr>
                            <m:nor/>
                          </m:rPr>
                          <a:rPr lang="en-US" altLang="zh-CN" sz="2800">
                            <a:solidFill>
                              <a:srgbClr val="000000"/>
                            </a:solidFill>
                            <a:latin typeface="Times New Roman" panose="02020603050405020304" pitchFamily="18" charset="0"/>
                            <a:cs typeface="Times New Roman" panose="02020603050405020304" pitchFamily="18" charset="0"/>
                          </a:rPr>
                          <m:t>|</m:t>
                        </m:r>
                        <m:r>
                          <a:rPr lang="en-US" altLang="zh-CN" sz="2800" i="1">
                            <a:solidFill>
                              <a:srgbClr val="000000"/>
                            </a:solidFill>
                            <a:latin typeface="Cambria Math" panose="02040503050406030204" pitchFamily="18" charset="0"/>
                            <a:cs typeface="Times New Roman" panose="02020603050405020304" pitchFamily="18" charset="0"/>
                          </a:rPr>
                          <m:t>𝑎</m:t>
                        </m:r>
                        <m:r>
                          <m:rPr>
                            <m:nor/>
                          </m:rPr>
                          <a:rPr lang="en-US" altLang="zh-CN" sz="2800">
                            <a:solidFill>
                              <a:srgbClr val="000000"/>
                            </a:solidFill>
                            <a:latin typeface="Times New Roman" panose="02020603050405020304" pitchFamily="18" charset="0"/>
                            <a:cs typeface="Times New Roman" panose="02020603050405020304" pitchFamily="18" charset="0"/>
                          </a:rPr>
                          <m:t>||</m:t>
                        </m:r>
                        <m:r>
                          <a:rPr lang="en-US" altLang="zh-CN" sz="2800" i="1">
                            <a:solidFill>
                              <a:srgbClr val="000000"/>
                            </a:solidFill>
                            <a:latin typeface="Cambria Math" panose="02040503050406030204" pitchFamily="18" charset="0"/>
                            <a:cs typeface="Times New Roman" panose="02020603050405020304" pitchFamily="18" charset="0"/>
                          </a:rPr>
                          <m:t>𝑏</m:t>
                        </m:r>
                        <m:r>
                          <m:rPr>
                            <m:nor/>
                          </m:rPr>
                          <a:rPr lang="en-US" altLang="zh-CN" sz="2800">
                            <a:solidFill>
                              <a:srgbClr val="000000"/>
                            </a:solidFill>
                            <a:latin typeface="Times New Roman" panose="02020603050405020304" pitchFamily="18" charset="0"/>
                            <a:cs typeface="Times New Roman" panose="02020603050405020304" pitchFamily="18" charset="0"/>
                          </a:rPr>
                          <m:t>|</m:t>
                        </m:r>
                      </m:den>
                    </m:f>
                  </m:oMath>
                </a14:m>
                <a:r>
                  <a:rPr lang="zh-CN" altLang="zh-CN" sz="28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计算</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effectLst/>
                  <a:latin typeface="NEU-BZ-S92"/>
                  <a:ea typeface="方正书宋_GBK" panose="03000509000000000000" pitchFamily="65" charset="-122"/>
                  <a:cs typeface="Times New Roman" panose="02020603050405020304" pitchFamily="18" charset="0"/>
                </a:endParaRPr>
              </a:p>
            </p:txBody>
          </p:sp>
        </mc:Choice>
        <mc:Fallback>
          <p:sp>
            <p:nvSpPr>
              <p:cNvPr id="4" name="矩形 3"/>
              <p:cNvSpPr>
                <a:spLocks noRot="1" noChangeAspect="1" noMove="1" noResize="1" noEditPoints="1" noAdjustHandles="1" noChangeArrowheads="1" noChangeShapeType="1" noTextEdit="1"/>
              </p:cNvSpPr>
              <p:nvPr/>
            </p:nvSpPr>
            <p:spPr>
              <a:xfrm>
                <a:off x="381000" y="4573449"/>
                <a:ext cx="11430000" cy="1558504"/>
              </a:xfrm>
              <a:prstGeom prst="rect">
                <a:avLst/>
              </a:prstGeom>
              <a:blipFill rotWithShape="0">
                <a:blip r:embed="rId6"/>
                <a:stretch>
                  <a:fillRect t="-781"/>
                </a:stretch>
              </a:blipFill>
            </p:spPr>
            <p:txBody>
              <a:bodyPr/>
              <a:lstStyle/>
              <a:p>
                <a:r>
                  <a:rPr lang="zh-CN" altLang="en-US">
                    <a:noFill/>
                  </a:rPr>
                  <a:t> </a:t>
                </a:r>
              </a:p>
            </p:txBody>
          </p:sp>
        </mc:Fallback>
      </mc:AlternateContent>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randombar(horizontal)">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矩形 1"/>
              <p:cNvSpPr>
                <a:spLocks noChangeAspect="1"/>
              </p:cNvSpPr>
              <p:nvPr/>
            </p:nvSpPr>
            <p:spPr>
              <a:xfrm>
                <a:off x="381000" y="952933"/>
                <a:ext cx="11430000" cy="3681264"/>
              </a:xfrm>
              <a:prstGeom prst="rect">
                <a:avLst/>
              </a:prstGeom>
            </p:spPr>
            <p:txBody>
              <a:bodyPr>
                <a:spAutoFit/>
              </a:bodyPr>
              <a:lstStyle/>
              <a:p>
                <a:pPr indent="279400">
                  <a:lnSpc>
                    <a:spcPct val="130000"/>
                  </a:lnSpc>
                  <a:spcAft>
                    <a:spcPts val="0"/>
                  </a:spcAft>
                  <a:tabLst>
                    <a:tab pos="1188085" algn="l"/>
                    <a:tab pos="2163445" algn="l"/>
                    <a:tab pos="3142615" algn="l"/>
                    <a:tab pos="4190365" algn="l"/>
                  </a:tabLst>
                </a:pPr>
                <a:r>
                  <a:rPr lang="zh-CN"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解</a:t>
                </a:r>
                <a:r>
                  <a:rPr lang="en-US" altLang="zh-CN" sz="2800" dirty="0">
                    <a:solidFill>
                      <a:srgbClr val="FF0000"/>
                    </a:solidFill>
                    <a:effectLst/>
                    <a:latin typeface="Arial" panose="020B0604020202020204" pitchFamily="34" charset="0"/>
                    <a:ea typeface="黑体" panose="02010609060101010101" pitchFamily="49" charset="-122"/>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方法一</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如图</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连接</a:t>
                </a:r>
                <a:r>
                  <a:rPr lang="en-US" altLang="zh-CN" sz="2800" i="1" dirty="0">
                    <a:solidFill>
                      <a:srgbClr val="000000"/>
                    </a:solidFill>
                    <a:latin typeface="Times New Roman" panose="02020603050405020304" pitchFamily="18" charset="0"/>
                    <a:cs typeface="Times New Roman" panose="02020603050405020304" pitchFamily="18" charset="0"/>
                  </a:rPr>
                  <a:t>AD</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D</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C</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因为</a:t>
                </a:r>
                <a14:m>
                  <m:oMath xmlns:m="http://schemas.openxmlformats.org/officeDocument/2006/math">
                    <m:acc>
                      <m:accPr>
                        <m:chr m:val="⃗"/>
                        <m:ctrlPr>
                          <a:rPr lang="zh-CN" altLang="zh-CN" sz="2800"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accPr>
                      <m:e>
                        <m:r>
                          <a:rPr lang="en-US" altLang="zh-CN" sz="2800" i="1">
                            <a:solidFill>
                              <a:srgbClr val="000000"/>
                            </a:solidFill>
                            <a:latin typeface="Cambria Math" panose="02040503050406030204" pitchFamily="18" charset="0"/>
                            <a:cs typeface="Times New Roman" panose="02020603050405020304" pitchFamily="18" charset="0"/>
                          </a:rPr>
                          <m:t>𝐴</m:t>
                        </m:r>
                        <m:sSub>
                          <m:sSubPr>
                            <m:ctrlPr>
                              <a:rPr lang="zh-CN" altLang="zh-CN" sz="2800"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800" i="1">
                                <a:solidFill>
                                  <a:srgbClr val="000000"/>
                                </a:solidFill>
                                <a:latin typeface="Cambria Math" panose="02040503050406030204" pitchFamily="18" charset="0"/>
                                <a:cs typeface="Times New Roman" panose="02020603050405020304" pitchFamily="18" charset="0"/>
                              </a:rPr>
                              <m:t>𝐷</m:t>
                            </m:r>
                          </m:e>
                          <m:sub>
                            <m:r>
                              <a:rPr lang="en-US" altLang="zh-CN" sz="2800">
                                <a:solidFill>
                                  <a:srgbClr val="000000"/>
                                </a:solidFill>
                                <a:latin typeface="Cambria Math" panose="02040503050406030204" pitchFamily="18" charset="0"/>
                                <a:cs typeface="Times New Roman" panose="02020603050405020304" pitchFamily="18" charset="0"/>
                              </a:rPr>
                              <m:t>1</m:t>
                            </m:r>
                          </m:sub>
                        </m:sSub>
                      </m:e>
                    </m:acc>
                    <m:r>
                      <a:rPr lang="en-US" altLang="zh-CN" sz="2800" i="1">
                        <a:solidFill>
                          <a:srgbClr val="000000"/>
                        </a:solidFill>
                        <a:latin typeface="Cambria Math" panose="02040503050406030204" pitchFamily="18" charset="0"/>
                        <a:cs typeface="Times New Roman" panose="02020603050405020304" pitchFamily="18" charset="0"/>
                      </a:rPr>
                      <m:t>=</m:t>
                    </m:r>
                    <m:acc>
                      <m:accPr>
                        <m:chr m:val="⃗"/>
                        <m:ctrlPr>
                          <a:rPr lang="zh-CN" altLang="zh-CN" sz="2800"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accPr>
                      <m:e>
                        <m:r>
                          <a:rPr lang="en-US" altLang="zh-CN" sz="2800" i="1">
                            <a:solidFill>
                              <a:srgbClr val="000000"/>
                            </a:solidFill>
                            <a:latin typeface="Cambria Math" panose="02040503050406030204" pitchFamily="18" charset="0"/>
                            <a:cs typeface="Times New Roman" panose="02020603050405020304" pitchFamily="18" charset="0"/>
                          </a:rPr>
                          <m:t>𝐵</m:t>
                        </m:r>
                        <m:sSub>
                          <m:sSubPr>
                            <m:ctrlPr>
                              <a:rPr lang="zh-CN" altLang="zh-CN" sz="2800"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800" i="1">
                                <a:solidFill>
                                  <a:srgbClr val="000000"/>
                                </a:solidFill>
                                <a:latin typeface="Cambria Math" panose="02040503050406030204" pitchFamily="18" charset="0"/>
                                <a:cs typeface="Times New Roman" panose="02020603050405020304" pitchFamily="18" charset="0"/>
                              </a:rPr>
                              <m:t>𝐶</m:t>
                            </m:r>
                          </m:e>
                          <m:sub>
                            <m:r>
                              <a:rPr lang="en-US" altLang="zh-CN" sz="2800">
                                <a:solidFill>
                                  <a:srgbClr val="000000"/>
                                </a:solidFill>
                                <a:latin typeface="Cambria Math" panose="02040503050406030204" pitchFamily="18" charset="0"/>
                                <a:cs typeface="Times New Roman" panose="02020603050405020304" pitchFamily="18" charset="0"/>
                              </a:rPr>
                              <m:t>1</m:t>
                            </m:r>
                          </m:sub>
                        </m:sSub>
                      </m:e>
                    </m:acc>
                  </m:oMath>
                </a14:m>
                <a:r>
                  <a:rPr lang="en-US" altLang="zh-CN" sz="2800"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effectLst/>
                  <a:latin typeface="NEU-BZ-S92"/>
                  <a:ea typeface="方正书宋_GBK" panose="03000509000000000000" pitchFamily="65" charset="-122"/>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zh-CN" altLang="zh-CN" sz="28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所以</a:t>
                </a:r>
                <a:r>
                  <a:rPr lang="zh-CN" altLang="zh-CN" sz="2800" dirty="0">
                    <a:solidFill>
                      <a:srgbClr val="000000"/>
                    </a:solidFill>
                    <a:latin typeface="NEU-BZ-S92"/>
                    <a:cs typeface="宋体" panose="02010600030101010101" pitchFamily="2" charset="-122"/>
                  </a:rPr>
                  <a:t>∠</a:t>
                </a:r>
                <a:r>
                  <a:rPr lang="en-US" altLang="zh-CN" sz="2800" i="1" dirty="0">
                    <a:solidFill>
                      <a:srgbClr val="000000"/>
                    </a:solidFill>
                    <a:latin typeface="Times New Roman" panose="02020603050405020304" pitchFamily="18" charset="0"/>
                    <a:cs typeface="Times New Roman" panose="02020603050405020304" pitchFamily="18" charset="0"/>
                  </a:rPr>
                  <a:t>D</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AC</a:t>
                </a:r>
                <a:r>
                  <a:rPr lang="zh-CN" altLang="zh-CN" sz="28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即为向量</a:t>
                </a:r>
                <a14:m>
                  <m:oMath xmlns:m="http://schemas.openxmlformats.org/officeDocument/2006/math">
                    <m:acc>
                      <m:accPr>
                        <m:chr m:val="⃗"/>
                        <m:ctrlPr>
                          <a:rPr lang="zh-CN" altLang="zh-CN" sz="2800"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accPr>
                      <m:e>
                        <m:r>
                          <a:rPr lang="en-US" altLang="zh-CN" sz="2800" i="1">
                            <a:solidFill>
                              <a:srgbClr val="000000"/>
                            </a:solidFill>
                            <a:latin typeface="Cambria Math" panose="02040503050406030204" pitchFamily="18" charset="0"/>
                            <a:cs typeface="Times New Roman" panose="02020603050405020304" pitchFamily="18" charset="0"/>
                          </a:rPr>
                          <m:t>𝐵</m:t>
                        </m:r>
                        <m:sSub>
                          <m:sSubPr>
                            <m:ctrlPr>
                              <a:rPr lang="zh-CN" altLang="zh-CN" sz="2800"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800" i="1">
                                <a:solidFill>
                                  <a:srgbClr val="000000"/>
                                </a:solidFill>
                                <a:latin typeface="Cambria Math" panose="02040503050406030204" pitchFamily="18" charset="0"/>
                                <a:cs typeface="Times New Roman" panose="02020603050405020304" pitchFamily="18" charset="0"/>
                              </a:rPr>
                              <m:t>𝐶</m:t>
                            </m:r>
                          </m:e>
                          <m:sub>
                            <m:r>
                              <a:rPr lang="en-US" altLang="zh-CN" sz="2800">
                                <a:solidFill>
                                  <a:srgbClr val="000000"/>
                                </a:solidFill>
                                <a:latin typeface="Cambria Math" panose="02040503050406030204" pitchFamily="18" charset="0"/>
                                <a:cs typeface="Times New Roman" panose="02020603050405020304" pitchFamily="18" charset="0"/>
                              </a:rPr>
                              <m:t>1</m:t>
                            </m:r>
                          </m:sub>
                        </m:sSub>
                      </m:e>
                    </m:acc>
                    <m:r>
                      <a:rPr lang="zh-CN" altLang="zh-CN" sz="2800">
                        <a:solidFill>
                          <a:srgbClr val="000000"/>
                        </a:solidFill>
                        <a:effectLst/>
                        <a:latin typeface="Cambria Math" panose="02040503050406030204" pitchFamily="18" charset="0"/>
                        <a:ea typeface="楷体" panose="02010609060101010101" pitchFamily="49" charset="-122"/>
                        <a:cs typeface="Times New Roman" panose="02020603050405020304" pitchFamily="18" charset="0"/>
                      </a:rPr>
                      <m:t>与</m:t>
                    </m:r>
                    <m:acc>
                      <m:accPr>
                        <m:chr m:val="⃗"/>
                        <m:ctrlPr>
                          <a:rPr lang="zh-CN" altLang="zh-CN" sz="2800"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accPr>
                      <m:e>
                        <m:r>
                          <a:rPr lang="en-US" altLang="zh-CN" sz="2800" i="1">
                            <a:solidFill>
                              <a:srgbClr val="000000"/>
                            </a:solidFill>
                            <a:latin typeface="Cambria Math" panose="02040503050406030204" pitchFamily="18" charset="0"/>
                            <a:cs typeface="Times New Roman" panose="02020603050405020304" pitchFamily="18" charset="0"/>
                          </a:rPr>
                          <m:t>𝐴𝐶</m:t>
                        </m:r>
                      </m:e>
                    </m:acc>
                  </m:oMath>
                </a14:m>
                <a:r>
                  <a:rPr lang="zh-CN" altLang="zh-CN" sz="28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的夹角</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effectLst/>
                  <a:latin typeface="NEU-BZ-S92"/>
                  <a:ea typeface="方正书宋_GBK" panose="03000509000000000000" pitchFamily="65" charset="-122"/>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zh-CN" altLang="zh-CN" sz="28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又</a:t>
                </a:r>
                <a:r>
                  <a:rPr lang="en-US" altLang="zh-CN" sz="2800" dirty="0">
                    <a:solidFill>
                      <a:srgbClr val="000000"/>
                    </a:solidFill>
                    <a:latin typeface="Cambria Math" panose="02040503050406030204" pitchFamily="18" charset="0"/>
                    <a:cs typeface="Cambria Math" panose="020405030504060302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D</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AC</a:t>
                </a:r>
                <a:r>
                  <a:rPr lang="zh-CN" altLang="zh-CN" sz="28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为正三角形</a:t>
                </a:r>
                <a:r>
                  <a:rPr lang="en-US" altLang="zh-CN" sz="2800"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effectLst/>
                  <a:latin typeface="NEU-BZ-S92"/>
                  <a:ea typeface="方正书宋_GBK" panose="03000509000000000000" pitchFamily="65" charset="-122"/>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zh-CN" altLang="zh-CN" sz="28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所以</a:t>
                </a:r>
                <a:r>
                  <a:rPr lang="zh-CN" altLang="zh-CN" sz="2800" dirty="0">
                    <a:solidFill>
                      <a:srgbClr val="000000"/>
                    </a:solidFill>
                    <a:latin typeface="NEU-BZ-S92"/>
                    <a:cs typeface="宋体" panose="02010600030101010101" pitchFamily="2" charset="-122"/>
                  </a:rPr>
                  <a:t>∠</a:t>
                </a:r>
                <a:r>
                  <a:rPr lang="en-US" altLang="zh-CN" sz="2800" i="1" dirty="0">
                    <a:solidFill>
                      <a:srgbClr val="000000"/>
                    </a:solidFill>
                    <a:latin typeface="Times New Roman" panose="02020603050405020304" pitchFamily="18" charset="0"/>
                    <a:cs typeface="Times New Roman" panose="02020603050405020304" pitchFamily="18" charset="0"/>
                  </a:rPr>
                  <a:t>D</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AC=</a:t>
                </a:r>
                <a:r>
                  <a:rPr lang="en-US" altLang="zh-CN" sz="2800" dirty="0">
                    <a:solidFill>
                      <a:srgbClr val="000000"/>
                    </a:solidFill>
                    <a:latin typeface="Times New Roman" panose="02020603050405020304" pitchFamily="18" charset="0"/>
                    <a:cs typeface="Times New Roman" panose="02020603050405020304" pitchFamily="18" charset="0"/>
                  </a:rPr>
                  <a:t>60</a:t>
                </a:r>
                <a:r>
                  <a:rPr lang="en-US" altLang="zh-CN" sz="2800" dirty="0">
                    <a:solidFill>
                      <a:srgbClr val="000000"/>
                    </a:solidFill>
                    <a:effectLst/>
                    <a:latin typeface="宋体" panose="02010600030101010101" pitchFamily="2" charset="-122"/>
                    <a:ea typeface="方正书宋_GBK" panose="03000509000000000000" pitchFamily="65" charset="-122"/>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effectLst/>
                  <a:latin typeface="NEU-BZ-S92"/>
                  <a:ea typeface="方正书宋_GBK" panose="03000509000000000000" pitchFamily="65" charset="-122"/>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zh-CN" altLang="zh-CN" sz="28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即</a:t>
                </a:r>
                <a:r>
                  <a:rPr lang="en-US" altLang="zh-CN" sz="2800" i="1" dirty="0">
                    <a:solidFill>
                      <a:srgbClr val="000000"/>
                    </a:solidFill>
                    <a:latin typeface="Times New Roman" panose="02020603050405020304" pitchFamily="18" charset="0"/>
                    <a:cs typeface="Times New Roman" panose="02020603050405020304" pitchFamily="18" charset="0"/>
                  </a:rPr>
                  <a:t>&lt;</a:t>
                </a:r>
                <a14:m>
                  <m:oMath xmlns:m="http://schemas.openxmlformats.org/officeDocument/2006/math">
                    <m:acc>
                      <m:accPr>
                        <m:chr m:val="⃗"/>
                        <m:ctrlPr>
                          <a:rPr lang="zh-CN" altLang="zh-CN" sz="2800"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accPr>
                      <m:e>
                        <m:r>
                          <a:rPr lang="en-US" altLang="zh-CN" sz="2800" i="1">
                            <a:solidFill>
                              <a:srgbClr val="000000"/>
                            </a:solidFill>
                            <a:latin typeface="Cambria Math" panose="02040503050406030204" pitchFamily="18" charset="0"/>
                            <a:cs typeface="Times New Roman" panose="02020603050405020304" pitchFamily="18" charset="0"/>
                          </a:rPr>
                          <m:t>𝐵</m:t>
                        </m:r>
                        <m:sSub>
                          <m:sSubPr>
                            <m:ctrlPr>
                              <a:rPr lang="zh-CN" altLang="zh-CN" sz="2800"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800" i="1">
                                <a:solidFill>
                                  <a:srgbClr val="000000"/>
                                </a:solidFill>
                                <a:latin typeface="Cambria Math" panose="02040503050406030204" pitchFamily="18" charset="0"/>
                                <a:cs typeface="Times New Roman" panose="02020603050405020304" pitchFamily="18" charset="0"/>
                              </a:rPr>
                              <m:t>𝐶</m:t>
                            </m:r>
                          </m:e>
                          <m:sub>
                            <m:r>
                              <a:rPr lang="en-US" altLang="zh-CN" sz="2800">
                                <a:solidFill>
                                  <a:srgbClr val="000000"/>
                                </a:solidFill>
                                <a:latin typeface="Cambria Math" panose="02040503050406030204" pitchFamily="18" charset="0"/>
                                <a:cs typeface="Times New Roman" panose="02020603050405020304" pitchFamily="18" charset="0"/>
                              </a:rPr>
                              <m:t>1</m:t>
                            </m:r>
                          </m:sub>
                        </m:sSub>
                      </m:e>
                    </m:acc>
                    <m:r>
                      <a:rPr lang="en-US" altLang="zh-CN" sz="2800">
                        <a:solidFill>
                          <a:srgbClr val="000000"/>
                        </a:solidFill>
                        <a:latin typeface="Cambria Math" panose="02040503050406030204" pitchFamily="18" charset="0"/>
                        <a:cs typeface="Times New Roman" panose="02020603050405020304" pitchFamily="18" charset="0"/>
                      </a:rPr>
                      <m:t>,</m:t>
                    </m:r>
                    <m:acc>
                      <m:accPr>
                        <m:chr m:val="⃗"/>
                        <m:ctrlPr>
                          <a:rPr lang="zh-CN" altLang="zh-CN" sz="2800"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accPr>
                      <m:e>
                        <m:r>
                          <a:rPr lang="en-US" altLang="zh-CN" sz="2800" i="1">
                            <a:solidFill>
                              <a:srgbClr val="000000"/>
                            </a:solidFill>
                            <a:latin typeface="Cambria Math" panose="02040503050406030204" pitchFamily="18" charset="0"/>
                            <a:cs typeface="Times New Roman" panose="02020603050405020304" pitchFamily="18" charset="0"/>
                          </a:rPr>
                          <m:t>𝐴𝐶</m:t>
                        </m:r>
                      </m:e>
                    </m:acc>
                  </m:oMath>
                </a14:m>
                <a:r>
                  <a:rPr lang="en-US" altLang="zh-CN" sz="2800" i="1" dirty="0">
                    <a:solidFill>
                      <a:srgbClr val="000000"/>
                    </a:solidFill>
                    <a:latin typeface="Times New Roman" panose="02020603050405020304" pitchFamily="18" charset="0"/>
                    <a:cs typeface="Times New Roman" panose="02020603050405020304" pitchFamily="18" charset="0"/>
                  </a:rPr>
                  <a:t>&gt;=</a:t>
                </a:r>
                <a:r>
                  <a:rPr lang="en-US" altLang="zh-CN" sz="2800" dirty="0">
                    <a:solidFill>
                      <a:srgbClr val="000000"/>
                    </a:solidFill>
                    <a:latin typeface="Times New Roman" panose="02020603050405020304" pitchFamily="18" charset="0"/>
                    <a:cs typeface="Times New Roman" panose="02020603050405020304" pitchFamily="18" charset="0"/>
                  </a:rPr>
                  <a:t>60</a:t>
                </a:r>
                <a:r>
                  <a:rPr lang="en-US" altLang="zh-CN" sz="2800" dirty="0">
                    <a:solidFill>
                      <a:srgbClr val="000000"/>
                    </a:solidFill>
                    <a:effectLst/>
                    <a:latin typeface="宋体" panose="02010600030101010101" pitchFamily="2" charset="-122"/>
                    <a:ea typeface="方正书宋_GBK" panose="03000509000000000000" pitchFamily="65" charset="-122"/>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effectLst/>
                  <a:latin typeface="NEU-BZ-S92"/>
                  <a:ea typeface="方正书宋_GBK" panose="03000509000000000000" pitchFamily="65" charset="-122"/>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zh-CN" altLang="zh-CN" sz="28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故向量</a:t>
                </a:r>
                <a14:m>
                  <m:oMath xmlns:m="http://schemas.openxmlformats.org/officeDocument/2006/math">
                    <m:acc>
                      <m:accPr>
                        <m:chr m:val="⃗"/>
                        <m:ctrlPr>
                          <a:rPr lang="zh-CN" altLang="zh-CN" sz="2800"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accPr>
                      <m:e>
                        <m:r>
                          <a:rPr lang="en-US" altLang="zh-CN" sz="2800" i="1">
                            <a:solidFill>
                              <a:srgbClr val="000000"/>
                            </a:solidFill>
                            <a:latin typeface="Cambria Math" panose="02040503050406030204" pitchFamily="18" charset="0"/>
                            <a:cs typeface="Times New Roman" panose="02020603050405020304" pitchFamily="18" charset="0"/>
                          </a:rPr>
                          <m:t>𝐵</m:t>
                        </m:r>
                        <m:sSub>
                          <m:sSubPr>
                            <m:ctrlPr>
                              <a:rPr lang="zh-CN" altLang="zh-CN" sz="2800"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800" i="1">
                                <a:solidFill>
                                  <a:srgbClr val="000000"/>
                                </a:solidFill>
                                <a:latin typeface="Cambria Math" panose="02040503050406030204" pitchFamily="18" charset="0"/>
                                <a:cs typeface="Times New Roman" panose="02020603050405020304" pitchFamily="18" charset="0"/>
                              </a:rPr>
                              <m:t>𝐶</m:t>
                            </m:r>
                          </m:e>
                          <m:sub>
                            <m:r>
                              <a:rPr lang="en-US" altLang="zh-CN" sz="2800">
                                <a:solidFill>
                                  <a:srgbClr val="000000"/>
                                </a:solidFill>
                                <a:latin typeface="Cambria Math" panose="02040503050406030204" pitchFamily="18" charset="0"/>
                                <a:cs typeface="Times New Roman" panose="02020603050405020304" pitchFamily="18" charset="0"/>
                              </a:rPr>
                              <m:t>1</m:t>
                            </m:r>
                          </m:sub>
                        </m:sSub>
                      </m:e>
                    </m:acc>
                    <m:r>
                      <a:rPr lang="zh-CN" altLang="zh-CN" sz="2800">
                        <a:solidFill>
                          <a:srgbClr val="000000"/>
                        </a:solidFill>
                        <a:effectLst/>
                        <a:latin typeface="Cambria Math" panose="02040503050406030204" pitchFamily="18" charset="0"/>
                        <a:ea typeface="楷体" panose="02010609060101010101" pitchFamily="49" charset="-122"/>
                        <a:cs typeface="Times New Roman" panose="02020603050405020304" pitchFamily="18" charset="0"/>
                      </a:rPr>
                      <m:t>与</m:t>
                    </m:r>
                    <m:acc>
                      <m:accPr>
                        <m:chr m:val="⃗"/>
                        <m:ctrlPr>
                          <a:rPr lang="zh-CN" altLang="zh-CN" sz="2800"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accPr>
                      <m:e>
                        <m:r>
                          <a:rPr lang="en-US" altLang="zh-CN" sz="2800" i="1">
                            <a:solidFill>
                              <a:srgbClr val="000000"/>
                            </a:solidFill>
                            <a:latin typeface="Cambria Math" panose="02040503050406030204" pitchFamily="18" charset="0"/>
                            <a:cs typeface="Times New Roman" panose="02020603050405020304" pitchFamily="18" charset="0"/>
                          </a:rPr>
                          <m:t>𝐴𝐶</m:t>
                        </m:r>
                      </m:e>
                    </m:acc>
                  </m:oMath>
                </a14:m>
                <a:r>
                  <a:rPr lang="zh-CN" altLang="zh-CN" sz="28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的夹角为</a:t>
                </a:r>
                <a:r>
                  <a:rPr lang="en-US" altLang="zh-CN" sz="2800" dirty="0">
                    <a:solidFill>
                      <a:srgbClr val="000000"/>
                    </a:solidFill>
                    <a:latin typeface="Times New Roman" panose="02020603050405020304" pitchFamily="18" charset="0"/>
                    <a:cs typeface="Times New Roman" panose="02020603050405020304" pitchFamily="18" charset="0"/>
                  </a:rPr>
                  <a:t>60</a:t>
                </a:r>
                <a:r>
                  <a:rPr lang="en-US" altLang="zh-CN" sz="2800" dirty="0">
                    <a:solidFill>
                      <a:srgbClr val="000000"/>
                    </a:solidFill>
                    <a:effectLst/>
                    <a:latin typeface="宋体" panose="02010600030101010101" pitchFamily="2" charset="-122"/>
                    <a:ea typeface="方正书宋_GBK" panose="03000509000000000000" pitchFamily="65" charset="-122"/>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effectLst/>
                  <a:latin typeface="NEU-BZ-S92"/>
                  <a:ea typeface="方正书宋_GBK" panose="03000509000000000000" pitchFamily="65" charset="-122"/>
                  <a:cs typeface="Times New Roman" panose="02020603050405020304" pitchFamily="18" charset="0"/>
                </a:endParaRPr>
              </a:p>
            </p:txBody>
          </p:sp>
        </mc:Choice>
        <mc:Fallback>
          <p:sp>
            <p:nvSpPr>
              <p:cNvPr id="2" name="矩形 1"/>
              <p:cNvSpPr>
                <a:spLocks noRot="1" noChangeAspect="1" noMove="1" noResize="1" noEditPoints="1" noAdjustHandles="1" noChangeArrowheads="1" noChangeShapeType="1" noTextEdit="1"/>
              </p:cNvSpPr>
              <p:nvPr/>
            </p:nvSpPr>
            <p:spPr>
              <a:xfrm>
                <a:off x="381000" y="952933"/>
                <a:ext cx="11430000" cy="3681264"/>
              </a:xfrm>
              <a:prstGeom prst="rect">
                <a:avLst/>
              </a:prstGeom>
              <a:blipFill rotWithShape="0">
                <a:blip r:embed="rId2"/>
                <a:stretch>
                  <a:fillRect b="-3808"/>
                </a:stretch>
              </a:blipFill>
            </p:spPr>
            <p:txBody>
              <a:bodyPr/>
              <a:lstStyle/>
              <a:p>
                <a:r>
                  <a:rPr lang="zh-CN" altLang="en-US">
                    <a:noFill/>
                  </a:rPr>
                  <a:t> </a:t>
                </a:r>
              </a:p>
            </p:txBody>
          </p:sp>
        </mc:Fallback>
      </mc:AlternateContent>
      <p:pic>
        <p:nvPicPr>
          <p:cNvPr id="6" name="24C08.eps" descr="id:2147512904;FounderCES"/>
          <p:cNvPicPr/>
          <p:nvPr/>
        </p:nvPicPr>
        <p:blipFill>
          <a:blip r:embed="rId3">
            <a:clrChange>
              <a:clrFrom>
                <a:srgbClr val="FFFFFF"/>
              </a:clrFrom>
              <a:clrTo>
                <a:srgbClr val="FFFFFF">
                  <a:alpha val="0"/>
                </a:srgbClr>
              </a:clrTo>
            </a:clrChange>
          </a:blip>
          <a:stretch>
            <a:fillRect/>
          </a:stretch>
        </p:blipFill>
        <p:spPr>
          <a:xfrm>
            <a:off x="8235429" y="1319657"/>
            <a:ext cx="3088187" cy="2947815"/>
          </a:xfrm>
          <a:prstGeom prst="rect">
            <a:avLst/>
          </a:prstGeom>
        </p:spPr>
      </p:pic>
    </p:spTree>
    <p:extLst>
      <p:ext uri="{BB962C8B-B14F-4D97-AF65-F5344CB8AC3E}">
        <p14:creationId xmlns:p14="http://schemas.microsoft.com/office/powerpoint/2010/main" val="358244882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矩形 2"/>
              <p:cNvSpPr>
                <a:spLocks noChangeAspect="1"/>
              </p:cNvSpPr>
              <p:nvPr/>
            </p:nvSpPr>
            <p:spPr>
              <a:xfrm>
                <a:off x="381000" y="126999"/>
                <a:ext cx="11430000" cy="6079998"/>
              </a:xfrm>
              <a:prstGeom prst="rect">
                <a:avLst/>
              </a:prstGeom>
            </p:spPr>
            <p:txBody>
              <a:bodyPr>
                <a:spAutoFit/>
              </a:bodyPr>
              <a:lstStyle/>
              <a:p>
                <a:pPr indent="279400">
                  <a:lnSpc>
                    <a:spcPct val="130000"/>
                  </a:lnSpc>
                  <a:spcAft>
                    <a:spcPts val="0"/>
                  </a:spcAft>
                  <a:tabLst>
                    <a:tab pos="1188085" algn="l"/>
                    <a:tab pos="2163445" algn="l"/>
                    <a:tab pos="3142615" algn="l"/>
                    <a:tab pos="4190365" algn="l"/>
                  </a:tabLst>
                </a:pP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方法二</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设正方体的棱长为</a:t>
                </a:r>
                <a:r>
                  <a:rPr lang="en-US" altLang="zh-CN" sz="2800" dirty="0">
                    <a:solidFill>
                      <a:srgbClr val="000000"/>
                    </a:solidFill>
                    <a:latin typeface="Times New Roman" panose="02020603050405020304" pitchFamily="18" charset="0"/>
                    <a:cs typeface="Times New Roman" panose="02020603050405020304" pitchFamily="18" charset="0"/>
                  </a:rPr>
                  <a:t>1,</a:t>
                </a:r>
                <a:endParaRPr lang="zh-CN" altLang="zh-CN" sz="2800" dirty="0">
                  <a:solidFill>
                    <a:srgbClr val="000000"/>
                  </a:solidFill>
                  <a:effectLst/>
                  <a:latin typeface="NEU-BZ-S92"/>
                  <a:ea typeface="方正书宋_GBK" panose="03000509000000000000" pitchFamily="65" charset="-122"/>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zh-CN" altLang="zh-CN" sz="28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则</a:t>
                </a:r>
                <a14:m>
                  <m:oMath xmlns:m="http://schemas.openxmlformats.org/officeDocument/2006/math">
                    <m:acc>
                      <m:accPr>
                        <m:chr m:val="⃗"/>
                        <m:ctrlPr>
                          <a:rPr lang="zh-CN" altLang="zh-CN" sz="2800"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accPr>
                      <m:e>
                        <m:r>
                          <a:rPr lang="en-US" altLang="zh-CN" sz="2800" i="1">
                            <a:solidFill>
                              <a:srgbClr val="000000"/>
                            </a:solidFill>
                            <a:latin typeface="Cambria Math" panose="02040503050406030204" pitchFamily="18" charset="0"/>
                            <a:cs typeface="Times New Roman" panose="02020603050405020304" pitchFamily="18" charset="0"/>
                          </a:rPr>
                          <m:t>𝐵</m:t>
                        </m:r>
                        <m:sSub>
                          <m:sSubPr>
                            <m:ctrlPr>
                              <a:rPr lang="zh-CN" altLang="zh-CN" sz="2800"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800" i="1">
                                <a:solidFill>
                                  <a:srgbClr val="000000"/>
                                </a:solidFill>
                                <a:latin typeface="Cambria Math" panose="02040503050406030204" pitchFamily="18" charset="0"/>
                                <a:cs typeface="Times New Roman" panose="02020603050405020304" pitchFamily="18" charset="0"/>
                              </a:rPr>
                              <m:t>𝐶</m:t>
                            </m:r>
                          </m:e>
                          <m:sub>
                            <m:r>
                              <a:rPr lang="en-US" altLang="zh-CN" sz="2800">
                                <a:solidFill>
                                  <a:srgbClr val="000000"/>
                                </a:solidFill>
                                <a:latin typeface="Cambria Math" panose="02040503050406030204" pitchFamily="18" charset="0"/>
                                <a:cs typeface="Times New Roman" panose="02020603050405020304" pitchFamily="18" charset="0"/>
                              </a:rPr>
                              <m:t>1</m:t>
                            </m:r>
                          </m:sub>
                        </m:sSub>
                      </m:e>
                    </m:acc>
                    <m:r>
                      <a:rPr lang="en-US" altLang="zh-CN" sz="2800">
                        <a:solidFill>
                          <a:srgbClr val="000000"/>
                        </a:solidFill>
                        <a:latin typeface="Cambria Math" panose="02040503050406030204" pitchFamily="18" charset="0"/>
                        <a:cs typeface="Times New Roman" panose="02020603050405020304" pitchFamily="18" charset="0"/>
                      </a:rPr>
                      <m:t>·</m:t>
                    </m:r>
                    <m:acc>
                      <m:accPr>
                        <m:chr m:val="⃗"/>
                        <m:ctrlPr>
                          <a:rPr lang="zh-CN" altLang="zh-CN" sz="2800"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accPr>
                      <m:e>
                        <m:r>
                          <a:rPr lang="en-US" altLang="zh-CN" sz="2800" i="1">
                            <a:solidFill>
                              <a:srgbClr val="000000"/>
                            </a:solidFill>
                            <a:latin typeface="Cambria Math" panose="02040503050406030204" pitchFamily="18" charset="0"/>
                            <a:cs typeface="Times New Roman" panose="02020603050405020304" pitchFamily="18" charset="0"/>
                          </a:rPr>
                          <m:t>𝐴𝐶</m:t>
                        </m:r>
                      </m:e>
                    </m:acc>
                  </m:oMath>
                </a14:m>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a:t>
                </a:r>
                <a14:m>
                  <m:oMath xmlns:m="http://schemas.openxmlformats.org/officeDocument/2006/math">
                    <m:acc>
                      <m:accPr>
                        <m:chr m:val="⃗"/>
                        <m:ctrlPr>
                          <a:rPr lang="zh-CN" altLang="zh-CN" sz="2800"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accPr>
                      <m:e>
                        <m:r>
                          <a:rPr lang="en-US" altLang="zh-CN" sz="2800" i="1">
                            <a:solidFill>
                              <a:srgbClr val="000000"/>
                            </a:solidFill>
                            <a:latin typeface="Cambria Math" panose="02040503050406030204" pitchFamily="18" charset="0"/>
                            <a:cs typeface="Times New Roman" panose="02020603050405020304" pitchFamily="18" charset="0"/>
                          </a:rPr>
                          <m:t>𝐵𝐶</m:t>
                        </m:r>
                      </m:e>
                    </m:acc>
                    <m:r>
                      <a:rPr lang="en-US" altLang="zh-CN" sz="2800" i="1">
                        <a:solidFill>
                          <a:srgbClr val="000000"/>
                        </a:solidFill>
                        <a:latin typeface="Cambria Math" panose="02040503050406030204" pitchFamily="18" charset="0"/>
                        <a:cs typeface="Times New Roman" panose="02020603050405020304" pitchFamily="18" charset="0"/>
                      </a:rPr>
                      <m:t>+</m:t>
                    </m:r>
                    <m:acc>
                      <m:accPr>
                        <m:chr m:val="⃗"/>
                        <m:ctrlPr>
                          <a:rPr lang="zh-CN" altLang="zh-CN" sz="2800"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accPr>
                      <m:e>
                        <m:r>
                          <a:rPr lang="en-US" altLang="zh-CN" sz="2800" i="1">
                            <a:solidFill>
                              <a:srgbClr val="000000"/>
                            </a:solidFill>
                            <a:latin typeface="Cambria Math" panose="02040503050406030204" pitchFamily="18" charset="0"/>
                            <a:cs typeface="Times New Roman" panose="02020603050405020304" pitchFamily="18" charset="0"/>
                          </a:rPr>
                          <m:t>𝐶</m:t>
                        </m:r>
                        <m:sSub>
                          <m:sSubPr>
                            <m:ctrlPr>
                              <a:rPr lang="zh-CN" altLang="zh-CN" sz="2800"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800" i="1">
                                <a:solidFill>
                                  <a:srgbClr val="000000"/>
                                </a:solidFill>
                                <a:latin typeface="Cambria Math" panose="02040503050406030204" pitchFamily="18" charset="0"/>
                                <a:cs typeface="Times New Roman" panose="02020603050405020304" pitchFamily="18" charset="0"/>
                              </a:rPr>
                              <m:t>𝐶</m:t>
                            </m:r>
                          </m:e>
                          <m:sub>
                            <m:r>
                              <a:rPr lang="en-US" altLang="zh-CN" sz="2800">
                                <a:solidFill>
                                  <a:srgbClr val="000000"/>
                                </a:solidFill>
                                <a:latin typeface="Cambria Math" panose="02040503050406030204" pitchFamily="18" charset="0"/>
                                <a:cs typeface="Times New Roman" panose="02020603050405020304" pitchFamily="18" charset="0"/>
                              </a:rPr>
                              <m:t>1</m:t>
                            </m:r>
                          </m:sub>
                        </m:sSub>
                      </m:e>
                    </m:acc>
                  </m:oMath>
                </a14:m>
                <a:r>
                  <a:rPr lang="en-US" altLang="zh-CN" sz="2800" dirty="0">
                    <a:solidFill>
                      <a:srgbClr val="000000"/>
                    </a:solidFill>
                    <a:latin typeface="Times New Roman" panose="02020603050405020304" pitchFamily="18" charset="0"/>
                    <a:cs typeface="Times New Roman" panose="02020603050405020304" pitchFamily="18" charset="0"/>
                  </a:rPr>
                  <a:t>)·(</a:t>
                </a:r>
                <a14:m>
                  <m:oMath xmlns:m="http://schemas.openxmlformats.org/officeDocument/2006/math">
                    <m:acc>
                      <m:accPr>
                        <m:chr m:val="⃗"/>
                        <m:ctrlPr>
                          <a:rPr lang="zh-CN" altLang="zh-CN" sz="2800"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accPr>
                      <m:e>
                        <m:r>
                          <a:rPr lang="en-US" altLang="zh-CN" sz="2800" i="1">
                            <a:solidFill>
                              <a:srgbClr val="000000"/>
                            </a:solidFill>
                            <a:latin typeface="Cambria Math" panose="02040503050406030204" pitchFamily="18" charset="0"/>
                            <a:cs typeface="Times New Roman" panose="02020603050405020304" pitchFamily="18" charset="0"/>
                          </a:rPr>
                          <m:t>𝐴𝐵</m:t>
                        </m:r>
                      </m:e>
                    </m:acc>
                    <m:r>
                      <a:rPr lang="en-US" altLang="zh-CN" sz="2800" i="1">
                        <a:solidFill>
                          <a:srgbClr val="000000"/>
                        </a:solidFill>
                        <a:latin typeface="Cambria Math" panose="02040503050406030204" pitchFamily="18" charset="0"/>
                        <a:cs typeface="Times New Roman" panose="02020603050405020304" pitchFamily="18" charset="0"/>
                      </a:rPr>
                      <m:t>+</m:t>
                    </m:r>
                    <m:acc>
                      <m:accPr>
                        <m:chr m:val="⃗"/>
                        <m:ctrlPr>
                          <a:rPr lang="zh-CN" altLang="zh-CN" sz="2800"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accPr>
                      <m:e>
                        <m:r>
                          <a:rPr lang="en-US" altLang="zh-CN" sz="2800" i="1">
                            <a:solidFill>
                              <a:srgbClr val="000000"/>
                            </a:solidFill>
                            <a:latin typeface="Cambria Math" panose="02040503050406030204" pitchFamily="18" charset="0"/>
                            <a:cs typeface="Times New Roman" panose="02020603050405020304" pitchFamily="18" charset="0"/>
                          </a:rPr>
                          <m:t>𝐵𝐶</m:t>
                        </m:r>
                      </m:e>
                    </m:acc>
                  </m:oMath>
                </a14:m>
                <a:r>
                  <a:rPr lang="en-US" altLang="zh-CN" sz="2800" dirty="0" smtClean="0">
                    <a:solidFill>
                      <a:srgbClr val="000000"/>
                    </a:solidFill>
                    <a:latin typeface="Times New Roman" panose="02020603050405020304" pitchFamily="18" charset="0"/>
                    <a:cs typeface="Times New Roman" panose="02020603050405020304" pitchFamily="18" charset="0"/>
                  </a:rPr>
                  <a:t>)</a:t>
                </a:r>
              </a:p>
              <a:p>
                <a:pPr indent="279400">
                  <a:lnSpc>
                    <a:spcPct val="130000"/>
                  </a:lnSpc>
                  <a:spcAft>
                    <a:spcPts val="0"/>
                  </a:spcAft>
                  <a:tabLst>
                    <a:tab pos="1188085" algn="l"/>
                    <a:tab pos="2163445" algn="l"/>
                    <a:tab pos="3142615" algn="l"/>
                    <a:tab pos="4190365" algn="l"/>
                  </a:tabLst>
                </a:pPr>
                <a:r>
                  <a:rPr lang="en-US" altLang="zh-CN" sz="2800" i="1" dirty="0" smtClean="0">
                    <a:solidFill>
                      <a:srgbClr val="000000"/>
                    </a:solidFill>
                    <a:latin typeface="Times New Roman" panose="02020603050405020304" pitchFamily="18" charset="0"/>
                    <a:cs typeface="Times New Roman" panose="02020603050405020304" pitchFamily="18" charset="0"/>
                  </a:rPr>
                  <a:t>=</a:t>
                </a:r>
                <a:r>
                  <a:rPr lang="en-US" altLang="zh-CN" sz="2800" dirty="0" smtClean="0">
                    <a:solidFill>
                      <a:srgbClr val="000000"/>
                    </a:solidFill>
                    <a:latin typeface="Times New Roman" panose="02020603050405020304" pitchFamily="18" charset="0"/>
                    <a:cs typeface="Times New Roman" panose="02020603050405020304" pitchFamily="18" charset="0"/>
                  </a:rPr>
                  <a:t>(</a:t>
                </a:r>
                <a14:m>
                  <m:oMath xmlns:m="http://schemas.openxmlformats.org/officeDocument/2006/math">
                    <m:acc>
                      <m:accPr>
                        <m:chr m:val="⃗"/>
                        <m:ctrlPr>
                          <a:rPr lang="zh-CN" altLang="zh-CN" sz="2800"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accPr>
                      <m:e>
                        <m:r>
                          <a:rPr lang="en-US" altLang="zh-CN" sz="2800" i="1">
                            <a:solidFill>
                              <a:srgbClr val="000000"/>
                            </a:solidFill>
                            <a:latin typeface="Cambria Math" panose="02040503050406030204" pitchFamily="18" charset="0"/>
                            <a:cs typeface="Times New Roman" panose="02020603050405020304" pitchFamily="18" charset="0"/>
                          </a:rPr>
                          <m:t>𝐴𝐷</m:t>
                        </m:r>
                      </m:e>
                    </m:acc>
                    <m:r>
                      <a:rPr lang="en-US" altLang="zh-CN" sz="2800" i="1">
                        <a:solidFill>
                          <a:srgbClr val="000000"/>
                        </a:solidFill>
                        <a:latin typeface="Cambria Math" panose="02040503050406030204" pitchFamily="18" charset="0"/>
                        <a:cs typeface="Times New Roman" panose="02020603050405020304" pitchFamily="18" charset="0"/>
                      </a:rPr>
                      <m:t>+</m:t>
                    </m:r>
                    <m:acc>
                      <m:accPr>
                        <m:chr m:val="⃗"/>
                        <m:ctrlPr>
                          <a:rPr lang="zh-CN" altLang="zh-CN" sz="2800"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accPr>
                      <m:e>
                        <m:r>
                          <a:rPr lang="en-US" altLang="zh-CN" sz="2800" i="1">
                            <a:solidFill>
                              <a:srgbClr val="000000"/>
                            </a:solidFill>
                            <a:latin typeface="Cambria Math" panose="02040503050406030204" pitchFamily="18" charset="0"/>
                            <a:cs typeface="Times New Roman" panose="02020603050405020304" pitchFamily="18" charset="0"/>
                          </a:rPr>
                          <m:t>𝐴</m:t>
                        </m:r>
                        <m:sSub>
                          <m:sSubPr>
                            <m:ctrlPr>
                              <a:rPr lang="zh-CN" altLang="zh-CN" sz="2800"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800" i="1">
                                <a:solidFill>
                                  <a:srgbClr val="000000"/>
                                </a:solidFill>
                                <a:latin typeface="Cambria Math" panose="02040503050406030204" pitchFamily="18" charset="0"/>
                                <a:cs typeface="Times New Roman" panose="02020603050405020304" pitchFamily="18" charset="0"/>
                              </a:rPr>
                              <m:t>𝐴</m:t>
                            </m:r>
                          </m:e>
                          <m:sub>
                            <m:r>
                              <a:rPr lang="en-US" altLang="zh-CN" sz="2800">
                                <a:solidFill>
                                  <a:srgbClr val="000000"/>
                                </a:solidFill>
                                <a:latin typeface="Cambria Math" panose="02040503050406030204" pitchFamily="18" charset="0"/>
                                <a:cs typeface="Times New Roman" panose="02020603050405020304" pitchFamily="18" charset="0"/>
                              </a:rPr>
                              <m:t>1</m:t>
                            </m:r>
                          </m:sub>
                        </m:sSub>
                      </m:e>
                    </m:acc>
                  </m:oMath>
                </a14:m>
                <a:r>
                  <a:rPr lang="en-US" altLang="zh-CN" sz="2800" dirty="0">
                    <a:solidFill>
                      <a:srgbClr val="000000"/>
                    </a:solidFill>
                    <a:latin typeface="Times New Roman" panose="02020603050405020304" pitchFamily="18" charset="0"/>
                    <a:cs typeface="Times New Roman" panose="02020603050405020304" pitchFamily="18" charset="0"/>
                  </a:rPr>
                  <a:t>)·(</a:t>
                </a:r>
                <a14:m>
                  <m:oMath xmlns:m="http://schemas.openxmlformats.org/officeDocument/2006/math">
                    <m:acc>
                      <m:accPr>
                        <m:chr m:val="⃗"/>
                        <m:ctrlPr>
                          <a:rPr lang="zh-CN" altLang="zh-CN" sz="2800"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accPr>
                      <m:e>
                        <m:r>
                          <a:rPr lang="en-US" altLang="zh-CN" sz="2800" i="1">
                            <a:solidFill>
                              <a:srgbClr val="000000"/>
                            </a:solidFill>
                            <a:latin typeface="Cambria Math" panose="02040503050406030204" pitchFamily="18" charset="0"/>
                            <a:cs typeface="Times New Roman" panose="02020603050405020304" pitchFamily="18" charset="0"/>
                          </a:rPr>
                          <m:t>𝐴𝐵</m:t>
                        </m:r>
                      </m:e>
                    </m:acc>
                    <m:r>
                      <a:rPr lang="en-US" altLang="zh-CN" sz="2800" i="1">
                        <a:solidFill>
                          <a:srgbClr val="000000"/>
                        </a:solidFill>
                        <a:latin typeface="Cambria Math" panose="02040503050406030204" pitchFamily="18" charset="0"/>
                        <a:cs typeface="Times New Roman" panose="02020603050405020304" pitchFamily="18" charset="0"/>
                      </a:rPr>
                      <m:t>+</m:t>
                    </m:r>
                    <m:acc>
                      <m:accPr>
                        <m:chr m:val="⃗"/>
                        <m:ctrlPr>
                          <a:rPr lang="zh-CN" altLang="zh-CN" sz="2800"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accPr>
                      <m:e>
                        <m:r>
                          <a:rPr lang="en-US" altLang="zh-CN" sz="2800" i="1">
                            <a:solidFill>
                              <a:srgbClr val="000000"/>
                            </a:solidFill>
                            <a:latin typeface="Cambria Math" panose="02040503050406030204" pitchFamily="18" charset="0"/>
                            <a:cs typeface="Times New Roman" panose="02020603050405020304" pitchFamily="18" charset="0"/>
                          </a:rPr>
                          <m:t>𝐴𝐷</m:t>
                        </m:r>
                      </m:e>
                    </m:acc>
                  </m:oMath>
                </a14:m>
                <a:r>
                  <a:rPr lang="en-US" altLang="zh-CN" sz="2800" dirty="0" smtClean="0">
                    <a:solidFill>
                      <a:srgbClr val="000000"/>
                    </a:solidFill>
                    <a:latin typeface="Times New Roman" panose="02020603050405020304" pitchFamily="18" charset="0"/>
                    <a:cs typeface="Times New Roman" panose="02020603050405020304" pitchFamily="18" charset="0"/>
                  </a:rPr>
                  <a:t>)</a:t>
                </a:r>
              </a:p>
              <a:p>
                <a:pPr indent="279400">
                  <a:lnSpc>
                    <a:spcPct val="130000"/>
                  </a:lnSpc>
                  <a:spcAft>
                    <a:spcPts val="0"/>
                  </a:spcAft>
                  <a:tabLst>
                    <a:tab pos="1188085" algn="l"/>
                    <a:tab pos="2163445" algn="l"/>
                    <a:tab pos="3142615" algn="l"/>
                    <a:tab pos="4190365" algn="l"/>
                  </a:tabLst>
                </a:pPr>
                <a:r>
                  <a:rPr lang="en-US" altLang="zh-CN" sz="2800" i="1" dirty="0" smtClean="0">
                    <a:solidFill>
                      <a:srgbClr val="000000"/>
                    </a:solidFill>
                    <a:latin typeface="Times New Roman" panose="02020603050405020304" pitchFamily="18" charset="0"/>
                    <a:cs typeface="Times New Roman" panose="02020603050405020304" pitchFamily="18" charset="0"/>
                  </a:rPr>
                  <a:t>=</a:t>
                </a:r>
                <a14:m>
                  <m:oMath xmlns:m="http://schemas.openxmlformats.org/officeDocument/2006/math">
                    <m:acc>
                      <m:accPr>
                        <m:chr m:val="⃗"/>
                        <m:ctrlPr>
                          <a:rPr lang="zh-CN" altLang="zh-CN" sz="2800"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accPr>
                      <m:e>
                        <m:r>
                          <a:rPr lang="en-US" altLang="zh-CN" sz="2800" i="1">
                            <a:solidFill>
                              <a:srgbClr val="000000"/>
                            </a:solidFill>
                            <a:latin typeface="Cambria Math" panose="02040503050406030204" pitchFamily="18" charset="0"/>
                            <a:cs typeface="Times New Roman" panose="02020603050405020304" pitchFamily="18" charset="0"/>
                          </a:rPr>
                          <m:t>𝐴𝐷</m:t>
                        </m:r>
                      </m:e>
                    </m:acc>
                    <m:r>
                      <a:rPr lang="en-US" altLang="zh-CN" sz="2800">
                        <a:solidFill>
                          <a:srgbClr val="000000"/>
                        </a:solidFill>
                        <a:latin typeface="Cambria Math" panose="02040503050406030204" pitchFamily="18" charset="0"/>
                        <a:cs typeface="Times New Roman" panose="02020603050405020304" pitchFamily="18" charset="0"/>
                      </a:rPr>
                      <m:t>·</m:t>
                    </m:r>
                    <m:acc>
                      <m:accPr>
                        <m:chr m:val="⃗"/>
                        <m:ctrlPr>
                          <a:rPr lang="zh-CN" altLang="zh-CN" sz="2800"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accPr>
                      <m:e>
                        <m:r>
                          <a:rPr lang="en-US" altLang="zh-CN" sz="2800" i="1">
                            <a:solidFill>
                              <a:srgbClr val="000000"/>
                            </a:solidFill>
                            <a:latin typeface="Cambria Math" panose="02040503050406030204" pitchFamily="18" charset="0"/>
                            <a:cs typeface="Times New Roman" panose="02020603050405020304" pitchFamily="18" charset="0"/>
                          </a:rPr>
                          <m:t>𝐴𝐵</m:t>
                        </m:r>
                      </m:e>
                    </m:acc>
                  </m:oMath>
                </a14:m>
                <a:r>
                  <a:rPr lang="en-US" altLang="zh-CN" sz="2800" i="1" dirty="0">
                    <a:solidFill>
                      <a:srgbClr val="000000"/>
                    </a:solidFill>
                    <a:latin typeface="Times New Roman" panose="02020603050405020304" pitchFamily="18" charset="0"/>
                    <a:cs typeface="Times New Roman" panose="02020603050405020304" pitchFamily="18" charset="0"/>
                  </a:rPr>
                  <a:t>+|</a:t>
                </a:r>
                <a14:m>
                  <m:oMath xmlns:m="http://schemas.openxmlformats.org/officeDocument/2006/math">
                    <m:acc>
                      <m:accPr>
                        <m:chr m:val="⃗"/>
                        <m:ctrlPr>
                          <a:rPr lang="zh-CN" altLang="zh-CN" sz="2800"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accPr>
                      <m:e>
                        <m:r>
                          <a:rPr lang="en-US" altLang="zh-CN" sz="2800" i="1">
                            <a:solidFill>
                              <a:srgbClr val="000000"/>
                            </a:solidFill>
                            <a:latin typeface="Cambria Math" panose="02040503050406030204" pitchFamily="18" charset="0"/>
                            <a:cs typeface="Times New Roman" panose="02020603050405020304" pitchFamily="18" charset="0"/>
                          </a:rPr>
                          <m:t>𝐴𝐷</m:t>
                        </m:r>
                      </m:e>
                    </m:acc>
                  </m:oMath>
                </a14:m>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baseline="300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t>
                </a:r>
                <a14:m>
                  <m:oMath xmlns:m="http://schemas.openxmlformats.org/officeDocument/2006/math">
                    <m:acc>
                      <m:accPr>
                        <m:chr m:val="⃗"/>
                        <m:ctrlPr>
                          <a:rPr lang="zh-CN" altLang="zh-CN" sz="2800"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accPr>
                      <m:e>
                        <m:r>
                          <a:rPr lang="en-US" altLang="zh-CN" sz="2800" i="1">
                            <a:solidFill>
                              <a:srgbClr val="000000"/>
                            </a:solidFill>
                            <a:latin typeface="Cambria Math" panose="02040503050406030204" pitchFamily="18" charset="0"/>
                            <a:cs typeface="Times New Roman" panose="02020603050405020304" pitchFamily="18" charset="0"/>
                          </a:rPr>
                          <m:t>𝐴</m:t>
                        </m:r>
                        <m:sSub>
                          <m:sSubPr>
                            <m:ctrlPr>
                              <a:rPr lang="zh-CN" altLang="zh-CN" sz="2800"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800" i="1">
                                <a:solidFill>
                                  <a:srgbClr val="000000"/>
                                </a:solidFill>
                                <a:latin typeface="Cambria Math" panose="02040503050406030204" pitchFamily="18" charset="0"/>
                                <a:cs typeface="Times New Roman" panose="02020603050405020304" pitchFamily="18" charset="0"/>
                              </a:rPr>
                              <m:t>𝐴</m:t>
                            </m:r>
                          </m:e>
                          <m:sub>
                            <m:r>
                              <a:rPr lang="en-US" altLang="zh-CN" sz="2800">
                                <a:solidFill>
                                  <a:srgbClr val="000000"/>
                                </a:solidFill>
                                <a:latin typeface="Cambria Math" panose="02040503050406030204" pitchFamily="18" charset="0"/>
                                <a:cs typeface="Times New Roman" panose="02020603050405020304" pitchFamily="18" charset="0"/>
                              </a:rPr>
                              <m:t>1</m:t>
                            </m:r>
                          </m:sub>
                        </m:sSub>
                      </m:e>
                    </m:acc>
                    <m:r>
                      <a:rPr lang="en-US" altLang="zh-CN" sz="2800">
                        <a:solidFill>
                          <a:srgbClr val="000000"/>
                        </a:solidFill>
                        <a:latin typeface="Cambria Math" panose="02040503050406030204" pitchFamily="18" charset="0"/>
                        <a:cs typeface="Times New Roman" panose="02020603050405020304" pitchFamily="18" charset="0"/>
                      </a:rPr>
                      <m:t>·</m:t>
                    </m:r>
                    <m:acc>
                      <m:accPr>
                        <m:chr m:val="⃗"/>
                        <m:ctrlPr>
                          <a:rPr lang="zh-CN" altLang="zh-CN" sz="2800"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accPr>
                      <m:e>
                        <m:r>
                          <a:rPr lang="en-US" altLang="zh-CN" sz="2800" i="1">
                            <a:solidFill>
                              <a:srgbClr val="000000"/>
                            </a:solidFill>
                            <a:latin typeface="Cambria Math" panose="02040503050406030204" pitchFamily="18" charset="0"/>
                            <a:cs typeface="Times New Roman" panose="02020603050405020304" pitchFamily="18" charset="0"/>
                          </a:rPr>
                          <m:t>𝐴𝐵</m:t>
                        </m:r>
                      </m:e>
                    </m:acc>
                    <m:r>
                      <a:rPr lang="en-US" altLang="zh-CN" sz="2800" i="1">
                        <a:solidFill>
                          <a:srgbClr val="000000"/>
                        </a:solidFill>
                        <a:latin typeface="Cambria Math" panose="02040503050406030204" pitchFamily="18" charset="0"/>
                        <a:cs typeface="Times New Roman" panose="02020603050405020304" pitchFamily="18" charset="0"/>
                      </a:rPr>
                      <m:t>+</m:t>
                    </m:r>
                    <m:acc>
                      <m:accPr>
                        <m:chr m:val="⃗"/>
                        <m:ctrlPr>
                          <a:rPr lang="zh-CN" altLang="zh-CN" sz="2800"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accPr>
                      <m:e>
                        <m:r>
                          <a:rPr lang="en-US" altLang="zh-CN" sz="2800" i="1">
                            <a:solidFill>
                              <a:srgbClr val="000000"/>
                            </a:solidFill>
                            <a:latin typeface="Cambria Math" panose="02040503050406030204" pitchFamily="18" charset="0"/>
                            <a:cs typeface="Times New Roman" panose="02020603050405020304" pitchFamily="18" charset="0"/>
                          </a:rPr>
                          <m:t>𝐴</m:t>
                        </m:r>
                        <m:sSub>
                          <m:sSubPr>
                            <m:ctrlPr>
                              <a:rPr lang="zh-CN" altLang="zh-CN" sz="2800"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800" i="1">
                                <a:solidFill>
                                  <a:srgbClr val="000000"/>
                                </a:solidFill>
                                <a:latin typeface="Cambria Math" panose="02040503050406030204" pitchFamily="18" charset="0"/>
                                <a:cs typeface="Times New Roman" panose="02020603050405020304" pitchFamily="18" charset="0"/>
                              </a:rPr>
                              <m:t>𝐴</m:t>
                            </m:r>
                          </m:e>
                          <m:sub>
                            <m:r>
                              <a:rPr lang="en-US" altLang="zh-CN" sz="2800">
                                <a:solidFill>
                                  <a:srgbClr val="000000"/>
                                </a:solidFill>
                                <a:latin typeface="Cambria Math" panose="02040503050406030204" pitchFamily="18" charset="0"/>
                                <a:cs typeface="Times New Roman" panose="02020603050405020304" pitchFamily="18" charset="0"/>
                              </a:rPr>
                              <m:t>1</m:t>
                            </m:r>
                          </m:sub>
                        </m:sSub>
                      </m:e>
                    </m:acc>
                    <m:r>
                      <a:rPr lang="en-US" altLang="zh-CN" sz="2800">
                        <a:solidFill>
                          <a:srgbClr val="000000"/>
                        </a:solidFill>
                        <a:latin typeface="Cambria Math" panose="02040503050406030204" pitchFamily="18" charset="0"/>
                        <a:cs typeface="Times New Roman" panose="02020603050405020304" pitchFamily="18" charset="0"/>
                      </a:rPr>
                      <m:t>·</m:t>
                    </m:r>
                    <m:acc>
                      <m:accPr>
                        <m:chr m:val="⃗"/>
                        <m:ctrlPr>
                          <a:rPr lang="zh-CN" altLang="zh-CN" sz="2800"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accPr>
                      <m:e>
                        <m:r>
                          <a:rPr lang="en-US" altLang="zh-CN" sz="2800" i="1">
                            <a:solidFill>
                              <a:srgbClr val="000000"/>
                            </a:solidFill>
                            <a:latin typeface="Cambria Math" panose="02040503050406030204" pitchFamily="18" charset="0"/>
                            <a:cs typeface="Times New Roman" panose="02020603050405020304" pitchFamily="18" charset="0"/>
                          </a:rPr>
                          <m:t>𝐴𝐷</m:t>
                        </m:r>
                      </m:e>
                    </m:acc>
                  </m:oMath>
                </a14:m>
                <a:endParaRPr lang="en-US" altLang="zh-CN" sz="2800" i="1" dirty="0" smtClean="0">
                  <a:solidFill>
                    <a:srgbClr val="000000"/>
                  </a:solidFill>
                  <a:latin typeface="Times New Roman" panose="02020603050405020304" pitchFamily="18" charset="0"/>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en-US" altLang="zh-CN" sz="2800" i="1" dirty="0" smtClean="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0</a:t>
                </a:r>
                <a:r>
                  <a:rPr lang="en-US" altLang="zh-CN" sz="2800" i="1" dirty="0">
                    <a:solidFill>
                      <a:srgbClr val="000000"/>
                    </a:solidFill>
                    <a:latin typeface="Times New Roman" panose="02020603050405020304" pitchFamily="18" charset="0"/>
                    <a:cs typeface="Times New Roman" panose="02020603050405020304" pitchFamily="18" charset="0"/>
                  </a:rPr>
                  <a:t>+|</a:t>
                </a:r>
                <a14:m>
                  <m:oMath xmlns:m="http://schemas.openxmlformats.org/officeDocument/2006/math">
                    <m:acc>
                      <m:accPr>
                        <m:chr m:val="⃗"/>
                        <m:ctrlPr>
                          <a:rPr lang="zh-CN" altLang="zh-CN" sz="2800"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accPr>
                      <m:e>
                        <m:r>
                          <a:rPr lang="en-US" altLang="zh-CN" sz="2800" i="1">
                            <a:solidFill>
                              <a:srgbClr val="000000"/>
                            </a:solidFill>
                            <a:latin typeface="Cambria Math" panose="02040503050406030204" pitchFamily="18" charset="0"/>
                            <a:cs typeface="Times New Roman" panose="02020603050405020304" pitchFamily="18" charset="0"/>
                          </a:rPr>
                          <m:t>𝐴𝐷</m:t>
                        </m:r>
                      </m:e>
                    </m:acc>
                  </m:oMath>
                </a14:m>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baseline="300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0</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0</a:t>
                </a:r>
                <a:r>
                  <a:rPr lang="en-US" altLang="zh-CN" sz="2800" i="1" dirty="0">
                    <a:solidFill>
                      <a:srgbClr val="000000"/>
                    </a:solidFill>
                    <a:latin typeface="Times New Roman" panose="02020603050405020304" pitchFamily="18" charset="0"/>
                    <a:cs typeface="Times New Roman" panose="02020603050405020304" pitchFamily="18" charset="0"/>
                  </a:rPr>
                  <a:t>=|</a:t>
                </a:r>
                <a14:m>
                  <m:oMath xmlns:m="http://schemas.openxmlformats.org/officeDocument/2006/math">
                    <m:acc>
                      <m:accPr>
                        <m:chr m:val="⃗"/>
                        <m:ctrlPr>
                          <a:rPr lang="zh-CN" altLang="zh-CN" sz="2800"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accPr>
                      <m:e>
                        <m:r>
                          <a:rPr lang="en-US" altLang="zh-CN" sz="2800" i="1">
                            <a:solidFill>
                              <a:srgbClr val="000000"/>
                            </a:solidFill>
                            <a:latin typeface="Cambria Math" panose="02040503050406030204" pitchFamily="18" charset="0"/>
                            <a:cs typeface="Times New Roman" panose="02020603050405020304" pitchFamily="18" charset="0"/>
                          </a:rPr>
                          <m:t>𝐴𝐷</m:t>
                        </m:r>
                      </m:e>
                    </m:acc>
                  </m:oMath>
                </a14:m>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baseline="300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1,</a:t>
                </a:r>
                <a:endParaRPr lang="zh-CN" altLang="zh-CN" sz="2800" dirty="0">
                  <a:solidFill>
                    <a:srgbClr val="000000"/>
                  </a:solidFill>
                  <a:effectLst/>
                  <a:latin typeface="NEU-BZ-S92"/>
                  <a:ea typeface="方正书宋_GBK" panose="03000509000000000000" pitchFamily="65" charset="-122"/>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en-US" altLang="zh-CN" sz="2800" i="1" dirty="0">
                    <a:solidFill>
                      <a:srgbClr val="000000"/>
                    </a:solidFill>
                    <a:latin typeface="Times New Roman" panose="02020603050405020304" pitchFamily="18" charset="0"/>
                    <a:cs typeface="Times New Roman" panose="02020603050405020304" pitchFamily="18" charset="0"/>
                  </a:rPr>
                  <a:t>|</a:t>
                </a:r>
                <a14:m>
                  <m:oMath xmlns:m="http://schemas.openxmlformats.org/officeDocument/2006/math">
                    <m:acc>
                      <m:accPr>
                        <m:chr m:val="⃗"/>
                        <m:ctrlPr>
                          <a:rPr lang="zh-CN" altLang="zh-CN" sz="2800"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accPr>
                      <m:e>
                        <m:r>
                          <a:rPr lang="en-US" altLang="zh-CN" sz="2800" i="1">
                            <a:solidFill>
                              <a:srgbClr val="000000"/>
                            </a:solidFill>
                            <a:latin typeface="Cambria Math" panose="02040503050406030204" pitchFamily="18" charset="0"/>
                            <a:cs typeface="Times New Roman" panose="02020603050405020304" pitchFamily="18" charset="0"/>
                          </a:rPr>
                          <m:t>𝐵</m:t>
                        </m:r>
                        <m:sSub>
                          <m:sSubPr>
                            <m:ctrlPr>
                              <a:rPr lang="zh-CN" altLang="zh-CN" sz="2800"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800" i="1">
                                <a:solidFill>
                                  <a:srgbClr val="000000"/>
                                </a:solidFill>
                                <a:latin typeface="Cambria Math" panose="02040503050406030204" pitchFamily="18" charset="0"/>
                                <a:cs typeface="Times New Roman" panose="02020603050405020304" pitchFamily="18" charset="0"/>
                              </a:rPr>
                              <m:t>𝐶</m:t>
                            </m:r>
                          </m:e>
                          <m:sub>
                            <m:r>
                              <a:rPr lang="en-US" altLang="zh-CN" sz="2800">
                                <a:solidFill>
                                  <a:srgbClr val="000000"/>
                                </a:solidFill>
                                <a:latin typeface="Cambria Math" panose="02040503050406030204" pitchFamily="18" charset="0"/>
                                <a:cs typeface="Times New Roman" panose="02020603050405020304" pitchFamily="18" charset="0"/>
                              </a:rPr>
                              <m:t>1</m:t>
                            </m:r>
                          </m:sub>
                        </m:sSub>
                      </m:e>
                    </m:acc>
                  </m:oMath>
                </a14:m>
                <a:r>
                  <a:rPr lang="en-US" altLang="zh-CN" sz="2800" i="1" dirty="0">
                    <a:solidFill>
                      <a:srgbClr val="000000"/>
                    </a:solidFill>
                    <a:latin typeface="Times New Roman" panose="02020603050405020304" pitchFamily="18" charset="0"/>
                    <a:cs typeface="Times New Roman" panose="02020603050405020304" pitchFamily="18" charset="0"/>
                  </a:rPr>
                  <a:t>|=</a:t>
                </a:r>
                <a14:m>
                  <m:oMath xmlns:m="http://schemas.openxmlformats.org/officeDocument/2006/math">
                    <m:rad>
                      <m:radPr>
                        <m:degHide m:val="on"/>
                        <m:ctrlPr>
                          <a:rPr lang="zh-CN" altLang="zh-CN" sz="2800"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radPr>
                      <m:deg/>
                      <m:e>
                        <m:r>
                          <a:rPr lang="en-US" altLang="zh-CN" sz="2800">
                            <a:solidFill>
                              <a:srgbClr val="000000"/>
                            </a:solidFill>
                            <a:latin typeface="Cambria Math" panose="02040503050406030204" pitchFamily="18" charset="0"/>
                            <a:cs typeface="Times New Roman" panose="02020603050405020304" pitchFamily="18" charset="0"/>
                          </a:rPr>
                          <m:t>2</m:t>
                        </m:r>
                      </m:e>
                    </m:rad>
                  </m:oMath>
                </a14:m>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a:t>
                </a:r>
                <a14:m>
                  <m:oMath xmlns:m="http://schemas.openxmlformats.org/officeDocument/2006/math">
                    <m:acc>
                      <m:accPr>
                        <m:chr m:val="⃗"/>
                        <m:ctrlPr>
                          <a:rPr lang="zh-CN" altLang="zh-CN" sz="2800"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accPr>
                      <m:e>
                        <m:r>
                          <a:rPr lang="en-US" altLang="zh-CN" sz="2800" i="1">
                            <a:solidFill>
                              <a:srgbClr val="000000"/>
                            </a:solidFill>
                            <a:latin typeface="Cambria Math" panose="02040503050406030204" pitchFamily="18" charset="0"/>
                            <a:cs typeface="Times New Roman" panose="02020603050405020304" pitchFamily="18" charset="0"/>
                          </a:rPr>
                          <m:t>𝐴𝐶</m:t>
                        </m:r>
                      </m:e>
                    </m:acc>
                  </m:oMath>
                </a14:m>
                <a:r>
                  <a:rPr lang="en-US" altLang="zh-CN" sz="2800" i="1" dirty="0">
                    <a:solidFill>
                      <a:srgbClr val="000000"/>
                    </a:solidFill>
                    <a:latin typeface="Times New Roman" panose="02020603050405020304" pitchFamily="18" charset="0"/>
                    <a:cs typeface="Times New Roman" panose="02020603050405020304" pitchFamily="18" charset="0"/>
                  </a:rPr>
                  <a:t>|=</a:t>
                </a:r>
                <a14:m>
                  <m:oMath xmlns:m="http://schemas.openxmlformats.org/officeDocument/2006/math">
                    <m:rad>
                      <m:radPr>
                        <m:degHide m:val="on"/>
                        <m:ctrlPr>
                          <a:rPr lang="zh-CN" altLang="zh-CN" sz="2800"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radPr>
                      <m:deg/>
                      <m:e>
                        <m:r>
                          <a:rPr lang="en-US" altLang="zh-CN" sz="2800">
                            <a:solidFill>
                              <a:srgbClr val="000000"/>
                            </a:solidFill>
                            <a:latin typeface="Cambria Math" panose="02040503050406030204" pitchFamily="18" charset="0"/>
                            <a:cs typeface="Times New Roman" panose="02020603050405020304" pitchFamily="18" charset="0"/>
                          </a:rPr>
                          <m:t>2</m:t>
                        </m:r>
                      </m:e>
                    </m:rad>
                  </m:oMath>
                </a14:m>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effectLst/>
                  <a:latin typeface="NEU-BZ-S92"/>
                  <a:ea typeface="方正书宋_GBK" panose="03000509000000000000" pitchFamily="65" charset="-122"/>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zh-CN" altLang="zh-CN" sz="28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所以</a:t>
                </a:r>
                <a:r>
                  <a:rPr lang="en-US" altLang="zh-CN" sz="2800" dirty="0" err="1">
                    <a:solidFill>
                      <a:srgbClr val="000000"/>
                    </a:solidFill>
                    <a:latin typeface="Times New Roman" panose="02020603050405020304" pitchFamily="18" charset="0"/>
                    <a:cs typeface="Times New Roman" panose="02020603050405020304" pitchFamily="18" charset="0"/>
                  </a:rPr>
                  <a:t>cos</a:t>
                </a:r>
                <a:r>
                  <a:rPr lang="en-US" altLang="zh-CN" sz="2800" i="1" dirty="0">
                    <a:solidFill>
                      <a:srgbClr val="000000"/>
                    </a:solidFill>
                    <a:latin typeface="Times New Roman" panose="02020603050405020304" pitchFamily="18" charset="0"/>
                    <a:cs typeface="Times New Roman" panose="02020603050405020304" pitchFamily="18" charset="0"/>
                  </a:rPr>
                  <a:t>&lt;</a:t>
                </a:r>
                <a14:m>
                  <m:oMath xmlns:m="http://schemas.openxmlformats.org/officeDocument/2006/math">
                    <m:acc>
                      <m:accPr>
                        <m:chr m:val="⃗"/>
                        <m:ctrlPr>
                          <a:rPr lang="zh-CN" altLang="zh-CN" sz="2800"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accPr>
                      <m:e>
                        <m:r>
                          <a:rPr lang="en-US" altLang="zh-CN" sz="2800" i="1">
                            <a:solidFill>
                              <a:srgbClr val="000000"/>
                            </a:solidFill>
                            <a:latin typeface="Cambria Math" panose="02040503050406030204" pitchFamily="18" charset="0"/>
                            <a:cs typeface="Times New Roman" panose="02020603050405020304" pitchFamily="18" charset="0"/>
                          </a:rPr>
                          <m:t>𝐵</m:t>
                        </m:r>
                        <m:sSub>
                          <m:sSubPr>
                            <m:ctrlPr>
                              <a:rPr lang="zh-CN" altLang="zh-CN" sz="2800"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800" i="1">
                                <a:solidFill>
                                  <a:srgbClr val="000000"/>
                                </a:solidFill>
                                <a:latin typeface="Cambria Math" panose="02040503050406030204" pitchFamily="18" charset="0"/>
                                <a:cs typeface="Times New Roman" panose="02020603050405020304" pitchFamily="18" charset="0"/>
                              </a:rPr>
                              <m:t>𝐶</m:t>
                            </m:r>
                          </m:e>
                          <m:sub>
                            <m:r>
                              <a:rPr lang="en-US" altLang="zh-CN" sz="2800">
                                <a:solidFill>
                                  <a:srgbClr val="000000"/>
                                </a:solidFill>
                                <a:latin typeface="Cambria Math" panose="02040503050406030204" pitchFamily="18" charset="0"/>
                                <a:cs typeface="Times New Roman" panose="02020603050405020304" pitchFamily="18" charset="0"/>
                              </a:rPr>
                              <m:t>1</m:t>
                            </m:r>
                          </m:sub>
                        </m:sSub>
                      </m:e>
                    </m:acc>
                    <m:r>
                      <a:rPr lang="en-US" altLang="zh-CN" sz="2800">
                        <a:solidFill>
                          <a:srgbClr val="000000"/>
                        </a:solidFill>
                        <a:latin typeface="Cambria Math" panose="02040503050406030204" pitchFamily="18" charset="0"/>
                        <a:cs typeface="Times New Roman" panose="02020603050405020304" pitchFamily="18" charset="0"/>
                      </a:rPr>
                      <m:t>,</m:t>
                    </m:r>
                    <m:acc>
                      <m:accPr>
                        <m:chr m:val="⃗"/>
                        <m:ctrlPr>
                          <a:rPr lang="zh-CN" altLang="zh-CN" sz="2800"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accPr>
                      <m:e>
                        <m:r>
                          <a:rPr lang="en-US" altLang="zh-CN" sz="2800" i="1">
                            <a:solidFill>
                              <a:srgbClr val="000000"/>
                            </a:solidFill>
                            <a:latin typeface="Cambria Math" panose="02040503050406030204" pitchFamily="18" charset="0"/>
                            <a:cs typeface="Times New Roman" panose="02020603050405020304" pitchFamily="18" charset="0"/>
                          </a:rPr>
                          <m:t>𝐴𝐶</m:t>
                        </m:r>
                      </m:e>
                    </m:acc>
                  </m:oMath>
                </a14:m>
                <a:r>
                  <a:rPr lang="en-US" altLang="zh-CN" sz="2800" i="1" dirty="0">
                    <a:solidFill>
                      <a:srgbClr val="000000"/>
                    </a:solidFill>
                    <a:latin typeface="Times New Roman" panose="02020603050405020304" pitchFamily="18" charset="0"/>
                    <a:cs typeface="Times New Roman" panose="02020603050405020304" pitchFamily="18" charset="0"/>
                  </a:rPr>
                  <a:t>&gt;=</a:t>
                </a:r>
                <a14:m>
                  <m:oMath xmlns:m="http://schemas.openxmlformats.org/officeDocument/2006/math">
                    <m:f>
                      <m:fPr>
                        <m:ctrlPr>
                          <a:rPr lang="zh-CN" altLang="zh-CN" sz="2800"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fPr>
                      <m:num>
                        <m:acc>
                          <m:accPr>
                            <m:chr m:val="⃗"/>
                            <m:ctrlPr>
                              <a:rPr lang="zh-CN" altLang="zh-CN" sz="2800"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accPr>
                          <m:e>
                            <m:r>
                              <a:rPr lang="en-US" altLang="zh-CN" sz="2800" i="1">
                                <a:solidFill>
                                  <a:srgbClr val="000000"/>
                                </a:solidFill>
                                <a:latin typeface="Cambria Math" panose="02040503050406030204" pitchFamily="18" charset="0"/>
                                <a:cs typeface="Times New Roman" panose="02020603050405020304" pitchFamily="18" charset="0"/>
                              </a:rPr>
                              <m:t>𝐵</m:t>
                            </m:r>
                            <m:sSub>
                              <m:sSubPr>
                                <m:ctrlPr>
                                  <a:rPr lang="zh-CN" altLang="zh-CN" sz="2800"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800" i="1">
                                    <a:solidFill>
                                      <a:srgbClr val="000000"/>
                                    </a:solidFill>
                                    <a:latin typeface="Cambria Math" panose="02040503050406030204" pitchFamily="18" charset="0"/>
                                    <a:cs typeface="Times New Roman" panose="02020603050405020304" pitchFamily="18" charset="0"/>
                                  </a:rPr>
                                  <m:t>𝐶</m:t>
                                </m:r>
                              </m:e>
                              <m:sub>
                                <m:r>
                                  <a:rPr lang="en-US" altLang="zh-CN" sz="2800">
                                    <a:solidFill>
                                      <a:srgbClr val="000000"/>
                                    </a:solidFill>
                                    <a:latin typeface="Cambria Math" panose="02040503050406030204" pitchFamily="18" charset="0"/>
                                    <a:cs typeface="Times New Roman" panose="02020603050405020304" pitchFamily="18" charset="0"/>
                                  </a:rPr>
                                  <m:t>1</m:t>
                                </m:r>
                              </m:sub>
                            </m:sSub>
                          </m:e>
                        </m:acc>
                        <m:r>
                          <m:rPr>
                            <m:nor/>
                          </m:rPr>
                          <a:rPr lang="en-US" altLang="zh-CN" sz="2800">
                            <a:solidFill>
                              <a:srgbClr val="000000"/>
                            </a:solidFill>
                            <a:latin typeface="Times New Roman" panose="02020603050405020304" pitchFamily="18" charset="0"/>
                            <a:cs typeface="Times New Roman" panose="02020603050405020304" pitchFamily="18" charset="0"/>
                          </a:rPr>
                          <m:t>·</m:t>
                        </m:r>
                        <m:acc>
                          <m:accPr>
                            <m:chr m:val="⃗"/>
                            <m:ctrlPr>
                              <a:rPr lang="zh-CN" altLang="zh-CN" sz="2800"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accPr>
                          <m:e>
                            <m:r>
                              <a:rPr lang="en-US" altLang="zh-CN" sz="2800" i="1">
                                <a:solidFill>
                                  <a:srgbClr val="000000"/>
                                </a:solidFill>
                                <a:latin typeface="Cambria Math" panose="02040503050406030204" pitchFamily="18" charset="0"/>
                                <a:cs typeface="Times New Roman" panose="02020603050405020304" pitchFamily="18" charset="0"/>
                              </a:rPr>
                              <m:t>𝐴𝐶</m:t>
                            </m:r>
                          </m:e>
                        </m:acc>
                      </m:num>
                      <m:den>
                        <m:r>
                          <m:rPr>
                            <m:nor/>
                          </m:rPr>
                          <a:rPr lang="en-US" altLang="zh-CN" sz="2800">
                            <a:solidFill>
                              <a:srgbClr val="000000"/>
                            </a:solidFill>
                            <a:latin typeface="Times New Roman" panose="02020603050405020304" pitchFamily="18" charset="0"/>
                            <a:cs typeface="Times New Roman" panose="02020603050405020304" pitchFamily="18" charset="0"/>
                          </a:rPr>
                          <m:t>|</m:t>
                        </m:r>
                        <m:acc>
                          <m:accPr>
                            <m:chr m:val="⃗"/>
                            <m:ctrlPr>
                              <a:rPr lang="zh-CN" altLang="zh-CN" sz="2800"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accPr>
                          <m:e>
                            <m:r>
                              <a:rPr lang="en-US" altLang="zh-CN" sz="2800" i="1">
                                <a:solidFill>
                                  <a:srgbClr val="000000"/>
                                </a:solidFill>
                                <a:latin typeface="Cambria Math" panose="02040503050406030204" pitchFamily="18" charset="0"/>
                                <a:cs typeface="Times New Roman" panose="02020603050405020304" pitchFamily="18" charset="0"/>
                              </a:rPr>
                              <m:t>𝐵</m:t>
                            </m:r>
                            <m:sSub>
                              <m:sSubPr>
                                <m:ctrlPr>
                                  <a:rPr lang="zh-CN" altLang="zh-CN" sz="2800"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800" i="1">
                                    <a:solidFill>
                                      <a:srgbClr val="000000"/>
                                    </a:solidFill>
                                    <a:latin typeface="Cambria Math" panose="02040503050406030204" pitchFamily="18" charset="0"/>
                                    <a:cs typeface="Times New Roman" panose="02020603050405020304" pitchFamily="18" charset="0"/>
                                  </a:rPr>
                                  <m:t>𝐶</m:t>
                                </m:r>
                              </m:e>
                              <m:sub>
                                <m:r>
                                  <a:rPr lang="en-US" altLang="zh-CN" sz="2800">
                                    <a:solidFill>
                                      <a:srgbClr val="000000"/>
                                    </a:solidFill>
                                    <a:latin typeface="Cambria Math" panose="02040503050406030204" pitchFamily="18" charset="0"/>
                                    <a:cs typeface="Times New Roman" panose="02020603050405020304" pitchFamily="18" charset="0"/>
                                  </a:rPr>
                                  <m:t>1</m:t>
                                </m:r>
                              </m:sub>
                            </m:sSub>
                          </m:e>
                        </m:acc>
                        <m:r>
                          <m:rPr>
                            <m:nor/>
                          </m:rPr>
                          <a:rPr lang="en-US" altLang="zh-CN" sz="2800">
                            <a:solidFill>
                              <a:srgbClr val="000000"/>
                            </a:solidFill>
                            <a:latin typeface="Times New Roman" panose="02020603050405020304" pitchFamily="18" charset="0"/>
                            <a:cs typeface="Times New Roman" panose="02020603050405020304" pitchFamily="18" charset="0"/>
                          </a:rPr>
                          <m:t>||</m:t>
                        </m:r>
                        <m:acc>
                          <m:accPr>
                            <m:chr m:val="⃗"/>
                            <m:ctrlPr>
                              <a:rPr lang="zh-CN" altLang="zh-CN" sz="2800"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accPr>
                          <m:e>
                            <m:r>
                              <a:rPr lang="en-US" altLang="zh-CN" sz="2800" i="1">
                                <a:solidFill>
                                  <a:srgbClr val="000000"/>
                                </a:solidFill>
                                <a:latin typeface="Cambria Math" panose="02040503050406030204" pitchFamily="18" charset="0"/>
                                <a:cs typeface="Times New Roman" panose="02020603050405020304" pitchFamily="18" charset="0"/>
                              </a:rPr>
                              <m:t>𝐴𝐶</m:t>
                            </m:r>
                          </m:e>
                        </m:acc>
                        <m:r>
                          <m:rPr>
                            <m:nor/>
                          </m:rPr>
                          <a:rPr lang="en-US" altLang="zh-CN" sz="2800">
                            <a:solidFill>
                              <a:srgbClr val="000000"/>
                            </a:solidFill>
                            <a:latin typeface="Times New Roman" panose="02020603050405020304" pitchFamily="18" charset="0"/>
                            <a:cs typeface="Times New Roman" panose="02020603050405020304" pitchFamily="18" charset="0"/>
                          </a:rPr>
                          <m:t>|</m:t>
                        </m:r>
                      </m:den>
                    </m:f>
                    <m:r>
                      <a:rPr lang="en-US" altLang="zh-CN" sz="2800" i="1">
                        <a:solidFill>
                          <a:srgbClr val="000000"/>
                        </a:solidFill>
                        <a:latin typeface="Cambria Math" panose="02040503050406030204" pitchFamily="18" charset="0"/>
                        <a:cs typeface="Times New Roman" panose="02020603050405020304" pitchFamily="18" charset="0"/>
                      </a:rPr>
                      <m:t>=</m:t>
                    </m:r>
                    <m:f>
                      <m:fPr>
                        <m:ctrlPr>
                          <a:rPr lang="zh-CN" altLang="zh-CN" sz="2800"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sz="2800">
                            <a:solidFill>
                              <a:srgbClr val="000000"/>
                            </a:solidFill>
                            <a:latin typeface="Cambria Math" panose="02040503050406030204" pitchFamily="18" charset="0"/>
                            <a:cs typeface="Times New Roman" panose="02020603050405020304" pitchFamily="18" charset="0"/>
                          </a:rPr>
                          <m:t>1</m:t>
                        </m:r>
                      </m:num>
                      <m:den>
                        <m:rad>
                          <m:radPr>
                            <m:degHide m:val="on"/>
                            <m:ctrlPr>
                              <a:rPr lang="zh-CN" altLang="zh-CN" sz="2800"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radPr>
                          <m:deg/>
                          <m:e>
                            <m:r>
                              <a:rPr lang="en-US" altLang="zh-CN" sz="2800">
                                <a:solidFill>
                                  <a:srgbClr val="000000"/>
                                </a:solidFill>
                                <a:latin typeface="Cambria Math" panose="02040503050406030204" pitchFamily="18" charset="0"/>
                                <a:cs typeface="Times New Roman" panose="02020603050405020304" pitchFamily="18" charset="0"/>
                              </a:rPr>
                              <m:t>2</m:t>
                            </m:r>
                          </m:e>
                        </m:rad>
                        <m:r>
                          <a:rPr lang="en-US" altLang="zh-CN" sz="2800">
                            <a:solidFill>
                              <a:srgbClr val="000000"/>
                            </a:solidFill>
                            <a:latin typeface="Cambria Math" panose="02040503050406030204" pitchFamily="18" charset="0"/>
                            <a:cs typeface="Times New Roman" panose="02020603050405020304" pitchFamily="18" charset="0"/>
                          </a:rPr>
                          <m:t>×</m:t>
                        </m:r>
                        <m:rad>
                          <m:radPr>
                            <m:degHide m:val="on"/>
                            <m:ctrlPr>
                              <a:rPr lang="zh-CN" altLang="zh-CN" sz="2800"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radPr>
                          <m:deg/>
                          <m:e>
                            <m:r>
                              <a:rPr lang="en-US" altLang="zh-CN" sz="2800">
                                <a:solidFill>
                                  <a:srgbClr val="000000"/>
                                </a:solidFill>
                                <a:latin typeface="Cambria Math" panose="02040503050406030204" pitchFamily="18" charset="0"/>
                                <a:cs typeface="Times New Roman" panose="02020603050405020304" pitchFamily="18" charset="0"/>
                              </a:rPr>
                              <m:t>2</m:t>
                            </m:r>
                          </m:e>
                        </m:rad>
                      </m:den>
                    </m:f>
                    <m:r>
                      <a:rPr lang="en-US" altLang="zh-CN" sz="2800" i="1">
                        <a:solidFill>
                          <a:srgbClr val="000000"/>
                        </a:solidFill>
                        <a:latin typeface="Cambria Math" panose="02040503050406030204" pitchFamily="18" charset="0"/>
                        <a:cs typeface="Times New Roman" panose="02020603050405020304" pitchFamily="18" charset="0"/>
                      </a:rPr>
                      <m:t>=</m:t>
                    </m:r>
                    <m:f>
                      <m:fPr>
                        <m:ctrlPr>
                          <a:rPr lang="zh-CN" altLang="zh-CN" sz="2800"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sz="2800">
                            <a:solidFill>
                              <a:srgbClr val="000000"/>
                            </a:solidFill>
                            <a:latin typeface="Cambria Math" panose="02040503050406030204" pitchFamily="18" charset="0"/>
                            <a:cs typeface="Times New Roman" panose="02020603050405020304" pitchFamily="18" charset="0"/>
                          </a:rPr>
                          <m:t>1</m:t>
                        </m:r>
                      </m:num>
                      <m:den>
                        <m:r>
                          <a:rPr lang="en-US" altLang="zh-CN" sz="2800">
                            <a:solidFill>
                              <a:srgbClr val="000000"/>
                            </a:solidFill>
                            <a:latin typeface="Cambria Math" panose="02040503050406030204" pitchFamily="18" charset="0"/>
                            <a:cs typeface="Times New Roman" panose="02020603050405020304" pitchFamily="18" charset="0"/>
                          </a:rPr>
                          <m:t>2</m:t>
                        </m:r>
                      </m:den>
                    </m:f>
                  </m:oMath>
                </a14:m>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effectLst/>
                  <a:latin typeface="NEU-BZ-S92"/>
                  <a:ea typeface="方正书宋_GBK" panose="03000509000000000000" pitchFamily="65" charset="-122"/>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zh-CN" altLang="zh-CN" sz="28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又因为</a:t>
                </a:r>
                <a:r>
                  <a:rPr lang="en-US" altLang="zh-CN" sz="2800" i="1" dirty="0">
                    <a:solidFill>
                      <a:srgbClr val="000000"/>
                    </a:solidFill>
                    <a:latin typeface="Times New Roman" panose="02020603050405020304" pitchFamily="18" charset="0"/>
                    <a:cs typeface="Times New Roman" panose="02020603050405020304" pitchFamily="18" charset="0"/>
                  </a:rPr>
                  <a:t>&lt;</a:t>
                </a:r>
                <a14:m>
                  <m:oMath xmlns:m="http://schemas.openxmlformats.org/officeDocument/2006/math">
                    <m:acc>
                      <m:accPr>
                        <m:chr m:val="⃗"/>
                        <m:ctrlPr>
                          <a:rPr lang="zh-CN" altLang="zh-CN" sz="2800"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accPr>
                      <m:e>
                        <m:r>
                          <a:rPr lang="en-US" altLang="zh-CN" sz="2800" i="1">
                            <a:solidFill>
                              <a:srgbClr val="000000"/>
                            </a:solidFill>
                            <a:latin typeface="Cambria Math" panose="02040503050406030204" pitchFamily="18" charset="0"/>
                            <a:cs typeface="Times New Roman" panose="02020603050405020304" pitchFamily="18" charset="0"/>
                          </a:rPr>
                          <m:t>𝐵</m:t>
                        </m:r>
                        <m:sSub>
                          <m:sSubPr>
                            <m:ctrlPr>
                              <a:rPr lang="zh-CN" altLang="zh-CN" sz="2800"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800" i="1">
                                <a:solidFill>
                                  <a:srgbClr val="000000"/>
                                </a:solidFill>
                                <a:latin typeface="Cambria Math" panose="02040503050406030204" pitchFamily="18" charset="0"/>
                                <a:cs typeface="Times New Roman" panose="02020603050405020304" pitchFamily="18" charset="0"/>
                              </a:rPr>
                              <m:t>𝐶</m:t>
                            </m:r>
                          </m:e>
                          <m:sub>
                            <m:r>
                              <a:rPr lang="en-US" altLang="zh-CN" sz="2800">
                                <a:solidFill>
                                  <a:srgbClr val="000000"/>
                                </a:solidFill>
                                <a:latin typeface="Cambria Math" panose="02040503050406030204" pitchFamily="18" charset="0"/>
                                <a:cs typeface="Times New Roman" panose="02020603050405020304" pitchFamily="18" charset="0"/>
                              </a:rPr>
                              <m:t>1</m:t>
                            </m:r>
                          </m:sub>
                        </m:sSub>
                      </m:e>
                    </m:acc>
                    <m:r>
                      <a:rPr lang="en-US" altLang="zh-CN" sz="2800">
                        <a:solidFill>
                          <a:srgbClr val="000000"/>
                        </a:solidFill>
                        <a:latin typeface="Cambria Math" panose="02040503050406030204" pitchFamily="18" charset="0"/>
                        <a:cs typeface="Times New Roman" panose="02020603050405020304" pitchFamily="18" charset="0"/>
                      </a:rPr>
                      <m:t>,</m:t>
                    </m:r>
                    <m:acc>
                      <m:accPr>
                        <m:chr m:val="⃗"/>
                        <m:ctrlPr>
                          <a:rPr lang="zh-CN" altLang="zh-CN" sz="2800"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accPr>
                      <m:e>
                        <m:r>
                          <a:rPr lang="en-US" altLang="zh-CN" sz="2800" i="1">
                            <a:solidFill>
                              <a:srgbClr val="000000"/>
                            </a:solidFill>
                            <a:latin typeface="Cambria Math" panose="02040503050406030204" pitchFamily="18" charset="0"/>
                            <a:cs typeface="Times New Roman" panose="02020603050405020304" pitchFamily="18" charset="0"/>
                          </a:rPr>
                          <m:t>𝐴𝐶</m:t>
                        </m:r>
                      </m:e>
                    </m:acc>
                  </m:oMath>
                </a14:m>
                <a:r>
                  <a:rPr lang="en-US" altLang="zh-CN" sz="2800" i="1" dirty="0">
                    <a:solidFill>
                      <a:srgbClr val="000000"/>
                    </a:solidFill>
                    <a:latin typeface="Times New Roman" panose="02020603050405020304" pitchFamily="18" charset="0"/>
                    <a:cs typeface="Times New Roman" panose="02020603050405020304" pitchFamily="18" charset="0"/>
                  </a:rPr>
                  <a:t>&gt;</a:t>
                </a:r>
                <a:r>
                  <a:rPr lang="zh-CN" altLang="zh-CN" sz="2800" dirty="0">
                    <a:solidFill>
                      <a:srgbClr val="000000"/>
                    </a:solidFill>
                    <a:latin typeface="NEU-BZ-S92"/>
                    <a:cs typeface="宋体" panose="02010600030101010101" pitchFamily="2" charset="-122"/>
                  </a:rPr>
                  <a:t>∈</a:t>
                </a:r>
                <a:r>
                  <a:rPr lang="en-US" altLang="zh-CN" sz="2800" dirty="0">
                    <a:solidFill>
                      <a:srgbClr val="000000"/>
                    </a:solidFill>
                    <a:latin typeface="Times New Roman" panose="02020603050405020304" pitchFamily="18" charset="0"/>
                    <a:cs typeface="Times New Roman" panose="02020603050405020304" pitchFamily="18" charset="0"/>
                  </a:rPr>
                  <a:t>[0,</a:t>
                </a:r>
                <a:r>
                  <a:rPr lang="en-US" altLang="zh-CN" sz="2800" dirty="0">
                    <a:solidFill>
                      <a:srgbClr val="000000"/>
                    </a:solidFill>
                    <a:effectLst/>
                    <a:latin typeface="Times New Roman" panose="02020603050405020304" pitchFamily="18" charset="0"/>
                    <a:ea typeface="Microsoft Yi Baiti" panose="03000500000000000000" pitchFamily="66" charset="0"/>
                    <a:cs typeface="Times New Roman" panose="02020603050405020304" pitchFamily="18" charset="0"/>
                  </a:rPr>
                  <a:t>π</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所以</a:t>
                </a:r>
                <a:r>
                  <a:rPr lang="en-US" altLang="zh-CN" sz="2800" i="1" dirty="0">
                    <a:solidFill>
                      <a:srgbClr val="000000"/>
                    </a:solidFill>
                    <a:latin typeface="Times New Roman" panose="02020603050405020304" pitchFamily="18" charset="0"/>
                    <a:cs typeface="Times New Roman" panose="02020603050405020304" pitchFamily="18" charset="0"/>
                  </a:rPr>
                  <a:t>&lt;</a:t>
                </a:r>
                <a14:m>
                  <m:oMath xmlns:m="http://schemas.openxmlformats.org/officeDocument/2006/math">
                    <m:acc>
                      <m:accPr>
                        <m:chr m:val="⃗"/>
                        <m:ctrlPr>
                          <a:rPr lang="zh-CN" altLang="zh-CN" sz="2800"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accPr>
                      <m:e>
                        <m:r>
                          <a:rPr lang="en-US" altLang="zh-CN" sz="2800" i="1">
                            <a:solidFill>
                              <a:srgbClr val="000000"/>
                            </a:solidFill>
                            <a:latin typeface="Cambria Math" panose="02040503050406030204" pitchFamily="18" charset="0"/>
                            <a:cs typeface="Times New Roman" panose="02020603050405020304" pitchFamily="18" charset="0"/>
                          </a:rPr>
                          <m:t>𝐵</m:t>
                        </m:r>
                        <m:sSub>
                          <m:sSubPr>
                            <m:ctrlPr>
                              <a:rPr lang="zh-CN" altLang="zh-CN" sz="2800"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800" i="1">
                                <a:solidFill>
                                  <a:srgbClr val="000000"/>
                                </a:solidFill>
                                <a:latin typeface="Cambria Math" panose="02040503050406030204" pitchFamily="18" charset="0"/>
                                <a:cs typeface="Times New Roman" panose="02020603050405020304" pitchFamily="18" charset="0"/>
                              </a:rPr>
                              <m:t>𝐶</m:t>
                            </m:r>
                          </m:e>
                          <m:sub>
                            <m:r>
                              <a:rPr lang="en-US" altLang="zh-CN" sz="2800">
                                <a:solidFill>
                                  <a:srgbClr val="000000"/>
                                </a:solidFill>
                                <a:latin typeface="Cambria Math" panose="02040503050406030204" pitchFamily="18" charset="0"/>
                                <a:cs typeface="Times New Roman" panose="02020603050405020304" pitchFamily="18" charset="0"/>
                              </a:rPr>
                              <m:t>1</m:t>
                            </m:r>
                          </m:sub>
                        </m:sSub>
                      </m:e>
                    </m:acc>
                    <m:r>
                      <a:rPr lang="en-US" altLang="zh-CN" sz="2800">
                        <a:solidFill>
                          <a:srgbClr val="000000"/>
                        </a:solidFill>
                        <a:latin typeface="Cambria Math" panose="02040503050406030204" pitchFamily="18" charset="0"/>
                        <a:cs typeface="Times New Roman" panose="02020603050405020304" pitchFamily="18" charset="0"/>
                      </a:rPr>
                      <m:t>,</m:t>
                    </m:r>
                    <m:acc>
                      <m:accPr>
                        <m:chr m:val="⃗"/>
                        <m:ctrlPr>
                          <a:rPr lang="zh-CN" altLang="zh-CN" sz="2800"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accPr>
                      <m:e>
                        <m:r>
                          <a:rPr lang="en-US" altLang="zh-CN" sz="2800" i="1">
                            <a:solidFill>
                              <a:srgbClr val="000000"/>
                            </a:solidFill>
                            <a:latin typeface="Cambria Math" panose="02040503050406030204" pitchFamily="18" charset="0"/>
                            <a:cs typeface="Times New Roman" panose="02020603050405020304" pitchFamily="18" charset="0"/>
                          </a:rPr>
                          <m:t>𝐴𝐶</m:t>
                        </m:r>
                      </m:e>
                    </m:acc>
                  </m:oMath>
                </a14:m>
                <a:r>
                  <a:rPr lang="en-US" altLang="zh-CN" sz="2800" i="1" dirty="0">
                    <a:solidFill>
                      <a:srgbClr val="000000"/>
                    </a:solidFill>
                    <a:latin typeface="Times New Roman" panose="02020603050405020304" pitchFamily="18" charset="0"/>
                    <a:cs typeface="Times New Roman" panose="02020603050405020304" pitchFamily="18" charset="0"/>
                  </a:rPr>
                  <a:t>&gt;=</a:t>
                </a:r>
                <a:r>
                  <a:rPr lang="en-US" altLang="zh-CN" sz="2800" dirty="0">
                    <a:solidFill>
                      <a:srgbClr val="000000"/>
                    </a:solidFill>
                    <a:latin typeface="Times New Roman" panose="02020603050405020304" pitchFamily="18" charset="0"/>
                    <a:cs typeface="Times New Roman" panose="02020603050405020304" pitchFamily="18" charset="0"/>
                  </a:rPr>
                  <a:t>60</a:t>
                </a:r>
                <a:r>
                  <a:rPr lang="en-US" altLang="zh-CN" sz="2800" dirty="0">
                    <a:solidFill>
                      <a:srgbClr val="000000"/>
                    </a:solidFill>
                    <a:effectLst/>
                    <a:latin typeface="宋体" panose="02010600030101010101" pitchFamily="2" charset="-122"/>
                    <a:ea typeface="方正书宋_GBK" panose="03000509000000000000" pitchFamily="65" charset="-122"/>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effectLst/>
                  <a:latin typeface="NEU-BZ-S92"/>
                  <a:ea typeface="方正书宋_GBK" panose="03000509000000000000" pitchFamily="65" charset="-122"/>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zh-CN" altLang="zh-CN" sz="28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故向量</a:t>
                </a:r>
                <a14:m>
                  <m:oMath xmlns:m="http://schemas.openxmlformats.org/officeDocument/2006/math">
                    <m:acc>
                      <m:accPr>
                        <m:chr m:val="⃗"/>
                        <m:ctrlPr>
                          <a:rPr lang="zh-CN" altLang="zh-CN" sz="2800"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accPr>
                      <m:e>
                        <m:r>
                          <a:rPr lang="en-US" altLang="zh-CN" sz="2800" i="1">
                            <a:solidFill>
                              <a:srgbClr val="000000"/>
                            </a:solidFill>
                            <a:latin typeface="Cambria Math" panose="02040503050406030204" pitchFamily="18" charset="0"/>
                            <a:cs typeface="Times New Roman" panose="02020603050405020304" pitchFamily="18" charset="0"/>
                          </a:rPr>
                          <m:t>𝐵</m:t>
                        </m:r>
                        <m:sSub>
                          <m:sSubPr>
                            <m:ctrlPr>
                              <a:rPr lang="zh-CN" altLang="zh-CN" sz="2800"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800" i="1">
                                <a:solidFill>
                                  <a:srgbClr val="000000"/>
                                </a:solidFill>
                                <a:latin typeface="Cambria Math" panose="02040503050406030204" pitchFamily="18" charset="0"/>
                                <a:cs typeface="Times New Roman" panose="02020603050405020304" pitchFamily="18" charset="0"/>
                              </a:rPr>
                              <m:t>𝐶</m:t>
                            </m:r>
                          </m:e>
                          <m:sub>
                            <m:r>
                              <a:rPr lang="en-US" altLang="zh-CN" sz="2800">
                                <a:solidFill>
                                  <a:srgbClr val="000000"/>
                                </a:solidFill>
                                <a:latin typeface="Cambria Math" panose="02040503050406030204" pitchFamily="18" charset="0"/>
                                <a:cs typeface="Times New Roman" panose="02020603050405020304" pitchFamily="18" charset="0"/>
                              </a:rPr>
                              <m:t>1</m:t>
                            </m:r>
                          </m:sub>
                        </m:sSub>
                      </m:e>
                    </m:acc>
                    <m:r>
                      <a:rPr lang="zh-CN" altLang="zh-CN" sz="2800">
                        <a:solidFill>
                          <a:srgbClr val="000000"/>
                        </a:solidFill>
                        <a:effectLst/>
                        <a:latin typeface="Cambria Math" panose="02040503050406030204" pitchFamily="18" charset="0"/>
                        <a:ea typeface="楷体" panose="02010609060101010101" pitchFamily="49" charset="-122"/>
                        <a:cs typeface="Times New Roman" panose="02020603050405020304" pitchFamily="18" charset="0"/>
                      </a:rPr>
                      <m:t>与</m:t>
                    </m:r>
                    <m:acc>
                      <m:accPr>
                        <m:chr m:val="⃗"/>
                        <m:ctrlPr>
                          <a:rPr lang="zh-CN" altLang="zh-CN" sz="2800"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accPr>
                      <m:e>
                        <m:r>
                          <a:rPr lang="en-US" altLang="zh-CN" sz="2800" i="1">
                            <a:solidFill>
                              <a:srgbClr val="000000"/>
                            </a:solidFill>
                            <a:latin typeface="Cambria Math" panose="02040503050406030204" pitchFamily="18" charset="0"/>
                            <a:cs typeface="Times New Roman" panose="02020603050405020304" pitchFamily="18" charset="0"/>
                          </a:rPr>
                          <m:t>𝐴𝐶</m:t>
                        </m:r>
                      </m:e>
                    </m:acc>
                  </m:oMath>
                </a14:m>
                <a:r>
                  <a:rPr lang="zh-CN" altLang="zh-CN" sz="28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的夹角为</a:t>
                </a:r>
                <a:r>
                  <a:rPr lang="en-US" altLang="zh-CN" sz="2800" dirty="0">
                    <a:solidFill>
                      <a:srgbClr val="000000"/>
                    </a:solidFill>
                    <a:latin typeface="Times New Roman" panose="02020603050405020304" pitchFamily="18" charset="0"/>
                    <a:cs typeface="Times New Roman" panose="02020603050405020304" pitchFamily="18" charset="0"/>
                  </a:rPr>
                  <a:t>60</a:t>
                </a:r>
                <a:r>
                  <a:rPr lang="en-US" altLang="zh-CN" sz="2800" dirty="0">
                    <a:solidFill>
                      <a:srgbClr val="000000"/>
                    </a:solidFill>
                    <a:effectLst/>
                    <a:latin typeface="宋体" panose="02010600030101010101" pitchFamily="2" charset="-122"/>
                    <a:ea typeface="方正书宋_GBK" panose="03000509000000000000" pitchFamily="65" charset="-122"/>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effectLst/>
                  <a:latin typeface="NEU-BZ-S92"/>
                  <a:ea typeface="方正书宋_GBK" panose="03000509000000000000" pitchFamily="65" charset="-122"/>
                  <a:cs typeface="Times New Roman" panose="02020603050405020304" pitchFamily="18" charset="0"/>
                </a:endParaRPr>
              </a:p>
            </p:txBody>
          </p:sp>
        </mc:Choice>
        <mc:Fallback>
          <p:sp>
            <p:nvSpPr>
              <p:cNvPr id="3" name="矩形 2"/>
              <p:cNvSpPr>
                <a:spLocks noRot="1" noChangeAspect="1" noMove="1" noResize="1" noEditPoints="1" noAdjustHandles="1" noChangeArrowheads="1" noChangeShapeType="1" noTextEdit="1"/>
              </p:cNvSpPr>
              <p:nvPr/>
            </p:nvSpPr>
            <p:spPr>
              <a:xfrm>
                <a:off x="381000" y="126999"/>
                <a:ext cx="11430000" cy="6079998"/>
              </a:xfrm>
              <a:prstGeom prst="rect">
                <a:avLst/>
              </a:prstGeom>
              <a:blipFill rotWithShape="0">
                <a:blip r:embed="rId2"/>
                <a:stretch>
                  <a:fillRect t="-301" b="-1003"/>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58799752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81000" y="1711474"/>
            <a:ext cx="11430000" cy="2272673"/>
          </a:xfrm>
          <a:prstGeom prst="rect">
            <a:avLst/>
          </a:prstGeom>
        </p:spPr>
        <p:txBody>
          <a:bodyPr>
            <a:spAutoFit/>
          </a:bodyPr>
          <a:lstStyle/>
          <a:p>
            <a:pPr indent="279400">
              <a:lnSpc>
                <a:spcPct val="130000"/>
              </a:lnSpc>
              <a:spcAft>
                <a:spcPts val="0"/>
              </a:spcAft>
              <a:tabLst>
                <a:tab pos="1188085" algn="l"/>
                <a:tab pos="2163445" algn="l"/>
                <a:tab pos="3142615" algn="l"/>
                <a:tab pos="4190365" algn="l"/>
              </a:tabLst>
            </a:pPr>
            <a:r>
              <a:rPr lang="zh-CN" altLang="en-US" sz="2800" dirty="0">
                <a:solidFill>
                  <a:srgbClr val="000000"/>
                </a:solidFill>
                <a:latin typeface="黑体" panose="02010609060101010101" pitchFamily="49" charset="-122"/>
                <a:ea typeface="黑体" panose="02010609060101010101" pitchFamily="49" charset="-122"/>
                <a:cs typeface="Times New Roman" panose="02020603050405020304" pitchFamily="18" charset="0"/>
              </a:rPr>
              <a:t>反思感悟 </a:t>
            </a:r>
            <a:r>
              <a:rPr lang="zh-CN" altLang="zh-CN" sz="2800" dirty="0" smtClean="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求</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两个非零向量夹角的途径</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en-US" altLang="zh-CN" sz="2800" dirty="0">
                <a:solidFill>
                  <a:srgbClr val="000000"/>
                </a:solidFill>
                <a:latin typeface="Times New Roman" panose="02020603050405020304" pitchFamily="18" charset="0"/>
                <a:cs typeface="Times New Roman" panose="02020603050405020304" pitchFamily="18" charset="0"/>
              </a:rPr>
              <a:t>(1)</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转化为求平面角</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把所求向量平移到同一个起点上</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转化为平面几何中的对应角</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利用解三角形的知识求解</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en-US" altLang="zh-CN" sz="2800" dirty="0">
                <a:solidFill>
                  <a:srgbClr val="000000"/>
                </a:solidFill>
                <a:latin typeface="Times New Roman" panose="02020603050405020304" pitchFamily="18" charset="0"/>
                <a:cs typeface="Times New Roman" panose="02020603050405020304" pitchFamily="18" charset="0"/>
              </a:rPr>
              <a:t>(2)</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利用数量积的定义求向量夹角的余弦值</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进而确定向量夹角的大小</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72806954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81000" y="470477"/>
            <a:ext cx="11430000" cy="1212640"/>
          </a:xfrm>
          <a:prstGeom prst="rect">
            <a:avLst/>
          </a:prstGeom>
        </p:spPr>
        <p:txBody>
          <a:bodyPr>
            <a:spAutoFit/>
          </a:bodyPr>
          <a:lstStyle/>
          <a:p>
            <a:pPr indent="279400">
              <a:lnSpc>
                <a:spcPct val="130000"/>
              </a:lnSpc>
              <a:spcAft>
                <a:spcPts val="0"/>
              </a:spcAft>
              <a:tabLst>
                <a:tab pos="1188085" algn="l"/>
                <a:tab pos="2163445" algn="l"/>
                <a:tab pos="3142615" algn="l"/>
                <a:tab pos="4190365" algn="l"/>
              </a:tabLst>
            </a:pPr>
            <a:r>
              <a:rPr lang="zh-CN" altLang="zh-CN" sz="2800" dirty="0">
                <a:solidFill>
                  <a:srgbClr val="000000"/>
                </a:solidFill>
                <a:latin typeface="Arial" panose="020B0604020202020204" pitchFamily="34" charset="0"/>
                <a:ea typeface="黑体" panose="02010609060101010101" pitchFamily="49" charset="-122"/>
                <a:cs typeface="Times New Roman" panose="02020603050405020304" pitchFamily="18" charset="0"/>
              </a:rPr>
              <a:t>【变式训练</a:t>
            </a:r>
            <a:r>
              <a:rPr lang="en-US" altLang="zh-CN" sz="2800" b="1" dirty="0">
                <a:solidFill>
                  <a:srgbClr val="000000"/>
                </a:solidFill>
                <a:latin typeface="Times New Roman" panose="02020603050405020304" pitchFamily="18" charset="0"/>
                <a:cs typeface="Times New Roman" panose="02020603050405020304" pitchFamily="18" charset="0"/>
              </a:rPr>
              <a:t>3</a:t>
            </a:r>
            <a:r>
              <a:rPr lang="zh-CN" altLang="zh-CN" sz="2800" dirty="0">
                <a:solidFill>
                  <a:srgbClr val="000000"/>
                </a:solidFill>
                <a:effectLst/>
                <a:latin typeface="Arial" panose="020B0604020202020204" pitchFamily="34" charset="0"/>
                <a:ea typeface="黑体" panose="02010609060101010101" pitchFamily="49" charset="-122"/>
                <a:cs typeface="Times New Roman" panose="02020603050405020304" pitchFamily="18" charset="0"/>
              </a:rPr>
              <a:t>】</a:t>
            </a:r>
            <a:r>
              <a:rPr lang="zh-CN" altLang="zh-CN" sz="2800" dirty="0">
                <a:solidFill>
                  <a:srgbClr val="000000"/>
                </a:solidFill>
                <a:effectLst/>
                <a:latin typeface="NEU-BZ-S92"/>
                <a:ea typeface="Arial" panose="020B0604020202020204" pitchFamily="34" charset="0"/>
                <a:cs typeface="Times New Roman" panose="02020603050405020304" pitchFamily="18" charset="0"/>
              </a:rPr>
              <a:t> </a:t>
            </a:r>
            <a:r>
              <a:rPr lang="zh-CN" altLang="zh-CN" sz="2800" dirty="0">
                <a:solidFill>
                  <a:srgbClr val="000000"/>
                </a:solidFill>
                <a:latin typeface="Times New Roman" panose="02020603050405020304" pitchFamily="18" charset="0"/>
                <a:cs typeface="Times New Roman" panose="02020603050405020304" pitchFamily="18" charset="0"/>
              </a:rPr>
              <a:t>如图</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在空间四边形</a:t>
            </a:r>
            <a:r>
              <a:rPr lang="en-US" altLang="zh-CN" sz="2800" i="1" dirty="0">
                <a:solidFill>
                  <a:srgbClr val="000000"/>
                </a:solidFill>
                <a:latin typeface="Times New Roman" panose="02020603050405020304" pitchFamily="18" charset="0"/>
                <a:cs typeface="Times New Roman" panose="02020603050405020304" pitchFamily="18" charset="0"/>
              </a:rPr>
              <a:t>OABC</a:t>
            </a:r>
            <a:r>
              <a:rPr lang="zh-CN" altLang="zh-CN" sz="2800" dirty="0">
                <a:solidFill>
                  <a:srgbClr val="000000"/>
                </a:solidFill>
                <a:latin typeface="Times New Roman" panose="02020603050405020304" pitchFamily="18" charset="0"/>
                <a:cs typeface="Times New Roman" panose="02020603050405020304" pitchFamily="18" charset="0"/>
              </a:rPr>
              <a:t>中</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OA=</a:t>
            </a:r>
            <a:r>
              <a:rPr lang="en-US" altLang="zh-CN" sz="2800" dirty="0">
                <a:solidFill>
                  <a:srgbClr val="000000"/>
                </a:solidFill>
                <a:latin typeface="Times New Roman" panose="02020603050405020304" pitchFamily="18" charset="0"/>
                <a:cs typeface="Times New Roman" panose="02020603050405020304" pitchFamily="18" charset="0"/>
              </a:rPr>
              <a:t>8,</a:t>
            </a:r>
            <a:r>
              <a:rPr lang="en-US" altLang="zh-CN" sz="2800" i="1" dirty="0">
                <a:solidFill>
                  <a:srgbClr val="000000"/>
                </a:solidFill>
                <a:latin typeface="Times New Roman" panose="02020603050405020304" pitchFamily="18" charset="0"/>
                <a:cs typeface="Times New Roman" panose="02020603050405020304" pitchFamily="18" charset="0"/>
              </a:rPr>
              <a:t>AB=</a:t>
            </a:r>
            <a:r>
              <a:rPr lang="en-US" altLang="zh-CN" sz="2800" dirty="0">
                <a:solidFill>
                  <a:srgbClr val="000000"/>
                </a:solidFill>
                <a:latin typeface="Times New Roman" panose="02020603050405020304" pitchFamily="18" charset="0"/>
                <a:cs typeface="Times New Roman" panose="02020603050405020304" pitchFamily="18" charset="0"/>
              </a:rPr>
              <a:t>6,</a:t>
            </a:r>
            <a:r>
              <a:rPr lang="en-US" altLang="zh-CN" sz="2800" i="1" dirty="0">
                <a:solidFill>
                  <a:srgbClr val="000000"/>
                </a:solidFill>
                <a:latin typeface="Times New Roman" panose="02020603050405020304" pitchFamily="18" charset="0"/>
                <a:cs typeface="Times New Roman" panose="02020603050405020304" pitchFamily="18" charset="0"/>
              </a:rPr>
              <a:t>AC=</a:t>
            </a:r>
            <a:r>
              <a:rPr lang="en-US" altLang="zh-CN" sz="2800" dirty="0">
                <a:solidFill>
                  <a:srgbClr val="000000"/>
                </a:solidFill>
                <a:latin typeface="Times New Roman" panose="02020603050405020304" pitchFamily="18" charset="0"/>
                <a:cs typeface="Times New Roman" panose="02020603050405020304" pitchFamily="18" charset="0"/>
              </a:rPr>
              <a:t>4,</a:t>
            </a:r>
            <a:r>
              <a:rPr lang="en-US" altLang="zh-CN" sz="2800" i="1" dirty="0">
                <a:solidFill>
                  <a:srgbClr val="000000"/>
                </a:solidFill>
                <a:latin typeface="Times New Roman" panose="02020603050405020304" pitchFamily="18" charset="0"/>
                <a:cs typeface="Times New Roman" panose="02020603050405020304" pitchFamily="18" charset="0"/>
              </a:rPr>
              <a:t>BC=</a:t>
            </a:r>
            <a:r>
              <a:rPr lang="en-US" altLang="zh-CN" sz="2800" dirty="0">
                <a:solidFill>
                  <a:srgbClr val="000000"/>
                </a:solidFill>
                <a:latin typeface="Times New Roman" panose="02020603050405020304" pitchFamily="18" charset="0"/>
                <a:cs typeface="Times New Roman" panose="02020603050405020304" pitchFamily="18" charset="0"/>
              </a:rPr>
              <a:t>5</a:t>
            </a:r>
            <a:r>
              <a:rPr lang="en-US" altLang="zh-CN" sz="2800" dirty="0" smtClean="0">
                <a:solidFill>
                  <a:srgbClr val="000000"/>
                </a:solidFill>
                <a:latin typeface="Times New Roman" panose="02020603050405020304" pitchFamily="18" charset="0"/>
                <a:cs typeface="Times New Roman" panose="02020603050405020304" pitchFamily="18" charset="0"/>
              </a:rPr>
              <a:t>,</a:t>
            </a:r>
            <a:r>
              <a:rPr lang="zh-CN" altLang="en-US" sz="2800" dirty="0" smtClean="0">
                <a:solidFill>
                  <a:srgbClr val="000000"/>
                </a:solidFill>
                <a:latin typeface="Times New Roman" panose="02020603050405020304" pitchFamily="18" charset="0"/>
                <a:cs typeface="Times New Roman" panose="02020603050405020304" pitchFamily="18" charset="0"/>
              </a:rPr>
              <a:t> </a:t>
            </a:r>
            <a:r>
              <a:rPr lang="zh-CN" altLang="zh-CN" sz="2800" dirty="0" smtClean="0">
                <a:solidFill>
                  <a:srgbClr val="000000"/>
                </a:solidFill>
                <a:latin typeface="NEU-BZ-S92"/>
                <a:cs typeface="宋体" panose="02010600030101010101" pitchFamily="2" charset="-122"/>
              </a:rPr>
              <a:t>∠</a:t>
            </a:r>
            <a:r>
              <a:rPr lang="en-US" altLang="zh-CN" sz="2800" i="1" dirty="0">
                <a:solidFill>
                  <a:srgbClr val="000000"/>
                </a:solidFill>
                <a:latin typeface="Times New Roman" panose="02020603050405020304" pitchFamily="18" charset="0"/>
                <a:cs typeface="Times New Roman" panose="02020603050405020304" pitchFamily="18" charset="0"/>
              </a:rPr>
              <a:t>OAC=</a:t>
            </a:r>
            <a:r>
              <a:rPr lang="en-US" altLang="zh-CN" sz="2800" dirty="0">
                <a:solidFill>
                  <a:srgbClr val="000000"/>
                </a:solidFill>
                <a:latin typeface="Times New Roman" panose="02020603050405020304" pitchFamily="18" charset="0"/>
                <a:cs typeface="Times New Roman" panose="02020603050405020304" pitchFamily="18" charset="0"/>
              </a:rPr>
              <a:t>45</a:t>
            </a:r>
            <a:r>
              <a:rPr lang="en-US" altLang="zh-CN" sz="2800" dirty="0">
                <a:solidFill>
                  <a:srgbClr val="000000"/>
                </a:solidFill>
                <a:effectLst/>
                <a:latin typeface="宋体" panose="02010600030101010101" pitchFamily="2" charset="-122"/>
                <a:ea typeface="方正书宋_GBK" panose="03000509000000000000" pitchFamily="65" charset="-122"/>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NEU-BZ-S92"/>
                <a:cs typeface="宋体" panose="02010600030101010101" pitchFamily="2" charset="-122"/>
              </a:rPr>
              <a:t>∠</a:t>
            </a:r>
            <a:r>
              <a:rPr lang="en-US" altLang="zh-CN" sz="2800" i="1" dirty="0">
                <a:solidFill>
                  <a:srgbClr val="000000"/>
                </a:solidFill>
                <a:latin typeface="Times New Roman" panose="02020603050405020304" pitchFamily="18" charset="0"/>
                <a:cs typeface="Times New Roman" panose="02020603050405020304" pitchFamily="18" charset="0"/>
              </a:rPr>
              <a:t>OAB=</a:t>
            </a:r>
            <a:r>
              <a:rPr lang="en-US" altLang="zh-CN" sz="2800" dirty="0">
                <a:solidFill>
                  <a:srgbClr val="000000"/>
                </a:solidFill>
                <a:latin typeface="Times New Roman" panose="02020603050405020304" pitchFamily="18" charset="0"/>
                <a:cs typeface="Times New Roman" panose="02020603050405020304" pitchFamily="18" charset="0"/>
              </a:rPr>
              <a:t>60</a:t>
            </a:r>
            <a:r>
              <a:rPr lang="en-US" altLang="zh-CN" sz="2800" dirty="0">
                <a:solidFill>
                  <a:srgbClr val="000000"/>
                </a:solidFill>
                <a:effectLst/>
                <a:latin typeface="宋体" panose="02010600030101010101" pitchFamily="2" charset="-122"/>
                <a:ea typeface="方正书宋_GBK" panose="03000509000000000000" pitchFamily="65" charset="-122"/>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求</a:t>
            </a:r>
            <a:r>
              <a:rPr lang="zh-CN" altLang="zh-CN" sz="2800" dirty="0" smtClean="0">
                <a:solidFill>
                  <a:srgbClr val="000000"/>
                </a:solidFill>
                <a:latin typeface="Times New Roman" panose="02020603050405020304" pitchFamily="18" charset="0"/>
                <a:cs typeface="Times New Roman" panose="02020603050405020304" pitchFamily="18" charset="0"/>
              </a:rPr>
              <a:t>向量</a:t>
            </a:r>
            <a:r>
              <a:rPr lang="zh-CN" altLang="en-US" sz="2800" dirty="0" smtClean="0">
                <a:solidFill>
                  <a:srgbClr val="000000"/>
                </a:solidFill>
                <a:latin typeface="Times New Roman" panose="02020603050405020304" pitchFamily="18" charset="0"/>
                <a:cs typeface="Times New Roman" panose="02020603050405020304" pitchFamily="18" charset="0"/>
              </a:rPr>
              <a:t>                </a:t>
            </a:r>
            <a:r>
              <a:rPr lang="zh-CN" altLang="zh-CN" sz="2800" dirty="0" smtClean="0">
                <a:solidFill>
                  <a:srgbClr val="000000"/>
                </a:solidFill>
                <a:latin typeface="Times New Roman" panose="02020603050405020304" pitchFamily="18" charset="0"/>
                <a:cs typeface="Times New Roman" panose="02020603050405020304" pitchFamily="18" charset="0"/>
              </a:rPr>
              <a:t>的</a:t>
            </a:r>
            <a:r>
              <a:rPr lang="zh-CN" altLang="zh-CN" sz="2800" dirty="0">
                <a:solidFill>
                  <a:srgbClr val="000000"/>
                </a:solidFill>
                <a:latin typeface="Times New Roman" panose="02020603050405020304" pitchFamily="18" charset="0"/>
                <a:cs typeface="Times New Roman" panose="02020603050405020304" pitchFamily="18" charset="0"/>
              </a:rPr>
              <a:t>夹角的余弦值</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effectLst/>
              <a:latin typeface="NEU-BZ-S92"/>
              <a:ea typeface="方正书宋_GBK" panose="03000509000000000000" pitchFamily="65" charset="-122"/>
              <a:cs typeface="Times New Roman" panose="02020603050405020304" pitchFamily="18" charset="0"/>
            </a:endParaRPr>
          </a:p>
        </p:txBody>
      </p:sp>
      <p:graphicFrame>
        <p:nvGraphicFramePr>
          <p:cNvPr id="3" name="对象 2"/>
          <p:cNvGraphicFramePr>
            <a:graphicFrameLocks noChangeAspect="1"/>
          </p:cNvGraphicFramePr>
          <p:nvPr>
            <p:extLst>
              <p:ext uri="{D42A27DB-BD31-4B8C-83A1-F6EECF244321}">
                <p14:modId xmlns:p14="http://schemas.microsoft.com/office/powerpoint/2010/main" val="1967941128"/>
              </p:ext>
            </p:extLst>
          </p:nvPr>
        </p:nvGraphicFramePr>
        <p:xfrm>
          <a:off x="5518872" y="869083"/>
          <a:ext cx="1851025" cy="1003300"/>
        </p:xfrm>
        <a:graphic>
          <a:graphicData uri="http://schemas.openxmlformats.org/presentationml/2006/ole">
            <mc:AlternateContent xmlns:mc="http://schemas.openxmlformats.org/markup-compatibility/2006">
              <mc:Choice xmlns:v="urn:schemas-microsoft-com:vml" Requires="v">
                <p:oleObj spid="_x0000_s22578" name="文档" r:id="rId3" imgW="738373" imgH="397868" progId="Word.Document.12">
                  <p:embed/>
                </p:oleObj>
              </mc:Choice>
              <mc:Fallback>
                <p:oleObj name="文档" r:id="rId3" imgW="738373" imgH="397868" progId="Word.Document.12">
                  <p:embed/>
                  <p:pic>
                    <p:nvPicPr>
                      <p:cNvPr id="0" name=""/>
                      <p:cNvPicPr/>
                      <p:nvPr/>
                    </p:nvPicPr>
                    <p:blipFill>
                      <a:blip r:embed="rId4"/>
                      <a:stretch>
                        <a:fillRect/>
                      </a:stretch>
                    </p:blipFill>
                    <p:spPr>
                      <a:xfrm>
                        <a:off x="5518872" y="869083"/>
                        <a:ext cx="1851025" cy="1003300"/>
                      </a:xfrm>
                      <a:prstGeom prst="rect">
                        <a:avLst/>
                      </a:prstGeom>
                    </p:spPr>
                  </p:pic>
                </p:oleObj>
              </mc:Fallback>
            </mc:AlternateContent>
          </a:graphicData>
        </a:graphic>
      </p:graphicFrame>
      <p:graphicFrame>
        <p:nvGraphicFramePr>
          <p:cNvPr id="4" name="对象 3"/>
          <p:cNvGraphicFramePr>
            <a:graphicFrameLocks noChangeAspect="1"/>
          </p:cNvGraphicFramePr>
          <p:nvPr>
            <p:extLst>
              <p:ext uri="{D42A27DB-BD31-4B8C-83A1-F6EECF244321}">
                <p14:modId xmlns:p14="http://schemas.microsoft.com/office/powerpoint/2010/main" val="231795996"/>
              </p:ext>
            </p:extLst>
          </p:nvPr>
        </p:nvGraphicFramePr>
        <p:xfrm>
          <a:off x="51954" y="1649124"/>
          <a:ext cx="11430000" cy="4021443"/>
        </p:xfrm>
        <a:graphic>
          <a:graphicData uri="http://schemas.openxmlformats.org/presentationml/2006/ole">
            <mc:AlternateContent xmlns:mc="http://schemas.openxmlformats.org/markup-compatibility/2006">
              <mc:Choice xmlns:v="urn:schemas-microsoft-com:vml" Requires="v">
                <p:oleObj spid="_x0000_s22579" name="文档" r:id="rId5" imgW="4510061" imgH="1586785" progId="Word.Document.12">
                  <p:embed/>
                </p:oleObj>
              </mc:Choice>
              <mc:Fallback>
                <p:oleObj name="文档" r:id="rId5" imgW="4510061" imgH="1586785" progId="Word.Document.12">
                  <p:embed/>
                  <p:pic>
                    <p:nvPicPr>
                      <p:cNvPr id="0" name=""/>
                      <p:cNvPicPr/>
                      <p:nvPr/>
                    </p:nvPicPr>
                    <p:blipFill>
                      <a:blip r:embed="rId6"/>
                      <a:stretch>
                        <a:fillRect/>
                      </a:stretch>
                    </p:blipFill>
                    <p:spPr>
                      <a:xfrm>
                        <a:off x="51954" y="1649124"/>
                        <a:ext cx="11430000" cy="4021443"/>
                      </a:xfrm>
                      <a:prstGeom prst="rect">
                        <a:avLst/>
                      </a:prstGeom>
                    </p:spPr>
                  </p:pic>
                </p:oleObj>
              </mc:Fallback>
            </mc:AlternateContent>
          </a:graphicData>
        </a:graphic>
      </p:graphicFrame>
      <p:pic>
        <p:nvPicPr>
          <p:cNvPr id="6" name="25N02.eps" descr="id:2147512918;FounderCES"/>
          <p:cNvPicPr/>
          <p:nvPr/>
        </p:nvPicPr>
        <p:blipFill>
          <a:blip r:embed="rId7">
            <a:clrChange>
              <a:clrFrom>
                <a:srgbClr val="FFFFFF"/>
              </a:clrFrom>
              <a:clrTo>
                <a:srgbClr val="FFFFFF">
                  <a:alpha val="0"/>
                </a:srgbClr>
              </a:clrTo>
            </a:clrChange>
          </a:blip>
          <a:stretch>
            <a:fillRect/>
          </a:stretch>
        </p:blipFill>
        <p:spPr>
          <a:xfrm>
            <a:off x="9363214" y="1997929"/>
            <a:ext cx="2324827" cy="3052051"/>
          </a:xfrm>
          <a:prstGeom prst="rect">
            <a:avLst/>
          </a:prstGeom>
        </p:spPr>
      </p:pic>
    </p:spTree>
    <p:extLst>
      <p:ext uri="{BB962C8B-B14F-4D97-AF65-F5344CB8AC3E}">
        <p14:creationId xmlns:p14="http://schemas.microsoft.com/office/powerpoint/2010/main" val="165703421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2" y="151371"/>
            <a:ext cx="11336478" cy="433754"/>
            <a:chOff x="381000" y="205656"/>
            <a:chExt cx="11336478" cy="433754"/>
          </a:xfrm>
        </p:grpSpPr>
        <p:sp>
          <p:nvSpPr>
            <p:cNvPr id="3" name="矩形 2"/>
            <p:cNvSpPr/>
            <p:nvPr/>
          </p:nvSpPr>
          <p:spPr>
            <a:xfrm>
              <a:off x="1999940" y="230648"/>
              <a:ext cx="192275" cy="401795"/>
            </a:xfrm>
            <a:prstGeom prst="rect">
              <a:avLst/>
            </a:prstGeom>
            <a:noFill/>
            <a:ln w="19050">
              <a:solidFill>
                <a:schemeClr val="accent4">
                  <a:lumMod val="75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00"/>
            </a:p>
          </p:txBody>
        </p:sp>
        <p:grpSp>
          <p:nvGrpSpPr>
            <p:cNvPr id="4" name="组合 3"/>
            <p:cNvGrpSpPr/>
            <p:nvPr/>
          </p:nvGrpSpPr>
          <p:grpSpPr>
            <a:xfrm>
              <a:off x="381000" y="205656"/>
              <a:ext cx="11336478" cy="433754"/>
              <a:chOff x="3048000" y="2286000"/>
              <a:chExt cx="4813646" cy="457200"/>
            </a:xfrm>
          </p:grpSpPr>
          <p:sp>
            <p:nvSpPr>
              <p:cNvPr id="5" name="矩形 4"/>
              <p:cNvSpPr/>
              <p:nvPr/>
            </p:nvSpPr>
            <p:spPr>
              <a:xfrm>
                <a:off x="3048000" y="2286000"/>
                <a:ext cx="769070" cy="457200"/>
              </a:xfrm>
              <a:prstGeom prst="rect">
                <a:avLst/>
              </a:prstGeom>
              <a:solidFill>
                <a:srgbClr val="74877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800" b="1" dirty="0" smtClean="0">
                    <a:solidFill>
                      <a:schemeClr val="bg1"/>
                    </a:solidFill>
                  </a:rPr>
                  <a:t>探究四</a:t>
                </a:r>
              </a:p>
            </p:txBody>
          </p:sp>
          <p:sp>
            <p:nvSpPr>
              <p:cNvPr id="6" name="矩形 5"/>
              <p:cNvSpPr/>
              <p:nvPr/>
            </p:nvSpPr>
            <p:spPr>
              <a:xfrm>
                <a:off x="3909004" y="2286000"/>
                <a:ext cx="3952642" cy="457200"/>
              </a:xfrm>
              <a:prstGeom prst="rect">
                <a:avLst/>
              </a:prstGeom>
              <a:gradFill flip="none" rotWithShape="1">
                <a:gsLst>
                  <a:gs pos="0">
                    <a:srgbClr val="DCDCDC">
                      <a:shade val="30000"/>
                      <a:satMod val="115000"/>
                    </a:srgbClr>
                  </a:gs>
                  <a:gs pos="51000">
                    <a:srgbClr val="DCDCDC">
                      <a:shade val="67500"/>
                      <a:satMod val="115000"/>
                    </a:srgbClr>
                  </a:gs>
                  <a:gs pos="73000">
                    <a:srgbClr val="DCDCDC">
                      <a:shade val="100000"/>
                      <a:satMod val="115000"/>
                      <a:alpha val="0"/>
                    </a:srgb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2800" b="1" dirty="0">
                    <a:solidFill>
                      <a:schemeClr val="bg1"/>
                    </a:solidFill>
                  </a:rPr>
                  <a:t>利用数量积求距离</a:t>
                </a:r>
                <a:r>
                  <a:rPr lang="en-US" altLang="zh-CN" sz="2800" b="1" dirty="0">
                    <a:solidFill>
                      <a:schemeClr val="bg1"/>
                    </a:solidFill>
                  </a:rPr>
                  <a:t>(</a:t>
                </a:r>
                <a:r>
                  <a:rPr lang="zh-CN" altLang="en-US" sz="2800" b="1" dirty="0">
                    <a:solidFill>
                      <a:schemeClr val="bg1"/>
                    </a:solidFill>
                  </a:rPr>
                  <a:t>即线段长度</a:t>
                </a:r>
                <a:r>
                  <a:rPr lang="en-US" altLang="zh-CN" sz="2800" b="1" dirty="0">
                    <a:solidFill>
                      <a:schemeClr val="bg1"/>
                    </a:solidFill>
                  </a:rPr>
                  <a:t>)</a:t>
                </a:r>
                <a:endParaRPr lang="zh-CN" altLang="en-US" sz="2800" b="1" dirty="0">
                  <a:solidFill>
                    <a:schemeClr val="bg1"/>
                  </a:solidFill>
                </a:endParaRPr>
              </a:p>
            </p:txBody>
          </p:sp>
        </p:grpSp>
      </p:grpSp>
      <p:graphicFrame>
        <p:nvGraphicFramePr>
          <p:cNvPr id="8" name="对象 7"/>
          <p:cNvGraphicFramePr>
            <a:graphicFrameLocks noChangeAspect="1"/>
          </p:cNvGraphicFramePr>
          <p:nvPr>
            <p:extLst>
              <p:ext uri="{D42A27DB-BD31-4B8C-83A1-F6EECF244321}">
                <p14:modId xmlns:p14="http://schemas.microsoft.com/office/powerpoint/2010/main" val="3209317442"/>
              </p:ext>
            </p:extLst>
          </p:nvPr>
        </p:nvGraphicFramePr>
        <p:xfrm>
          <a:off x="479206" y="2108068"/>
          <a:ext cx="11275153" cy="1586605"/>
        </p:xfrm>
        <a:graphic>
          <a:graphicData uri="http://schemas.openxmlformats.org/presentationml/2006/ole">
            <mc:AlternateContent xmlns:mc="http://schemas.openxmlformats.org/markup-compatibility/2006">
              <mc:Choice xmlns:v="urn:schemas-microsoft-com:vml" Requires="v">
                <p:oleObj spid="_x0000_s23575" name="文档" r:id="rId3" imgW="4510061" imgH="634642" progId="Word.Document.12">
                  <p:embed/>
                </p:oleObj>
              </mc:Choice>
              <mc:Fallback>
                <p:oleObj name="文档" r:id="rId3" imgW="4510061" imgH="634642" progId="Word.Document.12">
                  <p:embed/>
                  <p:pic>
                    <p:nvPicPr>
                      <p:cNvPr id="0" name=""/>
                      <p:cNvPicPr/>
                      <p:nvPr/>
                    </p:nvPicPr>
                    <p:blipFill>
                      <a:blip r:embed="rId4"/>
                      <a:stretch>
                        <a:fillRect/>
                      </a:stretch>
                    </p:blipFill>
                    <p:spPr>
                      <a:xfrm>
                        <a:off x="479206" y="2108068"/>
                        <a:ext cx="11275153" cy="1586605"/>
                      </a:xfrm>
                      <a:prstGeom prst="rect">
                        <a:avLst/>
                      </a:prstGeom>
                    </p:spPr>
                  </p:pic>
                </p:oleObj>
              </mc:Fallback>
            </mc:AlternateContent>
          </a:graphicData>
        </a:graphic>
      </p:graphicFrame>
    </p:spTree>
    <p:extLst>
      <p:ext uri="{BB962C8B-B14F-4D97-AF65-F5344CB8AC3E}">
        <p14:creationId xmlns:p14="http://schemas.microsoft.com/office/powerpoint/2010/main" val="18782849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对象 3"/>
          <p:cNvGraphicFramePr>
            <a:graphicFrameLocks noChangeAspect="1"/>
          </p:cNvGraphicFramePr>
          <p:nvPr>
            <p:extLst>
              <p:ext uri="{D42A27DB-BD31-4B8C-83A1-F6EECF244321}">
                <p14:modId xmlns:p14="http://schemas.microsoft.com/office/powerpoint/2010/main" val="796751474"/>
              </p:ext>
            </p:extLst>
          </p:nvPr>
        </p:nvGraphicFramePr>
        <p:xfrm>
          <a:off x="51954" y="137965"/>
          <a:ext cx="11275153" cy="5949993"/>
        </p:xfrm>
        <a:graphic>
          <a:graphicData uri="http://schemas.openxmlformats.org/presentationml/2006/ole">
            <mc:AlternateContent xmlns:mc="http://schemas.openxmlformats.org/markup-compatibility/2006">
              <mc:Choice xmlns:v="urn:schemas-microsoft-com:vml" Requires="v">
                <p:oleObj spid="_x0000_s24600" name="文档" r:id="rId3" imgW="4510061" imgH="2379997" progId="Word.Document.12">
                  <p:embed/>
                </p:oleObj>
              </mc:Choice>
              <mc:Fallback>
                <p:oleObj name="文档" r:id="rId3" imgW="4510061" imgH="2379997" progId="Word.Document.12">
                  <p:embed/>
                  <p:pic>
                    <p:nvPicPr>
                      <p:cNvPr id="0" name=""/>
                      <p:cNvPicPr/>
                      <p:nvPr/>
                    </p:nvPicPr>
                    <p:blipFill>
                      <a:blip r:embed="rId4"/>
                      <a:stretch>
                        <a:fillRect/>
                      </a:stretch>
                    </p:blipFill>
                    <p:spPr>
                      <a:xfrm>
                        <a:off x="51954" y="137965"/>
                        <a:ext cx="11275153" cy="5949993"/>
                      </a:xfrm>
                      <a:prstGeom prst="rect">
                        <a:avLst/>
                      </a:prstGeom>
                    </p:spPr>
                  </p:pic>
                </p:oleObj>
              </mc:Fallback>
            </mc:AlternateContent>
          </a:graphicData>
        </a:graphic>
      </p:graphicFrame>
    </p:spTree>
    <p:extLst>
      <p:ext uri="{BB962C8B-B14F-4D97-AF65-F5344CB8AC3E}">
        <p14:creationId xmlns:p14="http://schemas.microsoft.com/office/powerpoint/2010/main" val="2638786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381000" y="1612263"/>
            <a:ext cx="11430000" cy="2458063"/>
            <a:chOff x="381000" y="2027899"/>
            <a:chExt cx="11430000" cy="2458063"/>
          </a:xfrm>
        </p:grpSpPr>
        <p:sp>
          <p:nvSpPr>
            <p:cNvPr id="2" name="矩形 1"/>
            <p:cNvSpPr>
              <a:spLocks noChangeAspect="1"/>
            </p:cNvSpPr>
            <p:nvPr/>
          </p:nvSpPr>
          <p:spPr>
            <a:xfrm>
              <a:off x="381000" y="2027899"/>
              <a:ext cx="11430000" cy="2332946"/>
            </a:xfrm>
            <a:prstGeom prst="rect">
              <a:avLst/>
            </a:prstGeom>
          </p:spPr>
          <p:txBody>
            <a:bodyPr>
              <a:spAutoFit/>
            </a:bodyPr>
            <a:lstStyle/>
            <a:p>
              <a:pPr indent="279400">
                <a:lnSpc>
                  <a:spcPct val="130000"/>
                </a:lnSpc>
                <a:spcAft>
                  <a:spcPts val="0"/>
                </a:spcAft>
                <a:tabLst>
                  <a:tab pos="1188085" algn="l"/>
                  <a:tab pos="2163445" algn="l"/>
                  <a:tab pos="3142615" algn="l"/>
                  <a:tab pos="4190365" algn="l"/>
                </a:tabLst>
              </a:pPr>
              <a:r>
                <a:rPr lang="zh-CN" altLang="en-US" sz="2800" dirty="0">
                  <a:solidFill>
                    <a:srgbClr val="000000"/>
                  </a:solidFill>
                  <a:latin typeface="黑体" panose="02010609060101010101" pitchFamily="49" charset="-122"/>
                  <a:ea typeface="黑体" panose="02010609060101010101" pitchFamily="49" charset="-122"/>
                  <a:cs typeface="Times New Roman" panose="02020603050405020304" pitchFamily="18" charset="0"/>
                </a:rPr>
                <a:t>反思感悟 </a:t>
              </a:r>
              <a:r>
                <a:rPr lang="zh-CN" altLang="zh-CN" sz="2800" dirty="0" smtClean="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求</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两点间的距离或线段长度的方法</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en-US" altLang="zh-CN" sz="2800" dirty="0">
                  <a:solidFill>
                    <a:srgbClr val="000000"/>
                  </a:solidFill>
                  <a:latin typeface="Times New Roman" panose="02020603050405020304" pitchFamily="18" charset="0"/>
                  <a:cs typeface="Times New Roman" panose="02020603050405020304" pitchFamily="18" charset="0"/>
                </a:rPr>
                <a:t>(1)</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将此线段用向量表示</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en-US" altLang="zh-CN" sz="2800" dirty="0">
                  <a:solidFill>
                    <a:srgbClr val="000000"/>
                  </a:solidFill>
                  <a:latin typeface="Times New Roman" panose="02020603050405020304" pitchFamily="18" charset="0"/>
                  <a:cs typeface="Times New Roman" panose="02020603050405020304" pitchFamily="18" charset="0"/>
                </a:rPr>
                <a:t>(2)</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用其他已知夹角和模的向量表示该向量</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en-US" altLang="zh-CN" sz="2800" dirty="0" smtClean="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3)</a:t>
              </a:r>
              <a:r>
                <a:rPr lang="zh-CN" altLang="zh-CN" sz="2800" dirty="0">
                  <a:solidFill>
                    <a:srgbClr val="000000"/>
                  </a:solidFill>
                  <a:effectLst/>
                  <a:latin typeface="Times New Roman" panose="02020603050405020304" pitchFamily="18" charset="0"/>
                  <a:ea typeface="仿宋" panose="02010609060101010101" pitchFamily="49" charset="-122"/>
                  <a:cs typeface="Times New Roman" panose="02020603050405020304" pitchFamily="18" charset="0"/>
                </a:rPr>
                <a:t>利用</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b="1" i="1" dirty="0">
                  <a:solidFill>
                    <a:srgbClr val="000000"/>
                  </a:solidFill>
                  <a:latin typeface="Times New Roman" panose="02020603050405020304" pitchFamily="18" charset="0"/>
                  <a:cs typeface="Times New Roman" panose="02020603050405020304" pitchFamily="18" charset="0"/>
                </a:rPr>
                <a:t>a</a:t>
              </a:r>
              <a:r>
                <a:rPr lang="en-US" altLang="zh-CN" sz="2800" i="1" dirty="0" smtClean="0">
                  <a:solidFill>
                    <a:srgbClr val="000000"/>
                  </a:solidFill>
                  <a:latin typeface="Times New Roman" panose="02020603050405020304" pitchFamily="18" charset="0"/>
                  <a:cs typeface="Times New Roman" panose="02020603050405020304" pitchFamily="18" charset="0"/>
                </a:rPr>
                <a:t>|=        </a:t>
              </a:r>
              <a:r>
                <a:rPr lang="en-US" altLang="zh-CN" sz="2800" dirty="0" smtClean="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effectLst/>
                  <a:latin typeface="Times New Roman" panose="02020603050405020304" pitchFamily="18" charset="0"/>
                  <a:ea typeface="仿宋" panose="02010609060101010101" pitchFamily="49" charset="-122"/>
                  <a:cs typeface="Times New Roman" panose="02020603050405020304" pitchFamily="18" charset="0"/>
                </a:rPr>
                <a:t>通过计算求出</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b="1" i="1" dirty="0">
                  <a:solidFill>
                    <a:srgbClr val="000000"/>
                  </a:solidFill>
                  <a:latin typeface="Times New Roman" panose="02020603050405020304" pitchFamily="18" charset="0"/>
                  <a:cs typeface="Times New Roman" panose="02020603050405020304" pitchFamily="18" charset="0"/>
                </a:rPr>
                <a:t>a</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effectLst/>
                  <a:latin typeface="Times New Roman" panose="02020603050405020304" pitchFamily="18" charset="0"/>
                  <a:ea typeface="仿宋" panose="02010609060101010101" pitchFamily="49" charset="-122"/>
                  <a:cs typeface="Times New Roman" panose="02020603050405020304" pitchFamily="18" charset="0"/>
                </a:rPr>
                <a:t>即得所求距离</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effectLst/>
                <a:latin typeface="NEU-BZ-S92"/>
                <a:ea typeface="方正书宋_GBK" panose="03000509000000000000" pitchFamily="65" charset="-122"/>
                <a:cs typeface="Times New Roman" panose="02020603050405020304" pitchFamily="18" charset="0"/>
              </a:endParaRPr>
            </a:p>
          </p:txBody>
        </p:sp>
        <p:graphicFrame>
          <p:nvGraphicFramePr>
            <p:cNvPr id="3" name="对象 2"/>
            <p:cNvGraphicFramePr>
              <a:graphicFrameLocks noChangeAspect="1"/>
            </p:cNvGraphicFramePr>
            <p:nvPr>
              <p:extLst>
                <p:ext uri="{D42A27DB-BD31-4B8C-83A1-F6EECF244321}">
                  <p14:modId xmlns:p14="http://schemas.microsoft.com/office/powerpoint/2010/main" val="3113241760"/>
                </p:ext>
              </p:extLst>
            </p:nvPr>
          </p:nvGraphicFramePr>
          <p:xfrm>
            <a:off x="2186131" y="3573871"/>
            <a:ext cx="1301750" cy="912091"/>
          </p:xfrm>
          <a:graphic>
            <a:graphicData uri="http://schemas.openxmlformats.org/presentationml/2006/ole">
              <mc:AlternateContent xmlns:mc="http://schemas.openxmlformats.org/markup-compatibility/2006">
                <mc:Choice xmlns:v="urn:schemas-microsoft-com:vml" Requires="v">
                  <p:oleObj spid="_x0000_s25623" name="文档" r:id="rId3" imgW="575975" imgH="397868" progId="Word.Document.12">
                    <p:embed/>
                  </p:oleObj>
                </mc:Choice>
                <mc:Fallback>
                  <p:oleObj name="文档" r:id="rId3" imgW="575975" imgH="397868" progId="Word.Document.12">
                    <p:embed/>
                    <p:pic>
                      <p:nvPicPr>
                        <p:cNvPr id="0" name=""/>
                        <p:cNvPicPr/>
                        <p:nvPr/>
                      </p:nvPicPr>
                      <p:blipFill>
                        <a:blip r:embed="rId4"/>
                        <a:stretch>
                          <a:fillRect/>
                        </a:stretch>
                      </p:blipFill>
                      <p:spPr>
                        <a:xfrm>
                          <a:off x="2186131" y="3573871"/>
                          <a:ext cx="1301750" cy="912091"/>
                        </a:xfrm>
                        <a:prstGeom prst="rect">
                          <a:avLst/>
                        </a:prstGeom>
                      </p:spPr>
                    </p:pic>
                  </p:oleObj>
                </mc:Fallback>
              </mc:AlternateContent>
            </a:graphicData>
          </a:graphic>
        </p:graphicFrame>
      </p:grpSp>
    </p:spTree>
    <p:extLst>
      <p:ext uri="{BB962C8B-B14F-4D97-AF65-F5344CB8AC3E}">
        <p14:creationId xmlns:p14="http://schemas.microsoft.com/office/powerpoint/2010/main" val="266289096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81000" y="49948"/>
            <a:ext cx="11430000" cy="1152367"/>
          </a:xfrm>
          <a:prstGeom prst="rect">
            <a:avLst/>
          </a:prstGeom>
        </p:spPr>
        <p:txBody>
          <a:bodyPr>
            <a:spAutoFit/>
          </a:bodyPr>
          <a:lstStyle/>
          <a:p>
            <a:pPr indent="279400">
              <a:lnSpc>
                <a:spcPct val="130000"/>
              </a:lnSpc>
              <a:spcAft>
                <a:spcPts val="0"/>
              </a:spcAft>
              <a:tabLst>
                <a:tab pos="1188085" algn="l"/>
                <a:tab pos="2163445" algn="l"/>
                <a:tab pos="3142615" algn="l"/>
                <a:tab pos="4190365" algn="l"/>
              </a:tabLst>
            </a:pPr>
            <a:r>
              <a:rPr lang="zh-CN" altLang="zh-CN" sz="2800" dirty="0">
                <a:solidFill>
                  <a:srgbClr val="000000"/>
                </a:solidFill>
                <a:latin typeface="Arial" panose="020B0604020202020204" pitchFamily="34" charset="0"/>
                <a:ea typeface="黑体" panose="02010609060101010101" pitchFamily="49" charset="-122"/>
                <a:cs typeface="Times New Roman" panose="02020603050405020304" pitchFamily="18" charset="0"/>
              </a:rPr>
              <a:t>【变式训练</a:t>
            </a:r>
            <a:r>
              <a:rPr lang="en-US" altLang="zh-CN" sz="2800" b="1" dirty="0">
                <a:solidFill>
                  <a:srgbClr val="000000"/>
                </a:solidFill>
                <a:latin typeface="Times New Roman" panose="02020603050405020304" pitchFamily="18" charset="0"/>
                <a:cs typeface="Times New Roman" panose="02020603050405020304" pitchFamily="18" charset="0"/>
              </a:rPr>
              <a:t>4</a:t>
            </a:r>
            <a:r>
              <a:rPr lang="zh-CN" altLang="zh-CN" sz="2800" dirty="0">
                <a:solidFill>
                  <a:srgbClr val="000000"/>
                </a:solidFill>
                <a:latin typeface="Arial" panose="020B0604020202020204" pitchFamily="34" charset="0"/>
                <a:ea typeface="黑体" panose="02010609060101010101" pitchFamily="49" charset="-122"/>
                <a:cs typeface="Times New Roman" panose="02020603050405020304" pitchFamily="18" charset="0"/>
              </a:rPr>
              <a:t>】</a:t>
            </a:r>
            <a:r>
              <a:rPr lang="zh-CN" altLang="zh-CN" sz="2800" dirty="0">
                <a:solidFill>
                  <a:srgbClr val="000000"/>
                </a:solidFill>
                <a:latin typeface="NEU-BZ-S92"/>
                <a:ea typeface="Arial" panose="020B0604020202020204" pitchFamily="34" charset="0"/>
                <a:cs typeface="Times New Roman" panose="02020603050405020304" pitchFamily="18" charset="0"/>
              </a:rPr>
              <a:t> </a:t>
            </a:r>
            <a:r>
              <a:rPr lang="zh-CN" altLang="zh-CN" sz="2800" dirty="0">
                <a:solidFill>
                  <a:srgbClr val="000000"/>
                </a:solidFill>
                <a:latin typeface="Times New Roman" panose="02020603050405020304" pitchFamily="18" charset="0"/>
                <a:cs typeface="Times New Roman" panose="02020603050405020304" pitchFamily="18" charset="0"/>
              </a:rPr>
              <a:t>如图</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在空间四边形</a:t>
            </a:r>
            <a:r>
              <a:rPr lang="en-US" altLang="zh-CN" sz="2800" i="1" dirty="0">
                <a:solidFill>
                  <a:srgbClr val="000000"/>
                </a:solidFill>
                <a:latin typeface="Times New Roman" panose="02020603050405020304" pitchFamily="18" charset="0"/>
                <a:cs typeface="Times New Roman" panose="02020603050405020304" pitchFamily="18" charset="0"/>
              </a:rPr>
              <a:t>OABC</a:t>
            </a:r>
            <a:r>
              <a:rPr lang="zh-CN" altLang="zh-CN" sz="2800" dirty="0">
                <a:solidFill>
                  <a:srgbClr val="000000"/>
                </a:solidFill>
                <a:latin typeface="Times New Roman" panose="02020603050405020304" pitchFamily="18" charset="0"/>
                <a:cs typeface="Times New Roman" panose="02020603050405020304" pitchFamily="18" charset="0"/>
              </a:rPr>
              <a:t>中</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OA</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OB</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OC</a:t>
            </a:r>
            <a:r>
              <a:rPr lang="zh-CN" altLang="zh-CN" sz="2800" dirty="0">
                <a:solidFill>
                  <a:srgbClr val="000000"/>
                </a:solidFill>
                <a:latin typeface="Times New Roman" panose="02020603050405020304" pitchFamily="18" charset="0"/>
                <a:cs typeface="Times New Roman" panose="02020603050405020304" pitchFamily="18" charset="0"/>
              </a:rPr>
              <a:t>两两成</a:t>
            </a:r>
            <a:r>
              <a:rPr lang="en-US" altLang="zh-CN" sz="2800" dirty="0">
                <a:solidFill>
                  <a:srgbClr val="000000"/>
                </a:solidFill>
                <a:latin typeface="Times New Roman" panose="02020603050405020304" pitchFamily="18" charset="0"/>
                <a:cs typeface="Times New Roman" panose="02020603050405020304" pitchFamily="18" charset="0"/>
              </a:rPr>
              <a:t>60</a:t>
            </a:r>
            <a:r>
              <a:rPr lang="en-US" altLang="zh-CN" sz="2800" dirty="0">
                <a:solidFill>
                  <a:srgbClr val="000000"/>
                </a:solidFill>
                <a:latin typeface="宋体" panose="02010600030101010101" pitchFamily="2" charset="-122"/>
                <a:ea typeface="方正书宋_GBK" panose="03000509000000000000" pitchFamily="65" charset="-122"/>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角</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且</a:t>
            </a:r>
            <a:r>
              <a:rPr lang="en-US" altLang="zh-CN" sz="2800" i="1" dirty="0">
                <a:solidFill>
                  <a:srgbClr val="000000"/>
                </a:solidFill>
                <a:latin typeface="Times New Roman" panose="02020603050405020304" pitchFamily="18" charset="0"/>
                <a:cs typeface="Times New Roman" panose="02020603050405020304" pitchFamily="18" charset="0"/>
              </a:rPr>
              <a:t>OA=OB=OC=</a:t>
            </a:r>
            <a:r>
              <a:rPr lang="en-US" altLang="zh-CN" sz="28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E</a:t>
            </a:r>
            <a:r>
              <a:rPr lang="zh-CN" altLang="zh-CN" sz="2800" dirty="0">
                <a:solidFill>
                  <a:srgbClr val="000000"/>
                </a:solidFill>
                <a:latin typeface="Times New Roman" panose="02020603050405020304" pitchFamily="18" charset="0"/>
                <a:cs typeface="Times New Roman" panose="02020603050405020304" pitchFamily="18" charset="0"/>
              </a:rPr>
              <a:t>为</a:t>
            </a:r>
            <a:r>
              <a:rPr lang="en-US" altLang="zh-CN" sz="2800" i="1" dirty="0">
                <a:solidFill>
                  <a:srgbClr val="000000"/>
                </a:solidFill>
                <a:latin typeface="Times New Roman" panose="02020603050405020304" pitchFamily="18" charset="0"/>
                <a:cs typeface="Times New Roman" panose="02020603050405020304" pitchFamily="18" charset="0"/>
              </a:rPr>
              <a:t>OA</a:t>
            </a:r>
            <a:r>
              <a:rPr lang="zh-CN" altLang="zh-CN" sz="2800" dirty="0">
                <a:solidFill>
                  <a:srgbClr val="000000"/>
                </a:solidFill>
                <a:latin typeface="Times New Roman" panose="02020603050405020304" pitchFamily="18" charset="0"/>
                <a:cs typeface="Times New Roman" panose="02020603050405020304" pitchFamily="18" charset="0"/>
              </a:rPr>
              <a:t>的中点</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F</a:t>
            </a:r>
            <a:r>
              <a:rPr lang="zh-CN" altLang="zh-CN" sz="2800" dirty="0">
                <a:solidFill>
                  <a:srgbClr val="000000"/>
                </a:solidFill>
                <a:latin typeface="Times New Roman" panose="02020603050405020304" pitchFamily="18" charset="0"/>
                <a:cs typeface="Times New Roman" panose="02020603050405020304" pitchFamily="18" charset="0"/>
              </a:rPr>
              <a:t>为</a:t>
            </a:r>
            <a:r>
              <a:rPr lang="en-US" altLang="zh-CN" sz="2800" i="1" dirty="0">
                <a:solidFill>
                  <a:srgbClr val="000000"/>
                </a:solidFill>
                <a:latin typeface="Times New Roman" panose="02020603050405020304" pitchFamily="18" charset="0"/>
                <a:cs typeface="Times New Roman" panose="02020603050405020304" pitchFamily="18" charset="0"/>
              </a:rPr>
              <a:t>BC</a:t>
            </a:r>
            <a:r>
              <a:rPr lang="zh-CN" altLang="zh-CN" sz="2800" dirty="0">
                <a:solidFill>
                  <a:srgbClr val="000000"/>
                </a:solidFill>
                <a:latin typeface="Times New Roman" panose="02020603050405020304" pitchFamily="18" charset="0"/>
                <a:cs typeface="Times New Roman" panose="02020603050405020304" pitchFamily="18" charset="0"/>
              </a:rPr>
              <a:t>的中点</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求点</a:t>
            </a:r>
            <a:r>
              <a:rPr lang="en-US" altLang="zh-CN" sz="2800" i="1" dirty="0">
                <a:solidFill>
                  <a:srgbClr val="000000"/>
                </a:solidFill>
                <a:latin typeface="Times New Roman" panose="02020603050405020304" pitchFamily="18" charset="0"/>
                <a:cs typeface="Times New Roman" panose="02020603050405020304" pitchFamily="18" charset="0"/>
              </a:rPr>
              <a:t>E</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F</a:t>
            </a:r>
            <a:r>
              <a:rPr lang="zh-CN" altLang="zh-CN" sz="2800" dirty="0">
                <a:solidFill>
                  <a:srgbClr val="000000"/>
                </a:solidFill>
                <a:latin typeface="Times New Roman" panose="02020603050405020304" pitchFamily="18" charset="0"/>
                <a:cs typeface="Times New Roman" panose="02020603050405020304" pitchFamily="18" charset="0"/>
              </a:rPr>
              <a:t>间的距离</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 </a:t>
            </a:r>
            <a:endParaRPr lang="zh-CN" altLang="zh-CN" sz="2800" dirty="0">
              <a:solidFill>
                <a:srgbClr val="000000"/>
              </a:solidFill>
              <a:effectLst/>
              <a:latin typeface="NEU-BZ-S92"/>
              <a:ea typeface="方正书宋_GBK" panose="03000509000000000000" pitchFamily="65" charset="-122"/>
              <a:cs typeface="Times New Roman" panose="02020603050405020304" pitchFamily="18" charset="0"/>
            </a:endParaRPr>
          </a:p>
        </p:txBody>
      </p:sp>
      <mc:AlternateContent xmlns:mc="http://schemas.openxmlformats.org/markup-compatibility/2006">
        <mc:Choice xmlns:a14="http://schemas.microsoft.com/office/drawing/2010/main" Requires="a14">
          <p:sp>
            <p:nvSpPr>
              <p:cNvPr id="9" name="矩形 8"/>
              <p:cNvSpPr>
                <a:spLocks noChangeAspect="1"/>
              </p:cNvSpPr>
              <p:nvPr/>
            </p:nvSpPr>
            <p:spPr>
              <a:xfrm>
                <a:off x="381000" y="1209400"/>
                <a:ext cx="11430000" cy="5208670"/>
              </a:xfrm>
              <a:prstGeom prst="rect">
                <a:avLst/>
              </a:prstGeom>
            </p:spPr>
            <p:txBody>
              <a:bodyPr>
                <a:spAutoFit/>
              </a:bodyPr>
              <a:lstStyle/>
              <a:p>
                <a:pPr indent="279400">
                  <a:lnSpc>
                    <a:spcPct val="130000"/>
                  </a:lnSpc>
                  <a:spcAft>
                    <a:spcPts val="0"/>
                  </a:spcAft>
                  <a:tabLst>
                    <a:tab pos="1188085" algn="l"/>
                    <a:tab pos="2163445" algn="l"/>
                    <a:tab pos="3142615" algn="l"/>
                    <a:tab pos="4190365" algn="l"/>
                  </a:tabLst>
                </a:pPr>
                <a:r>
                  <a:rPr lang="zh-CN"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解</a:t>
                </a:r>
                <a:r>
                  <a:rPr lang="en-US" altLang="zh-CN" sz="2800" dirty="0">
                    <a:solidFill>
                      <a:srgbClr val="FF0000"/>
                    </a:solidFill>
                    <a:effectLst/>
                    <a:latin typeface="Arial" panose="020B0604020202020204" pitchFamily="34" charset="0"/>
                    <a:ea typeface="黑体" panose="02010609060101010101" pitchFamily="49" charset="-122"/>
                    <a:cs typeface="Times New Roman" panose="02020603050405020304" pitchFamily="18" charset="0"/>
                  </a:rPr>
                  <a:t>:</a:t>
                </a:r>
                <a:r>
                  <a:rPr lang="zh-CN" altLang="zh-CN" sz="28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连接</a:t>
                </a:r>
                <a:r>
                  <a:rPr lang="en-US" altLang="zh-CN" sz="2800" i="1" dirty="0">
                    <a:solidFill>
                      <a:srgbClr val="000000"/>
                    </a:solidFill>
                    <a:latin typeface="Times New Roman" panose="02020603050405020304" pitchFamily="18" charset="0"/>
                    <a:cs typeface="Times New Roman" panose="02020603050405020304" pitchFamily="18" charset="0"/>
                  </a:rPr>
                  <a:t>AF</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图略</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effectLst/>
                  <a:latin typeface="NEU-BZ-S92"/>
                  <a:ea typeface="方正书宋_GBK" panose="03000509000000000000" pitchFamily="65" charset="-122"/>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zh-CN" altLang="zh-CN" sz="28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因为</a:t>
                </a:r>
                <a14:m>
                  <m:oMath xmlns:m="http://schemas.openxmlformats.org/officeDocument/2006/math">
                    <m:acc>
                      <m:accPr>
                        <m:chr m:val="⃗"/>
                        <m:ctrlPr>
                          <a:rPr lang="zh-CN" altLang="zh-CN" sz="2800"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accPr>
                      <m:e>
                        <m:r>
                          <a:rPr lang="en-US" altLang="zh-CN" sz="2800" i="1">
                            <a:solidFill>
                              <a:srgbClr val="000000"/>
                            </a:solidFill>
                            <a:latin typeface="Cambria Math" panose="02040503050406030204" pitchFamily="18" charset="0"/>
                            <a:cs typeface="Times New Roman" panose="02020603050405020304" pitchFamily="18" charset="0"/>
                          </a:rPr>
                          <m:t>𝐸𝐹</m:t>
                        </m:r>
                      </m:e>
                    </m:acc>
                    <m:r>
                      <a:rPr lang="en-US" altLang="zh-CN" sz="2800" i="1">
                        <a:solidFill>
                          <a:srgbClr val="000000"/>
                        </a:solidFill>
                        <a:latin typeface="Cambria Math" panose="02040503050406030204" pitchFamily="18" charset="0"/>
                        <a:cs typeface="Times New Roman" panose="02020603050405020304" pitchFamily="18" charset="0"/>
                      </a:rPr>
                      <m:t>=</m:t>
                    </m:r>
                    <m:acc>
                      <m:accPr>
                        <m:chr m:val="⃗"/>
                        <m:ctrlPr>
                          <a:rPr lang="zh-CN" altLang="zh-CN" sz="2800"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accPr>
                      <m:e>
                        <m:r>
                          <a:rPr lang="en-US" altLang="zh-CN" sz="2800" i="1">
                            <a:solidFill>
                              <a:srgbClr val="000000"/>
                            </a:solidFill>
                            <a:latin typeface="Cambria Math" panose="02040503050406030204" pitchFamily="18" charset="0"/>
                            <a:cs typeface="Times New Roman" panose="02020603050405020304" pitchFamily="18" charset="0"/>
                          </a:rPr>
                          <m:t>𝐸𝐴</m:t>
                        </m:r>
                      </m:e>
                    </m:acc>
                    <m:r>
                      <a:rPr lang="en-US" altLang="zh-CN" sz="2800" i="1">
                        <a:solidFill>
                          <a:srgbClr val="000000"/>
                        </a:solidFill>
                        <a:latin typeface="Cambria Math" panose="02040503050406030204" pitchFamily="18" charset="0"/>
                        <a:cs typeface="Times New Roman" panose="02020603050405020304" pitchFamily="18" charset="0"/>
                      </a:rPr>
                      <m:t>+</m:t>
                    </m:r>
                    <m:acc>
                      <m:accPr>
                        <m:chr m:val="⃗"/>
                        <m:ctrlPr>
                          <a:rPr lang="zh-CN" altLang="zh-CN" sz="2800"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accPr>
                      <m:e>
                        <m:r>
                          <a:rPr lang="en-US" altLang="zh-CN" sz="2800" i="1">
                            <a:solidFill>
                              <a:srgbClr val="000000"/>
                            </a:solidFill>
                            <a:latin typeface="Cambria Math" panose="02040503050406030204" pitchFamily="18" charset="0"/>
                            <a:cs typeface="Times New Roman" panose="02020603050405020304" pitchFamily="18" charset="0"/>
                          </a:rPr>
                          <m:t>𝐴𝐹</m:t>
                        </m:r>
                      </m:e>
                    </m:acc>
                    <m:r>
                      <a:rPr lang="en-US" altLang="zh-CN" sz="2800" i="1">
                        <a:solidFill>
                          <a:srgbClr val="000000"/>
                        </a:solidFill>
                        <a:latin typeface="Cambria Math" panose="02040503050406030204" pitchFamily="18" charset="0"/>
                        <a:cs typeface="Times New Roman" panose="02020603050405020304" pitchFamily="18" charset="0"/>
                      </a:rPr>
                      <m:t>=</m:t>
                    </m:r>
                    <m:f>
                      <m:fPr>
                        <m:ctrlPr>
                          <a:rPr lang="zh-CN" altLang="zh-CN" sz="2800"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sz="2800">
                            <a:solidFill>
                              <a:srgbClr val="000000"/>
                            </a:solidFill>
                            <a:latin typeface="Cambria Math" panose="02040503050406030204" pitchFamily="18" charset="0"/>
                            <a:cs typeface="Times New Roman" panose="02020603050405020304" pitchFamily="18" charset="0"/>
                          </a:rPr>
                          <m:t>1</m:t>
                        </m:r>
                      </m:num>
                      <m:den>
                        <m:r>
                          <a:rPr lang="en-US" altLang="zh-CN" sz="2800">
                            <a:solidFill>
                              <a:srgbClr val="000000"/>
                            </a:solidFill>
                            <a:latin typeface="Cambria Math" panose="02040503050406030204" pitchFamily="18" charset="0"/>
                            <a:cs typeface="Times New Roman" panose="02020603050405020304" pitchFamily="18" charset="0"/>
                          </a:rPr>
                          <m:t>2</m:t>
                        </m:r>
                      </m:den>
                    </m:f>
                    <m:acc>
                      <m:accPr>
                        <m:chr m:val="⃗"/>
                        <m:ctrlPr>
                          <a:rPr lang="zh-CN" altLang="zh-CN" sz="2800"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accPr>
                      <m:e>
                        <m:r>
                          <a:rPr lang="en-US" altLang="zh-CN" sz="2800" i="1">
                            <a:solidFill>
                              <a:srgbClr val="000000"/>
                            </a:solidFill>
                            <a:latin typeface="Cambria Math" panose="02040503050406030204" pitchFamily="18" charset="0"/>
                            <a:cs typeface="Times New Roman" panose="02020603050405020304" pitchFamily="18" charset="0"/>
                          </a:rPr>
                          <m:t>𝑂𝐴</m:t>
                        </m:r>
                      </m:e>
                    </m:acc>
                    <m:r>
                      <a:rPr lang="en-US" altLang="zh-CN" sz="2800" i="1">
                        <a:solidFill>
                          <a:srgbClr val="000000"/>
                        </a:solidFill>
                        <a:latin typeface="Cambria Math" panose="02040503050406030204" pitchFamily="18" charset="0"/>
                        <a:cs typeface="Times New Roman" panose="02020603050405020304" pitchFamily="18" charset="0"/>
                      </a:rPr>
                      <m:t>+</m:t>
                    </m:r>
                    <m:f>
                      <m:fPr>
                        <m:ctrlPr>
                          <a:rPr lang="zh-CN" altLang="zh-CN" sz="2800"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sz="2800">
                            <a:solidFill>
                              <a:srgbClr val="000000"/>
                            </a:solidFill>
                            <a:latin typeface="Cambria Math" panose="02040503050406030204" pitchFamily="18" charset="0"/>
                            <a:cs typeface="Times New Roman" panose="02020603050405020304" pitchFamily="18" charset="0"/>
                          </a:rPr>
                          <m:t>1</m:t>
                        </m:r>
                      </m:num>
                      <m:den>
                        <m:r>
                          <a:rPr lang="en-US" altLang="zh-CN" sz="2800">
                            <a:solidFill>
                              <a:srgbClr val="000000"/>
                            </a:solidFill>
                            <a:latin typeface="Cambria Math" panose="02040503050406030204" pitchFamily="18" charset="0"/>
                            <a:cs typeface="Times New Roman" panose="02020603050405020304" pitchFamily="18" charset="0"/>
                          </a:rPr>
                          <m:t>2</m:t>
                        </m:r>
                      </m:den>
                    </m:f>
                    <m:r>
                      <a:rPr lang="en-US" altLang="zh-CN" sz="2800">
                        <a:solidFill>
                          <a:srgbClr val="000000"/>
                        </a:solidFill>
                        <a:latin typeface="Cambria Math" panose="02040503050406030204" pitchFamily="18" charset="0"/>
                        <a:cs typeface="Times New Roman" panose="02020603050405020304" pitchFamily="18" charset="0"/>
                      </a:rPr>
                      <m:t>(</m:t>
                    </m:r>
                    <m:acc>
                      <m:accPr>
                        <m:chr m:val="⃗"/>
                        <m:ctrlPr>
                          <a:rPr lang="zh-CN" altLang="zh-CN" sz="2800"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accPr>
                      <m:e>
                        <m:r>
                          <a:rPr lang="en-US" altLang="zh-CN" sz="2800" i="1">
                            <a:solidFill>
                              <a:srgbClr val="000000"/>
                            </a:solidFill>
                            <a:latin typeface="Cambria Math" panose="02040503050406030204" pitchFamily="18" charset="0"/>
                            <a:cs typeface="Times New Roman" panose="02020603050405020304" pitchFamily="18" charset="0"/>
                          </a:rPr>
                          <m:t>𝐴𝐵</m:t>
                        </m:r>
                      </m:e>
                    </m:acc>
                    <m:r>
                      <a:rPr lang="en-US" altLang="zh-CN" sz="2800" i="1">
                        <a:solidFill>
                          <a:srgbClr val="000000"/>
                        </a:solidFill>
                        <a:latin typeface="Cambria Math" panose="02040503050406030204" pitchFamily="18" charset="0"/>
                        <a:cs typeface="Times New Roman" panose="02020603050405020304" pitchFamily="18" charset="0"/>
                      </a:rPr>
                      <m:t>+</m:t>
                    </m:r>
                    <m:acc>
                      <m:accPr>
                        <m:chr m:val="⃗"/>
                        <m:ctrlPr>
                          <a:rPr lang="zh-CN" altLang="zh-CN" sz="2800"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accPr>
                      <m:e>
                        <m:r>
                          <a:rPr lang="en-US" altLang="zh-CN" sz="2800" i="1">
                            <a:solidFill>
                              <a:srgbClr val="000000"/>
                            </a:solidFill>
                            <a:latin typeface="Cambria Math" panose="02040503050406030204" pitchFamily="18" charset="0"/>
                            <a:cs typeface="Times New Roman" panose="02020603050405020304" pitchFamily="18" charset="0"/>
                          </a:rPr>
                          <m:t>𝐴𝐶</m:t>
                        </m:r>
                      </m:e>
                    </m:acc>
                  </m:oMath>
                </a14:m>
                <a:r>
                  <a:rPr lang="en-US" altLang="zh-CN" sz="2800" dirty="0" smtClean="0">
                    <a:solidFill>
                      <a:srgbClr val="000000"/>
                    </a:solidFill>
                    <a:latin typeface="Times New Roman" panose="02020603050405020304" pitchFamily="18" charset="0"/>
                    <a:cs typeface="Times New Roman" panose="02020603050405020304" pitchFamily="18" charset="0"/>
                  </a:rPr>
                  <a:t>)</a:t>
                </a:r>
              </a:p>
              <a:p>
                <a:pPr indent="279400">
                  <a:lnSpc>
                    <a:spcPct val="130000"/>
                  </a:lnSpc>
                  <a:spcAft>
                    <a:spcPts val="0"/>
                  </a:spcAft>
                  <a:tabLst>
                    <a:tab pos="1188085" algn="l"/>
                    <a:tab pos="2163445" algn="l"/>
                    <a:tab pos="3142615" algn="l"/>
                    <a:tab pos="4190365" algn="l"/>
                  </a:tabLst>
                </a:pPr>
                <a:r>
                  <a:rPr lang="en-US" altLang="zh-CN" sz="2800" i="1" dirty="0" smtClean="0">
                    <a:solidFill>
                      <a:srgbClr val="000000"/>
                    </a:solidFill>
                    <a:latin typeface="Times New Roman" panose="02020603050405020304" pitchFamily="18" charset="0"/>
                    <a:cs typeface="Times New Roman" panose="02020603050405020304" pitchFamily="18" charset="0"/>
                  </a:rPr>
                  <a:t>=</a:t>
                </a:r>
                <a14:m>
                  <m:oMath xmlns:m="http://schemas.openxmlformats.org/officeDocument/2006/math">
                    <m:f>
                      <m:fPr>
                        <m:ctrlPr>
                          <a:rPr lang="zh-CN" altLang="zh-CN" sz="2800"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sz="2800">
                            <a:solidFill>
                              <a:srgbClr val="000000"/>
                            </a:solidFill>
                            <a:latin typeface="Cambria Math" panose="02040503050406030204" pitchFamily="18" charset="0"/>
                            <a:cs typeface="Times New Roman" panose="02020603050405020304" pitchFamily="18" charset="0"/>
                          </a:rPr>
                          <m:t>1</m:t>
                        </m:r>
                      </m:num>
                      <m:den>
                        <m:r>
                          <a:rPr lang="en-US" altLang="zh-CN" sz="2800">
                            <a:solidFill>
                              <a:srgbClr val="000000"/>
                            </a:solidFill>
                            <a:latin typeface="Cambria Math" panose="02040503050406030204" pitchFamily="18" charset="0"/>
                            <a:cs typeface="Times New Roman" panose="02020603050405020304" pitchFamily="18" charset="0"/>
                          </a:rPr>
                          <m:t>2</m:t>
                        </m:r>
                      </m:den>
                    </m:f>
                    <m:acc>
                      <m:accPr>
                        <m:chr m:val="⃗"/>
                        <m:ctrlPr>
                          <a:rPr lang="zh-CN" altLang="zh-CN" sz="2800"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accPr>
                      <m:e>
                        <m:r>
                          <a:rPr lang="en-US" altLang="zh-CN" sz="2800" i="1">
                            <a:solidFill>
                              <a:srgbClr val="000000"/>
                            </a:solidFill>
                            <a:latin typeface="Cambria Math" panose="02040503050406030204" pitchFamily="18" charset="0"/>
                            <a:cs typeface="Times New Roman" panose="02020603050405020304" pitchFamily="18" charset="0"/>
                          </a:rPr>
                          <m:t>𝑂𝐴</m:t>
                        </m:r>
                      </m:e>
                    </m:acc>
                    <m:r>
                      <a:rPr lang="en-US" altLang="zh-CN" sz="2800" i="1">
                        <a:solidFill>
                          <a:srgbClr val="000000"/>
                        </a:solidFill>
                        <a:latin typeface="Cambria Math" panose="02040503050406030204" pitchFamily="18" charset="0"/>
                        <a:cs typeface="Times New Roman" panose="02020603050405020304" pitchFamily="18" charset="0"/>
                      </a:rPr>
                      <m:t>+</m:t>
                    </m:r>
                    <m:f>
                      <m:fPr>
                        <m:ctrlPr>
                          <a:rPr lang="zh-CN" altLang="zh-CN" sz="2800"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sz="2800">
                            <a:solidFill>
                              <a:srgbClr val="000000"/>
                            </a:solidFill>
                            <a:latin typeface="Cambria Math" panose="02040503050406030204" pitchFamily="18" charset="0"/>
                            <a:cs typeface="Times New Roman" panose="02020603050405020304" pitchFamily="18" charset="0"/>
                          </a:rPr>
                          <m:t>1</m:t>
                        </m:r>
                      </m:num>
                      <m:den>
                        <m:r>
                          <a:rPr lang="en-US" altLang="zh-CN" sz="2800">
                            <a:solidFill>
                              <a:srgbClr val="000000"/>
                            </a:solidFill>
                            <a:latin typeface="Cambria Math" panose="02040503050406030204" pitchFamily="18" charset="0"/>
                            <a:cs typeface="Times New Roman" panose="02020603050405020304" pitchFamily="18" charset="0"/>
                          </a:rPr>
                          <m:t>2</m:t>
                        </m:r>
                      </m:den>
                    </m:f>
                  </m:oMath>
                </a14:m>
                <a:r>
                  <a:rPr lang="en-US" altLang="zh-CN" sz="2800" dirty="0">
                    <a:solidFill>
                      <a:srgbClr val="000000"/>
                    </a:solidFill>
                    <a:latin typeface="Times New Roman" panose="02020603050405020304" pitchFamily="18" charset="0"/>
                    <a:cs typeface="Times New Roman" panose="02020603050405020304" pitchFamily="18" charset="0"/>
                  </a:rPr>
                  <a:t>[(</a:t>
                </a:r>
                <a14:m>
                  <m:oMath xmlns:m="http://schemas.openxmlformats.org/officeDocument/2006/math">
                    <m:acc>
                      <m:accPr>
                        <m:chr m:val="⃗"/>
                        <m:ctrlPr>
                          <a:rPr lang="zh-CN" altLang="zh-CN" sz="2800"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accPr>
                      <m:e>
                        <m:r>
                          <a:rPr lang="en-US" altLang="zh-CN" sz="2800" i="1">
                            <a:solidFill>
                              <a:srgbClr val="000000"/>
                            </a:solidFill>
                            <a:latin typeface="Cambria Math" panose="02040503050406030204" pitchFamily="18" charset="0"/>
                            <a:cs typeface="Times New Roman" panose="02020603050405020304" pitchFamily="18" charset="0"/>
                          </a:rPr>
                          <m:t>𝑂𝐵</m:t>
                        </m:r>
                      </m:e>
                    </m:acc>
                    <m:r>
                      <a:rPr lang="en-US" altLang="zh-CN" sz="2800" i="1">
                        <a:solidFill>
                          <a:srgbClr val="000000"/>
                        </a:solidFill>
                        <a:latin typeface="Cambria Math" panose="02040503050406030204" pitchFamily="18" charset="0"/>
                        <a:cs typeface="Times New Roman" panose="02020603050405020304" pitchFamily="18" charset="0"/>
                      </a:rPr>
                      <m:t>−</m:t>
                    </m:r>
                    <m:acc>
                      <m:accPr>
                        <m:chr m:val="⃗"/>
                        <m:ctrlPr>
                          <a:rPr lang="zh-CN" altLang="zh-CN" sz="2800"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accPr>
                      <m:e>
                        <m:r>
                          <a:rPr lang="en-US" altLang="zh-CN" sz="2800" i="1">
                            <a:solidFill>
                              <a:srgbClr val="000000"/>
                            </a:solidFill>
                            <a:latin typeface="Cambria Math" panose="02040503050406030204" pitchFamily="18" charset="0"/>
                            <a:cs typeface="Times New Roman" panose="02020603050405020304" pitchFamily="18" charset="0"/>
                          </a:rPr>
                          <m:t>𝑂𝐴</m:t>
                        </m:r>
                      </m:e>
                    </m:acc>
                  </m:oMath>
                </a14:m>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a:t>
                </a:r>
                <a14:m>
                  <m:oMath xmlns:m="http://schemas.openxmlformats.org/officeDocument/2006/math">
                    <m:acc>
                      <m:accPr>
                        <m:chr m:val="⃗"/>
                        <m:ctrlPr>
                          <a:rPr lang="zh-CN" altLang="zh-CN" sz="2800"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accPr>
                      <m:e>
                        <m:r>
                          <a:rPr lang="en-US" altLang="zh-CN" sz="2800" i="1">
                            <a:solidFill>
                              <a:srgbClr val="000000"/>
                            </a:solidFill>
                            <a:latin typeface="Cambria Math" panose="02040503050406030204" pitchFamily="18" charset="0"/>
                            <a:cs typeface="Times New Roman" panose="02020603050405020304" pitchFamily="18" charset="0"/>
                          </a:rPr>
                          <m:t>𝑂𝐶</m:t>
                        </m:r>
                      </m:e>
                    </m:acc>
                    <m:r>
                      <a:rPr lang="en-US" altLang="zh-CN" sz="2800" i="1">
                        <a:solidFill>
                          <a:srgbClr val="000000"/>
                        </a:solidFill>
                        <a:latin typeface="Cambria Math" panose="02040503050406030204" pitchFamily="18" charset="0"/>
                        <a:cs typeface="Times New Roman" panose="02020603050405020304" pitchFamily="18" charset="0"/>
                      </a:rPr>
                      <m:t>−</m:t>
                    </m:r>
                    <m:acc>
                      <m:accPr>
                        <m:chr m:val="⃗"/>
                        <m:ctrlPr>
                          <a:rPr lang="zh-CN" altLang="zh-CN" sz="2800"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accPr>
                      <m:e>
                        <m:r>
                          <a:rPr lang="en-US" altLang="zh-CN" sz="2800" i="1">
                            <a:solidFill>
                              <a:srgbClr val="000000"/>
                            </a:solidFill>
                            <a:latin typeface="Cambria Math" panose="02040503050406030204" pitchFamily="18" charset="0"/>
                            <a:cs typeface="Times New Roman" panose="02020603050405020304" pitchFamily="18" charset="0"/>
                          </a:rPr>
                          <m:t>𝑂𝐴</m:t>
                        </m:r>
                      </m:e>
                    </m:acc>
                  </m:oMath>
                </a14:m>
                <a:r>
                  <a:rPr lang="en-US" altLang="zh-CN" sz="2800" dirty="0" smtClean="0">
                    <a:solidFill>
                      <a:srgbClr val="000000"/>
                    </a:solidFill>
                    <a:latin typeface="Times New Roman" panose="02020603050405020304" pitchFamily="18" charset="0"/>
                    <a:cs typeface="Times New Roman" panose="02020603050405020304" pitchFamily="18" charset="0"/>
                  </a:rPr>
                  <a:t>)]</a:t>
                </a:r>
              </a:p>
              <a:p>
                <a:pPr indent="279400">
                  <a:lnSpc>
                    <a:spcPct val="130000"/>
                  </a:lnSpc>
                  <a:spcAft>
                    <a:spcPts val="0"/>
                  </a:spcAft>
                  <a:tabLst>
                    <a:tab pos="1188085" algn="l"/>
                    <a:tab pos="2163445" algn="l"/>
                    <a:tab pos="3142615" algn="l"/>
                    <a:tab pos="4190365" algn="l"/>
                  </a:tabLst>
                </a:pPr>
                <a:r>
                  <a:rPr lang="en-US" altLang="zh-CN" sz="2800" i="1" dirty="0" smtClean="0">
                    <a:solidFill>
                      <a:srgbClr val="000000"/>
                    </a:solidFill>
                    <a:latin typeface="Times New Roman" panose="02020603050405020304" pitchFamily="18" charset="0"/>
                    <a:cs typeface="Times New Roman" panose="02020603050405020304" pitchFamily="18" charset="0"/>
                  </a:rPr>
                  <a:t>=-</a:t>
                </a:r>
                <a14:m>
                  <m:oMath xmlns:m="http://schemas.openxmlformats.org/officeDocument/2006/math">
                    <m:f>
                      <m:fPr>
                        <m:ctrlPr>
                          <a:rPr lang="zh-CN" altLang="zh-CN" sz="2800"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sz="2800">
                            <a:solidFill>
                              <a:srgbClr val="000000"/>
                            </a:solidFill>
                            <a:latin typeface="Cambria Math" panose="02040503050406030204" pitchFamily="18" charset="0"/>
                            <a:cs typeface="Times New Roman" panose="02020603050405020304" pitchFamily="18" charset="0"/>
                          </a:rPr>
                          <m:t>1</m:t>
                        </m:r>
                      </m:num>
                      <m:den>
                        <m:r>
                          <a:rPr lang="en-US" altLang="zh-CN" sz="2800">
                            <a:solidFill>
                              <a:srgbClr val="000000"/>
                            </a:solidFill>
                            <a:latin typeface="Cambria Math" panose="02040503050406030204" pitchFamily="18" charset="0"/>
                            <a:cs typeface="Times New Roman" panose="02020603050405020304" pitchFamily="18" charset="0"/>
                          </a:rPr>
                          <m:t>2</m:t>
                        </m:r>
                      </m:den>
                    </m:f>
                    <m:acc>
                      <m:accPr>
                        <m:chr m:val="⃗"/>
                        <m:ctrlPr>
                          <a:rPr lang="zh-CN" altLang="zh-CN" sz="2800"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accPr>
                      <m:e>
                        <m:r>
                          <a:rPr lang="en-US" altLang="zh-CN" sz="2800" i="1">
                            <a:solidFill>
                              <a:srgbClr val="000000"/>
                            </a:solidFill>
                            <a:latin typeface="Cambria Math" panose="02040503050406030204" pitchFamily="18" charset="0"/>
                            <a:cs typeface="Times New Roman" panose="02020603050405020304" pitchFamily="18" charset="0"/>
                          </a:rPr>
                          <m:t>𝑂𝐴</m:t>
                        </m:r>
                      </m:e>
                    </m:acc>
                    <m:r>
                      <a:rPr lang="en-US" altLang="zh-CN" sz="2800" i="1">
                        <a:solidFill>
                          <a:srgbClr val="000000"/>
                        </a:solidFill>
                        <a:latin typeface="Cambria Math" panose="02040503050406030204" pitchFamily="18" charset="0"/>
                        <a:cs typeface="Times New Roman" panose="02020603050405020304" pitchFamily="18" charset="0"/>
                      </a:rPr>
                      <m:t>+</m:t>
                    </m:r>
                    <m:f>
                      <m:fPr>
                        <m:ctrlPr>
                          <a:rPr lang="zh-CN" altLang="zh-CN" sz="2800"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sz="2800">
                            <a:solidFill>
                              <a:srgbClr val="000000"/>
                            </a:solidFill>
                            <a:latin typeface="Cambria Math" panose="02040503050406030204" pitchFamily="18" charset="0"/>
                            <a:cs typeface="Times New Roman" panose="02020603050405020304" pitchFamily="18" charset="0"/>
                          </a:rPr>
                          <m:t>1</m:t>
                        </m:r>
                      </m:num>
                      <m:den>
                        <m:r>
                          <a:rPr lang="en-US" altLang="zh-CN" sz="2800">
                            <a:solidFill>
                              <a:srgbClr val="000000"/>
                            </a:solidFill>
                            <a:latin typeface="Cambria Math" panose="02040503050406030204" pitchFamily="18" charset="0"/>
                            <a:cs typeface="Times New Roman" panose="02020603050405020304" pitchFamily="18" charset="0"/>
                          </a:rPr>
                          <m:t>2</m:t>
                        </m:r>
                      </m:den>
                    </m:f>
                    <m:acc>
                      <m:accPr>
                        <m:chr m:val="⃗"/>
                        <m:ctrlPr>
                          <a:rPr lang="zh-CN" altLang="zh-CN" sz="2800"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accPr>
                      <m:e>
                        <m:r>
                          <a:rPr lang="en-US" altLang="zh-CN" sz="2800" i="1">
                            <a:solidFill>
                              <a:srgbClr val="000000"/>
                            </a:solidFill>
                            <a:latin typeface="Cambria Math" panose="02040503050406030204" pitchFamily="18" charset="0"/>
                            <a:cs typeface="Times New Roman" panose="02020603050405020304" pitchFamily="18" charset="0"/>
                          </a:rPr>
                          <m:t>𝑂𝐵</m:t>
                        </m:r>
                      </m:e>
                    </m:acc>
                    <m:r>
                      <a:rPr lang="en-US" altLang="zh-CN" sz="2800" i="1">
                        <a:solidFill>
                          <a:srgbClr val="000000"/>
                        </a:solidFill>
                        <a:latin typeface="Cambria Math" panose="02040503050406030204" pitchFamily="18" charset="0"/>
                        <a:cs typeface="Times New Roman" panose="02020603050405020304" pitchFamily="18" charset="0"/>
                      </a:rPr>
                      <m:t>+</m:t>
                    </m:r>
                    <m:f>
                      <m:fPr>
                        <m:ctrlPr>
                          <a:rPr lang="zh-CN" altLang="zh-CN" sz="2800"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sz="2800">
                            <a:solidFill>
                              <a:srgbClr val="000000"/>
                            </a:solidFill>
                            <a:latin typeface="Cambria Math" panose="02040503050406030204" pitchFamily="18" charset="0"/>
                            <a:cs typeface="Times New Roman" panose="02020603050405020304" pitchFamily="18" charset="0"/>
                          </a:rPr>
                          <m:t>1</m:t>
                        </m:r>
                      </m:num>
                      <m:den>
                        <m:r>
                          <a:rPr lang="en-US" altLang="zh-CN" sz="2800">
                            <a:solidFill>
                              <a:srgbClr val="000000"/>
                            </a:solidFill>
                            <a:latin typeface="Cambria Math" panose="02040503050406030204" pitchFamily="18" charset="0"/>
                            <a:cs typeface="Times New Roman" panose="02020603050405020304" pitchFamily="18" charset="0"/>
                          </a:rPr>
                          <m:t>2</m:t>
                        </m:r>
                      </m:den>
                    </m:f>
                    <m:acc>
                      <m:accPr>
                        <m:chr m:val="⃗"/>
                        <m:ctrlPr>
                          <a:rPr lang="zh-CN" altLang="zh-CN" sz="2800"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accPr>
                      <m:e>
                        <m:r>
                          <a:rPr lang="en-US" altLang="zh-CN" sz="2800" i="1">
                            <a:solidFill>
                              <a:srgbClr val="000000"/>
                            </a:solidFill>
                            <a:latin typeface="Cambria Math" panose="02040503050406030204" pitchFamily="18" charset="0"/>
                            <a:cs typeface="Times New Roman" panose="02020603050405020304" pitchFamily="18" charset="0"/>
                          </a:rPr>
                          <m:t>𝑂𝐶</m:t>
                        </m:r>
                      </m:e>
                    </m:acc>
                  </m:oMath>
                </a14:m>
                <a:r>
                  <a:rPr lang="en-US" altLang="zh-CN" sz="2800"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effectLst/>
                  <a:latin typeface="NEU-BZ-S92"/>
                  <a:ea typeface="方正书宋_GBK" panose="03000509000000000000" pitchFamily="65" charset="-122"/>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zh-CN" altLang="zh-CN" sz="28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所以</a:t>
                </a:r>
                <a14:m>
                  <m:oMath xmlns:m="http://schemas.openxmlformats.org/officeDocument/2006/math">
                    <m:sSup>
                      <m:sSupPr>
                        <m:ctrlPr>
                          <a:rPr lang="zh-CN" altLang="zh-CN" sz="2800"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sSupPr>
                      <m:e>
                        <m:acc>
                          <m:accPr>
                            <m:chr m:val="⃗"/>
                            <m:ctrlPr>
                              <a:rPr lang="zh-CN" altLang="zh-CN" sz="2800"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accPr>
                          <m:e>
                            <m:r>
                              <a:rPr lang="en-US" altLang="zh-CN" sz="2800" i="1">
                                <a:solidFill>
                                  <a:srgbClr val="000000"/>
                                </a:solidFill>
                                <a:latin typeface="Cambria Math" panose="02040503050406030204" pitchFamily="18" charset="0"/>
                                <a:cs typeface="Times New Roman" panose="02020603050405020304" pitchFamily="18" charset="0"/>
                              </a:rPr>
                              <m:t>𝐸𝐹</m:t>
                            </m:r>
                          </m:e>
                        </m:acc>
                      </m:e>
                      <m:sup>
                        <m:r>
                          <a:rPr lang="en-US" altLang="zh-CN" sz="2800">
                            <a:solidFill>
                              <a:srgbClr val="000000"/>
                            </a:solidFill>
                            <a:latin typeface="Cambria Math" panose="02040503050406030204" pitchFamily="18" charset="0"/>
                            <a:cs typeface="Times New Roman" panose="02020603050405020304" pitchFamily="18" charset="0"/>
                          </a:rPr>
                          <m:t>2</m:t>
                        </m:r>
                      </m:sup>
                    </m:sSup>
                    <m:r>
                      <a:rPr lang="en-US" altLang="zh-CN" sz="2800" i="1">
                        <a:solidFill>
                          <a:srgbClr val="000000"/>
                        </a:solidFill>
                        <a:latin typeface="Cambria Math" panose="02040503050406030204" pitchFamily="18" charset="0"/>
                        <a:cs typeface="Times New Roman" panose="02020603050405020304" pitchFamily="18" charset="0"/>
                      </a:rPr>
                      <m:t>=</m:t>
                    </m:r>
                    <m:f>
                      <m:fPr>
                        <m:ctrlPr>
                          <a:rPr lang="zh-CN" altLang="zh-CN" sz="2800"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sz="2800">
                            <a:solidFill>
                              <a:srgbClr val="000000"/>
                            </a:solidFill>
                            <a:latin typeface="Cambria Math" panose="02040503050406030204" pitchFamily="18" charset="0"/>
                            <a:cs typeface="Times New Roman" panose="02020603050405020304" pitchFamily="18" charset="0"/>
                          </a:rPr>
                          <m:t>1</m:t>
                        </m:r>
                      </m:num>
                      <m:den>
                        <m:r>
                          <a:rPr lang="en-US" altLang="zh-CN" sz="2800">
                            <a:solidFill>
                              <a:srgbClr val="000000"/>
                            </a:solidFill>
                            <a:latin typeface="Cambria Math" panose="02040503050406030204" pitchFamily="18" charset="0"/>
                            <a:cs typeface="Times New Roman" panose="02020603050405020304" pitchFamily="18" charset="0"/>
                          </a:rPr>
                          <m:t>4</m:t>
                        </m:r>
                      </m:den>
                    </m:f>
                    <m:sSup>
                      <m:sSupPr>
                        <m:ctrlPr>
                          <a:rPr lang="zh-CN" altLang="zh-CN" sz="2800"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sSupPr>
                      <m:e>
                        <m:acc>
                          <m:accPr>
                            <m:chr m:val="⃗"/>
                            <m:ctrlPr>
                              <a:rPr lang="zh-CN" altLang="zh-CN" sz="2800"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accPr>
                          <m:e>
                            <m:r>
                              <a:rPr lang="en-US" altLang="zh-CN" sz="2800" i="1">
                                <a:solidFill>
                                  <a:srgbClr val="000000"/>
                                </a:solidFill>
                                <a:latin typeface="Cambria Math" panose="02040503050406030204" pitchFamily="18" charset="0"/>
                                <a:cs typeface="Times New Roman" panose="02020603050405020304" pitchFamily="18" charset="0"/>
                              </a:rPr>
                              <m:t>𝑂𝐴</m:t>
                            </m:r>
                          </m:e>
                        </m:acc>
                      </m:e>
                      <m:sup>
                        <m:r>
                          <a:rPr lang="en-US" altLang="zh-CN" sz="2800">
                            <a:solidFill>
                              <a:srgbClr val="000000"/>
                            </a:solidFill>
                            <a:latin typeface="Cambria Math" panose="02040503050406030204" pitchFamily="18" charset="0"/>
                            <a:cs typeface="Times New Roman" panose="02020603050405020304" pitchFamily="18" charset="0"/>
                          </a:rPr>
                          <m:t>2</m:t>
                        </m:r>
                      </m:sup>
                    </m:sSup>
                    <m:r>
                      <a:rPr lang="en-US" altLang="zh-CN" sz="2800" i="1">
                        <a:solidFill>
                          <a:srgbClr val="000000"/>
                        </a:solidFill>
                        <a:latin typeface="Cambria Math" panose="02040503050406030204" pitchFamily="18" charset="0"/>
                        <a:cs typeface="Times New Roman" panose="02020603050405020304" pitchFamily="18" charset="0"/>
                      </a:rPr>
                      <m:t>+</m:t>
                    </m:r>
                    <m:f>
                      <m:fPr>
                        <m:ctrlPr>
                          <a:rPr lang="zh-CN" altLang="zh-CN" sz="2800"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sz="2800">
                            <a:solidFill>
                              <a:srgbClr val="000000"/>
                            </a:solidFill>
                            <a:latin typeface="Cambria Math" panose="02040503050406030204" pitchFamily="18" charset="0"/>
                            <a:cs typeface="Times New Roman" panose="02020603050405020304" pitchFamily="18" charset="0"/>
                          </a:rPr>
                          <m:t>1</m:t>
                        </m:r>
                      </m:num>
                      <m:den>
                        <m:r>
                          <a:rPr lang="en-US" altLang="zh-CN" sz="2800">
                            <a:solidFill>
                              <a:srgbClr val="000000"/>
                            </a:solidFill>
                            <a:latin typeface="Cambria Math" panose="02040503050406030204" pitchFamily="18" charset="0"/>
                            <a:cs typeface="Times New Roman" panose="02020603050405020304" pitchFamily="18" charset="0"/>
                          </a:rPr>
                          <m:t>4</m:t>
                        </m:r>
                      </m:den>
                    </m:f>
                    <m:sSup>
                      <m:sSupPr>
                        <m:ctrlPr>
                          <a:rPr lang="zh-CN" altLang="zh-CN" sz="2800"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sSupPr>
                      <m:e>
                        <m:acc>
                          <m:accPr>
                            <m:chr m:val="⃗"/>
                            <m:ctrlPr>
                              <a:rPr lang="zh-CN" altLang="zh-CN" sz="2800"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accPr>
                          <m:e>
                            <m:r>
                              <a:rPr lang="en-US" altLang="zh-CN" sz="2800" i="1">
                                <a:solidFill>
                                  <a:srgbClr val="000000"/>
                                </a:solidFill>
                                <a:latin typeface="Cambria Math" panose="02040503050406030204" pitchFamily="18" charset="0"/>
                                <a:cs typeface="Times New Roman" panose="02020603050405020304" pitchFamily="18" charset="0"/>
                              </a:rPr>
                              <m:t>𝑂𝐵</m:t>
                            </m:r>
                          </m:e>
                        </m:acc>
                      </m:e>
                      <m:sup>
                        <m:r>
                          <a:rPr lang="en-US" altLang="zh-CN" sz="2800">
                            <a:solidFill>
                              <a:srgbClr val="000000"/>
                            </a:solidFill>
                            <a:latin typeface="Cambria Math" panose="02040503050406030204" pitchFamily="18" charset="0"/>
                            <a:cs typeface="Times New Roman" panose="02020603050405020304" pitchFamily="18" charset="0"/>
                          </a:rPr>
                          <m:t>2</m:t>
                        </m:r>
                      </m:sup>
                    </m:sSup>
                    <m:r>
                      <a:rPr lang="en-US" altLang="zh-CN" sz="2800" i="1">
                        <a:solidFill>
                          <a:srgbClr val="000000"/>
                        </a:solidFill>
                        <a:latin typeface="Cambria Math" panose="02040503050406030204" pitchFamily="18" charset="0"/>
                        <a:cs typeface="Times New Roman" panose="02020603050405020304" pitchFamily="18" charset="0"/>
                      </a:rPr>
                      <m:t>+</m:t>
                    </m:r>
                    <m:f>
                      <m:fPr>
                        <m:ctrlPr>
                          <a:rPr lang="zh-CN" altLang="zh-CN" sz="2800"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sz="2800">
                            <a:solidFill>
                              <a:srgbClr val="000000"/>
                            </a:solidFill>
                            <a:latin typeface="Cambria Math" panose="02040503050406030204" pitchFamily="18" charset="0"/>
                            <a:cs typeface="Times New Roman" panose="02020603050405020304" pitchFamily="18" charset="0"/>
                          </a:rPr>
                          <m:t>1</m:t>
                        </m:r>
                      </m:num>
                      <m:den>
                        <m:r>
                          <a:rPr lang="en-US" altLang="zh-CN" sz="2800">
                            <a:solidFill>
                              <a:srgbClr val="000000"/>
                            </a:solidFill>
                            <a:latin typeface="Cambria Math" panose="02040503050406030204" pitchFamily="18" charset="0"/>
                            <a:cs typeface="Times New Roman" panose="02020603050405020304" pitchFamily="18" charset="0"/>
                          </a:rPr>
                          <m:t>4</m:t>
                        </m:r>
                      </m:den>
                    </m:f>
                    <m:sSup>
                      <m:sSupPr>
                        <m:ctrlPr>
                          <a:rPr lang="zh-CN" altLang="zh-CN" sz="2800"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sSupPr>
                      <m:e>
                        <m:acc>
                          <m:accPr>
                            <m:chr m:val="⃗"/>
                            <m:ctrlPr>
                              <a:rPr lang="zh-CN" altLang="zh-CN" sz="2800"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accPr>
                          <m:e>
                            <m:r>
                              <a:rPr lang="en-US" altLang="zh-CN" sz="2800" i="1">
                                <a:solidFill>
                                  <a:srgbClr val="000000"/>
                                </a:solidFill>
                                <a:latin typeface="Cambria Math" panose="02040503050406030204" pitchFamily="18" charset="0"/>
                                <a:cs typeface="Times New Roman" panose="02020603050405020304" pitchFamily="18" charset="0"/>
                              </a:rPr>
                              <m:t>𝑂𝐶</m:t>
                            </m:r>
                          </m:e>
                        </m:acc>
                      </m:e>
                      <m:sup>
                        <m:r>
                          <a:rPr lang="en-US" altLang="zh-CN" sz="2800">
                            <a:solidFill>
                              <a:srgbClr val="000000"/>
                            </a:solidFill>
                            <a:latin typeface="Cambria Math" panose="02040503050406030204" pitchFamily="18" charset="0"/>
                            <a:cs typeface="Times New Roman" panose="02020603050405020304" pitchFamily="18" charset="0"/>
                          </a:rPr>
                          <m:t>2</m:t>
                        </m:r>
                      </m:sup>
                    </m:sSup>
                  </m:oMath>
                </a14:m>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2×</a:t>
                </a:r>
                <a14:m>
                  <m:oMath xmlns:m="http://schemas.openxmlformats.org/officeDocument/2006/math">
                    <m:d>
                      <m:dPr>
                        <m:ctrlPr>
                          <a:rPr lang="zh-CN" altLang="zh-CN" sz="2800"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dPr>
                      <m:e>
                        <m:r>
                          <m:rPr>
                            <m:nor/>
                          </m:rPr>
                          <a:rPr lang="en-US" altLang="zh-CN" sz="2800" i="1">
                            <a:solidFill>
                              <a:srgbClr val="000000"/>
                            </a:solidFill>
                            <a:latin typeface="Times New Roman" panose="02020603050405020304" pitchFamily="18" charset="0"/>
                            <a:cs typeface="Times New Roman" panose="02020603050405020304" pitchFamily="18" charset="0"/>
                          </a:rPr>
                          <m:t>−</m:t>
                        </m:r>
                        <m:f>
                          <m:fPr>
                            <m:ctrlPr>
                              <a:rPr lang="zh-CN" altLang="zh-CN" sz="2800"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sz="2800">
                                <a:solidFill>
                                  <a:srgbClr val="000000"/>
                                </a:solidFill>
                                <a:latin typeface="Cambria Math" panose="02040503050406030204" pitchFamily="18" charset="0"/>
                                <a:cs typeface="Times New Roman" panose="02020603050405020304" pitchFamily="18" charset="0"/>
                              </a:rPr>
                              <m:t>1</m:t>
                            </m:r>
                          </m:num>
                          <m:den>
                            <m:r>
                              <a:rPr lang="en-US" altLang="zh-CN" sz="2800">
                                <a:solidFill>
                                  <a:srgbClr val="000000"/>
                                </a:solidFill>
                                <a:latin typeface="Cambria Math" panose="02040503050406030204" pitchFamily="18" charset="0"/>
                                <a:cs typeface="Times New Roman" panose="02020603050405020304" pitchFamily="18" charset="0"/>
                              </a:rPr>
                              <m:t>2</m:t>
                            </m:r>
                          </m:den>
                        </m:f>
                      </m:e>
                    </m:d>
                    <m:r>
                      <a:rPr lang="en-US" altLang="zh-CN" sz="2800">
                        <a:solidFill>
                          <a:srgbClr val="000000"/>
                        </a:solidFill>
                        <a:latin typeface="Cambria Math" panose="02040503050406030204" pitchFamily="18" charset="0"/>
                        <a:cs typeface="Times New Roman" panose="02020603050405020304" pitchFamily="18" charset="0"/>
                      </a:rPr>
                      <m:t>×</m:t>
                    </m:r>
                    <m:f>
                      <m:fPr>
                        <m:ctrlPr>
                          <a:rPr lang="zh-CN" altLang="zh-CN" sz="2800"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sz="2800">
                            <a:solidFill>
                              <a:srgbClr val="000000"/>
                            </a:solidFill>
                            <a:latin typeface="Cambria Math" panose="02040503050406030204" pitchFamily="18" charset="0"/>
                            <a:cs typeface="Times New Roman" panose="02020603050405020304" pitchFamily="18" charset="0"/>
                          </a:rPr>
                          <m:t>1</m:t>
                        </m:r>
                      </m:num>
                      <m:den>
                        <m:r>
                          <a:rPr lang="en-US" altLang="zh-CN" sz="2800">
                            <a:solidFill>
                              <a:srgbClr val="000000"/>
                            </a:solidFill>
                            <a:latin typeface="Cambria Math" panose="02040503050406030204" pitchFamily="18" charset="0"/>
                            <a:cs typeface="Times New Roman" panose="02020603050405020304" pitchFamily="18" charset="0"/>
                          </a:rPr>
                          <m:t>2</m:t>
                        </m:r>
                      </m:den>
                    </m:f>
                    <m:acc>
                      <m:accPr>
                        <m:chr m:val="⃗"/>
                        <m:ctrlPr>
                          <a:rPr lang="zh-CN" altLang="zh-CN" sz="2800"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accPr>
                      <m:e>
                        <m:r>
                          <a:rPr lang="en-US" altLang="zh-CN" sz="2800" i="1">
                            <a:solidFill>
                              <a:srgbClr val="000000"/>
                            </a:solidFill>
                            <a:latin typeface="Cambria Math" panose="02040503050406030204" pitchFamily="18" charset="0"/>
                            <a:cs typeface="Times New Roman" panose="02020603050405020304" pitchFamily="18" charset="0"/>
                          </a:rPr>
                          <m:t>𝑂𝐴</m:t>
                        </m:r>
                      </m:e>
                    </m:acc>
                    <m:r>
                      <a:rPr lang="en-US" altLang="zh-CN" sz="2800">
                        <a:solidFill>
                          <a:srgbClr val="000000"/>
                        </a:solidFill>
                        <a:latin typeface="Cambria Math" panose="02040503050406030204" pitchFamily="18" charset="0"/>
                        <a:cs typeface="Times New Roman" panose="02020603050405020304" pitchFamily="18" charset="0"/>
                      </a:rPr>
                      <m:t>·</m:t>
                    </m:r>
                    <m:acc>
                      <m:accPr>
                        <m:chr m:val="⃗"/>
                        <m:ctrlPr>
                          <a:rPr lang="zh-CN" altLang="zh-CN" sz="2800"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accPr>
                      <m:e>
                        <m:r>
                          <a:rPr lang="en-US" altLang="zh-CN" sz="2800" i="1">
                            <a:solidFill>
                              <a:srgbClr val="000000"/>
                            </a:solidFill>
                            <a:latin typeface="Cambria Math" panose="02040503050406030204" pitchFamily="18" charset="0"/>
                            <a:cs typeface="Times New Roman" panose="02020603050405020304" pitchFamily="18" charset="0"/>
                          </a:rPr>
                          <m:t>𝑂𝐵</m:t>
                        </m:r>
                      </m:e>
                    </m:acc>
                  </m:oMath>
                </a14:m>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2×</a:t>
                </a:r>
                <a14:m>
                  <m:oMath xmlns:m="http://schemas.openxmlformats.org/officeDocument/2006/math">
                    <m:d>
                      <m:dPr>
                        <m:ctrlPr>
                          <a:rPr lang="zh-CN" altLang="zh-CN" sz="2800"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dPr>
                      <m:e>
                        <m:r>
                          <m:rPr>
                            <m:nor/>
                          </m:rPr>
                          <a:rPr lang="en-US" altLang="zh-CN" sz="2800" i="1">
                            <a:solidFill>
                              <a:srgbClr val="000000"/>
                            </a:solidFill>
                            <a:latin typeface="Times New Roman" panose="02020603050405020304" pitchFamily="18" charset="0"/>
                            <a:cs typeface="Times New Roman" panose="02020603050405020304" pitchFamily="18" charset="0"/>
                          </a:rPr>
                          <m:t>−</m:t>
                        </m:r>
                        <m:f>
                          <m:fPr>
                            <m:ctrlPr>
                              <a:rPr lang="zh-CN" altLang="zh-CN" sz="2800"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sz="2800">
                                <a:solidFill>
                                  <a:srgbClr val="000000"/>
                                </a:solidFill>
                                <a:latin typeface="Cambria Math" panose="02040503050406030204" pitchFamily="18" charset="0"/>
                                <a:cs typeface="Times New Roman" panose="02020603050405020304" pitchFamily="18" charset="0"/>
                              </a:rPr>
                              <m:t>1</m:t>
                            </m:r>
                          </m:num>
                          <m:den>
                            <m:r>
                              <a:rPr lang="en-US" altLang="zh-CN" sz="2800">
                                <a:solidFill>
                                  <a:srgbClr val="000000"/>
                                </a:solidFill>
                                <a:latin typeface="Cambria Math" panose="02040503050406030204" pitchFamily="18" charset="0"/>
                                <a:cs typeface="Times New Roman" panose="02020603050405020304" pitchFamily="18" charset="0"/>
                              </a:rPr>
                              <m:t>2</m:t>
                            </m:r>
                          </m:den>
                        </m:f>
                      </m:e>
                    </m:d>
                    <m:r>
                      <a:rPr lang="en-US" altLang="zh-CN" sz="2800">
                        <a:solidFill>
                          <a:srgbClr val="000000"/>
                        </a:solidFill>
                        <a:latin typeface="Cambria Math" panose="02040503050406030204" pitchFamily="18" charset="0"/>
                        <a:cs typeface="Times New Roman" panose="02020603050405020304" pitchFamily="18" charset="0"/>
                      </a:rPr>
                      <m:t>×</m:t>
                    </m:r>
                    <m:f>
                      <m:fPr>
                        <m:ctrlPr>
                          <a:rPr lang="zh-CN" altLang="zh-CN" sz="2800"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sz="2800">
                            <a:solidFill>
                              <a:srgbClr val="000000"/>
                            </a:solidFill>
                            <a:latin typeface="Cambria Math" panose="02040503050406030204" pitchFamily="18" charset="0"/>
                            <a:cs typeface="Times New Roman" panose="02020603050405020304" pitchFamily="18" charset="0"/>
                          </a:rPr>
                          <m:t>1</m:t>
                        </m:r>
                      </m:num>
                      <m:den>
                        <m:r>
                          <a:rPr lang="en-US" altLang="zh-CN" sz="2800">
                            <a:solidFill>
                              <a:srgbClr val="000000"/>
                            </a:solidFill>
                            <a:latin typeface="Cambria Math" panose="02040503050406030204" pitchFamily="18" charset="0"/>
                            <a:cs typeface="Times New Roman" panose="02020603050405020304" pitchFamily="18" charset="0"/>
                          </a:rPr>
                          <m:t>2</m:t>
                        </m:r>
                      </m:den>
                    </m:f>
                    <m:acc>
                      <m:accPr>
                        <m:chr m:val="⃗"/>
                        <m:ctrlPr>
                          <a:rPr lang="zh-CN" altLang="zh-CN" sz="2800"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accPr>
                      <m:e>
                        <m:r>
                          <a:rPr lang="en-US" altLang="zh-CN" sz="2800" i="1">
                            <a:solidFill>
                              <a:srgbClr val="000000"/>
                            </a:solidFill>
                            <a:latin typeface="Cambria Math" panose="02040503050406030204" pitchFamily="18" charset="0"/>
                            <a:cs typeface="Times New Roman" panose="02020603050405020304" pitchFamily="18" charset="0"/>
                          </a:rPr>
                          <m:t>𝑂𝐴</m:t>
                        </m:r>
                      </m:e>
                    </m:acc>
                    <m:r>
                      <a:rPr lang="en-US" altLang="zh-CN" sz="2800">
                        <a:solidFill>
                          <a:srgbClr val="000000"/>
                        </a:solidFill>
                        <a:latin typeface="Cambria Math" panose="02040503050406030204" pitchFamily="18" charset="0"/>
                        <a:cs typeface="Times New Roman" panose="02020603050405020304" pitchFamily="18" charset="0"/>
                      </a:rPr>
                      <m:t>·</m:t>
                    </m:r>
                    <m:acc>
                      <m:accPr>
                        <m:chr m:val="⃗"/>
                        <m:ctrlPr>
                          <a:rPr lang="zh-CN" altLang="zh-CN" sz="2800"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accPr>
                      <m:e>
                        <m:r>
                          <a:rPr lang="en-US" altLang="zh-CN" sz="2800" i="1">
                            <a:solidFill>
                              <a:srgbClr val="000000"/>
                            </a:solidFill>
                            <a:latin typeface="Cambria Math" panose="02040503050406030204" pitchFamily="18" charset="0"/>
                            <a:cs typeface="Times New Roman" panose="02020603050405020304" pitchFamily="18" charset="0"/>
                          </a:rPr>
                          <m:t>𝑂𝐶</m:t>
                        </m:r>
                      </m:e>
                    </m:acc>
                  </m:oMath>
                </a14:m>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2×</a:t>
                </a:r>
                <a14:m>
                  <m:oMath xmlns:m="http://schemas.openxmlformats.org/officeDocument/2006/math">
                    <m:f>
                      <m:fPr>
                        <m:ctrlPr>
                          <a:rPr lang="zh-CN" altLang="zh-CN" sz="2800"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sz="2800">
                            <a:solidFill>
                              <a:srgbClr val="000000"/>
                            </a:solidFill>
                            <a:latin typeface="Cambria Math" panose="02040503050406030204" pitchFamily="18" charset="0"/>
                            <a:cs typeface="Times New Roman" panose="02020603050405020304" pitchFamily="18" charset="0"/>
                          </a:rPr>
                          <m:t>1</m:t>
                        </m:r>
                      </m:num>
                      <m:den>
                        <m:r>
                          <a:rPr lang="en-US" altLang="zh-CN" sz="2800">
                            <a:solidFill>
                              <a:srgbClr val="000000"/>
                            </a:solidFill>
                            <a:latin typeface="Cambria Math" panose="02040503050406030204" pitchFamily="18" charset="0"/>
                            <a:cs typeface="Times New Roman" panose="02020603050405020304" pitchFamily="18" charset="0"/>
                          </a:rPr>
                          <m:t>2</m:t>
                        </m:r>
                      </m:den>
                    </m:f>
                    <m:r>
                      <a:rPr lang="en-US" altLang="zh-CN" sz="2800">
                        <a:solidFill>
                          <a:srgbClr val="000000"/>
                        </a:solidFill>
                        <a:latin typeface="Cambria Math" panose="02040503050406030204" pitchFamily="18" charset="0"/>
                        <a:cs typeface="Times New Roman" panose="02020603050405020304" pitchFamily="18" charset="0"/>
                      </a:rPr>
                      <m:t>×</m:t>
                    </m:r>
                    <m:f>
                      <m:fPr>
                        <m:ctrlPr>
                          <a:rPr lang="zh-CN" altLang="zh-CN" sz="2800"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sz="2800">
                            <a:solidFill>
                              <a:srgbClr val="000000"/>
                            </a:solidFill>
                            <a:latin typeface="Cambria Math" panose="02040503050406030204" pitchFamily="18" charset="0"/>
                            <a:cs typeface="Times New Roman" panose="02020603050405020304" pitchFamily="18" charset="0"/>
                          </a:rPr>
                          <m:t>1</m:t>
                        </m:r>
                      </m:num>
                      <m:den>
                        <m:r>
                          <a:rPr lang="en-US" altLang="zh-CN" sz="2800">
                            <a:solidFill>
                              <a:srgbClr val="000000"/>
                            </a:solidFill>
                            <a:latin typeface="Cambria Math" panose="02040503050406030204" pitchFamily="18" charset="0"/>
                            <a:cs typeface="Times New Roman" panose="02020603050405020304" pitchFamily="18" charset="0"/>
                          </a:rPr>
                          <m:t>2</m:t>
                        </m:r>
                      </m:den>
                    </m:f>
                    <m:acc>
                      <m:accPr>
                        <m:chr m:val="⃗"/>
                        <m:ctrlPr>
                          <a:rPr lang="zh-CN" altLang="zh-CN" sz="2800"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accPr>
                      <m:e>
                        <m:r>
                          <a:rPr lang="en-US" altLang="zh-CN" sz="2800" i="1">
                            <a:solidFill>
                              <a:srgbClr val="000000"/>
                            </a:solidFill>
                            <a:latin typeface="Cambria Math" panose="02040503050406030204" pitchFamily="18" charset="0"/>
                            <a:cs typeface="Times New Roman" panose="02020603050405020304" pitchFamily="18" charset="0"/>
                          </a:rPr>
                          <m:t>𝑂𝐵</m:t>
                        </m:r>
                      </m:e>
                    </m:acc>
                    <m:r>
                      <a:rPr lang="en-US" altLang="zh-CN" sz="2800">
                        <a:solidFill>
                          <a:srgbClr val="000000"/>
                        </a:solidFill>
                        <a:latin typeface="Cambria Math" panose="02040503050406030204" pitchFamily="18" charset="0"/>
                        <a:cs typeface="Times New Roman" panose="02020603050405020304" pitchFamily="18" charset="0"/>
                      </a:rPr>
                      <m:t>·</m:t>
                    </m:r>
                    <m:acc>
                      <m:accPr>
                        <m:chr m:val="⃗"/>
                        <m:ctrlPr>
                          <a:rPr lang="zh-CN" altLang="zh-CN" sz="2800"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accPr>
                      <m:e>
                        <m:r>
                          <a:rPr lang="en-US" altLang="zh-CN" sz="2800" i="1">
                            <a:solidFill>
                              <a:srgbClr val="000000"/>
                            </a:solidFill>
                            <a:latin typeface="Cambria Math" panose="02040503050406030204" pitchFamily="18" charset="0"/>
                            <a:cs typeface="Times New Roman" panose="02020603050405020304" pitchFamily="18" charset="0"/>
                          </a:rPr>
                          <m:t>𝑂𝐶</m:t>
                        </m:r>
                      </m:e>
                    </m:acc>
                  </m:oMath>
                </a14:m>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effectLst/>
                  <a:latin typeface="NEU-BZ-S92"/>
                  <a:ea typeface="方正书宋_GBK" panose="03000509000000000000" pitchFamily="65" charset="-122"/>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zh-CN" altLang="zh-CN" sz="28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所以</a:t>
                </a:r>
                <a:r>
                  <a:rPr lang="en-US" altLang="zh-CN" sz="2800" i="1" dirty="0">
                    <a:solidFill>
                      <a:srgbClr val="000000"/>
                    </a:solidFill>
                    <a:latin typeface="Times New Roman" panose="02020603050405020304" pitchFamily="18" charset="0"/>
                    <a:cs typeface="Times New Roman" panose="02020603050405020304" pitchFamily="18" charset="0"/>
                  </a:rPr>
                  <a:t>|</a:t>
                </a:r>
                <a14:m>
                  <m:oMath xmlns:m="http://schemas.openxmlformats.org/officeDocument/2006/math">
                    <m:acc>
                      <m:accPr>
                        <m:chr m:val="⃗"/>
                        <m:ctrlPr>
                          <a:rPr lang="zh-CN" altLang="zh-CN" sz="2800"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accPr>
                      <m:e>
                        <m:r>
                          <a:rPr lang="en-US" altLang="zh-CN" sz="2800" i="1">
                            <a:solidFill>
                              <a:srgbClr val="000000"/>
                            </a:solidFill>
                            <a:latin typeface="Cambria Math" panose="02040503050406030204" pitchFamily="18" charset="0"/>
                            <a:cs typeface="Times New Roman" panose="02020603050405020304" pitchFamily="18" charset="0"/>
                          </a:rPr>
                          <m:t>𝐸𝐹</m:t>
                        </m:r>
                      </m:e>
                    </m:acc>
                  </m:oMath>
                </a14:m>
                <a:r>
                  <a:rPr lang="en-US" altLang="zh-CN" sz="2800" i="1" dirty="0">
                    <a:solidFill>
                      <a:srgbClr val="000000"/>
                    </a:solidFill>
                    <a:latin typeface="Times New Roman" panose="02020603050405020304" pitchFamily="18" charset="0"/>
                    <a:cs typeface="Times New Roman" panose="02020603050405020304" pitchFamily="18" charset="0"/>
                  </a:rPr>
                  <a:t>|=</a:t>
                </a:r>
                <a14:m>
                  <m:oMath xmlns:m="http://schemas.openxmlformats.org/officeDocument/2006/math">
                    <m:rad>
                      <m:radPr>
                        <m:degHide m:val="on"/>
                        <m:ctrlPr>
                          <a:rPr lang="zh-CN" altLang="zh-CN" sz="2800"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radPr>
                      <m:deg/>
                      <m:e>
                        <m:r>
                          <a:rPr lang="en-US" altLang="zh-CN" sz="2800">
                            <a:solidFill>
                              <a:srgbClr val="000000"/>
                            </a:solidFill>
                            <a:latin typeface="Cambria Math" panose="02040503050406030204" pitchFamily="18" charset="0"/>
                            <a:cs typeface="Times New Roman" panose="02020603050405020304" pitchFamily="18" charset="0"/>
                          </a:rPr>
                          <m:t>2</m:t>
                        </m:r>
                      </m:e>
                    </m:rad>
                  </m:oMath>
                </a14:m>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即点</a:t>
                </a:r>
                <a:r>
                  <a:rPr lang="en-US" altLang="zh-CN" sz="2800" i="1" dirty="0">
                    <a:solidFill>
                      <a:srgbClr val="000000"/>
                    </a:solidFill>
                    <a:latin typeface="Times New Roman" panose="02020603050405020304" pitchFamily="18" charset="0"/>
                    <a:cs typeface="Times New Roman" panose="02020603050405020304" pitchFamily="18" charset="0"/>
                  </a:rPr>
                  <a:t>E</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F</a:t>
                </a:r>
                <a:r>
                  <a:rPr lang="zh-CN" altLang="zh-CN" sz="28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间的距离为</a:t>
                </a:r>
                <a14:m>
                  <m:oMath xmlns:m="http://schemas.openxmlformats.org/officeDocument/2006/math">
                    <m:rad>
                      <m:radPr>
                        <m:degHide m:val="on"/>
                        <m:ctrlPr>
                          <a:rPr lang="zh-CN" altLang="zh-CN" sz="2800"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radPr>
                      <m:deg/>
                      <m:e>
                        <m:r>
                          <a:rPr lang="en-US" altLang="zh-CN" sz="2800">
                            <a:solidFill>
                              <a:srgbClr val="000000"/>
                            </a:solidFill>
                            <a:latin typeface="Cambria Math" panose="02040503050406030204" pitchFamily="18" charset="0"/>
                            <a:cs typeface="Times New Roman" panose="02020603050405020304" pitchFamily="18" charset="0"/>
                          </a:rPr>
                          <m:t>2</m:t>
                        </m:r>
                      </m:e>
                    </m:rad>
                  </m:oMath>
                </a14:m>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effectLst/>
                  <a:latin typeface="NEU-BZ-S92"/>
                  <a:ea typeface="方正书宋_GBK" panose="03000509000000000000" pitchFamily="65" charset="-122"/>
                  <a:cs typeface="Times New Roman" panose="02020603050405020304" pitchFamily="18" charset="0"/>
                </a:endParaRPr>
              </a:p>
            </p:txBody>
          </p:sp>
        </mc:Choice>
        <mc:Fallback>
          <p:sp>
            <p:nvSpPr>
              <p:cNvPr id="9" name="矩形 8"/>
              <p:cNvSpPr>
                <a:spLocks noRot="1" noChangeAspect="1" noMove="1" noResize="1" noEditPoints="1" noAdjustHandles="1" noChangeArrowheads="1" noChangeShapeType="1" noTextEdit="1"/>
              </p:cNvSpPr>
              <p:nvPr/>
            </p:nvSpPr>
            <p:spPr>
              <a:xfrm>
                <a:off x="381000" y="1209400"/>
                <a:ext cx="11430000" cy="5208670"/>
              </a:xfrm>
              <a:prstGeom prst="rect">
                <a:avLst/>
              </a:prstGeom>
              <a:blipFill rotWithShape="0">
                <a:blip r:embed="rId2"/>
                <a:stretch>
                  <a:fillRect t="-234" b="-2339"/>
                </a:stretch>
              </a:blipFill>
            </p:spPr>
            <p:txBody>
              <a:bodyPr/>
              <a:lstStyle/>
              <a:p>
                <a:r>
                  <a:rPr lang="zh-CN" altLang="en-US">
                    <a:noFill/>
                  </a:rPr>
                  <a:t> </a:t>
                </a:r>
              </a:p>
            </p:txBody>
          </p:sp>
        </mc:Fallback>
      </mc:AlternateContent>
      <p:pic>
        <p:nvPicPr>
          <p:cNvPr id="11" name="NMX1TRAX26.eps" descr="id:2147512939;FounderCES"/>
          <p:cNvPicPr/>
          <p:nvPr/>
        </p:nvPicPr>
        <p:blipFill>
          <a:blip r:embed="rId3">
            <a:clrChange>
              <a:clrFrom>
                <a:srgbClr val="FFFFFF"/>
              </a:clrFrom>
              <a:clrTo>
                <a:srgbClr val="FFFFFF">
                  <a:alpha val="0"/>
                </a:srgbClr>
              </a:clrTo>
            </a:clrChange>
          </a:blip>
          <a:stretch>
            <a:fillRect/>
          </a:stretch>
        </p:blipFill>
        <p:spPr>
          <a:xfrm>
            <a:off x="8761585" y="1243879"/>
            <a:ext cx="2191758" cy="2707971"/>
          </a:xfrm>
          <a:prstGeom prst="rect">
            <a:avLst/>
          </a:prstGeom>
        </p:spPr>
      </p:pic>
    </p:spTree>
    <p:extLst>
      <p:ext uri="{BB962C8B-B14F-4D97-AF65-F5344CB8AC3E}">
        <p14:creationId xmlns:p14="http://schemas.microsoft.com/office/powerpoint/2010/main" val="248831894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randombar(horizontal)">
                                      <p:cBhvr>
                                        <p:cTn id="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a:spLocks noChangeAspect="1"/>
          </p:cNvSpPr>
          <p:nvPr/>
        </p:nvSpPr>
        <p:spPr>
          <a:xfrm>
            <a:off x="381000" y="50021"/>
            <a:ext cx="2362200" cy="640625"/>
          </a:xfrm>
          <a:prstGeom prst="rect">
            <a:avLst/>
          </a:prstGeom>
        </p:spPr>
        <p:txBody>
          <a:bodyPr wrap="square">
            <a:spAutoFit/>
          </a:bodyPr>
          <a:lstStyle/>
          <a:p>
            <a:pPr>
              <a:lnSpc>
                <a:spcPct val="130000"/>
              </a:lnSpc>
              <a:tabLst>
                <a:tab pos="1188085" algn="l"/>
                <a:tab pos="2163445" algn="l"/>
                <a:tab pos="3142615" algn="l"/>
                <a:tab pos="4190365" algn="l"/>
              </a:tabLst>
            </a:pPr>
            <a:r>
              <a:rPr lang="zh-CN" altLang="zh-CN" sz="3200" b="1" dirty="0" smtClean="0">
                <a:solidFill>
                  <a:srgbClr val="E88651">
                    <a:lumMod val="75000"/>
                  </a:srgbClr>
                </a:solidFill>
                <a:latin typeface="黑体" panose="02010609060101010101" pitchFamily="49" charset="-122"/>
                <a:ea typeface="方正姚体" panose="02010601030101010101"/>
                <a:cs typeface="方正姚体" panose="02010601030101010101" charset="-122"/>
              </a:rPr>
              <a:t>【</a:t>
            </a:r>
            <a:r>
              <a:rPr lang="zh-CN" altLang="en-US" sz="3200" b="1" dirty="0" smtClean="0">
                <a:solidFill>
                  <a:srgbClr val="E88651">
                    <a:lumMod val="75000"/>
                  </a:srgbClr>
                </a:solidFill>
                <a:latin typeface="黑体" panose="02010609060101010101" pitchFamily="49" charset="-122"/>
                <a:ea typeface="方正姚体" panose="02010601030101010101"/>
                <a:cs typeface="方正姚体" panose="02010601030101010101" charset="-122"/>
              </a:rPr>
              <a:t>易错辨析</a:t>
            </a:r>
            <a:r>
              <a:rPr lang="zh-CN" altLang="zh-CN" sz="3200" b="1" dirty="0" smtClean="0">
                <a:solidFill>
                  <a:srgbClr val="E88651">
                    <a:lumMod val="75000"/>
                  </a:srgbClr>
                </a:solidFill>
                <a:latin typeface="黑体" panose="02010609060101010101" pitchFamily="49" charset="-122"/>
                <a:ea typeface="方正姚体" panose="02010601030101010101"/>
                <a:cs typeface="方正姚体" panose="02010601030101010101" charset="-122"/>
              </a:rPr>
              <a:t>】</a:t>
            </a:r>
            <a:r>
              <a:rPr lang="en-US" altLang="zh-CN" sz="3200" b="1" dirty="0" smtClean="0">
                <a:solidFill>
                  <a:srgbClr val="E88651">
                    <a:lumMod val="75000"/>
                  </a:srgbClr>
                </a:solidFill>
                <a:latin typeface="黑体" panose="02010609060101010101" pitchFamily="49" charset="-122"/>
                <a:ea typeface="方正姚体" panose="02010601030101010101"/>
                <a:cs typeface="方正姚体" panose="02010601030101010101" charset="-122"/>
              </a:rPr>
              <a:t> </a:t>
            </a:r>
            <a:endParaRPr lang="zh-CN" altLang="zh-CN" sz="3200" b="1" dirty="0">
              <a:solidFill>
                <a:srgbClr val="E88651">
                  <a:lumMod val="75000"/>
                </a:srgbClr>
              </a:solidFill>
              <a:latin typeface="黑体" panose="02010609060101010101" pitchFamily="49" charset="-122"/>
              <a:ea typeface="方正姚体" panose="02010601030101010101"/>
              <a:cs typeface="方正姚体" panose="02010601030101010101" charset="-122"/>
            </a:endParaRPr>
          </a:p>
        </p:txBody>
      </p:sp>
      <p:sp>
        <p:nvSpPr>
          <p:cNvPr id="2" name="矩形 1"/>
          <p:cNvSpPr>
            <a:spLocks noChangeAspect="1"/>
          </p:cNvSpPr>
          <p:nvPr/>
        </p:nvSpPr>
        <p:spPr>
          <a:xfrm>
            <a:off x="381000" y="660977"/>
            <a:ext cx="11430000" cy="1712520"/>
          </a:xfrm>
          <a:prstGeom prst="rect">
            <a:avLst/>
          </a:prstGeom>
        </p:spPr>
        <p:txBody>
          <a:bodyPr>
            <a:spAutoFit/>
          </a:bodyPr>
          <a:lstStyle/>
          <a:p>
            <a:pPr algn="ctr">
              <a:lnSpc>
                <a:spcPct val="130000"/>
              </a:lnSpc>
              <a:spcAft>
                <a:spcPts val="0"/>
              </a:spcAft>
              <a:tabLst>
                <a:tab pos="1188085" algn="l"/>
                <a:tab pos="2163445" algn="l"/>
                <a:tab pos="3142615" algn="l"/>
                <a:tab pos="4190365" algn="l"/>
              </a:tabLst>
            </a:pPr>
            <a:r>
              <a:rPr lang="zh-CN" altLang="zh-CN" sz="2800" dirty="0">
                <a:solidFill>
                  <a:srgbClr val="000000"/>
                </a:solidFill>
                <a:latin typeface="Arial" panose="020B0604020202020204" pitchFamily="34" charset="0"/>
                <a:ea typeface="黑体" panose="02010609060101010101" pitchFamily="49" charset="-122"/>
                <a:cs typeface="Times New Roman" panose="02020603050405020304" pitchFamily="18" charset="0"/>
              </a:rPr>
              <a:t>将向量的运算性质与实数的运算性质混淆而致误</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zh-CN" altLang="zh-CN" sz="2800" dirty="0">
                <a:solidFill>
                  <a:srgbClr val="000000"/>
                </a:solidFill>
                <a:latin typeface="Arial" panose="020B0604020202020204" pitchFamily="34" charset="0"/>
                <a:ea typeface="黑体" panose="02010609060101010101" pitchFamily="49" charset="-122"/>
                <a:cs typeface="Times New Roman" panose="02020603050405020304" pitchFamily="18" charset="0"/>
              </a:rPr>
              <a:t>【典例】</a:t>
            </a:r>
            <a:r>
              <a:rPr lang="zh-CN" altLang="zh-CN" sz="2800" dirty="0">
                <a:solidFill>
                  <a:srgbClr val="000000"/>
                </a:solidFill>
                <a:latin typeface="NEU-BZ-S92"/>
                <a:ea typeface="Arial" panose="020B0604020202020204" pitchFamily="34" charset="0"/>
                <a:cs typeface="Times New Roman" panose="02020603050405020304" pitchFamily="18" charset="0"/>
              </a:rPr>
              <a:t> </a:t>
            </a:r>
            <a:r>
              <a:rPr lang="zh-CN" altLang="zh-CN" sz="2800" dirty="0">
                <a:solidFill>
                  <a:srgbClr val="000000"/>
                </a:solidFill>
                <a:latin typeface="Times New Roman" panose="02020603050405020304" pitchFamily="18" charset="0"/>
                <a:cs typeface="Times New Roman" panose="02020603050405020304" pitchFamily="18" charset="0"/>
              </a:rPr>
              <a:t>已知</a:t>
            </a:r>
            <a:r>
              <a:rPr lang="en-US" altLang="zh-CN" sz="2800" b="1" dirty="0" err="1">
                <a:solidFill>
                  <a:srgbClr val="000000"/>
                </a:solidFill>
                <a:latin typeface="Times New Roman" panose="02020603050405020304" pitchFamily="18" charset="0"/>
                <a:cs typeface="Times New Roman" panose="02020603050405020304" pitchFamily="18" charset="0"/>
              </a:rPr>
              <a:t>a</a:t>
            </a:r>
            <a:r>
              <a:rPr lang="en-US" altLang="zh-CN" sz="2800" dirty="0" err="1">
                <a:solidFill>
                  <a:srgbClr val="000000"/>
                </a:solidFill>
                <a:latin typeface="Times New Roman" panose="02020603050405020304" pitchFamily="18" charset="0"/>
                <a:cs typeface="Times New Roman" panose="02020603050405020304" pitchFamily="18" charset="0"/>
              </a:rPr>
              <a:t>,</a:t>
            </a:r>
            <a:r>
              <a:rPr lang="en-US" altLang="zh-CN" sz="2800" b="1" dirty="0" err="1">
                <a:solidFill>
                  <a:srgbClr val="000000"/>
                </a:solidFill>
                <a:latin typeface="Times New Roman" panose="02020603050405020304" pitchFamily="18" charset="0"/>
                <a:cs typeface="Times New Roman" panose="02020603050405020304" pitchFamily="18" charset="0"/>
              </a:rPr>
              <a:t>b</a:t>
            </a:r>
            <a:r>
              <a:rPr lang="zh-CN" altLang="zh-CN" sz="2800" dirty="0">
                <a:solidFill>
                  <a:srgbClr val="000000"/>
                </a:solidFill>
                <a:latin typeface="Times New Roman" panose="02020603050405020304" pitchFamily="18" charset="0"/>
                <a:cs typeface="Times New Roman" panose="02020603050405020304" pitchFamily="18" charset="0"/>
              </a:rPr>
              <a:t>都是非零向量</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且向量</a:t>
            </a:r>
            <a:r>
              <a:rPr lang="en-US" altLang="zh-CN" sz="2800" b="1" dirty="0">
                <a:solidFill>
                  <a:srgbClr val="000000"/>
                </a:solidFill>
                <a:latin typeface="Times New Roman" panose="02020603050405020304" pitchFamily="18" charset="0"/>
                <a:cs typeface="Times New Roman" panose="02020603050405020304" pitchFamily="18" charset="0"/>
              </a:rPr>
              <a:t>a</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3</a:t>
            </a:r>
            <a:r>
              <a:rPr lang="en-US" altLang="zh-CN" sz="2800" b="1" dirty="0">
                <a:solidFill>
                  <a:srgbClr val="000000"/>
                </a:solidFill>
                <a:latin typeface="Times New Roman" panose="02020603050405020304" pitchFamily="18" charset="0"/>
                <a:cs typeface="Times New Roman" panose="02020603050405020304" pitchFamily="18" charset="0"/>
              </a:rPr>
              <a:t>b</a:t>
            </a:r>
            <a:r>
              <a:rPr lang="zh-CN" altLang="zh-CN" sz="2800" dirty="0">
                <a:solidFill>
                  <a:srgbClr val="000000"/>
                </a:solidFill>
                <a:latin typeface="Times New Roman" panose="02020603050405020304" pitchFamily="18" charset="0"/>
                <a:cs typeface="Times New Roman" panose="02020603050405020304" pitchFamily="18" charset="0"/>
              </a:rPr>
              <a:t>与</a:t>
            </a:r>
            <a:r>
              <a:rPr lang="en-US" altLang="zh-CN" sz="2800" dirty="0">
                <a:solidFill>
                  <a:srgbClr val="000000"/>
                </a:solidFill>
                <a:latin typeface="Times New Roman" panose="02020603050405020304" pitchFamily="18" charset="0"/>
                <a:cs typeface="Times New Roman" panose="02020603050405020304" pitchFamily="18" charset="0"/>
              </a:rPr>
              <a:t>7</a:t>
            </a:r>
            <a:r>
              <a:rPr lang="en-US" altLang="zh-CN" sz="2800" b="1" dirty="0">
                <a:solidFill>
                  <a:srgbClr val="000000"/>
                </a:solidFill>
                <a:latin typeface="Times New Roman" panose="02020603050405020304" pitchFamily="18" charset="0"/>
                <a:cs typeface="Times New Roman" panose="02020603050405020304" pitchFamily="18" charset="0"/>
              </a:rPr>
              <a:t>a</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5</a:t>
            </a:r>
            <a:r>
              <a:rPr lang="en-US" altLang="zh-CN" sz="2800" b="1" dirty="0">
                <a:solidFill>
                  <a:srgbClr val="000000"/>
                </a:solidFill>
                <a:latin typeface="Times New Roman" panose="02020603050405020304" pitchFamily="18" charset="0"/>
                <a:cs typeface="Times New Roman" panose="02020603050405020304" pitchFamily="18" charset="0"/>
              </a:rPr>
              <a:t>b</a:t>
            </a:r>
            <a:r>
              <a:rPr lang="zh-CN" altLang="zh-CN" sz="2800" dirty="0">
                <a:solidFill>
                  <a:srgbClr val="000000"/>
                </a:solidFill>
                <a:latin typeface="Times New Roman" panose="02020603050405020304" pitchFamily="18" charset="0"/>
                <a:cs typeface="Times New Roman" panose="02020603050405020304" pitchFamily="18" charset="0"/>
              </a:rPr>
              <a:t>垂直</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向量</a:t>
            </a:r>
            <a:r>
              <a:rPr lang="en-US" altLang="zh-CN" sz="2800" b="1" dirty="0">
                <a:solidFill>
                  <a:srgbClr val="000000"/>
                </a:solidFill>
                <a:latin typeface="Times New Roman" panose="02020603050405020304" pitchFamily="18" charset="0"/>
                <a:cs typeface="Times New Roman" panose="02020603050405020304" pitchFamily="18" charset="0"/>
              </a:rPr>
              <a:t>a</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4</a:t>
            </a:r>
            <a:r>
              <a:rPr lang="en-US" altLang="zh-CN" sz="2800" b="1" dirty="0">
                <a:solidFill>
                  <a:srgbClr val="000000"/>
                </a:solidFill>
                <a:latin typeface="Times New Roman" panose="02020603050405020304" pitchFamily="18" charset="0"/>
                <a:cs typeface="Times New Roman" panose="02020603050405020304" pitchFamily="18" charset="0"/>
              </a:rPr>
              <a:t>b</a:t>
            </a:r>
            <a:r>
              <a:rPr lang="zh-CN" altLang="zh-CN" sz="2800" dirty="0">
                <a:solidFill>
                  <a:srgbClr val="000000"/>
                </a:solidFill>
                <a:latin typeface="Times New Roman" panose="02020603050405020304" pitchFamily="18" charset="0"/>
                <a:cs typeface="Times New Roman" panose="02020603050405020304" pitchFamily="18" charset="0"/>
              </a:rPr>
              <a:t>与</a:t>
            </a:r>
            <a:r>
              <a:rPr lang="en-US" altLang="zh-CN" sz="2800" dirty="0">
                <a:solidFill>
                  <a:srgbClr val="000000"/>
                </a:solidFill>
                <a:latin typeface="Times New Roman" panose="02020603050405020304" pitchFamily="18" charset="0"/>
                <a:cs typeface="Times New Roman" panose="02020603050405020304" pitchFamily="18" charset="0"/>
              </a:rPr>
              <a:t>7</a:t>
            </a:r>
            <a:r>
              <a:rPr lang="en-US" altLang="zh-CN" sz="2800" b="1" dirty="0">
                <a:solidFill>
                  <a:srgbClr val="000000"/>
                </a:solidFill>
                <a:latin typeface="Times New Roman" panose="02020603050405020304" pitchFamily="18" charset="0"/>
                <a:cs typeface="Times New Roman" panose="02020603050405020304" pitchFamily="18" charset="0"/>
              </a:rPr>
              <a:t>a</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2</a:t>
            </a:r>
            <a:r>
              <a:rPr lang="en-US" altLang="zh-CN" sz="2800" b="1" dirty="0">
                <a:solidFill>
                  <a:srgbClr val="000000"/>
                </a:solidFill>
                <a:latin typeface="Times New Roman" panose="02020603050405020304" pitchFamily="18" charset="0"/>
                <a:cs typeface="Times New Roman" panose="02020603050405020304" pitchFamily="18" charset="0"/>
              </a:rPr>
              <a:t>b</a:t>
            </a:r>
            <a:r>
              <a:rPr lang="zh-CN" altLang="zh-CN" sz="2800" dirty="0">
                <a:solidFill>
                  <a:srgbClr val="000000"/>
                </a:solidFill>
                <a:latin typeface="Times New Roman" panose="02020603050405020304" pitchFamily="18" charset="0"/>
                <a:cs typeface="Times New Roman" panose="02020603050405020304" pitchFamily="18" charset="0"/>
              </a:rPr>
              <a:t>垂直</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求向量</a:t>
            </a:r>
            <a:r>
              <a:rPr lang="en-US" altLang="zh-CN" sz="2800" b="1" dirty="0">
                <a:solidFill>
                  <a:srgbClr val="000000"/>
                </a:solidFill>
                <a:latin typeface="Times New Roman" panose="02020603050405020304" pitchFamily="18" charset="0"/>
                <a:cs typeface="Times New Roman" panose="02020603050405020304" pitchFamily="18" charset="0"/>
              </a:rPr>
              <a:t>a</a:t>
            </a:r>
            <a:r>
              <a:rPr lang="zh-CN" altLang="zh-CN" sz="2800" dirty="0">
                <a:solidFill>
                  <a:srgbClr val="000000"/>
                </a:solidFill>
                <a:latin typeface="Times New Roman" panose="02020603050405020304" pitchFamily="18" charset="0"/>
                <a:cs typeface="Times New Roman" panose="02020603050405020304" pitchFamily="18" charset="0"/>
              </a:rPr>
              <a:t>与</a:t>
            </a:r>
            <a:r>
              <a:rPr lang="en-US" altLang="zh-CN" sz="2800" b="1" dirty="0">
                <a:solidFill>
                  <a:srgbClr val="000000"/>
                </a:solidFill>
                <a:latin typeface="Times New Roman" panose="02020603050405020304" pitchFamily="18" charset="0"/>
                <a:cs typeface="Times New Roman" panose="02020603050405020304" pitchFamily="18" charset="0"/>
              </a:rPr>
              <a:t>b</a:t>
            </a:r>
            <a:r>
              <a:rPr lang="zh-CN" altLang="zh-CN" sz="2800" dirty="0">
                <a:solidFill>
                  <a:srgbClr val="000000"/>
                </a:solidFill>
                <a:latin typeface="Times New Roman" panose="02020603050405020304" pitchFamily="18" charset="0"/>
                <a:cs typeface="Times New Roman" panose="02020603050405020304" pitchFamily="18" charset="0"/>
              </a:rPr>
              <a:t>的夹角</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effectLst/>
              <a:latin typeface="NEU-BZ-S92"/>
              <a:ea typeface="方正书宋_GBK" panose="03000509000000000000" pitchFamily="65" charset="-122"/>
              <a:cs typeface="Times New Roman" panose="02020603050405020304" pitchFamily="18" charset="0"/>
            </a:endParaRPr>
          </a:p>
        </p:txBody>
      </p:sp>
      <p:grpSp>
        <p:nvGrpSpPr>
          <p:cNvPr id="5" name="组合 4"/>
          <p:cNvGrpSpPr/>
          <p:nvPr/>
        </p:nvGrpSpPr>
        <p:grpSpPr>
          <a:xfrm>
            <a:off x="51955" y="2383888"/>
            <a:ext cx="11759045" cy="4339570"/>
            <a:chOff x="51955" y="2404670"/>
            <a:chExt cx="11759045" cy="4339570"/>
          </a:xfrm>
        </p:grpSpPr>
        <p:graphicFrame>
          <p:nvGraphicFramePr>
            <p:cNvPr id="3" name="对象 2"/>
            <p:cNvGraphicFramePr>
              <a:graphicFrameLocks noChangeAspect="1"/>
            </p:cNvGraphicFramePr>
            <p:nvPr>
              <p:extLst>
                <p:ext uri="{D42A27DB-BD31-4B8C-83A1-F6EECF244321}">
                  <p14:modId xmlns:p14="http://schemas.microsoft.com/office/powerpoint/2010/main" val="104071421"/>
                </p:ext>
              </p:extLst>
            </p:nvPr>
          </p:nvGraphicFramePr>
          <p:xfrm>
            <a:off x="51955" y="2404670"/>
            <a:ext cx="11430000" cy="2010264"/>
          </p:xfrm>
          <a:graphic>
            <a:graphicData uri="http://schemas.openxmlformats.org/presentationml/2006/ole">
              <mc:AlternateContent xmlns:mc="http://schemas.openxmlformats.org/markup-compatibility/2006">
                <mc:Choice xmlns:v="urn:schemas-microsoft-com:vml" Requires="v">
                  <p:oleObj spid="_x0000_s27670" name="文档" r:id="rId3" imgW="4510061" imgH="793212" progId="Word.Document.12">
                    <p:embed/>
                  </p:oleObj>
                </mc:Choice>
                <mc:Fallback>
                  <p:oleObj name="文档" r:id="rId3" imgW="4510061" imgH="793212" progId="Word.Document.12">
                    <p:embed/>
                    <p:pic>
                      <p:nvPicPr>
                        <p:cNvPr id="0" name=""/>
                        <p:cNvPicPr/>
                        <p:nvPr/>
                      </p:nvPicPr>
                      <p:blipFill>
                        <a:blip r:embed="rId4"/>
                        <a:stretch>
                          <a:fillRect/>
                        </a:stretch>
                      </p:blipFill>
                      <p:spPr>
                        <a:xfrm>
                          <a:off x="51955" y="2404670"/>
                          <a:ext cx="11430000" cy="2010264"/>
                        </a:xfrm>
                        <a:prstGeom prst="rect">
                          <a:avLst/>
                        </a:prstGeom>
                      </p:spPr>
                    </p:pic>
                  </p:oleObj>
                </mc:Fallback>
              </mc:AlternateContent>
            </a:graphicData>
          </a:graphic>
        </p:graphicFrame>
        <p:sp>
          <p:nvSpPr>
            <p:cNvPr id="4" name="矩形 3"/>
            <p:cNvSpPr>
              <a:spLocks noChangeAspect="1"/>
            </p:cNvSpPr>
            <p:nvPr/>
          </p:nvSpPr>
          <p:spPr>
            <a:xfrm>
              <a:off x="381000" y="4456498"/>
              <a:ext cx="11430000" cy="2287742"/>
            </a:xfrm>
            <a:prstGeom prst="rect">
              <a:avLst/>
            </a:prstGeom>
          </p:spPr>
          <p:txBody>
            <a:bodyPr>
              <a:spAutoFit/>
            </a:bodyPr>
            <a:lstStyle/>
            <a:p>
              <a:pPr indent="279400">
                <a:lnSpc>
                  <a:spcPct val="130000"/>
                </a:lnSpc>
                <a:spcAft>
                  <a:spcPts val="0"/>
                </a:spcAft>
                <a:tabLst>
                  <a:tab pos="1188085" algn="l"/>
                  <a:tab pos="2163445" algn="l"/>
                  <a:tab pos="3142615" algn="l"/>
                  <a:tab pos="4190365" algn="l"/>
                </a:tabLst>
              </a:pPr>
              <a:r>
                <a:rPr lang="zh-CN" altLang="zh-CN" sz="2800" dirty="0">
                  <a:solidFill>
                    <a:srgbClr val="000000"/>
                  </a:solidFill>
                  <a:latin typeface="Times New Roman" panose="02020603050405020304" pitchFamily="18" charset="0"/>
                  <a:cs typeface="Times New Roman" panose="02020603050405020304" pitchFamily="18" charset="0"/>
                </a:rPr>
                <a:t>两式相减</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得</a:t>
              </a:r>
              <a:r>
                <a:rPr lang="en-US" altLang="zh-CN" sz="2800" dirty="0">
                  <a:solidFill>
                    <a:srgbClr val="000000"/>
                  </a:solidFill>
                  <a:latin typeface="Times New Roman" panose="02020603050405020304" pitchFamily="18" charset="0"/>
                  <a:cs typeface="Times New Roman" panose="02020603050405020304" pitchFamily="18" charset="0"/>
                </a:rPr>
                <a:t>46</a:t>
              </a:r>
              <a:r>
                <a:rPr lang="en-US" altLang="zh-CN" sz="2800" b="1" dirty="0">
                  <a:solidFill>
                    <a:srgbClr val="000000"/>
                  </a:solidFill>
                  <a:latin typeface="Times New Roman" panose="02020603050405020304" pitchFamily="18" charset="0"/>
                  <a:cs typeface="Times New Roman" panose="02020603050405020304" pitchFamily="18" charset="0"/>
                </a:rPr>
                <a:t>a</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b="1" dirty="0">
                  <a:solidFill>
                    <a:srgbClr val="000000"/>
                  </a:solidFill>
                  <a:latin typeface="Times New Roman" panose="02020603050405020304" pitchFamily="18" charset="0"/>
                  <a:cs typeface="Times New Roman" panose="02020603050405020304" pitchFamily="18" charset="0"/>
                </a:rPr>
                <a:t>b</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23</a:t>
              </a:r>
              <a:r>
                <a:rPr lang="en-US" altLang="zh-CN" sz="2800" b="1" dirty="0">
                  <a:solidFill>
                    <a:srgbClr val="000000"/>
                  </a:solidFill>
                  <a:latin typeface="Times New Roman" panose="02020603050405020304" pitchFamily="18" charset="0"/>
                  <a:cs typeface="Times New Roman" panose="02020603050405020304" pitchFamily="18" charset="0"/>
                </a:rPr>
                <a:t>b</a:t>
              </a:r>
              <a:r>
                <a:rPr lang="en-US" altLang="zh-CN" sz="2800" baseline="300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0,</a:t>
              </a:r>
              <a:r>
                <a:rPr lang="zh-CN" altLang="zh-CN" sz="2800" dirty="0">
                  <a:solidFill>
                    <a:srgbClr val="000000"/>
                  </a:solidFill>
                  <a:latin typeface="Times New Roman" panose="02020603050405020304" pitchFamily="18" charset="0"/>
                  <a:cs typeface="Times New Roman" panose="02020603050405020304" pitchFamily="18" charset="0"/>
                </a:rPr>
                <a:t>即</a:t>
              </a:r>
              <a:r>
                <a:rPr lang="en-US" altLang="zh-CN" sz="2800" b="1" dirty="0">
                  <a:solidFill>
                    <a:srgbClr val="000000"/>
                  </a:solidFill>
                  <a:latin typeface="Times New Roman" panose="02020603050405020304" pitchFamily="18" charset="0"/>
                  <a:cs typeface="Times New Roman" panose="02020603050405020304" pitchFamily="18" charset="0"/>
                </a:rPr>
                <a:t>b</a:t>
              </a:r>
              <a:r>
                <a:rPr lang="en-US" altLang="zh-CN" sz="2800" dirty="0">
                  <a:solidFill>
                    <a:srgbClr val="000000"/>
                  </a:solidFill>
                  <a:latin typeface="Times New Roman" panose="02020603050405020304" pitchFamily="18" charset="0"/>
                  <a:cs typeface="Times New Roman" panose="02020603050405020304" pitchFamily="18" charset="0"/>
                </a:rPr>
                <a:t>·(2</a:t>
              </a:r>
              <a:r>
                <a:rPr lang="en-US" altLang="zh-CN" sz="2800" b="1" dirty="0">
                  <a:solidFill>
                    <a:srgbClr val="000000"/>
                  </a:solidFill>
                  <a:latin typeface="Times New Roman" panose="02020603050405020304" pitchFamily="18" charset="0"/>
                  <a:cs typeface="Times New Roman" panose="02020603050405020304" pitchFamily="18" charset="0"/>
                </a:rPr>
                <a:t>a</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b="1" dirty="0">
                  <a:solidFill>
                    <a:srgbClr val="000000"/>
                  </a:solidFill>
                  <a:latin typeface="Times New Roman" panose="02020603050405020304" pitchFamily="18" charset="0"/>
                  <a:cs typeface="Times New Roman" panose="02020603050405020304" pitchFamily="18" charset="0"/>
                </a:rPr>
                <a:t>b</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0,</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zh-CN" altLang="zh-CN" sz="2800" dirty="0">
                  <a:solidFill>
                    <a:srgbClr val="000000"/>
                  </a:solidFill>
                  <a:latin typeface="Times New Roman" panose="02020603050405020304" pitchFamily="18" charset="0"/>
                  <a:cs typeface="Times New Roman" panose="02020603050405020304" pitchFamily="18" charset="0"/>
                </a:rPr>
                <a:t>则</a:t>
              </a:r>
              <a:r>
                <a:rPr lang="en-US" altLang="zh-CN" sz="2800" b="1" dirty="0">
                  <a:solidFill>
                    <a:srgbClr val="000000"/>
                  </a:solidFill>
                  <a:latin typeface="Times New Roman" panose="02020603050405020304" pitchFamily="18" charset="0"/>
                  <a:cs typeface="Times New Roman" panose="02020603050405020304" pitchFamily="18" charset="0"/>
                </a:rPr>
                <a:t>b</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b="1" dirty="0">
                  <a:solidFill>
                    <a:srgbClr val="000000"/>
                  </a:solidFill>
                  <a:latin typeface="Times New Roman" panose="02020603050405020304" pitchFamily="18" charset="0"/>
                  <a:cs typeface="Times New Roman" panose="02020603050405020304" pitchFamily="18" charset="0"/>
                </a:rPr>
                <a:t>0</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不合题意</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舍去</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或</a:t>
              </a:r>
              <a:r>
                <a:rPr lang="en-US" altLang="zh-CN" sz="2800" dirty="0">
                  <a:solidFill>
                    <a:srgbClr val="000000"/>
                  </a:solidFill>
                  <a:latin typeface="Times New Roman" panose="02020603050405020304" pitchFamily="18" charset="0"/>
                  <a:cs typeface="Times New Roman" panose="02020603050405020304" pitchFamily="18" charset="0"/>
                </a:rPr>
                <a:t>2</a:t>
              </a:r>
              <a:r>
                <a:rPr lang="en-US" altLang="zh-CN" sz="2800" b="1" dirty="0">
                  <a:solidFill>
                    <a:srgbClr val="000000"/>
                  </a:solidFill>
                  <a:latin typeface="Times New Roman" panose="02020603050405020304" pitchFamily="18" charset="0"/>
                  <a:cs typeface="Times New Roman" panose="02020603050405020304" pitchFamily="18" charset="0"/>
                </a:rPr>
                <a:t>a</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b="1" dirty="0">
                  <a:solidFill>
                    <a:srgbClr val="000000"/>
                  </a:solidFill>
                  <a:latin typeface="Times New Roman" panose="02020603050405020304" pitchFamily="18" charset="0"/>
                  <a:cs typeface="Times New Roman" panose="02020603050405020304" pitchFamily="18" charset="0"/>
                </a:rPr>
                <a:t>b</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b="1" dirty="0">
                  <a:solidFill>
                    <a:srgbClr val="000000"/>
                  </a:solidFill>
                  <a:latin typeface="Times New Roman" panose="02020603050405020304" pitchFamily="18" charset="0"/>
                  <a:cs typeface="Times New Roman" panose="02020603050405020304" pitchFamily="18" charset="0"/>
                </a:rPr>
                <a:t>0</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zh-CN" altLang="zh-CN" sz="2800" dirty="0">
                  <a:solidFill>
                    <a:srgbClr val="000000"/>
                  </a:solidFill>
                  <a:latin typeface="Times New Roman" panose="02020603050405020304" pitchFamily="18" charset="0"/>
                  <a:cs typeface="Times New Roman" panose="02020603050405020304" pitchFamily="18" charset="0"/>
                </a:rPr>
                <a:t>由</a:t>
              </a:r>
              <a:r>
                <a:rPr lang="en-US" altLang="zh-CN" sz="2800" dirty="0">
                  <a:solidFill>
                    <a:srgbClr val="000000"/>
                  </a:solidFill>
                  <a:latin typeface="Times New Roman" panose="02020603050405020304" pitchFamily="18" charset="0"/>
                  <a:cs typeface="Times New Roman" panose="02020603050405020304" pitchFamily="18" charset="0"/>
                </a:rPr>
                <a:t>2</a:t>
              </a:r>
              <a:r>
                <a:rPr lang="en-US" altLang="zh-CN" sz="2800" b="1" dirty="0">
                  <a:solidFill>
                    <a:srgbClr val="000000"/>
                  </a:solidFill>
                  <a:latin typeface="Times New Roman" panose="02020603050405020304" pitchFamily="18" charset="0"/>
                  <a:cs typeface="Times New Roman" panose="02020603050405020304" pitchFamily="18" charset="0"/>
                </a:rPr>
                <a:t>a</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b="1" dirty="0">
                  <a:solidFill>
                    <a:srgbClr val="000000"/>
                  </a:solidFill>
                  <a:latin typeface="Times New Roman" panose="02020603050405020304" pitchFamily="18" charset="0"/>
                  <a:cs typeface="Times New Roman" panose="02020603050405020304" pitchFamily="18" charset="0"/>
                </a:rPr>
                <a:t>b</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b="1" dirty="0">
                  <a:solidFill>
                    <a:srgbClr val="000000"/>
                  </a:solidFill>
                  <a:latin typeface="Times New Roman" panose="02020603050405020304" pitchFamily="18" charset="0"/>
                  <a:cs typeface="Times New Roman" panose="02020603050405020304" pitchFamily="18" charset="0"/>
                </a:rPr>
                <a:t>0</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知</a:t>
              </a:r>
              <a:r>
                <a:rPr lang="en-US" altLang="zh-CN" sz="2800" b="1" dirty="0">
                  <a:solidFill>
                    <a:srgbClr val="000000"/>
                  </a:solidFill>
                  <a:latin typeface="Times New Roman" panose="02020603050405020304" pitchFamily="18" charset="0"/>
                  <a:cs typeface="Times New Roman" panose="02020603050405020304" pitchFamily="18" charset="0"/>
                </a:rPr>
                <a:t>a</a:t>
              </a:r>
              <a:r>
                <a:rPr lang="zh-CN" altLang="zh-CN" sz="2800" dirty="0">
                  <a:solidFill>
                    <a:srgbClr val="000000"/>
                  </a:solidFill>
                  <a:latin typeface="Times New Roman" panose="02020603050405020304" pitchFamily="18" charset="0"/>
                  <a:cs typeface="Times New Roman" panose="02020603050405020304" pitchFamily="18" charset="0"/>
                </a:rPr>
                <a:t>与</a:t>
              </a:r>
              <a:r>
                <a:rPr lang="en-US" altLang="zh-CN" sz="2800" b="1" dirty="0">
                  <a:solidFill>
                    <a:srgbClr val="000000"/>
                  </a:solidFill>
                  <a:latin typeface="Times New Roman" panose="02020603050405020304" pitchFamily="18" charset="0"/>
                  <a:cs typeface="Times New Roman" panose="02020603050405020304" pitchFamily="18" charset="0"/>
                </a:rPr>
                <a:t>b</a:t>
              </a:r>
              <a:r>
                <a:rPr lang="zh-CN" altLang="zh-CN" sz="2800" dirty="0">
                  <a:solidFill>
                    <a:srgbClr val="000000"/>
                  </a:solidFill>
                  <a:latin typeface="Times New Roman" panose="02020603050405020304" pitchFamily="18" charset="0"/>
                  <a:cs typeface="Times New Roman" panose="02020603050405020304" pitchFamily="18" charset="0"/>
                </a:rPr>
                <a:t>共线</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且</a:t>
              </a:r>
              <a:r>
                <a:rPr lang="en-US" altLang="zh-CN" sz="2800" b="1" dirty="0">
                  <a:solidFill>
                    <a:srgbClr val="000000"/>
                  </a:solidFill>
                  <a:latin typeface="Times New Roman" panose="02020603050405020304" pitchFamily="18" charset="0"/>
                  <a:cs typeface="Times New Roman" panose="02020603050405020304" pitchFamily="18" charset="0"/>
                </a:rPr>
                <a:t>a</a:t>
              </a:r>
              <a:r>
                <a:rPr lang="zh-CN" altLang="zh-CN" sz="2800" dirty="0">
                  <a:solidFill>
                    <a:srgbClr val="000000"/>
                  </a:solidFill>
                  <a:latin typeface="Times New Roman" panose="02020603050405020304" pitchFamily="18" charset="0"/>
                  <a:cs typeface="Times New Roman" panose="02020603050405020304" pitchFamily="18" charset="0"/>
                </a:rPr>
                <a:t>与</a:t>
              </a:r>
              <a:r>
                <a:rPr lang="en-US" altLang="zh-CN" sz="2800" b="1" dirty="0">
                  <a:solidFill>
                    <a:srgbClr val="000000"/>
                  </a:solidFill>
                  <a:latin typeface="Times New Roman" panose="02020603050405020304" pitchFamily="18" charset="0"/>
                  <a:cs typeface="Times New Roman" panose="02020603050405020304" pitchFamily="18" charset="0"/>
                </a:rPr>
                <a:t>b</a:t>
              </a:r>
              <a:r>
                <a:rPr lang="zh-CN" altLang="zh-CN" sz="2800" dirty="0">
                  <a:solidFill>
                    <a:srgbClr val="000000"/>
                  </a:solidFill>
                  <a:latin typeface="Times New Roman" panose="02020603050405020304" pitchFamily="18" charset="0"/>
                  <a:cs typeface="Times New Roman" panose="02020603050405020304" pitchFamily="18" charset="0"/>
                </a:rPr>
                <a:t>方向相同</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zh-CN" altLang="zh-CN" sz="2800" dirty="0">
                  <a:solidFill>
                    <a:srgbClr val="000000"/>
                  </a:solidFill>
                  <a:latin typeface="Times New Roman" panose="02020603050405020304" pitchFamily="18" charset="0"/>
                  <a:cs typeface="Times New Roman" panose="02020603050405020304" pitchFamily="18" charset="0"/>
                </a:rPr>
                <a:t>因此</a:t>
              </a:r>
              <a:r>
                <a:rPr lang="en-US" altLang="zh-CN" sz="2800" b="1" dirty="0">
                  <a:solidFill>
                    <a:srgbClr val="000000"/>
                  </a:solidFill>
                  <a:latin typeface="Times New Roman" panose="02020603050405020304" pitchFamily="18" charset="0"/>
                  <a:cs typeface="Times New Roman" panose="02020603050405020304" pitchFamily="18" charset="0"/>
                </a:rPr>
                <a:t>a</a:t>
              </a:r>
              <a:r>
                <a:rPr lang="zh-CN" altLang="zh-CN" sz="2800" dirty="0">
                  <a:solidFill>
                    <a:srgbClr val="000000"/>
                  </a:solidFill>
                  <a:latin typeface="Times New Roman" panose="02020603050405020304" pitchFamily="18" charset="0"/>
                  <a:cs typeface="Times New Roman" panose="02020603050405020304" pitchFamily="18" charset="0"/>
                </a:rPr>
                <a:t>与</a:t>
              </a:r>
              <a:r>
                <a:rPr lang="en-US" altLang="zh-CN" sz="2800" b="1" dirty="0">
                  <a:solidFill>
                    <a:srgbClr val="000000"/>
                  </a:solidFill>
                  <a:latin typeface="Times New Roman" panose="02020603050405020304" pitchFamily="18" charset="0"/>
                  <a:cs typeface="Times New Roman" panose="02020603050405020304" pitchFamily="18" charset="0"/>
                </a:rPr>
                <a:t>b</a:t>
              </a:r>
              <a:r>
                <a:rPr lang="zh-CN" altLang="zh-CN" sz="2800" dirty="0">
                  <a:solidFill>
                    <a:srgbClr val="000000"/>
                  </a:solidFill>
                  <a:latin typeface="Times New Roman" panose="02020603050405020304" pitchFamily="18" charset="0"/>
                  <a:cs typeface="Times New Roman" panose="02020603050405020304" pitchFamily="18" charset="0"/>
                </a:rPr>
                <a:t>的夹角为</a:t>
              </a:r>
              <a:r>
                <a:rPr lang="en-US" altLang="zh-CN" sz="2800" dirty="0">
                  <a:solidFill>
                    <a:srgbClr val="000000"/>
                  </a:solidFill>
                  <a:latin typeface="Times New Roman" panose="02020603050405020304" pitchFamily="18" charset="0"/>
                  <a:cs typeface="Times New Roman" panose="02020603050405020304" pitchFamily="18" charset="0"/>
                </a:rPr>
                <a:t>0</a:t>
              </a:r>
              <a:r>
                <a:rPr lang="en-US" altLang="zh-CN" sz="2800" dirty="0">
                  <a:solidFill>
                    <a:srgbClr val="000000"/>
                  </a:solidFill>
                  <a:latin typeface="宋体" panose="02010600030101010101" pitchFamily="2" charset="-122"/>
                  <a:ea typeface="方正书宋_GBK" panose="03000509000000000000" pitchFamily="65" charset="-122"/>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effectLst/>
                <a:latin typeface="NEU-BZ-S92"/>
                <a:ea typeface="方正书宋_GBK" panose="03000509000000000000" pitchFamily="65" charset="-122"/>
                <a:cs typeface="Times New Roman" panose="02020603050405020304" pitchFamily="18" charset="0"/>
              </a:endParaRPr>
            </a:p>
          </p:txBody>
        </p:sp>
      </p:grpSp>
    </p:spTree>
    <p:extLst>
      <p:ext uri="{BB962C8B-B14F-4D97-AF65-F5344CB8AC3E}">
        <p14:creationId xmlns:p14="http://schemas.microsoft.com/office/powerpoint/2010/main" val="424954606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81000" y="1568766"/>
            <a:ext cx="11430000" cy="2272673"/>
          </a:xfrm>
          <a:prstGeom prst="rect">
            <a:avLst/>
          </a:prstGeom>
        </p:spPr>
        <p:txBody>
          <a:bodyPr>
            <a:spAutoFit/>
          </a:bodyPr>
          <a:lstStyle/>
          <a:p>
            <a:pPr indent="279400">
              <a:lnSpc>
                <a:spcPct val="130000"/>
              </a:lnSpc>
              <a:spcAft>
                <a:spcPts val="0"/>
              </a:spcAft>
              <a:tabLst>
                <a:tab pos="1188085" algn="l"/>
                <a:tab pos="2163445" algn="l"/>
                <a:tab pos="3142615" algn="l"/>
                <a:tab pos="4190365" algn="l"/>
              </a:tabLst>
            </a:pPr>
            <a:r>
              <a:rPr lang="zh-CN" altLang="zh-CN" sz="2800" dirty="0">
                <a:solidFill>
                  <a:srgbClr val="000000"/>
                </a:solidFill>
                <a:latin typeface="Times New Roman" panose="02020603050405020304" pitchFamily="18" charset="0"/>
                <a:cs typeface="Times New Roman" panose="02020603050405020304" pitchFamily="18" charset="0"/>
              </a:rPr>
              <a:t>以上解答过程中都有哪些错误</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出错的原因是什么</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你如何改正</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你如何防范</a:t>
            </a:r>
            <a:r>
              <a:rPr lang="en-US" altLang="zh-CN" sz="2800"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zh-CN"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提示</a:t>
            </a:r>
            <a:r>
              <a:rPr lang="en-US"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本题误用实数的运算性质</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即对于实数</a:t>
            </a:r>
            <a:r>
              <a:rPr lang="en-US" altLang="zh-CN" sz="2800" i="1" dirty="0" err="1">
                <a:solidFill>
                  <a:srgbClr val="000000"/>
                </a:solidFill>
                <a:latin typeface="Times New Roman" panose="02020603050405020304" pitchFamily="18" charset="0"/>
                <a:cs typeface="Times New Roman" panose="02020603050405020304" pitchFamily="18" charset="0"/>
              </a:rPr>
              <a:t>a</a:t>
            </a:r>
            <a:r>
              <a:rPr lang="en-US" altLang="zh-CN" sz="2800" dirty="0" err="1">
                <a:solidFill>
                  <a:srgbClr val="000000"/>
                </a:solidFill>
                <a:latin typeface="Times New Roman" panose="02020603050405020304" pitchFamily="18" charset="0"/>
                <a:cs typeface="Times New Roman" panose="02020603050405020304" pitchFamily="18" charset="0"/>
              </a:rPr>
              <a:t>,</a:t>
            </a:r>
            <a:r>
              <a:rPr lang="en-US" altLang="zh-CN" sz="2800" i="1" dirty="0" err="1">
                <a:solidFill>
                  <a:srgbClr val="000000"/>
                </a:solidFill>
                <a:latin typeface="Times New Roman" panose="02020603050405020304" pitchFamily="18" charset="0"/>
                <a:cs typeface="Times New Roman" panose="02020603050405020304" pitchFamily="18" charset="0"/>
              </a:rPr>
              <a:t>b</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若</a:t>
            </a:r>
            <a:r>
              <a:rPr lang="en-US" altLang="zh-CN" sz="2800" i="1" dirty="0" err="1">
                <a:solidFill>
                  <a:srgbClr val="000000"/>
                </a:solidFill>
                <a:latin typeface="Times New Roman" panose="02020603050405020304" pitchFamily="18" charset="0"/>
                <a:cs typeface="Times New Roman" panose="02020603050405020304" pitchFamily="18" charset="0"/>
              </a:rPr>
              <a:t>ab</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0,</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则必有</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dirty="0">
                <a:solidFill>
                  <a:srgbClr val="000000"/>
                </a:solidFill>
                <a:latin typeface="Times New Roman" panose="02020603050405020304" pitchFamily="18" charset="0"/>
                <a:cs typeface="Times New Roman" panose="02020603050405020304" pitchFamily="18" charset="0"/>
              </a:rPr>
              <a:t>0</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或</a:t>
            </a:r>
            <a:r>
              <a:rPr lang="en-US" altLang="zh-CN" sz="2800" i="1" dirty="0">
                <a:solidFill>
                  <a:srgbClr val="000000"/>
                </a:solidFill>
                <a:latin typeface="Times New Roman" panose="02020603050405020304" pitchFamily="18" charset="0"/>
                <a:cs typeface="Times New Roman" panose="02020603050405020304" pitchFamily="18" charset="0"/>
              </a:rPr>
              <a:t>b=</a:t>
            </a:r>
            <a:r>
              <a:rPr lang="en-US" altLang="zh-CN" sz="2800" dirty="0">
                <a:solidFill>
                  <a:srgbClr val="000000"/>
                </a:solidFill>
                <a:latin typeface="Times New Roman" panose="02020603050405020304" pitchFamily="18" charset="0"/>
                <a:cs typeface="Times New Roman" panose="02020603050405020304" pitchFamily="18" charset="0"/>
              </a:rPr>
              <a:t>0</a:t>
            </a:r>
            <a:r>
              <a:rPr lang="en-US" altLang="zh-CN" sz="2800" i="1"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但对于向量</a:t>
            </a:r>
            <a:r>
              <a:rPr lang="en-US" altLang="zh-CN" sz="2800" b="1" dirty="0">
                <a:solidFill>
                  <a:srgbClr val="000000"/>
                </a:solidFill>
                <a:latin typeface="Times New Roman" panose="02020603050405020304" pitchFamily="18" charset="0"/>
                <a:cs typeface="Times New Roman" panose="02020603050405020304" pitchFamily="18" charset="0"/>
              </a:rPr>
              <a:t>a</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与</a:t>
            </a:r>
            <a:r>
              <a:rPr lang="en-US" altLang="zh-CN" sz="2800" b="1" dirty="0">
                <a:solidFill>
                  <a:srgbClr val="000000"/>
                </a:solidFill>
                <a:latin typeface="Times New Roman" panose="02020603050405020304" pitchFamily="18" charset="0"/>
                <a:cs typeface="Times New Roman" panose="02020603050405020304" pitchFamily="18" charset="0"/>
              </a:rPr>
              <a:t>b</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若满足</a:t>
            </a:r>
            <a:r>
              <a:rPr lang="en-US" altLang="zh-CN" sz="2800" b="1" dirty="0" err="1">
                <a:solidFill>
                  <a:srgbClr val="000000"/>
                </a:solidFill>
                <a:latin typeface="Times New Roman" panose="02020603050405020304" pitchFamily="18" charset="0"/>
                <a:cs typeface="Times New Roman" panose="02020603050405020304" pitchFamily="18" charset="0"/>
              </a:rPr>
              <a:t>a</a:t>
            </a:r>
            <a:r>
              <a:rPr lang="en-US" altLang="zh-CN" sz="2800" dirty="0" err="1">
                <a:solidFill>
                  <a:srgbClr val="000000"/>
                </a:solidFill>
                <a:latin typeface="Times New Roman" panose="02020603050405020304" pitchFamily="18" charset="0"/>
                <a:cs typeface="Times New Roman" panose="02020603050405020304" pitchFamily="18" charset="0"/>
              </a:rPr>
              <a:t>·</a:t>
            </a:r>
            <a:r>
              <a:rPr lang="en-US" altLang="zh-CN" sz="2800" b="1" dirty="0" err="1">
                <a:solidFill>
                  <a:srgbClr val="000000"/>
                </a:solidFill>
                <a:latin typeface="Times New Roman" panose="02020603050405020304" pitchFamily="18" charset="0"/>
                <a:cs typeface="Times New Roman" panose="02020603050405020304" pitchFamily="18" charset="0"/>
              </a:rPr>
              <a:t>b</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0,</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则不一定有</a:t>
            </a:r>
            <a:r>
              <a:rPr lang="en-US" altLang="zh-CN" sz="2800" b="1" dirty="0">
                <a:solidFill>
                  <a:srgbClr val="000000"/>
                </a:solidFill>
                <a:latin typeface="Times New Roman" panose="02020603050405020304" pitchFamily="18" charset="0"/>
                <a:cs typeface="Times New Roman" panose="02020603050405020304" pitchFamily="18" charset="0"/>
              </a:rPr>
              <a:t>a</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b="1" dirty="0">
                <a:solidFill>
                  <a:srgbClr val="000000"/>
                </a:solidFill>
                <a:latin typeface="Times New Roman" panose="02020603050405020304" pitchFamily="18" charset="0"/>
                <a:cs typeface="Times New Roman" panose="02020603050405020304" pitchFamily="18" charset="0"/>
              </a:rPr>
              <a:t>0</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或</a:t>
            </a:r>
            <a:r>
              <a:rPr lang="en-US" altLang="zh-CN" sz="2800" b="1" dirty="0">
                <a:solidFill>
                  <a:srgbClr val="000000"/>
                </a:solidFill>
                <a:latin typeface="Times New Roman" panose="02020603050405020304" pitchFamily="18" charset="0"/>
                <a:cs typeface="Times New Roman" panose="02020603050405020304" pitchFamily="18" charset="0"/>
              </a:rPr>
              <a:t>b</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b="1" dirty="0">
                <a:solidFill>
                  <a:srgbClr val="000000"/>
                </a:solidFill>
                <a:latin typeface="Times New Roman" panose="02020603050405020304" pitchFamily="18" charset="0"/>
                <a:cs typeface="Times New Roman" panose="02020603050405020304" pitchFamily="18" charset="0"/>
              </a:rPr>
              <a:t>0</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effectLst/>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281285578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animEffect transition="in" filter="wipe(down)">
                                      <p:cBhvr>
                                        <p:cTn id="7" dur="500"/>
                                        <p:tgtEl>
                                          <p:spTgt spid="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组合 5"/>
          <p:cNvGrpSpPr/>
          <p:nvPr/>
        </p:nvGrpSpPr>
        <p:grpSpPr>
          <a:xfrm>
            <a:off x="51954" y="327211"/>
            <a:ext cx="11759046" cy="5424913"/>
            <a:chOff x="51954" y="451903"/>
            <a:chExt cx="11759046" cy="5424913"/>
          </a:xfrm>
        </p:grpSpPr>
        <p:graphicFrame>
          <p:nvGraphicFramePr>
            <p:cNvPr id="2" name="对象 1"/>
            <p:cNvGraphicFramePr>
              <a:graphicFrameLocks noChangeAspect="1"/>
            </p:cNvGraphicFramePr>
            <p:nvPr>
              <p:extLst>
                <p:ext uri="{D42A27DB-BD31-4B8C-83A1-F6EECF244321}">
                  <p14:modId xmlns:p14="http://schemas.microsoft.com/office/powerpoint/2010/main" val="1411178445"/>
                </p:ext>
              </p:extLst>
            </p:nvPr>
          </p:nvGraphicFramePr>
          <p:xfrm>
            <a:off x="62345" y="451903"/>
            <a:ext cx="11430000" cy="2010264"/>
          </p:xfrm>
          <a:graphic>
            <a:graphicData uri="http://schemas.openxmlformats.org/presentationml/2006/ole">
              <mc:AlternateContent xmlns:mc="http://schemas.openxmlformats.org/markup-compatibility/2006">
                <mc:Choice xmlns:v="urn:schemas-microsoft-com:vml" Requires="v">
                  <p:oleObj spid="_x0000_s28714" name="文档" r:id="rId3" imgW="4510061" imgH="793212" progId="Word.Document.12">
                    <p:embed/>
                  </p:oleObj>
                </mc:Choice>
                <mc:Fallback>
                  <p:oleObj name="文档" r:id="rId3" imgW="4510061" imgH="793212" progId="Word.Document.12">
                    <p:embed/>
                    <p:pic>
                      <p:nvPicPr>
                        <p:cNvPr id="0" name=""/>
                        <p:cNvPicPr/>
                        <p:nvPr/>
                      </p:nvPicPr>
                      <p:blipFill>
                        <a:blip r:embed="rId4"/>
                        <a:stretch>
                          <a:fillRect/>
                        </a:stretch>
                      </p:blipFill>
                      <p:spPr>
                        <a:xfrm>
                          <a:off x="62345" y="451903"/>
                          <a:ext cx="11430000" cy="2010264"/>
                        </a:xfrm>
                        <a:prstGeom prst="rect">
                          <a:avLst/>
                        </a:prstGeom>
                      </p:spPr>
                    </p:pic>
                  </p:oleObj>
                </mc:Fallback>
              </mc:AlternateContent>
            </a:graphicData>
          </a:graphic>
        </p:graphicFrame>
        <p:sp>
          <p:nvSpPr>
            <p:cNvPr id="3" name="矩形 2"/>
            <p:cNvSpPr>
              <a:spLocks noChangeAspect="1"/>
            </p:cNvSpPr>
            <p:nvPr/>
          </p:nvSpPr>
          <p:spPr>
            <a:xfrm>
              <a:off x="381000" y="2503731"/>
              <a:ext cx="11430000" cy="1712520"/>
            </a:xfrm>
            <a:prstGeom prst="rect">
              <a:avLst/>
            </a:prstGeom>
          </p:spPr>
          <p:txBody>
            <a:bodyPr>
              <a:spAutoFit/>
            </a:bodyPr>
            <a:lstStyle/>
            <a:p>
              <a:pPr indent="279400">
                <a:lnSpc>
                  <a:spcPct val="130000"/>
                </a:lnSpc>
                <a:spcAft>
                  <a:spcPts val="0"/>
                </a:spcAft>
                <a:tabLst>
                  <a:tab pos="1188085" algn="l"/>
                  <a:tab pos="2163445" algn="l"/>
                  <a:tab pos="3142615" algn="l"/>
                  <a:tab pos="4190365" algn="l"/>
                </a:tabLst>
              </a:pPr>
              <a:r>
                <a:rPr lang="zh-CN" altLang="zh-CN" sz="2800" dirty="0">
                  <a:solidFill>
                    <a:srgbClr val="000000"/>
                  </a:solidFill>
                  <a:latin typeface="Times New Roman" panose="02020603050405020304" pitchFamily="18" charset="0"/>
                  <a:cs typeface="Times New Roman" panose="02020603050405020304" pitchFamily="18" charset="0"/>
                </a:rPr>
                <a:t>两式相减</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得</a:t>
              </a:r>
              <a:r>
                <a:rPr lang="en-US" altLang="zh-CN" sz="2800" dirty="0">
                  <a:solidFill>
                    <a:srgbClr val="000000"/>
                  </a:solidFill>
                  <a:latin typeface="Times New Roman" panose="02020603050405020304" pitchFamily="18" charset="0"/>
                  <a:cs typeface="Times New Roman" panose="02020603050405020304" pitchFamily="18" charset="0"/>
                </a:rPr>
                <a:t>46</a:t>
              </a:r>
              <a:r>
                <a:rPr lang="en-US" altLang="zh-CN" sz="2800" b="1" dirty="0">
                  <a:solidFill>
                    <a:srgbClr val="000000"/>
                  </a:solidFill>
                  <a:latin typeface="Times New Roman" panose="02020603050405020304" pitchFamily="18" charset="0"/>
                  <a:cs typeface="Times New Roman" panose="02020603050405020304" pitchFamily="18" charset="0"/>
                </a:rPr>
                <a:t>a</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b="1" dirty="0">
                  <a:solidFill>
                    <a:srgbClr val="000000"/>
                  </a:solidFill>
                  <a:latin typeface="Times New Roman" panose="02020603050405020304" pitchFamily="18" charset="0"/>
                  <a:cs typeface="Times New Roman" panose="02020603050405020304" pitchFamily="18" charset="0"/>
                </a:rPr>
                <a:t>b</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23</a:t>
              </a:r>
              <a:r>
                <a:rPr lang="en-US" altLang="zh-CN" sz="2800" b="1" dirty="0">
                  <a:solidFill>
                    <a:srgbClr val="000000"/>
                  </a:solidFill>
                  <a:latin typeface="Times New Roman" panose="02020603050405020304" pitchFamily="18" charset="0"/>
                  <a:cs typeface="Times New Roman" panose="02020603050405020304" pitchFamily="18" charset="0"/>
                </a:rPr>
                <a:t>b</a:t>
              </a:r>
              <a:r>
                <a:rPr lang="en-US" altLang="zh-CN" sz="2800" baseline="300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0,</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zh-CN" altLang="zh-CN" sz="2800" dirty="0">
                  <a:solidFill>
                    <a:srgbClr val="000000"/>
                  </a:solidFill>
                  <a:latin typeface="Times New Roman" panose="02020603050405020304" pitchFamily="18" charset="0"/>
                  <a:cs typeface="Times New Roman" panose="02020603050405020304" pitchFamily="18" charset="0"/>
                </a:rPr>
                <a:t>即</a:t>
              </a:r>
              <a:r>
                <a:rPr lang="en-US" altLang="zh-CN" sz="2800" b="1" dirty="0">
                  <a:solidFill>
                    <a:srgbClr val="000000"/>
                  </a:solidFill>
                  <a:latin typeface="Times New Roman" panose="02020603050405020304" pitchFamily="18" charset="0"/>
                  <a:cs typeface="Times New Roman" panose="02020603050405020304" pitchFamily="18" charset="0"/>
                </a:rPr>
                <a:t>b</a:t>
              </a:r>
              <a:r>
                <a:rPr lang="en-US" altLang="zh-CN" sz="2800" baseline="300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2</a:t>
              </a:r>
              <a:r>
                <a:rPr lang="en-US" altLang="zh-CN" sz="2800" b="1" dirty="0">
                  <a:solidFill>
                    <a:srgbClr val="000000"/>
                  </a:solidFill>
                  <a:latin typeface="Times New Roman" panose="02020603050405020304" pitchFamily="18" charset="0"/>
                  <a:cs typeface="Times New Roman" panose="02020603050405020304" pitchFamily="18" charset="0"/>
                </a:rPr>
                <a:t>a</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b="1" dirty="0">
                  <a:solidFill>
                    <a:srgbClr val="000000"/>
                  </a:solidFill>
                  <a:latin typeface="Times New Roman" panose="02020603050405020304" pitchFamily="18" charset="0"/>
                  <a:cs typeface="Times New Roman" panose="02020603050405020304" pitchFamily="18" charset="0"/>
                </a:rPr>
                <a:t>b</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代入</a:t>
              </a:r>
              <a:r>
                <a:rPr lang="en-US" altLang="zh-CN" sz="2800" dirty="0">
                  <a:solidFill>
                    <a:srgbClr val="000000"/>
                  </a:solidFill>
                  <a:latin typeface="Times New Roman" panose="02020603050405020304" pitchFamily="18" charset="0"/>
                  <a:cs typeface="Times New Roman" panose="02020603050405020304" pitchFamily="18" charset="0"/>
                </a:rPr>
                <a:t>7</a:t>
              </a:r>
              <a:r>
                <a:rPr lang="en-US" altLang="zh-CN" sz="2800" b="1" dirty="0">
                  <a:solidFill>
                    <a:srgbClr val="000000"/>
                  </a:solidFill>
                  <a:latin typeface="Times New Roman" panose="02020603050405020304" pitchFamily="18" charset="0"/>
                  <a:cs typeface="Times New Roman" panose="02020603050405020304" pitchFamily="18" charset="0"/>
                </a:rPr>
                <a:t>a</a:t>
              </a:r>
              <a:r>
                <a:rPr lang="en-US" altLang="zh-CN" sz="2800" baseline="300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16</a:t>
              </a:r>
              <a:r>
                <a:rPr lang="en-US" altLang="zh-CN" sz="2800" b="1" dirty="0">
                  <a:solidFill>
                    <a:srgbClr val="000000"/>
                  </a:solidFill>
                  <a:latin typeface="Times New Roman" panose="02020603050405020304" pitchFamily="18" charset="0"/>
                  <a:cs typeface="Times New Roman" panose="02020603050405020304" pitchFamily="18" charset="0"/>
                </a:rPr>
                <a:t>a</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b="1" dirty="0">
                  <a:solidFill>
                    <a:srgbClr val="000000"/>
                  </a:solidFill>
                  <a:latin typeface="Times New Roman" panose="02020603050405020304" pitchFamily="18" charset="0"/>
                  <a:cs typeface="Times New Roman" panose="02020603050405020304" pitchFamily="18" charset="0"/>
                </a:rPr>
                <a:t>b</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15</a:t>
              </a:r>
              <a:r>
                <a:rPr lang="en-US" altLang="zh-CN" sz="2800" b="1" dirty="0">
                  <a:solidFill>
                    <a:srgbClr val="000000"/>
                  </a:solidFill>
                  <a:latin typeface="Times New Roman" panose="02020603050405020304" pitchFamily="18" charset="0"/>
                  <a:cs typeface="Times New Roman" panose="02020603050405020304" pitchFamily="18" charset="0"/>
                </a:rPr>
                <a:t>b</a:t>
              </a:r>
              <a:r>
                <a:rPr lang="en-US" altLang="zh-CN" sz="2800" baseline="300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0,</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zh-CN" altLang="zh-CN" sz="2800" dirty="0">
                  <a:solidFill>
                    <a:srgbClr val="000000"/>
                  </a:solidFill>
                  <a:latin typeface="Times New Roman" panose="02020603050405020304" pitchFamily="18" charset="0"/>
                  <a:cs typeface="Times New Roman" panose="02020603050405020304" pitchFamily="18" charset="0"/>
                </a:rPr>
                <a:t>得</a:t>
              </a:r>
              <a:r>
                <a:rPr lang="en-US" altLang="zh-CN" sz="2800" b="1" dirty="0">
                  <a:solidFill>
                    <a:srgbClr val="000000"/>
                  </a:solidFill>
                  <a:latin typeface="Times New Roman" panose="02020603050405020304" pitchFamily="18" charset="0"/>
                  <a:cs typeface="Times New Roman" panose="02020603050405020304" pitchFamily="18" charset="0"/>
                </a:rPr>
                <a:t>a</a:t>
              </a:r>
              <a:r>
                <a:rPr lang="en-US" altLang="zh-CN" sz="2800" baseline="300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b="1" dirty="0">
                  <a:solidFill>
                    <a:srgbClr val="000000"/>
                  </a:solidFill>
                  <a:latin typeface="Times New Roman" panose="02020603050405020304" pitchFamily="18" charset="0"/>
                  <a:cs typeface="Times New Roman" panose="02020603050405020304" pitchFamily="18" charset="0"/>
                </a:rPr>
                <a:t>b</a:t>
              </a:r>
              <a:r>
                <a:rPr lang="en-US" altLang="zh-CN" sz="2800" baseline="300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2</a:t>
              </a:r>
              <a:r>
                <a:rPr lang="en-US" altLang="zh-CN" sz="2800" b="1" dirty="0">
                  <a:solidFill>
                    <a:srgbClr val="000000"/>
                  </a:solidFill>
                  <a:latin typeface="Times New Roman" panose="02020603050405020304" pitchFamily="18" charset="0"/>
                  <a:cs typeface="Times New Roman" panose="02020603050405020304" pitchFamily="18" charset="0"/>
                </a:rPr>
                <a:t>a</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b="1" dirty="0">
                  <a:solidFill>
                    <a:srgbClr val="000000"/>
                  </a:solidFill>
                  <a:latin typeface="Times New Roman" panose="02020603050405020304" pitchFamily="18" charset="0"/>
                  <a:cs typeface="Times New Roman" panose="02020603050405020304" pitchFamily="18" charset="0"/>
                </a:rPr>
                <a:t>b</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effectLst/>
                <a:latin typeface="NEU-BZ-S92"/>
                <a:ea typeface="方正书宋_GBK" panose="03000509000000000000" pitchFamily="65" charset="-122"/>
                <a:cs typeface="Times New Roman" panose="02020603050405020304" pitchFamily="18" charset="0"/>
              </a:endParaRPr>
            </a:p>
          </p:txBody>
        </p:sp>
        <p:graphicFrame>
          <p:nvGraphicFramePr>
            <p:cNvPr id="4" name="对象 3"/>
            <p:cNvGraphicFramePr>
              <a:graphicFrameLocks noChangeAspect="1"/>
            </p:cNvGraphicFramePr>
            <p:nvPr>
              <p:extLst>
                <p:ext uri="{D42A27DB-BD31-4B8C-83A1-F6EECF244321}">
                  <p14:modId xmlns:p14="http://schemas.microsoft.com/office/powerpoint/2010/main" val="1615459547"/>
                </p:ext>
              </p:extLst>
            </p:nvPr>
          </p:nvGraphicFramePr>
          <p:xfrm>
            <a:off x="51954" y="4185078"/>
            <a:ext cx="11430000" cy="1005588"/>
          </p:xfrm>
          <a:graphic>
            <a:graphicData uri="http://schemas.openxmlformats.org/presentationml/2006/ole">
              <mc:AlternateContent xmlns:mc="http://schemas.openxmlformats.org/markup-compatibility/2006">
                <mc:Choice xmlns:v="urn:schemas-microsoft-com:vml" Requires="v">
                  <p:oleObj spid="_x0000_s28715" name="文档" r:id="rId5" imgW="4510061" imgH="396786" progId="Word.Document.12">
                    <p:embed/>
                  </p:oleObj>
                </mc:Choice>
                <mc:Fallback>
                  <p:oleObj name="文档" r:id="rId5" imgW="4510061" imgH="396786" progId="Word.Document.12">
                    <p:embed/>
                    <p:pic>
                      <p:nvPicPr>
                        <p:cNvPr id="0" name=""/>
                        <p:cNvPicPr/>
                        <p:nvPr/>
                      </p:nvPicPr>
                      <p:blipFill>
                        <a:blip r:embed="rId6"/>
                        <a:stretch>
                          <a:fillRect/>
                        </a:stretch>
                      </p:blipFill>
                      <p:spPr>
                        <a:xfrm>
                          <a:off x="51954" y="4185078"/>
                          <a:ext cx="11430000" cy="1005588"/>
                        </a:xfrm>
                        <a:prstGeom prst="rect">
                          <a:avLst/>
                        </a:prstGeom>
                      </p:spPr>
                    </p:pic>
                  </p:oleObj>
                </mc:Fallback>
              </mc:AlternateContent>
            </a:graphicData>
          </a:graphic>
        </p:graphicFrame>
        <p:sp>
          <p:nvSpPr>
            <p:cNvPr id="5" name="矩形 4"/>
            <p:cNvSpPr>
              <a:spLocks noChangeAspect="1"/>
            </p:cNvSpPr>
            <p:nvPr/>
          </p:nvSpPr>
          <p:spPr>
            <a:xfrm>
              <a:off x="381000" y="5224330"/>
              <a:ext cx="4976042" cy="652486"/>
            </a:xfrm>
            <a:prstGeom prst="rect">
              <a:avLst/>
            </a:prstGeom>
          </p:spPr>
          <p:txBody>
            <a:bodyPr wrap="none">
              <a:spAutoFit/>
            </a:bodyPr>
            <a:lstStyle/>
            <a:p>
              <a:pPr indent="279400">
                <a:lnSpc>
                  <a:spcPct val="130000"/>
                </a:lnSpc>
                <a:spcAft>
                  <a:spcPts val="0"/>
                </a:spcAft>
                <a:tabLst>
                  <a:tab pos="1188085" algn="l"/>
                  <a:tab pos="2163445" algn="l"/>
                  <a:tab pos="3142615" algn="l"/>
                  <a:tab pos="4190365" algn="l"/>
                </a:tabLst>
              </a:pPr>
              <a:r>
                <a:rPr lang="zh-CN" altLang="zh-CN" sz="2800" dirty="0">
                  <a:solidFill>
                    <a:srgbClr val="000000"/>
                  </a:solidFill>
                  <a:latin typeface="Times New Roman" panose="02020603050405020304" pitchFamily="18" charset="0"/>
                  <a:cs typeface="Times New Roman" panose="02020603050405020304" pitchFamily="18" charset="0"/>
                </a:rPr>
                <a:t>因此向量</a:t>
              </a:r>
              <a:r>
                <a:rPr lang="en-US" altLang="zh-CN" sz="2800" b="1" dirty="0">
                  <a:solidFill>
                    <a:srgbClr val="000000"/>
                  </a:solidFill>
                  <a:latin typeface="Times New Roman" panose="02020603050405020304" pitchFamily="18" charset="0"/>
                  <a:cs typeface="Times New Roman" panose="02020603050405020304" pitchFamily="18" charset="0"/>
                </a:rPr>
                <a:t>a</a:t>
              </a:r>
              <a:r>
                <a:rPr lang="zh-CN" altLang="zh-CN" sz="2800" dirty="0">
                  <a:solidFill>
                    <a:srgbClr val="000000"/>
                  </a:solidFill>
                  <a:latin typeface="Times New Roman" panose="02020603050405020304" pitchFamily="18" charset="0"/>
                  <a:cs typeface="Times New Roman" panose="02020603050405020304" pitchFamily="18" charset="0"/>
                </a:rPr>
                <a:t>与</a:t>
              </a:r>
              <a:r>
                <a:rPr lang="en-US" altLang="zh-CN" sz="2800" b="1" dirty="0">
                  <a:solidFill>
                    <a:srgbClr val="000000"/>
                  </a:solidFill>
                  <a:latin typeface="Times New Roman" panose="02020603050405020304" pitchFamily="18" charset="0"/>
                  <a:cs typeface="Times New Roman" panose="02020603050405020304" pitchFamily="18" charset="0"/>
                </a:rPr>
                <a:t>b</a:t>
              </a:r>
              <a:r>
                <a:rPr lang="zh-CN" altLang="zh-CN" sz="2800" dirty="0">
                  <a:solidFill>
                    <a:srgbClr val="000000"/>
                  </a:solidFill>
                  <a:latin typeface="Times New Roman" panose="02020603050405020304" pitchFamily="18" charset="0"/>
                  <a:cs typeface="Times New Roman" panose="02020603050405020304" pitchFamily="18" charset="0"/>
                </a:rPr>
                <a:t>的夹角为</a:t>
              </a:r>
              <a:r>
                <a:rPr lang="en-US" altLang="zh-CN" sz="2800" dirty="0">
                  <a:solidFill>
                    <a:srgbClr val="000000"/>
                  </a:solidFill>
                  <a:latin typeface="Times New Roman" panose="02020603050405020304" pitchFamily="18" charset="0"/>
                  <a:cs typeface="Times New Roman" panose="02020603050405020304" pitchFamily="18" charset="0"/>
                </a:rPr>
                <a:t>60</a:t>
              </a:r>
              <a:r>
                <a:rPr lang="en-US" altLang="zh-CN" sz="2800" dirty="0" smtClean="0">
                  <a:solidFill>
                    <a:srgbClr val="000000"/>
                  </a:solidFill>
                  <a:latin typeface="宋体" panose="02010600030101010101" pitchFamily="2" charset="-122"/>
                  <a:ea typeface="方正书宋_GBK" panose="03000509000000000000" pitchFamily="65" charset="-122"/>
                  <a:cs typeface="Times New Roman" panose="02020603050405020304" pitchFamily="18" charset="0"/>
                </a:rPr>
                <a:t>°</a:t>
              </a:r>
              <a:r>
                <a:rPr lang="en-US" altLang="zh-CN" sz="2800" i="1" dirty="0" smtClean="0">
                  <a:solidFill>
                    <a:srgbClr val="000000"/>
                  </a:solidFill>
                  <a:latin typeface="Times New Roman" panose="02020603050405020304" pitchFamily="18" charset="0"/>
                  <a:cs typeface="Times New Roman" panose="02020603050405020304" pitchFamily="18" charset="0"/>
                </a:rPr>
                <a:t>. </a:t>
              </a:r>
              <a:endParaRPr lang="zh-CN" altLang="zh-CN" sz="2800" dirty="0">
                <a:solidFill>
                  <a:srgbClr val="000000"/>
                </a:solidFill>
                <a:effectLst/>
                <a:latin typeface="NEU-BZ-S92"/>
                <a:ea typeface="方正书宋_GBK" panose="03000509000000000000" pitchFamily="65" charset="-122"/>
                <a:cs typeface="Times New Roman" panose="02020603050405020304" pitchFamily="18" charset="0"/>
              </a:endParaRPr>
            </a:p>
          </p:txBody>
        </p:sp>
      </p:grpSp>
    </p:spTree>
    <p:extLst>
      <p:ext uri="{BB962C8B-B14F-4D97-AF65-F5344CB8AC3E}">
        <p14:creationId xmlns:p14="http://schemas.microsoft.com/office/powerpoint/2010/main" val="381710205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81000" y="1962467"/>
            <a:ext cx="11430000" cy="1772793"/>
          </a:xfrm>
          <a:prstGeom prst="rect">
            <a:avLst/>
          </a:prstGeom>
        </p:spPr>
        <p:txBody>
          <a:bodyPr>
            <a:spAutoFit/>
          </a:bodyPr>
          <a:lstStyle/>
          <a:p>
            <a:pPr indent="280670">
              <a:lnSpc>
                <a:spcPct val="130000"/>
              </a:lnSpc>
              <a:tabLst>
                <a:tab pos="1188085" algn="l"/>
                <a:tab pos="2163445" algn="l"/>
                <a:tab pos="3142615" algn="l"/>
                <a:tab pos="4190365" algn="l"/>
              </a:tabLst>
            </a:pPr>
            <a:r>
              <a:rPr lang="zh-CN" altLang="en-US" sz="2800" dirty="0">
                <a:solidFill>
                  <a:srgbClr val="000000"/>
                </a:solidFill>
                <a:latin typeface="黑体" panose="02010609060101010101" pitchFamily="49" charset="-122"/>
                <a:ea typeface="黑体" panose="02010609060101010101" pitchFamily="49" charset="-122"/>
                <a:cs typeface="Times New Roman" panose="02020603050405020304" pitchFamily="18" charset="0"/>
              </a:rPr>
              <a:t>防范措施 </a:t>
            </a:r>
            <a:r>
              <a:rPr lang="zh-CN" altLang="zh-CN" sz="2800" dirty="0" smtClean="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在</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实数的乘法运算中</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若</a:t>
            </a:r>
            <a:r>
              <a:rPr lang="en-US" altLang="zh-CN" sz="2800" i="1" dirty="0" err="1">
                <a:solidFill>
                  <a:srgbClr val="000000"/>
                </a:solidFill>
                <a:latin typeface="Times New Roman" panose="02020603050405020304" pitchFamily="18" charset="0"/>
                <a:cs typeface="Times New Roman" panose="02020603050405020304" pitchFamily="18" charset="0"/>
              </a:rPr>
              <a:t>ab</a:t>
            </a:r>
            <a:r>
              <a:rPr lang="en-US" altLang="zh-CN" sz="2800" i="1" dirty="0">
                <a:solidFill>
                  <a:srgbClr val="000000"/>
                </a:solidFill>
                <a:latin typeface="Times New Roman" panose="02020603050405020304" pitchFamily="18" charset="0"/>
                <a:cs typeface="Times New Roman" panose="02020603050405020304" pitchFamily="18" charset="0"/>
              </a:rPr>
              <a:t>=ac</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dirty="0">
                <a:solidFill>
                  <a:srgbClr val="000000"/>
                </a:solidFill>
                <a:latin typeface="Times New Roman" panose="02020603050405020304" pitchFamily="18" charset="0"/>
                <a:cs typeface="Times New Roman" panose="02020603050405020304" pitchFamily="18" charset="0"/>
              </a:rPr>
              <a:t>≠0),</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则</a:t>
            </a:r>
            <a:r>
              <a:rPr lang="en-US" altLang="zh-CN" sz="2800" i="1" dirty="0">
                <a:solidFill>
                  <a:srgbClr val="000000"/>
                </a:solidFill>
                <a:latin typeface="Times New Roman" panose="02020603050405020304" pitchFamily="18" charset="0"/>
                <a:cs typeface="Times New Roman" panose="02020603050405020304" pitchFamily="18" charset="0"/>
              </a:rPr>
              <a:t>b=c</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若</a:t>
            </a:r>
            <a:r>
              <a:rPr lang="en-US" altLang="zh-CN" sz="2800" i="1" dirty="0" err="1">
                <a:solidFill>
                  <a:srgbClr val="000000"/>
                </a:solidFill>
                <a:latin typeface="Times New Roman" panose="02020603050405020304" pitchFamily="18" charset="0"/>
                <a:cs typeface="Times New Roman" panose="02020603050405020304" pitchFamily="18" charset="0"/>
              </a:rPr>
              <a:t>ab</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0,</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则</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dirty="0">
                <a:solidFill>
                  <a:srgbClr val="000000"/>
                </a:solidFill>
                <a:latin typeface="Times New Roman" panose="02020603050405020304" pitchFamily="18" charset="0"/>
                <a:cs typeface="Times New Roman" panose="02020603050405020304" pitchFamily="18" charset="0"/>
              </a:rPr>
              <a:t>0</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或</a:t>
            </a:r>
            <a:r>
              <a:rPr lang="en-US" altLang="zh-CN" sz="2800" i="1" dirty="0">
                <a:solidFill>
                  <a:srgbClr val="000000"/>
                </a:solidFill>
                <a:latin typeface="Times New Roman" panose="02020603050405020304" pitchFamily="18" charset="0"/>
                <a:cs typeface="Times New Roman" panose="02020603050405020304" pitchFamily="18" charset="0"/>
              </a:rPr>
              <a:t>b=</a:t>
            </a:r>
            <a:r>
              <a:rPr lang="en-US" altLang="zh-CN" sz="2800" dirty="0">
                <a:solidFill>
                  <a:srgbClr val="000000"/>
                </a:solidFill>
                <a:latin typeface="Times New Roman" panose="02020603050405020304" pitchFamily="18" charset="0"/>
                <a:cs typeface="Times New Roman" panose="02020603050405020304" pitchFamily="18" charset="0"/>
              </a:rPr>
              <a:t>0</a:t>
            </a:r>
            <a:r>
              <a:rPr lang="en-US" altLang="zh-CN" sz="2800" i="1"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这些在向量的运算中都不成立</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如果混淆就会导致一些错误的出现</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解题时要格外注意</a:t>
            </a:r>
            <a:r>
              <a:rPr lang="en-US" altLang="zh-CN" sz="2800" i="1" dirty="0" smtClean="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143407944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81000" y="594591"/>
            <a:ext cx="11430000" cy="1712520"/>
          </a:xfrm>
          <a:prstGeom prst="rect">
            <a:avLst/>
          </a:prstGeom>
        </p:spPr>
        <p:txBody>
          <a:bodyPr>
            <a:spAutoFit/>
          </a:bodyPr>
          <a:lstStyle/>
          <a:p>
            <a:pPr indent="279400">
              <a:lnSpc>
                <a:spcPct val="130000"/>
              </a:lnSpc>
              <a:spcAft>
                <a:spcPts val="0"/>
              </a:spcAft>
              <a:tabLst>
                <a:tab pos="1029335" algn="l"/>
                <a:tab pos="1850390" algn="l"/>
                <a:tab pos="2538095" algn="l"/>
                <a:tab pos="3221990" algn="l"/>
              </a:tabLst>
            </a:pPr>
            <a:r>
              <a:rPr lang="zh-CN" altLang="zh-CN" sz="2800" dirty="0">
                <a:solidFill>
                  <a:srgbClr val="000000"/>
                </a:solidFill>
                <a:latin typeface="Arial" panose="020B0604020202020204" pitchFamily="34" charset="0"/>
                <a:ea typeface="黑体" panose="02010609060101010101" pitchFamily="49" charset="-122"/>
                <a:cs typeface="Times New Roman" panose="02020603050405020304" pitchFamily="18" charset="0"/>
              </a:rPr>
              <a:t>【变式训练】</a:t>
            </a:r>
            <a:r>
              <a:rPr lang="zh-CN" altLang="zh-CN" sz="2800" dirty="0">
                <a:solidFill>
                  <a:srgbClr val="000000"/>
                </a:solidFill>
                <a:latin typeface="NEU-BZ-S92"/>
                <a:ea typeface="Arial" panose="020B0604020202020204" pitchFamily="34" charset="0"/>
                <a:cs typeface="Times New Roman" panose="02020603050405020304" pitchFamily="18" charset="0"/>
              </a:rPr>
              <a:t> </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多选题</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设</a:t>
            </a:r>
            <a:r>
              <a:rPr lang="en-US" altLang="zh-CN" sz="2800" b="1" dirty="0" err="1">
                <a:solidFill>
                  <a:srgbClr val="000000"/>
                </a:solidFill>
                <a:latin typeface="Times New Roman" panose="02020603050405020304" pitchFamily="18" charset="0"/>
                <a:cs typeface="Times New Roman" panose="02020603050405020304" pitchFamily="18" charset="0"/>
              </a:rPr>
              <a:t>a</a:t>
            </a:r>
            <a:r>
              <a:rPr lang="en-US" altLang="zh-CN" sz="2800" dirty="0" err="1">
                <a:solidFill>
                  <a:srgbClr val="000000"/>
                </a:solidFill>
                <a:latin typeface="Times New Roman" panose="02020603050405020304" pitchFamily="18" charset="0"/>
                <a:cs typeface="Times New Roman" panose="02020603050405020304" pitchFamily="18" charset="0"/>
              </a:rPr>
              <a:t>,</a:t>
            </a:r>
            <a:r>
              <a:rPr lang="en-US" altLang="zh-CN" sz="2800" b="1" dirty="0" err="1">
                <a:solidFill>
                  <a:srgbClr val="000000"/>
                </a:solidFill>
                <a:latin typeface="Times New Roman" panose="02020603050405020304" pitchFamily="18" charset="0"/>
                <a:cs typeface="Times New Roman" panose="02020603050405020304" pitchFamily="18" charset="0"/>
              </a:rPr>
              <a:t>b</a:t>
            </a:r>
            <a:r>
              <a:rPr lang="en-US" altLang="zh-CN" sz="2800" dirty="0" err="1">
                <a:solidFill>
                  <a:srgbClr val="000000"/>
                </a:solidFill>
                <a:latin typeface="Times New Roman" panose="02020603050405020304" pitchFamily="18" charset="0"/>
                <a:cs typeface="Times New Roman" panose="02020603050405020304" pitchFamily="18" charset="0"/>
              </a:rPr>
              <a:t>,</a:t>
            </a:r>
            <a:r>
              <a:rPr lang="en-US" altLang="zh-CN" sz="2800" b="1" dirty="0" err="1">
                <a:solidFill>
                  <a:srgbClr val="000000"/>
                </a:solidFill>
                <a:latin typeface="Times New Roman" panose="02020603050405020304" pitchFamily="18" charset="0"/>
                <a:cs typeface="Times New Roman" panose="02020603050405020304" pitchFamily="18" charset="0"/>
              </a:rPr>
              <a:t>c</a:t>
            </a:r>
            <a:r>
              <a:rPr lang="zh-CN" altLang="zh-CN" sz="2800" dirty="0">
                <a:solidFill>
                  <a:srgbClr val="000000"/>
                </a:solidFill>
                <a:latin typeface="Times New Roman" panose="02020603050405020304" pitchFamily="18" charset="0"/>
                <a:cs typeface="Times New Roman" panose="02020603050405020304" pitchFamily="18" charset="0"/>
              </a:rPr>
              <a:t>是任意的非零向量</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且它们不共线</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则下列结论中正确的是</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i="1" dirty="0">
                <a:solidFill>
                  <a:srgbClr val="000000"/>
                </a:solidFill>
                <a:latin typeface="Times New Roman" panose="02020603050405020304" pitchFamily="18" charset="0"/>
                <a:cs typeface="Times New Roman" panose="02020603050405020304" pitchFamily="18" charset="0"/>
              </a:rPr>
              <a:t>　　</a:t>
            </a:r>
            <a:r>
              <a:rPr lang="en-US" altLang="zh-CN" sz="2800"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en-US" altLang="zh-CN" sz="2800" dirty="0" smtClean="0">
                <a:solidFill>
                  <a:srgbClr val="000000"/>
                </a:solidFill>
                <a:latin typeface="Times New Roman" panose="02020603050405020304" pitchFamily="18" charset="0"/>
                <a:cs typeface="Times New Roman" panose="02020603050405020304" pitchFamily="18" charset="0"/>
              </a:rPr>
              <a:t>A</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b="1" dirty="0" err="1">
                <a:solidFill>
                  <a:srgbClr val="000000"/>
                </a:solidFill>
                <a:latin typeface="Times New Roman" panose="02020603050405020304" pitchFamily="18" charset="0"/>
                <a:cs typeface="Times New Roman" panose="02020603050405020304" pitchFamily="18" charset="0"/>
              </a:rPr>
              <a:t>a</a:t>
            </a:r>
            <a:r>
              <a:rPr lang="en-US" altLang="zh-CN" sz="2800" dirty="0" err="1">
                <a:solidFill>
                  <a:srgbClr val="000000"/>
                </a:solidFill>
                <a:latin typeface="Times New Roman" panose="02020603050405020304" pitchFamily="18" charset="0"/>
                <a:cs typeface="Times New Roman" panose="02020603050405020304" pitchFamily="18" charset="0"/>
              </a:rPr>
              <a:t>·</a:t>
            </a:r>
            <a:r>
              <a:rPr lang="en-US" altLang="zh-CN" sz="2800" b="1" dirty="0" err="1">
                <a:solidFill>
                  <a:srgbClr val="000000"/>
                </a:solidFill>
                <a:latin typeface="Times New Roman" panose="02020603050405020304" pitchFamily="18" charset="0"/>
                <a:cs typeface="Times New Roman" panose="02020603050405020304" pitchFamily="18" charset="0"/>
              </a:rPr>
              <a:t>b</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b="1" dirty="0">
                <a:solidFill>
                  <a:srgbClr val="000000"/>
                </a:solidFill>
                <a:latin typeface="Times New Roman" panose="02020603050405020304" pitchFamily="18" charset="0"/>
                <a:cs typeface="Times New Roman" panose="02020603050405020304" pitchFamily="18" charset="0"/>
              </a:rPr>
              <a:t>c</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b="1" dirty="0" err="1">
                <a:solidFill>
                  <a:srgbClr val="000000"/>
                </a:solidFill>
                <a:latin typeface="Times New Roman" panose="02020603050405020304" pitchFamily="18" charset="0"/>
                <a:cs typeface="Times New Roman" panose="02020603050405020304" pitchFamily="18" charset="0"/>
              </a:rPr>
              <a:t>c</a:t>
            </a:r>
            <a:r>
              <a:rPr lang="en-US" altLang="zh-CN" sz="2800" dirty="0" err="1">
                <a:solidFill>
                  <a:srgbClr val="000000"/>
                </a:solidFill>
                <a:latin typeface="Times New Roman" panose="02020603050405020304" pitchFamily="18" charset="0"/>
                <a:cs typeface="Times New Roman" panose="02020603050405020304" pitchFamily="18" charset="0"/>
              </a:rPr>
              <a:t>·</a:t>
            </a:r>
            <a:r>
              <a:rPr lang="en-US" altLang="zh-CN" sz="2800" b="1" dirty="0" err="1">
                <a:solidFill>
                  <a:srgbClr val="000000"/>
                </a:solidFill>
                <a:latin typeface="Times New Roman" panose="02020603050405020304" pitchFamily="18" charset="0"/>
                <a:cs typeface="Times New Roman" panose="02020603050405020304" pitchFamily="18" charset="0"/>
              </a:rPr>
              <a:t>a</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b="1" dirty="0">
                <a:solidFill>
                  <a:srgbClr val="000000"/>
                </a:solidFill>
                <a:latin typeface="Times New Roman" panose="02020603050405020304" pitchFamily="18" charset="0"/>
                <a:cs typeface="Times New Roman" panose="02020603050405020304" pitchFamily="18" charset="0"/>
              </a:rPr>
              <a:t>b</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0</a:t>
            </a:r>
            <a:endParaRPr lang="zh-CN" altLang="zh-CN" sz="2800" dirty="0">
              <a:solidFill>
                <a:srgbClr val="000000"/>
              </a:solidFill>
              <a:effectLst/>
              <a:latin typeface="NEU-BZ-S92"/>
              <a:ea typeface="方正书宋_GBK" panose="03000509000000000000" pitchFamily="65" charset="-122"/>
              <a:cs typeface="Times New Roman" panose="02020603050405020304" pitchFamily="18" charset="0"/>
            </a:endParaRPr>
          </a:p>
        </p:txBody>
      </p:sp>
      <p:graphicFrame>
        <p:nvGraphicFramePr>
          <p:cNvPr id="3" name="对象 2"/>
          <p:cNvGraphicFramePr>
            <a:graphicFrameLocks noChangeAspect="1"/>
          </p:cNvGraphicFramePr>
          <p:nvPr>
            <p:extLst>
              <p:ext uri="{D42A27DB-BD31-4B8C-83A1-F6EECF244321}">
                <p14:modId xmlns:p14="http://schemas.microsoft.com/office/powerpoint/2010/main" val="2666485176"/>
              </p:ext>
            </p:extLst>
          </p:nvPr>
        </p:nvGraphicFramePr>
        <p:xfrm>
          <a:off x="48490" y="2307111"/>
          <a:ext cx="11430000" cy="502338"/>
        </p:xfrm>
        <a:graphic>
          <a:graphicData uri="http://schemas.openxmlformats.org/presentationml/2006/ole">
            <mc:AlternateContent xmlns:mc="http://schemas.openxmlformats.org/markup-compatibility/2006">
              <mc:Choice xmlns:v="urn:schemas-microsoft-com:vml" Requires="v">
                <p:oleObj spid="_x0000_s29718" name="文档" r:id="rId3" imgW="4510061" imgH="198213" progId="Word.Document.12">
                  <p:embed/>
                </p:oleObj>
              </mc:Choice>
              <mc:Fallback>
                <p:oleObj name="文档" r:id="rId3" imgW="4510061" imgH="198213" progId="Word.Document.12">
                  <p:embed/>
                  <p:pic>
                    <p:nvPicPr>
                      <p:cNvPr id="0" name=""/>
                      <p:cNvPicPr/>
                      <p:nvPr/>
                    </p:nvPicPr>
                    <p:blipFill>
                      <a:blip r:embed="rId4"/>
                      <a:stretch>
                        <a:fillRect/>
                      </a:stretch>
                    </p:blipFill>
                    <p:spPr>
                      <a:xfrm>
                        <a:off x="48490" y="2307111"/>
                        <a:ext cx="11430000" cy="502338"/>
                      </a:xfrm>
                      <a:prstGeom prst="rect">
                        <a:avLst/>
                      </a:prstGeom>
                    </p:spPr>
                  </p:pic>
                </p:oleObj>
              </mc:Fallback>
            </mc:AlternateContent>
          </a:graphicData>
        </a:graphic>
      </p:graphicFrame>
      <p:sp>
        <p:nvSpPr>
          <p:cNvPr id="4" name="矩形 3"/>
          <p:cNvSpPr>
            <a:spLocks noChangeAspect="1"/>
          </p:cNvSpPr>
          <p:nvPr/>
        </p:nvSpPr>
        <p:spPr>
          <a:xfrm>
            <a:off x="381000" y="2830231"/>
            <a:ext cx="11430000" cy="2832827"/>
          </a:xfrm>
          <a:prstGeom prst="rect">
            <a:avLst/>
          </a:prstGeom>
        </p:spPr>
        <p:txBody>
          <a:bodyPr>
            <a:spAutoFit/>
          </a:bodyPr>
          <a:lstStyle/>
          <a:p>
            <a:pPr indent="279400">
              <a:lnSpc>
                <a:spcPct val="130000"/>
              </a:lnSpc>
              <a:spcAft>
                <a:spcPts val="0"/>
              </a:spcAft>
              <a:tabLst>
                <a:tab pos="1188085" algn="l"/>
                <a:tab pos="2163445" algn="l"/>
                <a:tab pos="3142615" algn="l"/>
                <a:tab pos="4190365" algn="l"/>
              </a:tabLst>
            </a:pPr>
            <a:r>
              <a:rPr lang="en-US" altLang="zh-CN" sz="2800" dirty="0">
                <a:solidFill>
                  <a:srgbClr val="000000"/>
                </a:solidFill>
                <a:latin typeface="Times New Roman" panose="02020603050405020304" pitchFamily="18" charset="0"/>
                <a:cs typeface="Times New Roman" panose="02020603050405020304" pitchFamily="18" charset="0"/>
              </a:rPr>
              <a:t>C</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b="1" dirty="0">
                <a:solidFill>
                  <a:srgbClr val="000000"/>
                </a:solidFill>
                <a:latin typeface="Times New Roman" panose="02020603050405020304" pitchFamily="18" charset="0"/>
                <a:cs typeface="Times New Roman" panose="02020603050405020304" pitchFamily="18" charset="0"/>
              </a:rPr>
              <a:t>a</a:t>
            </a:r>
            <a:r>
              <a:rPr lang="en-US" altLang="zh-CN" sz="2800" baseline="30000" dirty="0">
                <a:solidFill>
                  <a:srgbClr val="000000"/>
                </a:solidFill>
                <a:latin typeface="Times New Roman" panose="02020603050405020304" pitchFamily="18" charset="0"/>
                <a:cs typeface="Times New Roman" panose="02020603050405020304" pitchFamily="18" charset="0"/>
              </a:rPr>
              <a:t>2</a:t>
            </a:r>
            <a:r>
              <a:rPr lang="en-US" altLang="zh-CN" sz="2800" b="1" dirty="0">
                <a:solidFill>
                  <a:srgbClr val="000000"/>
                </a:solidFill>
                <a:latin typeface="Times New Roman" panose="02020603050405020304" pitchFamily="18" charset="0"/>
                <a:cs typeface="Times New Roman" panose="02020603050405020304" pitchFamily="18" charset="0"/>
              </a:rPr>
              <a:t>b</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b="1" dirty="0">
                <a:solidFill>
                  <a:srgbClr val="000000"/>
                </a:solidFill>
                <a:latin typeface="Times New Roman" panose="02020603050405020304" pitchFamily="18" charset="0"/>
                <a:cs typeface="Times New Roman" panose="02020603050405020304" pitchFamily="18" charset="0"/>
              </a:rPr>
              <a:t>b</a:t>
            </a:r>
            <a:r>
              <a:rPr lang="en-US" altLang="zh-CN" sz="2800" baseline="30000" dirty="0">
                <a:solidFill>
                  <a:srgbClr val="000000"/>
                </a:solidFill>
                <a:latin typeface="Times New Roman" panose="02020603050405020304" pitchFamily="18" charset="0"/>
                <a:cs typeface="Times New Roman" panose="02020603050405020304" pitchFamily="18" charset="0"/>
              </a:rPr>
              <a:t>2</a:t>
            </a:r>
            <a:r>
              <a:rPr lang="en-US" altLang="zh-CN" sz="2800" b="1" dirty="0">
                <a:solidFill>
                  <a:srgbClr val="000000"/>
                </a:solidFill>
                <a:latin typeface="Times New Roman" panose="02020603050405020304" pitchFamily="18" charset="0"/>
                <a:cs typeface="Times New Roman" panose="02020603050405020304" pitchFamily="18" charset="0"/>
              </a:rPr>
              <a:t>a</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en-US" altLang="zh-CN" sz="2800" dirty="0">
                <a:solidFill>
                  <a:srgbClr val="000000"/>
                </a:solidFill>
                <a:latin typeface="Times New Roman" panose="02020603050405020304" pitchFamily="18" charset="0"/>
                <a:cs typeface="Times New Roman" panose="02020603050405020304" pitchFamily="18" charset="0"/>
              </a:rPr>
              <a:t>D.(3</a:t>
            </a:r>
            <a:r>
              <a:rPr lang="en-US" altLang="zh-CN" sz="2800" b="1" dirty="0">
                <a:solidFill>
                  <a:srgbClr val="000000"/>
                </a:solidFill>
                <a:latin typeface="Times New Roman" panose="02020603050405020304" pitchFamily="18" charset="0"/>
                <a:cs typeface="Times New Roman" panose="02020603050405020304" pitchFamily="18" charset="0"/>
              </a:rPr>
              <a:t>a</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2</a:t>
            </a:r>
            <a:r>
              <a:rPr lang="en-US" altLang="zh-CN" sz="2800" b="1" dirty="0">
                <a:solidFill>
                  <a:srgbClr val="000000"/>
                </a:solidFill>
                <a:latin typeface="Times New Roman" panose="02020603050405020304" pitchFamily="18" charset="0"/>
                <a:cs typeface="Times New Roman" panose="02020603050405020304" pitchFamily="18" charset="0"/>
              </a:rPr>
              <a:t>b</a:t>
            </a:r>
            <a:r>
              <a:rPr lang="en-US" altLang="zh-CN" sz="2800" dirty="0">
                <a:solidFill>
                  <a:srgbClr val="000000"/>
                </a:solidFill>
                <a:latin typeface="Times New Roman" panose="02020603050405020304" pitchFamily="18" charset="0"/>
                <a:cs typeface="Times New Roman" panose="02020603050405020304" pitchFamily="18" charset="0"/>
              </a:rPr>
              <a:t>)·(3</a:t>
            </a:r>
            <a:r>
              <a:rPr lang="en-US" altLang="zh-CN" sz="2800" b="1" dirty="0">
                <a:solidFill>
                  <a:srgbClr val="000000"/>
                </a:solidFill>
                <a:latin typeface="Times New Roman" panose="02020603050405020304" pitchFamily="18" charset="0"/>
                <a:cs typeface="Times New Roman" panose="02020603050405020304" pitchFamily="18" charset="0"/>
              </a:rPr>
              <a:t>a</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2</a:t>
            </a:r>
            <a:r>
              <a:rPr lang="en-US" altLang="zh-CN" sz="2800" b="1" dirty="0">
                <a:solidFill>
                  <a:srgbClr val="000000"/>
                </a:solidFill>
                <a:latin typeface="Times New Roman" panose="02020603050405020304" pitchFamily="18" charset="0"/>
                <a:cs typeface="Times New Roman" panose="02020603050405020304" pitchFamily="18" charset="0"/>
              </a:rPr>
              <a:t>b</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9</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b="1" dirty="0">
                <a:solidFill>
                  <a:srgbClr val="000000"/>
                </a:solidFill>
                <a:latin typeface="Times New Roman" panose="02020603050405020304" pitchFamily="18" charset="0"/>
                <a:cs typeface="Times New Roman" panose="02020603050405020304" pitchFamily="18" charset="0"/>
              </a:rPr>
              <a:t>a</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baseline="300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4</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b="1" dirty="0">
                <a:solidFill>
                  <a:srgbClr val="000000"/>
                </a:solidFill>
                <a:latin typeface="Times New Roman" panose="02020603050405020304" pitchFamily="18" charset="0"/>
                <a:cs typeface="Times New Roman" panose="02020603050405020304" pitchFamily="18" charset="0"/>
              </a:rPr>
              <a:t>b</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baseline="30000" dirty="0">
                <a:solidFill>
                  <a:srgbClr val="000000"/>
                </a:solidFill>
                <a:latin typeface="Times New Roman" panose="02020603050405020304" pitchFamily="18" charset="0"/>
                <a:cs typeface="Times New Roman" panose="02020603050405020304" pitchFamily="18" charset="0"/>
              </a:rPr>
              <a:t>2</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zh-CN"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解析</a:t>
            </a:r>
            <a:r>
              <a:rPr lang="en-US"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由于数量积不满足结合律</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故</a:t>
            </a:r>
            <a:r>
              <a:rPr lang="en-US" altLang="zh-CN" sz="2800" dirty="0">
                <a:solidFill>
                  <a:srgbClr val="000000"/>
                </a:solidFill>
                <a:latin typeface="Times New Roman" panose="02020603050405020304" pitchFamily="18" charset="0"/>
                <a:cs typeface="Times New Roman" panose="02020603050405020304" pitchFamily="18" charset="0"/>
              </a:rPr>
              <a:t>A</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不正确</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由数量积的性质</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知</a:t>
            </a:r>
            <a:r>
              <a:rPr lang="en-US" altLang="zh-CN" sz="2800" dirty="0">
                <a:solidFill>
                  <a:srgbClr val="000000"/>
                </a:solidFill>
                <a:latin typeface="Times New Roman" panose="02020603050405020304" pitchFamily="18" charset="0"/>
                <a:cs typeface="Times New Roman" panose="02020603050405020304" pitchFamily="18" charset="0"/>
              </a:rPr>
              <a:t>B</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正确</a:t>
            </a:r>
            <a:r>
              <a:rPr lang="en-US" altLang="zh-CN" sz="2800" dirty="0">
                <a:solidFill>
                  <a:srgbClr val="000000"/>
                </a:solidFill>
                <a:latin typeface="Times New Roman" panose="02020603050405020304" pitchFamily="18" charset="0"/>
                <a:cs typeface="Times New Roman" panose="02020603050405020304" pitchFamily="18" charset="0"/>
              </a:rPr>
              <a:t>;C</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中</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由题意知</a:t>
            </a:r>
            <a:r>
              <a:rPr lang="en-US" altLang="zh-CN" sz="2800" b="1" dirty="0">
                <a:solidFill>
                  <a:srgbClr val="000000"/>
                </a:solidFill>
                <a:latin typeface="Times New Roman" panose="02020603050405020304" pitchFamily="18" charset="0"/>
                <a:cs typeface="Times New Roman" panose="02020603050405020304" pitchFamily="18" charset="0"/>
              </a:rPr>
              <a:t>a</a:t>
            </a:r>
            <a:r>
              <a:rPr lang="en-US" altLang="zh-CN" sz="2800" baseline="30000" dirty="0">
                <a:solidFill>
                  <a:srgbClr val="000000"/>
                </a:solidFill>
                <a:latin typeface="Times New Roman" panose="02020603050405020304" pitchFamily="18" charset="0"/>
                <a:cs typeface="Times New Roman" panose="02020603050405020304" pitchFamily="18" charset="0"/>
              </a:rPr>
              <a:t>2</a:t>
            </a:r>
            <a:r>
              <a:rPr lang="en-US" altLang="zh-CN" sz="2800" b="1" dirty="0">
                <a:solidFill>
                  <a:srgbClr val="000000"/>
                </a:solidFill>
                <a:latin typeface="Times New Roman" panose="02020603050405020304" pitchFamily="18" charset="0"/>
                <a:cs typeface="Times New Roman" panose="02020603050405020304" pitchFamily="18" charset="0"/>
              </a:rPr>
              <a:t>b</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b="1" dirty="0">
                <a:solidFill>
                  <a:srgbClr val="000000"/>
                </a:solidFill>
                <a:latin typeface="Times New Roman" panose="02020603050405020304" pitchFamily="18" charset="0"/>
                <a:cs typeface="Times New Roman" panose="02020603050405020304" pitchFamily="18" charset="0"/>
              </a:rPr>
              <a:t>b</a:t>
            </a:r>
            <a:r>
              <a:rPr lang="en-US" altLang="zh-CN" sz="2800" baseline="30000" dirty="0">
                <a:solidFill>
                  <a:srgbClr val="000000"/>
                </a:solidFill>
                <a:latin typeface="Times New Roman" panose="02020603050405020304" pitchFamily="18" charset="0"/>
                <a:cs typeface="Times New Roman" panose="02020603050405020304" pitchFamily="18" charset="0"/>
              </a:rPr>
              <a:t>2</a:t>
            </a:r>
            <a:r>
              <a:rPr lang="en-US" altLang="zh-CN" sz="2800" b="1" dirty="0">
                <a:solidFill>
                  <a:srgbClr val="000000"/>
                </a:solidFill>
                <a:latin typeface="Times New Roman" panose="02020603050405020304" pitchFamily="18" charset="0"/>
                <a:cs typeface="Times New Roman" panose="02020603050405020304" pitchFamily="18" charset="0"/>
              </a:rPr>
              <a:t>a</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一定不成立</a:t>
            </a:r>
            <a:r>
              <a:rPr lang="en-US" altLang="zh-CN" sz="2800" dirty="0">
                <a:solidFill>
                  <a:srgbClr val="000000"/>
                </a:solidFill>
                <a:latin typeface="Times New Roman" panose="02020603050405020304" pitchFamily="18" charset="0"/>
                <a:cs typeface="Times New Roman" panose="02020603050405020304" pitchFamily="18" charset="0"/>
              </a:rPr>
              <a:t>;D</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中</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运算正确</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zh-CN"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答案</a:t>
            </a:r>
            <a:r>
              <a:rPr lang="en-US"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BD</a:t>
            </a:r>
            <a:endParaRPr lang="zh-CN" altLang="zh-CN" sz="2800" dirty="0">
              <a:solidFill>
                <a:srgbClr val="000000"/>
              </a:solidFill>
              <a:effectLst/>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130236827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4">
                                            <p:txEl>
                                              <p:pRg st="2" end="2"/>
                                            </p:txEl>
                                          </p:spTgt>
                                        </p:tgtEl>
                                        <p:attrNameLst>
                                          <p:attrName>style.visibility</p:attrName>
                                        </p:attrNameLst>
                                      </p:cBhvr>
                                      <p:to>
                                        <p:strVal val="visible"/>
                                      </p:to>
                                    </p:set>
                                    <p:animEffect transition="in" filter="wipe(down)">
                                      <p:cBhvr>
                                        <p:cTn id="7" dur="500"/>
                                        <p:tgtEl>
                                          <p:spTgt spid="4">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4">
                                            <p:txEl>
                                              <p:pRg st="3" end="3"/>
                                            </p:txEl>
                                          </p:spTgt>
                                        </p:tgtEl>
                                        <p:attrNameLst>
                                          <p:attrName>style.visibility</p:attrName>
                                        </p:attrNameLst>
                                      </p:cBhvr>
                                      <p:to>
                                        <p:strVal val="visible"/>
                                      </p:to>
                                    </p:set>
                                    <p:animEffect transition="in" filter="wipe(down)">
                                      <p:cBhvr>
                                        <p:cTn id="12" dur="500"/>
                                        <p:tgtEl>
                                          <p:spTgt spid="4">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组合 5"/>
          <p:cNvGrpSpPr/>
          <p:nvPr/>
        </p:nvGrpSpPr>
        <p:grpSpPr>
          <a:xfrm>
            <a:off x="2617835" y="2558415"/>
            <a:ext cx="1105802" cy="815646"/>
            <a:chOff x="-1604504" y="2147667"/>
            <a:chExt cx="3687215" cy="2719712"/>
          </a:xfrm>
        </p:grpSpPr>
        <p:cxnSp>
          <p:nvCxnSpPr>
            <p:cNvPr id="7" name="直接连接符 6"/>
            <p:cNvCxnSpPr/>
            <p:nvPr/>
          </p:nvCxnSpPr>
          <p:spPr>
            <a:xfrm flipH="1">
              <a:off x="-1604504" y="2687623"/>
              <a:ext cx="2592288" cy="2179756"/>
            </a:xfrm>
            <a:prstGeom prst="line">
              <a:avLst/>
            </a:prstGeom>
            <a:noFill/>
            <a:ln w="76200" cap="flat" cmpd="sng" algn="ctr">
              <a:solidFill>
                <a:schemeClr val="tx2">
                  <a:lumMod val="50000"/>
                </a:schemeClr>
              </a:solidFill>
              <a:prstDash val="solid"/>
            </a:ln>
            <a:effectLst/>
          </p:spPr>
        </p:cxnSp>
        <p:cxnSp>
          <p:nvCxnSpPr>
            <p:cNvPr id="8" name="直接连接符 7"/>
            <p:cNvCxnSpPr/>
            <p:nvPr/>
          </p:nvCxnSpPr>
          <p:spPr>
            <a:xfrm flipH="1">
              <a:off x="-509577" y="2147667"/>
              <a:ext cx="2592288" cy="2179756"/>
            </a:xfrm>
            <a:prstGeom prst="line">
              <a:avLst/>
            </a:prstGeom>
            <a:noFill/>
            <a:ln w="12700" cap="flat" cmpd="sng" algn="ctr">
              <a:solidFill>
                <a:schemeClr val="tx2">
                  <a:lumMod val="50000"/>
                </a:schemeClr>
              </a:solidFill>
              <a:prstDash val="solid"/>
            </a:ln>
            <a:effectLst/>
          </p:spPr>
        </p:cxnSp>
      </p:grpSp>
      <p:grpSp>
        <p:nvGrpSpPr>
          <p:cNvPr id="9" name="组合 8"/>
          <p:cNvGrpSpPr/>
          <p:nvPr/>
        </p:nvGrpSpPr>
        <p:grpSpPr>
          <a:xfrm flipH="1" flipV="1">
            <a:off x="8334801" y="2587481"/>
            <a:ext cx="1105803" cy="815646"/>
            <a:chOff x="-1604504" y="2147667"/>
            <a:chExt cx="3687215" cy="2719712"/>
          </a:xfrm>
        </p:grpSpPr>
        <p:cxnSp>
          <p:nvCxnSpPr>
            <p:cNvPr id="10" name="直接连接符 9"/>
            <p:cNvCxnSpPr/>
            <p:nvPr/>
          </p:nvCxnSpPr>
          <p:spPr>
            <a:xfrm flipH="1">
              <a:off x="-1604504" y="2687623"/>
              <a:ext cx="2592288" cy="2179756"/>
            </a:xfrm>
            <a:prstGeom prst="line">
              <a:avLst/>
            </a:prstGeom>
            <a:noFill/>
            <a:ln w="76200" cap="flat" cmpd="sng" algn="ctr">
              <a:solidFill>
                <a:sysClr val="windowText" lastClr="000000">
                  <a:lumMod val="85000"/>
                  <a:lumOff val="15000"/>
                </a:sysClr>
              </a:solidFill>
              <a:prstDash val="solid"/>
            </a:ln>
            <a:effectLst/>
          </p:spPr>
        </p:cxnSp>
        <p:cxnSp>
          <p:nvCxnSpPr>
            <p:cNvPr id="11" name="直接连接符 10"/>
            <p:cNvCxnSpPr/>
            <p:nvPr/>
          </p:nvCxnSpPr>
          <p:spPr>
            <a:xfrm flipH="1">
              <a:off x="-509577" y="2147667"/>
              <a:ext cx="2592288" cy="2179756"/>
            </a:xfrm>
            <a:prstGeom prst="line">
              <a:avLst/>
            </a:prstGeom>
            <a:noFill/>
            <a:ln w="12700" cap="flat" cmpd="sng" algn="ctr">
              <a:solidFill>
                <a:sysClr val="windowText" lastClr="000000">
                  <a:lumMod val="85000"/>
                  <a:lumOff val="15000"/>
                </a:sysClr>
              </a:solidFill>
              <a:prstDash val="solid"/>
            </a:ln>
            <a:effectLst/>
          </p:spPr>
        </p:cxnSp>
      </p:grpSp>
      <p:sp>
        <p:nvSpPr>
          <p:cNvPr id="12" name="文本框 11"/>
          <p:cNvSpPr txBox="1"/>
          <p:nvPr/>
        </p:nvSpPr>
        <p:spPr>
          <a:xfrm>
            <a:off x="3612492" y="2507615"/>
            <a:ext cx="4587875" cy="922020"/>
          </a:xfrm>
          <a:prstGeom prst="rect">
            <a:avLst/>
          </a:prstGeom>
          <a:noFill/>
        </p:spPr>
        <p:txBody>
          <a:bodyPr wrap="square" rtlCol="0">
            <a:spAutoFit/>
          </a:bodyPr>
          <a:lstStyle/>
          <a:p>
            <a:pPr algn="ctr"/>
            <a:r>
              <a:rPr lang="zh-CN" altLang="en-US" sz="5400" b="1" dirty="0" smtClean="0">
                <a:solidFill>
                  <a:srgbClr val="4D4D4D"/>
                </a:solidFill>
                <a:latin typeface="方正姚体" panose="02010601030101010101" charset="-122"/>
                <a:ea typeface="方正姚体" panose="02010601030101010101" charset="-122"/>
                <a:cs typeface="隶书" panose="02010509060101010101" pitchFamily="49" charset="-122"/>
                <a:sym typeface="+mn-ea"/>
              </a:rPr>
              <a:t>随堂练习</a:t>
            </a:r>
            <a:endParaRPr lang="zh-CN" altLang="en-US" sz="5400" b="1" dirty="0">
              <a:solidFill>
                <a:srgbClr val="4D4D4D"/>
              </a:solidFill>
              <a:latin typeface="方正姚体" panose="02010601030101010101" charset="-122"/>
              <a:ea typeface="方正姚体" panose="02010601030101010101" charset="-122"/>
              <a:cs typeface="隶书" panose="02010509060101010101" pitchFamily="49" charset="-122"/>
              <a:sym typeface="+mn-ea"/>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81000" y="667616"/>
            <a:ext cx="11430000" cy="3953133"/>
          </a:xfrm>
          <a:prstGeom prst="rect">
            <a:avLst/>
          </a:prstGeom>
        </p:spPr>
        <p:txBody>
          <a:bodyPr>
            <a:spAutoFit/>
          </a:bodyPr>
          <a:lstStyle/>
          <a:p>
            <a:pPr>
              <a:lnSpc>
                <a:spcPct val="130000"/>
              </a:lnSpc>
              <a:spcAft>
                <a:spcPts val="0"/>
              </a:spcAft>
              <a:tabLst>
                <a:tab pos="1188085" algn="l"/>
                <a:tab pos="2163445" algn="l"/>
                <a:tab pos="3142615" algn="l"/>
                <a:tab pos="4190365" algn="l"/>
              </a:tabLst>
            </a:pPr>
            <a:r>
              <a:rPr lang="en-US" altLang="zh-CN" sz="2800" b="1"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已知</a:t>
            </a:r>
            <a:r>
              <a:rPr lang="en-US" altLang="zh-CN" sz="2800" b="1" dirty="0">
                <a:solidFill>
                  <a:srgbClr val="000000"/>
                </a:solidFill>
                <a:latin typeface="Times New Roman" panose="02020603050405020304" pitchFamily="18" charset="0"/>
                <a:cs typeface="Times New Roman" panose="02020603050405020304" pitchFamily="18" charset="0"/>
              </a:rPr>
              <a:t>e</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b="1" dirty="0">
                <a:solidFill>
                  <a:srgbClr val="000000"/>
                </a:solidFill>
                <a:latin typeface="Times New Roman" panose="02020603050405020304" pitchFamily="18" charset="0"/>
                <a:cs typeface="Times New Roman" panose="02020603050405020304" pitchFamily="18" charset="0"/>
              </a:rPr>
              <a:t>e</a:t>
            </a:r>
            <a:r>
              <a:rPr lang="en-US" altLang="zh-CN" sz="2800" baseline="-25000" dirty="0">
                <a:solidFill>
                  <a:srgbClr val="000000"/>
                </a:solidFill>
                <a:latin typeface="Times New Roman" panose="02020603050405020304" pitchFamily="18" charset="0"/>
                <a:cs typeface="Times New Roman" panose="02020603050405020304" pitchFamily="18" charset="0"/>
              </a:rPr>
              <a:t>2</a:t>
            </a:r>
            <a:r>
              <a:rPr lang="zh-CN" altLang="zh-CN" sz="2800" dirty="0">
                <a:solidFill>
                  <a:srgbClr val="000000"/>
                </a:solidFill>
                <a:latin typeface="Times New Roman" panose="02020603050405020304" pitchFamily="18" charset="0"/>
                <a:cs typeface="Times New Roman" panose="02020603050405020304" pitchFamily="18" charset="0"/>
              </a:rPr>
              <a:t>为单位向量</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且</a:t>
            </a:r>
            <a:r>
              <a:rPr lang="en-US" altLang="zh-CN" sz="2800" b="1" dirty="0">
                <a:solidFill>
                  <a:srgbClr val="000000"/>
                </a:solidFill>
                <a:latin typeface="Times New Roman" panose="02020603050405020304" pitchFamily="18" charset="0"/>
                <a:cs typeface="Times New Roman" panose="02020603050405020304" pitchFamily="18" charset="0"/>
              </a:rPr>
              <a:t>e</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zh-CN" altLang="zh-CN" sz="2800" dirty="0">
                <a:solidFill>
                  <a:srgbClr val="000000"/>
                </a:solidFill>
                <a:latin typeface="NEU-BZ-S92"/>
                <a:cs typeface="宋体" panose="02010600030101010101" pitchFamily="2" charset="-122"/>
              </a:rPr>
              <a:t>⊥</a:t>
            </a:r>
            <a:r>
              <a:rPr lang="en-US" altLang="zh-CN" sz="2800" b="1" dirty="0">
                <a:solidFill>
                  <a:srgbClr val="000000"/>
                </a:solidFill>
                <a:latin typeface="Times New Roman" panose="02020603050405020304" pitchFamily="18" charset="0"/>
                <a:cs typeface="Times New Roman" panose="02020603050405020304" pitchFamily="18" charset="0"/>
              </a:rPr>
              <a:t>e</a:t>
            </a:r>
            <a:r>
              <a:rPr lang="en-US" altLang="zh-CN" sz="2800" baseline="-25000" dirty="0">
                <a:solidFill>
                  <a:srgbClr val="000000"/>
                </a:solidFill>
                <a:latin typeface="Times New Roman" panose="02020603050405020304" pitchFamily="18" charset="0"/>
                <a:cs typeface="Times New Roman" panose="02020603050405020304" pitchFamily="18" charset="0"/>
              </a:rPr>
              <a:t>2</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若</a:t>
            </a:r>
            <a:r>
              <a:rPr lang="en-US" altLang="zh-CN" sz="2800" b="1" dirty="0">
                <a:solidFill>
                  <a:srgbClr val="000000"/>
                </a:solidFill>
                <a:latin typeface="Times New Roman" panose="02020603050405020304" pitchFamily="18" charset="0"/>
                <a:cs typeface="Times New Roman" panose="02020603050405020304" pitchFamily="18" charset="0"/>
              </a:rPr>
              <a:t>a</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2</a:t>
            </a:r>
            <a:r>
              <a:rPr lang="en-US" altLang="zh-CN" sz="2800" b="1" dirty="0">
                <a:solidFill>
                  <a:srgbClr val="000000"/>
                </a:solidFill>
                <a:latin typeface="Times New Roman" panose="02020603050405020304" pitchFamily="18" charset="0"/>
                <a:cs typeface="Times New Roman" panose="02020603050405020304" pitchFamily="18" charset="0"/>
              </a:rPr>
              <a:t>e</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3</a:t>
            </a:r>
            <a:r>
              <a:rPr lang="en-US" altLang="zh-CN" sz="2800" b="1" dirty="0">
                <a:solidFill>
                  <a:srgbClr val="000000"/>
                </a:solidFill>
                <a:latin typeface="Times New Roman" panose="02020603050405020304" pitchFamily="18" charset="0"/>
                <a:cs typeface="Times New Roman" panose="02020603050405020304" pitchFamily="18" charset="0"/>
              </a:rPr>
              <a:t>e</a:t>
            </a:r>
            <a:r>
              <a:rPr lang="en-US" altLang="zh-CN" sz="2800" baseline="-25000" dirty="0">
                <a:solidFill>
                  <a:srgbClr val="000000"/>
                </a:solidFill>
                <a:latin typeface="Times New Roman" panose="02020603050405020304" pitchFamily="18" charset="0"/>
                <a:cs typeface="Times New Roman" panose="02020603050405020304" pitchFamily="18" charset="0"/>
              </a:rPr>
              <a:t>2</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b="1" dirty="0">
                <a:solidFill>
                  <a:srgbClr val="000000"/>
                </a:solidFill>
                <a:latin typeface="Times New Roman" panose="02020603050405020304" pitchFamily="18" charset="0"/>
                <a:cs typeface="Times New Roman" panose="02020603050405020304" pitchFamily="18" charset="0"/>
              </a:rPr>
              <a:t>b</a:t>
            </a:r>
            <a:r>
              <a:rPr lang="en-US" altLang="zh-CN" sz="2800" i="1" dirty="0">
                <a:solidFill>
                  <a:srgbClr val="000000"/>
                </a:solidFill>
                <a:latin typeface="Times New Roman" panose="02020603050405020304" pitchFamily="18" charset="0"/>
                <a:cs typeface="Times New Roman" panose="02020603050405020304" pitchFamily="18" charset="0"/>
              </a:rPr>
              <a:t>=k</a:t>
            </a:r>
            <a:r>
              <a:rPr lang="en-US" altLang="zh-CN" sz="2800" b="1" dirty="0">
                <a:solidFill>
                  <a:srgbClr val="000000"/>
                </a:solidFill>
                <a:latin typeface="Times New Roman" panose="02020603050405020304" pitchFamily="18" charset="0"/>
                <a:cs typeface="Times New Roman" panose="02020603050405020304" pitchFamily="18" charset="0"/>
              </a:rPr>
              <a:t>e</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4</a:t>
            </a:r>
            <a:r>
              <a:rPr lang="en-US" altLang="zh-CN" sz="2800" b="1" dirty="0">
                <a:solidFill>
                  <a:srgbClr val="000000"/>
                </a:solidFill>
                <a:latin typeface="Times New Roman" panose="02020603050405020304" pitchFamily="18" charset="0"/>
                <a:cs typeface="Times New Roman" panose="02020603050405020304" pitchFamily="18" charset="0"/>
              </a:rPr>
              <a:t>e</a:t>
            </a:r>
            <a:r>
              <a:rPr lang="en-US" altLang="zh-CN" sz="2800" baseline="-25000" dirty="0">
                <a:solidFill>
                  <a:srgbClr val="000000"/>
                </a:solidFill>
                <a:latin typeface="Times New Roman" panose="02020603050405020304" pitchFamily="18" charset="0"/>
                <a:cs typeface="Times New Roman" panose="02020603050405020304" pitchFamily="18" charset="0"/>
              </a:rPr>
              <a:t>2</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b="1" dirty="0">
                <a:solidFill>
                  <a:srgbClr val="000000"/>
                </a:solidFill>
                <a:latin typeface="Times New Roman" panose="02020603050405020304" pitchFamily="18" charset="0"/>
                <a:cs typeface="Times New Roman" panose="02020603050405020304" pitchFamily="18" charset="0"/>
              </a:rPr>
              <a:t>a</a:t>
            </a:r>
            <a:r>
              <a:rPr lang="zh-CN" altLang="zh-CN" sz="2800" dirty="0">
                <a:solidFill>
                  <a:srgbClr val="000000"/>
                </a:solidFill>
                <a:latin typeface="NEU-BZ-S92"/>
                <a:cs typeface="宋体" panose="02010600030101010101" pitchFamily="2" charset="-122"/>
              </a:rPr>
              <a:t>⊥</a:t>
            </a:r>
            <a:r>
              <a:rPr lang="en-US" altLang="zh-CN" sz="2800" b="1" dirty="0">
                <a:solidFill>
                  <a:srgbClr val="000000"/>
                </a:solidFill>
                <a:latin typeface="Times New Roman" panose="02020603050405020304" pitchFamily="18" charset="0"/>
                <a:cs typeface="Times New Roman" panose="02020603050405020304" pitchFamily="18" charset="0"/>
              </a:rPr>
              <a:t>b</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则实数</a:t>
            </a:r>
            <a:r>
              <a:rPr lang="en-US" altLang="zh-CN" sz="2800" i="1" dirty="0">
                <a:solidFill>
                  <a:srgbClr val="000000"/>
                </a:solidFill>
                <a:latin typeface="Times New Roman" panose="02020603050405020304" pitchFamily="18" charset="0"/>
                <a:cs typeface="Times New Roman" panose="02020603050405020304" pitchFamily="18" charset="0"/>
              </a:rPr>
              <a:t>k</a:t>
            </a:r>
            <a:r>
              <a:rPr lang="zh-CN" altLang="zh-CN" sz="2800" dirty="0">
                <a:solidFill>
                  <a:srgbClr val="000000"/>
                </a:solidFill>
                <a:latin typeface="Times New Roman" panose="02020603050405020304" pitchFamily="18" charset="0"/>
                <a:cs typeface="Times New Roman" panose="02020603050405020304" pitchFamily="18" charset="0"/>
              </a:rPr>
              <a:t>的值为</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i="1" dirty="0">
                <a:solidFill>
                  <a:srgbClr val="000000"/>
                </a:solidFill>
                <a:latin typeface="Times New Roman" panose="02020603050405020304" pitchFamily="18" charset="0"/>
                <a:cs typeface="Times New Roman" panose="02020603050405020304" pitchFamily="18" charset="0"/>
              </a:rPr>
              <a:t>　　</a:t>
            </a:r>
            <a:r>
              <a:rPr lang="en-US" altLang="zh-CN" sz="2800"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dirty="0">
                <a:solidFill>
                  <a:srgbClr val="000000"/>
                </a:solidFill>
                <a:latin typeface="Times New Roman" panose="02020603050405020304" pitchFamily="18" charset="0"/>
                <a:cs typeface="Times New Roman" panose="02020603050405020304" pitchFamily="18" charset="0"/>
              </a:rPr>
              <a:t>A</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6	B.6	C</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3	D.</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3</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zh-CN"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解析</a:t>
            </a:r>
            <a:r>
              <a:rPr lang="en-US"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由题意可得</a:t>
            </a:r>
            <a:r>
              <a:rPr lang="en-US" altLang="zh-CN" sz="2800" b="1" dirty="0" err="1">
                <a:solidFill>
                  <a:srgbClr val="000000"/>
                </a:solidFill>
                <a:latin typeface="Times New Roman" panose="02020603050405020304" pitchFamily="18" charset="0"/>
                <a:cs typeface="Times New Roman" panose="02020603050405020304" pitchFamily="18" charset="0"/>
              </a:rPr>
              <a:t>a</a:t>
            </a:r>
            <a:r>
              <a:rPr lang="en-US" altLang="zh-CN" sz="2800" dirty="0" err="1">
                <a:solidFill>
                  <a:srgbClr val="000000"/>
                </a:solidFill>
                <a:latin typeface="Times New Roman" panose="02020603050405020304" pitchFamily="18" charset="0"/>
                <a:cs typeface="Times New Roman" panose="02020603050405020304" pitchFamily="18" charset="0"/>
              </a:rPr>
              <a:t>·</a:t>
            </a:r>
            <a:r>
              <a:rPr lang="en-US" altLang="zh-CN" sz="2800" b="1" dirty="0" err="1">
                <a:solidFill>
                  <a:srgbClr val="000000"/>
                </a:solidFill>
                <a:latin typeface="Times New Roman" panose="02020603050405020304" pitchFamily="18" charset="0"/>
                <a:cs typeface="Times New Roman" panose="02020603050405020304" pitchFamily="18" charset="0"/>
              </a:rPr>
              <a:t>b</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0,</a:t>
            </a:r>
            <a:r>
              <a:rPr lang="en-US" altLang="zh-CN" sz="2800" b="1" dirty="0">
                <a:solidFill>
                  <a:srgbClr val="000000"/>
                </a:solidFill>
                <a:latin typeface="Times New Roman" panose="02020603050405020304" pitchFamily="18" charset="0"/>
                <a:cs typeface="Times New Roman" panose="02020603050405020304" pitchFamily="18" charset="0"/>
              </a:rPr>
              <a:t>e</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b="1" dirty="0">
                <a:solidFill>
                  <a:srgbClr val="000000"/>
                </a:solidFill>
                <a:latin typeface="Times New Roman" panose="02020603050405020304" pitchFamily="18" charset="0"/>
                <a:cs typeface="Times New Roman" panose="02020603050405020304" pitchFamily="18" charset="0"/>
              </a:rPr>
              <a:t>e</a:t>
            </a:r>
            <a:r>
              <a:rPr lang="en-US" altLang="zh-CN" sz="2800" baseline="-250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0,</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b="1" dirty="0">
                <a:solidFill>
                  <a:srgbClr val="000000"/>
                </a:solidFill>
                <a:latin typeface="Times New Roman" panose="02020603050405020304" pitchFamily="18" charset="0"/>
                <a:cs typeface="Times New Roman" panose="02020603050405020304" pitchFamily="18" charset="0"/>
              </a:rPr>
              <a:t>e</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b="1" dirty="0">
                <a:solidFill>
                  <a:srgbClr val="000000"/>
                </a:solidFill>
                <a:latin typeface="Times New Roman" panose="02020603050405020304" pitchFamily="18" charset="0"/>
                <a:cs typeface="Times New Roman" panose="02020603050405020304" pitchFamily="18" charset="0"/>
              </a:rPr>
              <a:t>e</a:t>
            </a:r>
            <a:r>
              <a:rPr lang="en-US" altLang="zh-CN" sz="2800" baseline="-250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由</a:t>
            </a:r>
            <a:r>
              <a:rPr lang="en-US" altLang="zh-CN" sz="2800" b="1" dirty="0" err="1">
                <a:solidFill>
                  <a:srgbClr val="000000"/>
                </a:solidFill>
                <a:latin typeface="Times New Roman" panose="02020603050405020304" pitchFamily="18" charset="0"/>
                <a:cs typeface="Times New Roman" panose="02020603050405020304" pitchFamily="18" charset="0"/>
              </a:rPr>
              <a:t>a</a:t>
            </a:r>
            <a:r>
              <a:rPr lang="en-US" altLang="zh-CN" sz="2800" dirty="0" err="1">
                <a:solidFill>
                  <a:srgbClr val="000000"/>
                </a:solidFill>
                <a:latin typeface="Times New Roman" panose="02020603050405020304" pitchFamily="18" charset="0"/>
                <a:cs typeface="Times New Roman" panose="02020603050405020304" pitchFamily="18" charset="0"/>
              </a:rPr>
              <a:t>·</a:t>
            </a:r>
            <a:r>
              <a:rPr lang="en-US" altLang="zh-CN" sz="2800" b="1" dirty="0" err="1">
                <a:solidFill>
                  <a:srgbClr val="000000"/>
                </a:solidFill>
                <a:latin typeface="Times New Roman" panose="02020603050405020304" pitchFamily="18" charset="0"/>
                <a:cs typeface="Times New Roman" panose="02020603050405020304" pitchFamily="18" charset="0"/>
              </a:rPr>
              <a:t>b</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0,</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即</a:t>
            </a:r>
            <a:r>
              <a:rPr lang="en-US" altLang="zh-CN" sz="2800" dirty="0">
                <a:solidFill>
                  <a:srgbClr val="000000"/>
                </a:solidFill>
                <a:latin typeface="Times New Roman" panose="02020603050405020304" pitchFamily="18" charset="0"/>
                <a:cs typeface="Times New Roman" panose="02020603050405020304" pitchFamily="18" charset="0"/>
              </a:rPr>
              <a:t>(2</a:t>
            </a:r>
            <a:r>
              <a:rPr lang="en-US" altLang="zh-CN" sz="2800" b="1" dirty="0">
                <a:solidFill>
                  <a:srgbClr val="000000"/>
                </a:solidFill>
                <a:latin typeface="Times New Roman" panose="02020603050405020304" pitchFamily="18" charset="0"/>
                <a:cs typeface="Times New Roman" panose="02020603050405020304" pitchFamily="18" charset="0"/>
              </a:rPr>
              <a:t>e</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3</a:t>
            </a:r>
            <a:r>
              <a:rPr lang="en-US" altLang="zh-CN" sz="2800" b="1" dirty="0">
                <a:solidFill>
                  <a:srgbClr val="000000"/>
                </a:solidFill>
                <a:latin typeface="Times New Roman" panose="02020603050405020304" pitchFamily="18" charset="0"/>
                <a:cs typeface="Times New Roman" panose="02020603050405020304" pitchFamily="18" charset="0"/>
              </a:rPr>
              <a:t>e</a:t>
            </a:r>
            <a:r>
              <a:rPr lang="en-US" altLang="zh-CN" sz="2800" baseline="-25000" dirty="0">
                <a:solidFill>
                  <a:srgbClr val="000000"/>
                </a:solidFill>
                <a:latin typeface="Times New Roman" panose="02020603050405020304" pitchFamily="18" charset="0"/>
                <a:cs typeface="Times New Roman" panose="02020603050405020304" pitchFamily="18" charset="0"/>
              </a:rPr>
              <a:t>2</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k</a:t>
            </a:r>
            <a:r>
              <a:rPr lang="en-US" altLang="zh-CN" sz="2800" b="1" dirty="0">
                <a:solidFill>
                  <a:srgbClr val="000000"/>
                </a:solidFill>
                <a:latin typeface="Times New Roman" panose="02020603050405020304" pitchFamily="18" charset="0"/>
                <a:cs typeface="Times New Roman" panose="02020603050405020304" pitchFamily="18" charset="0"/>
              </a:rPr>
              <a:t>e</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4</a:t>
            </a:r>
            <a:r>
              <a:rPr lang="en-US" altLang="zh-CN" sz="2800" b="1" dirty="0">
                <a:solidFill>
                  <a:srgbClr val="000000"/>
                </a:solidFill>
                <a:latin typeface="Times New Roman" panose="02020603050405020304" pitchFamily="18" charset="0"/>
                <a:cs typeface="Times New Roman" panose="02020603050405020304" pitchFamily="18" charset="0"/>
              </a:rPr>
              <a:t>e</a:t>
            </a:r>
            <a:r>
              <a:rPr lang="en-US" altLang="zh-CN" sz="2800" baseline="-25000" dirty="0">
                <a:solidFill>
                  <a:srgbClr val="000000"/>
                </a:solidFill>
                <a:latin typeface="Times New Roman" panose="02020603050405020304" pitchFamily="18" charset="0"/>
                <a:cs typeface="Times New Roman" panose="02020603050405020304" pitchFamily="18" charset="0"/>
              </a:rPr>
              <a:t>2</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0,</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得</a:t>
            </a:r>
            <a:r>
              <a:rPr lang="en-US" altLang="zh-CN" sz="28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k-</a:t>
            </a:r>
            <a:r>
              <a:rPr lang="en-US" altLang="zh-CN" sz="2800" dirty="0">
                <a:solidFill>
                  <a:srgbClr val="000000"/>
                </a:solidFill>
                <a:latin typeface="Times New Roman" panose="02020603050405020304" pitchFamily="18" charset="0"/>
                <a:cs typeface="Times New Roman" panose="02020603050405020304" pitchFamily="18" charset="0"/>
              </a:rPr>
              <a:t>12</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0,</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解得</a:t>
            </a:r>
            <a:r>
              <a:rPr lang="en-US" altLang="zh-CN" sz="2800" i="1" dirty="0">
                <a:solidFill>
                  <a:srgbClr val="000000"/>
                </a:solidFill>
                <a:latin typeface="Times New Roman" panose="02020603050405020304" pitchFamily="18" charset="0"/>
                <a:cs typeface="Times New Roman" panose="02020603050405020304" pitchFamily="18" charset="0"/>
              </a:rPr>
              <a:t>k=</a:t>
            </a:r>
            <a:r>
              <a:rPr lang="en-US" altLang="zh-CN" sz="2800" dirty="0">
                <a:solidFill>
                  <a:srgbClr val="000000"/>
                </a:solidFill>
                <a:latin typeface="Times New Roman" panose="02020603050405020304" pitchFamily="18" charset="0"/>
                <a:cs typeface="Times New Roman" panose="02020603050405020304" pitchFamily="18" charset="0"/>
              </a:rPr>
              <a:t>6</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zh-CN"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答案</a:t>
            </a:r>
            <a:r>
              <a:rPr lang="en-US"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B</a:t>
            </a:r>
            <a:endParaRPr lang="zh-CN" altLang="zh-CN" sz="2800" dirty="0">
              <a:solidFill>
                <a:srgbClr val="000000"/>
              </a:solidFill>
              <a:effectLst/>
              <a:latin typeface="NEU-BZ-S92"/>
              <a:ea typeface="方正书宋_GBK" panose="03000509000000000000" pitchFamily="65" charset="-122"/>
              <a:cs typeface="Times New Roman" panose="02020603050405020304" pitchFamily="18" charset="0"/>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2">
                                            <p:txEl>
                                              <p:pRg st="2" end="2"/>
                                            </p:txEl>
                                          </p:spTgt>
                                        </p:tgtEl>
                                        <p:attrNameLst>
                                          <p:attrName>style.visibility</p:attrName>
                                        </p:attrNameLst>
                                      </p:cBhvr>
                                      <p:to>
                                        <p:strVal val="visible"/>
                                      </p:to>
                                    </p:set>
                                    <p:animEffect transition="in" filter="wipe(down)">
                                      <p:cBhvr>
                                        <p:cTn id="7" dur="500"/>
                                        <p:tgtEl>
                                          <p:spTgt spid="2">
                                            <p:txEl>
                                              <p:pRg st="2" end="2"/>
                                            </p:txEl>
                                          </p:spTgt>
                                        </p:tgtEl>
                                      </p:cBhvr>
                                    </p:animEffect>
                                  </p:childTnLst>
                                </p:cTn>
                              </p:par>
                              <p:par>
                                <p:cTn id="8" presetID="22" presetClass="entr" presetSubtype="4" fill="hold" nodeType="withEffect">
                                  <p:stCondLst>
                                    <p:cond delay="0"/>
                                  </p:stCondLst>
                                  <p:childTnLst>
                                    <p:set>
                                      <p:cBhvr>
                                        <p:cTn id="9" dur="1" fill="hold">
                                          <p:stCondLst>
                                            <p:cond delay="0"/>
                                          </p:stCondLst>
                                        </p:cTn>
                                        <p:tgtEl>
                                          <p:spTgt spid="2">
                                            <p:txEl>
                                              <p:pRg st="3" end="3"/>
                                            </p:txEl>
                                          </p:spTgt>
                                        </p:tgtEl>
                                        <p:attrNameLst>
                                          <p:attrName>style.visibility</p:attrName>
                                        </p:attrNameLst>
                                      </p:cBhvr>
                                      <p:to>
                                        <p:strVal val="visible"/>
                                      </p:to>
                                    </p:set>
                                    <p:animEffect transition="in" filter="wipe(down)">
                                      <p:cBhvr>
                                        <p:cTn id="10" dur="500"/>
                                        <p:tgtEl>
                                          <p:spTgt spid="2">
                                            <p:txEl>
                                              <p:pRg st="3" end="3"/>
                                            </p:txEl>
                                          </p:spTgt>
                                        </p:tgtEl>
                                      </p:cBhvr>
                                    </p:animEffect>
                                  </p:childTnLst>
                                </p:cTn>
                              </p:par>
                              <p:par>
                                <p:cTn id="11" presetID="22" presetClass="entr" presetSubtype="4" fill="hold" nodeType="withEffect">
                                  <p:stCondLst>
                                    <p:cond delay="0"/>
                                  </p:stCondLst>
                                  <p:childTnLst>
                                    <p:set>
                                      <p:cBhvr>
                                        <p:cTn id="12" dur="1" fill="hold">
                                          <p:stCondLst>
                                            <p:cond delay="0"/>
                                          </p:stCondLst>
                                        </p:cTn>
                                        <p:tgtEl>
                                          <p:spTgt spid="2">
                                            <p:txEl>
                                              <p:pRg st="4" end="4"/>
                                            </p:txEl>
                                          </p:spTgt>
                                        </p:tgtEl>
                                        <p:attrNameLst>
                                          <p:attrName>style.visibility</p:attrName>
                                        </p:attrNameLst>
                                      </p:cBhvr>
                                      <p:to>
                                        <p:strVal val="visible"/>
                                      </p:to>
                                    </p:set>
                                    <p:animEffect transition="in" filter="wipe(down)">
                                      <p:cBhvr>
                                        <p:cTn id="13" dur="500"/>
                                        <p:tgtEl>
                                          <p:spTgt spid="2">
                                            <p:txEl>
                                              <p:pRg st="4" end="4"/>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6" presetClass="entr" presetSubtype="21" fill="hold" nodeType="clickEffect">
                                  <p:stCondLst>
                                    <p:cond delay="0"/>
                                  </p:stCondLst>
                                  <p:childTnLst>
                                    <p:set>
                                      <p:cBhvr>
                                        <p:cTn id="17" dur="1" fill="hold">
                                          <p:stCondLst>
                                            <p:cond delay="0"/>
                                          </p:stCondLst>
                                        </p:cTn>
                                        <p:tgtEl>
                                          <p:spTgt spid="2">
                                            <p:txEl>
                                              <p:pRg st="5" end="5"/>
                                            </p:txEl>
                                          </p:spTgt>
                                        </p:tgtEl>
                                        <p:attrNameLst>
                                          <p:attrName>style.visibility</p:attrName>
                                        </p:attrNameLst>
                                      </p:cBhvr>
                                      <p:to>
                                        <p:strVal val="visible"/>
                                      </p:to>
                                    </p:set>
                                    <p:animEffect transition="in" filter="barn(inVertical)">
                                      <p:cBhvr>
                                        <p:cTn id="18" dur="500"/>
                                        <p:tgtEl>
                                          <p:spTgt spid="2">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对象 2"/>
          <p:cNvGraphicFramePr>
            <a:graphicFrameLocks noChangeAspect="1"/>
          </p:cNvGraphicFramePr>
          <p:nvPr>
            <p:extLst>
              <p:ext uri="{D42A27DB-BD31-4B8C-83A1-F6EECF244321}">
                <p14:modId xmlns:p14="http://schemas.microsoft.com/office/powerpoint/2010/main" val="1831904785"/>
              </p:ext>
            </p:extLst>
          </p:nvPr>
        </p:nvGraphicFramePr>
        <p:xfrm>
          <a:off x="474519" y="379167"/>
          <a:ext cx="11430000" cy="2010264"/>
        </p:xfrm>
        <a:graphic>
          <a:graphicData uri="http://schemas.openxmlformats.org/presentationml/2006/ole">
            <mc:AlternateContent xmlns:mc="http://schemas.openxmlformats.org/markup-compatibility/2006">
              <mc:Choice xmlns:v="urn:schemas-microsoft-com:vml" Requires="v">
                <p:oleObj spid="_x0000_s30762" name="文档" r:id="rId3" imgW="4510061" imgH="793212" progId="Word.Document.12">
                  <p:embed/>
                </p:oleObj>
              </mc:Choice>
              <mc:Fallback>
                <p:oleObj name="文档" r:id="rId3" imgW="4510061" imgH="793212" progId="Word.Document.12">
                  <p:embed/>
                  <p:pic>
                    <p:nvPicPr>
                      <p:cNvPr id="0" name=""/>
                      <p:cNvPicPr/>
                      <p:nvPr/>
                    </p:nvPicPr>
                    <p:blipFill>
                      <a:blip r:embed="rId4"/>
                      <a:stretch>
                        <a:fillRect/>
                      </a:stretch>
                    </p:blipFill>
                    <p:spPr>
                      <a:xfrm>
                        <a:off x="474519" y="379167"/>
                        <a:ext cx="11430000" cy="2010264"/>
                      </a:xfrm>
                      <a:prstGeom prst="rect">
                        <a:avLst/>
                      </a:prstGeom>
                    </p:spPr>
                  </p:pic>
                </p:oleObj>
              </mc:Fallback>
            </mc:AlternateContent>
          </a:graphicData>
        </a:graphic>
      </p:graphicFrame>
      <p:graphicFrame>
        <p:nvGraphicFramePr>
          <p:cNvPr id="4" name="对象 3"/>
          <p:cNvGraphicFramePr>
            <a:graphicFrameLocks noChangeAspect="1"/>
          </p:cNvGraphicFramePr>
          <p:nvPr>
            <p:extLst>
              <p:ext uri="{D42A27DB-BD31-4B8C-83A1-F6EECF244321}">
                <p14:modId xmlns:p14="http://schemas.microsoft.com/office/powerpoint/2010/main" val="2714513754"/>
              </p:ext>
            </p:extLst>
          </p:nvPr>
        </p:nvGraphicFramePr>
        <p:xfrm>
          <a:off x="474519" y="2389431"/>
          <a:ext cx="11430000" cy="3015855"/>
        </p:xfrm>
        <a:graphic>
          <a:graphicData uri="http://schemas.openxmlformats.org/presentationml/2006/ole">
            <mc:AlternateContent xmlns:mc="http://schemas.openxmlformats.org/markup-compatibility/2006">
              <mc:Choice xmlns:v="urn:schemas-microsoft-com:vml" Requires="v">
                <p:oleObj spid="_x0000_s30763" name="文档" r:id="rId5" imgW="4510061" imgH="1189999" progId="Word.Document.12">
                  <p:embed/>
                </p:oleObj>
              </mc:Choice>
              <mc:Fallback>
                <p:oleObj name="文档" r:id="rId5" imgW="4510061" imgH="1189999" progId="Word.Document.12">
                  <p:embed/>
                  <p:pic>
                    <p:nvPicPr>
                      <p:cNvPr id="0" name=""/>
                      <p:cNvPicPr/>
                      <p:nvPr/>
                    </p:nvPicPr>
                    <p:blipFill>
                      <a:blip r:embed="rId6"/>
                      <a:stretch>
                        <a:fillRect/>
                      </a:stretch>
                    </p:blipFill>
                    <p:spPr>
                      <a:xfrm>
                        <a:off x="474519" y="2389431"/>
                        <a:ext cx="11430000" cy="3015855"/>
                      </a:xfrm>
                      <a:prstGeom prst="rect">
                        <a:avLst/>
                      </a:prstGeom>
                    </p:spPr>
                  </p:pic>
                </p:oleObj>
              </mc:Fallback>
            </mc:AlternateContent>
          </a:graphicData>
        </a:graphic>
      </p:graphicFrame>
      <p:sp>
        <p:nvSpPr>
          <p:cNvPr id="5" name="矩形 4"/>
          <p:cNvSpPr>
            <a:spLocks noChangeAspect="1"/>
          </p:cNvSpPr>
          <p:nvPr/>
        </p:nvSpPr>
        <p:spPr>
          <a:xfrm>
            <a:off x="381000" y="5270411"/>
            <a:ext cx="1351652" cy="652486"/>
          </a:xfrm>
          <a:prstGeom prst="rect">
            <a:avLst/>
          </a:prstGeom>
        </p:spPr>
        <p:txBody>
          <a:bodyPr wrap="none">
            <a:spAutoFit/>
          </a:bodyPr>
          <a:lstStyle/>
          <a:p>
            <a:pPr>
              <a:lnSpc>
                <a:spcPct val="130000"/>
              </a:lnSpc>
              <a:spcAft>
                <a:spcPts val="0"/>
              </a:spcAft>
              <a:tabLst>
                <a:tab pos="1188085" algn="l"/>
                <a:tab pos="2163445" algn="l"/>
                <a:tab pos="3142615" algn="l"/>
                <a:tab pos="4190365" algn="l"/>
              </a:tabLst>
            </a:pPr>
            <a:r>
              <a:rPr lang="zh-CN"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答案</a:t>
            </a:r>
            <a:r>
              <a:rPr lang="en-US"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a:t>
            </a:r>
            <a:r>
              <a:rPr lang="en-US" altLang="zh-CN" sz="2800" dirty="0" smtClean="0">
                <a:solidFill>
                  <a:srgbClr val="000000"/>
                </a:solidFill>
                <a:latin typeface="Times New Roman" panose="02020603050405020304" pitchFamily="18" charset="0"/>
                <a:cs typeface="Times New Roman" panose="02020603050405020304" pitchFamily="18" charset="0"/>
              </a:rPr>
              <a:t>D </a:t>
            </a:r>
            <a:endParaRPr lang="zh-CN" altLang="zh-CN" sz="2800" dirty="0">
              <a:solidFill>
                <a:srgbClr val="000000"/>
              </a:solidFill>
              <a:effectLst/>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2382526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barn(inVertical)">
                                      <p:cBhvr>
                                        <p:cTn id="12"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对象 1"/>
          <p:cNvGraphicFramePr>
            <a:graphicFrameLocks noChangeAspect="1"/>
          </p:cNvGraphicFramePr>
          <p:nvPr>
            <p:extLst>
              <p:ext uri="{D42A27DB-BD31-4B8C-83A1-F6EECF244321}">
                <p14:modId xmlns:p14="http://schemas.microsoft.com/office/powerpoint/2010/main" val="781603382"/>
              </p:ext>
            </p:extLst>
          </p:nvPr>
        </p:nvGraphicFramePr>
        <p:xfrm>
          <a:off x="474518" y="1089324"/>
          <a:ext cx="11430000" cy="1005588"/>
        </p:xfrm>
        <a:graphic>
          <a:graphicData uri="http://schemas.openxmlformats.org/presentationml/2006/ole">
            <mc:AlternateContent xmlns:mc="http://schemas.openxmlformats.org/markup-compatibility/2006">
              <mc:Choice xmlns:v="urn:schemas-microsoft-com:vml" Requires="v">
                <p:oleObj spid="_x0000_s31788" name="文档" r:id="rId3" imgW="4510061" imgH="396786" progId="Word.Document.12">
                  <p:embed/>
                </p:oleObj>
              </mc:Choice>
              <mc:Fallback>
                <p:oleObj name="文档" r:id="rId3" imgW="4510061" imgH="396786" progId="Word.Document.12">
                  <p:embed/>
                  <p:pic>
                    <p:nvPicPr>
                      <p:cNvPr id="0" name=""/>
                      <p:cNvPicPr/>
                      <p:nvPr/>
                    </p:nvPicPr>
                    <p:blipFill>
                      <a:blip r:embed="rId4"/>
                      <a:stretch>
                        <a:fillRect/>
                      </a:stretch>
                    </p:blipFill>
                    <p:spPr>
                      <a:xfrm>
                        <a:off x="474518" y="1089324"/>
                        <a:ext cx="11430000" cy="1005588"/>
                      </a:xfrm>
                      <a:prstGeom prst="rect">
                        <a:avLst/>
                      </a:prstGeom>
                    </p:spPr>
                  </p:pic>
                </p:oleObj>
              </mc:Fallback>
            </mc:AlternateContent>
          </a:graphicData>
        </a:graphic>
      </p:graphicFrame>
      <p:graphicFrame>
        <p:nvGraphicFramePr>
          <p:cNvPr id="3" name="对象 2"/>
          <p:cNvGraphicFramePr>
            <a:graphicFrameLocks noChangeAspect="1"/>
          </p:cNvGraphicFramePr>
          <p:nvPr>
            <p:extLst>
              <p:ext uri="{D42A27DB-BD31-4B8C-83A1-F6EECF244321}">
                <p14:modId xmlns:p14="http://schemas.microsoft.com/office/powerpoint/2010/main" val="4234026075"/>
              </p:ext>
            </p:extLst>
          </p:nvPr>
        </p:nvGraphicFramePr>
        <p:xfrm>
          <a:off x="474518" y="1835681"/>
          <a:ext cx="11430000" cy="1507927"/>
        </p:xfrm>
        <a:graphic>
          <a:graphicData uri="http://schemas.openxmlformats.org/presentationml/2006/ole">
            <mc:AlternateContent xmlns:mc="http://schemas.openxmlformats.org/markup-compatibility/2006">
              <mc:Choice xmlns:v="urn:schemas-microsoft-com:vml" Requires="v">
                <p:oleObj spid="_x0000_s31789" name="文档" r:id="rId5" imgW="4510061" imgH="594999" progId="Word.Document.12">
                  <p:embed/>
                </p:oleObj>
              </mc:Choice>
              <mc:Fallback>
                <p:oleObj name="文档" r:id="rId5" imgW="4510061" imgH="594999" progId="Word.Document.12">
                  <p:embed/>
                  <p:pic>
                    <p:nvPicPr>
                      <p:cNvPr id="0" name=""/>
                      <p:cNvPicPr/>
                      <p:nvPr/>
                    </p:nvPicPr>
                    <p:blipFill>
                      <a:blip r:embed="rId6"/>
                      <a:stretch>
                        <a:fillRect/>
                      </a:stretch>
                    </p:blipFill>
                    <p:spPr>
                      <a:xfrm>
                        <a:off x="474518" y="1835681"/>
                        <a:ext cx="11430000" cy="1507927"/>
                      </a:xfrm>
                      <a:prstGeom prst="rect">
                        <a:avLst/>
                      </a:prstGeom>
                    </p:spPr>
                  </p:pic>
                </p:oleObj>
              </mc:Fallback>
            </mc:AlternateContent>
          </a:graphicData>
        </a:graphic>
      </p:graphicFrame>
      <p:sp>
        <p:nvSpPr>
          <p:cNvPr id="4" name="矩形 3"/>
          <p:cNvSpPr>
            <a:spLocks noChangeAspect="1"/>
          </p:cNvSpPr>
          <p:nvPr/>
        </p:nvSpPr>
        <p:spPr>
          <a:xfrm>
            <a:off x="381000" y="3447870"/>
            <a:ext cx="1271502" cy="652486"/>
          </a:xfrm>
          <a:prstGeom prst="rect">
            <a:avLst/>
          </a:prstGeom>
        </p:spPr>
        <p:txBody>
          <a:bodyPr wrap="none">
            <a:spAutoFit/>
          </a:bodyPr>
          <a:lstStyle/>
          <a:p>
            <a:pPr>
              <a:lnSpc>
                <a:spcPct val="130000"/>
              </a:lnSpc>
              <a:spcAft>
                <a:spcPts val="0"/>
              </a:spcAft>
              <a:tabLst>
                <a:tab pos="1188085" algn="l"/>
                <a:tab pos="2163445" algn="l"/>
                <a:tab pos="3142615" algn="l"/>
                <a:tab pos="4190365" algn="l"/>
              </a:tabLst>
            </a:pPr>
            <a:r>
              <a:rPr lang="zh-CN"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答案</a:t>
            </a:r>
            <a:r>
              <a:rPr lang="en-US"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a:t>
            </a:r>
            <a:r>
              <a:rPr lang="en-US" altLang="zh-CN" sz="2800" dirty="0" smtClean="0">
                <a:solidFill>
                  <a:srgbClr val="000000"/>
                </a:solidFill>
                <a:latin typeface="Times New Roman" panose="02020603050405020304" pitchFamily="18" charset="0"/>
                <a:cs typeface="Times New Roman" panose="02020603050405020304" pitchFamily="18" charset="0"/>
              </a:rPr>
              <a:t>0 </a:t>
            </a:r>
            <a:endParaRPr lang="zh-CN" altLang="zh-CN" sz="2800" dirty="0">
              <a:solidFill>
                <a:srgbClr val="000000"/>
              </a:solidFill>
              <a:effectLst/>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366111513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down)">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barn(inVertical)">
                                      <p:cBhvr>
                                        <p:cTn id="12"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对象 1"/>
          <p:cNvGraphicFramePr>
            <a:graphicFrameLocks noChangeAspect="1"/>
          </p:cNvGraphicFramePr>
          <p:nvPr>
            <p:extLst>
              <p:ext uri="{D42A27DB-BD31-4B8C-83A1-F6EECF244321}">
                <p14:modId xmlns:p14="http://schemas.microsoft.com/office/powerpoint/2010/main" val="2991870750"/>
              </p:ext>
            </p:extLst>
          </p:nvPr>
        </p:nvGraphicFramePr>
        <p:xfrm>
          <a:off x="474518" y="390811"/>
          <a:ext cx="11430000" cy="2010264"/>
        </p:xfrm>
        <a:graphic>
          <a:graphicData uri="http://schemas.openxmlformats.org/presentationml/2006/ole">
            <mc:AlternateContent xmlns:mc="http://schemas.openxmlformats.org/markup-compatibility/2006">
              <mc:Choice xmlns:v="urn:schemas-microsoft-com:vml" Requires="v">
                <p:oleObj spid="_x0000_s32812" name="文档" r:id="rId3" imgW="4510061" imgH="793212" progId="Word.Document.12">
                  <p:embed/>
                </p:oleObj>
              </mc:Choice>
              <mc:Fallback>
                <p:oleObj name="文档" r:id="rId3" imgW="4510061" imgH="793212" progId="Word.Document.12">
                  <p:embed/>
                  <p:pic>
                    <p:nvPicPr>
                      <p:cNvPr id="0" name=""/>
                      <p:cNvPicPr/>
                      <p:nvPr/>
                    </p:nvPicPr>
                    <p:blipFill>
                      <a:blip r:embed="rId4"/>
                      <a:stretch>
                        <a:fillRect/>
                      </a:stretch>
                    </p:blipFill>
                    <p:spPr>
                      <a:xfrm>
                        <a:off x="474518" y="390811"/>
                        <a:ext cx="11430000" cy="2010264"/>
                      </a:xfrm>
                      <a:prstGeom prst="rect">
                        <a:avLst/>
                      </a:prstGeom>
                    </p:spPr>
                  </p:pic>
                </p:oleObj>
              </mc:Fallback>
            </mc:AlternateContent>
          </a:graphicData>
        </a:graphic>
      </p:graphicFrame>
      <p:graphicFrame>
        <p:nvGraphicFramePr>
          <p:cNvPr id="4" name="对象 3"/>
          <p:cNvGraphicFramePr>
            <a:graphicFrameLocks noChangeAspect="1"/>
          </p:cNvGraphicFramePr>
          <p:nvPr>
            <p:extLst>
              <p:ext uri="{D42A27DB-BD31-4B8C-83A1-F6EECF244321}">
                <p14:modId xmlns:p14="http://schemas.microsoft.com/office/powerpoint/2010/main" val="1813124573"/>
              </p:ext>
            </p:extLst>
          </p:nvPr>
        </p:nvGraphicFramePr>
        <p:xfrm>
          <a:off x="474518" y="5151021"/>
          <a:ext cx="11430000" cy="502338"/>
        </p:xfrm>
        <a:graphic>
          <a:graphicData uri="http://schemas.openxmlformats.org/presentationml/2006/ole">
            <mc:AlternateContent xmlns:mc="http://schemas.openxmlformats.org/markup-compatibility/2006">
              <mc:Choice xmlns:v="urn:schemas-microsoft-com:vml" Requires="v">
                <p:oleObj spid="_x0000_s32813" name="文档" r:id="rId5" imgW="4510061" imgH="198213" progId="Word.Document.12">
                  <p:embed/>
                </p:oleObj>
              </mc:Choice>
              <mc:Fallback>
                <p:oleObj name="文档" r:id="rId5" imgW="4510061" imgH="198213" progId="Word.Document.12">
                  <p:embed/>
                  <p:pic>
                    <p:nvPicPr>
                      <p:cNvPr id="0" name=""/>
                      <p:cNvPicPr/>
                      <p:nvPr/>
                    </p:nvPicPr>
                    <p:blipFill>
                      <a:blip r:embed="rId6"/>
                      <a:stretch>
                        <a:fillRect/>
                      </a:stretch>
                    </p:blipFill>
                    <p:spPr>
                      <a:xfrm>
                        <a:off x="474518" y="5151021"/>
                        <a:ext cx="11430000" cy="502338"/>
                      </a:xfrm>
                      <a:prstGeom prst="rect">
                        <a:avLst/>
                      </a:prstGeom>
                    </p:spPr>
                  </p:pic>
                </p:oleObj>
              </mc:Fallback>
            </mc:AlternateContent>
          </a:graphicData>
        </a:graphic>
      </p:graphicFrame>
      <p:pic>
        <p:nvPicPr>
          <p:cNvPr id="6" name="NMX1TRAX27.eps" descr="id:2147512967;FounderCES"/>
          <p:cNvPicPr>
            <a:picLocks noChangeAspect="1"/>
          </p:cNvPicPr>
          <p:nvPr/>
        </p:nvPicPr>
        <p:blipFill>
          <a:blip r:embed="rId7">
            <a:clrChange>
              <a:clrFrom>
                <a:srgbClr val="FFFFFF"/>
              </a:clrFrom>
              <a:clrTo>
                <a:srgbClr val="FFFFFF">
                  <a:alpha val="0"/>
                </a:srgbClr>
              </a:clrTo>
            </a:clrChange>
          </a:blip>
          <a:stretch>
            <a:fillRect/>
          </a:stretch>
        </p:blipFill>
        <p:spPr>
          <a:xfrm>
            <a:off x="4852250" y="1941464"/>
            <a:ext cx="2487501" cy="2979691"/>
          </a:xfrm>
          <a:prstGeom prst="rect">
            <a:avLst/>
          </a:prstGeom>
        </p:spPr>
      </p:pic>
    </p:spTree>
    <p:extLst>
      <p:ext uri="{BB962C8B-B14F-4D97-AF65-F5344CB8AC3E}">
        <p14:creationId xmlns:p14="http://schemas.microsoft.com/office/powerpoint/2010/main" val="322567092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对象 1"/>
          <p:cNvGraphicFramePr>
            <a:graphicFrameLocks noChangeAspect="1"/>
          </p:cNvGraphicFramePr>
          <p:nvPr>
            <p:extLst>
              <p:ext uri="{D42A27DB-BD31-4B8C-83A1-F6EECF244321}">
                <p14:modId xmlns:p14="http://schemas.microsoft.com/office/powerpoint/2010/main" val="1204760566"/>
              </p:ext>
            </p:extLst>
          </p:nvPr>
        </p:nvGraphicFramePr>
        <p:xfrm>
          <a:off x="480725" y="-101024"/>
          <a:ext cx="11430000" cy="7037297"/>
        </p:xfrm>
        <a:graphic>
          <a:graphicData uri="http://schemas.openxmlformats.org/presentationml/2006/ole">
            <mc:AlternateContent xmlns:mc="http://schemas.openxmlformats.org/markup-compatibility/2006">
              <mc:Choice xmlns:v="urn:schemas-microsoft-com:vml" Requires="v">
                <p:oleObj spid="_x0000_s33814" name="文档" r:id="rId3" imgW="4510061" imgH="2776784" progId="Word.Document.12">
                  <p:embed/>
                </p:oleObj>
              </mc:Choice>
              <mc:Fallback>
                <p:oleObj name="文档" r:id="rId3" imgW="4510061" imgH="2776784" progId="Word.Document.12">
                  <p:embed/>
                  <p:pic>
                    <p:nvPicPr>
                      <p:cNvPr id="0" name=""/>
                      <p:cNvPicPr/>
                      <p:nvPr/>
                    </p:nvPicPr>
                    <p:blipFill>
                      <a:blip r:embed="rId4"/>
                      <a:stretch>
                        <a:fillRect/>
                      </a:stretch>
                    </p:blipFill>
                    <p:spPr>
                      <a:xfrm>
                        <a:off x="480725" y="-101024"/>
                        <a:ext cx="11430000" cy="7037297"/>
                      </a:xfrm>
                      <a:prstGeom prst="rect">
                        <a:avLst/>
                      </a:prstGeom>
                    </p:spPr>
                  </p:pic>
                </p:oleObj>
              </mc:Fallback>
            </mc:AlternateContent>
          </a:graphicData>
        </a:graphic>
      </p:graphicFrame>
    </p:spTree>
    <p:extLst>
      <p:ext uri="{BB962C8B-B14F-4D97-AF65-F5344CB8AC3E}">
        <p14:creationId xmlns:p14="http://schemas.microsoft.com/office/powerpoint/2010/main" val="323107202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a:spLocks noChangeAspect="1"/>
          </p:cNvSpPr>
          <p:nvPr/>
        </p:nvSpPr>
        <p:spPr>
          <a:xfrm>
            <a:off x="381000" y="594591"/>
            <a:ext cx="11430000" cy="1212640"/>
          </a:xfrm>
          <a:prstGeom prst="rect">
            <a:avLst/>
          </a:prstGeom>
        </p:spPr>
        <p:txBody>
          <a:bodyPr>
            <a:spAutoFit/>
          </a:bodyPr>
          <a:lstStyle/>
          <a:p>
            <a:pPr>
              <a:lnSpc>
                <a:spcPct val="130000"/>
              </a:lnSpc>
              <a:spcAft>
                <a:spcPts val="0"/>
              </a:spcAft>
              <a:tabLst>
                <a:tab pos="1188085" algn="l"/>
                <a:tab pos="2163445" algn="l"/>
                <a:tab pos="3142615" algn="l"/>
                <a:tab pos="4190365" algn="l"/>
              </a:tabLst>
            </a:pPr>
            <a:r>
              <a:rPr lang="en-US" altLang="zh-CN" sz="2800" b="1" dirty="0">
                <a:solidFill>
                  <a:srgbClr val="000000"/>
                </a:solidFill>
                <a:latin typeface="Times New Roman" panose="02020603050405020304" pitchFamily="18" charset="0"/>
                <a:cs typeface="Times New Roman" panose="02020603050405020304" pitchFamily="18" charset="0"/>
              </a:rPr>
              <a:t>5</a:t>
            </a:r>
            <a:r>
              <a:rPr lang="en-US" altLang="zh-CN" sz="2800" i="1" dirty="0" smtClean="0">
                <a:solidFill>
                  <a:srgbClr val="000000"/>
                </a:solidFill>
                <a:latin typeface="Times New Roman" panose="02020603050405020304" pitchFamily="18" charset="0"/>
                <a:cs typeface="Times New Roman" panose="02020603050405020304" pitchFamily="18" charset="0"/>
              </a:rPr>
              <a:t>.</a:t>
            </a:r>
            <a:r>
              <a:rPr lang="zh-CN" altLang="zh-CN" sz="2800" dirty="0" smtClean="0">
                <a:solidFill>
                  <a:srgbClr val="000000"/>
                </a:solidFill>
                <a:latin typeface="Times New Roman" panose="02020603050405020304" pitchFamily="18" charset="0"/>
                <a:cs typeface="Times New Roman" panose="02020603050405020304" pitchFamily="18" charset="0"/>
              </a:rPr>
              <a:t>如</a:t>
            </a:r>
            <a:r>
              <a:rPr lang="zh-CN" altLang="zh-CN" sz="2800" dirty="0">
                <a:solidFill>
                  <a:srgbClr val="000000"/>
                </a:solidFill>
                <a:latin typeface="Times New Roman" panose="02020603050405020304" pitchFamily="18" charset="0"/>
                <a:cs typeface="Times New Roman" panose="02020603050405020304" pitchFamily="18" charset="0"/>
              </a:rPr>
              <a:t>图</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在四棱锥</a:t>
            </a:r>
            <a:r>
              <a:rPr lang="en-US" altLang="zh-CN" sz="2800" i="1" dirty="0">
                <a:solidFill>
                  <a:srgbClr val="000000"/>
                </a:solidFill>
                <a:latin typeface="Times New Roman" panose="02020603050405020304" pitchFamily="18" charset="0"/>
                <a:cs typeface="Times New Roman" panose="02020603050405020304" pitchFamily="18" charset="0"/>
              </a:rPr>
              <a:t>P-ABCD</a:t>
            </a:r>
            <a:r>
              <a:rPr lang="zh-CN" altLang="zh-CN" sz="2800" dirty="0">
                <a:solidFill>
                  <a:srgbClr val="000000"/>
                </a:solidFill>
                <a:latin typeface="Times New Roman" panose="02020603050405020304" pitchFamily="18" charset="0"/>
                <a:cs typeface="Times New Roman" panose="02020603050405020304" pitchFamily="18" charset="0"/>
              </a:rPr>
              <a:t>中</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底面</a:t>
            </a:r>
            <a:r>
              <a:rPr lang="en-US" altLang="zh-CN" sz="2800" i="1" dirty="0">
                <a:solidFill>
                  <a:srgbClr val="000000"/>
                </a:solidFill>
                <a:latin typeface="Times New Roman" panose="02020603050405020304" pitchFamily="18" charset="0"/>
                <a:cs typeface="Times New Roman" panose="02020603050405020304" pitchFamily="18" charset="0"/>
              </a:rPr>
              <a:t>ABCD</a:t>
            </a:r>
            <a:r>
              <a:rPr lang="zh-CN" altLang="zh-CN" sz="2800" dirty="0">
                <a:solidFill>
                  <a:srgbClr val="000000"/>
                </a:solidFill>
                <a:latin typeface="Times New Roman" panose="02020603050405020304" pitchFamily="18" charset="0"/>
                <a:cs typeface="Times New Roman" panose="02020603050405020304" pitchFamily="18" charset="0"/>
              </a:rPr>
              <a:t>为平行四边形</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AD=</a:t>
            </a:r>
            <a:r>
              <a:rPr lang="en-US" altLang="zh-CN" sz="2800" dirty="0">
                <a:solidFill>
                  <a:srgbClr val="000000"/>
                </a:solidFill>
                <a:latin typeface="Times New Roman" panose="02020603050405020304" pitchFamily="18" charset="0"/>
                <a:cs typeface="Times New Roman" panose="02020603050405020304" pitchFamily="18" charset="0"/>
              </a:rPr>
              <a:t>4,</a:t>
            </a:r>
            <a:r>
              <a:rPr lang="en-US" altLang="zh-CN" sz="2800" i="1" dirty="0">
                <a:solidFill>
                  <a:srgbClr val="000000"/>
                </a:solidFill>
                <a:latin typeface="Times New Roman" panose="02020603050405020304" pitchFamily="18" charset="0"/>
                <a:cs typeface="Times New Roman" panose="02020603050405020304" pitchFamily="18" charset="0"/>
              </a:rPr>
              <a:t>CD=</a:t>
            </a:r>
            <a:r>
              <a:rPr lang="en-US" altLang="zh-CN" sz="2800" dirty="0">
                <a:solidFill>
                  <a:srgbClr val="000000"/>
                </a:solidFill>
                <a:latin typeface="Times New Roman" panose="02020603050405020304" pitchFamily="18" charset="0"/>
                <a:cs typeface="Times New Roman" panose="02020603050405020304" pitchFamily="18" charset="0"/>
              </a:rPr>
              <a:t>3</a:t>
            </a:r>
            <a:r>
              <a:rPr lang="en-US" altLang="zh-CN" sz="2800" dirty="0" smtClean="0">
                <a:solidFill>
                  <a:srgbClr val="000000"/>
                </a:solidFill>
                <a:latin typeface="Times New Roman" panose="02020603050405020304" pitchFamily="18" charset="0"/>
                <a:cs typeface="Times New Roman" panose="02020603050405020304" pitchFamily="18" charset="0"/>
              </a:rPr>
              <a:t>, </a:t>
            </a:r>
            <a:r>
              <a:rPr lang="zh-CN" altLang="zh-CN" sz="2800" dirty="0" smtClean="0">
                <a:solidFill>
                  <a:srgbClr val="000000"/>
                </a:solidFill>
                <a:latin typeface="NEU-BZ-S92"/>
                <a:cs typeface="宋体" panose="02010600030101010101" pitchFamily="2" charset="-122"/>
              </a:rPr>
              <a:t>∠</a:t>
            </a:r>
            <a:r>
              <a:rPr lang="en-US" altLang="zh-CN" sz="2800" i="1" dirty="0">
                <a:solidFill>
                  <a:srgbClr val="000000"/>
                </a:solidFill>
                <a:latin typeface="Times New Roman" panose="02020603050405020304" pitchFamily="18" charset="0"/>
                <a:cs typeface="Times New Roman" panose="02020603050405020304" pitchFamily="18" charset="0"/>
              </a:rPr>
              <a:t>ADC=</a:t>
            </a:r>
            <a:r>
              <a:rPr lang="en-US" altLang="zh-CN" sz="2800" dirty="0">
                <a:solidFill>
                  <a:srgbClr val="000000"/>
                </a:solidFill>
                <a:latin typeface="Times New Roman" panose="02020603050405020304" pitchFamily="18" charset="0"/>
                <a:cs typeface="Times New Roman" panose="02020603050405020304" pitchFamily="18" charset="0"/>
              </a:rPr>
              <a:t>60</a:t>
            </a:r>
            <a:r>
              <a:rPr lang="en-US" altLang="zh-CN" sz="2800" dirty="0">
                <a:solidFill>
                  <a:srgbClr val="000000"/>
                </a:solidFill>
                <a:latin typeface="宋体" panose="02010600030101010101" pitchFamily="2" charset="-122"/>
                <a:ea typeface="方正书宋_GBK" panose="03000509000000000000" pitchFamily="65" charset="-122"/>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侧棱</a:t>
            </a:r>
            <a:r>
              <a:rPr lang="en-US" altLang="zh-CN" sz="2800" i="1" dirty="0">
                <a:solidFill>
                  <a:srgbClr val="000000"/>
                </a:solidFill>
                <a:latin typeface="Times New Roman" panose="02020603050405020304" pitchFamily="18" charset="0"/>
                <a:cs typeface="Times New Roman" panose="02020603050405020304" pitchFamily="18" charset="0"/>
              </a:rPr>
              <a:t>PA</a:t>
            </a:r>
            <a:r>
              <a:rPr lang="zh-CN" altLang="zh-CN" sz="2800" dirty="0">
                <a:solidFill>
                  <a:srgbClr val="000000"/>
                </a:solidFill>
                <a:latin typeface="NEU-BZ-S92"/>
                <a:cs typeface="宋体" panose="02010600030101010101" pitchFamily="2" charset="-122"/>
              </a:rPr>
              <a:t>⊥</a:t>
            </a:r>
            <a:r>
              <a:rPr lang="zh-CN" altLang="zh-CN" sz="2800" dirty="0">
                <a:solidFill>
                  <a:srgbClr val="000000"/>
                </a:solidFill>
                <a:latin typeface="Times New Roman" panose="02020603050405020304" pitchFamily="18" charset="0"/>
                <a:cs typeface="Times New Roman" panose="02020603050405020304" pitchFamily="18" charset="0"/>
              </a:rPr>
              <a:t>底面</a:t>
            </a:r>
            <a:r>
              <a:rPr lang="en-US" altLang="zh-CN" sz="2800" i="1" dirty="0">
                <a:solidFill>
                  <a:srgbClr val="000000"/>
                </a:solidFill>
                <a:latin typeface="Times New Roman" panose="02020603050405020304" pitchFamily="18" charset="0"/>
                <a:cs typeface="Times New Roman" panose="02020603050405020304" pitchFamily="18" charset="0"/>
              </a:rPr>
              <a:t>ABCD</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PA=</a:t>
            </a:r>
            <a:r>
              <a:rPr lang="en-US" altLang="zh-CN" sz="2800" dirty="0">
                <a:solidFill>
                  <a:srgbClr val="000000"/>
                </a:solidFill>
                <a:latin typeface="Times New Roman" panose="02020603050405020304" pitchFamily="18" charset="0"/>
                <a:cs typeface="Times New Roman" panose="02020603050405020304" pitchFamily="18" charset="0"/>
              </a:rPr>
              <a:t>6,</a:t>
            </a:r>
            <a:r>
              <a:rPr lang="zh-CN" altLang="zh-CN" sz="2800" dirty="0">
                <a:solidFill>
                  <a:srgbClr val="000000"/>
                </a:solidFill>
                <a:latin typeface="Times New Roman" panose="02020603050405020304" pitchFamily="18" charset="0"/>
                <a:cs typeface="Times New Roman" panose="02020603050405020304" pitchFamily="18" charset="0"/>
              </a:rPr>
              <a:t>求线段</a:t>
            </a:r>
            <a:r>
              <a:rPr lang="en-US" altLang="zh-CN" sz="2800" i="1" dirty="0">
                <a:solidFill>
                  <a:srgbClr val="000000"/>
                </a:solidFill>
                <a:latin typeface="Times New Roman" panose="02020603050405020304" pitchFamily="18" charset="0"/>
                <a:cs typeface="Times New Roman" panose="02020603050405020304" pitchFamily="18" charset="0"/>
              </a:rPr>
              <a:t>PC</a:t>
            </a:r>
            <a:r>
              <a:rPr lang="zh-CN" altLang="zh-CN" sz="2800" dirty="0">
                <a:solidFill>
                  <a:srgbClr val="000000"/>
                </a:solidFill>
                <a:latin typeface="Times New Roman" panose="02020603050405020304" pitchFamily="18" charset="0"/>
                <a:cs typeface="Times New Roman" panose="02020603050405020304" pitchFamily="18" charset="0"/>
              </a:rPr>
              <a:t>的长</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effectLst/>
              <a:latin typeface="NEU-BZ-S92"/>
              <a:ea typeface="方正书宋_GBK" panose="03000509000000000000" pitchFamily="65" charset="-122"/>
              <a:cs typeface="Times New Roman" panose="02020603050405020304" pitchFamily="18" charset="0"/>
            </a:endParaRPr>
          </a:p>
        </p:txBody>
      </p:sp>
      <p:pic>
        <p:nvPicPr>
          <p:cNvPr id="5" name="NMX1TRAX28.eps" descr="id:2147512974;FounderCES"/>
          <p:cNvPicPr>
            <a:picLocks noChangeAspect="1"/>
          </p:cNvPicPr>
          <p:nvPr/>
        </p:nvPicPr>
        <p:blipFill>
          <a:blip r:embed="rId2">
            <a:clrChange>
              <a:clrFrom>
                <a:srgbClr val="FFFFFF"/>
              </a:clrFrom>
              <a:clrTo>
                <a:srgbClr val="FFFFFF">
                  <a:alpha val="0"/>
                </a:srgbClr>
              </a:clrTo>
            </a:clrChange>
          </a:blip>
          <a:stretch>
            <a:fillRect/>
          </a:stretch>
        </p:blipFill>
        <p:spPr>
          <a:xfrm>
            <a:off x="4852250" y="1952283"/>
            <a:ext cx="2487501" cy="3103912"/>
          </a:xfrm>
          <a:prstGeom prst="rect">
            <a:avLst/>
          </a:prstGeom>
        </p:spPr>
      </p:pic>
    </p:spTree>
    <p:extLst>
      <p:ext uri="{BB962C8B-B14F-4D97-AF65-F5344CB8AC3E}">
        <p14:creationId xmlns:p14="http://schemas.microsoft.com/office/powerpoint/2010/main" val="288875069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对象 1"/>
          <p:cNvGraphicFramePr>
            <a:graphicFrameLocks noChangeAspect="1"/>
          </p:cNvGraphicFramePr>
          <p:nvPr>
            <p:extLst>
              <p:ext uri="{D42A27DB-BD31-4B8C-83A1-F6EECF244321}">
                <p14:modId xmlns:p14="http://schemas.microsoft.com/office/powerpoint/2010/main" val="748074916"/>
              </p:ext>
            </p:extLst>
          </p:nvPr>
        </p:nvGraphicFramePr>
        <p:xfrm>
          <a:off x="464127" y="65232"/>
          <a:ext cx="11430000" cy="6534044"/>
        </p:xfrm>
        <a:graphic>
          <a:graphicData uri="http://schemas.openxmlformats.org/presentationml/2006/ole">
            <mc:AlternateContent xmlns:mc="http://schemas.openxmlformats.org/markup-compatibility/2006">
              <mc:Choice xmlns:v="urn:schemas-microsoft-com:vml" Requires="v">
                <p:oleObj spid="_x0000_s34838" name="文档" r:id="rId3" imgW="4510061" imgH="2578210" progId="Word.Document.12">
                  <p:embed/>
                </p:oleObj>
              </mc:Choice>
              <mc:Fallback>
                <p:oleObj name="文档" r:id="rId3" imgW="4510061" imgH="2578210" progId="Word.Document.12">
                  <p:embed/>
                  <p:pic>
                    <p:nvPicPr>
                      <p:cNvPr id="0" name=""/>
                      <p:cNvPicPr/>
                      <p:nvPr/>
                    </p:nvPicPr>
                    <p:blipFill>
                      <a:blip r:embed="rId4"/>
                      <a:stretch>
                        <a:fillRect/>
                      </a:stretch>
                    </p:blipFill>
                    <p:spPr>
                      <a:xfrm>
                        <a:off x="464127" y="65232"/>
                        <a:ext cx="11430000" cy="6534044"/>
                      </a:xfrm>
                      <a:prstGeom prst="rect">
                        <a:avLst/>
                      </a:prstGeom>
                    </p:spPr>
                  </p:pic>
                </p:oleObj>
              </mc:Fallback>
            </mc:AlternateContent>
          </a:graphicData>
        </a:graphic>
      </p:graphicFrame>
    </p:spTree>
    <p:extLst>
      <p:ext uri="{BB962C8B-B14F-4D97-AF65-F5344CB8AC3E}">
        <p14:creationId xmlns:p14="http://schemas.microsoft.com/office/powerpoint/2010/main" val="419017085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7" descr="阴影"/>
          <p:cNvPicPr>
            <a:picLocks noChangeAspect="1"/>
          </p:cNvPicPr>
          <p:nvPr/>
        </p:nvPicPr>
        <p:blipFill>
          <a:blip r:embed="rId2"/>
          <a:stretch>
            <a:fillRect/>
          </a:stretch>
        </p:blipFill>
        <p:spPr>
          <a:xfrm>
            <a:off x="2325712" y="1511279"/>
            <a:ext cx="7280625" cy="3396125"/>
          </a:xfrm>
          <a:prstGeom prst="rect">
            <a:avLst/>
          </a:prstGeom>
        </p:spPr>
      </p:pic>
      <p:sp>
        <p:nvSpPr>
          <p:cNvPr id="9" name="文本框 8"/>
          <p:cNvSpPr txBox="1"/>
          <p:nvPr/>
        </p:nvSpPr>
        <p:spPr>
          <a:xfrm>
            <a:off x="1809976" y="4908623"/>
            <a:ext cx="8572049" cy="1292662"/>
          </a:xfrm>
          <a:prstGeom prst="rect">
            <a:avLst/>
          </a:prstGeom>
          <a:noFill/>
        </p:spPr>
        <p:txBody>
          <a:bodyPr wrap="square" rtlCol="0">
            <a:spAutoFit/>
          </a:bodyPr>
          <a:lstStyle/>
          <a:p>
            <a:pPr algn="ctr" fontAlgn="auto">
              <a:lnSpc>
                <a:spcPct val="150000"/>
              </a:lnSpc>
            </a:pPr>
            <a:r>
              <a:rPr lang="zh-CN" altLang="en-US" sz="2400" smtClean="0">
                <a:solidFill>
                  <a:srgbClr val="55463D"/>
                </a:solidFill>
              </a:rPr>
              <a:t>更多精彩内容请登录</a:t>
            </a:r>
            <a:r>
              <a:rPr lang="zh-CN" altLang="en-US" sz="2800" b="1" smtClean="0">
                <a:solidFill>
                  <a:srgbClr val="55463D"/>
                </a:solidFill>
                <a:latin typeface="华文新魏" panose="02010800040101010101" pitchFamily="2" charset="-122"/>
                <a:ea typeface="华文新魏" panose="02010800040101010101" pitchFamily="2" charset="-122"/>
              </a:rPr>
              <a:t>志鸿优化网</a:t>
            </a:r>
            <a:endParaRPr lang="en-US" altLang="zh-CN" sz="2400" b="1" smtClean="0">
              <a:solidFill>
                <a:srgbClr val="55463D"/>
              </a:solidFill>
              <a:latin typeface="华文新魏" panose="02010800040101010101" pitchFamily="2" charset="-122"/>
              <a:ea typeface="华文新魏" panose="02010800040101010101" pitchFamily="2" charset="-122"/>
            </a:endParaRPr>
          </a:p>
          <a:p>
            <a:pPr algn="ctr" fontAlgn="auto">
              <a:lnSpc>
                <a:spcPct val="150000"/>
              </a:lnSpc>
            </a:pPr>
            <a:r>
              <a:rPr lang="en-US" altLang="zh-CN" sz="2400" smtClean="0">
                <a:solidFill>
                  <a:srgbClr val="55463D"/>
                </a:solidFill>
              </a:rPr>
              <a:t>http</a:t>
            </a:r>
            <a:r>
              <a:rPr lang="en-US" altLang="zh-CN" sz="2400">
                <a:solidFill>
                  <a:srgbClr val="55463D"/>
                </a:solidFill>
              </a:rPr>
              <a:t>://www.zhyh.org</a:t>
            </a:r>
            <a:r>
              <a:rPr lang="en-US" altLang="zh-CN" sz="2400" smtClean="0">
                <a:solidFill>
                  <a:srgbClr val="55463D"/>
                </a:solidFill>
              </a:rPr>
              <a:t>/</a:t>
            </a:r>
            <a:endParaRPr lang="zh-CN" altLang="en-US" sz="2400">
              <a:solidFill>
                <a:srgbClr val="55463D"/>
              </a:solidFill>
            </a:endParaRPr>
          </a:p>
        </p:txBody>
      </p:sp>
      <p:pic>
        <p:nvPicPr>
          <p:cNvPr id="11" name="图片 10"/>
          <p:cNvPicPr>
            <a:picLocks noChangeAspect="1"/>
          </p:cNvPicPr>
          <p:nvPr/>
        </p:nvPicPr>
        <p:blipFill>
          <a:blip r:embed="rId3">
            <a:clrChange>
              <a:clrFrom>
                <a:srgbClr val="ECECEE"/>
              </a:clrFrom>
              <a:clrTo>
                <a:srgbClr val="ECECEE">
                  <a:alpha val="0"/>
                </a:srgbClr>
              </a:clrTo>
            </a:clrChange>
          </a:blip>
          <a:stretch>
            <a:fillRect/>
          </a:stretch>
        </p:blipFill>
        <p:spPr>
          <a:xfrm>
            <a:off x="123290" y="4517181"/>
            <a:ext cx="2325712" cy="2253486"/>
          </a:xfrm>
          <a:prstGeom prst="rect">
            <a:avLst/>
          </a:prstGeom>
        </p:spPr>
      </p:pic>
      <p:sp>
        <p:nvSpPr>
          <p:cNvPr id="12" name="文本框 11"/>
          <p:cNvSpPr txBox="1"/>
          <p:nvPr/>
        </p:nvSpPr>
        <p:spPr>
          <a:xfrm>
            <a:off x="3451123" y="2222090"/>
            <a:ext cx="5609750" cy="1015663"/>
          </a:xfrm>
          <a:prstGeom prst="rect">
            <a:avLst/>
          </a:prstGeom>
          <a:noFill/>
        </p:spPr>
        <p:txBody>
          <a:bodyPr wrap="square" rtlCol="0">
            <a:spAutoFit/>
          </a:bodyPr>
          <a:lstStyle/>
          <a:p>
            <a:r>
              <a:rPr lang="zh-CN" altLang="en-US" sz="6000" b="1" dirty="0">
                <a:solidFill>
                  <a:srgbClr val="55463D"/>
                </a:solidFill>
                <a:latin typeface="思源黑体 CN Medium" panose="020B0600000000000000" pitchFamily="34" charset="-122"/>
                <a:ea typeface="思源黑体 CN Medium" panose="020B0600000000000000" pitchFamily="34" charset="-122"/>
              </a:rPr>
              <a:t>本  课  结  束</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4" presetClass="entr" presetSubtype="5" fill="hold" grpId="0"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randombar(vertical)">
                                      <p:cBhvr>
                                        <p:cTn id="7" dur="500"/>
                                        <p:tgtEl>
                                          <p:spTgt spid="9"/>
                                        </p:tgtEl>
                                      </p:cBhvr>
                                    </p:animEffect>
                                  </p:childTnLst>
                                </p:cTn>
                              </p:par>
                              <p:par>
                                <p:cTn id="8" presetID="3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800" decel="100000"/>
                                        <p:tgtEl>
                                          <p:spTgt spid="11"/>
                                        </p:tgtEl>
                                      </p:cBhvr>
                                    </p:animEffect>
                                    <p:anim calcmode="lin" valueType="num">
                                      <p:cBhvr>
                                        <p:cTn id="11" dur="800" decel="100000" fill="hold"/>
                                        <p:tgtEl>
                                          <p:spTgt spid="11"/>
                                        </p:tgtEl>
                                        <p:attrNameLst>
                                          <p:attrName>style.rotation</p:attrName>
                                        </p:attrNameLst>
                                      </p:cBhvr>
                                      <p:tavLst>
                                        <p:tav tm="0">
                                          <p:val>
                                            <p:fltVal val="-90"/>
                                          </p:val>
                                        </p:tav>
                                        <p:tav tm="100000">
                                          <p:val>
                                            <p:fltVal val="0"/>
                                          </p:val>
                                        </p:tav>
                                      </p:tavLst>
                                    </p:anim>
                                    <p:anim calcmode="lin" valueType="num">
                                      <p:cBhvr>
                                        <p:cTn id="12" dur="800" decel="100000" fill="hold"/>
                                        <p:tgtEl>
                                          <p:spTgt spid="11"/>
                                        </p:tgtEl>
                                        <p:attrNameLst>
                                          <p:attrName>ppt_x</p:attrName>
                                        </p:attrNameLst>
                                      </p:cBhvr>
                                      <p:tavLst>
                                        <p:tav tm="0">
                                          <p:val>
                                            <p:strVal val="#ppt_x+0.4"/>
                                          </p:val>
                                        </p:tav>
                                        <p:tav tm="100000">
                                          <p:val>
                                            <p:strVal val="#ppt_x-0.05"/>
                                          </p:val>
                                        </p:tav>
                                      </p:tavLst>
                                    </p:anim>
                                    <p:anim calcmode="lin" valueType="num">
                                      <p:cBhvr>
                                        <p:cTn id="13" dur="800" decel="100000" fill="hold"/>
                                        <p:tgtEl>
                                          <p:spTgt spid="11"/>
                                        </p:tgtEl>
                                        <p:attrNameLst>
                                          <p:attrName>ppt_y</p:attrName>
                                        </p:attrNameLst>
                                      </p:cBhvr>
                                      <p:tavLst>
                                        <p:tav tm="0">
                                          <p:val>
                                            <p:strVal val="#ppt_y-0.4"/>
                                          </p:val>
                                        </p:tav>
                                        <p:tav tm="100000">
                                          <p:val>
                                            <p:strVal val="#ppt_y+0.1"/>
                                          </p:val>
                                        </p:tav>
                                      </p:tavLst>
                                    </p:anim>
                                    <p:anim calcmode="lin" valueType="num">
                                      <p:cBhvr>
                                        <p:cTn id="14" dur="200" accel="100000" fill="hold">
                                          <p:stCondLst>
                                            <p:cond delay="800"/>
                                          </p:stCondLst>
                                        </p:cTn>
                                        <p:tgtEl>
                                          <p:spTgt spid="11"/>
                                        </p:tgtEl>
                                        <p:attrNameLst>
                                          <p:attrName>ppt_x</p:attrName>
                                        </p:attrNameLst>
                                      </p:cBhvr>
                                      <p:tavLst>
                                        <p:tav tm="0">
                                          <p:val>
                                            <p:strVal val="#ppt_x-0.05"/>
                                          </p:val>
                                        </p:tav>
                                        <p:tav tm="100000">
                                          <p:val>
                                            <p:strVal val="#ppt_x"/>
                                          </p:val>
                                        </p:tav>
                                      </p:tavLst>
                                    </p:anim>
                                    <p:anim calcmode="lin" valueType="num">
                                      <p:cBhvr>
                                        <p:cTn id="15" dur="200" accel="100000" fill="hold">
                                          <p:stCondLst>
                                            <p:cond delay="800"/>
                                          </p:stCondLst>
                                        </p:cTn>
                                        <p:tgtEl>
                                          <p:spTgt spid="11"/>
                                        </p:tgtEl>
                                        <p:attrNameLst>
                                          <p:attrName>ppt_y</p:attrName>
                                        </p:attrNameLst>
                                      </p:cBhvr>
                                      <p:tavLst>
                                        <p:tav tm="0">
                                          <p:val>
                                            <p:strVal val="#ppt_y+0.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tags/tag1.xml><?xml version="1.0" encoding="utf-8"?>
<p:tagLst xmlns:a="http://schemas.openxmlformats.org/drawingml/2006/main" xmlns:r="http://schemas.openxmlformats.org/officeDocument/2006/relationships" xmlns:p="http://schemas.openxmlformats.org/presentationml/2006/main">
  <p:tag name="MH" val="20161022204519"/>
  <p:tag name="MH_LIBRARY" val="GRAPHIC"/>
  <p:tag name="MH_ORDER" val="TextBox 3"/>
</p:tagLst>
</file>

<file path=ppt/theme/theme1.xml><?xml version="1.0" encoding="utf-8"?>
<a:theme xmlns:a="http://schemas.openxmlformats.org/drawingml/2006/main" name="1_Office 主题">
  <a:themeElements>
    <a:clrScheme name="模块">
      <a:dk1>
        <a:sysClr val="windowText" lastClr="000000"/>
      </a:dk1>
      <a:lt1>
        <a:sysClr val="window" lastClr="FFFFFF"/>
      </a:lt1>
      <a:dk2>
        <a:srgbClr val="5A6378"/>
      </a:dk2>
      <a:lt2>
        <a:srgbClr val="D4D4D6"/>
      </a:lt2>
      <a:accent1>
        <a:srgbClr val="F0AD00"/>
      </a:accent1>
      <a:accent2>
        <a:srgbClr val="60B5CC"/>
      </a:accent2>
      <a:accent3>
        <a:srgbClr val="E66C7D"/>
      </a:accent3>
      <a:accent4>
        <a:srgbClr val="6BB76D"/>
      </a:accent4>
      <a:accent5>
        <a:srgbClr val="E88651"/>
      </a:accent5>
      <a:accent6>
        <a:srgbClr val="C64847"/>
      </a:accent6>
      <a:hlink>
        <a:srgbClr val="168BBA"/>
      </a:hlink>
      <a:folHlink>
        <a:srgbClr val="680000"/>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演示文稿1" id="{721B1EAD-A6C0-47A7-B782-D5918D0D228F}" vid="{2963E896-880A-42B6-99FF-93DBD5586BD1}"/>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理科模板</Template>
  <TotalTime>320</TotalTime>
  <Words>1832</Words>
  <Application>Microsoft Office PowerPoint</Application>
  <PresentationFormat>宽屏</PresentationFormat>
  <Paragraphs>153</Paragraphs>
  <Slides>49</Slides>
  <Notes>0</Notes>
  <HiddenSlides>0</HiddenSlides>
  <MMClips>0</MMClips>
  <ScaleCrop>false</ScaleCrop>
  <HeadingPairs>
    <vt:vector size="8" baseType="variant">
      <vt:variant>
        <vt:lpstr>已用的字体</vt:lpstr>
      </vt:variant>
      <vt:variant>
        <vt:i4>19</vt:i4>
      </vt:variant>
      <vt:variant>
        <vt:lpstr>主题</vt:lpstr>
      </vt:variant>
      <vt:variant>
        <vt:i4>1</vt:i4>
      </vt:variant>
      <vt:variant>
        <vt:lpstr>嵌入 OLE 服务器</vt:lpstr>
      </vt:variant>
      <vt:variant>
        <vt:i4>1</vt:i4>
      </vt:variant>
      <vt:variant>
        <vt:lpstr>幻灯片标题</vt:lpstr>
      </vt:variant>
      <vt:variant>
        <vt:i4>49</vt:i4>
      </vt:variant>
    </vt:vector>
  </HeadingPairs>
  <TitlesOfParts>
    <vt:vector size="70" baseType="lpstr">
      <vt:lpstr>NEU-BZ-S92</vt:lpstr>
      <vt:lpstr>Open Sans</vt:lpstr>
      <vt:lpstr>方正书宋_GBK</vt:lpstr>
      <vt:lpstr>方正姚体</vt:lpstr>
      <vt:lpstr>方正正中黑简体</vt:lpstr>
      <vt:lpstr>仿宋</vt:lpstr>
      <vt:lpstr>黑体</vt:lpstr>
      <vt:lpstr>华文细黑</vt:lpstr>
      <vt:lpstr>华文新魏</vt:lpstr>
      <vt:lpstr>楷体</vt:lpstr>
      <vt:lpstr>隶书</vt:lpstr>
      <vt:lpstr>思源黑体 CN Medium</vt:lpstr>
      <vt:lpstr>宋体</vt:lpstr>
      <vt:lpstr>微软雅黑</vt:lpstr>
      <vt:lpstr>Arial</vt:lpstr>
      <vt:lpstr>Calibri</vt:lpstr>
      <vt:lpstr>Cambria Math</vt:lpstr>
      <vt:lpstr>Microsoft Yi Baiti</vt:lpstr>
      <vt:lpstr>Times New Roman</vt:lpstr>
      <vt:lpstr>1_Office 主题</vt:lpstr>
      <vt:lpstr>文档</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ITSK.com</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SkyUser</dc:creator>
  <cp:lastModifiedBy>SkyUser</cp:lastModifiedBy>
  <cp:revision>51</cp:revision>
  <dcterms:created xsi:type="dcterms:W3CDTF">2021-08-30T08:30:26Z</dcterms:created>
  <dcterms:modified xsi:type="dcterms:W3CDTF">2025-08-09T06:58:34Z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2052-11.1.0.10000</vt:lpwstr>
  </property>
</Properties>
</file>