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677" r:id="rId2"/>
    <p:sldId id="488" r:id="rId3"/>
    <p:sldId id="494" r:id="rId4"/>
    <p:sldId id="392" r:id="rId5"/>
    <p:sldId id="686" r:id="rId6"/>
    <p:sldId id="687" r:id="rId7"/>
    <p:sldId id="688" r:id="rId8"/>
    <p:sldId id="689" r:id="rId9"/>
    <p:sldId id="690" r:id="rId10"/>
    <p:sldId id="691" r:id="rId11"/>
    <p:sldId id="692" r:id="rId12"/>
    <p:sldId id="407" r:id="rId13"/>
    <p:sldId id="394" r:id="rId14"/>
    <p:sldId id="699" r:id="rId15"/>
    <p:sldId id="700" r:id="rId16"/>
    <p:sldId id="701" r:id="rId17"/>
    <p:sldId id="702" r:id="rId18"/>
    <p:sldId id="402" r:id="rId19"/>
    <p:sldId id="712" r:id="rId20"/>
    <p:sldId id="713" r:id="rId21"/>
    <p:sldId id="770" r:id="rId22"/>
    <p:sldId id="498" r:id="rId23"/>
    <p:sldId id="730" r:id="rId24"/>
    <p:sldId id="733" r:id="rId25"/>
    <p:sldId id="743" r:id="rId26"/>
    <p:sldId id="744" r:id="rId27"/>
    <p:sldId id="734" r:id="rId28"/>
    <p:sldId id="737" r:id="rId29"/>
    <p:sldId id="742" r:id="rId30"/>
    <p:sldId id="765" r:id="rId31"/>
    <p:sldId id="766" r:id="rId32"/>
    <p:sldId id="767" r:id="rId33"/>
    <p:sldId id="768" r:id="rId34"/>
    <p:sldId id="769" r:id="rId35"/>
    <p:sldId id="740" r:id="rId36"/>
    <p:sldId id="739" r:id="rId37"/>
    <p:sldId id="771" r:id="rId38"/>
    <p:sldId id="745" r:id="rId39"/>
    <p:sldId id="746" r:id="rId40"/>
    <p:sldId id="747" r:id="rId41"/>
    <p:sldId id="398" r:id="rId42"/>
    <p:sldId id="395" r:id="rId43"/>
    <p:sldId id="756" r:id="rId44"/>
    <p:sldId id="757" r:id="rId45"/>
    <p:sldId id="758" r:id="rId46"/>
    <p:sldId id="759" r:id="rId47"/>
    <p:sldId id="760" r:id="rId48"/>
    <p:sldId id="490"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image" Target="../media/image6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13.xml"/><Relationship Id="rId1" Type="http://schemas.openxmlformats.org/officeDocument/2006/relationships/slideMaster" Target="../slideMasters/slideMaster1.xml"/><Relationship Id="rId5" Type="http://schemas.openxmlformats.org/officeDocument/2006/relationships/slide" Target="../slides/slide35.xml"/><Relationship Id="rId4" Type="http://schemas.openxmlformats.org/officeDocument/2006/relationships/slide" Target="../slides/slide2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7" Type="http://schemas.openxmlformats.org/officeDocument/2006/relationships/image" Target="../media/image4.jpe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package" Target="../embeddings/Microsoft_Word___2.docx"/><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3.docx"/><Relationship Id="rId7" Type="http://schemas.openxmlformats.org/officeDocument/2006/relationships/image" Target="../media/image7.jpeg"/><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package" Target="../embeddings/Microsoft_Word___4.docx"/><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package" Target="../embeddings/Microsoft_Word___5.docx"/><Relationship Id="rId7" Type="http://schemas.openxmlformats.org/officeDocument/2006/relationships/package" Target="../embeddings/Microsoft_Word___7.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package" Target="../embeddings/Microsoft_Word___6.docx"/><Relationship Id="rId4" Type="http://schemas.openxmlformats.org/officeDocument/2006/relationships/image" Target="../media/image8.emf"/><Relationship Id="rId9"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4.emf"/><Relationship Id="rId5" Type="http://schemas.openxmlformats.org/officeDocument/2006/relationships/package" Target="../embeddings/Microsoft_Word___10.docx"/><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6.emf"/><Relationship Id="rId5" Type="http://schemas.openxmlformats.org/officeDocument/2006/relationships/package" Target="../embeddings/Microsoft_Word___12.docx"/><Relationship Id="rId4" Type="http://schemas.openxmlformats.org/officeDocument/2006/relationships/image" Target="../media/image15.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8.emf"/><Relationship Id="rId5" Type="http://schemas.openxmlformats.org/officeDocument/2006/relationships/package" Target="../embeddings/Microsoft_Word___14.docx"/><Relationship Id="rId4" Type="http://schemas.openxmlformats.org/officeDocument/2006/relationships/image" Target="../media/image1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emf"/></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6.docx"/><Relationship Id="rId7" Type="http://schemas.openxmlformats.org/officeDocument/2006/relationships/image" Target="../media/image27.e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package" Target="../embeddings/Microsoft_Word___17.docx"/><Relationship Id="rId5" Type="http://schemas.openxmlformats.org/officeDocument/2006/relationships/image" Target="../media/image28.jpeg"/><Relationship Id="rId4" Type="http://schemas.openxmlformats.org/officeDocument/2006/relationships/image" Target="../media/image26.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8.docx"/><Relationship Id="rId7" Type="http://schemas.openxmlformats.org/officeDocument/2006/relationships/image" Target="../media/image31.jpe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0.emf"/><Relationship Id="rId5" Type="http://schemas.openxmlformats.org/officeDocument/2006/relationships/package" Target="../embeddings/Microsoft_Word___19.docx"/><Relationship Id="rId4" Type="http://schemas.openxmlformats.org/officeDocument/2006/relationships/image" Target="../media/image29.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20.docx"/><Relationship Id="rId7" Type="http://schemas.openxmlformats.org/officeDocument/2006/relationships/image" Target="../media/image34.jpe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3.emf"/><Relationship Id="rId5" Type="http://schemas.openxmlformats.org/officeDocument/2006/relationships/package" Target="../embeddings/Microsoft_Word___21.docx"/><Relationship Id="rId4" Type="http://schemas.openxmlformats.org/officeDocument/2006/relationships/image" Target="../media/image32.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35.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36.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7.emf"/></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8.emf"/><Relationship Id="rId4" Type="http://schemas.openxmlformats.org/officeDocument/2006/relationships/package" Target="../embeddings/Microsoft_Word___25.docx"/></Relationships>
</file>

<file path=ppt/slides/_rels/slide2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6.docx"/><Relationship Id="rId7" Type="http://schemas.openxmlformats.org/officeDocument/2006/relationships/image" Target="../media/image42.jpeg"/><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1.emf"/><Relationship Id="rId5" Type="http://schemas.openxmlformats.org/officeDocument/2006/relationships/package" Target="../embeddings/Microsoft_Word___27.docx"/><Relationship Id="rId4" Type="http://schemas.openxmlformats.org/officeDocument/2006/relationships/image" Target="../media/image40.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44.jpeg"/><Relationship Id="rId4" Type="http://schemas.openxmlformats.org/officeDocument/2006/relationships/image" Target="../media/image43.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45.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47.jpeg"/><Relationship Id="rId4" Type="http://schemas.openxmlformats.org/officeDocument/2006/relationships/image" Target="../media/image46.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31.docx"/><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48.emf"/></Relationships>
</file>

<file path=ppt/slides/_rels/slide3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49.emf"/><Relationship Id="rId4" Type="http://schemas.openxmlformats.org/officeDocument/2006/relationships/package" Target="../embeddings/Microsoft_Word___32.docx"/></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51.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52.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5.docx"/><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53.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6.docx"/><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55.jpeg"/><Relationship Id="rId4" Type="http://schemas.openxmlformats.org/officeDocument/2006/relationships/image" Target="../media/image5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Word___37.docx"/><Relationship Id="rId2" Type="http://schemas.openxmlformats.org/officeDocument/2006/relationships/slideLayout" Target="../slideLayouts/slideLayout1.xml"/><Relationship Id="rId1" Type="http://schemas.openxmlformats.org/officeDocument/2006/relationships/vmlDrawing" Target="../drawings/vmlDrawing26.vml"/><Relationship Id="rId4" Type="http://schemas.openxmlformats.org/officeDocument/2006/relationships/image" Target="../media/image56.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38.docx"/><Relationship Id="rId2" Type="http://schemas.openxmlformats.org/officeDocument/2006/relationships/slideLayout" Target="../slideLayouts/slideLayout1.xml"/><Relationship Id="rId1" Type="http://schemas.openxmlformats.org/officeDocument/2006/relationships/vmlDrawing" Target="../drawings/vmlDrawing27.vml"/><Relationship Id="rId4" Type="http://schemas.openxmlformats.org/officeDocument/2006/relationships/image" Target="../media/image57.emf"/></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1.xml"/><Relationship Id="rId1" Type="http://schemas.openxmlformats.org/officeDocument/2006/relationships/vmlDrawing" Target="../drawings/vmlDrawing28.vml"/><Relationship Id="rId5" Type="http://schemas.openxmlformats.org/officeDocument/2006/relationships/image" Target="../media/image59.jpeg"/><Relationship Id="rId4" Type="http://schemas.openxmlformats.org/officeDocument/2006/relationships/image" Target="../media/image58.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package" Target="../embeddings/Microsoft_Word___40.docx"/><Relationship Id="rId7" Type="http://schemas.openxmlformats.org/officeDocument/2006/relationships/package" Target="../embeddings/Microsoft_Word___42.docx"/><Relationship Id="rId2" Type="http://schemas.openxmlformats.org/officeDocument/2006/relationships/slideLayout" Target="../slideLayouts/slideLayout1.xml"/><Relationship Id="rId1" Type="http://schemas.openxmlformats.org/officeDocument/2006/relationships/vmlDrawing" Target="../drawings/vmlDrawing29.vml"/><Relationship Id="rId6" Type="http://schemas.openxmlformats.org/officeDocument/2006/relationships/image" Target="../media/image61.emf"/><Relationship Id="rId5" Type="http://schemas.openxmlformats.org/officeDocument/2006/relationships/package" Target="../embeddings/Microsoft_Word___41.docx"/><Relationship Id="rId4" Type="http://schemas.openxmlformats.org/officeDocument/2006/relationships/image" Target="../media/image60.emf"/><Relationship Id="rId9" Type="http://schemas.openxmlformats.org/officeDocument/2006/relationships/image" Target="../media/image63.jpeg"/></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Word___43.docx"/><Relationship Id="rId7" Type="http://schemas.openxmlformats.org/officeDocument/2006/relationships/image" Target="../media/image66.jpeg"/><Relationship Id="rId2" Type="http://schemas.openxmlformats.org/officeDocument/2006/relationships/slideLayout" Target="../slideLayouts/slideLayout1.xml"/><Relationship Id="rId1" Type="http://schemas.openxmlformats.org/officeDocument/2006/relationships/vmlDrawing" Target="../drawings/vmlDrawing30.vml"/><Relationship Id="rId6" Type="http://schemas.openxmlformats.org/officeDocument/2006/relationships/image" Target="../media/image65.emf"/><Relationship Id="rId5" Type="http://schemas.openxmlformats.org/officeDocument/2006/relationships/package" Target="../embeddings/Microsoft_Word___44.docx"/><Relationship Id="rId4" Type="http://schemas.openxmlformats.org/officeDocument/2006/relationships/image" Target="../media/image64.emf"/></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1.2</a:t>
              </a:r>
              <a:r>
                <a:rPr lang="zh-CN" altLang="en-US" sz="3600" b="1" dirty="0">
                  <a:solidFill>
                    <a:schemeClr val="bg1"/>
                  </a:solidFill>
                  <a:latin typeface="华文细黑" panose="02010600040101010101" charset="-122"/>
                  <a:ea typeface="华文细黑" panose="02010600040101010101" charset="-122"/>
                </a:rPr>
                <a:t>　空间向量基本定理</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a:solidFill>
                  <a:schemeClr val="bg1"/>
                </a:solidFill>
                <a:latin typeface="华文细黑" panose="02010600040101010101" charset="-122"/>
                <a:ea typeface="华文细黑" panose="02010600040101010101" charset="-122"/>
                <a:cs typeface="Open Sans" panose="020B0606030504020204" pitchFamily="34" charset="0"/>
              </a:rPr>
              <a:t>第一</a:t>
            </a: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3879"/>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了解空间向量基本定理及其意义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掌握空间向量的正交分解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掌握在简单问题中运用空间三个不共面的向量作为基底表示其他向量的方法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抽象、直观想象与数学运算素养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extLst>
              <p:ext uri="{D42A27DB-BD31-4B8C-83A1-F6EECF244321}">
                <p14:modId xmlns:p14="http://schemas.microsoft.com/office/powerpoint/2010/main" val="4160047654"/>
              </p:ext>
            </p:extLst>
          </p:nvPr>
        </p:nvGraphicFramePr>
        <p:xfrm>
          <a:off x="69272" y="3353056"/>
          <a:ext cx="11430000" cy="1005588"/>
        </p:xfrm>
        <a:graphic>
          <a:graphicData uri="http://schemas.openxmlformats.org/presentationml/2006/ole">
            <mc:AlternateContent xmlns:mc="http://schemas.openxmlformats.org/markup-compatibility/2006">
              <mc:Choice xmlns:v="urn:schemas-microsoft-com:vml" Requires="v">
                <p:oleObj spid="_x0000_s1068"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69272" y="3353056"/>
                        <a:ext cx="11430000" cy="1005588"/>
                      </a:xfrm>
                      <a:prstGeom prst="rect">
                        <a:avLst/>
                      </a:prstGeom>
                    </p:spPr>
                  </p:pic>
                </p:oleObj>
              </mc:Fallback>
            </mc:AlternateContent>
          </a:graphicData>
        </a:graphic>
      </p:graphicFrame>
      <p:grpSp>
        <p:nvGrpSpPr>
          <p:cNvPr id="13" name="组合 12"/>
          <p:cNvGrpSpPr/>
          <p:nvPr/>
        </p:nvGrpSpPr>
        <p:grpSpPr>
          <a:xfrm>
            <a:off x="381000" y="479911"/>
            <a:ext cx="11430000" cy="3086559"/>
            <a:chOff x="381000" y="978679"/>
            <a:chExt cx="11430000" cy="3086559"/>
          </a:xfrm>
        </p:grpSpPr>
        <p:sp>
          <p:nvSpPr>
            <p:cNvPr id="3" name="矩形 2"/>
            <p:cNvSpPr>
              <a:spLocks noChangeAspect="1"/>
            </p:cNvSpPr>
            <p:nvPr/>
          </p:nvSpPr>
          <p:spPr>
            <a:xfrm>
              <a:off x="381000" y="978679"/>
              <a:ext cx="11430000" cy="5730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 空间向量基本</a:t>
              </a:r>
              <a:r>
                <a:rPr lang="zh-CN" altLang="zh-CN" sz="2800" dirty="0" smtClean="0">
                  <a:solidFill>
                    <a:srgbClr val="000000"/>
                  </a:solidFill>
                  <a:latin typeface="NEU-BZ-S92"/>
                  <a:ea typeface="方正正中黑简体"/>
                  <a:cs typeface="Times New Roman" panose="02020603050405020304" pitchFamily="18" charset="0"/>
                </a:rPr>
                <a:t>定理</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779817948"/>
                </p:ext>
              </p:extLst>
            </p:nvPr>
          </p:nvGraphicFramePr>
          <p:xfrm>
            <a:off x="381000" y="1551721"/>
            <a:ext cx="11430000" cy="2513517"/>
          </p:xfrm>
          <a:graphic>
            <a:graphicData uri="http://schemas.openxmlformats.org/presentationml/2006/ole">
              <mc:AlternateContent xmlns:mc="http://schemas.openxmlformats.org/markup-compatibility/2006">
                <mc:Choice xmlns:v="urn:schemas-microsoft-com:vml" Requires="v">
                  <p:oleObj spid="_x0000_s1069" name="文档" r:id="rId5" imgW="4510061" imgH="993227" progId="Word.Document.12">
                    <p:embed/>
                  </p:oleObj>
                </mc:Choice>
                <mc:Fallback>
                  <p:oleObj name="文档" r:id="rId5" imgW="4510061" imgH="993227" progId="Word.Document.12">
                    <p:embed/>
                    <p:pic>
                      <p:nvPicPr>
                        <p:cNvPr id="0" name=""/>
                        <p:cNvPicPr/>
                        <p:nvPr/>
                      </p:nvPicPr>
                      <p:blipFill>
                        <a:blip r:embed="rId6"/>
                        <a:stretch>
                          <a:fillRect/>
                        </a:stretch>
                      </p:blipFill>
                      <p:spPr>
                        <a:xfrm>
                          <a:off x="381000" y="1551721"/>
                          <a:ext cx="11430000" cy="2513517"/>
                        </a:xfrm>
                        <a:prstGeom prst="rect">
                          <a:avLst/>
                        </a:prstGeom>
                      </p:spPr>
                    </p:pic>
                  </p:oleObj>
                </mc:Fallback>
              </mc:AlternateContent>
            </a:graphicData>
          </a:graphic>
        </p:graphicFrame>
      </p:grpSp>
      <p:sp>
        <p:nvSpPr>
          <p:cNvPr id="11" name="矩形 10"/>
          <p:cNvSpPr>
            <a:spLocks noChangeAspect="1"/>
          </p:cNvSpPr>
          <p:nvPr/>
        </p:nvSpPr>
        <p:spPr>
          <a:xfrm>
            <a:off x="381000" y="416989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在图中任找一个向量</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是否都能用向量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来表示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表示唯一吗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表示唯一</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4" name="NMX1TRAX29.eps" descr="id:2147513087;FounderCES"/>
          <p:cNvPicPr/>
          <p:nvPr/>
        </p:nvPicPr>
        <p:blipFill>
          <a:blip r:embed="rId7">
            <a:clrChange>
              <a:clrFrom>
                <a:srgbClr val="FFFFFF"/>
              </a:clrFrom>
              <a:clrTo>
                <a:srgbClr val="FFFFFF">
                  <a:alpha val="0"/>
                </a:srgbClr>
              </a:clrTo>
            </a:clrChange>
          </a:blip>
          <a:stretch>
            <a:fillRect/>
          </a:stretch>
        </p:blipFill>
        <p:spPr>
          <a:xfrm>
            <a:off x="8333825" y="1883625"/>
            <a:ext cx="2598852" cy="2224714"/>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down)">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3547"/>
            <a:ext cx="11430000" cy="401340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空间</a:t>
            </a:r>
            <a:r>
              <a:rPr lang="zh-CN" altLang="zh-CN" sz="2800" dirty="0">
                <a:solidFill>
                  <a:srgbClr val="000000"/>
                </a:solidFill>
                <a:latin typeface="Times New Roman" panose="02020603050405020304" pitchFamily="18" charset="0"/>
                <a:cs typeface="Times New Roman" panose="02020603050405020304" pitchFamily="18" charset="0"/>
              </a:rPr>
              <a:t>向量基本定理</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定理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如果三个向量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FF0000"/>
                </a:solidFill>
                <a:latin typeface="Times New Roman" panose="02020603050405020304" pitchFamily="18" charset="0"/>
                <a:cs typeface="Times New Roman" panose="02020603050405020304" pitchFamily="18" charset="0"/>
              </a:rPr>
              <a:t>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那么对任意一个空间向量</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存在唯一的有序实数组</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使得</a:t>
            </a:r>
            <a:r>
              <a:rPr lang="en-US" altLang="zh-CN" sz="2800" b="1" dirty="0">
                <a:solidFill>
                  <a:srgbClr val="000000"/>
                </a:solidFill>
                <a:latin typeface="Times New Roman" panose="02020603050405020304" pitchFamily="18" charset="0"/>
                <a:cs typeface="Times New Roman" panose="02020603050405020304" pitchFamily="18" charset="0"/>
              </a:rPr>
              <a:t>p</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err="1" smtClean="0">
                <a:solidFill>
                  <a:srgbClr val="FF0000"/>
                </a:solidFill>
                <a:latin typeface="Times New Roman" panose="02020603050405020304" pitchFamily="18" charset="0"/>
                <a:cs typeface="Times New Roman" panose="02020603050405020304" pitchFamily="18" charset="0"/>
              </a:rPr>
              <a:t>x</a:t>
            </a:r>
            <a:r>
              <a:rPr lang="en-US" altLang="zh-CN" sz="2800" b="1" dirty="0" err="1" smtClean="0">
                <a:solidFill>
                  <a:srgbClr val="FF0000"/>
                </a:solidFill>
                <a:latin typeface="Times New Roman" panose="02020603050405020304" pitchFamily="18" charset="0"/>
                <a:cs typeface="Times New Roman" panose="02020603050405020304" pitchFamily="18" charset="0"/>
              </a:rPr>
              <a:t>a</a:t>
            </a:r>
            <a:r>
              <a:rPr lang="en-US" altLang="zh-CN" sz="2800" i="1" dirty="0" err="1" smtClean="0">
                <a:solidFill>
                  <a:srgbClr val="FF0000"/>
                </a:solidFill>
                <a:latin typeface="Times New Roman" panose="02020603050405020304" pitchFamily="18" charset="0"/>
                <a:cs typeface="Times New Roman" panose="02020603050405020304" pitchFamily="18" charset="0"/>
              </a:rPr>
              <a:t>+y</a:t>
            </a:r>
            <a:r>
              <a:rPr lang="en-US" altLang="zh-CN" sz="2800" b="1" dirty="0" err="1" smtClean="0">
                <a:solidFill>
                  <a:srgbClr val="FF0000"/>
                </a:solidFill>
                <a:latin typeface="Times New Roman" panose="02020603050405020304" pitchFamily="18" charset="0"/>
                <a:cs typeface="Times New Roman" panose="02020603050405020304" pitchFamily="18" charset="0"/>
              </a:rPr>
              <a:t>b</a:t>
            </a:r>
            <a:r>
              <a:rPr lang="en-US" altLang="zh-CN" sz="2800" i="1" dirty="0" err="1" smtClean="0">
                <a:solidFill>
                  <a:srgbClr val="FF0000"/>
                </a:solidFill>
                <a:latin typeface="Times New Roman" panose="02020603050405020304" pitchFamily="18" charset="0"/>
                <a:cs typeface="Times New Roman" panose="02020603050405020304" pitchFamily="18" charset="0"/>
              </a:rPr>
              <a:t>+z</a:t>
            </a:r>
            <a:r>
              <a:rPr lang="en-US" altLang="zh-CN" sz="2800" b="1" dirty="0" err="1" smtClean="0">
                <a:solidFill>
                  <a:srgbClr val="FF0000"/>
                </a:solidFill>
                <a:latin typeface="Times New Roman" panose="02020603050405020304" pitchFamily="18" charset="0"/>
                <a:cs typeface="Times New Roman" panose="02020603050405020304" pitchFamily="18" charset="0"/>
              </a:rPr>
              <a:t>c</a:t>
            </a:r>
            <a:r>
              <a:rPr lang="zh-CN" altLang="en-US" sz="2800" b="1" dirty="0" smtClean="0">
                <a:solidFill>
                  <a:srgbClr val="FF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如果三个向量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那么所有空间向量组成的集合就是</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p|p</a:t>
            </a:r>
            <a:r>
              <a:rPr lang="en-US" altLang="zh-CN" sz="2800" i="1" dirty="0">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x</a:t>
            </a:r>
            <a:r>
              <a:rPr lang="en-US" altLang="zh-CN" sz="2800" b="1" dirty="0" err="1">
                <a:solidFill>
                  <a:srgbClr val="FF0000"/>
                </a:solidFill>
                <a:latin typeface="Times New Roman" panose="02020603050405020304" pitchFamily="18" charset="0"/>
                <a:cs typeface="Times New Roman" panose="02020603050405020304" pitchFamily="18" charset="0"/>
              </a:rPr>
              <a:t>a</a:t>
            </a:r>
            <a:r>
              <a:rPr lang="en-US" altLang="zh-CN" sz="2800" i="1" dirty="0" err="1">
                <a:solidFill>
                  <a:srgbClr val="FF0000"/>
                </a:solidFill>
                <a:latin typeface="Times New Roman" panose="02020603050405020304" pitchFamily="18" charset="0"/>
                <a:cs typeface="Times New Roman" panose="02020603050405020304" pitchFamily="18" charset="0"/>
              </a:rPr>
              <a:t>+y</a:t>
            </a:r>
            <a:r>
              <a:rPr lang="en-US" altLang="zh-CN" sz="2800" b="1" dirty="0" err="1">
                <a:solidFill>
                  <a:srgbClr val="FF0000"/>
                </a:solidFill>
                <a:latin typeface="Times New Roman" panose="02020603050405020304" pitchFamily="18" charset="0"/>
                <a:cs typeface="Times New Roman" panose="02020603050405020304" pitchFamily="18" charset="0"/>
              </a:rPr>
              <a:t>b</a:t>
            </a:r>
            <a:r>
              <a:rPr lang="en-US" altLang="zh-CN" sz="2800" i="1" dirty="0" err="1">
                <a:solidFill>
                  <a:srgbClr val="FF0000"/>
                </a:solidFill>
                <a:latin typeface="Times New Roman" panose="02020603050405020304" pitchFamily="18" charset="0"/>
                <a:cs typeface="Times New Roman" panose="02020603050405020304" pitchFamily="18" charset="0"/>
              </a:rPr>
              <a:t>+z</a:t>
            </a:r>
            <a:r>
              <a:rPr lang="en-US" altLang="zh-CN" sz="2800" b="1" dirty="0" err="1">
                <a:solidFill>
                  <a:srgbClr val="FF0000"/>
                </a:solidFill>
                <a:latin typeface="Times New Roman" panose="02020603050405020304" pitchFamily="18" charset="0"/>
                <a:cs typeface="Times New Roman" panose="02020603050405020304" pitchFamily="18" charset="0"/>
              </a:rPr>
              <a:t>c</a:t>
            </a:r>
            <a:r>
              <a:rPr lang="en-US" altLang="zh-CN" sz="2800" dirty="0">
                <a:solidFill>
                  <a:srgbClr val="FF0000"/>
                </a:solidFill>
                <a:latin typeface="Times New Roman" panose="02020603050405020304" pitchFamily="18" charset="0"/>
                <a:cs typeface="Times New Roman" panose="02020603050405020304" pitchFamily="18" charset="0"/>
              </a:rPr>
              <a:t>, </a:t>
            </a:r>
            <a:r>
              <a:rPr lang="en-US" altLang="zh-CN" sz="2800" i="1" dirty="0" err="1">
                <a:solidFill>
                  <a:srgbClr val="FF0000"/>
                </a:solidFill>
                <a:latin typeface="Times New Roman" panose="02020603050405020304" pitchFamily="18" charset="0"/>
                <a:cs typeface="Times New Roman" panose="02020603050405020304" pitchFamily="18" charset="0"/>
              </a:rPr>
              <a:t>x</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y</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i="1" dirty="0" err="1">
                <a:solidFill>
                  <a:srgbClr val="FF0000"/>
                </a:solidFill>
                <a:latin typeface="Times New Roman" panose="02020603050405020304" pitchFamily="18" charset="0"/>
                <a:cs typeface="Times New Roman" panose="02020603050405020304" pitchFamily="18" charset="0"/>
              </a:rPr>
              <a:t>z</a:t>
            </a:r>
            <a:r>
              <a:rPr lang="zh-CN" altLang="zh-CN" sz="2800" dirty="0">
                <a:solidFill>
                  <a:srgbClr val="FF0000"/>
                </a:solidFill>
                <a:latin typeface="NEU-BZ-S92"/>
                <a:cs typeface="宋体" panose="02010600030101010101" pitchFamily="2" charset="-122"/>
              </a:rPr>
              <a:t>∈</a:t>
            </a:r>
            <a:r>
              <a:rPr lang="en-US" altLang="zh-CN" sz="2800" b="1" dirty="0">
                <a:solidFill>
                  <a:srgbClr val="FF0000"/>
                </a:solidFill>
                <a:latin typeface="Times New Roman" panose="02020603050405020304" pitchFamily="18" charset="0"/>
                <a:cs typeface="Times New Roman" panose="02020603050405020304" pitchFamily="18" charset="0"/>
              </a:rPr>
              <a:t>R</a:t>
            </a:r>
            <a:r>
              <a:rPr lang="en-US" altLang="zh-CN" sz="2800" dirty="0" smtClean="0">
                <a:solidFill>
                  <a:srgbClr val="FF0000"/>
                </a:solidFill>
                <a:latin typeface="Times New Roman" panose="02020603050405020304" pitchFamily="18" charset="0"/>
                <a:cs typeface="Times New Roman" panose="02020603050405020304" pitchFamily="18" charset="0"/>
              </a:rPr>
              <a:t>}</a:t>
            </a:r>
            <a:r>
              <a:rPr lang="zh-CN" altLang="en-US" sz="2800" dirty="0" smtClean="0">
                <a:solidFill>
                  <a:srgbClr val="FF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这个集合可看作由向量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生成的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我们把</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叫做空间的一个</a:t>
            </a:r>
            <a:r>
              <a:rPr lang="zh-CN" altLang="zh-CN" sz="2800" dirty="0">
                <a:solidFill>
                  <a:srgbClr val="FF0000"/>
                </a:solidFill>
                <a:latin typeface="Times New Roman" panose="02020603050405020304" pitchFamily="18" charset="0"/>
                <a:cs typeface="Times New Roman" panose="02020603050405020304" pitchFamily="18" charset="0"/>
              </a:rPr>
              <a:t>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都叫做基向量</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空间任意三个不共面的向量都可以构成空间的一个基底</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4836238" y="1323674"/>
            <a:ext cx="103749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4848065" y="1771025"/>
            <a:ext cx="1033139"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4756625" y="1902237"/>
            <a:ext cx="156792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4768612" y="2339197"/>
            <a:ext cx="1561336"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407988" y="3034846"/>
            <a:ext cx="402893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19975" y="3471806"/>
            <a:ext cx="4012007"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4014760" y="3552753"/>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4026400" y="4000104"/>
            <a:ext cx="70676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8228"/>
            <a:ext cx="11430000" cy="457356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则下列可作为空间的一个基底的是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D</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由已知及向量共面的充要条件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易得向量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故可作为空间的一个基底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7" name="组合 6"/>
          <p:cNvGrpSpPr/>
          <p:nvPr/>
        </p:nvGrpSpPr>
        <p:grpSpPr>
          <a:xfrm>
            <a:off x="51955" y="258788"/>
            <a:ext cx="11759045" cy="2677783"/>
            <a:chOff x="51955" y="767947"/>
            <a:chExt cx="11759045" cy="2677783"/>
          </a:xfrm>
        </p:grpSpPr>
        <p:sp>
          <p:nvSpPr>
            <p:cNvPr id="2" name="矩形 1"/>
            <p:cNvSpPr>
              <a:spLocks noChangeAspect="1"/>
            </p:cNvSpPr>
            <p:nvPr/>
          </p:nvSpPr>
          <p:spPr>
            <a:xfrm>
              <a:off x="381000" y="767947"/>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二、空间向量的正交分解</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正方体的棱长为</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分别为棱</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上的单位向量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回答下列问题</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86998931"/>
                </p:ext>
              </p:extLst>
            </p:nvPr>
          </p:nvGraphicFramePr>
          <p:xfrm>
            <a:off x="51955" y="2440142"/>
            <a:ext cx="11430000" cy="1005588"/>
          </p:xfrm>
          <a:graphic>
            <a:graphicData uri="http://schemas.openxmlformats.org/presentationml/2006/ole">
              <mc:AlternateContent xmlns:mc="http://schemas.openxmlformats.org/markup-compatibility/2006">
                <mc:Choice xmlns:v="urn:schemas-microsoft-com:vml" Requires="v">
                  <p:oleObj spid="_x0000_s209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51955" y="2440142"/>
                          <a:ext cx="11430000" cy="1005588"/>
                        </a:xfrm>
                        <a:prstGeom prst="rect">
                          <a:avLst/>
                        </a:prstGeom>
                      </p:spPr>
                    </p:pic>
                  </p:oleObj>
                </mc:Fallback>
              </mc:AlternateContent>
            </a:graphicData>
          </a:graphic>
        </p:graphicFrame>
      </p:grpSp>
      <p:graphicFrame>
        <p:nvGraphicFramePr>
          <p:cNvPr id="4" name="对象 3"/>
          <p:cNvGraphicFramePr>
            <a:graphicFrameLocks noChangeAspect="1"/>
          </p:cNvGraphicFramePr>
          <p:nvPr>
            <p:extLst>
              <p:ext uri="{D42A27DB-BD31-4B8C-83A1-F6EECF244321}">
                <p14:modId xmlns:p14="http://schemas.microsoft.com/office/powerpoint/2010/main" val="901158273"/>
              </p:ext>
            </p:extLst>
          </p:nvPr>
        </p:nvGraphicFramePr>
        <p:xfrm>
          <a:off x="51955" y="2772646"/>
          <a:ext cx="11430000" cy="1005588"/>
        </p:xfrm>
        <a:graphic>
          <a:graphicData uri="http://schemas.openxmlformats.org/presentationml/2006/ole">
            <mc:AlternateContent xmlns:mc="http://schemas.openxmlformats.org/markup-compatibility/2006">
              <mc:Choice xmlns:v="urn:schemas-microsoft-com:vml" Requires="v">
                <p:oleObj spid="_x0000_s2091"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51955" y="2772646"/>
                        <a:ext cx="11430000" cy="1005588"/>
                      </a:xfrm>
                      <a:prstGeom prst="rect">
                        <a:avLst/>
                      </a:prstGeom>
                    </p:spPr>
                  </p:pic>
                </p:oleObj>
              </mc:Fallback>
            </mc:AlternateContent>
          </a:graphicData>
        </a:graphic>
      </p:graphicFrame>
      <p:sp>
        <p:nvSpPr>
          <p:cNvPr id="6" name="矩形 5"/>
          <p:cNvSpPr>
            <a:spLocks noChangeAspect="1"/>
          </p:cNvSpPr>
          <p:nvPr/>
        </p:nvSpPr>
        <p:spPr>
          <a:xfrm>
            <a:off x="381000" y="3677636"/>
            <a:ext cx="7817427" cy="1772793"/>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与一</a:t>
            </a:r>
            <a:r>
              <a:rPr lang="zh-CN" altLang="zh-CN" sz="2800" dirty="0" smtClean="0">
                <a:solidFill>
                  <a:srgbClr val="000000"/>
                </a:solidFill>
                <a:latin typeface="Times New Roman" panose="02020603050405020304" pitchFamily="18" charset="0"/>
                <a:cs typeface="Times New Roman" panose="02020603050405020304" pitchFamily="18" charset="0"/>
              </a:rPr>
              <a:t>、中</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000000"/>
                </a:solidFill>
                <a:latin typeface="Times New Roman" panose="02020603050405020304" pitchFamily="18" charset="0"/>
                <a:cs typeface="Times New Roman" panose="02020603050405020304" pitchFamily="18" charset="0"/>
              </a:rPr>
              <a:t>平行六面体</a:t>
            </a:r>
            <a:r>
              <a:rPr lang="zh-CN" altLang="zh-CN" sz="2800" dirty="0">
                <a:solidFill>
                  <a:srgbClr val="000000"/>
                </a:solidFill>
                <a:latin typeface="Times New Roman" panose="02020603050405020304" pitchFamily="18" charset="0"/>
                <a:cs typeface="Times New Roman" panose="02020603050405020304" pitchFamily="18" charset="0"/>
              </a:rPr>
              <a:t>图中的基底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有何不同</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为单位向量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且两两垂直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9" name="NMX1TRAX30.eps" descr="id:2147513094;FounderCES"/>
          <p:cNvPicPr/>
          <p:nvPr/>
        </p:nvPicPr>
        <p:blipFill>
          <a:blip r:embed="rId7">
            <a:clrChange>
              <a:clrFrom>
                <a:srgbClr val="FFFFFF"/>
              </a:clrFrom>
              <a:clrTo>
                <a:srgbClr val="FFFFFF">
                  <a:alpha val="0"/>
                </a:srgbClr>
              </a:clrTo>
            </a:clrChange>
          </a:blip>
          <a:stretch>
            <a:fillRect/>
          </a:stretch>
        </p:blipFill>
        <p:spPr>
          <a:xfrm>
            <a:off x="8475517" y="1930983"/>
            <a:ext cx="2744002" cy="2744002"/>
          </a:xfrm>
          <a:prstGeom prst="rect">
            <a:avLst/>
          </a:prstGeom>
        </p:spPr>
      </p:pic>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7600"/>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如果空间的一个基底中的三个基向量</a:t>
            </a:r>
            <a:r>
              <a:rPr lang="zh-CN" altLang="zh-CN" sz="2800" dirty="0">
                <a:solidFill>
                  <a:srgbClr val="FF0000"/>
                </a:solidFill>
                <a:latin typeface="Times New Roman" panose="02020603050405020304" pitchFamily="18" charset="0"/>
                <a:cs typeface="Times New Roman" panose="02020603050405020304" pitchFamily="18" charset="0"/>
              </a:rPr>
              <a:t>两两垂直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且长度都为</a:t>
            </a:r>
            <a:r>
              <a:rPr lang="en-US" altLang="zh-CN" sz="2800" dirty="0">
                <a:solidFill>
                  <a:srgbClr val="FF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那么这个基底叫做单位正交基底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常用</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i</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j</a:t>
            </a:r>
            <a:r>
              <a:rPr lang="en-US" altLang="zh-CN" sz="2800" dirty="0" err="1">
                <a:solidFill>
                  <a:srgbClr val="FF0000"/>
                </a:solidFill>
                <a:latin typeface="Times New Roman" panose="02020603050405020304" pitchFamily="18" charset="0"/>
                <a:cs typeface="Times New Roman" panose="02020603050405020304" pitchFamily="18" charset="0"/>
              </a:rPr>
              <a:t>,</a:t>
            </a:r>
            <a:r>
              <a:rPr lang="en-US" altLang="zh-CN" sz="2800" b="1" dirty="0" err="1">
                <a:solidFill>
                  <a:srgbClr val="FF0000"/>
                </a:solidFill>
                <a:latin typeface="Times New Roman" panose="02020603050405020304" pitchFamily="18" charset="0"/>
                <a:cs typeface="Times New Roman" panose="02020603050405020304" pitchFamily="18" charset="0"/>
              </a:rPr>
              <a:t>k</a:t>
            </a:r>
            <a:r>
              <a:rPr lang="en-US" altLang="zh-CN" sz="2800" dirty="0">
                <a:solidFill>
                  <a:srgbClr val="FF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表示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正交</a:t>
            </a:r>
            <a:r>
              <a:rPr lang="zh-CN" altLang="zh-CN" sz="2800" dirty="0">
                <a:latin typeface="Times New Roman" panose="02020603050405020304" pitchFamily="18" charset="0"/>
                <a:cs typeface="Times New Roman" panose="02020603050405020304" pitchFamily="18" charset="0"/>
              </a:rPr>
              <a:t>分解</a:t>
            </a:r>
            <a:r>
              <a:rPr lang="en-US" altLang="zh-CN" sz="2800" dirty="0">
                <a:latin typeface="Times New Roman" panose="02020603050405020304" pitchFamily="18" charset="0"/>
                <a:cs typeface="Times New Roman" panose="02020603050405020304" pitchFamily="18" charset="0"/>
              </a:rPr>
              <a:t>:</a:t>
            </a:r>
            <a:r>
              <a:rPr lang="zh-CN" altLang="zh-CN" sz="2800" dirty="0">
                <a:latin typeface="Times New Roman" panose="02020603050405020304" pitchFamily="18" charset="0"/>
                <a:cs typeface="Times New Roman" panose="02020603050405020304" pitchFamily="18" charset="0"/>
              </a:rPr>
              <a:t>由</a:t>
            </a:r>
            <a:r>
              <a:rPr lang="zh-CN" altLang="zh-CN" sz="2800" dirty="0">
                <a:solidFill>
                  <a:srgbClr val="000000"/>
                </a:solidFill>
                <a:latin typeface="Times New Roman" panose="02020603050405020304" pitchFamily="18" charset="0"/>
                <a:cs typeface="Times New Roman" panose="02020603050405020304" pitchFamily="18" charset="0"/>
              </a:rPr>
              <a:t>空间向量基本定理可知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对空间中的任意向量</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均可以分解为三个向量</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i</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j</a:t>
            </a:r>
            <a:r>
              <a:rPr lang="en-US" altLang="zh-CN" sz="2800" i="1" dirty="0" err="1">
                <a:solidFill>
                  <a:srgbClr val="000000"/>
                </a:solidFill>
                <a:latin typeface="Times New Roman" panose="02020603050405020304" pitchFamily="18" charset="0"/>
                <a:cs typeface="Times New Roman" panose="02020603050405020304" pitchFamily="18" charset="0"/>
              </a:rPr>
              <a:t>+z</a:t>
            </a:r>
            <a:r>
              <a:rPr lang="en-US" altLang="zh-CN" sz="2800" b="1" dirty="0" err="1">
                <a:solidFill>
                  <a:srgbClr val="000000"/>
                </a:solidFill>
                <a:latin typeface="Times New Roman" panose="02020603050405020304" pitchFamily="18" charset="0"/>
                <a:cs typeface="Times New Roman" panose="02020603050405020304" pitchFamily="18" charset="0"/>
              </a:rPr>
              <a:t>k</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像这样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把一个空间向量分解为</a:t>
            </a:r>
            <a:r>
              <a:rPr lang="zh-CN" altLang="zh-CN" sz="2800" dirty="0">
                <a:solidFill>
                  <a:srgbClr val="FF0000"/>
                </a:solidFill>
                <a:latin typeface="Times New Roman" panose="02020603050405020304" pitchFamily="18" charset="0"/>
                <a:cs typeface="Times New Roman" panose="02020603050405020304" pitchFamily="18" charset="0"/>
              </a:rPr>
              <a:t>三个两两垂直</a:t>
            </a:r>
            <a:r>
              <a:rPr lang="zh-CN" altLang="zh-CN" sz="2800" dirty="0">
                <a:solidFill>
                  <a:srgbClr val="000000"/>
                </a:solidFill>
                <a:latin typeface="Times New Roman" panose="02020603050405020304" pitchFamily="18" charset="0"/>
                <a:cs typeface="Times New Roman" panose="02020603050405020304" pitchFamily="18" charset="0"/>
              </a:rPr>
              <a:t>的向量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叫做把空间向量进行正交分解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9356064" y="1323676"/>
            <a:ext cx="141201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9367847" y="1760636"/>
            <a:ext cx="1406078"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1552493" y="1884786"/>
            <a:ext cx="15161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564275" y="2321746"/>
            <a:ext cx="150981"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7580464" y="1905568"/>
            <a:ext cx="928449"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7592285" y="2342528"/>
            <a:ext cx="924547"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10666563" y="2975831"/>
            <a:ext cx="74265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10678384" y="3423182"/>
            <a:ext cx="739534"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381000" y="3547331"/>
            <a:ext cx="152053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392821" y="3984291"/>
            <a:ext cx="151414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par>
                                <p:cTn id="23" presetID="22" presetClass="exit" presetSubtype="4" fill="hold" grpId="0" nodeType="withEffect">
                                  <p:stCondLst>
                                    <p:cond delay="0"/>
                                  </p:stCondLst>
                                  <p:childTnLst>
                                    <p:animEffect transition="out" filter="wipe(down)">
                                      <p:cBhvr>
                                        <p:cTn id="24" dur="500"/>
                                        <p:tgtEl>
                                          <p:spTgt spid="15"/>
                                        </p:tgtEl>
                                      </p:cBhvr>
                                    </p:animEffect>
                                    <p:set>
                                      <p:cBhvr>
                                        <p:cTn id="2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12"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4114682035"/>
              </p:ext>
            </p:extLst>
          </p:nvPr>
        </p:nvGraphicFramePr>
        <p:xfrm>
          <a:off x="62345" y="3827635"/>
          <a:ext cx="11275153" cy="1983030"/>
        </p:xfrm>
        <a:graphic>
          <a:graphicData uri="http://schemas.openxmlformats.org/presentationml/2006/ole">
            <mc:AlternateContent xmlns:mc="http://schemas.openxmlformats.org/markup-compatibility/2006">
              <mc:Choice xmlns:v="urn:schemas-microsoft-com:vml" Requires="v">
                <p:oleObj spid="_x0000_s3131"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62345" y="3827635"/>
                        <a:ext cx="11275153" cy="198303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305822212"/>
              </p:ext>
            </p:extLst>
          </p:nvPr>
        </p:nvGraphicFramePr>
        <p:xfrm>
          <a:off x="62345" y="5681988"/>
          <a:ext cx="11275153" cy="991965"/>
        </p:xfrm>
        <a:graphic>
          <a:graphicData uri="http://schemas.openxmlformats.org/presentationml/2006/ole">
            <mc:AlternateContent xmlns:mc="http://schemas.openxmlformats.org/markup-compatibility/2006">
              <mc:Choice xmlns:v="urn:schemas-microsoft-com:vml" Requires="v">
                <p:oleObj spid="_x0000_s3132"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62345" y="5681988"/>
                        <a:ext cx="11275153" cy="99196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753015146"/>
              </p:ext>
            </p:extLst>
          </p:nvPr>
        </p:nvGraphicFramePr>
        <p:xfrm>
          <a:off x="479206" y="92230"/>
          <a:ext cx="11275153" cy="1586605"/>
        </p:xfrm>
        <a:graphic>
          <a:graphicData uri="http://schemas.openxmlformats.org/presentationml/2006/ole">
            <mc:AlternateContent xmlns:mc="http://schemas.openxmlformats.org/markup-compatibility/2006">
              <mc:Choice xmlns:v="urn:schemas-microsoft-com:vml" Requires="v">
                <p:oleObj spid="_x0000_s3133" name="文档" r:id="rId7" imgW="4510061" imgH="634642" progId="Word.Document.12">
                  <p:embed/>
                </p:oleObj>
              </mc:Choice>
              <mc:Fallback>
                <p:oleObj name="文档" r:id="rId7" imgW="4510061" imgH="634642" progId="Word.Document.12">
                  <p:embed/>
                  <p:pic>
                    <p:nvPicPr>
                      <p:cNvPr id="0" name=""/>
                      <p:cNvPicPr/>
                      <p:nvPr/>
                    </p:nvPicPr>
                    <p:blipFill>
                      <a:blip r:embed="rId8"/>
                      <a:stretch>
                        <a:fillRect/>
                      </a:stretch>
                    </p:blipFill>
                    <p:spPr>
                      <a:xfrm>
                        <a:off x="479206" y="92230"/>
                        <a:ext cx="11275153" cy="1586605"/>
                      </a:xfrm>
                      <a:prstGeom prst="rect">
                        <a:avLst/>
                      </a:prstGeom>
                    </p:spPr>
                  </p:pic>
                </p:oleObj>
              </mc:Fallback>
            </mc:AlternateContent>
          </a:graphicData>
        </a:graphic>
      </p:graphicFrame>
      <p:pic>
        <p:nvPicPr>
          <p:cNvPr id="8" name="NMX1TRAX31.eps" descr="id:2147513101;FounderCES"/>
          <p:cNvPicPr/>
          <p:nvPr/>
        </p:nvPicPr>
        <p:blipFill>
          <a:blip r:embed="rId9">
            <a:clrChange>
              <a:clrFrom>
                <a:srgbClr val="FFFFFF"/>
              </a:clrFrom>
              <a:clrTo>
                <a:srgbClr val="FFFFFF">
                  <a:alpha val="0"/>
                </a:srgbClr>
              </a:clrTo>
            </a:clrChange>
          </a:blip>
          <a:stretch>
            <a:fillRect/>
          </a:stretch>
        </p:blipFill>
        <p:spPr>
          <a:xfrm>
            <a:off x="4901613" y="1537893"/>
            <a:ext cx="2430337" cy="2246428"/>
          </a:xfrm>
          <a:prstGeom prst="rect">
            <a:avLst/>
          </a:prstGeom>
        </p:spPr>
      </p:pic>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69240"/>
            <a:ext cx="11430000" cy="451328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若三个非零向量</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不能构成空间的一个基底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共面</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为空间两个不共线的向量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λμ</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构成空间的一个基底</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为空间的一个基底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也可以构成空间的一个基底</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只有两两垂直的三个向量才能作为空间向量的一组基底</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48734938"/>
              </p:ext>
            </p:extLst>
          </p:nvPr>
        </p:nvGraphicFramePr>
        <p:xfrm>
          <a:off x="41564" y="4889008"/>
          <a:ext cx="11425237" cy="1057275"/>
        </p:xfrm>
        <a:graphic>
          <a:graphicData uri="http://schemas.openxmlformats.org/presentationml/2006/ole">
            <mc:AlternateContent xmlns:mc="http://schemas.openxmlformats.org/markup-compatibility/2006">
              <mc:Choice xmlns:v="urn:schemas-microsoft-com:vml" Requires="v">
                <p:oleObj spid="_x0000_s4118" name="文档" r:id="rId3" imgW="4510061" imgH="419851" progId="Word.Document.12">
                  <p:embed/>
                </p:oleObj>
              </mc:Choice>
              <mc:Fallback>
                <p:oleObj name="文档" r:id="rId3" imgW="4510061" imgH="419851" progId="Word.Document.12">
                  <p:embed/>
                  <p:pic>
                    <p:nvPicPr>
                      <p:cNvPr id="0" name=""/>
                      <p:cNvPicPr/>
                      <p:nvPr/>
                    </p:nvPicPr>
                    <p:blipFill>
                      <a:blip r:embed="rId4"/>
                      <a:stretch>
                        <a:fillRect/>
                      </a:stretch>
                    </p:blipFill>
                    <p:spPr>
                      <a:xfrm>
                        <a:off x="41564" y="4889008"/>
                        <a:ext cx="11425237" cy="1057275"/>
                      </a:xfrm>
                      <a:prstGeom prst="rect">
                        <a:avLst/>
                      </a:prstGeom>
                    </p:spPr>
                  </p:pic>
                </p:oleObj>
              </mc:Fallback>
            </mc:AlternateContent>
          </a:graphicData>
        </a:graphic>
      </p:graphicFrame>
      <p:sp>
        <p:nvSpPr>
          <p:cNvPr id="4" name="矩形 3"/>
          <p:cNvSpPr/>
          <p:nvPr/>
        </p:nvSpPr>
        <p:spPr>
          <a:xfrm>
            <a:off x="10429303" y="1686071"/>
            <a:ext cx="408415"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664822" y="2791570"/>
            <a:ext cx="408415"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127222" y="3914861"/>
            <a:ext cx="371286"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134362" y="4486557"/>
            <a:ext cx="457584"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654292" y="5197132"/>
            <a:ext cx="408415"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基底的判断</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3324695642"/>
              </p:ext>
            </p:extLst>
          </p:nvPr>
        </p:nvGraphicFramePr>
        <p:xfrm>
          <a:off x="381000" y="842727"/>
          <a:ext cx="11430000" cy="3015855"/>
        </p:xfrm>
        <a:graphic>
          <a:graphicData uri="http://schemas.openxmlformats.org/presentationml/2006/ole">
            <mc:AlternateContent xmlns:mc="http://schemas.openxmlformats.org/markup-compatibility/2006">
              <mc:Choice xmlns:v="urn:schemas-microsoft-com:vml" Requires="v">
                <p:oleObj spid="_x0000_s5160"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381000" y="842727"/>
                        <a:ext cx="11430000" cy="301585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37172915"/>
              </p:ext>
            </p:extLst>
          </p:nvPr>
        </p:nvGraphicFramePr>
        <p:xfrm>
          <a:off x="381000" y="3745823"/>
          <a:ext cx="11430000" cy="2010264"/>
        </p:xfrm>
        <a:graphic>
          <a:graphicData uri="http://schemas.openxmlformats.org/presentationml/2006/ole">
            <mc:AlternateContent xmlns:mc="http://schemas.openxmlformats.org/markup-compatibility/2006">
              <mc:Choice xmlns:v="urn:schemas-microsoft-com:vml" Requires="v">
                <p:oleObj spid="_x0000_s5161" name="文档" r:id="rId5" imgW="4510061" imgH="793212" progId="Word.Document.12">
                  <p:embed/>
                </p:oleObj>
              </mc:Choice>
              <mc:Fallback>
                <p:oleObj name="文档" r:id="rId5" imgW="4510061" imgH="793212" progId="Word.Document.12">
                  <p:embed/>
                  <p:pic>
                    <p:nvPicPr>
                      <p:cNvPr id="0" name=""/>
                      <p:cNvPicPr/>
                      <p:nvPr/>
                    </p:nvPicPr>
                    <p:blipFill>
                      <a:blip r:embed="rId6"/>
                      <a:stretch>
                        <a:fillRect/>
                      </a:stretch>
                    </p:blipFill>
                    <p:spPr>
                      <a:xfrm>
                        <a:off x="381000" y="3745823"/>
                        <a:ext cx="11430000" cy="2010264"/>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75938666"/>
              </p:ext>
            </p:extLst>
          </p:nvPr>
        </p:nvGraphicFramePr>
        <p:xfrm>
          <a:off x="381000" y="-49069"/>
          <a:ext cx="11430000" cy="2010264"/>
        </p:xfrm>
        <a:graphic>
          <a:graphicData uri="http://schemas.openxmlformats.org/presentationml/2006/ole">
            <mc:AlternateContent xmlns:mc="http://schemas.openxmlformats.org/markup-compatibility/2006">
              <mc:Choice xmlns:v="urn:schemas-microsoft-com:vml" Requires="v">
                <p:oleObj spid="_x0000_s6186"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381000" y="-49069"/>
                        <a:ext cx="11430000" cy="201026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082042153"/>
              </p:ext>
            </p:extLst>
          </p:nvPr>
        </p:nvGraphicFramePr>
        <p:xfrm>
          <a:off x="41564" y="1834437"/>
          <a:ext cx="11430000" cy="4523781"/>
        </p:xfrm>
        <a:graphic>
          <a:graphicData uri="http://schemas.openxmlformats.org/presentationml/2006/ole">
            <mc:AlternateContent xmlns:mc="http://schemas.openxmlformats.org/markup-compatibility/2006">
              <mc:Choice xmlns:v="urn:schemas-microsoft-com:vml" Requires="v">
                <p:oleObj spid="_x0000_s6187" name="文档" r:id="rId5" imgW="4510061" imgH="1786440" progId="Word.Document.12">
                  <p:embed/>
                </p:oleObj>
              </mc:Choice>
              <mc:Fallback>
                <p:oleObj name="文档" r:id="rId5" imgW="4510061" imgH="1786440" progId="Word.Document.12">
                  <p:embed/>
                  <p:pic>
                    <p:nvPicPr>
                      <p:cNvPr id="0" name=""/>
                      <p:cNvPicPr/>
                      <p:nvPr/>
                    </p:nvPicPr>
                    <p:blipFill>
                      <a:blip r:embed="rId6"/>
                      <a:stretch>
                        <a:fillRect/>
                      </a:stretch>
                    </p:blipFill>
                    <p:spPr>
                      <a:xfrm>
                        <a:off x="41564" y="1834437"/>
                        <a:ext cx="11430000" cy="4523781"/>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1564" y="580172"/>
            <a:ext cx="11769436" cy="5146987"/>
            <a:chOff x="41564" y="361961"/>
            <a:chExt cx="11769436" cy="5146987"/>
          </a:xfrm>
        </p:grpSpPr>
        <p:graphicFrame>
          <p:nvGraphicFramePr>
            <p:cNvPr id="2" name="对象 1"/>
            <p:cNvGraphicFramePr>
              <a:graphicFrameLocks noChangeAspect="1"/>
            </p:cNvGraphicFramePr>
            <p:nvPr>
              <p:extLst>
                <p:ext uri="{D42A27DB-BD31-4B8C-83A1-F6EECF244321}">
                  <p14:modId xmlns:p14="http://schemas.microsoft.com/office/powerpoint/2010/main" val="2277027113"/>
                </p:ext>
              </p:extLst>
            </p:nvPr>
          </p:nvGraphicFramePr>
          <p:xfrm>
            <a:off x="41564" y="361961"/>
            <a:ext cx="11430000" cy="1005588"/>
          </p:xfrm>
          <a:graphic>
            <a:graphicData uri="http://schemas.openxmlformats.org/presentationml/2006/ole">
              <mc:AlternateContent xmlns:mc="http://schemas.openxmlformats.org/markup-compatibility/2006">
                <mc:Choice xmlns:v="urn:schemas-microsoft-com:vml" Requires="v">
                  <p:oleObj spid="_x0000_s7208"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1564" y="361961"/>
                          <a:ext cx="11430000" cy="1005588"/>
                        </a:xfrm>
                        <a:prstGeom prst="rect">
                          <a:avLst/>
                        </a:prstGeom>
                      </p:spPr>
                    </p:pic>
                  </p:oleObj>
                </mc:Fallback>
              </mc:AlternateContent>
            </a:graphicData>
          </a:graphic>
        </p:graphicFrame>
        <p:sp>
          <p:nvSpPr>
            <p:cNvPr id="3" name="矩形 2"/>
            <p:cNvSpPr>
              <a:spLocks noChangeAspect="1"/>
            </p:cNvSpPr>
            <p:nvPr/>
          </p:nvSpPr>
          <p:spPr>
            <a:xfrm>
              <a:off x="381000" y="1214994"/>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q+z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p+q+z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q-z</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21512625"/>
                </p:ext>
              </p:extLst>
            </p:nvPr>
          </p:nvGraphicFramePr>
          <p:xfrm>
            <a:off x="41564" y="2995431"/>
            <a:ext cx="11430000" cy="2513517"/>
          </p:xfrm>
          <a:graphic>
            <a:graphicData uri="http://schemas.openxmlformats.org/presentationml/2006/ole">
              <mc:AlternateContent xmlns:mc="http://schemas.openxmlformats.org/markup-compatibility/2006">
                <mc:Choice xmlns:v="urn:schemas-microsoft-com:vml" Requires="v">
                  <p:oleObj spid="_x0000_s7209" name="文档" r:id="rId5" imgW="4510061" imgH="991786" progId="Word.Document.12">
                    <p:embed/>
                  </p:oleObj>
                </mc:Choice>
                <mc:Fallback>
                  <p:oleObj name="文档" r:id="rId5" imgW="4510061" imgH="991786" progId="Word.Document.12">
                    <p:embed/>
                    <p:pic>
                      <p:nvPicPr>
                        <p:cNvPr id="0" name=""/>
                        <p:cNvPicPr/>
                        <p:nvPr/>
                      </p:nvPicPr>
                      <p:blipFill>
                        <a:blip r:embed="rId6"/>
                        <a:stretch>
                          <a:fillRect/>
                        </a:stretch>
                      </p:blipFill>
                      <p:spPr>
                        <a:xfrm>
                          <a:off x="41564" y="2995431"/>
                          <a:ext cx="11430000" cy="2513517"/>
                        </a:xfrm>
                        <a:prstGeom prst="rect">
                          <a:avLst/>
                        </a:prstGeom>
                      </p:spPr>
                    </p:pic>
                  </p:oleObj>
                </mc:Fallback>
              </mc:AlternateContent>
            </a:graphicData>
          </a:graphic>
        </p:graphicFrame>
      </p:gr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判断三个向量能否作为空间的一个基底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关键是判断它们是否共面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若从正面判断难以入手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可以用反证法结合向量共面的充要条件或者利用常见的几何图形帮助</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进行判断</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求一向量在不同基底下的表示式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一般采用待定系数法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即设出该向量在新基底下的表示式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转化为在原基底下的表示式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对比系数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6" name="矩形 5"/>
          <p:cNvSpPr>
            <a:spLocks noChangeAspect="1"/>
          </p:cNvSpPr>
          <p:nvPr/>
        </p:nvSpPr>
        <p:spPr>
          <a:xfrm>
            <a:off x="381000" y="49896"/>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多选题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z</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则下列向量组中可以作为空间的一个基底的向量组是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z</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矩形 1"/>
              <p:cNvSpPr>
                <a:spLocks noChangeAspect="1"/>
              </p:cNvSpPr>
              <p:nvPr/>
            </p:nvSpPr>
            <p:spPr>
              <a:xfrm>
                <a:off x="381000" y="2320778"/>
                <a:ext cx="11430000" cy="4156651"/>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b="1" i="1" dirty="0">
                    <a:solidFill>
                      <a:srgbClr val="000000"/>
                    </a:solidFill>
                    <a:latin typeface="Times New Roman" panose="02020603050405020304" pitchFamily="18" charset="0"/>
                    <a:cs typeface="Times New Roman" panose="02020603050405020304" pitchFamily="18" charset="0"/>
                  </a:rPr>
                  <a:t>x</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𝐵</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y</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𝐷</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z</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𝐶</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共面</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四点不共面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可知向量</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不共面</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同理</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向量</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不共面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向量</a:t>
                </a:r>
                <a:r>
                  <a:rPr lang="en-US" altLang="zh-CN" sz="2800" b="1"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y</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b="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也不共面</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dirty="0">
                    <a:solidFill>
                      <a:srgbClr val="000000"/>
                    </a:solidFill>
                    <a:latin typeface="Times New Roman" panose="02020603050405020304" pitchFamily="18" charset="0"/>
                    <a:cs typeface="Times New Roman" panose="02020603050405020304" pitchFamily="18" charset="0"/>
                  </a:rPr>
                  <a:t>BCD</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BCD</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81000" y="2320778"/>
                <a:ext cx="11430000" cy="4156651"/>
              </a:xfrm>
              <a:prstGeom prst="rect">
                <a:avLst/>
              </a:prstGeom>
              <a:blipFill rotWithShape="0">
                <a:blip r:embed="rId2"/>
                <a:stretch>
                  <a:fillRect b="-1906"/>
                </a:stretch>
              </a:blipFill>
            </p:spPr>
            <p:txBody>
              <a:bodyPr/>
              <a:lstStyle/>
              <a:p>
                <a:r>
                  <a:rPr lang="zh-CN" altLang="en-US">
                    <a:noFill/>
                  </a:rPr>
                  <a:t> </a:t>
                </a:r>
              </a:p>
            </p:txBody>
          </p:sp>
        </mc:Fallback>
      </mc:AlternateContent>
      <p:pic>
        <p:nvPicPr>
          <p:cNvPr id="10" name="ZMX1TRA48.eps" descr="id:2147495059;FounderCES"/>
          <p:cNvPicPr/>
          <p:nvPr/>
        </p:nvPicPr>
        <p:blipFill>
          <a:blip r:embed="rId3">
            <a:clrChange>
              <a:clrFrom>
                <a:srgbClr val="FFFFFF"/>
              </a:clrFrom>
              <a:clrTo>
                <a:srgbClr val="FFFFFF">
                  <a:alpha val="0"/>
                </a:srgbClr>
              </a:clrTo>
            </a:clrChange>
          </a:blip>
          <a:stretch>
            <a:fillRect/>
          </a:stretch>
        </p:blipFill>
        <p:spPr>
          <a:xfrm>
            <a:off x="8199781" y="3131269"/>
            <a:ext cx="3128217" cy="1897930"/>
          </a:xfrm>
          <a:prstGeom prst="rect">
            <a:avLst/>
          </a:prstGeom>
        </p:spPr>
      </p:pic>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3" dur="500"/>
                                        <p:tgtEl>
                                          <p:spTgt spid="2">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6" dur="500"/>
                                        <p:tgtEl>
                                          <p:spTgt spid="2">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2" dur="500"/>
                                        <p:tgtEl>
                                          <p:spTgt spid="2">
                                            <p:txEl>
                                              <p:pRg st="5" end="5"/>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用基底表示空间向量</a:t>
                </a:r>
              </a:p>
            </p:txBody>
          </p:sp>
        </p:grpSp>
      </p:grpSp>
      <p:graphicFrame>
        <p:nvGraphicFramePr>
          <p:cNvPr id="5" name="对象 4"/>
          <p:cNvGraphicFramePr>
            <a:graphicFrameLocks noChangeAspect="1"/>
          </p:cNvGraphicFramePr>
          <p:nvPr>
            <p:extLst>
              <p:ext uri="{D42A27DB-BD31-4B8C-83A1-F6EECF244321}">
                <p14:modId xmlns:p14="http://schemas.microsoft.com/office/powerpoint/2010/main" val="101633137"/>
              </p:ext>
            </p:extLst>
          </p:nvPr>
        </p:nvGraphicFramePr>
        <p:xfrm>
          <a:off x="209042" y="5028383"/>
          <a:ext cx="11275153" cy="594640"/>
        </p:xfrm>
        <a:graphic>
          <a:graphicData uri="http://schemas.openxmlformats.org/presentationml/2006/ole">
            <mc:AlternateContent xmlns:mc="http://schemas.openxmlformats.org/markup-compatibility/2006">
              <mc:Choice xmlns:v="urn:schemas-microsoft-com:vml" Requires="v">
                <p:oleObj spid="_x0000_s9257" name="文档" r:id="rId3" imgW="4510061" imgH="237856" progId="Word.Document.12">
                  <p:embed/>
                </p:oleObj>
              </mc:Choice>
              <mc:Fallback>
                <p:oleObj name="文档" r:id="rId3" imgW="4510061" imgH="237856" progId="Word.Document.12">
                  <p:embed/>
                  <p:pic>
                    <p:nvPicPr>
                      <p:cNvPr id="0" name=""/>
                      <p:cNvPicPr/>
                      <p:nvPr/>
                    </p:nvPicPr>
                    <p:blipFill>
                      <a:blip r:embed="rId4"/>
                      <a:stretch>
                        <a:fillRect/>
                      </a:stretch>
                    </p:blipFill>
                    <p:spPr>
                      <a:xfrm>
                        <a:off x="209042" y="5028383"/>
                        <a:ext cx="11275153" cy="59464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3" name="矩形 2"/>
              <p:cNvSpPr>
                <a:spLocks noChangeAspect="1"/>
              </p:cNvSpPr>
              <p:nvPr/>
            </p:nvSpPr>
            <p:spPr>
              <a:xfrm>
                <a:off x="381000" y="704266"/>
                <a:ext cx="11430000" cy="14432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在平行六面体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ND=</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请用向量</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表示</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81000" y="704266"/>
                <a:ext cx="11430000" cy="1443280"/>
              </a:xfrm>
              <a:prstGeom prst="rect">
                <a:avLst/>
              </a:prstGeom>
              <a:blipFill rotWithShape="0">
                <a:blip r:embed="rId5"/>
                <a:stretch>
                  <a:fillRect b="-11441"/>
                </a:stretch>
              </a:blipFill>
            </p:spPr>
            <p:txBody>
              <a:bodyPr/>
              <a:lstStyle/>
              <a:p>
                <a:r>
                  <a:rPr lang="zh-CN" altLang="en-US">
                    <a:noFill/>
                  </a:rPr>
                  <a:t> </a:t>
                </a:r>
              </a:p>
            </p:txBody>
          </p:sp>
        </mc:Fallback>
      </mc:AlternateContent>
      <p:pic>
        <p:nvPicPr>
          <p:cNvPr id="15" name="NMX1TRAX32.eps" descr="id:2147513143;FounderCES"/>
          <p:cNvPicPr>
            <a:picLocks noChangeAspect="1"/>
          </p:cNvPicPr>
          <p:nvPr/>
        </p:nvPicPr>
        <p:blipFill>
          <a:blip r:embed="rId6">
            <a:clrChange>
              <a:clrFrom>
                <a:srgbClr val="FFFFFF"/>
              </a:clrFrom>
              <a:clrTo>
                <a:srgbClr val="FFFFFF">
                  <a:alpha val="0"/>
                </a:srgbClr>
              </a:clrTo>
            </a:clrChange>
          </a:blip>
          <a:stretch>
            <a:fillRect/>
          </a:stretch>
        </p:blipFill>
        <p:spPr>
          <a:xfrm>
            <a:off x="4092928" y="2363162"/>
            <a:ext cx="4006145" cy="24496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a:spLocks noChangeAspect="1"/>
              </p:cNvSpPr>
              <p:nvPr/>
            </p:nvSpPr>
            <p:spPr>
              <a:xfrm>
                <a:off x="381000" y="57150"/>
                <a:ext cx="11430000" cy="3899081"/>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𝑀𝐴</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𝐴𝑁</m:t>
                        </m:r>
                      </m:e>
                    </m:acc>
                  </m:oMath>
                </a14:m>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题意知</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𝑀𝐴</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𝐴𝐶</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𝐴𝐵</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𝐴𝑁</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𝐷𝑁</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𝑁𝐷</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r>
                          <a:rPr lang="en-US" altLang="zh-CN" sz="2800" i="1">
                            <a:solidFill>
                              <a:srgbClr val="000000"/>
                            </a:solidFill>
                            <a:latin typeface="Cambria Math" panose="02040503050406030204" pitchFamily="18" charset="0"/>
                            <a:cs typeface="Times New Roman" panose="02020603050405020304" pitchFamily="18" charset="0"/>
                          </a:rPr>
                          <m:t>𝐷</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r>
                      <a:rPr lang="en-US" altLang="zh-CN" sz="2800">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𝐴𝐷</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m:t>
                        </m:r>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𝐴</m:t>
                            </m:r>
                          </m:e>
                          <m:sub>
                            <m:r>
                              <a:rPr lang="en-US" altLang="zh-CN" sz="2800">
                                <a:solidFill>
                                  <a:srgbClr val="000000"/>
                                </a:solidFill>
                                <a:latin typeface="Cambria Math" panose="02040503050406030204" pitchFamily="18" charset="0"/>
                                <a:cs typeface="Times New Roman" panose="02020603050405020304" pitchFamily="18" charset="0"/>
                              </a:rPr>
                              <m:t>1</m:t>
                            </m:r>
                          </m:sub>
                        </m:sSub>
                      </m:e>
                    </m:acc>
                  </m:oMath>
                </a14:m>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14:m>
                  <m:oMath xmlns:m="http://schemas.openxmlformats.org/officeDocument/2006/math">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𝑀𝑁</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𝑀𝐴</m:t>
                        </m:r>
                      </m:e>
                    </m:acc>
                    <m:r>
                      <a:rPr lang="en-US" altLang="zh-CN" sz="2800" i="1">
                        <a:solidFill>
                          <a:srgbClr val="000000"/>
                        </a:solidFill>
                        <a:latin typeface="Cambria Math" panose="02040503050406030204" pitchFamily="18" charset="0"/>
                        <a:cs typeface="Times New Roman" panose="02020603050405020304" pitchFamily="18" charset="0"/>
                      </a:rPr>
                      <m:t>+</m:t>
                    </m:r>
                    <m:acc>
                      <m:accPr>
                        <m: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800" i="1">
                            <a:solidFill>
                              <a:srgbClr val="000000"/>
                            </a:solidFill>
                            <a:latin typeface="Cambria Math" panose="02040503050406030204" pitchFamily="18" charset="0"/>
                            <a:cs typeface="Times New Roman" panose="02020603050405020304" pitchFamily="18" charset="0"/>
                          </a:rPr>
                          <m:t>𝐴𝑁</m:t>
                        </m:r>
                      </m:e>
                    </m:acc>
                  </m:oMath>
                </a14:m>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81000" y="57150"/>
                <a:ext cx="11430000" cy="3899081"/>
              </a:xfrm>
              <a:prstGeom prst="rect">
                <a:avLst/>
              </a:prstGeom>
              <a:blipFill rotWithShape="0">
                <a:blip r:embed="rId2"/>
                <a:stretch>
                  <a:fillRect/>
                </a:stretch>
              </a:blipFill>
            </p:spPr>
            <p:txBody>
              <a:bodyPr/>
              <a:lstStyle/>
              <a:p>
                <a:r>
                  <a:rPr lang="zh-CN" altLang="en-US">
                    <a:noFill/>
                  </a:rPr>
                  <a:t> </a:t>
                </a:r>
              </a:p>
            </p:txBody>
          </p:sp>
        </mc:Fallback>
      </mc:AlternateContent>
      <p:pic>
        <p:nvPicPr>
          <p:cNvPr id="5" name="NMX1TRAX216.eps" descr="id:2147513150;FounderCES"/>
          <p:cNvPicPr>
            <a:picLocks noChangeAspect="1"/>
          </p:cNvPicPr>
          <p:nvPr/>
        </p:nvPicPr>
        <p:blipFill>
          <a:blip r:embed="rId3">
            <a:clrChange>
              <a:clrFrom>
                <a:srgbClr val="FFFFFF"/>
              </a:clrFrom>
              <a:clrTo>
                <a:srgbClr val="FFFFFF">
                  <a:alpha val="0"/>
                </a:srgbClr>
              </a:clrTo>
            </a:clrChange>
          </a:blip>
          <a:stretch>
            <a:fillRect/>
          </a:stretch>
        </p:blipFill>
        <p:spPr>
          <a:xfrm>
            <a:off x="4052666" y="3956129"/>
            <a:ext cx="4086668" cy="2483268"/>
          </a:xfrm>
          <a:prstGeom prst="rect">
            <a:avLst/>
          </a:prstGeom>
        </p:spPr>
      </p:pic>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69549023"/>
              </p:ext>
            </p:extLst>
          </p:nvPr>
        </p:nvGraphicFramePr>
        <p:xfrm>
          <a:off x="50800" y="553027"/>
          <a:ext cx="11430000" cy="502338"/>
        </p:xfrm>
        <a:graphic>
          <a:graphicData uri="http://schemas.openxmlformats.org/presentationml/2006/ole">
            <mc:AlternateContent xmlns:mc="http://schemas.openxmlformats.org/markup-compatibility/2006">
              <mc:Choice xmlns:v="urn:schemas-microsoft-com:vml" Requires="v">
                <p:oleObj spid="_x0000_s11306" name="文档" r:id="rId3" imgW="4510061" imgH="198213" progId="Word.Document.12">
                  <p:embed/>
                </p:oleObj>
              </mc:Choice>
              <mc:Fallback>
                <p:oleObj name="文档" r:id="rId3" imgW="4510061" imgH="198213" progId="Word.Document.12">
                  <p:embed/>
                  <p:pic>
                    <p:nvPicPr>
                      <p:cNvPr id="0" name=""/>
                      <p:cNvPicPr/>
                      <p:nvPr/>
                    </p:nvPicPr>
                    <p:blipFill>
                      <a:blip r:embed="rId4"/>
                      <a:stretch>
                        <a:fillRect/>
                      </a:stretch>
                    </p:blipFill>
                    <p:spPr>
                      <a:xfrm>
                        <a:off x="50800" y="553027"/>
                        <a:ext cx="11430000" cy="502338"/>
                      </a:xfrm>
                      <a:prstGeom prst="rect">
                        <a:avLst/>
                      </a:prstGeom>
                    </p:spPr>
                  </p:pic>
                </p:oleObj>
              </mc:Fallback>
            </mc:AlternateContent>
          </a:graphicData>
        </a:graphic>
      </p:graphicFrame>
      <p:pic>
        <p:nvPicPr>
          <p:cNvPr id="3" name="延伸探究H.eps" descr="id:2147494559;FounderCES"/>
          <p:cNvPicPr/>
          <p:nvPr/>
        </p:nvPicPr>
        <p:blipFill>
          <a:blip r:embed="rId5">
            <a:clrChange>
              <a:clrFrom>
                <a:srgbClr val="FFFFFF"/>
              </a:clrFrom>
              <a:clrTo>
                <a:srgbClr val="FFFFFF">
                  <a:alpha val="0"/>
                </a:srgbClr>
              </a:clrTo>
            </a:clrChange>
          </a:blip>
          <a:stretch>
            <a:fillRect/>
          </a:stretch>
        </p:blipFill>
        <p:spPr>
          <a:xfrm>
            <a:off x="4757688" y="122975"/>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2663099223"/>
              </p:ext>
            </p:extLst>
          </p:nvPr>
        </p:nvGraphicFramePr>
        <p:xfrm>
          <a:off x="50800" y="951455"/>
          <a:ext cx="11430000" cy="2010264"/>
        </p:xfrm>
        <a:graphic>
          <a:graphicData uri="http://schemas.openxmlformats.org/presentationml/2006/ole">
            <mc:AlternateContent xmlns:mc="http://schemas.openxmlformats.org/markup-compatibility/2006">
              <mc:Choice xmlns:v="urn:schemas-microsoft-com:vml" Requires="v">
                <p:oleObj spid="_x0000_s11307" name="文档" r:id="rId6" imgW="4510061" imgH="793212" progId="Word.Document.12">
                  <p:embed/>
                </p:oleObj>
              </mc:Choice>
              <mc:Fallback>
                <p:oleObj name="文档" r:id="rId6" imgW="4510061" imgH="793212" progId="Word.Document.12">
                  <p:embed/>
                  <p:pic>
                    <p:nvPicPr>
                      <p:cNvPr id="0" name=""/>
                      <p:cNvPicPr/>
                      <p:nvPr/>
                    </p:nvPicPr>
                    <p:blipFill>
                      <a:blip r:embed="rId7"/>
                      <a:stretch>
                        <a:fillRect/>
                      </a:stretch>
                    </p:blipFill>
                    <p:spPr>
                      <a:xfrm>
                        <a:off x="50800" y="951455"/>
                        <a:ext cx="11430000" cy="2010264"/>
                      </a:xfrm>
                      <a:prstGeom prst="rect">
                        <a:avLst/>
                      </a:prstGeom>
                    </p:spPr>
                  </p:pic>
                </p:oleObj>
              </mc:Fallback>
            </mc:AlternateContent>
          </a:graphicData>
        </a:graphic>
      </p:graphicFrame>
      <p:sp>
        <p:nvSpPr>
          <p:cNvPr id="5" name="矩形 4"/>
          <p:cNvSpPr>
            <a:spLocks noChangeAspect="1"/>
          </p:cNvSpPr>
          <p:nvPr/>
        </p:nvSpPr>
        <p:spPr>
          <a:xfrm>
            <a:off x="381000" y="2745681"/>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基底表示空间向量</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的步骤</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定基底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根据已知条件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确定三个不共面的向量构成空间的一个基底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找目标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用确定的基底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或已知基底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表示目标向量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需要根据向量加法的三角形法则及平行四边形法则</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结合相等向量的代换、向量的线性运算进行变形、化简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最后求出结果</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下结论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可以表示出所有空间向量</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表示要彻底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结果中只能含有</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不能含有其他形式的向量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255564445"/>
              </p:ext>
            </p:extLst>
          </p:nvPr>
        </p:nvGraphicFramePr>
        <p:xfrm>
          <a:off x="41564" y="1717580"/>
          <a:ext cx="11430000" cy="5026119"/>
        </p:xfrm>
        <a:graphic>
          <a:graphicData uri="http://schemas.openxmlformats.org/presentationml/2006/ole">
            <mc:AlternateContent xmlns:mc="http://schemas.openxmlformats.org/markup-compatibility/2006">
              <mc:Choice xmlns:v="urn:schemas-microsoft-com:vml" Requires="v">
                <p:oleObj spid="_x0000_s31764" name="文档" r:id="rId3" imgW="4510061" imgH="1983211" progId="Word.Document.12">
                  <p:embed/>
                </p:oleObj>
              </mc:Choice>
              <mc:Fallback>
                <p:oleObj name="文档" r:id="rId3" imgW="4510061" imgH="1983211" progId="Word.Document.12">
                  <p:embed/>
                  <p:pic>
                    <p:nvPicPr>
                      <p:cNvPr id="0" name=""/>
                      <p:cNvPicPr/>
                      <p:nvPr/>
                    </p:nvPicPr>
                    <p:blipFill>
                      <a:blip r:embed="rId4"/>
                      <a:stretch>
                        <a:fillRect/>
                      </a:stretch>
                    </p:blipFill>
                    <p:spPr>
                      <a:xfrm>
                        <a:off x="41564" y="1717580"/>
                        <a:ext cx="11430000" cy="5026119"/>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2086215"/>
              </p:ext>
            </p:extLst>
          </p:nvPr>
        </p:nvGraphicFramePr>
        <p:xfrm>
          <a:off x="479206" y="-101024"/>
          <a:ext cx="11275153" cy="1983030"/>
        </p:xfrm>
        <a:graphic>
          <a:graphicData uri="http://schemas.openxmlformats.org/presentationml/2006/ole">
            <mc:AlternateContent xmlns:mc="http://schemas.openxmlformats.org/markup-compatibility/2006">
              <mc:Choice xmlns:v="urn:schemas-microsoft-com:vml" Requires="v">
                <p:oleObj spid="_x0000_s31765" name="文档" r:id="rId5" imgW="4510061" imgH="793212" progId="Word.Document.12">
                  <p:embed/>
                </p:oleObj>
              </mc:Choice>
              <mc:Fallback>
                <p:oleObj name="文档" r:id="rId5" imgW="4510061" imgH="793212" progId="Word.Document.12">
                  <p:embed/>
                  <p:pic>
                    <p:nvPicPr>
                      <p:cNvPr id="0" name=""/>
                      <p:cNvPicPr/>
                      <p:nvPr/>
                    </p:nvPicPr>
                    <p:blipFill>
                      <a:blip r:embed="rId6"/>
                      <a:stretch>
                        <a:fillRect/>
                      </a:stretch>
                    </p:blipFill>
                    <p:spPr>
                      <a:xfrm>
                        <a:off x="479206" y="-101024"/>
                        <a:ext cx="11275153" cy="1983030"/>
                      </a:xfrm>
                      <a:prstGeom prst="rect">
                        <a:avLst/>
                      </a:prstGeom>
                    </p:spPr>
                  </p:pic>
                </p:oleObj>
              </mc:Fallback>
            </mc:AlternateContent>
          </a:graphicData>
        </a:graphic>
      </p:graphicFrame>
      <p:pic>
        <p:nvPicPr>
          <p:cNvPr id="8" name="25N03.eps" descr="id:2147513171;FounderCES"/>
          <p:cNvPicPr/>
          <p:nvPr/>
        </p:nvPicPr>
        <p:blipFill>
          <a:blip r:embed="rId7">
            <a:clrChange>
              <a:clrFrom>
                <a:srgbClr val="FFFFFF"/>
              </a:clrFrom>
              <a:clrTo>
                <a:srgbClr val="FFFFFF">
                  <a:alpha val="0"/>
                </a:srgbClr>
              </a:clrTo>
            </a:clrChange>
          </a:blip>
          <a:stretch>
            <a:fillRect/>
          </a:stretch>
        </p:blipFill>
        <p:spPr>
          <a:xfrm>
            <a:off x="8755517" y="2775267"/>
            <a:ext cx="2998842" cy="2918951"/>
          </a:xfrm>
          <a:prstGeom prst="rect">
            <a:avLst/>
          </a:prstGeom>
        </p:spPr>
      </p:pic>
    </p:spTree>
    <p:extLst>
      <p:ext uri="{BB962C8B-B14F-4D97-AF65-F5344CB8AC3E}">
        <p14:creationId xmlns:p14="http://schemas.microsoft.com/office/powerpoint/2010/main" val="1918232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空间向量基本定理与数量积的综合应用</a:t>
                </a:r>
              </a:p>
            </p:txBody>
          </p:sp>
        </p:grpSp>
      </p:grpSp>
      <p:graphicFrame>
        <p:nvGraphicFramePr>
          <p:cNvPr id="4" name="对象 3"/>
          <p:cNvGraphicFramePr>
            <a:graphicFrameLocks noChangeAspect="1"/>
          </p:cNvGraphicFramePr>
          <p:nvPr>
            <p:extLst>
              <p:ext uri="{D42A27DB-BD31-4B8C-83A1-F6EECF244321}">
                <p14:modId xmlns:p14="http://schemas.microsoft.com/office/powerpoint/2010/main" val="3736967156"/>
              </p:ext>
            </p:extLst>
          </p:nvPr>
        </p:nvGraphicFramePr>
        <p:xfrm>
          <a:off x="381000" y="3262885"/>
          <a:ext cx="11430000" cy="3015855"/>
        </p:xfrm>
        <a:graphic>
          <a:graphicData uri="http://schemas.openxmlformats.org/presentationml/2006/ole">
            <mc:AlternateContent xmlns:mc="http://schemas.openxmlformats.org/markup-compatibility/2006">
              <mc:Choice xmlns:v="urn:schemas-microsoft-com:vml" Requires="v">
                <p:oleObj spid="_x0000_s13350"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381000" y="3262885"/>
                        <a:ext cx="11430000" cy="3015855"/>
                      </a:xfrm>
                      <a:prstGeom prst="rect">
                        <a:avLst/>
                      </a:prstGeom>
                    </p:spPr>
                  </p:pic>
                </p:oleObj>
              </mc:Fallback>
            </mc:AlternateContent>
          </a:graphicData>
        </a:graphic>
      </p:graphicFrame>
      <p:grpSp>
        <p:nvGrpSpPr>
          <p:cNvPr id="5" name="组合 4"/>
          <p:cNvGrpSpPr/>
          <p:nvPr/>
        </p:nvGrpSpPr>
        <p:grpSpPr>
          <a:xfrm>
            <a:off x="48491" y="702783"/>
            <a:ext cx="11762509" cy="2734345"/>
            <a:chOff x="48491" y="578091"/>
            <a:chExt cx="11762509" cy="2734345"/>
          </a:xfrm>
        </p:grpSpPr>
        <p:sp>
          <p:nvSpPr>
            <p:cNvPr id="2" name="矩形 1"/>
            <p:cNvSpPr>
              <a:spLocks noChangeAspect="1"/>
            </p:cNvSpPr>
            <p:nvPr/>
          </p:nvSpPr>
          <p:spPr>
            <a:xfrm>
              <a:off x="381000" y="585125"/>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CA=CB=</a:t>
              </a:r>
              <a:r>
                <a:rPr lang="en-US" altLang="zh-CN" sz="2800" dirty="0">
                  <a:solidFill>
                    <a:srgbClr val="000000"/>
                  </a:solidFill>
                  <a:latin typeface="Times New Roman" panose="02020603050405020304" pitchFamily="18" charset="0"/>
                  <a:cs typeface="Times New Roman" panose="02020603050405020304" pitchFamily="18" charset="0"/>
                </a:rPr>
                <a:t>1,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棱</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73385986"/>
                </p:ext>
              </p:extLst>
            </p:nvPr>
          </p:nvGraphicFramePr>
          <p:xfrm>
            <a:off x="48491" y="1804509"/>
            <a:ext cx="11430000" cy="1507927"/>
          </p:xfrm>
          <a:graphic>
            <a:graphicData uri="http://schemas.openxmlformats.org/presentationml/2006/ole">
              <mc:AlternateContent xmlns:mc="http://schemas.openxmlformats.org/markup-compatibility/2006">
                <mc:Choice xmlns:v="urn:schemas-microsoft-com:vml" Requires="v">
                  <p:oleObj spid="_x0000_s13351" name="文档" r:id="rId5" imgW="4510061" imgH="594999" progId="Word.Document.12">
                    <p:embed/>
                  </p:oleObj>
                </mc:Choice>
                <mc:Fallback>
                  <p:oleObj name="文档" r:id="rId5" imgW="4510061" imgH="594999" progId="Word.Document.12">
                    <p:embed/>
                    <p:pic>
                      <p:nvPicPr>
                        <p:cNvPr id="0" name=""/>
                        <p:cNvPicPr/>
                        <p:nvPr/>
                      </p:nvPicPr>
                      <p:blipFill>
                        <a:blip r:embed="rId6"/>
                        <a:stretch>
                          <a:fillRect/>
                        </a:stretch>
                      </p:blipFill>
                      <p:spPr>
                        <a:xfrm>
                          <a:off x="48491" y="1804509"/>
                          <a:ext cx="11430000" cy="1507927"/>
                        </a:xfrm>
                        <a:prstGeom prst="rect">
                          <a:avLst/>
                        </a:prstGeom>
                      </p:spPr>
                    </p:pic>
                  </p:oleObj>
                </mc:Fallback>
              </mc:AlternateContent>
            </a:graphicData>
          </a:graphic>
        </p:graphicFrame>
        <p:pic>
          <p:nvPicPr>
            <p:cNvPr id="14" name="ZMX1TRA52.eps" descr="id:2147495115;FounderCES"/>
            <p:cNvPicPr/>
            <p:nvPr/>
          </p:nvPicPr>
          <p:blipFill>
            <a:blip r:embed="rId7">
              <a:clrChange>
                <a:clrFrom>
                  <a:srgbClr val="FFFFFF"/>
                </a:clrFrom>
                <a:clrTo>
                  <a:srgbClr val="FFFFFF">
                    <a:alpha val="0"/>
                  </a:srgbClr>
                </a:clrTo>
              </a:clrChange>
            </a:blip>
            <a:stretch>
              <a:fillRect/>
            </a:stretch>
          </p:blipFill>
          <p:spPr>
            <a:xfrm>
              <a:off x="9252509" y="578091"/>
              <a:ext cx="1887655" cy="256010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42445733"/>
              </p:ext>
            </p:extLst>
          </p:nvPr>
        </p:nvGraphicFramePr>
        <p:xfrm>
          <a:off x="48490" y="563418"/>
          <a:ext cx="11430000" cy="4523781"/>
        </p:xfrm>
        <a:graphic>
          <a:graphicData uri="http://schemas.openxmlformats.org/presentationml/2006/ole">
            <mc:AlternateContent xmlns:mc="http://schemas.openxmlformats.org/markup-compatibility/2006">
              <mc:Choice xmlns:v="urn:schemas-microsoft-com:vml" Requires="v">
                <p:oleObj spid="_x0000_s14356"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48490" y="563418"/>
                        <a:ext cx="11430000" cy="4523781"/>
                      </a:xfrm>
                      <a:prstGeom prst="rect">
                        <a:avLst/>
                      </a:prstGeom>
                    </p:spPr>
                  </p:pic>
                </p:oleObj>
              </mc:Fallback>
            </mc:AlternateContent>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45303835"/>
              </p:ext>
            </p:extLst>
          </p:nvPr>
        </p:nvGraphicFramePr>
        <p:xfrm>
          <a:off x="51954" y="734783"/>
          <a:ext cx="11430000" cy="4021443"/>
        </p:xfrm>
        <a:graphic>
          <a:graphicData uri="http://schemas.openxmlformats.org/presentationml/2006/ole">
            <mc:AlternateContent xmlns:mc="http://schemas.openxmlformats.org/markup-compatibility/2006">
              <mc:Choice xmlns:v="urn:schemas-microsoft-com:vml" Requires="v">
                <p:oleObj spid="_x0000_s15380"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51954" y="734783"/>
                        <a:ext cx="11430000" cy="4021443"/>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54672517"/>
              </p:ext>
            </p:extLst>
          </p:nvPr>
        </p:nvGraphicFramePr>
        <p:xfrm>
          <a:off x="48491" y="620485"/>
          <a:ext cx="11430000" cy="4021443"/>
        </p:xfrm>
        <a:graphic>
          <a:graphicData uri="http://schemas.openxmlformats.org/presentationml/2006/ole">
            <mc:AlternateContent xmlns:mc="http://schemas.openxmlformats.org/markup-compatibility/2006">
              <mc:Choice xmlns:v="urn:schemas-microsoft-com:vml" Requires="v">
                <p:oleObj spid="_x0000_s16404"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48491" y="620485"/>
                        <a:ext cx="11430000" cy="4021443"/>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12576"/>
            <a:ext cx="8576387"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本例条件不变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求异面直线</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203306"/>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1012675434"/>
              </p:ext>
            </p:extLst>
          </p:nvPr>
        </p:nvGraphicFramePr>
        <p:xfrm>
          <a:off x="58882" y="1209194"/>
          <a:ext cx="11430000" cy="5026119"/>
        </p:xfrm>
        <a:graphic>
          <a:graphicData uri="http://schemas.openxmlformats.org/presentationml/2006/ole">
            <mc:AlternateContent xmlns:mc="http://schemas.openxmlformats.org/markup-compatibility/2006">
              <mc:Choice xmlns:v="urn:schemas-microsoft-com:vml" Requires="v">
                <p:oleObj spid="_x0000_s17427" name="文档" r:id="rId4" imgW="4510061" imgH="1983211" progId="Word.Document.12">
                  <p:embed/>
                </p:oleObj>
              </mc:Choice>
              <mc:Fallback>
                <p:oleObj name="文档" r:id="rId4" imgW="4510061" imgH="1983211" progId="Word.Document.12">
                  <p:embed/>
                  <p:pic>
                    <p:nvPicPr>
                      <p:cNvPr id="0" name=""/>
                      <p:cNvPicPr/>
                      <p:nvPr/>
                    </p:nvPicPr>
                    <p:blipFill>
                      <a:blip r:embed="rId5"/>
                      <a:stretch>
                        <a:fillRect/>
                      </a:stretch>
                    </p:blipFill>
                    <p:spPr>
                      <a:xfrm>
                        <a:off x="58882" y="1209194"/>
                        <a:ext cx="11430000" cy="5026119"/>
                      </a:xfrm>
                      <a:prstGeom prst="rect">
                        <a:avLst/>
                      </a:prstGeom>
                    </p:spPr>
                  </p:pic>
                </p:oleObj>
              </mc:Fallback>
            </mc:AlternateContent>
          </a:graphicData>
        </a:graphic>
      </p:graphicFrame>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841"/>
            <a:ext cx="11430000" cy="1772793"/>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求空间向量的模、夹角时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常常将所求向量用某个基底表示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然后再根据公式计算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用向量法求异面直线的夹角的余弦值的步骤</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24C02.eps" descr="id:2147513233;FounderCES"/>
          <p:cNvPicPr>
            <a:picLocks noChangeAspect="1"/>
          </p:cNvPicPr>
          <p:nvPr/>
        </p:nvPicPr>
        <p:blipFill>
          <a:blip r:embed="rId2">
            <a:clrChange>
              <a:clrFrom>
                <a:srgbClr val="FFFFFF"/>
              </a:clrFrom>
              <a:clrTo>
                <a:srgbClr val="FFFFFF">
                  <a:alpha val="0"/>
                </a:srgbClr>
              </a:clrTo>
            </a:clrChange>
          </a:blip>
          <a:stretch>
            <a:fillRect/>
          </a:stretch>
        </p:blipFill>
        <p:spPr>
          <a:xfrm>
            <a:off x="3133975" y="1854138"/>
            <a:ext cx="5924051" cy="4567506"/>
          </a:xfrm>
          <a:prstGeom prst="rect">
            <a:avLst/>
          </a:prstGeom>
        </p:spPr>
      </p:pic>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85759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已知空间四边形</a:t>
            </a:r>
            <a:r>
              <a:rPr lang="en-US" altLang="zh-CN" sz="2800" i="1" dirty="0">
                <a:solidFill>
                  <a:srgbClr val="000000"/>
                </a:solidFill>
                <a:latin typeface="Times New Roman" panose="02020603050405020304" pitchFamily="18" charset="0"/>
                <a:cs typeface="Times New Roman" panose="02020603050405020304" pitchFamily="18" charset="0"/>
              </a:rPr>
              <a:t>OABC</a:t>
            </a:r>
            <a:r>
              <a:rPr lang="zh-CN" altLang="zh-CN" sz="2800" dirty="0">
                <a:solidFill>
                  <a:srgbClr val="000000"/>
                </a:solidFill>
                <a:latin typeface="Times New Roman" panose="02020603050405020304" pitchFamily="18" charset="0"/>
                <a:cs typeface="Times New Roman" panose="02020603050405020304" pitchFamily="18" charset="0"/>
              </a:rPr>
              <a:t>各边及对角线长都相等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求异面直线</a:t>
            </a:r>
            <a:r>
              <a:rPr lang="en-US" altLang="zh-CN" sz="2800" i="1" dirty="0">
                <a:solidFill>
                  <a:srgbClr val="000000"/>
                </a:solidFill>
                <a:latin typeface="Times New Roman" panose="02020603050405020304" pitchFamily="18" charset="0"/>
                <a:cs typeface="Times New Roman" panose="02020603050405020304" pitchFamily="18" charset="0"/>
              </a:rPr>
              <a:t>OE</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1564" y="75623"/>
            <a:ext cx="11747211" cy="6882966"/>
            <a:chOff x="41564" y="75623"/>
            <a:chExt cx="11747211" cy="6882966"/>
          </a:xfrm>
        </p:grpSpPr>
        <p:graphicFrame>
          <p:nvGraphicFramePr>
            <p:cNvPr id="2" name="对象 1"/>
            <p:cNvGraphicFramePr>
              <a:graphicFrameLocks noChangeAspect="1"/>
            </p:cNvGraphicFramePr>
            <p:nvPr>
              <p:extLst>
                <p:ext uri="{D42A27DB-BD31-4B8C-83A1-F6EECF244321}">
                  <p14:modId xmlns:p14="http://schemas.microsoft.com/office/powerpoint/2010/main" val="252535599"/>
                </p:ext>
              </p:extLst>
            </p:nvPr>
          </p:nvGraphicFramePr>
          <p:xfrm>
            <a:off x="385763" y="75623"/>
            <a:ext cx="11403012" cy="1157288"/>
          </p:xfrm>
          <a:graphic>
            <a:graphicData uri="http://schemas.openxmlformats.org/presentationml/2006/ole">
              <mc:AlternateContent xmlns:mc="http://schemas.openxmlformats.org/markup-compatibility/2006">
                <mc:Choice xmlns:v="urn:schemas-microsoft-com:vml" Requires="v">
                  <p:oleObj spid="_x0000_s18468" name="文档" r:id="rId3" imgW="4510061" imgH="459133" progId="Word.Document.12">
                    <p:embed/>
                  </p:oleObj>
                </mc:Choice>
                <mc:Fallback>
                  <p:oleObj name="文档" r:id="rId3" imgW="4510061" imgH="459133" progId="Word.Document.12">
                    <p:embed/>
                    <p:pic>
                      <p:nvPicPr>
                        <p:cNvPr id="0" name=""/>
                        <p:cNvPicPr/>
                        <p:nvPr/>
                      </p:nvPicPr>
                      <p:blipFill>
                        <a:blip r:embed="rId4"/>
                        <a:stretch>
                          <a:fillRect/>
                        </a:stretch>
                      </p:blipFill>
                      <p:spPr>
                        <a:xfrm>
                          <a:off x="385763" y="75623"/>
                          <a:ext cx="11403012" cy="115728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626204175"/>
                </p:ext>
              </p:extLst>
            </p:nvPr>
          </p:nvGraphicFramePr>
          <p:xfrm>
            <a:off x="41564" y="965776"/>
            <a:ext cx="11403012" cy="5992813"/>
          </p:xfrm>
          <a:graphic>
            <a:graphicData uri="http://schemas.openxmlformats.org/presentationml/2006/ole">
              <mc:AlternateContent xmlns:mc="http://schemas.openxmlformats.org/markup-compatibility/2006">
                <mc:Choice xmlns:v="urn:schemas-microsoft-com:vml" Requires="v">
                  <p:oleObj spid="_x0000_s18469" name="文档" r:id="rId5" imgW="4510061" imgH="2382160" progId="Word.Document.12">
                    <p:embed/>
                  </p:oleObj>
                </mc:Choice>
                <mc:Fallback>
                  <p:oleObj name="文档" r:id="rId5" imgW="4510061" imgH="2382160" progId="Word.Document.12">
                    <p:embed/>
                    <p:pic>
                      <p:nvPicPr>
                        <p:cNvPr id="0" name=""/>
                        <p:cNvPicPr/>
                        <p:nvPr/>
                      </p:nvPicPr>
                      <p:blipFill>
                        <a:blip r:embed="rId6"/>
                        <a:stretch>
                          <a:fillRect/>
                        </a:stretch>
                      </p:blipFill>
                      <p:spPr>
                        <a:xfrm>
                          <a:off x="41564" y="965776"/>
                          <a:ext cx="11403012" cy="5992813"/>
                        </a:xfrm>
                        <a:prstGeom prst="rect">
                          <a:avLst/>
                        </a:prstGeom>
                      </p:spPr>
                    </p:pic>
                  </p:oleObj>
                </mc:Fallback>
              </mc:AlternateContent>
            </a:graphicData>
          </a:graphic>
        </p:graphicFrame>
        <p:pic>
          <p:nvPicPr>
            <p:cNvPr id="6" name="ZMX1TRA54.eps" descr="id:2147495143;FounderCES"/>
            <p:cNvPicPr/>
            <p:nvPr/>
          </p:nvPicPr>
          <p:blipFill>
            <a:blip r:embed="rId7">
              <a:clrChange>
                <a:clrFrom>
                  <a:srgbClr val="FFFFFF"/>
                </a:clrFrom>
                <a:clrTo>
                  <a:srgbClr val="FFFFFF">
                    <a:alpha val="0"/>
                  </a:srgbClr>
                </a:clrTo>
              </a:clrChange>
            </a:blip>
            <a:stretch>
              <a:fillRect/>
            </a:stretch>
          </p:blipFill>
          <p:spPr>
            <a:xfrm>
              <a:off x="8910863" y="1742727"/>
              <a:ext cx="2533713" cy="3150438"/>
            </a:xfrm>
            <a:prstGeom prst="rect">
              <a:avLst/>
            </a:prstGeom>
          </p:spPr>
        </p:pic>
      </p:grpSp>
    </p:spTree>
    <p:extLst>
      <p:ext uri="{BB962C8B-B14F-4D97-AF65-F5344CB8AC3E}">
        <p14:creationId xmlns:p14="http://schemas.microsoft.com/office/powerpoint/2010/main" val="4241898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28972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在空间四边形</a:t>
            </a:r>
            <a:r>
              <a:rPr lang="en-US" altLang="zh-CN" sz="2800" i="1" dirty="0">
                <a:solidFill>
                  <a:srgbClr val="000000"/>
                </a:solidFill>
                <a:latin typeface="Times New Roman" panose="02020603050405020304" pitchFamily="18" charset="0"/>
                <a:cs typeface="Times New Roman" panose="02020603050405020304" pitchFamily="18" charset="0"/>
              </a:rPr>
              <a:t>OABC</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AOB=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BOC=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AOC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OA=OB=OC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OA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G</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OG</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169537141"/>
              </p:ext>
            </p:extLst>
          </p:nvPr>
        </p:nvGraphicFramePr>
        <p:xfrm>
          <a:off x="48491" y="5077625"/>
          <a:ext cx="11430000" cy="1005588"/>
        </p:xfrm>
        <a:graphic>
          <a:graphicData uri="http://schemas.openxmlformats.org/presentationml/2006/ole">
            <mc:AlternateContent xmlns:mc="http://schemas.openxmlformats.org/markup-compatibility/2006">
              <mc:Choice xmlns:v="urn:schemas-microsoft-com:vml" Requires="v">
                <p:oleObj spid="_x0000_s19474"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48491" y="5077625"/>
                        <a:ext cx="11430000" cy="1005588"/>
                      </a:xfrm>
                      <a:prstGeom prst="rect">
                        <a:avLst/>
                      </a:prstGeom>
                    </p:spPr>
                  </p:pic>
                </p:oleObj>
              </mc:Fallback>
            </mc:AlternateContent>
          </a:graphicData>
        </a:graphic>
      </p:graphicFrame>
      <p:pic>
        <p:nvPicPr>
          <p:cNvPr id="8" name="ZMX1TRA55.eps" descr="id:2147495150;FounderCES"/>
          <p:cNvPicPr>
            <a:picLocks noChangeAspect="1"/>
          </p:cNvPicPr>
          <p:nvPr/>
        </p:nvPicPr>
        <p:blipFill>
          <a:blip r:embed="rId5">
            <a:clrChange>
              <a:clrFrom>
                <a:srgbClr val="FFFFFF"/>
              </a:clrFrom>
              <a:clrTo>
                <a:srgbClr val="FFFFFF">
                  <a:alpha val="0"/>
                </a:srgbClr>
              </a:clrTo>
            </a:clrChange>
          </a:blip>
          <a:stretch>
            <a:fillRect/>
          </a:stretch>
        </p:blipFill>
        <p:spPr>
          <a:xfrm>
            <a:off x="4440568" y="1532885"/>
            <a:ext cx="3310864" cy="3485120"/>
          </a:xfrm>
          <a:prstGeom prst="rect">
            <a:avLst/>
          </a:prstGeom>
        </p:spPr>
      </p:pic>
    </p:spTree>
    <p:extLst>
      <p:ext uri="{BB962C8B-B14F-4D97-AF65-F5344CB8AC3E}">
        <p14:creationId xmlns:p14="http://schemas.microsoft.com/office/powerpoint/2010/main" val="195457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564" y="238993"/>
            <a:ext cx="11430000" cy="6013699"/>
            <a:chOff x="41564" y="218211"/>
            <a:chExt cx="11430000" cy="6013699"/>
          </a:xfrm>
        </p:grpSpPr>
        <p:sp>
          <p:nvSpPr>
            <p:cNvPr id="2" name="矩形 1"/>
            <p:cNvSpPr>
              <a:spLocks noChangeAspect="1"/>
            </p:cNvSpPr>
            <p:nvPr/>
          </p:nvSpPr>
          <p:spPr>
            <a:xfrm>
              <a:off x="381000" y="218211"/>
              <a:ext cx="8202887" cy="652486"/>
            </a:xfrm>
            <a:prstGeom prst="rect">
              <a:avLst/>
            </a:prstGeom>
          </p:spPr>
          <p:txBody>
            <a:bodyPr wrap="none">
              <a:spAutoFit/>
            </a:bodyPr>
            <a:lstStyle/>
            <a:p>
              <a:pPr indent="279400">
                <a:lnSpc>
                  <a:spcPct val="130000"/>
                </a:lnSpc>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ON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图略</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AOB=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BOC=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AOC=</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39889342"/>
                </p:ext>
              </p:extLst>
            </p:nvPr>
          </p:nvGraphicFramePr>
          <p:xfrm>
            <a:off x="41564" y="702541"/>
            <a:ext cx="11430000" cy="5529369"/>
          </p:xfrm>
          <a:graphic>
            <a:graphicData uri="http://schemas.openxmlformats.org/presentationml/2006/ole">
              <mc:AlternateContent xmlns:mc="http://schemas.openxmlformats.org/markup-compatibility/2006">
                <mc:Choice xmlns:v="urn:schemas-microsoft-com:vml" Requires="v">
                  <p:oleObj spid="_x0000_s20497" name="文档" r:id="rId3" imgW="4510061" imgH="2181784" progId="Word.Document.12">
                    <p:embed/>
                  </p:oleObj>
                </mc:Choice>
                <mc:Fallback>
                  <p:oleObj name="文档" r:id="rId3" imgW="4510061" imgH="2181784" progId="Word.Document.12">
                    <p:embed/>
                    <p:pic>
                      <p:nvPicPr>
                        <p:cNvPr id="0" name=""/>
                        <p:cNvPicPr/>
                        <p:nvPr/>
                      </p:nvPicPr>
                      <p:blipFill>
                        <a:blip r:embed="rId4"/>
                        <a:stretch>
                          <a:fillRect/>
                        </a:stretch>
                      </p:blipFill>
                      <p:spPr>
                        <a:xfrm>
                          <a:off x="41564" y="702541"/>
                          <a:ext cx="11430000" cy="5529369"/>
                        </a:xfrm>
                        <a:prstGeom prst="rect">
                          <a:avLst/>
                        </a:prstGeom>
                      </p:spPr>
                    </p:pic>
                  </p:oleObj>
                </mc:Fallback>
              </mc:AlternateContent>
            </a:graphicData>
          </a:graphic>
        </p:graphicFrame>
      </p:grpSp>
    </p:spTree>
    <p:extLst>
      <p:ext uri="{BB962C8B-B14F-4D97-AF65-F5344CB8AC3E}">
        <p14:creationId xmlns:p14="http://schemas.microsoft.com/office/powerpoint/2010/main" val="1806131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向量法证明空间中垂直关系的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步骤</a:t>
            </a:r>
            <a:r>
              <a:rPr lang="zh-CN" altLang="zh-CN" sz="2800" i="1" dirty="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NEU-BZ-S92"/>
                <a:ea typeface="Times New Roman" panose="02020603050405020304" pitchFamily="18" charset="0"/>
                <a:cs typeface="Times New Roman" panose="02020603050405020304" pitchFamily="18" charset="0"/>
              </a:rPr>
              <a:t> </a:t>
            </a:r>
            <a:r>
              <a:rPr lang="zh-CN" altLang="zh-CN" sz="2800" i="1"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把几何问题转化为向量</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选择空间的某个基底表示未知</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通过数量积运算证明数量积为</a:t>
            </a:r>
            <a:r>
              <a:rPr lang="en-US" altLang="zh-CN" sz="2800" dirty="0" smtClean="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将向量问题回归到几何问题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82925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84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cs typeface="Times New Roman" panose="02020603050405020304" pitchFamily="18" charset="0"/>
              </a:rPr>
              <a:t>是底面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的中心</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设正方体的棱长为</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95269227"/>
              </p:ext>
            </p:extLst>
          </p:nvPr>
        </p:nvGraphicFramePr>
        <p:xfrm>
          <a:off x="48491" y="1819316"/>
          <a:ext cx="11430000" cy="4523781"/>
        </p:xfrm>
        <a:graphic>
          <a:graphicData uri="http://schemas.openxmlformats.org/presentationml/2006/ole">
            <mc:AlternateContent xmlns:mc="http://schemas.openxmlformats.org/markup-compatibility/2006">
              <mc:Choice xmlns:v="urn:schemas-microsoft-com:vml" Requires="v">
                <p:oleObj spid="_x0000_s21523"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48491" y="1819316"/>
                        <a:ext cx="11430000" cy="4523781"/>
                      </a:xfrm>
                      <a:prstGeom prst="rect">
                        <a:avLst/>
                      </a:prstGeom>
                    </p:spPr>
                  </p:pic>
                </p:oleObj>
              </mc:Fallback>
            </mc:AlternateContent>
          </a:graphicData>
        </a:graphic>
      </p:graphicFrame>
      <p:pic>
        <p:nvPicPr>
          <p:cNvPr id="4" name="ZMX1TRA56.eps" descr="id:2147495164;FounderCES"/>
          <p:cNvPicPr/>
          <p:nvPr/>
        </p:nvPicPr>
        <p:blipFill>
          <a:blip r:embed="rId5">
            <a:clrChange>
              <a:clrFrom>
                <a:srgbClr val="FFFFFF"/>
              </a:clrFrom>
              <a:clrTo>
                <a:srgbClr val="FFFFFF">
                  <a:alpha val="0"/>
                </a:srgbClr>
              </a:clrTo>
            </a:clrChange>
          </a:blip>
          <a:stretch>
            <a:fillRect/>
          </a:stretch>
        </p:blipFill>
        <p:spPr>
          <a:xfrm>
            <a:off x="8481729" y="2360095"/>
            <a:ext cx="3350053" cy="3234401"/>
          </a:xfrm>
          <a:prstGeom prst="rect">
            <a:avLst/>
          </a:prstGeom>
        </p:spPr>
      </p:pic>
    </p:spTree>
    <p:extLst>
      <p:ext uri="{BB962C8B-B14F-4D97-AF65-F5344CB8AC3E}">
        <p14:creationId xmlns:p14="http://schemas.microsoft.com/office/powerpoint/2010/main" val="919078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8491" y="308759"/>
            <a:ext cx="11762509" cy="5569772"/>
            <a:chOff x="48491" y="277586"/>
            <a:chExt cx="11762509" cy="5569772"/>
          </a:xfrm>
        </p:grpSpPr>
        <p:graphicFrame>
          <p:nvGraphicFramePr>
            <p:cNvPr id="2" name="对象 1"/>
            <p:cNvGraphicFramePr>
              <a:graphicFrameLocks noChangeAspect="1"/>
            </p:cNvGraphicFramePr>
            <p:nvPr>
              <p:extLst>
                <p:ext uri="{D42A27DB-BD31-4B8C-83A1-F6EECF244321}">
                  <p14:modId xmlns:p14="http://schemas.microsoft.com/office/powerpoint/2010/main" val="235445243"/>
                </p:ext>
              </p:extLst>
            </p:nvPr>
          </p:nvGraphicFramePr>
          <p:xfrm>
            <a:off x="48491" y="277586"/>
            <a:ext cx="11430000" cy="4021443"/>
          </p:xfrm>
          <a:graphic>
            <a:graphicData uri="http://schemas.openxmlformats.org/presentationml/2006/ole">
              <mc:AlternateContent xmlns:mc="http://schemas.openxmlformats.org/markup-compatibility/2006">
                <mc:Choice xmlns:v="urn:schemas-microsoft-com:vml" Requires="v">
                  <p:oleObj spid="_x0000_s22545"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48491" y="277586"/>
                          <a:ext cx="11430000" cy="4021443"/>
                        </a:xfrm>
                        <a:prstGeom prst="rect">
                          <a:avLst/>
                        </a:prstGeom>
                      </p:spPr>
                    </p:pic>
                  </p:oleObj>
                </mc:Fallback>
              </mc:AlternateContent>
            </a:graphicData>
          </a:graphic>
        </p:graphicFrame>
        <p:sp>
          <p:nvSpPr>
            <p:cNvPr id="3" name="矩形 2"/>
            <p:cNvSpPr>
              <a:spLocks noChangeAspect="1"/>
            </p:cNvSpPr>
            <p:nvPr/>
          </p:nvSpPr>
          <p:spPr>
            <a:xfrm>
              <a:off x="381000" y="4134838"/>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PA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PC=P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PC</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PAC</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PAC.</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862250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8" name="矩形 7"/>
          <p:cNvSpPr>
            <a:spLocks noChangeAspect="1"/>
          </p:cNvSpPr>
          <p:nvPr/>
        </p:nvSpPr>
        <p:spPr>
          <a:xfrm>
            <a:off x="381000" y="708694"/>
            <a:ext cx="11430000" cy="573042"/>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混淆向量夹角与空间角致</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错</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9" name="ZMX1TRA57.eps" descr="id:2147495178;FounderCES"/>
          <p:cNvPicPr>
            <a:picLocks noChangeAspect="1"/>
          </p:cNvPicPr>
          <p:nvPr/>
        </p:nvPicPr>
        <p:blipFill>
          <a:blip r:embed="rId3">
            <a:clrChange>
              <a:clrFrom>
                <a:srgbClr val="FFFFFF"/>
              </a:clrFrom>
              <a:clrTo>
                <a:srgbClr val="FFFFFF">
                  <a:alpha val="0"/>
                </a:srgbClr>
              </a:clrTo>
            </a:clrChange>
          </a:blip>
          <a:stretch>
            <a:fillRect/>
          </a:stretch>
        </p:blipFill>
        <p:spPr>
          <a:xfrm>
            <a:off x="2192578" y="3309932"/>
            <a:ext cx="7806844" cy="2210875"/>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1645402297"/>
              </p:ext>
            </p:extLst>
          </p:nvPr>
        </p:nvGraphicFramePr>
        <p:xfrm>
          <a:off x="484188" y="1366838"/>
          <a:ext cx="11237912" cy="1971675"/>
        </p:xfrm>
        <a:graphic>
          <a:graphicData uri="http://schemas.openxmlformats.org/presentationml/2006/ole">
            <mc:AlternateContent xmlns:mc="http://schemas.openxmlformats.org/markup-compatibility/2006">
              <mc:Choice xmlns:v="urn:schemas-microsoft-com:vml" Requires="v">
                <p:oleObj spid="_x0000_s32778" name="文档" r:id="rId4" imgW="4510061" imgH="794654" progId="Word.Document.12">
                  <p:embed/>
                </p:oleObj>
              </mc:Choice>
              <mc:Fallback>
                <p:oleObj name="文档" r:id="rId4" imgW="4510061" imgH="794654" progId="Word.Document.12">
                  <p:embed/>
                  <p:pic>
                    <p:nvPicPr>
                      <p:cNvPr id="0" name=""/>
                      <p:cNvPicPr/>
                      <p:nvPr/>
                    </p:nvPicPr>
                    <p:blipFill>
                      <a:blip r:embed="rId5"/>
                      <a:stretch>
                        <a:fillRect/>
                      </a:stretch>
                    </p:blipFill>
                    <p:spPr>
                      <a:xfrm>
                        <a:off x="484188" y="1366838"/>
                        <a:ext cx="11237912" cy="1971675"/>
                      </a:xfrm>
                      <a:prstGeom prst="rect">
                        <a:avLst/>
                      </a:prstGeom>
                    </p:spPr>
                  </p:pic>
                </p:oleObj>
              </mc:Fallback>
            </mc:AlternateContent>
          </a:graphicData>
        </a:graphic>
      </p:graphicFrame>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419613746"/>
              </p:ext>
            </p:extLst>
          </p:nvPr>
        </p:nvGraphicFramePr>
        <p:xfrm>
          <a:off x="41564" y="449117"/>
          <a:ext cx="11275153" cy="4759815"/>
        </p:xfrm>
        <a:graphic>
          <a:graphicData uri="http://schemas.openxmlformats.org/presentationml/2006/ole">
            <mc:AlternateContent xmlns:mc="http://schemas.openxmlformats.org/markup-compatibility/2006">
              <mc:Choice xmlns:v="urn:schemas-microsoft-com:vml" Requires="v">
                <p:oleObj spid="_x0000_s23578" name="文档" r:id="rId3" imgW="4510061" imgH="1903926" progId="Word.Document.12">
                  <p:embed/>
                </p:oleObj>
              </mc:Choice>
              <mc:Fallback>
                <p:oleObj name="文档" r:id="rId3" imgW="4510061" imgH="1903926" progId="Word.Document.12">
                  <p:embed/>
                  <p:pic>
                    <p:nvPicPr>
                      <p:cNvPr id="0" name=""/>
                      <p:cNvPicPr/>
                      <p:nvPr/>
                    </p:nvPicPr>
                    <p:blipFill>
                      <a:blip r:embed="rId4"/>
                      <a:stretch>
                        <a:fillRect/>
                      </a:stretch>
                    </p:blipFill>
                    <p:spPr>
                      <a:xfrm>
                        <a:off x="41564" y="449117"/>
                        <a:ext cx="11275153" cy="4759815"/>
                      </a:xfrm>
                      <a:prstGeom prst="rect">
                        <a:avLst/>
                      </a:prstGeom>
                    </p:spPr>
                  </p:pic>
                </p:oleObj>
              </mc:Fallback>
            </mc:AlternateContent>
          </a:graphicData>
        </a:graphic>
      </p:graphicFrame>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243879"/>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异面直线的夹角为锐角或直角</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两个空间向量的夹角的范围是</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607078174"/>
              </p:ext>
            </p:extLst>
          </p:nvPr>
        </p:nvGraphicFramePr>
        <p:xfrm>
          <a:off x="51954" y="3474988"/>
          <a:ext cx="11275153" cy="991965"/>
        </p:xfrm>
        <a:graphic>
          <a:graphicData uri="http://schemas.openxmlformats.org/presentationml/2006/ole">
            <mc:AlternateContent xmlns:mc="http://schemas.openxmlformats.org/markup-compatibility/2006">
              <mc:Choice xmlns:v="urn:schemas-microsoft-com:vml" Requires="v">
                <p:oleObj spid="_x0000_s33802"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51954" y="3474988"/>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17361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693115725"/>
              </p:ext>
            </p:extLst>
          </p:nvPr>
        </p:nvGraphicFramePr>
        <p:xfrm>
          <a:off x="51955" y="259670"/>
          <a:ext cx="11275153" cy="5553568"/>
        </p:xfrm>
        <a:graphic>
          <a:graphicData uri="http://schemas.openxmlformats.org/presentationml/2006/ole">
            <mc:AlternateContent xmlns:mc="http://schemas.openxmlformats.org/markup-compatibility/2006">
              <mc:Choice xmlns:v="urn:schemas-microsoft-com:vml" Requires="v">
                <p:oleObj spid="_x0000_s24592" name="文档" r:id="rId3" imgW="4510061" imgH="2221427" progId="Word.Document.12">
                  <p:embed/>
                </p:oleObj>
              </mc:Choice>
              <mc:Fallback>
                <p:oleObj name="文档" r:id="rId3" imgW="4510061" imgH="2221427" progId="Word.Document.12">
                  <p:embed/>
                  <p:pic>
                    <p:nvPicPr>
                      <p:cNvPr id="0" name=""/>
                      <p:cNvPicPr/>
                      <p:nvPr/>
                    </p:nvPicPr>
                    <p:blipFill>
                      <a:blip r:embed="rId4"/>
                      <a:stretch>
                        <a:fillRect/>
                      </a:stretch>
                    </p:blipFill>
                    <p:spPr>
                      <a:xfrm>
                        <a:off x="51955" y="259670"/>
                        <a:ext cx="11275153" cy="5553568"/>
                      </a:xfrm>
                      <a:prstGeom prst="rect">
                        <a:avLst/>
                      </a:prstGeom>
                    </p:spPr>
                  </p:pic>
                </p:oleObj>
              </mc:Fallback>
            </mc:AlternateContent>
          </a:graphicData>
        </a:graphic>
      </p:graphicFrame>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31965"/>
            <a:ext cx="11430000" cy="1772793"/>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防范措施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理解向量夹角与直线夹角、二面角的区别</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若直线</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的方向向量分别为</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i="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将直线夹角、二面角正确转化为向量夹角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是解决这类问题的关键</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0999" y="54841"/>
            <a:ext cx="11610109" cy="1212640"/>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a:t>
            </a:r>
            <a:r>
              <a:rPr lang="zh-CN" altLang="zh-CN" sz="2800" dirty="0" smtClean="0">
                <a:solidFill>
                  <a:srgbClr val="000000"/>
                </a:solidFill>
                <a:latin typeface="Times New Roman" panose="02020603050405020304" pitchFamily="18" charset="0"/>
                <a:cs typeface="Times New Roman" panose="02020603050405020304" pitchFamily="18" charset="0"/>
              </a:rPr>
              <a:t>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在平面角为</a:t>
            </a:r>
            <a:r>
              <a:rPr lang="en-US" altLang="zh-CN" sz="2800" dirty="0">
                <a:solidFill>
                  <a:srgbClr val="000000"/>
                </a:solidFill>
                <a:latin typeface="Times New Roman" panose="02020603050405020304" pitchFamily="18" charset="0"/>
                <a:cs typeface="Times New Roman" panose="02020603050405020304" pitchFamily="18" charset="0"/>
              </a:rPr>
              <a:t>120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的二面角</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垂足分别为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AC=AB=BD=</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CD</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u="sng"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52156816"/>
              </p:ext>
            </p:extLst>
          </p:nvPr>
        </p:nvGraphicFramePr>
        <p:xfrm>
          <a:off x="48491" y="1205135"/>
          <a:ext cx="11430000" cy="4021443"/>
        </p:xfrm>
        <a:graphic>
          <a:graphicData uri="http://schemas.openxmlformats.org/presentationml/2006/ole">
            <mc:AlternateContent xmlns:mc="http://schemas.openxmlformats.org/markup-compatibility/2006">
              <mc:Choice xmlns:v="urn:schemas-microsoft-com:vml" Requires="v">
                <p:oleObj spid="_x0000_s25615"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48491" y="1205135"/>
                        <a:ext cx="11430000" cy="4021443"/>
                      </a:xfrm>
                      <a:prstGeom prst="rect">
                        <a:avLst/>
                      </a:prstGeom>
                    </p:spPr>
                  </p:pic>
                </p:oleObj>
              </mc:Fallback>
            </mc:AlternateContent>
          </a:graphicData>
        </a:graphic>
      </p:graphicFrame>
      <p:sp>
        <p:nvSpPr>
          <p:cNvPr id="4" name="矩形 3"/>
          <p:cNvSpPr>
            <a:spLocks noChangeAspect="1"/>
          </p:cNvSpPr>
          <p:nvPr/>
        </p:nvSpPr>
        <p:spPr>
          <a:xfrm>
            <a:off x="381000" y="534087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3×6</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2×6</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×cos</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60</a:t>
            </a:r>
            <a:r>
              <a:rPr lang="en-US" altLang="zh-CN" sz="2800"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144</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smtClean="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smtClean="0">
                <a:solidFill>
                  <a:srgbClr val="000000"/>
                </a:solidFill>
                <a:latin typeface="Times New Roman" panose="02020603050405020304" pitchFamily="18" charset="0"/>
                <a:cs typeface="Times New Roman" panose="02020603050405020304" pitchFamily="18" charset="0"/>
              </a:rPr>
              <a:t>CD=</a:t>
            </a:r>
            <a:r>
              <a:rPr lang="en-US" altLang="zh-CN" sz="2800" dirty="0" smtClean="0">
                <a:solidFill>
                  <a:srgbClr val="000000"/>
                </a:solidFill>
                <a:latin typeface="Times New Roman" panose="02020603050405020304" pitchFamily="18" charset="0"/>
                <a:cs typeface="Times New Roman" panose="02020603050405020304" pitchFamily="18" charset="0"/>
              </a:rPr>
              <a:t>12</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10044883" y="594591"/>
            <a:ext cx="633507" cy="604909"/>
          </a:xfrm>
          <a:prstGeom prst="rect">
            <a:avLst/>
          </a:prstGeom>
        </p:spPr>
        <p:txBody>
          <a:bodyPr wrap="none">
            <a:spAutoFit/>
          </a:bodyPr>
          <a:lstStyle/>
          <a:p>
            <a:pPr>
              <a:lnSpc>
                <a:spcPct val="130000"/>
              </a:lnSpc>
            </a:pPr>
            <a:r>
              <a:rPr lang="en-US" altLang="zh-CN" sz="2800" dirty="0" smtClean="0">
                <a:solidFill>
                  <a:srgbClr val="FF0000"/>
                </a:solidFill>
                <a:latin typeface="Times New Roman" panose="02020603050405020304" pitchFamily="18" charset="0"/>
              </a:rPr>
              <a:t>12 </a:t>
            </a:r>
            <a:endParaRPr lang="zh-CN" altLang="en-US" sz="2800" dirty="0"/>
          </a:p>
        </p:txBody>
      </p:sp>
      <p:pic>
        <p:nvPicPr>
          <p:cNvPr id="6" name="ZMX1TRA58.eps" descr="id:2147495192;FounderCES"/>
          <p:cNvPicPr/>
          <p:nvPr/>
        </p:nvPicPr>
        <p:blipFill>
          <a:blip r:embed="rId5">
            <a:clrChange>
              <a:clrFrom>
                <a:srgbClr val="FFFFFF"/>
              </a:clrFrom>
              <a:clrTo>
                <a:srgbClr val="FFFFFF">
                  <a:alpha val="0"/>
                </a:srgbClr>
              </a:clrTo>
            </a:clrChange>
          </a:blip>
          <a:stretch>
            <a:fillRect/>
          </a:stretch>
        </p:blipFill>
        <p:spPr>
          <a:xfrm>
            <a:off x="7553131" y="2287448"/>
            <a:ext cx="3925360" cy="2014235"/>
          </a:xfrm>
          <a:prstGeom prst="rect">
            <a:avLst/>
          </a:prstGeom>
        </p:spPr>
      </p:pic>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8240"/>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a:solidFill>
                  <a:srgbClr val="000000"/>
                </a:solidFill>
                <a:latin typeface="Times New Roman" panose="02020603050405020304" pitchFamily="18" charset="0"/>
                <a:cs typeface="Times New Roman" panose="02020603050405020304" pitchFamily="18" charset="0"/>
              </a:rPr>
              <a:t>m=</a:t>
            </a:r>
            <a:r>
              <a:rPr lang="en-US" altLang="zh-CN" sz="2800" b="1" dirty="0" err="1">
                <a:solidFill>
                  <a:srgbClr val="000000"/>
                </a:solidFill>
                <a:latin typeface="Times New Roman" panose="02020603050405020304" pitchFamily="18" charset="0"/>
                <a:cs typeface="Times New Roman" panose="02020603050405020304" pitchFamily="18" charset="0"/>
              </a:rPr>
              <a:t>a-b+c</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b="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x+y</a:t>
            </a:r>
            <a:r>
              <a:rPr lang="zh-CN" altLang="zh-CN" sz="2800" dirty="0">
                <a:solidFill>
                  <a:srgbClr val="000000"/>
                </a:solidFill>
                <a:latin typeface="Times New Roman" panose="02020603050405020304" pitchFamily="18" charset="0"/>
                <a:cs typeface="Times New Roman" panose="02020603050405020304" pitchFamily="18" charset="0"/>
              </a:rPr>
              <a:t>等于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	B.</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	D.0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b="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b="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所以存在实数</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使得</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dirty="0" err="1">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52115097"/>
              </p:ext>
            </p:extLst>
          </p:nvPr>
        </p:nvGraphicFramePr>
        <p:xfrm>
          <a:off x="474518" y="3452240"/>
          <a:ext cx="11430000" cy="1507927"/>
        </p:xfrm>
        <a:graphic>
          <a:graphicData uri="http://schemas.openxmlformats.org/presentationml/2006/ole">
            <mc:AlternateContent xmlns:mc="http://schemas.openxmlformats.org/markup-compatibility/2006">
              <mc:Choice xmlns:v="urn:schemas-microsoft-com:vml" Requires="v">
                <p:oleObj spid="_x0000_s26638"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474518" y="3452240"/>
                        <a:ext cx="11430000" cy="1507927"/>
                      </a:xfrm>
                      <a:prstGeom prst="rect">
                        <a:avLst/>
                      </a:prstGeom>
                    </p:spPr>
                  </p:pic>
                </p:oleObj>
              </mc:Fallback>
            </mc:AlternateContent>
          </a:graphicData>
        </a:graphic>
      </p:graphicFrame>
      <p:sp>
        <p:nvSpPr>
          <p:cNvPr id="4" name="矩形 3"/>
          <p:cNvSpPr>
            <a:spLocks noChangeAspect="1"/>
          </p:cNvSpPr>
          <p:nvPr/>
        </p:nvSpPr>
        <p:spPr>
          <a:xfrm>
            <a:off x="381000" y="4991340"/>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03225444"/>
              </p:ext>
            </p:extLst>
          </p:nvPr>
        </p:nvGraphicFramePr>
        <p:xfrm>
          <a:off x="464127" y="692150"/>
          <a:ext cx="11430000" cy="4021443"/>
        </p:xfrm>
        <a:graphic>
          <a:graphicData uri="http://schemas.openxmlformats.org/presentationml/2006/ole">
            <mc:AlternateContent xmlns:mc="http://schemas.openxmlformats.org/markup-compatibility/2006">
              <mc:Choice xmlns:v="urn:schemas-microsoft-com:vml" Requires="v">
                <p:oleObj spid="_x0000_s27663" name="文档" r:id="rId3" imgW="4510061" imgH="1586785" progId="Word.Document.12">
                  <p:embed/>
                </p:oleObj>
              </mc:Choice>
              <mc:Fallback>
                <p:oleObj name="文档" r:id="rId3" imgW="4510061" imgH="1586785" progId="Word.Document.12">
                  <p:embed/>
                  <p:pic>
                    <p:nvPicPr>
                      <p:cNvPr id="0" name=""/>
                      <p:cNvPicPr/>
                      <p:nvPr/>
                    </p:nvPicPr>
                    <p:blipFill>
                      <a:blip r:embed="rId4"/>
                      <a:stretch>
                        <a:fillRect/>
                      </a:stretch>
                    </p:blipFill>
                    <p:spPr>
                      <a:xfrm>
                        <a:off x="464127" y="692150"/>
                        <a:ext cx="11430000" cy="4021443"/>
                      </a:xfrm>
                      <a:prstGeom prst="rect">
                        <a:avLst/>
                      </a:prstGeom>
                    </p:spPr>
                  </p:pic>
                </p:oleObj>
              </mc:Fallback>
            </mc:AlternateContent>
          </a:graphicData>
        </a:graphic>
      </p:graphicFrame>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5093765"/>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178120300"/>
              </p:ext>
            </p:extLst>
          </p:nvPr>
        </p:nvGraphicFramePr>
        <p:xfrm>
          <a:off x="464127" y="723706"/>
          <a:ext cx="11430000" cy="4523781"/>
        </p:xfrm>
        <a:graphic>
          <a:graphicData uri="http://schemas.openxmlformats.org/presentationml/2006/ole">
            <mc:AlternateContent xmlns:mc="http://schemas.openxmlformats.org/markup-compatibility/2006">
              <mc:Choice xmlns:v="urn:schemas-microsoft-com:vml" Requires="v">
                <p:oleObj spid="_x0000_s28686" name="文档" r:id="rId3" imgW="4510061" imgH="1784998" progId="Word.Document.12">
                  <p:embed/>
                </p:oleObj>
              </mc:Choice>
              <mc:Fallback>
                <p:oleObj name="文档" r:id="rId3" imgW="4510061" imgH="1784998" progId="Word.Document.12">
                  <p:embed/>
                  <p:pic>
                    <p:nvPicPr>
                      <p:cNvPr id="0" name=""/>
                      <p:cNvPicPr/>
                      <p:nvPr/>
                    </p:nvPicPr>
                    <p:blipFill>
                      <a:blip r:embed="rId4"/>
                      <a:stretch>
                        <a:fillRect/>
                      </a:stretch>
                    </p:blipFill>
                    <p:spPr>
                      <a:xfrm>
                        <a:off x="464127" y="723706"/>
                        <a:ext cx="11430000" cy="4523781"/>
                      </a:xfrm>
                      <a:prstGeom prst="rect">
                        <a:avLst/>
                      </a:prstGeom>
                    </p:spPr>
                  </p:pic>
                </p:oleObj>
              </mc:Fallback>
            </mc:AlternateContent>
          </a:graphicData>
        </a:graphic>
      </p:graphicFrame>
      <p:pic>
        <p:nvPicPr>
          <p:cNvPr id="6" name="ZMX1TRA59.eps" descr="id:2147495206;FounderCES"/>
          <p:cNvPicPr/>
          <p:nvPr/>
        </p:nvPicPr>
        <p:blipFill>
          <a:blip r:embed="rId5">
            <a:clrChange>
              <a:clrFrom>
                <a:srgbClr val="FFFFFF"/>
              </a:clrFrom>
              <a:clrTo>
                <a:srgbClr val="FFFFFF">
                  <a:alpha val="0"/>
                </a:srgbClr>
              </a:clrTo>
            </a:clrChange>
          </a:blip>
          <a:stretch>
            <a:fillRect/>
          </a:stretch>
        </p:blipFill>
        <p:spPr>
          <a:xfrm>
            <a:off x="8821621" y="2426796"/>
            <a:ext cx="2513921" cy="2666969"/>
          </a:xfrm>
          <a:prstGeom prst="rect">
            <a:avLst/>
          </a:prstGeom>
        </p:spPr>
      </p:pic>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594591"/>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若存在实数</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v</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使得</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+v</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+v</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是空间的一个基底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为不共面向量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+v</a:t>
            </a:r>
            <a:r>
              <a:rPr lang="en-US" altLang="zh-CN" sz="2800" b="1" i="1" dirty="0">
                <a:solidFill>
                  <a:srgbClr val="000000"/>
                </a:solidFill>
                <a:latin typeface="Times New Roman" panose="02020603050405020304" pitchFamily="18" charset="0"/>
                <a:cs typeface="Times New Roman" panose="02020603050405020304" pitchFamily="18" charset="0"/>
              </a:rPr>
              <a:t>e</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dirty="0">
                <a:solidFill>
                  <a:srgbClr val="000000"/>
                </a:solidFill>
                <a:latin typeface="Times New Roman" panose="02020603050405020304" pitchFamily="18" charset="0"/>
                <a:cs typeface="Times New Roman" panose="02020603050405020304" pitchFamily="18" charset="0"/>
              </a:rPr>
              <a:t>=v=</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+v</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6" dur="500"/>
                                        <p:tgtEl>
                                          <p:spTgt spid="3">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42874035"/>
              </p:ext>
            </p:extLst>
          </p:nvPr>
        </p:nvGraphicFramePr>
        <p:xfrm>
          <a:off x="459942" y="599161"/>
          <a:ext cx="11430000" cy="1507927"/>
        </p:xfrm>
        <a:graphic>
          <a:graphicData uri="http://schemas.openxmlformats.org/presentationml/2006/ole">
            <mc:AlternateContent xmlns:mc="http://schemas.openxmlformats.org/markup-compatibility/2006">
              <mc:Choice xmlns:v="urn:schemas-microsoft-com:vml" Requires="v">
                <p:oleObj spid="_x0000_s29737"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459942" y="599161"/>
                        <a:ext cx="11430000" cy="150792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617744856"/>
              </p:ext>
            </p:extLst>
          </p:nvPr>
        </p:nvGraphicFramePr>
        <p:xfrm>
          <a:off x="459942" y="1912986"/>
          <a:ext cx="11430000" cy="3015855"/>
        </p:xfrm>
        <a:graphic>
          <a:graphicData uri="http://schemas.openxmlformats.org/presentationml/2006/ole">
            <mc:AlternateContent xmlns:mc="http://schemas.openxmlformats.org/markup-compatibility/2006">
              <mc:Choice xmlns:v="urn:schemas-microsoft-com:vml" Requires="v">
                <p:oleObj spid="_x0000_s29738" name="文档" r:id="rId5" imgW="4510061" imgH="1191801" progId="Word.Document.12">
                  <p:embed/>
                </p:oleObj>
              </mc:Choice>
              <mc:Fallback>
                <p:oleObj name="文档" r:id="rId5" imgW="4510061" imgH="1191801" progId="Word.Document.12">
                  <p:embed/>
                  <p:pic>
                    <p:nvPicPr>
                      <p:cNvPr id="0" name=""/>
                      <p:cNvPicPr/>
                      <p:nvPr/>
                    </p:nvPicPr>
                    <p:blipFill>
                      <a:blip r:embed="rId6"/>
                      <a:stretch>
                        <a:fillRect/>
                      </a:stretch>
                    </p:blipFill>
                    <p:spPr>
                      <a:xfrm>
                        <a:off x="459942" y="1912986"/>
                        <a:ext cx="11430000" cy="301585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25026881"/>
              </p:ext>
            </p:extLst>
          </p:nvPr>
        </p:nvGraphicFramePr>
        <p:xfrm>
          <a:off x="459942" y="4767702"/>
          <a:ext cx="11430000" cy="1005588"/>
        </p:xfrm>
        <a:graphic>
          <a:graphicData uri="http://schemas.openxmlformats.org/presentationml/2006/ole">
            <mc:AlternateContent xmlns:mc="http://schemas.openxmlformats.org/markup-compatibility/2006">
              <mc:Choice xmlns:v="urn:schemas-microsoft-com:vml" Requires="v">
                <p:oleObj spid="_x0000_s29739" name="文档" r:id="rId7" imgW="4510061" imgH="396786" progId="Word.Document.12">
                  <p:embed/>
                </p:oleObj>
              </mc:Choice>
              <mc:Fallback>
                <p:oleObj name="文档" r:id="rId7" imgW="4510061" imgH="396786" progId="Word.Document.12">
                  <p:embed/>
                  <p:pic>
                    <p:nvPicPr>
                      <p:cNvPr id="0" name=""/>
                      <p:cNvPicPr/>
                      <p:nvPr/>
                    </p:nvPicPr>
                    <p:blipFill>
                      <a:blip r:embed="rId8"/>
                      <a:stretch>
                        <a:fillRect/>
                      </a:stretch>
                    </p:blipFill>
                    <p:spPr>
                      <a:xfrm>
                        <a:off x="459942" y="4767702"/>
                        <a:ext cx="11430000" cy="1005588"/>
                      </a:xfrm>
                      <a:prstGeom prst="rect">
                        <a:avLst/>
                      </a:prstGeom>
                    </p:spPr>
                  </p:pic>
                </p:oleObj>
              </mc:Fallback>
            </mc:AlternateContent>
          </a:graphicData>
        </a:graphic>
      </p:graphicFrame>
      <p:pic>
        <p:nvPicPr>
          <p:cNvPr id="8" name="25N04.eps" descr="id:2147513283;FounderCES"/>
          <p:cNvPicPr/>
          <p:nvPr/>
        </p:nvPicPr>
        <p:blipFill>
          <a:blip r:embed="rId9">
            <a:clrChange>
              <a:clrFrom>
                <a:srgbClr val="FFFFFF"/>
              </a:clrFrom>
              <a:clrTo>
                <a:srgbClr val="FFFFFF">
                  <a:alpha val="0"/>
                </a:srgbClr>
              </a:clrTo>
            </a:clrChange>
          </a:blip>
          <a:stretch>
            <a:fillRect/>
          </a:stretch>
        </p:blipFill>
        <p:spPr>
          <a:xfrm>
            <a:off x="8098615" y="2064953"/>
            <a:ext cx="3023553" cy="3205543"/>
          </a:xfrm>
          <a:prstGeom prst="rect">
            <a:avLst/>
          </a:prstGeom>
        </p:spPr>
      </p:pic>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68063199"/>
              </p:ext>
            </p:extLst>
          </p:nvPr>
        </p:nvGraphicFramePr>
        <p:xfrm>
          <a:off x="470334" y="500306"/>
          <a:ext cx="11430000" cy="1507927"/>
        </p:xfrm>
        <a:graphic>
          <a:graphicData uri="http://schemas.openxmlformats.org/presentationml/2006/ole">
            <mc:AlternateContent xmlns:mc="http://schemas.openxmlformats.org/markup-compatibility/2006">
              <mc:Choice xmlns:v="urn:schemas-microsoft-com:vml" Requires="v">
                <p:oleObj spid="_x0000_s30746"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470334" y="500306"/>
                        <a:ext cx="11430000" cy="150792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10759710"/>
              </p:ext>
            </p:extLst>
          </p:nvPr>
        </p:nvGraphicFramePr>
        <p:xfrm>
          <a:off x="470334" y="1846616"/>
          <a:ext cx="11430000" cy="4021443"/>
        </p:xfrm>
        <a:graphic>
          <a:graphicData uri="http://schemas.openxmlformats.org/presentationml/2006/ole">
            <mc:AlternateContent xmlns:mc="http://schemas.openxmlformats.org/markup-compatibility/2006">
              <mc:Choice xmlns:v="urn:schemas-microsoft-com:vml" Requires="v">
                <p:oleObj spid="_x0000_s30747" name="文档" r:id="rId5" imgW="4510061" imgH="1586785" progId="Word.Document.12">
                  <p:embed/>
                </p:oleObj>
              </mc:Choice>
              <mc:Fallback>
                <p:oleObj name="文档" r:id="rId5" imgW="4510061" imgH="1586785" progId="Word.Document.12">
                  <p:embed/>
                  <p:pic>
                    <p:nvPicPr>
                      <p:cNvPr id="0" name=""/>
                      <p:cNvPicPr/>
                      <p:nvPr/>
                    </p:nvPicPr>
                    <p:blipFill>
                      <a:blip r:embed="rId6"/>
                      <a:stretch>
                        <a:fillRect/>
                      </a:stretch>
                    </p:blipFill>
                    <p:spPr>
                      <a:xfrm>
                        <a:off x="470334" y="1846616"/>
                        <a:ext cx="11430000" cy="4021443"/>
                      </a:xfrm>
                      <a:prstGeom prst="rect">
                        <a:avLst/>
                      </a:prstGeom>
                    </p:spPr>
                  </p:pic>
                </p:oleObj>
              </mc:Fallback>
            </mc:AlternateContent>
          </a:graphicData>
        </a:graphic>
      </p:graphicFrame>
      <p:pic>
        <p:nvPicPr>
          <p:cNvPr id="5" name="25N05.eps" descr="id:2147513290;FounderCES"/>
          <p:cNvPicPr/>
          <p:nvPr/>
        </p:nvPicPr>
        <p:blipFill>
          <a:blip r:embed="rId7">
            <a:clrChange>
              <a:clrFrom>
                <a:srgbClr val="FFFFFF"/>
              </a:clrFrom>
              <a:clrTo>
                <a:srgbClr val="FFFFFF">
                  <a:alpha val="0"/>
                </a:srgbClr>
              </a:clrTo>
            </a:clrChange>
          </a:blip>
          <a:stretch>
            <a:fillRect/>
          </a:stretch>
        </p:blipFill>
        <p:spPr>
          <a:xfrm>
            <a:off x="8433753" y="2008233"/>
            <a:ext cx="3147296" cy="3074237"/>
          </a:xfrm>
          <a:prstGeom prst="rect">
            <a:avLst/>
          </a:prstGeom>
        </p:spPr>
      </p:pic>
    </p:spTree>
    <p:extLst>
      <p:ext uri="{BB962C8B-B14F-4D97-AF65-F5344CB8AC3E}">
        <p14:creationId xmlns:p14="http://schemas.microsoft.com/office/powerpoint/2010/main" val="288875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292</TotalTime>
  <Words>1422</Words>
  <Application>Microsoft Office PowerPoint</Application>
  <PresentationFormat>宽屏</PresentationFormat>
  <Paragraphs>121</Paragraphs>
  <Slides>48</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9"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51</cp:revision>
  <dcterms:created xsi:type="dcterms:W3CDTF">2021-08-30T08:30:26Z</dcterms:created>
  <dcterms:modified xsi:type="dcterms:W3CDTF">2025-08-09T07:14:55Z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