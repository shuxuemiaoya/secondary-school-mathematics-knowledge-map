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677" r:id="rId2"/>
    <p:sldId id="488" r:id="rId3"/>
    <p:sldId id="494" r:id="rId4"/>
    <p:sldId id="392" r:id="rId5"/>
    <p:sldId id="686" r:id="rId6"/>
    <p:sldId id="687" r:id="rId7"/>
    <p:sldId id="688" r:id="rId8"/>
    <p:sldId id="689" r:id="rId9"/>
    <p:sldId id="690" r:id="rId10"/>
    <p:sldId id="407" r:id="rId11"/>
    <p:sldId id="394" r:id="rId12"/>
    <p:sldId id="699" r:id="rId13"/>
    <p:sldId id="700" r:id="rId14"/>
    <p:sldId id="701" r:id="rId15"/>
    <p:sldId id="702" r:id="rId16"/>
    <p:sldId id="706" r:id="rId17"/>
    <p:sldId id="707" r:id="rId18"/>
    <p:sldId id="402" r:id="rId19"/>
    <p:sldId id="712" r:id="rId20"/>
    <p:sldId id="713" r:id="rId21"/>
    <p:sldId id="714" r:id="rId22"/>
    <p:sldId id="715" r:id="rId23"/>
    <p:sldId id="719" r:id="rId24"/>
    <p:sldId id="720" r:id="rId25"/>
    <p:sldId id="721" r:id="rId26"/>
    <p:sldId id="726" r:id="rId27"/>
    <p:sldId id="498" r:id="rId28"/>
    <p:sldId id="730" r:id="rId29"/>
    <p:sldId id="733" r:id="rId30"/>
    <p:sldId id="743" r:id="rId31"/>
    <p:sldId id="744" r:id="rId32"/>
    <p:sldId id="734" r:id="rId33"/>
    <p:sldId id="737" r:id="rId34"/>
    <p:sldId id="740" r:id="rId35"/>
    <p:sldId id="739" r:id="rId36"/>
    <p:sldId id="745" r:id="rId37"/>
    <p:sldId id="746" r:id="rId38"/>
    <p:sldId id="747" r:id="rId39"/>
    <p:sldId id="748" r:id="rId40"/>
    <p:sldId id="749" r:id="rId41"/>
    <p:sldId id="750" r:id="rId42"/>
    <p:sldId id="398" r:id="rId43"/>
    <p:sldId id="395" r:id="rId44"/>
    <p:sldId id="756" r:id="rId45"/>
    <p:sldId id="757" r:id="rId46"/>
    <p:sldId id="758" r:id="rId47"/>
    <p:sldId id="759" r:id="rId48"/>
    <p:sldId id="760" r:id="rId49"/>
    <p:sldId id="490"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57"/>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11.xml"/><Relationship Id="rId1" Type="http://schemas.openxmlformats.org/officeDocument/2006/relationships/slideMaster" Target="../slideMasters/slideMaster1.xml"/><Relationship Id="rId5" Type="http://schemas.openxmlformats.org/officeDocument/2006/relationships/slide" Target="../slides/slide34.xml"/><Relationship Id="rId4" Type="http://schemas.openxmlformats.org/officeDocument/2006/relationships/slide" Target="../slides/slide2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148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4783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417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051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规范解答</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9.jpeg"/><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2.emf"/><Relationship Id="rId5" Type="http://schemas.openxmlformats.org/officeDocument/2006/relationships/package" Target="../embeddings/Microsoft_Word___6.docx"/><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5.emf"/><Relationship Id="rId4" Type="http://schemas.openxmlformats.org/officeDocument/2006/relationships/package" Target="../embeddings/Microsoft_Word___7.docx"/></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7.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1.jpeg"/><Relationship Id="rId5" Type="http://schemas.openxmlformats.org/officeDocument/2006/relationships/image" Target="../media/image19.emf"/><Relationship Id="rId4" Type="http://schemas.openxmlformats.org/officeDocument/2006/relationships/package" Target="../embeddings/Microsoft_Word___10.docx"/></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4.jpeg"/><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6.emf"/><Relationship Id="rId5" Type="http://schemas.openxmlformats.org/officeDocument/2006/relationships/package" Target="../embeddings/Microsoft_Word___13.docx"/><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30.jpeg"/><Relationship Id="rId4" Type="http://schemas.openxmlformats.org/officeDocument/2006/relationships/image" Target="../media/image29.emf"/></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1.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2.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17.docx"/><Relationship Id="rId7" Type="http://schemas.openxmlformats.org/officeDocument/2006/relationships/image" Target="../media/image35.jpeg"/><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4.emf"/><Relationship Id="rId5" Type="http://schemas.openxmlformats.org/officeDocument/2006/relationships/package" Target="../embeddings/Microsoft_Word___18.docx"/><Relationship Id="rId4" Type="http://schemas.openxmlformats.org/officeDocument/2006/relationships/image" Target="../media/image33.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6.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38.jpeg"/><Relationship Id="rId4" Type="http://schemas.openxmlformats.org/officeDocument/2006/relationships/image" Target="../media/image37.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9.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42.jpeg"/><Relationship Id="rId4" Type="http://schemas.openxmlformats.org/officeDocument/2006/relationships/image" Target="../media/image41.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43.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1.xml"/><Relationship Id="rId1" Type="http://schemas.openxmlformats.org/officeDocument/2006/relationships/vmlDrawing" Target="../drawings/vmlDrawing22.vml"/><Relationship Id="rId5" Type="http://schemas.openxmlformats.org/officeDocument/2006/relationships/image" Target="../media/image45.jpeg"/><Relationship Id="rId4" Type="http://schemas.openxmlformats.org/officeDocument/2006/relationships/image" Target="../media/image44.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1.xml"/><Relationship Id="rId1" Type="http://schemas.openxmlformats.org/officeDocument/2006/relationships/vmlDrawing" Target="../drawings/vmlDrawing23.vml"/><Relationship Id="rId5" Type="http://schemas.openxmlformats.org/officeDocument/2006/relationships/image" Target="../media/image48.jpeg"/><Relationship Id="rId4" Type="http://schemas.openxmlformats.org/officeDocument/2006/relationships/image" Target="../media/image47.emf"/></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1.xml"/><Relationship Id="rId1" Type="http://schemas.openxmlformats.org/officeDocument/2006/relationships/vmlDrawing" Target="../drawings/vmlDrawing24.vml"/><Relationship Id="rId4" Type="http://schemas.openxmlformats.org/officeDocument/2006/relationships/image" Target="../media/image49.emf"/></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sp>
        <p:nvSpPr>
          <p:cNvPr id="6" name="矩形 5"/>
          <p:cNvSpPr/>
          <p:nvPr/>
        </p:nvSpPr>
        <p:spPr>
          <a:xfrm>
            <a:off x="635" y="2775585"/>
            <a:ext cx="12191365" cy="1478915"/>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a:solidFill>
                  <a:schemeClr val="bg1"/>
                </a:solidFill>
                <a:latin typeface="华文细黑" panose="02010600040101010101" charset="-122"/>
                <a:ea typeface="华文细黑" panose="02010600040101010101" charset="-122"/>
                <a:cs typeface="Open Sans" panose="020B0606030504020204" pitchFamily="34" charset="0"/>
              </a:rPr>
              <a:t>第一</a:t>
            </a: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1.4.1</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
        <p:nvSpPr>
          <p:cNvPr id="13" name="矩形 12"/>
          <p:cNvSpPr/>
          <p:nvPr/>
        </p:nvSpPr>
        <p:spPr>
          <a:xfrm>
            <a:off x="3545840" y="3217261"/>
            <a:ext cx="8604250" cy="553998"/>
          </a:xfrm>
          <a:prstGeom prst="rect">
            <a:avLst/>
          </a:prstGeom>
        </p:spPr>
        <p:txBody>
          <a:bodyPr wrap="square">
            <a:spAutoFit/>
          </a:bodyPr>
          <a:lstStyle/>
          <a:p>
            <a:r>
              <a:rPr lang="zh-CN" altLang="en-US" sz="3000" b="1" dirty="0">
                <a:solidFill>
                  <a:schemeClr val="bg1"/>
                </a:solidFill>
                <a:latin typeface="华文细黑" panose="02010600040101010101" charset="-122"/>
                <a:ea typeface="华文细黑" panose="02010600040101010101" charset="-122"/>
              </a:rPr>
              <a:t>第</a:t>
            </a:r>
            <a:r>
              <a:rPr lang="en-US" altLang="zh-CN" sz="3000" b="1" dirty="0">
                <a:solidFill>
                  <a:schemeClr val="bg1"/>
                </a:solidFill>
                <a:latin typeface="华文细黑" panose="02010600040101010101" charset="-122"/>
                <a:ea typeface="华文细黑" panose="02010600040101010101" charset="-122"/>
              </a:rPr>
              <a:t>2</a:t>
            </a:r>
            <a:r>
              <a:rPr lang="zh-CN" altLang="en-US" sz="3000" b="1" dirty="0">
                <a:solidFill>
                  <a:schemeClr val="bg1"/>
                </a:solidFill>
                <a:latin typeface="华文细黑" panose="02010600040101010101" charset="-122"/>
                <a:ea typeface="华文细黑" panose="02010600040101010101" charset="-122"/>
              </a:rPr>
              <a:t>课时　用空间向量研究直线、平面的垂直关系</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6188"/>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掌握直线的方向向量和平面的法向量的求法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能用向量语言表述直线与直线、直线与平面、平面与平面的垂直关系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能用向量方法证明有关直线、平面之间的垂直关系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体会向量方法在研究直线、平面的位置关系中的应用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5</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直观</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想象、逻辑推理与数学运算素养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48805"/>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空间中直线、平面的垂直</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设空间两条直线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的方向向量分别为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两个平面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类似空间中直线、平面平行的向量表示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试根据直线的方向向量、平面的法向量的定义回答下列问题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如何用</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表示</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如何用</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表示</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如何用</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表示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wipe(down)">
                                      <p:cBhvr>
                                        <p:cTn id="12" dur="500"/>
                                        <p:tgtEl>
                                          <p:spTgt spid="2">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wipe(down)">
                                      <p:cBhvr>
                                        <p:cTn id="1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3109"/>
            <a:ext cx="4776949" cy="592213"/>
          </a:xfrm>
          <a:prstGeom prst="rect">
            <a:avLst/>
          </a:prstGeom>
        </p:spPr>
        <p:txBody>
          <a:bodyPr wrap="none">
            <a:spAutoFit/>
          </a:bodyPr>
          <a:lstStyle/>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空间中直线、平面的垂直</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710165202"/>
              </p:ext>
            </p:extLst>
          </p:nvPr>
        </p:nvGraphicFramePr>
        <p:xfrm>
          <a:off x="407988" y="690586"/>
          <a:ext cx="11430000" cy="6760628"/>
        </p:xfrm>
        <a:graphic>
          <a:graphicData uri="http://schemas.openxmlformats.org/presentationml/2006/ole">
            <mc:AlternateContent xmlns:mc="http://schemas.openxmlformats.org/markup-compatibility/2006">
              <mc:Choice xmlns:v="urn:schemas-microsoft-com:vml" Requires="v">
                <p:oleObj spid="_x0000_s2070" name="文档" r:id="rId3" imgW="4520786" imgH="2673959" progId="Word.Document.12">
                  <p:embed/>
                </p:oleObj>
              </mc:Choice>
              <mc:Fallback>
                <p:oleObj name="文档" r:id="rId3" imgW="4520786" imgH="2673959" progId="Word.Document.12">
                  <p:embed/>
                  <p:pic>
                    <p:nvPicPr>
                      <p:cNvPr id="0" name=""/>
                      <p:cNvPicPr/>
                      <p:nvPr/>
                    </p:nvPicPr>
                    <p:blipFill>
                      <a:blip r:embed="rId4"/>
                      <a:stretch>
                        <a:fillRect/>
                      </a:stretch>
                    </p:blipFill>
                    <p:spPr>
                      <a:xfrm>
                        <a:off x="407988" y="690586"/>
                        <a:ext cx="11430000" cy="6760628"/>
                      </a:xfrm>
                      <a:prstGeom prst="rect">
                        <a:avLst/>
                      </a:prstGeom>
                    </p:spPr>
                  </p:pic>
                </p:oleObj>
              </mc:Fallback>
            </mc:AlternateContent>
          </a:graphicData>
        </a:graphic>
      </p:graphicFrame>
      <p:sp>
        <p:nvSpPr>
          <p:cNvPr id="5" name="矩形 4"/>
          <p:cNvSpPr/>
          <p:nvPr/>
        </p:nvSpPr>
        <p:spPr>
          <a:xfrm>
            <a:off x="1569099" y="2518634"/>
            <a:ext cx="100472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951089" y="2518634"/>
            <a:ext cx="132996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058027" y="4090965"/>
            <a:ext cx="731629"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156362" y="4090965"/>
            <a:ext cx="3044537"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568339" y="5628820"/>
            <a:ext cx="1004208"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951088" y="5628820"/>
            <a:ext cx="1329965"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4850"/>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的方向向量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(1,0,2),</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err="1">
                <a:solidFill>
                  <a:srgbClr val="000000"/>
                </a:solidFill>
                <a:latin typeface="Times New Roman" panose="02020603050405020304" pitchFamily="18" charset="0"/>
                <a:cs typeface="Times New Roman" panose="02020603050405020304" pitchFamily="18" charset="0"/>
              </a:rPr>
              <a:t>C</a:t>
            </a:r>
            <a:r>
              <a:rPr lang="en-US" altLang="zh-CN" sz="2800" i="1" dirty="0" err="1">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err="1" smtClean="0">
                <a:solidFill>
                  <a:srgbClr val="000000"/>
                </a:solidFill>
                <a:latin typeface="Times New Roman" panose="02020603050405020304" pitchFamily="18" charset="0"/>
                <a:cs typeface="Times New Roman" panose="02020603050405020304" pitchFamily="18" charset="0"/>
              </a:rPr>
              <a:t>D.</a:t>
            </a:r>
            <a:r>
              <a:rPr lang="en-US" altLang="zh-CN" sz="2800" i="1" dirty="0" err="1" smtClean="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斜交</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的法向量分别为</a:t>
            </a:r>
            <a:r>
              <a:rPr lang="en-US" altLang="zh-CN" sz="2800" b="1"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1,2,4),</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899458274"/>
              </p:ext>
            </p:extLst>
          </p:nvPr>
        </p:nvGraphicFramePr>
        <p:xfrm>
          <a:off x="63500" y="3577168"/>
          <a:ext cx="11430000" cy="1504488"/>
        </p:xfrm>
        <a:graphic>
          <a:graphicData uri="http://schemas.openxmlformats.org/presentationml/2006/ole">
            <mc:AlternateContent xmlns:mc="http://schemas.openxmlformats.org/markup-compatibility/2006">
              <mc:Choice xmlns:v="urn:schemas-microsoft-com:vml" Requires="v">
                <p:oleObj spid="_x0000_s3094"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63500" y="3577168"/>
                        <a:ext cx="11430000" cy="1504488"/>
                      </a:xfrm>
                      <a:prstGeom prst="rect">
                        <a:avLst/>
                      </a:prstGeom>
                    </p:spPr>
                  </p:pic>
                </p:oleObj>
              </mc:Fallback>
            </mc:AlternateContent>
          </a:graphicData>
        </a:graphic>
      </p:graphicFrame>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51739"/>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2(1,0,2)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它们的法向量互相垂直</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b="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(1)B</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(2)B</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702541"/>
            <a:ext cx="11430000" cy="451328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若两条直线的方向向量互相垂直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则这两条直线垂直</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若直线的方向向量与平面的法向量垂直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则直线与平面垂直</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若两个平面垂直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则这两个平面的法向量所成的角一定是</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若两个平面垂直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则其中一平面内的直线的方向向量与另一平面内的直线的方向向量垂直</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若平面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(0,2,0),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4" name="矩形 3"/>
          <p:cNvSpPr/>
          <p:nvPr/>
        </p:nvSpPr>
        <p:spPr>
          <a:xfrm>
            <a:off x="9372510" y="1882393"/>
            <a:ext cx="391980"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0406155" y="2437312"/>
            <a:ext cx="597817"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797591" y="3000748"/>
            <a:ext cx="391980"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970183" y="4120639"/>
            <a:ext cx="543470"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727328" y="4671300"/>
            <a:ext cx="391980"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利用向量证明线线垂直</a:t>
                </a:r>
              </a:p>
            </p:txBody>
          </p:sp>
        </p:grpSp>
      </p:grpSp>
      <p:sp>
        <p:nvSpPr>
          <p:cNvPr id="2" name="矩形 1"/>
          <p:cNvSpPr>
            <a:spLocks noChangeAspect="1"/>
          </p:cNvSpPr>
          <p:nvPr/>
        </p:nvSpPr>
        <p:spPr>
          <a:xfrm>
            <a:off x="381000" y="596523"/>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 </a:t>
            </a:r>
            <a:r>
              <a:rPr lang="zh-CN" altLang="en-US" sz="2800" dirty="0" smtClean="0">
                <a:solidFill>
                  <a:srgbClr val="000000"/>
                </a:solidFill>
                <a:latin typeface="Times New Roman" panose="02020603050405020304" pitchFamily="18" charset="0"/>
                <a:cs typeface="Times New Roman" panose="02020603050405020304" pitchFamily="18" charset="0"/>
              </a:rPr>
              <a:t>如</a:t>
            </a:r>
            <a:r>
              <a:rPr lang="zh-CN" altLang="en-US"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已知正</a:t>
            </a:r>
            <a:r>
              <a:rPr lang="zh-CN" altLang="zh-CN" sz="2800" dirty="0">
                <a:solidFill>
                  <a:srgbClr val="000000"/>
                </a:solidFill>
                <a:latin typeface="Times New Roman" panose="02020603050405020304" pitchFamily="18" charset="0"/>
                <a:cs typeface="Times New Roman" panose="02020603050405020304" pitchFamily="18" charset="0"/>
              </a:rPr>
              <a:t>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的各棱长都为</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是底面上</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边的中点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是侧棱</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上的点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smtClean="0">
                <a:solidFill>
                  <a:srgbClr val="000000"/>
                </a:solidFill>
                <a:latin typeface="Times New Roman" panose="02020603050405020304" pitchFamily="18" charset="0"/>
                <a:cs typeface="Times New Roman" panose="02020603050405020304" pitchFamily="18" charset="0"/>
              </a:rPr>
              <a:t>CN=   CC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MN.</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87038932"/>
              </p:ext>
            </p:extLst>
          </p:nvPr>
        </p:nvGraphicFramePr>
        <p:xfrm>
          <a:off x="5958090" y="1096694"/>
          <a:ext cx="533142" cy="753795"/>
        </p:xfrm>
        <a:graphic>
          <a:graphicData uri="http://schemas.openxmlformats.org/presentationml/2006/ole">
            <mc:AlternateContent xmlns:mc="http://schemas.openxmlformats.org/markup-compatibility/2006">
              <mc:Choice xmlns:v="urn:schemas-microsoft-com:vml" Requires="v">
                <p:oleObj spid="_x0000_s4135" name="文档" r:id="rId3" imgW="286823" imgH="397544" progId="Word.Document.12">
                  <p:embed/>
                </p:oleObj>
              </mc:Choice>
              <mc:Fallback>
                <p:oleObj name="文档" r:id="rId3" imgW="286823" imgH="397544" progId="Word.Document.12">
                  <p:embed/>
                  <p:pic>
                    <p:nvPicPr>
                      <p:cNvPr id="0" name=""/>
                      <p:cNvPicPr/>
                      <p:nvPr/>
                    </p:nvPicPr>
                    <p:blipFill>
                      <a:blip r:embed="rId4"/>
                      <a:stretch>
                        <a:fillRect/>
                      </a:stretch>
                    </p:blipFill>
                    <p:spPr>
                      <a:xfrm>
                        <a:off x="5958090" y="1096694"/>
                        <a:ext cx="533142" cy="753795"/>
                      </a:xfrm>
                      <a:prstGeom prst="rect">
                        <a:avLst/>
                      </a:prstGeom>
                    </p:spPr>
                  </p:pic>
                </p:oleObj>
              </mc:Fallback>
            </mc:AlternateContent>
          </a:graphicData>
        </a:graphic>
      </p:graphicFrame>
      <p:pic>
        <p:nvPicPr>
          <p:cNvPr id="9" name="VMX1TRAX44.eps" descr="id:2147495849;FounderCES"/>
          <p:cNvPicPr>
            <a:picLocks noChangeAspect="1"/>
          </p:cNvPicPr>
          <p:nvPr/>
        </p:nvPicPr>
        <p:blipFill>
          <a:blip r:embed="rId5">
            <a:clrChange>
              <a:clrFrom>
                <a:srgbClr val="FFFFFF"/>
              </a:clrFrom>
              <a:clrTo>
                <a:srgbClr val="FFFFFF">
                  <a:alpha val="0"/>
                </a:srgbClr>
              </a:clrTo>
            </a:clrChange>
          </a:blip>
          <a:stretch>
            <a:fillRect/>
          </a:stretch>
        </p:blipFill>
        <p:spPr>
          <a:xfrm>
            <a:off x="4727875" y="1846615"/>
            <a:ext cx="2736251" cy="3192640"/>
          </a:xfrm>
          <a:prstGeom prst="rect">
            <a:avLst/>
          </a:prstGeom>
        </p:spPr>
      </p:pic>
      <mc:AlternateContent xmlns:mc="http://schemas.openxmlformats.org/markup-compatibility/2006">
        <mc:Choice xmlns:a14="http://schemas.microsoft.com/office/drawing/2010/main" Requires="a14">
          <p:sp>
            <p:nvSpPr>
              <p:cNvPr id="5" name="矩形 4"/>
              <p:cNvSpPr>
                <a:spLocks noChangeAspect="1"/>
              </p:cNvSpPr>
              <p:nvPr/>
            </p:nvSpPr>
            <p:spPr>
              <a:xfrm>
                <a:off x="381000" y="5139053"/>
                <a:ext cx="11430000" cy="1223989"/>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转化</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为证明</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利用基向量表示</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用坐标表示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381000" y="5139053"/>
                <a:ext cx="11430000" cy="1223989"/>
              </a:xfrm>
              <a:prstGeom prst="rect">
                <a:avLst/>
              </a:prstGeom>
              <a:blipFill rotWithShape="0">
                <a:blip r:embed="rId6"/>
                <a:stretch>
                  <a:fillRect b="-1343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矩形 5"/>
              <p:cNvSpPr>
                <a:spLocks noChangeAspect="1"/>
              </p:cNvSpPr>
              <p:nvPr/>
            </p:nvSpPr>
            <p:spPr>
              <a:xfrm>
                <a:off x="381000" y="591561"/>
                <a:ext cx="11430000" cy="4662558"/>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构成空间的一个基底</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已知条件和正三棱柱的性质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𝐵𝐶</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𝑀𝐶</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𝐶𝑁</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𝐵𝐶</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𝐶𝑁</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den>
                    </m:f>
                  </m:oMath>
                </a14:m>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r>
                          <a:rPr lang="en-US" altLang="zh-CN" sz="2800" i="1">
                            <a:solidFill>
                              <a:srgbClr val="000000"/>
                            </a:solidFill>
                            <a:latin typeface="Cambria Math" panose="02040503050406030204" pitchFamily="18" charset="0"/>
                            <a:cs typeface="Times New Roman" panose="02020603050405020304" pitchFamily="18" charset="0"/>
                          </a:rPr>
                          <m:t>𝑎</m:t>
                        </m:r>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r>
                          <a:rPr lang="en-US" altLang="zh-CN" sz="2800" i="1">
                            <a:solidFill>
                              <a:srgbClr val="000000"/>
                            </a:solidFill>
                            <a:latin typeface="Cambria Math" panose="02040503050406030204" pitchFamily="18" charset="0"/>
                            <a:cs typeface="Times New Roman" panose="02020603050405020304" pitchFamily="18" charset="0"/>
                          </a:rPr>
                          <m:t>𝑏</m:t>
                        </m:r>
                        <m:r>
                          <a:rPr lang="en-US" altLang="zh-CN" sz="2800">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den>
                        </m:f>
                        <m:r>
                          <a:rPr lang="en-US" altLang="zh-CN" sz="2800" i="1">
                            <a:solidFill>
                              <a:srgbClr val="000000"/>
                            </a:solidFill>
                            <a:latin typeface="Cambria Math" panose="02040503050406030204" pitchFamily="18" charset="0"/>
                            <a:cs typeface="Times New Roman" panose="02020603050405020304" pitchFamily="18" charset="0"/>
                          </a:rPr>
                          <m:t>𝑐</m:t>
                        </m:r>
                      </m:e>
                    </m:d>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MN.</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381000" y="591561"/>
                <a:ext cx="11430000" cy="4662558"/>
              </a:xfrm>
              <a:prstGeom prst="rect">
                <a:avLst/>
              </a:prstGeom>
              <a:blipFill rotWithShape="0">
                <a:blip r:embed="rId2"/>
                <a:stretch>
                  <a:fillRect b="-27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63500" y="47639"/>
            <a:ext cx="11747500" cy="6589463"/>
            <a:chOff x="63500" y="47639"/>
            <a:chExt cx="11747500" cy="6589463"/>
          </a:xfrm>
        </p:grpSpPr>
        <p:sp>
          <p:nvSpPr>
            <p:cNvPr id="2" name="矩形 1"/>
            <p:cNvSpPr>
              <a:spLocks noChangeAspect="1"/>
            </p:cNvSpPr>
            <p:nvPr/>
          </p:nvSpPr>
          <p:spPr>
            <a:xfrm>
              <a:off x="381000" y="4763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的中点为</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OC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OO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交</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可以以</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Oxyz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43241022"/>
                </p:ext>
              </p:extLst>
            </p:nvPr>
          </p:nvGraphicFramePr>
          <p:xfrm>
            <a:off x="63500" y="1120342"/>
            <a:ext cx="11430000" cy="5516760"/>
          </p:xfrm>
          <a:graphic>
            <a:graphicData uri="http://schemas.openxmlformats.org/presentationml/2006/ole">
              <mc:AlternateContent xmlns:mc="http://schemas.openxmlformats.org/markup-compatibility/2006">
                <mc:Choice xmlns:v="urn:schemas-microsoft-com:vml" Requires="v">
                  <p:oleObj spid="_x0000_s6166"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63500" y="1120342"/>
                          <a:ext cx="11430000" cy="5516760"/>
                        </a:xfrm>
                        <a:prstGeom prst="rect">
                          <a:avLst/>
                        </a:prstGeom>
                      </p:spPr>
                    </p:pic>
                  </p:oleObj>
                </mc:Fallback>
              </mc:AlternateContent>
            </a:graphicData>
          </a:graphic>
        </p:graphicFrame>
        <p:pic>
          <p:nvPicPr>
            <p:cNvPr id="4" name="VMX1TRAX45.eps" descr="id:2147495856;FounderCES"/>
            <p:cNvPicPr/>
            <p:nvPr/>
          </p:nvPicPr>
          <p:blipFill>
            <a:blip r:embed="rId5">
              <a:clrChange>
                <a:clrFrom>
                  <a:srgbClr val="FFFFFF"/>
                </a:clrFrom>
                <a:clrTo>
                  <a:srgbClr val="FFFFFF">
                    <a:alpha val="0"/>
                  </a:srgbClr>
                </a:clrTo>
              </a:clrChange>
            </a:blip>
            <a:stretch>
              <a:fillRect/>
            </a:stretch>
          </p:blipFill>
          <p:spPr>
            <a:xfrm>
              <a:off x="6991667" y="2550418"/>
              <a:ext cx="2803979" cy="3456682"/>
            </a:xfrm>
            <a:prstGeom prst="rect">
              <a:avLst/>
            </a:prstGeom>
          </p:spPr>
        </p:pic>
      </p:gr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5856"/>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空间向量证明两条直线垂直的常用方法及步骤</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基向量法</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选取三个不共线的已知向量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通常是它们的模及其两两夹角为已知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把两条直线的方向向量用基底表示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利用向量的数量积运算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计算出两直线的方向向量的数量积为</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④</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由方向向量垂直得到两条直线垂直</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坐标法</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根据已知条件和图形特征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建立适当的空间直角坐标系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正确地写出各点的坐标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根据所求出点的坐标求出两条直线方向向量的坐标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计算两条直线方向向量的数量积为</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④</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由方向向量垂直得到两直线垂直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2127"/>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在直四棱柱</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是矩形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上是否存在一点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并说明理由</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VMX1TRAX46.eps" descr="id:2147495870;FounderCES"/>
          <p:cNvPicPr>
            <a:picLocks noChangeAspect="1"/>
          </p:cNvPicPr>
          <p:nvPr/>
        </p:nvPicPr>
        <p:blipFill>
          <a:blip r:embed="rId2">
            <a:clrChange>
              <a:clrFrom>
                <a:srgbClr val="FFFFFF"/>
              </a:clrFrom>
              <a:clrTo>
                <a:srgbClr val="FFFFFF">
                  <a:alpha val="0"/>
                </a:srgbClr>
              </a:clrTo>
            </a:clrChange>
          </a:blip>
          <a:stretch>
            <a:fillRect/>
          </a:stretch>
        </p:blipFill>
        <p:spPr>
          <a:xfrm>
            <a:off x="4591062" y="2013547"/>
            <a:ext cx="3009876" cy="3810625"/>
          </a:xfrm>
          <a:prstGeom prst="rect">
            <a:avLst/>
          </a:prstGeom>
        </p:spPr>
      </p:pic>
    </p:spTree>
    <p:extLst>
      <p:ext uri="{BB962C8B-B14F-4D97-AF65-F5344CB8AC3E}">
        <p14:creationId xmlns:p14="http://schemas.microsoft.com/office/powerpoint/2010/main" val="993292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0094"/>
            <a:ext cx="11430000" cy="241912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存在点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使得</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理由如下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5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(0,2,3),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假设</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上存在一点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h</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h</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57787193"/>
              </p:ext>
            </p:extLst>
          </p:nvPr>
        </p:nvGraphicFramePr>
        <p:xfrm>
          <a:off x="76200" y="2507640"/>
          <a:ext cx="11430000" cy="3510170"/>
        </p:xfrm>
        <a:graphic>
          <a:graphicData uri="http://schemas.openxmlformats.org/presentationml/2006/ole">
            <mc:AlternateContent xmlns:mc="http://schemas.openxmlformats.org/markup-compatibility/2006">
              <mc:Choice xmlns:v="urn:schemas-microsoft-com:vml" Requires="v">
                <p:oleObj spid="_x0000_s7210"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76200" y="2507640"/>
                        <a:ext cx="11430000" cy="351017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69211148"/>
              </p:ext>
            </p:extLst>
          </p:nvPr>
        </p:nvGraphicFramePr>
        <p:xfrm>
          <a:off x="3748974" y="1277667"/>
          <a:ext cx="1352655" cy="829174"/>
        </p:xfrm>
        <a:graphic>
          <a:graphicData uri="http://schemas.openxmlformats.org/presentationml/2006/ole">
            <mc:AlternateContent xmlns:mc="http://schemas.openxmlformats.org/markup-compatibility/2006">
              <mc:Choice xmlns:v="urn:schemas-microsoft-com:vml" Requires="v">
                <p:oleObj spid="_x0000_s7211" name="文档" r:id="rId5" imgW="652459" imgH="397544" progId="Word.Document.12">
                  <p:embed/>
                </p:oleObj>
              </mc:Choice>
              <mc:Fallback>
                <p:oleObj name="文档" r:id="rId5" imgW="652459" imgH="397544" progId="Word.Document.12">
                  <p:embed/>
                  <p:pic>
                    <p:nvPicPr>
                      <p:cNvPr id="0" name=""/>
                      <p:cNvPicPr/>
                      <p:nvPr/>
                    </p:nvPicPr>
                    <p:blipFill>
                      <a:blip r:embed="rId6"/>
                      <a:stretch>
                        <a:fillRect/>
                      </a:stretch>
                    </p:blipFill>
                    <p:spPr>
                      <a:xfrm>
                        <a:off x="3748974" y="1277667"/>
                        <a:ext cx="1352655" cy="829174"/>
                      </a:xfrm>
                      <a:prstGeom prst="rect">
                        <a:avLst/>
                      </a:prstGeom>
                    </p:spPr>
                  </p:pic>
                </p:oleObj>
              </mc:Fallback>
            </mc:AlternateContent>
          </a:graphicData>
        </a:graphic>
      </p:graphicFrame>
    </p:spTree>
    <p:extLst>
      <p:ext uri="{BB962C8B-B14F-4D97-AF65-F5344CB8AC3E}">
        <p14:creationId xmlns:p14="http://schemas.microsoft.com/office/powerpoint/2010/main" val="2267696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利用向量证明线面垂直</a:t>
                </a:r>
              </a:p>
            </p:txBody>
          </p:sp>
        </p:grpSp>
      </p:grpSp>
      <p:sp>
        <p:nvSpPr>
          <p:cNvPr id="2" name="矩形 1"/>
          <p:cNvSpPr>
            <a:spLocks noChangeAspect="1"/>
          </p:cNvSpPr>
          <p:nvPr/>
        </p:nvSpPr>
        <p:spPr>
          <a:xfrm>
            <a:off x="381000" y="589335"/>
            <a:ext cx="11430000" cy="1212640"/>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的所有棱长都为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为棱</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矩形 3"/>
              <p:cNvSpPr>
                <a:spLocks noChangeAspect="1"/>
              </p:cNvSpPr>
              <p:nvPr/>
            </p:nvSpPr>
            <p:spPr>
              <a:xfrm>
                <a:off x="381000" y="4531886"/>
                <a:ext cx="11430000" cy="185576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证明</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𝐵𝐷</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利用线面垂直的判定定理证明</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证明</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的法向量平行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利用线面垂直的向量表示证明</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81000" y="4531886"/>
                <a:ext cx="11430000" cy="1855764"/>
              </a:xfrm>
              <a:prstGeom prst="rect">
                <a:avLst/>
              </a:prstGeom>
              <a:blipFill rotWithShape="0">
                <a:blip r:embed="rId2"/>
                <a:stretch>
                  <a:fillRect l="-1120" b="-8525"/>
                </a:stretch>
              </a:blipFill>
            </p:spPr>
            <p:txBody>
              <a:bodyPr/>
              <a:lstStyle/>
              <a:p>
                <a:r>
                  <a:rPr lang="zh-CN" altLang="en-US">
                    <a:noFill/>
                  </a:rPr>
                  <a:t> </a:t>
                </a:r>
              </a:p>
            </p:txBody>
          </p:sp>
        </mc:Fallback>
      </mc:AlternateContent>
      <p:pic>
        <p:nvPicPr>
          <p:cNvPr id="16" name="VMX1TRAX48.eps" descr="id:2147495891;FounderCES"/>
          <p:cNvPicPr>
            <a:picLocks noChangeAspect="1"/>
          </p:cNvPicPr>
          <p:nvPr/>
        </p:nvPicPr>
        <p:blipFill>
          <a:blip r:embed="rId3">
            <a:clrChange>
              <a:clrFrom>
                <a:srgbClr val="FFFFFF"/>
              </a:clrFrom>
              <a:clrTo>
                <a:srgbClr val="FFFFFF">
                  <a:alpha val="0"/>
                </a:srgbClr>
              </a:clrTo>
            </a:clrChange>
          </a:blip>
          <a:stretch>
            <a:fillRect/>
          </a:stretch>
        </p:blipFill>
        <p:spPr>
          <a:xfrm>
            <a:off x="4285478" y="1458322"/>
            <a:ext cx="3621045" cy="292884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81000" y="171086"/>
            <a:ext cx="11430000" cy="6296793"/>
            <a:chOff x="381000" y="158386"/>
            <a:chExt cx="11430000" cy="6296793"/>
          </a:xfrm>
        </p:grpSpPr>
        <p:sp>
          <p:nvSpPr>
            <p:cNvPr id="2" name="矩形 1"/>
            <p:cNvSpPr>
              <a:spLocks noChangeAspect="1"/>
            </p:cNvSpPr>
            <p:nvPr/>
          </p:nvSpPr>
          <p:spPr>
            <a:xfrm>
              <a:off x="381000" y="158386"/>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AO.</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为正三角形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AO</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又因为在正三棱柱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AO</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AO</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5" name="VMX1TRAX49.eps" descr="id:2147495898;FounderCES"/>
            <p:cNvPicPr/>
            <p:nvPr/>
          </p:nvPicPr>
          <p:blipFill>
            <a:blip r:embed="rId3">
              <a:clrChange>
                <a:clrFrom>
                  <a:srgbClr val="FFFFFF"/>
                </a:clrFrom>
                <a:clrTo>
                  <a:srgbClr val="FFFFFF">
                    <a:alpha val="0"/>
                  </a:srgbClr>
                </a:clrTo>
              </a:clrChange>
            </a:blip>
            <a:stretch>
              <a:fillRect/>
            </a:stretch>
          </p:blipFill>
          <p:spPr>
            <a:xfrm>
              <a:off x="7779067" y="223648"/>
              <a:ext cx="3628699" cy="3302318"/>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1864029441"/>
                </p:ext>
              </p:extLst>
            </p:nvPr>
          </p:nvGraphicFramePr>
          <p:xfrm>
            <a:off x="381000" y="3446203"/>
            <a:ext cx="11430000" cy="3008976"/>
          </p:xfrm>
          <a:graphic>
            <a:graphicData uri="http://schemas.openxmlformats.org/presentationml/2006/ole">
              <mc:AlternateContent xmlns:mc="http://schemas.openxmlformats.org/markup-compatibility/2006">
                <mc:Choice xmlns:v="urn:schemas-microsoft-com:vml" Requires="v">
                  <p:oleObj spid="_x0000_s9236" name="文档" r:id="rId4" imgW="4510061" imgH="1229641" progId="Word.Document.12">
                    <p:embed/>
                  </p:oleObj>
                </mc:Choice>
                <mc:Fallback>
                  <p:oleObj name="文档" r:id="rId4" imgW="4510061" imgH="1229641" progId="Word.Document.12">
                    <p:embed/>
                    <p:pic>
                      <p:nvPicPr>
                        <p:cNvPr id="0" name=""/>
                        <p:cNvPicPr/>
                        <p:nvPr/>
                      </p:nvPicPr>
                      <p:blipFill>
                        <a:blip r:embed="rId5"/>
                        <a:stretch>
                          <a:fillRect/>
                        </a:stretch>
                      </p:blipFill>
                      <p:spPr>
                        <a:xfrm>
                          <a:off x="381000" y="3446203"/>
                          <a:ext cx="11430000" cy="3008976"/>
                        </a:xfrm>
                        <a:prstGeom prst="rect">
                          <a:avLst/>
                        </a:prstGeom>
                      </p:spPr>
                    </p:pic>
                  </p:oleObj>
                </mc:Fallback>
              </mc:AlternateContent>
            </a:graphicData>
          </a:graphic>
        </p:graphicFrame>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500" y="944362"/>
            <a:ext cx="11747500" cy="3481076"/>
            <a:chOff x="63500" y="1349608"/>
            <a:chExt cx="11747500" cy="3481076"/>
          </a:xfrm>
        </p:grpSpPr>
        <p:graphicFrame>
          <p:nvGraphicFramePr>
            <p:cNvPr id="2" name="对象 1"/>
            <p:cNvGraphicFramePr>
              <a:graphicFrameLocks noChangeAspect="1"/>
            </p:cNvGraphicFramePr>
            <p:nvPr>
              <p:extLst>
                <p:ext uri="{D42A27DB-BD31-4B8C-83A1-F6EECF244321}">
                  <p14:modId xmlns:p14="http://schemas.microsoft.com/office/powerpoint/2010/main" val="4052206542"/>
                </p:ext>
              </p:extLst>
            </p:nvPr>
          </p:nvGraphicFramePr>
          <p:xfrm>
            <a:off x="63500" y="1349608"/>
            <a:ext cx="11430000" cy="2507784"/>
          </p:xfrm>
          <a:graphic>
            <a:graphicData uri="http://schemas.openxmlformats.org/presentationml/2006/ole">
              <mc:AlternateContent xmlns:mc="http://schemas.openxmlformats.org/markup-compatibility/2006">
                <mc:Choice xmlns:v="urn:schemas-microsoft-com:vml" Requires="v">
                  <p:oleObj spid="_x0000_s10258"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63500" y="1349608"/>
                          <a:ext cx="11430000" cy="2507784"/>
                        </a:xfrm>
                        <a:prstGeom prst="rect">
                          <a:avLst/>
                        </a:prstGeom>
                      </p:spPr>
                    </p:pic>
                  </p:oleObj>
                </mc:Fallback>
              </mc:AlternateContent>
            </a:graphicData>
          </a:graphic>
        </p:graphicFrame>
        <p:sp>
          <p:nvSpPr>
            <p:cNvPr id="3" name="矩形 2"/>
            <p:cNvSpPr>
              <a:spLocks noChangeAspect="1"/>
            </p:cNvSpPr>
            <p:nvPr/>
          </p:nvSpPr>
          <p:spPr>
            <a:xfrm>
              <a:off x="381000" y="367831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又因为</a:t>
              </a:r>
              <a:r>
                <a:rPr lang="en-US" altLang="zh-CN" sz="2800" i="1" dirty="0">
                  <a:solidFill>
                    <a:srgbClr val="000000"/>
                  </a:solidFill>
                  <a:latin typeface="Times New Roman" panose="02020603050405020304" pitchFamily="18" charset="0"/>
                  <a:cs typeface="Times New Roman" panose="02020603050405020304" pitchFamily="18" charset="0"/>
                </a:rPr>
                <a:t>BA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200" y="457200"/>
            <a:ext cx="11430000" cy="5663945"/>
            <a:chOff x="76200" y="444500"/>
            <a:chExt cx="11430000" cy="5663945"/>
          </a:xfrm>
        </p:grpSpPr>
        <p:sp>
          <p:nvSpPr>
            <p:cNvPr id="2" name="矩形 1"/>
            <p:cNvSpPr>
              <a:spLocks noChangeAspect="1"/>
            </p:cNvSpPr>
            <p:nvPr/>
          </p:nvSpPr>
          <p:spPr>
            <a:xfrm>
              <a:off x="381000" y="444500"/>
              <a:ext cx="6974986"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52326734"/>
                </p:ext>
              </p:extLst>
            </p:nvPr>
          </p:nvGraphicFramePr>
          <p:xfrm>
            <a:off x="76200" y="1093788"/>
            <a:ext cx="11430000" cy="5014657"/>
          </p:xfrm>
          <a:graphic>
            <a:graphicData uri="http://schemas.openxmlformats.org/presentationml/2006/ole">
              <mc:AlternateContent xmlns:mc="http://schemas.openxmlformats.org/markup-compatibility/2006">
                <mc:Choice xmlns:v="urn:schemas-microsoft-com:vml" Requires="v">
                  <p:oleObj spid="_x0000_s11282"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76200" y="1093788"/>
                          <a:ext cx="11430000" cy="5014657"/>
                        </a:xfrm>
                        <a:prstGeom prst="rect">
                          <a:avLst/>
                        </a:prstGeom>
                      </p:spPr>
                    </p:pic>
                  </p:oleObj>
                </mc:Fallback>
              </mc:AlternateContent>
            </a:graphicData>
          </a:graphic>
        </p:graphicFrame>
      </p:gr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139717"/>
            <a:ext cx="2016224" cy="367706"/>
          </a:xfrm>
          <a:prstGeom prst="rect">
            <a:avLst/>
          </a:prstGeom>
        </p:spPr>
      </p:pic>
      <p:sp>
        <p:nvSpPr>
          <p:cNvPr id="3" name="矩形 2"/>
          <p:cNvSpPr>
            <a:spLocks noChangeAspect="1"/>
          </p:cNvSpPr>
          <p:nvPr/>
        </p:nvSpPr>
        <p:spPr>
          <a:xfrm>
            <a:off x="381000" y="481958"/>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本例中增加条件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ADE.</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Exyz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nvGrpSpPr>
          <p:cNvPr id="7" name="组合 6"/>
          <p:cNvGrpSpPr/>
          <p:nvPr/>
        </p:nvGrpSpPr>
        <p:grpSpPr>
          <a:xfrm>
            <a:off x="63500" y="1652733"/>
            <a:ext cx="11747500" cy="4974358"/>
            <a:chOff x="63500" y="1642342"/>
            <a:chExt cx="11747500" cy="4974358"/>
          </a:xfrm>
        </p:grpSpPr>
        <p:graphicFrame>
          <p:nvGraphicFramePr>
            <p:cNvPr id="4" name="对象 3"/>
            <p:cNvGraphicFramePr>
              <a:graphicFrameLocks noChangeAspect="1"/>
            </p:cNvGraphicFramePr>
            <p:nvPr>
              <p:extLst>
                <p:ext uri="{D42A27DB-BD31-4B8C-83A1-F6EECF244321}">
                  <p14:modId xmlns:p14="http://schemas.microsoft.com/office/powerpoint/2010/main" val="596369329"/>
                </p:ext>
              </p:extLst>
            </p:nvPr>
          </p:nvGraphicFramePr>
          <p:xfrm>
            <a:off x="63500" y="1642342"/>
            <a:ext cx="11430000" cy="4012272"/>
          </p:xfrm>
          <a:graphic>
            <a:graphicData uri="http://schemas.openxmlformats.org/presentationml/2006/ole">
              <mc:AlternateContent xmlns:mc="http://schemas.openxmlformats.org/markup-compatibility/2006">
                <mc:Choice xmlns:v="urn:schemas-microsoft-com:vml" Requires="v">
                  <p:oleObj spid="_x0000_s12307" name="文档" r:id="rId4" imgW="4520786" imgH="1586931" progId="Word.Document.12">
                    <p:embed/>
                  </p:oleObj>
                </mc:Choice>
                <mc:Fallback>
                  <p:oleObj name="文档" r:id="rId4" imgW="4520786" imgH="1586931" progId="Word.Document.12">
                    <p:embed/>
                    <p:pic>
                      <p:nvPicPr>
                        <p:cNvPr id="0" name=""/>
                        <p:cNvPicPr/>
                        <p:nvPr/>
                      </p:nvPicPr>
                      <p:blipFill>
                        <a:blip r:embed="rId5"/>
                        <a:stretch>
                          <a:fillRect/>
                        </a:stretch>
                      </p:blipFill>
                      <p:spPr>
                        <a:xfrm>
                          <a:off x="63500" y="1642342"/>
                          <a:ext cx="11430000" cy="4012272"/>
                        </a:xfrm>
                        <a:prstGeom prst="rect">
                          <a:avLst/>
                        </a:prstGeom>
                      </p:spPr>
                    </p:pic>
                  </p:oleObj>
                </mc:Fallback>
              </mc:AlternateContent>
            </a:graphicData>
          </a:graphic>
        </p:graphicFrame>
        <p:sp>
          <p:nvSpPr>
            <p:cNvPr id="5" name="矩形 4"/>
            <p:cNvSpPr>
              <a:spLocks noChangeAspect="1"/>
            </p:cNvSpPr>
            <p:nvPr/>
          </p:nvSpPr>
          <p:spPr>
            <a:xfrm>
              <a:off x="381000" y="546433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ED.</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又因为</a:t>
              </a:r>
              <a:r>
                <a:rPr lang="en-US" altLang="zh-CN" sz="2800" i="1" dirty="0">
                  <a:solidFill>
                    <a:srgbClr val="000000"/>
                  </a:solidFill>
                  <a:latin typeface="Times New Roman" panose="02020603050405020304" pitchFamily="18" charset="0"/>
                  <a:cs typeface="Times New Roman" panose="02020603050405020304" pitchFamily="18" charset="0"/>
                </a:rPr>
                <a:t>EA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ED=E</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ADE.</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6" name="VMX1TRAX50.eps" descr="id:2147495912;FounderCES"/>
            <p:cNvPicPr/>
            <p:nvPr/>
          </p:nvPicPr>
          <p:blipFill>
            <a:blip r:embed="rId6">
              <a:clrChange>
                <a:clrFrom>
                  <a:srgbClr val="FFFFFF"/>
                </a:clrFrom>
                <a:clrTo>
                  <a:srgbClr val="FFFFFF">
                    <a:alpha val="0"/>
                  </a:srgbClr>
                </a:clrTo>
              </a:clrChange>
            </a:blip>
            <a:stretch>
              <a:fillRect/>
            </a:stretch>
          </p:blipFill>
          <p:spPr>
            <a:xfrm>
              <a:off x="7779067" y="2086219"/>
              <a:ext cx="3433327" cy="3124518"/>
            </a:xfrm>
            <a:prstGeom prst="rect">
              <a:avLst/>
            </a:prstGeom>
          </p:spPr>
        </p:pic>
      </p:gr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3153"/>
            <a:ext cx="11430000" cy="625402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坐标法证明线面垂直的两种方法</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将直线的方向向量用坐标表示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找出平面内两条相交直线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并用坐标表示它们的方向向量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分别计算两组向量的数量积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得到数量积为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将直线的方向向量用坐标表示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求出平面的法向量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证明直线的方向向量与平面的法向量平行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使用坐标法证明时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如果平面的法向量很明显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可以用方法二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否则常常选用方法一解决</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68267"/>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DC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AE</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VMX1TRAX51.eps" descr="id:2147495926;FounderCES"/>
          <p:cNvPicPr>
            <a:picLocks noChangeAspect="1"/>
          </p:cNvPicPr>
          <p:nvPr/>
        </p:nvPicPr>
        <p:blipFill>
          <a:blip r:embed="rId2">
            <a:clrChange>
              <a:clrFrom>
                <a:srgbClr val="FFFFFF"/>
              </a:clrFrom>
              <a:clrTo>
                <a:srgbClr val="FFFFFF">
                  <a:alpha val="0"/>
                </a:srgbClr>
              </a:clrTo>
            </a:clrChange>
          </a:blip>
          <a:stretch>
            <a:fillRect/>
          </a:stretch>
        </p:blipFill>
        <p:spPr>
          <a:xfrm>
            <a:off x="4275025" y="1672863"/>
            <a:ext cx="3641950" cy="3544599"/>
          </a:xfrm>
          <a:prstGeom prst="rect">
            <a:avLst/>
          </a:prstGeom>
        </p:spPr>
      </p:pic>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7066"/>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设正方体的棱长为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70088712"/>
              </p:ext>
            </p:extLst>
          </p:nvPr>
        </p:nvGraphicFramePr>
        <p:xfrm>
          <a:off x="76200" y="633382"/>
          <a:ext cx="11430000" cy="6017954"/>
        </p:xfrm>
        <a:graphic>
          <a:graphicData uri="http://schemas.openxmlformats.org/presentationml/2006/ole">
            <mc:AlternateContent xmlns:mc="http://schemas.openxmlformats.org/markup-compatibility/2006">
              <mc:Choice xmlns:v="urn:schemas-microsoft-com:vml" Requires="v">
                <p:oleObj spid="_x0000_s13331" name="文档" r:id="rId3" imgW="4520786" imgH="2380217" progId="Word.Document.12">
                  <p:embed/>
                </p:oleObj>
              </mc:Choice>
              <mc:Fallback>
                <p:oleObj name="文档" r:id="rId3" imgW="4520786" imgH="2380217" progId="Word.Document.12">
                  <p:embed/>
                  <p:pic>
                    <p:nvPicPr>
                      <p:cNvPr id="0" name=""/>
                      <p:cNvPicPr/>
                      <p:nvPr/>
                    </p:nvPicPr>
                    <p:blipFill>
                      <a:blip r:embed="rId4"/>
                      <a:stretch>
                        <a:fillRect/>
                      </a:stretch>
                    </p:blipFill>
                    <p:spPr>
                      <a:xfrm>
                        <a:off x="76200" y="633382"/>
                        <a:ext cx="11430000" cy="6017954"/>
                      </a:xfrm>
                      <a:prstGeom prst="rect">
                        <a:avLst/>
                      </a:prstGeom>
                    </p:spPr>
                  </p:pic>
                </p:oleObj>
              </mc:Fallback>
            </mc:AlternateContent>
          </a:graphicData>
        </a:graphic>
      </p:graphicFrame>
      <p:pic>
        <p:nvPicPr>
          <p:cNvPr id="4" name="VMX1TRAX52.eps" descr="id:2147495933;FounderCES"/>
          <p:cNvPicPr/>
          <p:nvPr/>
        </p:nvPicPr>
        <p:blipFill>
          <a:blip r:embed="rId5">
            <a:clrChange>
              <a:clrFrom>
                <a:srgbClr val="FFFFFF"/>
              </a:clrFrom>
              <a:clrTo>
                <a:srgbClr val="FFFFFF">
                  <a:alpha val="0"/>
                </a:srgbClr>
              </a:clrTo>
            </a:clrChange>
          </a:blip>
          <a:stretch>
            <a:fillRect/>
          </a:stretch>
        </p:blipFill>
        <p:spPr>
          <a:xfrm>
            <a:off x="7550467" y="2736850"/>
            <a:ext cx="3479036" cy="3397250"/>
          </a:xfrm>
          <a:prstGeom prst="rect">
            <a:avLst/>
          </a:prstGeom>
        </p:spPr>
      </p:pic>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500" y="671368"/>
            <a:ext cx="11430000" cy="4113365"/>
            <a:chOff x="63500" y="1246188"/>
            <a:chExt cx="11430000" cy="4113365"/>
          </a:xfrm>
        </p:grpSpPr>
        <p:sp>
          <p:nvSpPr>
            <p:cNvPr id="2" name="矩形 1"/>
            <p:cNvSpPr>
              <a:spLocks noChangeAspect="1"/>
            </p:cNvSpPr>
            <p:nvPr/>
          </p:nvSpPr>
          <p:spPr>
            <a:xfrm>
              <a:off x="381000" y="1246188"/>
              <a:ext cx="906530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82261942"/>
                </p:ext>
              </p:extLst>
            </p:nvPr>
          </p:nvGraphicFramePr>
          <p:xfrm>
            <a:off x="63500" y="1849383"/>
            <a:ext cx="11430000" cy="3510170"/>
          </p:xfrm>
          <a:graphic>
            <a:graphicData uri="http://schemas.openxmlformats.org/presentationml/2006/ole">
              <mc:AlternateContent xmlns:mc="http://schemas.openxmlformats.org/markup-compatibility/2006">
                <mc:Choice xmlns:v="urn:schemas-microsoft-com:vml" Requires="v">
                  <p:oleObj spid="_x0000_s14354"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63500" y="1849383"/>
                          <a:ext cx="11430000" cy="3510170"/>
                        </a:xfrm>
                        <a:prstGeom prst="rect">
                          <a:avLst/>
                        </a:prstGeom>
                      </p:spPr>
                    </p:pic>
                  </p:oleObj>
                </mc:Fallback>
              </mc:AlternateContent>
            </a:graphicData>
          </a:graphic>
        </p:graphicFrame>
      </p:grpSp>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利用向量证明面面垂直</a:t>
                </a:r>
              </a:p>
            </p:txBody>
          </p:sp>
        </p:grpSp>
      </p:grpSp>
      <p:sp>
        <p:nvSpPr>
          <p:cNvPr id="2" name="矩形 1"/>
          <p:cNvSpPr>
            <a:spLocks noChangeAspect="1"/>
          </p:cNvSpPr>
          <p:nvPr/>
        </p:nvSpPr>
        <p:spPr>
          <a:xfrm>
            <a:off x="381000" y="940373"/>
            <a:ext cx="7214755" cy="2893100"/>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三棱锥被平行于底面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的平面所截得的几何体如图所示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截面为三角形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BAC=</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AB=AC=</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证明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矩形 3"/>
              <p:cNvSpPr>
                <a:spLocks noChangeAspect="1"/>
              </p:cNvSpPr>
              <p:nvPr/>
            </p:nvSpPr>
            <p:spPr>
              <a:xfrm>
                <a:off x="381000" y="3833473"/>
                <a:ext cx="11430000" cy="1223989"/>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证明</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𝐵𝐶</m:t>
                        </m:r>
                      </m:e>
                    </m:acc>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垂直于平面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内的两个不共线向量</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即可证得平面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证明两个平面的法向量垂直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81000" y="3833473"/>
                <a:ext cx="11430000" cy="1223989"/>
              </a:xfrm>
              <a:prstGeom prst="rect">
                <a:avLst/>
              </a:prstGeom>
              <a:blipFill rotWithShape="0">
                <a:blip r:embed="rId3"/>
                <a:stretch>
                  <a:fillRect l="-1120" r="-800" b="-13433"/>
                </a:stretch>
              </a:blipFill>
            </p:spPr>
            <p:txBody>
              <a:bodyPr/>
              <a:lstStyle/>
              <a:p>
                <a:r>
                  <a:rPr lang="zh-CN" altLang="en-US">
                    <a:noFill/>
                  </a:rPr>
                  <a:t> </a:t>
                </a:r>
              </a:p>
            </p:txBody>
          </p:sp>
        </mc:Fallback>
      </mc:AlternateContent>
      <p:pic>
        <p:nvPicPr>
          <p:cNvPr id="15" name="VMX1TRAX53.eps" descr="id:2147495947;FounderCES"/>
          <p:cNvPicPr/>
          <p:nvPr/>
        </p:nvPicPr>
        <p:blipFill>
          <a:blip r:embed="rId4">
            <a:clrChange>
              <a:clrFrom>
                <a:srgbClr val="FFFFFF"/>
              </a:clrFrom>
              <a:clrTo>
                <a:srgbClr val="FFFFFF">
                  <a:alpha val="0"/>
                </a:srgbClr>
              </a:clrTo>
            </a:clrChange>
          </a:blip>
          <a:stretch>
            <a:fillRect/>
          </a:stretch>
        </p:blipFill>
        <p:spPr>
          <a:xfrm>
            <a:off x="8112846" y="1081709"/>
            <a:ext cx="2944636" cy="2617454"/>
          </a:xfrm>
          <a:prstGeom prst="rect">
            <a:avLst/>
          </a:prstGeom>
        </p:spPr>
      </p:pic>
      <p:graphicFrame>
        <p:nvGraphicFramePr>
          <p:cNvPr id="16" name="对象 15"/>
          <p:cNvGraphicFramePr>
            <a:graphicFrameLocks noChangeAspect="1"/>
          </p:cNvGraphicFramePr>
          <p:nvPr>
            <p:extLst>
              <p:ext uri="{D42A27DB-BD31-4B8C-83A1-F6EECF244321}">
                <p14:modId xmlns:p14="http://schemas.microsoft.com/office/powerpoint/2010/main" val="2656466511"/>
              </p:ext>
            </p:extLst>
          </p:nvPr>
        </p:nvGraphicFramePr>
        <p:xfrm>
          <a:off x="5633173" y="2146489"/>
          <a:ext cx="669925" cy="501650"/>
        </p:xfrm>
        <a:graphic>
          <a:graphicData uri="http://schemas.openxmlformats.org/presentationml/2006/ole">
            <mc:AlternateContent xmlns:mc="http://schemas.openxmlformats.org/markup-compatibility/2006">
              <mc:Choice xmlns:v="urn:schemas-microsoft-com:vml" Requires="v">
                <p:oleObj spid="_x0000_s15396" name="文档" r:id="rId5" imgW="271708" imgH="198592" progId="Word.Document.12">
                  <p:embed/>
                </p:oleObj>
              </mc:Choice>
              <mc:Fallback>
                <p:oleObj name="文档" r:id="rId5" imgW="271708" imgH="198592" progId="Word.Document.12">
                  <p:embed/>
                  <p:pic>
                    <p:nvPicPr>
                      <p:cNvPr id="0" name=""/>
                      <p:cNvPicPr/>
                      <p:nvPr/>
                    </p:nvPicPr>
                    <p:blipFill>
                      <a:blip r:embed="rId6"/>
                      <a:stretch>
                        <a:fillRect/>
                      </a:stretch>
                    </p:blipFill>
                    <p:spPr>
                      <a:xfrm>
                        <a:off x="5633173" y="2146489"/>
                        <a:ext cx="669925" cy="50165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3500" y="57150"/>
            <a:ext cx="11747500" cy="6699250"/>
            <a:chOff x="63500" y="57150"/>
            <a:chExt cx="11747500" cy="6699250"/>
          </a:xfrm>
        </p:grpSpPr>
        <p:sp>
          <p:nvSpPr>
            <p:cNvPr id="2" name="矩形 1"/>
            <p:cNvSpPr>
              <a:spLocks noChangeAspect="1"/>
            </p:cNvSpPr>
            <p:nvPr/>
          </p:nvSpPr>
          <p:spPr>
            <a:xfrm>
              <a:off x="381000" y="57150"/>
              <a:ext cx="6808274" cy="592213"/>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4710408"/>
                </p:ext>
              </p:extLst>
            </p:nvPr>
          </p:nvGraphicFramePr>
          <p:xfrm>
            <a:off x="63500" y="684236"/>
            <a:ext cx="11430000" cy="4012272"/>
          </p:xfrm>
          <a:graphic>
            <a:graphicData uri="http://schemas.openxmlformats.org/presentationml/2006/ole">
              <mc:AlternateContent xmlns:mc="http://schemas.openxmlformats.org/markup-compatibility/2006">
                <mc:Choice xmlns:v="urn:schemas-microsoft-com:vml" Requires="v">
                  <p:oleObj spid="_x0000_s16404"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63500" y="684236"/>
                          <a:ext cx="11430000" cy="4012272"/>
                        </a:xfrm>
                        <a:prstGeom prst="rect">
                          <a:avLst/>
                        </a:prstGeom>
                      </p:spPr>
                    </p:pic>
                  </p:oleObj>
                </mc:Fallback>
              </mc:AlternateContent>
            </a:graphicData>
          </a:graphic>
        </p:graphicFrame>
        <p:sp>
          <p:nvSpPr>
            <p:cNvPr id="4" name="矩形 3"/>
            <p:cNvSpPr>
              <a:spLocks noChangeAspect="1"/>
            </p:cNvSpPr>
            <p:nvPr/>
          </p:nvSpPr>
          <p:spPr>
            <a:xfrm>
              <a:off x="381000" y="4483727"/>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5" name="VMX1TRAX54.eps" descr="id:2147495954;FounderCES"/>
            <p:cNvPicPr/>
            <p:nvPr/>
          </p:nvPicPr>
          <p:blipFill>
            <a:blip r:embed="rId5">
              <a:clrChange>
                <a:clrFrom>
                  <a:srgbClr val="FFFFFF"/>
                </a:clrFrom>
                <a:clrTo>
                  <a:srgbClr val="FFFFFF">
                    <a:alpha val="0"/>
                  </a:srgbClr>
                </a:clrTo>
              </a:clrChange>
            </a:blip>
            <a:stretch>
              <a:fillRect/>
            </a:stretch>
          </p:blipFill>
          <p:spPr>
            <a:xfrm>
              <a:off x="7950834" y="2816604"/>
              <a:ext cx="3370137" cy="3334246"/>
            </a:xfrm>
            <a:prstGeom prst="rect">
              <a:avLst/>
            </a:prstGeom>
          </p:spPr>
        </p:pic>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09413187"/>
              </p:ext>
            </p:extLst>
          </p:nvPr>
        </p:nvGraphicFramePr>
        <p:xfrm>
          <a:off x="63500" y="309759"/>
          <a:ext cx="11430000" cy="5014657"/>
        </p:xfrm>
        <a:graphic>
          <a:graphicData uri="http://schemas.openxmlformats.org/presentationml/2006/ole">
            <mc:AlternateContent xmlns:mc="http://schemas.openxmlformats.org/markup-compatibility/2006">
              <mc:Choice xmlns:v="urn:schemas-microsoft-com:vml" Requires="v">
                <p:oleObj spid="_x0000_s17426"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63500" y="309759"/>
                        <a:ext cx="11430000" cy="5014657"/>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500" y="491657"/>
            <a:ext cx="11747500" cy="4553769"/>
            <a:chOff x="63500" y="886515"/>
            <a:chExt cx="11747500" cy="4553769"/>
          </a:xfrm>
        </p:grpSpPr>
        <p:graphicFrame>
          <p:nvGraphicFramePr>
            <p:cNvPr id="2" name="对象 1"/>
            <p:cNvGraphicFramePr>
              <a:graphicFrameLocks noChangeAspect="1"/>
            </p:cNvGraphicFramePr>
            <p:nvPr>
              <p:extLst>
                <p:ext uri="{D42A27DB-BD31-4B8C-83A1-F6EECF244321}">
                  <p14:modId xmlns:p14="http://schemas.microsoft.com/office/powerpoint/2010/main" val="3288039315"/>
                </p:ext>
              </p:extLst>
            </p:nvPr>
          </p:nvGraphicFramePr>
          <p:xfrm>
            <a:off x="63500" y="886515"/>
            <a:ext cx="11430000" cy="3510170"/>
          </p:xfrm>
          <a:graphic>
            <a:graphicData uri="http://schemas.openxmlformats.org/presentationml/2006/ole">
              <mc:AlternateContent xmlns:mc="http://schemas.openxmlformats.org/markup-compatibility/2006">
                <mc:Choice xmlns:v="urn:schemas-microsoft-com:vml" Requires="v">
                  <p:oleObj spid="_x0000_s18450"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63500" y="886515"/>
                          <a:ext cx="11430000" cy="3510170"/>
                        </a:xfrm>
                        <a:prstGeom prst="rect">
                          <a:avLst/>
                        </a:prstGeom>
                      </p:spPr>
                    </p:pic>
                  </p:oleObj>
                </mc:Fallback>
              </mc:AlternateContent>
            </a:graphicData>
          </a:graphic>
        </p:graphicFrame>
        <p:sp>
          <p:nvSpPr>
            <p:cNvPr id="3" name="矩形 2"/>
            <p:cNvSpPr>
              <a:spLocks noChangeAspect="1"/>
            </p:cNvSpPr>
            <p:nvPr/>
          </p:nvSpPr>
          <p:spPr>
            <a:xfrm>
              <a:off x="381000" y="428791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5857"/>
            <a:ext cx="11430000" cy="401340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利用空间向量证明面面垂直通常可以有两个途径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一是利用两个平面垂直的判定定理将面面垂直问题转化为线面垂直进而转化为线线垂直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二是直接求解两个平面的法向量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由两个法向量垂直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得证面面垂直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向量法证明面面垂直的优越性主要体现在不必考虑图形的位置关系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恰当建系或用基向量表示后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只需经过向量运算就可得到要证明的结果</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思路方法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公式化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降低了思维难度</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4950"/>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在四面体</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smtClean="0">
                <a:solidFill>
                  <a:srgbClr val="000000"/>
                </a:solidFill>
                <a:latin typeface="宋体" panose="02010600030101010101" pitchFamily="2" charset="-122"/>
                <a:ea typeface="方正书宋_GBK"/>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ADB=</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Bxyz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nvGrpSpPr>
          <p:cNvPr id="9" name="组合 8"/>
          <p:cNvGrpSpPr/>
          <p:nvPr/>
        </p:nvGrpSpPr>
        <p:grpSpPr>
          <a:xfrm>
            <a:off x="63500" y="1911352"/>
            <a:ext cx="11747500" cy="4156639"/>
            <a:chOff x="63500" y="1911352"/>
            <a:chExt cx="11747500" cy="4156639"/>
          </a:xfrm>
        </p:grpSpPr>
        <p:grpSp>
          <p:nvGrpSpPr>
            <p:cNvPr id="7" name="组合 6"/>
            <p:cNvGrpSpPr/>
            <p:nvPr/>
          </p:nvGrpSpPr>
          <p:grpSpPr>
            <a:xfrm>
              <a:off x="63500" y="1911352"/>
              <a:ext cx="11747500" cy="4156639"/>
              <a:chOff x="63500" y="1911352"/>
              <a:chExt cx="11747500" cy="4156639"/>
            </a:xfrm>
          </p:grpSpPr>
          <p:graphicFrame>
            <p:nvGraphicFramePr>
              <p:cNvPr id="4" name="对象 3"/>
              <p:cNvGraphicFramePr>
                <a:graphicFrameLocks noChangeAspect="1"/>
              </p:cNvGraphicFramePr>
              <p:nvPr>
                <p:extLst>
                  <p:ext uri="{D42A27DB-BD31-4B8C-83A1-F6EECF244321}">
                    <p14:modId xmlns:p14="http://schemas.microsoft.com/office/powerpoint/2010/main" val="3978805104"/>
                  </p:ext>
                </p:extLst>
              </p:nvPr>
            </p:nvGraphicFramePr>
            <p:xfrm>
              <a:off x="63500" y="1911352"/>
              <a:ext cx="11430000" cy="1003297"/>
            </p:xfrm>
            <a:graphic>
              <a:graphicData uri="http://schemas.openxmlformats.org/presentationml/2006/ole">
                <mc:AlternateContent xmlns:mc="http://schemas.openxmlformats.org/markup-compatibility/2006">
                  <mc:Choice xmlns:v="urn:schemas-microsoft-com:vml" Requires="v">
                    <p:oleObj spid="_x0000_s1949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3500" y="1911352"/>
                            <a:ext cx="11430000" cy="1003297"/>
                          </a:xfrm>
                          <a:prstGeom prst="rect">
                            <a:avLst/>
                          </a:prstGeom>
                        </p:spPr>
                      </p:pic>
                    </p:oleObj>
                  </mc:Fallback>
                </mc:AlternateContent>
              </a:graphicData>
            </a:graphic>
          </p:graphicFrame>
          <p:sp>
            <p:nvSpPr>
              <p:cNvPr id="5" name="矩形 4"/>
              <p:cNvSpPr>
                <a:spLocks noChangeAspect="1"/>
              </p:cNvSpPr>
              <p:nvPr/>
            </p:nvSpPr>
            <p:spPr>
              <a:xfrm>
                <a:off x="381000" y="2813049"/>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BCD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79718061"/>
                  </p:ext>
                </p:extLst>
              </p:nvPr>
            </p:nvGraphicFramePr>
            <p:xfrm>
              <a:off x="63500" y="5064694"/>
              <a:ext cx="11430000" cy="1003297"/>
            </p:xfrm>
            <a:graphic>
              <a:graphicData uri="http://schemas.openxmlformats.org/presentationml/2006/ole">
                <mc:AlternateContent xmlns:mc="http://schemas.openxmlformats.org/markup-compatibility/2006">
                  <mc:Choice xmlns:v="urn:schemas-microsoft-com:vml" Requires="v">
                    <p:oleObj spid="_x0000_s19493"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3500" y="5064694"/>
                            <a:ext cx="11430000" cy="1003297"/>
                          </a:xfrm>
                          <a:prstGeom prst="rect">
                            <a:avLst/>
                          </a:prstGeom>
                        </p:spPr>
                      </p:pic>
                    </p:oleObj>
                  </mc:Fallback>
                </mc:AlternateContent>
              </a:graphicData>
            </a:graphic>
          </p:graphicFrame>
        </p:grpSp>
        <p:pic>
          <p:nvPicPr>
            <p:cNvPr id="8" name="VMX1TRAX55.eps" descr="id:2147495968;FounderCES"/>
            <p:cNvPicPr/>
            <p:nvPr/>
          </p:nvPicPr>
          <p:blipFill>
            <a:blip r:embed="rId7">
              <a:clrChange>
                <a:clrFrom>
                  <a:srgbClr val="FFFFFF"/>
                </a:clrFrom>
                <a:clrTo>
                  <a:srgbClr val="FFFFFF">
                    <a:alpha val="0"/>
                  </a:srgbClr>
                </a:clrTo>
              </a:clrChange>
            </a:blip>
            <a:stretch>
              <a:fillRect/>
            </a:stretch>
          </p:blipFill>
          <p:spPr>
            <a:xfrm>
              <a:off x="8462077" y="3208531"/>
              <a:ext cx="3018723" cy="2418705"/>
            </a:xfrm>
            <a:prstGeom prst="rect">
              <a:avLst/>
            </a:prstGeom>
          </p:spPr>
        </p:pic>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6818" y="222250"/>
            <a:ext cx="11430000" cy="6105746"/>
            <a:chOff x="86818" y="222250"/>
            <a:chExt cx="11430000" cy="6105746"/>
          </a:xfrm>
        </p:grpSpPr>
        <p:sp>
          <p:nvSpPr>
            <p:cNvPr id="2" name="矩形 1"/>
            <p:cNvSpPr>
              <a:spLocks noChangeAspect="1"/>
            </p:cNvSpPr>
            <p:nvPr/>
          </p:nvSpPr>
          <p:spPr>
            <a:xfrm>
              <a:off x="381000" y="222250"/>
              <a:ext cx="5497018"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是平面</a:t>
              </a:r>
              <a:r>
                <a:rPr lang="en-US" altLang="zh-CN" sz="2800" i="1" dirty="0">
                  <a:solidFill>
                    <a:srgbClr val="000000"/>
                  </a:solidFill>
                  <a:latin typeface="Times New Roman" panose="02020603050405020304" pitchFamily="18" charset="0"/>
                  <a:cs typeface="Times New Roman" panose="02020603050405020304" pitchFamily="18" charset="0"/>
                </a:rPr>
                <a:t>BEF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的法向量</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474313965"/>
                </p:ext>
              </p:extLst>
            </p:nvPr>
          </p:nvGraphicFramePr>
          <p:xfrm>
            <a:off x="86818" y="811236"/>
            <a:ext cx="11430000" cy="5516760"/>
          </p:xfrm>
          <a:graphic>
            <a:graphicData uri="http://schemas.openxmlformats.org/presentationml/2006/ole">
              <mc:AlternateContent xmlns:mc="http://schemas.openxmlformats.org/markup-compatibility/2006">
                <mc:Choice xmlns:v="urn:schemas-microsoft-com:vml" Requires="v">
                  <p:oleObj spid="_x0000_s20498"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86818" y="811236"/>
                          <a:ext cx="11430000" cy="5516760"/>
                        </a:xfrm>
                        <a:prstGeom prst="rect">
                          <a:avLst/>
                        </a:prstGeom>
                      </p:spPr>
                    </p:pic>
                  </p:oleObj>
                </mc:Fallback>
              </mc:AlternateContent>
            </a:graphicData>
          </a:graphic>
        </p:graphicFrame>
      </p:grpSp>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规范解答</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8" name="矩形 7"/>
          <p:cNvSpPr>
            <a:spLocks noChangeAspect="1"/>
          </p:cNvSpPr>
          <p:nvPr/>
        </p:nvSpPr>
        <p:spPr>
          <a:xfrm>
            <a:off x="381000" y="1243879"/>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在正四棱柱</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上任一点</a:t>
            </a:r>
            <a:r>
              <a:rPr lang="en-US" altLang="zh-CN" sz="2800" dirty="0">
                <a:solidFill>
                  <a:srgbClr val="000000"/>
                </a:solidFill>
                <a:latin typeface="Times New Roman" panose="02020603050405020304" pitchFamily="18" charset="0"/>
                <a:cs typeface="Times New Roman" panose="02020603050405020304" pitchFamily="18" charset="0"/>
              </a:rPr>
              <a:t>,tan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ECD=</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AG</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确定点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的位置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i="1" dirty="0">
                <a:solidFill>
                  <a:srgbClr val="000000"/>
                </a:solidFill>
                <a:latin typeface="Times New Roman" panose="02020603050405020304" pitchFamily="18" charset="0"/>
                <a:cs typeface="Times New Roman" panose="02020603050405020304" pitchFamily="18" charset="0"/>
              </a:rPr>
              <a:t>AG</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CEF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并说明理由</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审题策略</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利用向量法证明</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假设存在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设出点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利用线面垂直这个条件求解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wipe(down)">
                                      <p:cBhvr>
                                        <p:cTn id="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3500" y="69850"/>
            <a:ext cx="11747500" cy="6435517"/>
            <a:chOff x="63500" y="69850"/>
            <a:chExt cx="11747500" cy="6435517"/>
          </a:xfrm>
        </p:grpSpPr>
        <p:sp>
          <p:nvSpPr>
            <p:cNvPr id="2" name="矩形 1"/>
            <p:cNvSpPr>
              <a:spLocks noChangeAspect="1"/>
            </p:cNvSpPr>
            <p:nvPr/>
          </p:nvSpPr>
          <p:spPr>
            <a:xfrm>
              <a:off x="381000" y="69850"/>
              <a:ext cx="11430000" cy="401340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规范展示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是正四棱柱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所以四边形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是正方形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设其边长为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ECD</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EC</a:t>
              </a:r>
              <a:r>
                <a:rPr lang="zh-CN" altLang="zh-CN" sz="2800" dirty="0">
                  <a:solidFill>
                    <a:srgbClr val="000000"/>
                  </a:solidFill>
                  <a:latin typeface="Times New Roman" panose="02020603050405020304" pitchFamily="18" charset="0"/>
                  <a:cs typeface="Times New Roman" panose="02020603050405020304" pitchFamily="18" charset="0"/>
                </a:rPr>
                <a:t>与底面所成的角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而</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ECD=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CEC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dirty="0">
                  <a:solidFill>
                    <a:srgbClr val="000000"/>
                  </a:solidFill>
                  <a:latin typeface="Times New Roman" panose="02020603050405020304" pitchFamily="18" charset="0"/>
                  <a:cs typeface="Times New Roman" panose="02020603050405020304" pitchFamily="18" charset="0"/>
                </a:rPr>
                <a:t>tan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ECD=</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EC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92924953"/>
                </p:ext>
              </p:extLst>
            </p:nvPr>
          </p:nvGraphicFramePr>
          <p:xfrm>
            <a:off x="63500" y="3997583"/>
            <a:ext cx="11430000" cy="2507784"/>
          </p:xfrm>
          <a:graphic>
            <a:graphicData uri="http://schemas.openxmlformats.org/presentationml/2006/ole">
              <mc:AlternateContent xmlns:mc="http://schemas.openxmlformats.org/markup-compatibility/2006">
                <mc:Choice xmlns:v="urn:schemas-microsoft-com:vml" Requires="v">
                  <p:oleObj spid="_x0000_s21523"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63500" y="3997583"/>
                          <a:ext cx="11430000" cy="2507784"/>
                        </a:xfrm>
                        <a:prstGeom prst="rect">
                          <a:avLst/>
                        </a:prstGeom>
                      </p:spPr>
                    </p:pic>
                  </p:oleObj>
                </mc:Fallback>
              </mc:AlternateContent>
            </a:graphicData>
          </a:graphic>
        </p:graphicFrame>
        <p:pic>
          <p:nvPicPr>
            <p:cNvPr id="4" name="VMX1TRAX56.eps" descr="id:2147495982;FounderCES"/>
            <p:cNvPicPr/>
            <p:nvPr/>
          </p:nvPicPr>
          <p:blipFill>
            <a:blip r:embed="rId5">
              <a:clrChange>
                <a:clrFrom>
                  <a:srgbClr val="FFFFFF"/>
                </a:clrFrom>
                <a:clrTo>
                  <a:srgbClr val="FFFFFF">
                    <a:alpha val="0"/>
                  </a:srgbClr>
                </a:clrTo>
              </a:clrChange>
            </a:blip>
            <a:stretch>
              <a:fillRect/>
            </a:stretch>
          </p:blipFill>
          <p:spPr>
            <a:xfrm>
              <a:off x="9389499" y="2371982"/>
              <a:ext cx="2250051" cy="3050917"/>
            </a:xfrm>
            <a:prstGeom prst="rect">
              <a:avLst/>
            </a:prstGeom>
          </p:spPr>
        </p:pic>
      </p:grpSp>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166310"/>
              </p:ext>
            </p:extLst>
          </p:nvPr>
        </p:nvGraphicFramePr>
        <p:xfrm>
          <a:off x="63500" y="376957"/>
          <a:ext cx="11430000" cy="5014657"/>
        </p:xfrm>
        <a:graphic>
          <a:graphicData uri="http://schemas.openxmlformats.org/presentationml/2006/ole">
            <mc:AlternateContent xmlns:mc="http://schemas.openxmlformats.org/markup-compatibility/2006">
              <mc:Choice xmlns:v="urn:schemas-microsoft-com:vml" Requires="v">
                <p:oleObj spid="_x0000_s22546"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63500" y="376957"/>
                        <a:ext cx="11430000" cy="5014657"/>
                      </a:xfrm>
                      <a:prstGeom prst="rect">
                        <a:avLst/>
                      </a:prstGeom>
                    </p:spPr>
                  </p:pic>
                </p:oleObj>
              </mc:Fallback>
            </mc:AlternateContent>
          </a:graphicData>
        </a:graphic>
      </p:graphicFrame>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582"/>
            <a:ext cx="11430000" cy="6764672"/>
          </a:xfrm>
          <a:prstGeom prst="rect">
            <a:avLst/>
          </a:prstGeom>
        </p:spPr>
        <p:txBody>
          <a:bodyPr>
            <a:spAutoFit/>
          </a:bodyPr>
          <a:lstStyle/>
          <a:p>
            <a:pPr indent="279400">
              <a:lnSpc>
                <a:spcPct val="12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答题模板</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设出正方形的边长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计算棱柱的高</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求相关点的坐标</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求出直线的方向向量的坐标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利用方向向量垂直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证明线线垂直</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根据点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设出点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的坐标</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利用</a:t>
            </a:r>
            <a:r>
              <a:rPr lang="en-US" altLang="zh-CN" sz="2800" i="1" dirty="0">
                <a:solidFill>
                  <a:srgbClr val="000000"/>
                </a:solidFill>
                <a:latin typeface="Times New Roman" panose="02020603050405020304" pitchFamily="18" charset="0"/>
                <a:cs typeface="Times New Roman" panose="02020603050405020304" pitchFamily="18" charset="0"/>
              </a:rPr>
              <a:t>AG</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CE</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对应向量的数量积为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列出等式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得到点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的坐标</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2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7</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根据点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下结论</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得出规范解答本题的要点</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如下</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建系之前</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根据已知条件整理好正四棱柱的长、宽、高的长度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长度设得</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巧妙</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利用中点坐标公式或点共线的关系求出相关点的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正确计算出向量的坐标和记住数量积的坐标</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公式</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正确将线线垂直、线面垂直转化为对应向量之间的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关系</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正确把握探究性问题的解题思路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7055"/>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Times New Roman" panose="02020603050405020304" pitchFamily="18" charset="0"/>
                <a:cs typeface="Times New Roman" panose="02020603050405020304" pitchFamily="18" charset="0"/>
              </a:rPr>
              <a:t> </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PD</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为正方形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PD=DC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在平面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zh-CN" altLang="zh-CN" sz="2800" dirty="0">
                <a:solidFill>
                  <a:srgbClr val="000000"/>
                </a:solidFill>
                <a:latin typeface="Times New Roman" panose="02020603050405020304" pitchFamily="18" charset="0"/>
                <a:cs typeface="Times New Roman" panose="02020603050405020304" pitchFamily="18" charset="0"/>
              </a:rPr>
              <a:t>内求一点</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i="1" dirty="0">
                <a:solidFill>
                  <a:srgbClr val="000000"/>
                </a:solidFill>
                <a:latin typeface="Times New Roman" panose="02020603050405020304" pitchFamily="18" charset="0"/>
                <a:cs typeface="Times New Roman" panose="02020603050405020304" pitchFamily="18" charset="0"/>
              </a:rPr>
              <a:t>GF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PCB.</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VMX1TRAX57.eps" descr="id:2147495996;FounderCES"/>
          <p:cNvPicPr>
            <a:picLocks noChangeAspect="1"/>
          </p:cNvPicPr>
          <p:nvPr/>
        </p:nvPicPr>
        <p:blipFill>
          <a:blip r:embed="rId2">
            <a:clrChange>
              <a:clrFrom>
                <a:srgbClr val="FFFFFF"/>
              </a:clrFrom>
              <a:clrTo>
                <a:srgbClr val="FFFFFF">
                  <a:alpha val="0"/>
                </a:srgbClr>
              </a:clrTo>
            </a:clrChange>
          </a:blip>
          <a:stretch>
            <a:fillRect/>
          </a:stretch>
        </p:blipFill>
        <p:spPr>
          <a:xfrm>
            <a:off x="4727875" y="1640916"/>
            <a:ext cx="2736251" cy="2907535"/>
          </a:xfrm>
          <a:prstGeom prst="rect">
            <a:avLst/>
          </a:prstGeom>
        </p:spPr>
      </p:pic>
    </p:spTree>
    <p:extLst>
      <p:ext uri="{BB962C8B-B14F-4D97-AF65-F5344CB8AC3E}">
        <p14:creationId xmlns:p14="http://schemas.microsoft.com/office/powerpoint/2010/main" val="2619084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3712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两两垂直</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94157038"/>
              </p:ext>
            </p:extLst>
          </p:nvPr>
        </p:nvGraphicFramePr>
        <p:xfrm>
          <a:off x="76200" y="1502192"/>
          <a:ext cx="11430000" cy="4012272"/>
        </p:xfrm>
        <a:graphic>
          <a:graphicData uri="http://schemas.openxmlformats.org/presentationml/2006/ole">
            <mc:AlternateContent xmlns:mc="http://schemas.openxmlformats.org/markup-compatibility/2006">
              <mc:Choice xmlns:v="urn:schemas-microsoft-com:vml" Requires="v">
                <p:oleObj spid="_x0000_s23571"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76200" y="1502192"/>
                        <a:ext cx="11430000" cy="4012272"/>
                      </a:xfrm>
                      <a:prstGeom prst="rect">
                        <a:avLst/>
                      </a:prstGeom>
                    </p:spPr>
                  </p:pic>
                </p:oleObj>
              </mc:Fallback>
            </mc:AlternateContent>
          </a:graphicData>
        </a:graphic>
      </p:graphicFrame>
      <p:pic>
        <p:nvPicPr>
          <p:cNvPr id="4" name="NMX1TRAX238.eps" descr="id:2147514094;FounderCES"/>
          <p:cNvPicPr/>
          <p:nvPr/>
        </p:nvPicPr>
        <p:blipFill>
          <a:blip r:embed="rId5">
            <a:clrChange>
              <a:clrFrom>
                <a:srgbClr val="FFFFFF"/>
              </a:clrFrom>
              <a:clrTo>
                <a:srgbClr val="FFFFFF">
                  <a:alpha val="0"/>
                </a:srgbClr>
              </a:clrTo>
            </a:clrChange>
          </a:blip>
          <a:stretch>
            <a:fillRect/>
          </a:stretch>
        </p:blipFill>
        <p:spPr>
          <a:xfrm>
            <a:off x="7631862" y="2574376"/>
            <a:ext cx="2637094" cy="2815397"/>
          </a:xfrm>
          <a:prstGeom prst="rect">
            <a:avLst/>
          </a:prstGeom>
        </p:spPr>
      </p:pic>
    </p:spTree>
    <p:extLst>
      <p:ext uri="{BB962C8B-B14F-4D97-AF65-F5344CB8AC3E}">
        <p14:creationId xmlns:p14="http://schemas.microsoft.com/office/powerpoint/2010/main" val="540505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6200" y="206002"/>
            <a:ext cx="11430000" cy="6134298"/>
            <a:chOff x="76200" y="257957"/>
            <a:chExt cx="11430000" cy="6134298"/>
          </a:xfrm>
        </p:grpSpPr>
        <p:sp>
          <p:nvSpPr>
            <p:cNvPr id="2" name="矩形 1"/>
            <p:cNvSpPr>
              <a:spLocks noChangeAspect="1"/>
            </p:cNvSpPr>
            <p:nvPr/>
          </p:nvSpPr>
          <p:spPr>
            <a:xfrm>
              <a:off x="381000" y="257957"/>
              <a:ext cx="6556795"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满足条件</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58998575"/>
                </p:ext>
              </p:extLst>
            </p:nvPr>
          </p:nvGraphicFramePr>
          <p:xfrm>
            <a:off x="76200" y="875495"/>
            <a:ext cx="11430000" cy="5516760"/>
          </p:xfrm>
          <a:graphic>
            <a:graphicData uri="http://schemas.openxmlformats.org/presentationml/2006/ole">
              <mc:AlternateContent xmlns:mc="http://schemas.openxmlformats.org/markup-compatibility/2006">
                <mc:Choice xmlns:v="urn:schemas-microsoft-com:vml" Requires="v">
                  <p:oleObj spid="_x0000_s24594"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76200" y="875495"/>
                          <a:ext cx="11430000" cy="5516760"/>
                        </a:xfrm>
                        <a:prstGeom prst="rect">
                          <a:avLst/>
                        </a:prstGeom>
                      </p:spPr>
                    </p:pic>
                  </p:oleObj>
                </mc:Fallback>
              </mc:AlternateContent>
            </a:graphicData>
          </a:graphic>
        </p:graphicFrame>
      </p:grpSp>
    </p:spTree>
    <p:extLst>
      <p:ext uri="{BB962C8B-B14F-4D97-AF65-F5344CB8AC3E}">
        <p14:creationId xmlns:p14="http://schemas.microsoft.com/office/powerpoint/2010/main" val="1490813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的法向量分别为</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的位置关系</a:t>
            </a:r>
            <a:r>
              <a:rPr lang="zh-CN" altLang="zh-CN" sz="2800" dirty="0" smtClean="0">
                <a:solidFill>
                  <a:srgbClr val="000000"/>
                </a:solidFill>
                <a:latin typeface="Times New Roman" panose="02020603050405020304" pitchFamily="18" charset="0"/>
                <a:cs typeface="Times New Roman" panose="02020603050405020304" pitchFamily="18" charset="0"/>
              </a:rPr>
              <a:t>是</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gn="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垂直</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相交但不垂直</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无法确定</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wipe(down)">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7150"/>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CE</a:t>
            </a:r>
            <a:r>
              <a:rPr lang="zh-CN" altLang="zh-CN" sz="2800" dirty="0">
                <a:solidFill>
                  <a:srgbClr val="000000"/>
                </a:solidFill>
                <a:latin typeface="Times New Roman" panose="02020603050405020304" pitchFamily="18" charset="0"/>
                <a:cs typeface="Times New Roman" panose="02020603050405020304" pitchFamily="18" charset="0"/>
              </a:rPr>
              <a:t>垂直于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i="1" dirty="0" smtClean="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C</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A</a:t>
            </a: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正方体的棱长为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(1,0,0),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(1,1,0),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(0,1,0),</a:t>
            </a:r>
            <a:endParaRPr lang="zh-CN" altLang="zh-CN" sz="2800" dirty="0">
              <a:solidFill>
                <a:srgbClr val="000000"/>
              </a:solidFill>
              <a:latin typeface="NEU-BZ-S92"/>
              <a:ea typeface="方正书宋_GBK"/>
              <a:cs typeface="Times New Roman" panose="02020603050405020304" pitchFamily="18" charset="0"/>
            </a:endParaRPr>
          </a:p>
        </p:txBody>
      </p:sp>
      <p:sp>
        <p:nvSpPr>
          <p:cNvPr id="10" name="矩形 9"/>
          <p:cNvSpPr>
            <a:spLocks noChangeAspect="1"/>
          </p:cNvSpPr>
          <p:nvPr/>
        </p:nvSpPr>
        <p:spPr>
          <a:xfrm>
            <a:off x="381000" y="6091214"/>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3" name="组合 2"/>
          <p:cNvGrpSpPr/>
          <p:nvPr/>
        </p:nvGrpSpPr>
        <p:grpSpPr>
          <a:xfrm>
            <a:off x="482600" y="1657584"/>
            <a:ext cx="11430000" cy="4663136"/>
            <a:chOff x="482600" y="1657584"/>
            <a:chExt cx="11430000" cy="4663136"/>
          </a:xfrm>
        </p:grpSpPr>
        <p:graphicFrame>
          <p:nvGraphicFramePr>
            <p:cNvPr id="9" name="对象 8"/>
            <p:cNvGraphicFramePr>
              <a:graphicFrameLocks noChangeAspect="1"/>
            </p:cNvGraphicFramePr>
            <p:nvPr>
              <p:extLst>
                <p:ext uri="{D42A27DB-BD31-4B8C-83A1-F6EECF244321}">
                  <p14:modId xmlns:p14="http://schemas.microsoft.com/office/powerpoint/2010/main" val="2197299736"/>
                </p:ext>
              </p:extLst>
            </p:nvPr>
          </p:nvGraphicFramePr>
          <p:xfrm>
            <a:off x="482600" y="2810550"/>
            <a:ext cx="11430000" cy="3510170"/>
          </p:xfrm>
          <a:graphic>
            <a:graphicData uri="http://schemas.openxmlformats.org/presentationml/2006/ole">
              <mc:AlternateContent xmlns:mc="http://schemas.openxmlformats.org/markup-compatibility/2006">
                <mc:Choice xmlns:v="urn:schemas-microsoft-com:vml" Requires="v">
                  <p:oleObj spid="_x0000_s25617"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482600" y="2810550"/>
                          <a:ext cx="11430000" cy="3510170"/>
                        </a:xfrm>
                        <a:prstGeom prst="rect">
                          <a:avLst/>
                        </a:prstGeom>
                      </p:spPr>
                    </p:pic>
                  </p:oleObj>
                </mc:Fallback>
              </mc:AlternateContent>
            </a:graphicData>
          </a:graphic>
        </p:graphicFrame>
        <p:pic>
          <p:nvPicPr>
            <p:cNvPr id="11" name="VMX1TRAX59.eps" descr="id:2147496017;FounderCES"/>
            <p:cNvPicPr/>
            <p:nvPr/>
          </p:nvPicPr>
          <p:blipFill>
            <a:blip r:embed="rId5">
              <a:clrChange>
                <a:clrFrom>
                  <a:srgbClr val="FFFFFF"/>
                </a:clrFrom>
                <a:clrTo>
                  <a:srgbClr val="FFFFFF">
                    <a:alpha val="0"/>
                  </a:srgbClr>
                </a:clrTo>
              </a:clrChange>
            </a:blip>
            <a:stretch>
              <a:fillRect/>
            </a:stretch>
          </p:blipFill>
          <p:spPr>
            <a:xfrm>
              <a:off x="8522652" y="1657584"/>
              <a:ext cx="3079804" cy="3008312"/>
            </a:xfrm>
            <a:prstGeom prst="rect">
              <a:avLst/>
            </a:prstGeom>
          </p:spPr>
        </p:pic>
      </p:gr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wipe(down)">
                                      <p:cBhvr>
                                        <p:cTn id="21"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61189"/>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的方向向量分别为</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的位置关系为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两直线的方向向量垂直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则这两条直线也垂直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垂直</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直线的一个方向向量为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v</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v</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u</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v</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wipe(down)">
                                      <p:cBhvr>
                                        <p:cTn id="20" dur="500"/>
                                        <p:tgtEl>
                                          <p:spTgt spid="2">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ipe(down)">
                                      <p:cBhvr>
                                        <p:cTn id="2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2858"/>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a:t>
            </a:r>
            <a:r>
              <a:rPr lang="zh-CN" altLang="zh-CN" sz="2800" smtClean="0">
                <a:solidFill>
                  <a:srgbClr val="000000"/>
                </a:solidFill>
                <a:latin typeface="Times New Roman" panose="02020603050405020304" pitchFamily="18" charset="0"/>
                <a:cs typeface="Times New Roman" panose="02020603050405020304" pitchFamily="18" charset="0"/>
              </a:rPr>
              <a:t>图</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AB=BC=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证明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AEC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VMX1TRAX60.eps" descr="id:2147496024;FounderCES"/>
          <p:cNvPicPr>
            <a:picLocks noChangeAspect="1"/>
          </p:cNvPicPr>
          <p:nvPr/>
        </p:nvPicPr>
        <p:blipFill>
          <a:blip r:embed="rId2">
            <a:clrChange>
              <a:clrFrom>
                <a:srgbClr val="FFFFFF"/>
              </a:clrFrom>
              <a:clrTo>
                <a:srgbClr val="FFFFFF">
                  <a:alpha val="0"/>
                </a:srgbClr>
              </a:clrTo>
            </a:clrChange>
          </a:blip>
          <a:stretch>
            <a:fillRect/>
          </a:stretch>
        </p:blipFill>
        <p:spPr>
          <a:xfrm>
            <a:off x="3892621" y="2035215"/>
            <a:ext cx="4406759" cy="2717268"/>
          </a:xfrm>
          <a:prstGeom prst="rect">
            <a:avLst/>
          </a:prstGeom>
        </p:spPr>
      </p:pic>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1000" y="292099"/>
            <a:ext cx="11541703" cy="5630582"/>
            <a:chOff x="381000" y="584200"/>
            <a:chExt cx="11541703" cy="5630582"/>
          </a:xfrm>
        </p:grpSpPr>
        <p:sp>
          <p:nvSpPr>
            <p:cNvPr id="2" name="矩形 1"/>
            <p:cNvSpPr>
              <a:spLocks noChangeAspect="1"/>
            </p:cNvSpPr>
            <p:nvPr/>
          </p:nvSpPr>
          <p:spPr>
            <a:xfrm>
              <a:off x="381000" y="58420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由题意得</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两两垂直</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729553354"/>
                </p:ext>
              </p:extLst>
            </p:nvPr>
          </p:nvGraphicFramePr>
          <p:xfrm>
            <a:off x="471488" y="1711167"/>
            <a:ext cx="11430000" cy="4012272"/>
          </p:xfrm>
          <a:graphic>
            <a:graphicData uri="http://schemas.openxmlformats.org/presentationml/2006/ole">
              <mc:AlternateContent xmlns:mc="http://schemas.openxmlformats.org/markup-compatibility/2006">
                <mc:Choice xmlns:v="urn:schemas-microsoft-com:vml" Requires="v">
                  <p:oleObj spid="_x0000_s26639"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471488" y="1711167"/>
                          <a:ext cx="11430000" cy="4012272"/>
                        </a:xfrm>
                        <a:prstGeom prst="rect">
                          <a:avLst/>
                        </a:prstGeom>
                      </p:spPr>
                    </p:pic>
                  </p:oleObj>
                </mc:Fallback>
              </mc:AlternateContent>
            </a:graphicData>
          </a:graphic>
        </p:graphicFrame>
        <p:sp>
          <p:nvSpPr>
            <p:cNvPr id="4" name="矩形 3"/>
            <p:cNvSpPr>
              <a:spLocks noChangeAspect="1"/>
            </p:cNvSpPr>
            <p:nvPr/>
          </p:nvSpPr>
          <p:spPr>
            <a:xfrm>
              <a:off x="381000" y="5562296"/>
              <a:ext cx="938109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是平面</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5" name="VMX1TRAX61.eps" descr="id:2147496031;FounderCES"/>
            <p:cNvPicPr/>
            <p:nvPr/>
          </p:nvPicPr>
          <p:blipFill>
            <a:blip r:embed="rId5">
              <a:clrChange>
                <a:clrFrom>
                  <a:srgbClr val="FFFFFF"/>
                </a:clrFrom>
                <a:clrTo>
                  <a:srgbClr val="FFFFFF">
                    <a:alpha val="0"/>
                  </a:srgbClr>
                </a:clrTo>
              </a:clrChange>
            </a:blip>
            <a:stretch>
              <a:fillRect/>
            </a:stretch>
          </p:blipFill>
          <p:spPr>
            <a:xfrm>
              <a:off x="9154117" y="1540294"/>
              <a:ext cx="2768586" cy="2048033"/>
            </a:xfrm>
            <a:prstGeom prst="rect">
              <a:avLst/>
            </a:prstGeom>
          </p:spPr>
        </p:pic>
      </p:grpSp>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944852"/>
            <a:ext cx="11524852" cy="3881620"/>
            <a:chOff x="381000" y="1246188"/>
            <a:chExt cx="11524852" cy="3881620"/>
          </a:xfrm>
        </p:grpSpPr>
        <p:sp>
          <p:nvSpPr>
            <p:cNvPr id="2" name="矩形 1"/>
            <p:cNvSpPr>
              <a:spLocks noChangeAspect="1"/>
            </p:cNvSpPr>
            <p:nvPr/>
          </p:nvSpPr>
          <p:spPr>
            <a:xfrm>
              <a:off x="381000" y="1246188"/>
              <a:ext cx="58352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设平面</a:t>
              </a:r>
              <a:r>
                <a:rPr lang="en-US" altLang="zh-CN" sz="2800" i="1" dirty="0">
                  <a:solidFill>
                    <a:srgbClr val="000000"/>
                  </a:solidFill>
                  <a:latin typeface="Times New Roman" panose="02020603050405020304" pitchFamily="18" charset="0"/>
                  <a:cs typeface="Times New Roman" panose="02020603050405020304" pitchFamily="18" charset="0"/>
                </a:rPr>
                <a:t>AEC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95335257"/>
                </p:ext>
              </p:extLst>
            </p:nvPr>
          </p:nvGraphicFramePr>
          <p:xfrm>
            <a:off x="475852" y="1911374"/>
            <a:ext cx="11430000" cy="1504488"/>
          </p:xfrm>
          <a:graphic>
            <a:graphicData uri="http://schemas.openxmlformats.org/presentationml/2006/ole">
              <mc:AlternateContent xmlns:mc="http://schemas.openxmlformats.org/markup-compatibility/2006">
                <mc:Choice xmlns:v="urn:schemas-microsoft-com:vml" Requires="v">
                  <p:oleObj spid="_x0000_s27663"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75852" y="1911374"/>
                          <a:ext cx="11430000" cy="1504488"/>
                        </a:xfrm>
                        <a:prstGeom prst="rect">
                          <a:avLst/>
                        </a:prstGeom>
                      </p:spPr>
                    </p:pic>
                  </p:oleObj>
                </mc:Fallback>
              </mc:AlternateContent>
            </a:graphicData>
          </a:graphic>
        </p:graphicFrame>
        <p:sp>
          <p:nvSpPr>
            <p:cNvPr id="4" name="矩形 3"/>
            <p:cNvSpPr>
              <a:spLocks noChangeAspect="1"/>
            </p:cNvSpPr>
            <p:nvPr/>
          </p:nvSpPr>
          <p:spPr>
            <a:xfrm>
              <a:off x="381000" y="3415288"/>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是平面</a:t>
              </a:r>
              <a:r>
                <a:rPr lang="en-US" altLang="zh-CN" sz="2800" i="1" dirty="0">
                  <a:solidFill>
                    <a:srgbClr val="000000"/>
                  </a:solidFill>
                  <a:latin typeface="Times New Roman" panose="02020603050405020304" pitchFamily="18" charset="0"/>
                  <a:cs typeface="Times New Roman" panose="02020603050405020304" pitchFamily="18" charset="0"/>
                </a:rPr>
                <a:t>AEC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的一个法向量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所以平面</a:t>
              </a:r>
              <a:r>
                <a:rPr lang="en-US" altLang="zh-CN" sz="2800" i="1" dirty="0">
                  <a:solidFill>
                    <a:srgbClr val="000000"/>
                  </a:solidFill>
                  <a:latin typeface="Times New Roman" panose="02020603050405020304" pitchFamily="18" charset="0"/>
                  <a:cs typeface="Times New Roman" panose="02020603050405020304" pitchFamily="18" charset="0"/>
                </a:rPr>
                <a:t>AEC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288875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328</TotalTime>
  <Words>2381</Words>
  <Application>Microsoft Office PowerPoint</Application>
  <PresentationFormat>宽屏</PresentationFormat>
  <Paragraphs>198</Paragraphs>
  <Slides>49</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70"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47</cp:revision>
  <dcterms:created xsi:type="dcterms:W3CDTF">2021-08-30T08:30:26Z</dcterms:created>
  <dcterms:modified xsi:type="dcterms:W3CDTF">2025-08-09T07:50:46Z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