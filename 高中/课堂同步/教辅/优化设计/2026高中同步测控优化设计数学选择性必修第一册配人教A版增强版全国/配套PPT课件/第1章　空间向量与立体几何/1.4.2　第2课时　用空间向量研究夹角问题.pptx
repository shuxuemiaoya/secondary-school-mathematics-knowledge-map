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8"/>
  </p:notesMasterIdLst>
  <p:sldIdLst>
    <p:sldId id="677" r:id="rId2"/>
    <p:sldId id="488" r:id="rId3"/>
    <p:sldId id="494" r:id="rId4"/>
    <p:sldId id="392" r:id="rId5"/>
    <p:sldId id="686" r:id="rId6"/>
    <p:sldId id="687" r:id="rId7"/>
    <p:sldId id="688" r:id="rId8"/>
    <p:sldId id="689" r:id="rId9"/>
    <p:sldId id="690" r:id="rId10"/>
    <p:sldId id="691" r:id="rId11"/>
    <p:sldId id="692" r:id="rId12"/>
    <p:sldId id="693" r:id="rId13"/>
    <p:sldId id="694" r:id="rId14"/>
    <p:sldId id="695" r:id="rId15"/>
    <p:sldId id="696" r:id="rId16"/>
    <p:sldId id="697" r:id="rId17"/>
    <p:sldId id="407" r:id="rId18"/>
    <p:sldId id="394" r:id="rId19"/>
    <p:sldId id="699" r:id="rId20"/>
    <p:sldId id="700" r:id="rId21"/>
    <p:sldId id="701" r:id="rId22"/>
    <p:sldId id="702" r:id="rId23"/>
    <p:sldId id="402" r:id="rId24"/>
    <p:sldId id="712" r:id="rId25"/>
    <p:sldId id="713" r:id="rId26"/>
    <p:sldId id="714" r:id="rId27"/>
    <p:sldId id="715" r:id="rId28"/>
    <p:sldId id="719" r:id="rId29"/>
    <p:sldId id="498" r:id="rId30"/>
    <p:sldId id="730" r:id="rId31"/>
    <p:sldId id="733" r:id="rId32"/>
    <p:sldId id="743" r:id="rId33"/>
    <p:sldId id="744" r:id="rId34"/>
    <p:sldId id="734" r:id="rId35"/>
    <p:sldId id="737" r:id="rId36"/>
    <p:sldId id="742" r:id="rId37"/>
    <p:sldId id="765" r:id="rId38"/>
    <p:sldId id="740" r:id="rId39"/>
    <p:sldId id="739" r:id="rId40"/>
    <p:sldId id="745" r:id="rId41"/>
    <p:sldId id="746" r:id="rId42"/>
    <p:sldId id="747" r:id="rId43"/>
    <p:sldId id="748" r:id="rId44"/>
    <p:sldId id="749" r:id="rId45"/>
    <p:sldId id="750" r:id="rId46"/>
    <p:sldId id="398" r:id="rId47"/>
    <p:sldId id="395" r:id="rId48"/>
    <p:sldId id="756" r:id="rId49"/>
    <p:sldId id="757" r:id="rId50"/>
    <p:sldId id="758" r:id="rId51"/>
    <p:sldId id="759" r:id="rId52"/>
    <p:sldId id="760" r:id="rId53"/>
    <p:sldId id="761" r:id="rId54"/>
    <p:sldId id="762" r:id="rId55"/>
    <p:sldId id="763" r:id="rId56"/>
    <p:sldId id="490" r:id="rId5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5" orient="horz" pos="28" userDrawn="1">
          <p15:clr>
            <a:srgbClr val="A4A3A4"/>
          </p15:clr>
        </p15:guide>
        <p15:guide id="6" pos="257" userDrawn="1">
          <p15:clr>
            <a:srgbClr val="A4A3A4"/>
          </p15:clr>
        </p15:guide>
        <p15:guide id="7" orient="horz" pos="77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5494" autoAdjust="0"/>
  </p:normalViewPr>
  <p:slideViewPr>
    <p:cSldViewPr snapToGrid="0">
      <p:cViewPr varScale="1">
        <p:scale>
          <a:sx n="92" d="100"/>
          <a:sy n="92" d="100"/>
        </p:scale>
        <p:origin x="498" y="84"/>
      </p:cViewPr>
      <p:guideLst>
        <p:guide orient="horz" pos="368"/>
        <p:guide pos="211"/>
        <p:guide orient="horz" pos="436"/>
        <p:guide orient="horz" pos="28"/>
        <p:guide pos="257"/>
        <p:guide orient="horz" pos="77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image" Target="../media/image19.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image" Target="../media/image49.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53.e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image" Target="../media/image55.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58.e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emf"/><Relationship Id="rId1" Type="http://schemas.openxmlformats.org/officeDocument/2006/relationships/image" Target="../media/image59.emf"/><Relationship Id="rId4" Type="http://schemas.openxmlformats.org/officeDocument/2006/relationships/image" Target="../media/image62.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63.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64.e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image" Target="../media/image66.e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69.emf"/><Relationship Id="rId1" Type="http://schemas.openxmlformats.org/officeDocument/2006/relationships/image" Target="../media/image68.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72.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7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2025-08-09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slide" Target="../slides/slide18.xml"/><Relationship Id="rId1" Type="http://schemas.openxmlformats.org/officeDocument/2006/relationships/slideMaster" Target="../slideMasters/slideMaster1.xml"/><Relationship Id="rId5" Type="http://schemas.openxmlformats.org/officeDocument/2006/relationships/slide" Target="../slides/slide38.xml"/><Relationship Id="rId4" Type="http://schemas.openxmlformats.org/officeDocument/2006/relationships/slide" Target="../slides/slide29.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88656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95291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1001925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5" name="圆角矩形 4">
            <a:hlinkClick r:id="rId5" action="ppaction://hlinksldjump"/>
          </p:cNvPr>
          <p:cNvSpPr/>
          <p:nvPr userDrawn="1"/>
        </p:nvSpPr>
        <p:spPr>
          <a:xfrm>
            <a:off x="1108559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规范解答</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4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package" Target="../embeddings/Microsoft_Word___1.docx"/><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package" Target="../embeddings/Microsoft_Word___2.docx"/><Relationship Id="rId2" Type="http://schemas.openxmlformats.org/officeDocument/2006/relationships/slideLayout" Target="../slideLayouts/slideLayout3.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Word___3.docx"/><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image" Target="../media/image5.jpeg"/><Relationship Id="rId4" Type="http://schemas.openxmlformats.org/officeDocument/2006/relationships/image" Target="../media/image4.emf"/></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Word___4.docx"/><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6.emf"/></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image" Target="../media/image9.jpeg"/><Relationship Id="rId5" Type="http://schemas.openxmlformats.org/officeDocument/2006/relationships/image" Target="../media/image7.emf"/><Relationship Id="rId4" Type="http://schemas.openxmlformats.org/officeDocument/2006/relationships/package" Target="../embeddings/Microsoft_Word___5.docx"/></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package" Target="../embeddings/Microsoft_Word___6.docx"/><Relationship Id="rId7" Type="http://schemas.openxmlformats.org/officeDocument/2006/relationships/package" Target="../embeddings/Microsoft_Word___8.docx"/><Relationship Id="rId2" Type="http://schemas.openxmlformats.org/officeDocument/2006/relationships/slideLayout" Target="../slideLayouts/slideLayout3.xml"/><Relationship Id="rId1" Type="http://schemas.openxmlformats.org/officeDocument/2006/relationships/vmlDrawing" Target="../drawings/vmlDrawing6.vml"/><Relationship Id="rId6" Type="http://schemas.openxmlformats.org/officeDocument/2006/relationships/image" Target="../media/image12.emf"/><Relationship Id="rId5" Type="http://schemas.openxmlformats.org/officeDocument/2006/relationships/package" Target="../embeddings/Microsoft_Word___7.docx"/><Relationship Id="rId4" Type="http://schemas.openxmlformats.org/officeDocument/2006/relationships/image" Target="../media/image11.emf"/></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Word___9.docx"/><Relationship Id="rId2" Type="http://schemas.openxmlformats.org/officeDocument/2006/relationships/slideLayout" Target="../slideLayouts/slideLayout3.xml"/><Relationship Id="rId1" Type="http://schemas.openxmlformats.org/officeDocument/2006/relationships/vmlDrawing" Target="../drawings/vmlDrawing7.vml"/><Relationship Id="rId4" Type="http://schemas.openxmlformats.org/officeDocument/2006/relationships/image" Target="../media/image16.emf"/></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Word___10.docx"/><Relationship Id="rId2" Type="http://schemas.openxmlformats.org/officeDocument/2006/relationships/slideLayout" Target="../slideLayouts/slideLayout3.xml"/><Relationship Id="rId1" Type="http://schemas.openxmlformats.org/officeDocument/2006/relationships/vmlDrawing" Target="../drawings/vmlDrawing8.vml"/><Relationship Id="rId6" Type="http://schemas.openxmlformats.org/officeDocument/2006/relationships/image" Target="../media/image18.emf"/><Relationship Id="rId5" Type="http://schemas.openxmlformats.org/officeDocument/2006/relationships/package" Target="../embeddings/Microsoft_Word___11.docx"/><Relationship Id="rId4" Type="http://schemas.openxmlformats.org/officeDocument/2006/relationships/image" Target="../media/image17.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Word___12.docx"/><Relationship Id="rId7" Type="http://schemas.openxmlformats.org/officeDocument/2006/relationships/image" Target="../media/image21.jpeg"/><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20.emf"/><Relationship Id="rId5" Type="http://schemas.openxmlformats.org/officeDocument/2006/relationships/package" Target="../embeddings/Microsoft_Word___13.docx"/><Relationship Id="rId4" Type="http://schemas.openxmlformats.org/officeDocument/2006/relationships/image" Target="../media/image19.emf"/></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Word___14.docx"/><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2.emf"/></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Word___15.docx"/><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23.emf"/></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package" Target="../embeddings/Microsoft_Word___16.docx"/><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26.jpeg"/><Relationship Id="rId4" Type="http://schemas.openxmlformats.org/officeDocument/2006/relationships/image" Target="../media/image25.emf"/></Relationships>
</file>

<file path=ppt/slides/_rels/slide2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Word___17.docx"/><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29.jpeg"/><Relationship Id="rId4" Type="http://schemas.openxmlformats.org/officeDocument/2006/relationships/image" Target="../media/image28.emf"/></Relationships>
</file>

<file path=ppt/slides/_rels/slide25.xml.rels><?xml version="1.0" encoding="UTF-8" standalone="yes"?>
<Relationships xmlns="http://schemas.openxmlformats.org/package/2006/relationships"><Relationship Id="rId3" Type="http://schemas.openxmlformats.org/officeDocument/2006/relationships/package" Target="../embeddings/Microsoft_Word___18.docx"/><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30.emf"/></Relationships>
</file>

<file path=ppt/slides/_rels/slide2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package" Target="../embeddings/Microsoft_Word___19.docx"/><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34.jpeg"/><Relationship Id="rId4" Type="http://schemas.openxmlformats.org/officeDocument/2006/relationships/image" Target="../media/image33.emf"/></Relationships>
</file>

<file path=ppt/slides/_rels/slide29.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Word___20.docx"/><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37.jpeg"/><Relationship Id="rId4" Type="http://schemas.openxmlformats.org/officeDocument/2006/relationships/image" Target="../media/image36.emf"/></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Word___21.docx"/><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38.emf"/></Relationships>
</file>

<file path=ppt/slides/_rels/slide32.xml.rels><?xml version="1.0" encoding="UTF-8" standalone="yes"?>
<Relationships xmlns="http://schemas.openxmlformats.org/package/2006/relationships"><Relationship Id="rId3" Type="http://schemas.openxmlformats.org/officeDocument/2006/relationships/package" Target="../embeddings/Microsoft_Word___22.docx"/><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39.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40.emf"/><Relationship Id="rId4" Type="http://schemas.openxmlformats.org/officeDocument/2006/relationships/package" Target="../embeddings/Microsoft_Word___23.docx"/></Relationships>
</file>

<file path=ppt/slides/_rels/slide35.xml.rels><?xml version="1.0" encoding="UTF-8" standalone="yes"?>
<Relationships xmlns="http://schemas.openxmlformats.org/package/2006/relationships"><Relationship Id="rId3" Type="http://schemas.openxmlformats.org/officeDocument/2006/relationships/package" Target="../embeddings/Microsoft_Word___24.docx"/><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43.jpeg"/><Relationship Id="rId4" Type="http://schemas.openxmlformats.org/officeDocument/2006/relationships/image" Target="../media/image42.emf"/></Relationships>
</file>

<file path=ppt/slides/_rels/slide36.xml.rels><?xml version="1.0" encoding="UTF-8" standalone="yes"?>
<Relationships xmlns="http://schemas.openxmlformats.org/package/2006/relationships"><Relationship Id="rId3" Type="http://schemas.openxmlformats.org/officeDocument/2006/relationships/package" Target="../embeddings/Microsoft_Word___25.docx"/><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45.jpeg"/><Relationship Id="rId4" Type="http://schemas.openxmlformats.org/officeDocument/2006/relationships/image" Target="../media/image44.emf"/></Relationships>
</file>

<file path=ppt/slides/_rels/slide37.xml.rels><?xml version="1.0" encoding="UTF-8" standalone="yes"?>
<Relationships xmlns="http://schemas.openxmlformats.org/package/2006/relationships"><Relationship Id="rId3" Type="http://schemas.openxmlformats.org/officeDocument/2006/relationships/package" Target="../embeddings/Microsoft_Word___26.docx"/><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image" Target="../media/image46.emf"/></Relationships>
</file>

<file path=ppt/slides/_rels/slide38.xml.rels><?xml version="1.0" encoding="UTF-8" standalone="yes"?>
<Relationships xmlns="http://schemas.openxmlformats.org/package/2006/relationships"><Relationship Id="rId3" Type="http://schemas.openxmlformats.org/officeDocument/2006/relationships/package" Target="../embeddings/Microsoft_Word___27.docx"/><Relationship Id="rId2" Type="http://schemas.openxmlformats.org/officeDocument/2006/relationships/slideLayout" Target="../slideLayouts/slideLayout2.xml"/><Relationship Id="rId1" Type="http://schemas.openxmlformats.org/officeDocument/2006/relationships/vmlDrawing" Target="../drawings/vmlDrawing23.vml"/><Relationship Id="rId5" Type="http://schemas.openxmlformats.org/officeDocument/2006/relationships/image" Target="../media/image48.jpeg"/><Relationship Id="rId4" Type="http://schemas.openxmlformats.org/officeDocument/2006/relationships/image" Target="../media/image47.emf"/></Relationships>
</file>

<file path=ppt/slides/_rels/slide39.xml.rels><?xml version="1.0" encoding="UTF-8" standalone="yes"?>
<Relationships xmlns="http://schemas.openxmlformats.org/package/2006/relationships"><Relationship Id="rId8" Type="http://schemas.openxmlformats.org/officeDocument/2006/relationships/image" Target="../media/image51.emf"/><Relationship Id="rId3" Type="http://schemas.openxmlformats.org/officeDocument/2006/relationships/package" Target="../embeddings/Microsoft_Word___28.docx"/><Relationship Id="rId7" Type="http://schemas.openxmlformats.org/officeDocument/2006/relationships/package" Target="../embeddings/Microsoft_Word___30.docx"/><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50.emf"/><Relationship Id="rId5" Type="http://schemas.openxmlformats.org/officeDocument/2006/relationships/package" Target="../embeddings/Microsoft_Word___29.docx"/><Relationship Id="rId4" Type="http://schemas.openxmlformats.org/officeDocument/2006/relationships/image" Target="../media/image49.emf"/><Relationship Id="rId9" Type="http://schemas.openxmlformats.org/officeDocument/2006/relationships/image" Target="../media/image52.jpeg"/></Relationships>
</file>

<file path=ppt/slides/_rels/slide40.xml.rels><?xml version="1.0" encoding="UTF-8" standalone="yes"?>
<Relationships xmlns="http://schemas.openxmlformats.org/package/2006/relationships"><Relationship Id="rId3" Type="http://schemas.openxmlformats.org/officeDocument/2006/relationships/package" Target="../embeddings/Microsoft_Word___31.docx"/><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53.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package" Target="../embeddings/Microsoft_Word___32.docx"/><Relationship Id="rId7" Type="http://schemas.openxmlformats.org/officeDocument/2006/relationships/image" Target="../media/image57.jpeg"/><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56.emf"/><Relationship Id="rId5" Type="http://schemas.openxmlformats.org/officeDocument/2006/relationships/package" Target="../embeddings/Microsoft_Word___33.docx"/><Relationship Id="rId4" Type="http://schemas.openxmlformats.org/officeDocument/2006/relationships/image" Target="../media/image55.emf"/></Relationships>
</file>

<file path=ppt/slides/_rels/slide45.xml.rels><?xml version="1.0" encoding="UTF-8" standalone="yes"?>
<Relationships xmlns="http://schemas.openxmlformats.org/package/2006/relationships"><Relationship Id="rId3" Type="http://schemas.openxmlformats.org/officeDocument/2006/relationships/package" Target="../embeddings/Microsoft_Word___34.docx"/><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58.e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8" Type="http://schemas.openxmlformats.org/officeDocument/2006/relationships/image" Target="../media/image61.emf"/><Relationship Id="rId3" Type="http://schemas.openxmlformats.org/officeDocument/2006/relationships/package" Target="../embeddings/Microsoft_Word___35.docx"/><Relationship Id="rId7" Type="http://schemas.openxmlformats.org/officeDocument/2006/relationships/package" Target="../embeddings/Microsoft_Word___37.docx"/><Relationship Id="rId2" Type="http://schemas.openxmlformats.org/officeDocument/2006/relationships/slideLayout" Target="../slideLayouts/slideLayout1.xml"/><Relationship Id="rId1" Type="http://schemas.openxmlformats.org/officeDocument/2006/relationships/vmlDrawing" Target="../drawings/vmlDrawing28.vml"/><Relationship Id="rId6" Type="http://schemas.openxmlformats.org/officeDocument/2006/relationships/image" Target="../media/image60.emf"/><Relationship Id="rId5" Type="http://schemas.openxmlformats.org/officeDocument/2006/relationships/package" Target="../embeddings/Microsoft_Word___36.docx"/><Relationship Id="rId10" Type="http://schemas.openxmlformats.org/officeDocument/2006/relationships/image" Target="../media/image62.emf"/><Relationship Id="rId4" Type="http://schemas.openxmlformats.org/officeDocument/2006/relationships/image" Target="../media/image59.emf"/><Relationship Id="rId9" Type="http://schemas.openxmlformats.org/officeDocument/2006/relationships/package" Target="../embeddings/Microsoft_Word___38.docx"/></Relationships>
</file>

<file path=ppt/slides/_rels/slide48.xml.rels><?xml version="1.0" encoding="UTF-8" standalone="yes"?>
<Relationships xmlns="http://schemas.openxmlformats.org/package/2006/relationships"><Relationship Id="rId3" Type="http://schemas.openxmlformats.org/officeDocument/2006/relationships/package" Target="../embeddings/Microsoft_Word___39.docx"/><Relationship Id="rId2" Type="http://schemas.openxmlformats.org/officeDocument/2006/relationships/slideLayout" Target="../slideLayouts/slideLayout1.xml"/><Relationship Id="rId1" Type="http://schemas.openxmlformats.org/officeDocument/2006/relationships/vmlDrawing" Target="../drawings/vmlDrawing29.vml"/><Relationship Id="rId4" Type="http://schemas.openxmlformats.org/officeDocument/2006/relationships/image" Target="../media/image63.emf"/></Relationships>
</file>

<file path=ppt/slides/_rels/slide49.xml.rels><?xml version="1.0" encoding="UTF-8" standalone="yes"?>
<Relationships xmlns="http://schemas.openxmlformats.org/package/2006/relationships"><Relationship Id="rId3" Type="http://schemas.openxmlformats.org/officeDocument/2006/relationships/package" Target="../embeddings/Microsoft_Word___40.docx"/><Relationship Id="rId2" Type="http://schemas.openxmlformats.org/officeDocument/2006/relationships/slideLayout" Target="../slideLayouts/slideLayout1.xml"/><Relationship Id="rId1" Type="http://schemas.openxmlformats.org/officeDocument/2006/relationships/vmlDrawing" Target="../drawings/vmlDrawing30.vml"/><Relationship Id="rId5" Type="http://schemas.openxmlformats.org/officeDocument/2006/relationships/image" Target="../media/image65.jpeg"/><Relationship Id="rId4" Type="http://schemas.openxmlformats.org/officeDocument/2006/relationships/image" Target="../media/image64.emf"/></Relationships>
</file>

<file path=ppt/slides/_rels/slide50.xml.rels><?xml version="1.0" encoding="UTF-8" standalone="yes"?>
<Relationships xmlns="http://schemas.openxmlformats.org/package/2006/relationships"><Relationship Id="rId3" Type="http://schemas.openxmlformats.org/officeDocument/2006/relationships/package" Target="../embeddings/Microsoft_Word___41.docx"/><Relationship Id="rId2" Type="http://schemas.openxmlformats.org/officeDocument/2006/relationships/slideLayout" Target="../slideLayouts/slideLayout1.xml"/><Relationship Id="rId1" Type="http://schemas.openxmlformats.org/officeDocument/2006/relationships/vmlDrawing" Target="../drawings/vmlDrawing31.vml"/><Relationship Id="rId6" Type="http://schemas.openxmlformats.org/officeDocument/2006/relationships/image" Target="../media/image67.emf"/><Relationship Id="rId5" Type="http://schemas.openxmlformats.org/officeDocument/2006/relationships/package" Target="../embeddings/Microsoft_Word___42.docx"/><Relationship Id="rId4" Type="http://schemas.openxmlformats.org/officeDocument/2006/relationships/image" Target="../media/image66.emf"/></Relationships>
</file>

<file path=ppt/slides/_rels/slide51.xml.rels><?xml version="1.0" encoding="UTF-8" standalone="yes"?>
<Relationships xmlns="http://schemas.openxmlformats.org/package/2006/relationships"><Relationship Id="rId3" Type="http://schemas.openxmlformats.org/officeDocument/2006/relationships/package" Target="../embeddings/Microsoft_Word___43.docx"/><Relationship Id="rId7" Type="http://schemas.openxmlformats.org/officeDocument/2006/relationships/image" Target="../media/image70.jpeg"/><Relationship Id="rId2" Type="http://schemas.openxmlformats.org/officeDocument/2006/relationships/slideLayout" Target="../slideLayouts/slideLayout1.xml"/><Relationship Id="rId1" Type="http://schemas.openxmlformats.org/officeDocument/2006/relationships/vmlDrawing" Target="../drawings/vmlDrawing32.vml"/><Relationship Id="rId6" Type="http://schemas.openxmlformats.org/officeDocument/2006/relationships/image" Target="../media/image69.emf"/><Relationship Id="rId5" Type="http://schemas.openxmlformats.org/officeDocument/2006/relationships/package" Target="../embeddings/Microsoft_Word___44.docx"/><Relationship Id="rId4" Type="http://schemas.openxmlformats.org/officeDocument/2006/relationships/image" Target="../media/image68.emf"/></Relationships>
</file>

<file path=ppt/slides/_rels/slide52.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package" Target="../embeddings/Microsoft_Word___45.docx"/><Relationship Id="rId2" Type="http://schemas.openxmlformats.org/officeDocument/2006/relationships/slideLayout" Target="../slideLayouts/slideLayout1.xml"/><Relationship Id="rId1" Type="http://schemas.openxmlformats.org/officeDocument/2006/relationships/vmlDrawing" Target="../drawings/vmlDrawing33.vml"/><Relationship Id="rId5" Type="http://schemas.openxmlformats.org/officeDocument/2006/relationships/image" Target="../media/image73.jpeg"/><Relationship Id="rId4" Type="http://schemas.openxmlformats.org/officeDocument/2006/relationships/image" Target="../media/image72.emf"/></Relationships>
</file>

<file path=ppt/slides/_rels/slide55.xml.rels><?xml version="1.0" encoding="UTF-8" standalone="yes"?>
<Relationships xmlns="http://schemas.openxmlformats.org/package/2006/relationships"><Relationship Id="rId3" Type="http://schemas.openxmlformats.org/officeDocument/2006/relationships/package" Target="../embeddings/Microsoft_Word___46.docx"/><Relationship Id="rId2" Type="http://schemas.openxmlformats.org/officeDocument/2006/relationships/slideLayout" Target="../slideLayouts/slideLayout1.xml"/><Relationship Id="rId1" Type="http://schemas.openxmlformats.org/officeDocument/2006/relationships/vmlDrawing" Target="../drawings/vmlDrawing34.vml"/><Relationship Id="rId4" Type="http://schemas.openxmlformats.org/officeDocument/2006/relationships/image" Target="../media/image74.emf"/></Relationships>
</file>

<file path=ppt/slides/_rels/slide5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zh-CN" altLang="en-US" sz="3600" b="1" dirty="0">
                  <a:solidFill>
                    <a:schemeClr val="bg1"/>
                  </a:solidFill>
                  <a:latin typeface="华文细黑" panose="02010600040101010101" charset="-122"/>
                  <a:ea typeface="华文细黑" panose="02010600040101010101" charset="-122"/>
                </a:rPr>
                <a:t>第</a:t>
              </a:r>
              <a:r>
                <a:rPr lang="en-US" altLang="zh-CN" sz="3600" b="1" dirty="0">
                  <a:solidFill>
                    <a:schemeClr val="bg1"/>
                  </a:solidFill>
                  <a:latin typeface="华文细黑" panose="02010600040101010101" charset="-122"/>
                  <a:ea typeface="华文细黑" panose="02010600040101010101" charset="-122"/>
                </a:rPr>
                <a:t>2</a:t>
              </a:r>
              <a:r>
                <a:rPr lang="zh-CN" altLang="en-US" sz="3600" b="1" dirty="0">
                  <a:solidFill>
                    <a:schemeClr val="bg1"/>
                  </a:solidFill>
                  <a:latin typeface="华文细黑" panose="02010600040101010101" charset="-122"/>
                  <a:ea typeface="华文细黑" panose="02010600040101010101" charset="-122"/>
                </a:rPr>
                <a:t>课时　用空间向量研究夹角问题</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dirty="0">
                <a:solidFill>
                  <a:schemeClr val="bg1"/>
                </a:solidFill>
                <a:latin typeface="华文细黑" panose="02010600040101010101" charset="-122"/>
                <a:ea typeface="华文细黑" panose="02010600040101010101" charset="-122"/>
                <a:cs typeface="Open Sans" panose="020B0606030504020204" pitchFamily="34" charset="0"/>
              </a:rPr>
              <a:t>第一</a:t>
            </a:r>
            <a:r>
              <a:rPr lang="zh-CN" altLang="en-US"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a:p>
            <a:pPr algn="ctr"/>
            <a:r>
              <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1.4.2</a:t>
            </a: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rgbClr val="757C82"/>
                </a:solidFill>
                <a:latin typeface="Times New Roman" panose="02020603050405020304" pitchFamily="18" charset="0"/>
                <a:cs typeface="Times New Roman" panose="02020603050405020304" pitchFamily="18" charset="0"/>
              </a:rPr>
              <a:t>2025</a:t>
            </a: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1245680"/>
            <a:ext cx="11430000" cy="3961149"/>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掌握异面直线所成的角、直线与平面所成的角以及平面与平面的夹角的定义</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能用向量语言表述直线与直线、直线与平面、平面与平面的夹角</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能用向量方法解决直线与直线、直线与平面、平面与平面的夹角问题</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能描述用向量方法解决夹角问题的程序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体会向量方法在研究几何夹角问题中的作用</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pPr>
            <a:r>
              <a:rPr lang="en-US" altLang="zh-CN" sz="2800" dirty="0">
                <a:solidFill>
                  <a:srgbClr val="000000"/>
                </a:solidFill>
                <a:latin typeface="Times New Roman" panose="02020603050405020304" pitchFamily="18" charset="0"/>
              </a:rPr>
              <a:t>5</a:t>
            </a:r>
            <a:r>
              <a:rPr lang="en-US" altLang="zh-CN" sz="2800" i="1" dirty="0">
                <a:solidFill>
                  <a:srgbClr val="000000"/>
                </a:solidFill>
                <a:latin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提升直观想象、逻辑推理和数学运算素养</a:t>
            </a:r>
            <a:r>
              <a:rPr lang="en-US" altLang="zh-CN" sz="2800" i="1" dirty="0">
                <a:solidFill>
                  <a:srgbClr val="000000"/>
                </a:solidFill>
                <a:latin typeface="Times New Roman" panose="02020603050405020304" pitchFamily="18" charset="0"/>
              </a:rPr>
              <a:t>.</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177279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一</a:t>
            </a:r>
            <a:r>
              <a:rPr lang="zh-CN" altLang="zh-CN" sz="2800" dirty="0" smtClean="0">
                <a:solidFill>
                  <a:srgbClr val="000000"/>
                </a:solidFill>
                <a:latin typeface="NEU-BZ-S92"/>
                <a:ea typeface="方正正中黑简体"/>
                <a:cs typeface="Times New Roman" panose="02020603050405020304" pitchFamily="18" charset="0"/>
              </a:rPr>
              <a:t>、直线</a:t>
            </a:r>
            <a:r>
              <a:rPr lang="zh-CN" altLang="zh-CN" sz="2800" dirty="0">
                <a:solidFill>
                  <a:srgbClr val="000000"/>
                </a:solidFill>
                <a:latin typeface="NEU-BZ-S92"/>
                <a:ea typeface="方正正中黑简体"/>
                <a:cs typeface="Times New Roman" panose="02020603050405020304" pitchFamily="18" charset="0"/>
              </a:rPr>
              <a:t>与直线所成的角</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根据立体几何知识</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我们怎样求两条异面直线</a:t>
            </a:r>
            <a:r>
              <a:rPr lang="en-US" altLang="zh-CN" sz="2800"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的夹角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异面直线所成的角的范围是什么</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712191961"/>
              </p:ext>
            </p:extLst>
          </p:nvPr>
        </p:nvGraphicFramePr>
        <p:xfrm>
          <a:off x="381000" y="3027063"/>
          <a:ext cx="11430000" cy="1504488"/>
        </p:xfrm>
        <a:graphic>
          <a:graphicData uri="http://schemas.openxmlformats.org/presentationml/2006/ole">
            <mc:AlternateContent xmlns:mc="http://schemas.openxmlformats.org/markup-compatibility/2006">
              <mc:Choice xmlns:v="urn:schemas-microsoft-com:vml" Requires="v">
                <p:oleObj spid="_x0000_s1045" name="文档" r:id="rId3" imgW="4520786" imgH="595054" progId="Word.Document.12">
                  <p:embed/>
                </p:oleObj>
              </mc:Choice>
              <mc:Fallback>
                <p:oleObj name="文档" r:id="rId3" imgW="4520786" imgH="595054" progId="Word.Document.12">
                  <p:embed/>
                  <p:pic>
                    <p:nvPicPr>
                      <p:cNvPr id="0" name=""/>
                      <p:cNvPicPr/>
                      <p:nvPr/>
                    </p:nvPicPr>
                    <p:blipFill>
                      <a:blip r:embed="rId4"/>
                      <a:stretch>
                        <a:fillRect/>
                      </a:stretch>
                    </p:blipFill>
                    <p:spPr>
                      <a:xfrm>
                        <a:off x="381000" y="3027063"/>
                        <a:ext cx="11430000" cy="1504488"/>
                      </a:xfrm>
                      <a:prstGeom prst="rect">
                        <a:avLst/>
                      </a:prstGeom>
                    </p:spPr>
                  </p:pic>
                </p:oleObj>
              </mc:Fallback>
            </mc:AlternateContent>
          </a:graphicData>
        </a:graphic>
      </p:graphicFrame>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94591"/>
            <a:ext cx="11430000" cy="457356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设直线</a:t>
            </a:r>
            <a:r>
              <a:rPr lang="en-US" altLang="zh-CN" sz="2800"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的夹角为</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方向向量分别为</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那么夹角</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zh-CN" altLang="zh-CN" sz="2800" dirty="0">
                <a:solidFill>
                  <a:srgbClr val="000000"/>
                </a:solidFill>
                <a:latin typeface="Times New Roman" panose="02020603050405020304" pitchFamily="18" charset="0"/>
                <a:cs typeface="Times New Roman" panose="02020603050405020304" pitchFamily="18" charset="0"/>
              </a:rPr>
              <a:t>与方向向量的夹角</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a:t>
            </a:r>
            <a:r>
              <a:rPr lang="zh-CN" altLang="zh-CN" sz="2800" dirty="0">
                <a:solidFill>
                  <a:srgbClr val="000000"/>
                </a:solidFill>
                <a:latin typeface="Times New Roman" panose="02020603050405020304" pitchFamily="18" charset="0"/>
                <a:cs typeface="Times New Roman" panose="02020603050405020304" pitchFamily="18" charset="0"/>
              </a:rPr>
              <a:t>之间有什么关系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它们的余弦值满足什么等式</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effectLst/>
                <a:latin typeface="宋体" panose="02010600030101010101" pitchFamily="2"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effectLst/>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effectLst/>
                <a:latin typeface="宋体" panose="02010600030101010101" pitchFamily="2" charset="-122"/>
                <a:ea typeface="方正书宋_GBK"/>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smtClean="0">
                <a:solidFill>
                  <a:srgbClr val="000000"/>
                </a:solidFill>
                <a:latin typeface="Times New Roman" panose="02020603050405020304" pitchFamily="18" charset="0"/>
                <a:cs typeface="Times New Roman" panose="02020603050405020304" pitchFamily="18" charset="0"/>
              </a:rPr>
              <a:t>&gt;</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effectLst/>
                <a:latin typeface="宋体" panose="02010600030101010101" pitchFamily="2"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&lt;&lt;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effectLst/>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180</a:t>
            </a:r>
            <a:r>
              <a:rPr lang="en-US" altLang="zh-CN" sz="2800" dirty="0">
                <a:solidFill>
                  <a:srgbClr val="000000"/>
                </a:solidFill>
                <a:effectLst/>
                <a:latin typeface="宋体" panose="02010600030101010101" pitchFamily="2" charset="-122"/>
                <a:ea typeface="方正书宋_GBK"/>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180</a:t>
            </a:r>
            <a:r>
              <a:rPr lang="en-US" altLang="zh-CN" sz="2800" dirty="0">
                <a:solidFill>
                  <a:srgbClr val="000000"/>
                </a:solidFill>
                <a:effectLst/>
                <a:latin typeface="宋体" panose="02010600030101010101" pitchFamily="2"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&gt;|.</a:t>
            </a:r>
            <a:endParaRPr lang="zh-CN" altLang="zh-CN" sz="2800" dirty="0">
              <a:solidFill>
                <a:srgbClr val="000000"/>
              </a:solidFill>
              <a:effectLst/>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异</a:t>
            </a:r>
            <a:r>
              <a:rPr lang="zh-CN" altLang="zh-CN" sz="2800" dirty="0">
                <a:solidFill>
                  <a:srgbClr val="000000"/>
                </a:solidFill>
                <a:latin typeface="Times New Roman" panose="02020603050405020304" pitchFamily="18" charset="0"/>
                <a:cs typeface="Times New Roman" panose="02020603050405020304" pitchFamily="18" charset="0"/>
              </a:rPr>
              <a:t>面直线所成的</a:t>
            </a:r>
            <a:r>
              <a:rPr lang="zh-CN" altLang="zh-CN" sz="2800" dirty="0" smtClean="0">
                <a:solidFill>
                  <a:srgbClr val="000000"/>
                </a:solidFill>
                <a:latin typeface="Times New Roman" panose="02020603050405020304" pitchFamily="18" charset="0"/>
                <a:cs typeface="Times New Roman" panose="02020603050405020304" pitchFamily="18" charset="0"/>
              </a:rPr>
              <a:t>角</a:t>
            </a:r>
            <a:r>
              <a:rPr lang="zh-CN" altLang="zh-CN" sz="2800" i="1" dirty="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若异面直线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所成的角为</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其方向向量分别是</a:t>
            </a:r>
            <a:r>
              <a:rPr lang="en-US" altLang="zh-CN" sz="2800" b="1" dirty="0" err="1">
                <a:solidFill>
                  <a:srgbClr val="000000"/>
                </a:solidFill>
                <a:latin typeface="Times New Roman" panose="02020603050405020304" pitchFamily="18" charset="0"/>
                <a:cs typeface="Times New Roman" panose="02020603050405020304" pitchFamily="18" charset="0"/>
              </a:rPr>
              <a:t>u</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v</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dirty="0" err="1">
                <a:solidFill>
                  <a:srgbClr val="FF0000"/>
                </a:solidFill>
                <a:uFill>
                  <a:solidFill>
                    <a:srgbClr val="000000"/>
                  </a:solidFill>
                </a:uFill>
                <a:latin typeface="Times New Roman" panose="02020603050405020304" pitchFamily="18" charset="0"/>
                <a:cs typeface="Times New Roman" panose="02020603050405020304" pitchFamily="18" charset="0"/>
              </a:rPr>
              <a:t>cos</a:t>
            </a:r>
            <a:r>
              <a:rPr lang="en-US" altLang="zh-CN" sz="2800" i="1" dirty="0">
                <a:solidFill>
                  <a:srgbClr val="FF0000"/>
                </a:solidFill>
                <a:uFill>
                  <a:solidFill>
                    <a:srgbClr val="000000"/>
                  </a:solidFill>
                </a:uFill>
                <a:latin typeface="Times New Roman" panose="02020603050405020304" pitchFamily="18" charset="0"/>
                <a:cs typeface="Times New Roman" panose="02020603050405020304" pitchFamily="18" charset="0"/>
              </a:rPr>
              <a:t>&lt;</a:t>
            </a:r>
            <a:r>
              <a:rPr lang="en-US" altLang="zh-CN" sz="2800" b="1" dirty="0" err="1">
                <a:solidFill>
                  <a:srgbClr val="FF0000"/>
                </a:solidFill>
                <a:uFill>
                  <a:solidFill>
                    <a:srgbClr val="000000"/>
                  </a:solidFill>
                </a:uFill>
                <a:latin typeface="Times New Roman" panose="02020603050405020304" pitchFamily="18" charset="0"/>
                <a:cs typeface="Times New Roman" panose="02020603050405020304" pitchFamily="18" charset="0"/>
              </a:rPr>
              <a:t>u</a:t>
            </a:r>
            <a:r>
              <a:rPr lang="en-US" altLang="zh-CN" sz="2800" dirty="0" err="1">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b="1" dirty="0" err="1">
                <a:solidFill>
                  <a:srgbClr val="FF0000"/>
                </a:solidFill>
                <a:uFill>
                  <a:solidFill>
                    <a:srgbClr val="000000"/>
                  </a:solidFill>
                </a:uFill>
                <a:latin typeface="Times New Roman" panose="02020603050405020304" pitchFamily="18" charset="0"/>
                <a:cs typeface="Times New Roman" panose="02020603050405020304" pitchFamily="18" charset="0"/>
              </a:rPr>
              <a:t>v</a:t>
            </a:r>
            <a:r>
              <a:rPr lang="en-US" altLang="zh-CN" sz="2800" i="1" dirty="0" smtClean="0">
                <a:solidFill>
                  <a:srgbClr val="FF0000"/>
                </a:solidFill>
                <a:uFill>
                  <a:solidFill>
                    <a:srgbClr val="000000"/>
                  </a:solidFill>
                </a:uFill>
                <a:latin typeface="Times New Roman" panose="02020603050405020304" pitchFamily="18" charset="0"/>
                <a:cs typeface="Times New Roman" panose="02020603050405020304" pitchFamily="18" charset="0"/>
              </a:rPr>
              <a:t>&gt;|</a:t>
            </a:r>
          </a:p>
          <a:p>
            <a:pPr>
              <a:lnSpc>
                <a:spcPct val="130000"/>
              </a:lnSpc>
              <a:spcAft>
                <a:spcPts val="0"/>
              </a:spcAft>
              <a:tabLst>
                <a:tab pos="1188085" algn="l"/>
                <a:tab pos="2163445" algn="l"/>
                <a:tab pos="3142615" algn="l"/>
                <a:tab pos="4190365" algn="l"/>
              </a:tabLst>
            </a:pPr>
            <a:endParaRPr lang="en-US" altLang="zh-CN" sz="2800" i="1" dirty="0">
              <a:solidFill>
                <a:srgbClr val="FF0000"/>
              </a:solidFill>
              <a:uFill>
                <a:solidFill>
                  <a:srgbClr val="000000"/>
                </a:solidFill>
              </a:u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68582052"/>
              </p:ext>
            </p:extLst>
          </p:nvPr>
        </p:nvGraphicFramePr>
        <p:xfrm>
          <a:off x="577660" y="4334137"/>
          <a:ext cx="1223962" cy="1000125"/>
        </p:xfrm>
        <a:graphic>
          <a:graphicData uri="http://schemas.openxmlformats.org/presentationml/2006/ole">
            <mc:AlternateContent xmlns:mc="http://schemas.openxmlformats.org/markup-compatibility/2006">
              <mc:Choice xmlns:v="urn:schemas-microsoft-com:vml" Requires="v">
                <p:oleObj spid="_x0000_s2069" name="文档" r:id="rId3" imgW="491233" imgH="396823" progId="Word.Document.12">
                  <p:embed/>
                </p:oleObj>
              </mc:Choice>
              <mc:Fallback>
                <p:oleObj name="文档" r:id="rId3" imgW="491233" imgH="396823" progId="Word.Document.12">
                  <p:embed/>
                  <p:pic>
                    <p:nvPicPr>
                      <p:cNvPr id="0" name=""/>
                      <p:cNvPicPr/>
                      <p:nvPr/>
                    </p:nvPicPr>
                    <p:blipFill>
                      <a:blip r:embed="rId4"/>
                      <a:stretch>
                        <a:fillRect/>
                      </a:stretch>
                    </p:blipFill>
                    <p:spPr>
                      <a:xfrm>
                        <a:off x="577660" y="4334137"/>
                        <a:ext cx="1223962" cy="1000125"/>
                      </a:xfrm>
                      <a:prstGeom prst="rect">
                        <a:avLst/>
                      </a:prstGeom>
                    </p:spPr>
                  </p:pic>
                </p:oleObj>
              </mc:Fallback>
            </mc:AlternateContent>
          </a:graphicData>
        </a:graphic>
      </p:graphicFrame>
      <p:sp>
        <p:nvSpPr>
          <p:cNvPr id="5" name="矩形 4"/>
          <p:cNvSpPr/>
          <p:nvPr/>
        </p:nvSpPr>
        <p:spPr>
          <a:xfrm>
            <a:off x="9847529" y="3470547"/>
            <a:ext cx="1759116"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9859169" y="3907507"/>
            <a:ext cx="1751725"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734702" y="4344528"/>
            <a:ext cx="834325" cy="91706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746342" y="5257122"/>
            <a:ext cx="830820"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806176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wipe(down)">
                                      <p:cBhvr>
                                        <p:cTn id="10" dur="500"/>
                                        <p:tgtEl>
                                          <p:spTgt spid="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xit" presetSubtype="4" fill="hold" grpId="0" nodeType="clickEffect">
                                  <p:stCondLst>
                                    <p:cond delay="0"/>
                                  </p:stCondLst>
                                  <p:childTnLst>
                                    <p:animEffect transition="out" filter="wipe(down)">
                                      <p:cBhvr>
                                        <p:cTn id="14" dur="500"/>
                                        <p:tgtEl>
                                          <p:spTgt spid="5"/>
                                        </p:tgtEl>
                                      </p:cBhvr>
                                    </p:animEffect>
                                    <p:set>
                                      <p:cBhvr>
                                        <p:cTn id="15" dur="1" fill="hold">
                                          <p:stCondLst>
                                            <p:cond delay="499"/>
                                          </p:stCondLst>
                                        </p:cTn>
                                        <p:tgtEl>
                                          <p:spTgt spid="5"/>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22" presetClass="exit" presetSubtype="4" fill="hold" grpId="0" nodeType="clickEffect">
                                  <p:stCondLst>
                                    <p:cond delay="0"/>
                                  </p:stCondLst>
                                  <p:childTnLst>
                                    <p:animEffect transition="out" filter="wipe(down)">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pSp>
        <p:nvGrpSpPr>
          <p:cNvPr id="8" name="组合 7"/>
          <p:cNvGrpSpPr/>
          <p:nvPr/>
        </p:nvGrpSpPr>
        <p:grpSpPr>
          <a:xfrm>
            <a:off x="76200" y="1027848"/>
            <a:ext cx="11545530" cy="3545777"/>
            <a:chOff x="76200" y="1557782"/>
            <a:chExt cx="11545530" cy="3545777"/>
          </a:xfrm>
        </p:grpSpPr>
        <p:sp>
          <p:nvSpPr>
            <p:cNvPr id="2" name="矩形 1"/>
            <p:cNvSpPr>
              <a:spLocks noChangeAspect="1"/>
            </p:cNvSpPr>
            <p:nvPr/>
          </p:nvSpPr>
          <p:spPr>
            <a:xfrm>
              <a:off x="381000" y="1678152"/>
              <a:ext cx="8177784" cy="1212640"/>
            </a:xfrm>
            <a:prstGeom prst="rect">
              <a:avLst/>
            </a:prstGeom>
          </p:spPr>
          <p:txBody>
            <a:bodyPr wrap="square">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如</a:t>
              </a:r>
              <a:r>
                <a:rPr lang="zh-CN" altLang="zh-CN" sz="2800" dirty="0">
                  <a:solidFill>
                    <a:srgbClr val="000000"/>
                  </a:solidFill>
                  <a:latin typeface="Times New Roman" panose="02020603050405020304" pitchFamily="18" charset="0"/>
                  <a:cs typeface="Times New Roman" panose="02020603050405020304" pitchFamily="18" charset="0"/>
                </a:rPr>
                <a:t>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在正四棱柱</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则异面直线</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所成角的余弦值为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275695545"/>
                </p:ext>
              </p:extLst>
            </p:nvPr>
          </p:nvGraphicFramePr>
          <p:xfrm>
            <a:off x="76200" y="2879287"/>
            <a:ext cx="11430000" cy="2005680"/>
          </p:xfrm>
          <a:graphic>
            <a:graphicData uri="http://schemas.openxmlformats.org/presentationml/2006/ole">
              <mc:AlternateContent xmlns:mc="http://schemas.openxmlformats.org/markup-compatibility/2006">
                <mc:Choice xmlns:v="urn:schemas-microsoft-com:vml" Requires="v">
                  <p:oleObj spid="_x0000_s3092"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76200" y="2879287"/>
                          <a:ext cx="11430000" cy="2005680"/>
                        </a:xfrm>
                        <a:prstGeom prst="rect">
                          <a:avLst/>
                        </a:prstGeom>
                      </p:spPr>
                    </p:pic>
                  </p:oleObj>
                </mc:Fallback>
              </mc:AlternateContent>
            </a:graphicData>
          </a:graphic>
        </p:graphicFrame>
        <p:pic>
          <p:nvPicPr>
            <p:cNvPr id="7" name="YMX1TRAX13.eps" descr="id:2147496558;FounderCES"/>
            <p:cNvPicPr/>
            <p:nvPr/>
          </p:nvPicPr>
          <p:blipFill>
            <a:blip r:embed="rId5">
              <a:clrChange>
                <a:clrFrom>
                  <a:srgbClr val="F3F3F3"/>
                </a:clrFrom>
                <a:clrTo>
                  <a:srgbClr val="F3F3F3">
                    <a:alpha val="0"/>
                  </a:srgbClr>
                </a:clrTo>
              </a:clrChange>
            </a:blip>
            <a:stretch>
              <a:fillRect/>
            </a:stretch>
          </p:blipFill>
          <p:spPr>
            <a:xfrm>
              <a:off x="8905375" y="1557782"/>
              <a:ext cx="2716355" cy="3545777"/>
            </a:xfrm>
            <a:prstGeom prst="rect">
              <a:avLst/>
            </a:prstGeom>
          </p:spPr>
        </p:pic>
      </p:grpSp>
    </p:spTree>
    <p:extLst>
      <p:ext uri="{BB962C8B-B14F-4D97-AF65-F5344CB8AC3E}">
        <p14:creationId xmlns:p14="http://schemas.microsoft.com/office/powerpoint/2010/main" val="1154933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96274"/>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为坐标原点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Dxyz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图略</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36651583"/>
              </p:ext>
            </p:extLst>
          </p:nvPr>
        </p:nvGraphicFramePr>
        <p:xfrm>
          <a:off x="73152" y="1809601"/>
          <a:ext cx="11430000" cy="3008976"/>
        </p:xfrm>
        <a:graphic>
          <a:graphicData uri="http://schemas.openxmlformats.org/presentationml/2006/ole">
            <mc:AlternateContent xmlns:mc="http://schemas.openxmlformats.org/markup-compatibility/2006">
              <mc:Choice xmlns:v="urn:schemas-microsoft-com:vml" Requires="v">
                <p:oleObj spid="_x0000_s4116" name="文档" r:id="rId3" imgW="4520786" imgH="1190108" progId="Word.Document.12">
                  <p:embed/>
                </p:oleObj>
              </mc:Choice>
              <mc:Fallback>
                <p:oleObj name="文档" r:id="rId3" imgW="4520786" imgH="1190108" progId="Word.Document.12">
                  <p:embed/>
                  <p:pic>
                    <p:nvPicPr>
                      <p:cNvPr id="0" name=""/>
                      <p:cNvPicPr/>
                      <p:nvPr/>
                    </p:nvPicPr>
                    <p:blipFill>
                      <a:blip r:embed="rId4"/>
                      <a:stretch>
                        <a:fillRect/>
                      </a:stretch>
                    </p:blipFill>
                    <p:spPr>
                      <a:xfrm>
                        <a:off x="73152" y="1809601"/>
                        <a:ext cx="11430000" cy="3008976"/>
                      </a:xfrm>
                      <a:prstGeom prst="rect">
                        <a:avLst/>
                      </a:prstGeom>
                    </p:spPr>
                  </p:pic>
                </p:oleObj>
              </mc:Fallback>
            </mc:AlternateContent>
          </a:graphicData>
        </a:graphic>
      </p:graphicFrame>
      <p:sp>
        <p:nvSpPr>
          <p:cNvPr id="4" name="矩形 3"/>
          <p:cNvSpPr>
            <a:spLocks noChangeAspect="1"/>
          </p:cNvSpPr>
          <p:nvPr/>
        </p:nvSpPr>
        <p:spPr>
          <a:xfrm>
            <a:off x="381000" y="4769809"/>
            <a:ext cx="1633781"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D </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28103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49521"/>
            <a:ext cx="11430000" cy="177279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二、直线与平面所成的角</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斜交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交点为</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怎样求直线</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smtClean="0">
                <a:solidFill>
                  <a:srgbClr val="000000"/>
                </a:solidFill>
                <a:latin typeface="Times New Roman" panose="02020603050405020304" pitchFamily="18" charset="0"/>
                <a:cs typeface="Times New Roman" panose="02020603050405020304" pitchFamily="18" charset="0"/>
              </a:rPr>
              <a:t>与</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所成的角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直线与平面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所成的角的范围是什么</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YMX1TRAX14.eps" descr="id:2147496565;FounderCES"/>
          <p:cNvPicPr/>
          <p:nvPr/>
        </p:nvPicPr>
        <p:blipFill>
          <a:blip r:embed="rId3">
            <a:clrChange>
              <a:clrFrom>
                <a:srgbClr val="F3F3F3"/>
              </a:clrFrom>
              <a:clrTo>
                <a:srgbClr val="F3F3F3">
                  <a:alpha val="0"/>
                </a:srgbClr>
              </a:clrTo>
            </a:clrChange>
          </a:blip>
          <a:stretch>
            <a:fillRect/>
          </a:stretch>
        </p:blipFill>
        <p:spPr>
          <a:xfrm>
            <a:off x="9188322" y="111411"/>
            <a:ext cx="2709867" cy="2113217"/>
          </a:xfrm>
          <a:prstGeom prst="rect">
            <a:avLst/>
          </a:prstGeom>
        </p:spPr>
      </p:pic>
      <p:grpSp>
        <p:nvGrpSpPr>
          <p:cNvPr id="7" name="组合 6"/>
          <p:cNvGrpSpPr/>
          <p:nvPr/>
        </p:nvGrpSpPr>
        <p:grpSpPr>
          <a:xfrm>
            <a:off x="381000" y="2224628"/>
            <a:ext cx="11430000" cy="3948067"/>
            <a:chOff x="381000" y="2547724"/>
            <a:chExt cx="11430000" cy="3948067"/>
          </a:xfrm>
        </p:grpSpPr>
        <p:graphicFrame>
          <p:nvGraphicFramePr>
            <p:cNvPr id="5" name="对象 4"/>
            <p:cNvGraphicFramePr>
              <a:graphicFrameLocks noChangeAspect="1"/>
            </p:cNvGraphicFramePr>
            <p:nvPr>
              <p:extLst>
                <p:ext uri="{D42A27DB-BD31-4B8C-83A1-F6EECF244321}">
                  <p14:modId xmlns:p14="http://schemas.microsoft.com/office/powerpoint/2010/main" val="1250694086"/>
                </p:ext>
              </p:extLst>
            </p:nvPr>
          </p:nvGraphicFramePr>
          <p:xfrm>
            <a:off x="381000" y="2547724"/>
            <a:ext cx="11430000" cy="1504488"/>
          </p:xfrm>
          <a:graphic>
            <a:graphicData uri="http://schemas.openxmlformats.org/presentationml/2006/ole">
              <mc:AlternateContent xmlns:mc="http://schemas.openxmlformats.org/markup-compatibility/2006">
                <mc:Choice xmlns:v="urn:schemas-microsoft-com:vml" Requires="v">
                  <p:oleObj spid="_x0000_s5140" name="文档" r:id="rId4" imgW="4520786" imgH="595054" progId="Word.Document.12">
                    <p:embed/>
                  </p:oleObj>
                </mc:Choice>
                <mc:Fallback>
                  <p:oleObj name="文档" r:id="rId4" imgW="4520786" imgH="595054" progId="Word.Document.12">
                    <p:embed/>
                    <p:pic>
                      <p:nvPicPr>
                        <p:cNvPr id="0" name=""/>
                        <p:cNvPicPr/>
                        <p:nvPr/>
                      </p:nvPicPr>
                      <p:blipFill>
                        <a:blip r:embed="rId5"/>
                        <a:stretch>
                          <a:fillRect/>
                        </a:stretch>
                      </p:blipFill>
                      <p:spPr>
                        <a:xfrm>
                          <a:off x="381000" y="2547724"/>
                          <a:ext cx="11430000" cy="1504488"/>
                        </a:xfrm>
                        <a:prstGeom prst="rect">
                          <a:avLst/>
                        </a:prstGeom>
                      </p:spPr>
                    </p:pic>
                  </p:oleObj>
                </mc:Fallback>
              </mc:AlternateContent>
            </a:graphicData>
          </a:graphic>
        </p:graphicFrame>
        <p:pic>
          <p:nvPicPr>
            <p:cNvPr id="6" name="YMX1TRAX15.eps" descr="id:2147496572;FounderCES"/>
            <p:cNvPicPr>
              <a:picLocks noChangeAspect="1"/>
            </p:cNvPicPr>
            <p:nvPr/>
          </p:nvPicPr>
          <p:blipFill>
            <a:blip r:embed="rId6">
              <a:clrChange>
                <a:clrFrom>
                  <a:srgbClr val="F3F3F3"/>
                </a:clrFrom>
                <a:clrTo>
                  <a:srgbClr val="F3F3F3">
                    <a:alpha val="0"/>
                  </a:srgbClr>
                </a:clrTo>
              </a:clrChange>
            </a:blip>
            <a:stretch>
              <a:fillRect/>
            </a:stretch>
          </p:blipFill>
          <p:spPr>
            <a:xfrm>
              <a:off x="4591062" y="4015636"/>
              <a:ext cx="3009876" cy="2480155"/>
            </a:xfrm>
            <a:prstGeom prst="rect">
              <a:avLst/>
            </a:prstGeom>
          </p:spPr>
        </p:pic>
      </p:grpSp>
    </p:spTree>
    <p:extLst>
      <p:ext uri="{BB962C8B-B14F-4D97-AF65-F5344CB8AC3E}">
        <p14:creationId xmlns:p14="http://schemas.microsoft.com/office/powerpoint/2010/main" val="4058719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357399"/>
            <a:ext cx="11430000" cy="5133713"/>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设直线</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cs typeface="Times New Roman" panose="02020603050405020304" pitchFamily="18" charset="0"/>
              </a:rPr>
              <a:t>的方向向量为</a:t>
            </a:r>
            <a:r>
              <a:rPr lang="en-US" altLang="zh-CN" sz="2800" b="1" dirty="0">
                <a:solidFill>
                  <a:srgbClr val="000000"/>
                </a:solidFill>
                <a:latin typeface="Times New Roman" panose="02020603050405020304" pitchFamily="18" charset="0"/>
                <a:cs typeface="Times New Roman" panose="02020603050405020304" pitchFamily="18" charset="0"/>
              </a:rPr>
              <a:t>u</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的法向量为</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所成的角为</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那么</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zh-CN" altLang="zh-CN" sz="2800" dirty="0">
                <a:solidFill>
                  <a:srgbClr val="000000"/>
                </a:solidFill>
                <a:latin typeface="Times New Roman" panose="02020603050405020304" pitchFamily="18" charset="0"/>
                <a:cs typeface="Times New Roman" panose="02020603050405020304" pitchFamily="18" charset="0"/>
              </a:rPr>
              <a:t>与向量的夹角</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u</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&gt;</a:t>
            </a:r>
            <a:r>
              <a:rPr lang="zh-CN" altLang="zh-CN" sz="2800" dirty="0">
                <a:solidFill>
                  <a:srgbClr val="000000"/>
                </a:solidFill>
                <a:latin typeface="Times New Roman" panose="02020603050405020304" pitchFamily="18" charset="0"/>
                <a:cs typeface="Times New Roman" panose="02020603050405020304" pitchFamily="18" charset="0"/>
              </a:rPr>
              <a:t>之间有什么关系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它们的三角函数值满足什么等式</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80670">
              <a:lnSpc>
                <a:spcPct val="130000"/>
              </a:lnSpc>
              <a:spcAft>
                <a:spcPts val="0"/>
              </a:spcAft>
              <a:tabLst>
                <a:tab pos="1188085" algn="l"/>
                <a:tab pos="2163445" algn="l"/>
                <a:tab pos="3142615" algn="l"/>
                <a:tab pos="4190365" algn="l"/>
              </a:tabLst>
            </a:pPr>
            <a:endParaRPr lang="en-US" altLang="zh-CN" sz="2800" dirty="0" smtClean="0">
              <a:solidFill>
                <a:srgbClr val="000000"/>
              </a:solidFill>
              <a:latin typeface="Times New Roman" panose="02020603050405020304" pitchFamily="18" charset="0"/>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endParaRPr lang="en-US" altLang="zh-CN" sz="2800" dirty="0">
              <a:solidFill>
                <a:srgbClr val="000000"/>
              </a:solidFill>
              <a:latin typeface="Times New Roman" panose="02020603050405020304" pitchFamily="18" charset="0"/>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endParaRPr lang="en-US" altLang="zh-CN" sz="2800" dirty="0" smtClean="0">
              <a:solidFill>
                <a:srgbClr val="000000"/>
              </a:solidFill>
              <a:latin typeface="Times New Roman" panose="02020603050405020304" pitchFamily="18" charset="0"/>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endParaRPr lang="en-US" altLang="zh-CN" sz="2800" dirty="0">
              <a:solidFill>
                <a:srgbClr val="000000"/>
              </a:solidFill>
              <a:latin typeface="Times New Roman" panose="02020603050405020304" pitchFamily="18" charset="0"/>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u</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sin</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u</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n</a:t>
            </a:r>
            <a:r>
              <a:rPr lang="en-US" altLang="zh-CN" sz="2800" i="1" dirty="0">
                <a:solidFill>
                  <a:srgbClr val="000000"/>
                </a:solidFill>
                <a:latin typeface="Times New Roman" panose="02020603050405020304" pitchFamily="18" charset="0"/>
                <a:cs typeface="Times New Roman" panose="02020603050405020304" pitchFamily="18" charset="0"/>
              </a:rPr>
              <a:t>&gt;|.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YMX1TRAX16.eps" descr="id:2147496579;FounderCES"/>
          <p:cNvPicPr>
            <a:picLocks noChangeAspect="1"/>
          </p:cNvPicPr>
          <p:nvPr/>
        </p:nvPicPr>
        <p:blipFill>
          <a:blip r:embed="rId2">
            <a:clrChange>
              <a:clrFrom>
                <a:srgbClr val="F3F3F3"/>
              </a:clrFrom>
              <a:clrTo>
                <a:srgbClr val="F3F3F3">
                  <a:alpha val="0"/>
                </a:srgbClr>
              </a:clrTo>
            </a:clrChange>
          </a:blip>
          <a:stretch>
            <a:fillRect/>
          </a:stretch>
        </p:blipFill>
        <p:spPr>
          <a:xfrm>
            <a:off x="3892621" y="1814056"/>
            <a:ext cx="4406759" cy="2762060"/>
          </a:xfrm>
          <a:prstGeom prst="rect">
            <a:avLst/>
          </a:prstGeom>
        </p:spPr>
      </p:pic>
    </p:spTree>
    <p:extLst>
      <p:ext uri="{BB962C8B-B14F-4D97-AF65-F5344CB8AC3E}">
        <p14:creationId xmlns:p14="http://schemas.microsoft.com/office/powerpoint/2010/main" val="2933648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wipe(down)">
                                      <p:cBhvr>
                                        <p:cTn id="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255771"/>
            <a:ext cx="11430000" cy="2332946"/>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直线</a:t>
            </a:r>
            <a:r>
              <a:rPr lang="zh-CN" altLang="zh-CN" sz="2800" dirty="0">
                <a:solidFill>
                  <a:srgbClr val="000000"/>
                </a:solidFill>
                <a:latin typeface="Times New Roman" panose="02020603050405020304" pitchFamily="18" charset="0"/>
                <a:cs typeface="Times New Roman" panose="02020603050405020304" pitchFamily="18" charset="0"/>
              </a:rPr>
              <a:t>与平面所成的角</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直线与平面相交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设直线与平面所成的角为</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直线的方向向量为</a:t>
            </a:r>
            <a:r>
              <a:rPr lang="en-US" altLang="zh-CN" sz="2800" b="1" dirty="0">
                <a:solidFill>
                  <a:srgbClr val="000000"/>
                </a:solidFill>
                <a:latin typeface="Times New Roman" panose="02020603050405020304" pitchFamily="18" charset="0"/>
                <a:cs typeface="Times New Roman" panose="02020603050405020304" pitchFamily="18" charset="0"/>
              </a:rPr>
              <a:t>u</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zh-CN" altLang="zh-CN" sz="2800" dirty="0" smtClean="0">
                <a:solidFill>
                  <a:srgbClr val="000000"/>
                </a:solidFill>
                <a:latin typeface="Times New Roman" panose="02020603050405020304" pitchFamily="18" charset="0"/>
                <a:cs typeface="Times New Roman" panose="02020603050405020304" pitchFamily="18" charset="0"/>
              </a:rPr>
              <a:t>的</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cs typeface="Times New Roman" panose="02020603050405020304" pitchFamily="18" charset="0"/>
              </a:rPr>
              <a:t>法</a:t>
            </a:r>
            <a:r>
              <a:rPr lang="zh-CN" altLang="zh-CN" sz="2800" dirty="0">
                <a:solidFill>
                  <a:srgbClr val="000000"/>
                </a:solidFill>
                <a:latin typeface="Times New Roman" panose="02020603050405020304" pitchFamily="18" charset="0"/>
                <a:cs typeface="Times New Roman" panose="02020603050405020304" pitchFamily="18" charset="0"/>
              </a:rPr>
              <a:t>向量为</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dirty="0">
                <a:solidFill>
                  <a:srgbClr val="000000"/>
                </a:solidFill>
                <a:latin typeface="Times New Roman" panose="02020603050405020304" pitchFamily="18" charset="0"/>
                <a:cs typeface="Times New Roman" panose="02020603050405020304" pitchFamily="18" charset="0"/>
              </a:rPr>
              <a:t>sin </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dirty="0" err="1">
                <a:solidFill>
                  <a:srgbClr val="FF0000"/>
                </a:solidFill>
                <a:uFill>
                  <a:solidFill>
                    <a:srgbClr val="000000"/>
                  </a:solidFill>
                </a:uFill>
                <a:latin typeface="Times New Roman" panose="02020603050405020304" pitchFamily="18" charset="0"/>
                <a:cs typeface="Times New Roman" panose="02020603050405020304" pitchFamily="18" charset="0"/>
              </a:rPr>
              <a:t>cos</a:t>
            </a:r>
            <a:r>
              <a:rPr lang="en-US" altLang="zh-CN" sz="2800" i="1" dirty="0">
                <a:solidFill>
                  <a:srgbClr val="FF0000"/>
                </a:solidFill>
                <a:uFill>
                  <a:solidFill>
                    <a:srgbClr val="000000"/>
                  </a:solidFill>
                </a:uFill>
                <a:latin typeface="Times New Roman" panose="02020603050405020304" pitchFamily="18" charset="0"/>
                <a:cs typeface="Times New Roman" panose="02020603050405020304" pitchFamily="18" charset="0"/>
              </a:rPr>
              <a:t>&lt;</a:t>
            </a:r>
            <a:r>
              <a:rPr lang="en-US" altLang="zh-CN" sz="2800" b="1" dirty="0" err="1">
                <a:solidFill>
                  <a:srgbClr val="FF0000"/>
                </a:solidFill>
                <a:uFill>
                  <a:solidFill>
                    <a:srgbClr val="000000"/>
                  </a:solidFill>
                </a:uFill>
                <a:latin typeface="Times New Roman" panose="02020603050405020304" pitchFamily="18" charset="0"/>
                <a:cs typeface="Times New Roman" panose="02020603050405020304" pitchFamily="18" charset="0"/>
              </a:rPr>
              <a:t>u</a:t>
            </a:r>
            <a:r>
              <a:rPr lang="en-US" altLang="zh-CN" sz="2800" dirty="0" err="1">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b="1" dirty="0" err="1">
                <a:solidFill>
                  <a:srgbClr val="FF0000"/>
                </a:solidFill>
                <a:uFill>
                  <a:solidFill>
                    <a:srgbClr val="000000"/>
                  </a:solidFill>
                </a:uFill>
                <a:latin typeface="Times New Roman" panose="02020603050405020304" pitchFamily="18" charset="0"/>
                <a:cs typeface="Times New Roman" panose="02020603050405020304" pitchFamily="18" charset="0"/>
              </a:rPr>
              <a:t>n</a:t>
            </a:r>
            <a:r>
              <a:rPr lang="en-US" altLang="zh-CN" sz="2800" i="1" dirty="0" smtClean="0">
                <a:solidFill>
                  <a:srgbClr val="FF0000"/>
                </a:solidFill>
                <a:uFill>
                  <a:solidFill>
                    <a:srgbClr val="000000"/>
                  </a:solidFill>
                </a:uFill>
                <a:latin typeface="Times New Roman" panose="02020603050405020304" pitchFamily="18" charset="0"/>
                <a:cs typeface="Times New Roman" panose="02020603050405020304" pitchFamily="18" charset="0"/>
              </a:rPr>
              <a:t>&gt;|</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011980414"/>
              </p:ext>
            </p:extLst>
          </p:nvPr>
        </p:nvGraphicFramePr>
        <p:xfrm>
          <a:off x="5302684" y="1820735"/>
          <a:ext cx="865909" cy="909205"/>
        </p:xfrm>
        <a:graphic>
          <a:graphicData uri="http://schemas.openxmlformats.org/presentationml/2006/ole">
            <mc:AlternateContent xmlns:mc="http://schemas.openxmlformats.org/markup-compatibility/2006">
              <mc:Choice xmlns:v="urn:schemas-microsoft-com:vml" Requires="v">
                <p:oleObj spid="_x0000_s6200" name="文档" r:id="rId3" imgW="383990" imgH="396823" progId="Word.Document.12">
                  <p:embed/>
                </p:oleObj>
              </mc:Choice>
              <mc:Fallback>
                <p:oleObj name="文档" r:id="rId3" imgW="383990" imgH="396823" progId="Word.Document.12">
                  <p:embed/>
                  <p:pic>
                    <p:nvPicPr>
                      <p:cNvPr id="0" name=""/>
                      <p:cNvPicPr/>
                      <p:nvPr/>
                    </p:nvPicPr>
                    <p:blipFill>
                      <a:blip r:embed="rId4"/>
                      <a:stretch>
                        <a:fillRect/>
                      </a:stretch>
                    </p:blipFill>
                    <p:spPr>
                      <a:xfrm>
                        <a:off x="5302684" y="1820735"/>
                        <a:ext cx="865909" cy="909205"/>
                      </a:xfrm>
                      <a:prstGeom prst="rect">
                        <a:avLst/>
                      </a:prstGeom>
                    </p:spPr>
                  </p:pic>
                </p:oleObj>
              </mc:Fallback>
            </mc:AlternateContent>
          </a:graphicData>
        </a:graphic>
      </p:graphicFrame>
      <p:sp>
        <p:nvSpPr>
          <p:cNvPr id="5" name="矩形 4"/>
          <p:cNvSpPr>
            <a:spLocks noChangeAspect="1"/>
          </p:cNvSpPr>
          <p:nvPr/>
        </p:nvSpPr>
        <p:spPr>
          <a:xfrm>
            <a:off x="381000" y="2790913"/>
            <a:ext cx="11430000" cy="289310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已知</a:t>
            </a:r>
            <a:r>
              <a:rPr lang="zh-CN" altLang="zh-CN" sz="2800" dirty="0">
                <a:solidFill>
                  <a:srgbClr val="000000"/>
                </a:solidFill>
                <a:latin typeface="Times New Roman" panose="02020603050405020304" pitchFamily="18" charset="0"/>
                <a:cs typeface="Times New Roman" panose="02020603050405020304" pitchFamily="18" charset="0"/>
              </a:rPr>
              <a:t>向量</a:t>
            </a:r>
            <a:r>
              <a:rPr lang="en-US" altLang="zh-CN" sz="2800" b="1" dirty="0" err="1">
                <a:solidFill>
                  <a:srgbClr val="000000"/>
                </a:solidFill>
                <a:latin typeface="Times New Roman" panose="02020603050405020304" pitchFamily="18" charset="0"/>
                <a:cs typeface="Times New Roman" panose="02020603050405020304" pitchFamily="18" charset="0"/>
              </a:rPr>
              <a:t>m</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分别是直线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的方向向量、平面</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的法向量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m</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n</a:t>
            </a:r>
            <a:r>
              <a:rPr lang="en-US" altLang="zh-CN" sz="2800" i="1" dirty="0" smtClean="0">
                <a:solidFill>
                  <a:srgbClr val="000000"/>
                </a:solidFill>
                <a:latin typeface="Times New Roman" panose="02020603050405020304" pitchFamily="18" charset="0"/>
                <a:cs typeface="Times New Roman" panose="02020603050405020304" pitchFamily="18" charset="0"/>
              </a:rPr>
              <a:t>&gt;= -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所成的角为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30</a:t>
            </a:r>
            <a:r>
              <a:rPr lang="en-US" altLang="zh-CN" sz="2800" dirty="0">
                <a:solidFill>
                  <a:srgbClr val="000000"/>
                </a:solidFill>
                <a:effectLst/>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	B.60</a:t>
            </a:r>
            <a:r>
              <a:rPr lang="en-US" altLang="zh-CN" sz="2800" dirty="0">
                <a:solidFill>
                  <a:srgbClr val="000000"/>
                </a:solidFill>
                <a:effectLst/>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	C</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150</a:t>
            </a:r>
            <a:r>
              <a:rPr lang="en-US" altLang="zh-CN" sz="2800" dirty="0">
                <a:solidFill>
                  <a:srgbClr val="000000"/>
                </a:solidFill>
                <a:effectLst/>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	D.120</a:t>
            </a:r>
            <a:r>
              <a:rPr lang="en-US" altLang="zh-CN" sz="2800" dirty="0">
                <a:solidFill>
                  <a:srgbClr val="000000"/>
                </a:solidFill>
                <a:effectLst/>
                <a:latin typeface="宋体" panose="02010600030101010101" pitchFamily="2" charset="-122"/>
                <a:ea typeface="方正书宋_GBK"/>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所成的角为</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dirty="0">
                <a:solidFill>
                  <a:srgbClr val="000000"/>
                </a:solidFill>
                <a:latin typeface="Times New Roman" panose="02020603050405020304" pitchFamily="18" charset="0"/>
                <a:cs typeface="Times New Roman" panose="02020603050405020304" pitchFamily="18" charset="0"/>
              </a:rPr>
              <a:t>sin</a:t>
            </a:r>
            <a:r>
              <a:rPr lang="en-US"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err="1">
                <a:solidFill>
                  <a:srgbClr val="000000"/>
                </a:solidFill>
                <a:latin typeface="Times New Roman" panose="02020603050405020304" pitchFamily="18" charset="0"/>
                <a:cs typeface="Times New Roman" panose="02020603050405020304" pitchFamily="18" charset="0"/>
              </a:rPr>
              <a:t>m</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b="1" dirty="0" err="1">
                <a:solidFill>
                  <a:srgbClr val="000000"/>
                </a:solidFill>
                <a:latin typeface="Times New Roman" panose="02020603050405020304" pitchFamily="18" charset="0"/>
                <a:cs typeface="Times New Roman" panose="02020603050405020304" pitchFamily="18" charset="0"/>
              </a:rPr>
              <a:t>n</a:t>
            </a:r>
            <a:r>
              <a:rPr lang="en-US" altLang="zh-CN" sz="2800" i="1" dirty="0" smtClean="0">
                <a:solidFill>
                  <a:srgbClr val="000000"/>
                </a:solidFill>
                <a:latin typeface="Times New Roman" panose="02020603050405020304" pitchFamily="18" charset="0"/>
                <a:cs typeface="Times New Roman" panose="02020603050405020304" pitchFamily="18" charset="0"/>
              </a:rPr>
              <a:t>&gt;|=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60</a:t>
            </a:r>
            <a:r>
              <a:rPr lang="en-US" altLang="zh-CN" sz="2800" dirty="0">
                <a:solidFill>
                  <a:srgbClr val="000000"/>
                </a:solidFill>
                <a:effectLst/>
                <a:latin typeface="宋体" panose="02010600030101010101" pitchFamily="2"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B</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4212180817"/>
              </p:ext>
            </p:extLst>
          </p:nvPr>
        </p:nvGraphicFramePr>
        <p:xfrm>
          <a:off x="580453" y="3330839"/>
          <a:ext cx="523708" cy="683099"/>
        </p:xfrm>
        <a:graphic>
          <a:graphicData uri="http://schemas.openxmlformats.org/presentationml/2006/ole">
            <mc:AlternateContent xmlns:mc="http://schemas.openxmlformats.org/markup-compatibility/2006">
              <mc:Choice xmlns:v="urn:schemas-microsoft-com:vml" Requires="v">
                <p:oleObj spid="_x0000_s6201" name="文档" r:id="rId5" imgW="310575" imgH="396823" progId="Word.Document.12">
                  <p:embed/>
                </p:oleObj>
              </mc:Choice>
              <mc:Fallback>
                <p:oleObj name="文档" r:id="rId5" imgW="310575" imgH="396823" progId="Word.Document.12">
                  <p:embed/>
                  <p:pic>
                    <p:nvPicPr>
                      <p:cNvPr id="0" name=""/>
                      <p:cNvPicPr/>
                      <p:nvPr/>
                    </p:nvPicPr>
                    <p:blipFill>
                      <a:blip r:embed="rId6"/>
                      <a:stretch>
                        <a:fillRect/>
                      </a:stretch>
                    </p:blipFill>
                    <p:spPr>
                      <a:xfrm>
                        <a:off x="580453" y="3330839"/>
                        <a:ext cx="523708" cy="683099"/>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347817302"/>
              </p:ext>
            </p:extLst>
          </p:nvPr>
        </p:nvGraphicFramePr>
        <p:xfrm>
          <a:off x="7831507" y="4440311"/>
          <a:ext cx="523708" cy="683099"/>
        </p:xfrm>
        <a:graphic>
          <a:graphicData uri="http://schemas.openxmlformats.org/presentationml/2006/ole">
            <mc:AlternateContent xmlns:mc="http://schemas.openxmlformats.org/markup-compatibility/2006">
              <mc:Choice xmlns:v="urn:schemas-microsoft-com:vml" Requires="v">
                <p:oleObj spid="_x0000_s6202" name="文档" r:id="rId7" imgW="310575" imgH="396823" progId="Word.Document.12">
                  <p:embed/>
                </p:oleObj>
              </mc:Choice>
              <mc:Fallback>
                <p:oleObj name="文档" r:id="rId7" imgW="310575" imgH="396823" progId="Word.Document.12">
                  <p:embed/>
                  <p:pic>
                    <p:nvPicPr>
                      <p:cNvPr id="0" name=""/>
                      <p:cNvPicPr/>
                      <p:nvPr/>
                    </p:nvPicPr>
                    <p:blipFill>
                      <a:blip r:embed="rId8"/>
                      <a:stretch>
                        <a:fillRect/>
                      </a:stretch>
                    </p:blipFill>
                    <p:spPr>
                      <a:xfrm>
                        <a:off x="7831507" y="4440311"/>
                        <a:ext cx="523708" cy="683099"/>
                      </a:xfrm>
                      <a:prstGeom prst="rect">
                        <a:avLst/>
                      </a:prstGeom>
                    </p:spPr>
                  </p:pic>
                </p:oleObj>
              </mc:Fallback>
            </mc:AlternateContent>
          </a:graphicData>
        </a:graphic>
      </p:graphicFrame>
      <p:sp>
        <p:nvSpPr>
          <p:cNvPr id="8" name="矩形 7"/>
          <p:cNvSpPr/>
          <p:nvPr/>
        </p:nvSpPr>
        <p:spPr>
          <a:xfrm>
            <a:off x="3457120" y="2012630"/>
            <a:ext cx="1624035"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3468760" y="2449590"/>
            <a:ext cx="1617212" cy="0"/>
          </a:xfrm>
          <a:prstGeom prst="line">
            <a:avLst/>
          </a:prstGeom>
        </p:spPr>
        <p:style>
          <a:lnRef idx="2">
            <a:schemeClr val="dk1"/>
          </a:lnRef>
          <a:fillRef idx="0">
            <a:schemeClr val="dk1"/>
          </a:fillRef>
          <a:effectRef idx="1">
            <a:schemeClr val="dk1"/>
          </a:effectRef>
          <a:fontRef idx="minor">
            <a:schemeClr val="tx1"/>
          </a:fontRef>
        </p:style>
      </p:cxnSp>
      <p:sp>
        <p:nvSpPr>
          <p:cNvPr id="10" name="矩形 9"/>
          <p:cNvSpPr/>
          <p:nvPr/>
        </p:nvSpPr>
        <p:spPr>
          <a:xfrm>
            <a:off x="5378361" y="1779171"/>
            <a:ext cx="782445" cy="9092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5390171" y="2683901"/>
            <a:ext cx="779158"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89150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10"/>
                                        </p:tgtEl>
                                      </p:cBhvr>
                                    </p:animEffect>
                                    <p:set>
                                      <p:cBhvr>
                                        <p:cTn id="12" dur="1" fill="hold">
                                          <p:stCondLst>
                                            <p:cond delay="499"/>
                                          </p:stCondLst>
                                        </p:cTn>
                                        <p:tgtEl>
                                          <p:spTgt spid="10"/>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down)">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Effect transition="in" filter="wipe(down)">
                                      <p:cBhvr>
                                        <p:cTn id="25"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385549"/>
            <a:ext cx="11430000" cy="233294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三、平面与平面所成的角</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怎样求二面角</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的平面角</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在棱</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上任取一点</a:t>
            </a:r>
            <a:r>
              <a:rPr lang="en-US" altLang="zh-CN" sz="2800" i="1" dirty="0">
                <a:solidFill>
                  <a:srgbClr val="000000"/>
                </a:solidFill>
                <a:latin typeface="Times New Roman" panose="02020603050405020304" pitchFamily="18" charset="0"/>
                <a:cs typeface="Times New Roman" panose="02020603050405020304" pitchFamily="18" charset="0"/>
              </a:rPr>
              <a:t>O</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以点</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为垂足</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在半平面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内作</a:t>
            </a:r>
            <a:r>
              <a:rPr lang="en-US" altLang="zh-CN" sz="2800" i="1" dirty="0">
                <a:solidFill>
                  <a:srgbClr val="000000"/>
                </a:solidFill>
                <a:latin typeface="Times New Roman" panose="02020603050405020304" pitchFamily="18" charset="0"/>
                <a:cs typeface="Times New Roman" panose="02020603050405020304" pitchFamily="18" charset="0"/>
              </a:rPr>
              <a:t>OA</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在半平面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内作</a:t>
            </a:r>
            <a:r>
              <a:rPr lang="en-US" altLang="zh-CN" sz="2800" i="1" dirty="0">
                <a:solidFill>
                  <a:srgbClr val="000000"/>
                </a:solidFill>
                <a:latin typeface="Times New Roman" panose="02020603050405020304" pitchFamily="18" charset="0"/>
                <a:cs typeface="Times New Roman" panose="02020603050405020304" pitchFamily="18" charset="0"/>
              </a:rPr>
              <a:t>OB</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AOB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叫做二面角</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的平面角</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范围是</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π</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YMX1TRAX17.eps" descr="id:2147496586;FounderCES"/>
          <p:cNvPicPr>
            <a:picLocks noChangeAspect="1"/>
          </p:cNvPicPr>
          <p:nvPr/>
        </p:nvPicPr>
        <p:blipFill>
          <a:blip r:embed="rId2">
            <a:clrChange>
              <a:clrFrom>
                <a:srgbClr val="F3F3F3"/>
              </a:clrFrom>
              <a:clrTo>
                <a:srgbClr val="F3F3F3">
                  <a:alpha val="0"/>
                </a:srgbClr>
              </a:clrTo>
            </a:clrChange>
          </a:blip>
          <a:stretch>
            <a:fillRect/>
          </a:stretch>
        </p:blipFill>
        <p:spPr>
          <a:xfrm>
            <a:off x="3508320" y="2941214"/>
            <a:ext cx="5175360" cy="2589259"/>
          </a:xfrm>
          <a:prstGeom prst="rect">
            <a:avLst/>
          </a:prstGeom>
        </p:spPr>
      </p:pic>
    </p:spTree>
    <p:extLst>
      <p:ext uri="{BB962C8B-B14F-4D97-AF65-F5344CB8AC3E}">
        <p14:creationId xmlns:p14="http://schemas.microsoft.com/office/powerpoint/2010/main" val="2186484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238543"/>
            <a:ext cx="11430000" cy="5693866"/>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的法向量分别是</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和</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的夹角为</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那么</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zh-CN" altLang="zh-CN" sz="2800" dirty="0">
                <a:solidFill>
                  <a:srgbClr val="000000"/>
                </a:solidFill>
                <a:latin typeface="Times New Roman" panose="02020603050405020304" pitchFamily="18" charset="0"/>
                <a:cs typeface="Times New Roman" panose="02020603050405020304" pitchFamily="18" charset="0"/>
              </a:rPr>
              <a:t>与向量的夹角</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&gt;</a:t>
            </a:r>
            <a:r>
              <a:rPr lang="zh-CN" altLang="zh-CN" sz="2800" dirty="0">
                <a:solidFill>
                  <a:srgbClr val="000000"/>
                </a:solidFill>
                <a:latin typeface="Times New Roman" panose="02020603050405020304" pitchFamily="18" charset="0"/>
                <a:cs typeface="Times New Roman" panose="02020603050405020304" pitchFamily="18" charset="0"/>
              </a:rPr>
              <a:t>之间有什么关系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它们的余弦值满足什么等式</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80670">
              <a:lnSpc>
                <a:spcPct val="130000"/>
              </a:lnSpc>
              <a:spcAft>
                <a:spcPts val="0"/>
              </a:spcAft>
              <a:tabLst>
                <a:tab pos="1188085" algn="l"/>
                <a:tab pos="2163445" algn="l"/>
                <a:tab pos="3142615" algn="l"/>
                <a:tab pos="4190365" algn="l"/>
              </a:tabLst>
            </a:pPr>
            <a:endParaRPr lang="en-US" altLang="zh-CN" sz="2800" dirty="0">
              <a:solidFill>
                <a:srgbClr val="000000"/>
              </a:solidFill>
              <a:latin typeface="Times New Roman" panose="02020603050405020304" pitchFamily="18" charset="0"/>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endParaRPr lang="en-US" altLang="zh-CN" sz="2800" dirty="0" smtClean="0">
              <a:solidFill>
                <a:srgbClr val="000000"/>
              </a:solidFill>
              <a:latin typeface="Times New Roman" panose="02020603050405020304" pitchFamily="18" charset="0"/>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endParaRPr lang="en-US" altLang="zh-CN" sz="2800" dirty="0">
              <a:solidFill>
                <a:srgbClr val="000000"/>
              </a:solidFill>
              <a:latin typeface="Times New Roman" panose="02020603050405020304" pitchFamily="18" charset="0"/>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endParaRPr lang="en-US" altLang="zh-CN" sz="2800" dirty="0" smtClean="0">
              <a:solidFill>
                <a:srgbClr val="000000"/>
              </a:solidFill>
              <a:latin typeface="Times New Roman" panose="02020603050405020304" pitchFamily="18" charset="0"/>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endParaRPr lang="en-US" altLang="zh-CN" sz="2800" dirty="0">
              <a:solidFill>
                <a:srgbClr val="000000"/>
              </a:solidFill>
              <a:latin typeface="Times New Roman" panose="02020603050405020304" pitchFamily="18" charset="0"/>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endParaRPr lang="en-US" altLang="zh-CN" sz="2800" dirty="0" smtClean="0">
              <a:solidFill>
                <a:srgbClr val="000000"/>
              </a:solidFill>
              <a:latin typeface="Times New Roman" panose="02020603050405020304" pitchFamily="18" charset="0"/>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180</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i="1" dirty="0" err="1">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&gt;|.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YMX1TRAX18.eps" descr="id:2147496593;FounderCES"/>
          <p:cNvPicPr>
            <a:picLocks noChangeAspect="1"/>
          </p:cNvPicPr>
          <p:nvPr/>
        </p:nvPicPr>
        <p:blipFill>
          <a:blip r:embed="rId2">
            <a:clrChange>
              <a:clrFrom>
                <a:srgbClr val="F3F3F3"/>
              </a:clrFrom>
              <a:clrTo>
                <a:srgbClr val="F3F3F3">
                  <a:alpha val="0"/>
                </a:srgbClr>
              </a:clrTo>
            </a:clrChange>
          </a:blip>
          <a:stretch>
            <a:fillRect/>
          </a:stretch>
        </p:blipFill>
        <p:spPr>
          <a:xfrm>
            <a:off x="4275025" y="1491736"/>
            <a:ext cx="3641950" cy="3607318"/>
          </a:xfrm>
          <a:prstGeom prst="rect">
            <a:avLst/>
          </a:prstGeom>
        </p:spPr>
      </p:pic>
    </p:spTree>
    <p:extLst>
      <p:ext uri="{BB962C8B-B14F-4D97-AF65-F5344CB8AC3E}">
        <p14:creationId xmlns:p14="http://schemas.microsoft.com/office/powerpoint/2010/main" val="4233265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animEffect transition="in" filter="wipe(down)">
                                      <p:cBhvr>
                                        <p:cTn id="7"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02541"/>
            <a:ext cx="11430000" cy="4013406"/>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平面</a:t>
            </a:r>
            <a:r>
              <a:rPr lang="zh-CN" altLang="zh-CN" sz="2800" dirty="0">
                <a:solidFill>
                  <a:srgbClr val="000000"/>
                </a:solidFill>
                <a:latin typeface="Times New Roman" panose="02020603050405020304" pitchFamily="18" charset="0"/>
                <a:cs typeface="Times New Roman" panose="02020603050405020304" pitchFamily="18" charset="0"/>
              </a:rPr>
              <a:t>与平面所成的角</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定义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相交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形成四个二面角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我们把这四个二面角中</a:t>
            </a:r>
            <a:r>
              <a:rPr lang="zh-CN" altLang="zh-CN" sz="2800" dirty="0">
                <a:solidFill>
                  <a:srgbClr val="FF0000"/>
                </a:solidFill>
                <a:uFill>
                  <a:solidFill>
                    <a:srgbClr val="000000"/>
                  </a:solidFill>
                </a:uFill>
                <a:latin typeface="Times New Roman" panose="02020603050405020304" pitchFamily="18" charset="0"/>
                <a:cs typeface="Times New Roman" panose="02020603050405020304" pitchFamily="18" charset="0"/>
              </a:rPr>
              <a:t>不大于</a:t>
            </a:r>
            <a:r>
              <a:rPr lang="en-US" altLang="zh-CN" sz="2800" dirty="0">
                <a:solidFill>
                  <a:srgbClr val="FF0000"/>
                </a:solidFill>
                <a:uFill>
                  <a:solidFill>
                    <a:srgbClr val="000000"/>
                  </a:solidFill>
                </a:uFill>
                <a:latin typeface="Times New Roman" panose="02020603050405020304" pitchFamily="18" charset="0"/>
                <a:cs typeface="Times New Roman" panose="02020603050405020304" pitchFamily="18" charset="0"/>
              </a:rPr>
              <a:t>90</a:t>
            </a:r>
            <a:r>
              <a:rPr lang="en-US" altLang="zh-CN" sz="2800" dirty="0">
                <a:solidFill>
                  <a:srgbClr val="FF0000"/>
                </a:solidFill>
                <a:effectLst/>
                <a:uFill>
                  <a:solidFill>
                    <a:srgbClr val="000000"/>
                  </a:solidFill>
                </a:uFill>
                <a:latin typeface="宋体" panose="02010600030101010101" pitchFamily="2" charset="-122"/>
                <a:ea typeface="方正书宋_GBK"/>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的二面角称为平面</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的夹角</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若平面</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的法向量分别是</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和</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则平面</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的夹角即为向量</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和</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的</a:t>
            </a:r>
            <a:r>
              <a:rPr lang="zh-CN" altLang="zh-CN" sz="2800" dirty="0">
                <a:solidFill>
                  <a:srgbClr val="FF0000"/>
                </a:solidFill>
                <a:uFill>
                  <a:solidFill>
                    <a:srgbClr val="000000"/>
                  </a:solidFill>
                </a:uFill>
                <a:latin typeface="Times New Roman" panose="02020603050405020304" pitchFamily="18" charset="0"/>
                <a:cs typeface="Times New Roman" panose="02020603050405020304" pitchFamily="18" charset="0"/>
              </a:rPr>
              <a:t>夹角</a:t>
            </a:r>
            <a:r>
              <a:rPr lang="zh-CN" altLang="zh-CN" sz="2800" dirty="0" smtClean="0">
                <a:solidFill>
                  <a:srgbClr val="000000"/>
                </a:solidFill>
                <a:latin typeface="Times New Roman" panose="02020603050405020304" pitchFamily="18" charset="0"/>
                <a:cs typeface="Times New Roman" panose="02020603050405020304" pitchFamily="18" charset="0"/>
              </a:rPr>
              <a:t>或</a:t>
            </a:r>
            <a:r>
              <a:rPr lang="zh-CN" altLang="zh-CN" sz="2800" dirty="0" smtClean="0">
                <a:solidFill>
                  <a:srgbClr val="FF0000"/>
                </a:solidFill>
                <a:uFill>
                  <a:solidFill>
                    <a:srgbClr val="000000"/>
                  </a:solidFill>
                </a:uFill>
                <a:latin typeface="Times New Roman" panose="02020603050405020304" pitchFamily="18" charset="0"/>
                <a:cs typeface="Times New Roman" panose="02020603050405020304" pitchFamily="18" charset="0"/>
              </a:rPr>
              <a:t>其</a:t>
            </a:r>
            <a:r>
              <a:rPr lang="zh-CN" altLang="zh-CN" sz="2800" dirty="0">
                <a:solidFill>
                  <a:srgbClr val="FF0000"/>
                </a:solidFill>
                <a:uFill>
                  <a:solidFill>
                    <a:srgbClr val="000000"/>
                  </a:solidFill>
                </a:uFill>
                <a:latin typeface="Times New Roman" panose="02020603050405020304" pitchFamily="18" charset="0"/>
                <a:cs typeface="Times New Roman" panose="02020603050405020304" pitchFamily="18" charset="0"/>
              </a:rPr>
              <a:t>补角</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设平面</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的夹角为</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dirty="0" err="1">
                <a:solidFill>
                  <a:srgbClr val="FF0000"/>
                </a:solidFill>
                <a:uFill>
                  <a:solidFill>
                    <a:srgbClr val="000000"/>
                  </a:solidFill>
                </a:uFill>
                <a:latin typeface="Times New Roman" panose="02020603050405020304" pitchFamily="18" charset="0"/>
                <a:cs typeface="Times New Roman" panose="02020603050405020304" pitchFamily="18" charset="0"/>
              </a:rPr>
              <a:t>cos</a:t>
            </a:r>
            <a:r>
              <a:rPr lang="en-US" altLang="zh-CN" sz="2800" i="1" dirty="0">
                <a:solidFill>
                  <a:srgbClr val="FF0000"/>
                </a:solidFill>
                <a:uFill>
                  <a:solidFill>
                    <a:srgbClr val="000000"/>
                  </a:solidFill>
                </a:uFill>
                <a:latin typeface="Times New Roman" panose="02020603050405020304" pitchFamily="18" charset="0"/>
                <a:cs typeface="Times New Roman" panose="02020603050405020304" pitchFamily="18" charset="0"/>
              </a:rPr>
              <a:t>&lt;</a:t>
            </a:r>
            <a:r>
              <a:rPr lang="en-US" altLang="zh-CN" sz="2800" b="1" dirty="0">
                <a:solidFill>
                  <a:srgbClr val="FF0000"/>
                </a:solidFill>
                <a:uFill>
                  <a:solidFill>
                    <a:srgbClr val="000000"/>
                  </a:solidFill>
                </a:uFill>
                <a:latin typeface="Times New Roman" panose="02020603050405020304" pitchFamily="18" charset="0"/>
                <a:cs typeface="Times New Roman" panose="02020603050405020304" pitchFamily="18" charset="0"/>
              </a:rPr>
              <a:t>n</a:t>
            </a:r>
            <a:r>
              <a:rPr lang="en-US" altLang="zh-CN" sz="2800" baseline="-25000" dirty="0">
                <a:solidFill>
                  <a:srgbClr val="FF0000"/>
                </a:solidFill>
                <a:uFill>
                  <a:solidFill>
                    <a:srgbClr val="000000"/>
                  </a:solidFill>
                </a:uFill>
                <a:latin typeface="Times New Roman" panose="02020603050405020304" pitchFamily="18" charset="0"/>
                <a:cs typeface="Times New Roman" panose="02020603050405020304" pitchFamily="18" charset="0"/>
              </a:rPr>
              <a:t>1</a:t>
            </a:r>
            <a:r>
              <a:rPr lang="en-US" altLang="zh-CN" sz="2800" dirty="0">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b="1" dirty="0">
                <a:solidFill>
                  <a:srgbClr val="FF0000"/>
                </a:solidFill>
                <a:uFill>
                  <a:solidFill>
                    <a:srgbClr val="000000"/>
                  </a:solidFill>
                </a:uFill>
                <a:latin typeface="Times New Roman" panose="02020603050405020304" pitchFamily="18" charset="0"/>
                <a:cs typeface="Times New Roman" panose="02020603050405020304" pitchFamily="18" charset="0"/>
              </a:rPr>
              <a:t>n</a:t>
            </a:r>
            <a:r>
              <a:rPr lang="en-US" altLang="zh-CN" sz="2800" baseline="-25000" dirty="0">
                <a:solidFill>
                  <a:srgbClr val="FF0000"/>
                </a:solidFill>
                <a:uFill>
                  <a:solidFill>
                    <a:srgbClr val="000000"/>
                  </a:solidFill>
                </a:uFill>
                <a:latin typeface="Times New Roman" panose="02020603050405020304" pitchFamily="18" charset="0"/>
                <a:cs typeface="Times New Roman" panose="02020603050405020304" pitchFamily="18" charset="0"/>
              </a:rPr>
              <a:t>2</a:t>
            </a:r>
            <a:r>
              <a:rPr lang="en-US" altLang="zh-CN" sz="2800" i="1" dirty="0" smtClean="0">
                <a:solidFill>
                  <a:srgbClr val="FF0000"/>
                </a:solidFill>
                <a:uFill>
                  <a:solidFill>
                    <a:srgbClr val="000000"/>
                  </a:solidFill>
                </a:uFill>
                <a:latin typeface="Times New Roman" panose="02020603050405020304" pitchFamily="18" charset="0"/>
                <a:cs typeface="Times New Roman" panose="02020603050405020304" pitchFamily="18" charset="0"/>
              </a:rPr>
              <a:t>&gt;| </a:t>
            </a:r>
          </a:p>
          <a:p>
            <a:pPr indent="279400">
              <a:lnSpc>
                <a:spcPct val="130000"/>
              </a:lnSpc>
              <a:spcAft>
                <a:spcPts val="0"/>
              </a:spcAft>
              <a:tabLst>
                <a:tab pos="1188085" algn="l"/>
                <a:tab pos="2163445" algn="l"/>
                <a:tab pos="3142615" algn="l"/>
                <a:tab pos="4190365" algn="l"/>
              </a:tabLst>
            </a:pPr>
            <a:endParaRPr lang="en-US" altLang="zh-CN" sz="2800" i="1" dirty="0">
              <a:solidFill>
                <a:srgbClr val="FF0000"/>
              </a:solidFill>
              <a:uFill>
                <a:solidFill>
                  <a:srgbClr val="000000"/>
                </a:solidFill>
              </a:u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987175239"/>
              </p:ext>
            </p:extLst>
          </p:nvPr>
        </p:nvGraphicFramePr>
        <p:xfrm>
          <a:off x="766356" y="3843503"/>
          <a:ext cx="1163119" cy="990223"/>
        </p:xfrm>
        <a:graphic>
          <a:graphicData uri="http://schemas.openxmlformats.org/presentationml/2006/ole">
            <mc:AlternateContent xmlns:mc="http://schemas.openxmlformats.org/markup-compatibility/2006">
              <mc:Choice xmlns:v="urn:schemas-microsoft-com:vml" Requires="v">
                <p:oleObj spid="_x0000_s7188" name="文档" r:id="rId3" imgW="472160" imgH="396823" progId="Word.Document.12">
                  <p:embed/>
                </p:oleObj>
              </mc:Choice>
              <mc:Fallback>
                <p:oleObj name="文档" r:id="rId3" imgW="472160" imgH="396823" progId="Word.Document.12">
                  <p:embed/>
                  <p:pic>
                    <p:nvPicPr>
                      <p:cNvPr id="0" name=""/>
                      <p:cNvPicPr/>
                      <p:nvPr/>
                    </p:nvPicPr>
                    <p:blipFill>
                      <a:blip r:embed="rId4"/>
                      <a:stretch>
                        <a:fillRect/>
                      </a:stretch>
                    </p:blipFill>
                    <p:spPr>
                      <a:xfrm>
                        <a:off x="766356" y="3843503"/>
                        <a:ext cx="1163119" cy="990223"/>
                      </a:xfrm>
                      <a:prstGeom prst="rect">
                        <a:avLst/>
                      </a:prstGeom>
                    </p:spPr>
                  </p:pic>
                </p:oleObj>
              </mc:Fallback>
            </mc:AlternateContent>
          </a:graphicData>
        </a:graphic>
      </p:graphicFrame>
      <p:sp>
        <p:nvSpPr>
          <p:cNvPr id="4" name="矩形 3"/>
          <p:cNvSpPr/>
          <p:nvPr/>
        </p:nvSpPr>
        <p:spPr>
          <a:xfrm>
            <a:off x="11032092" y="1320867"/>
            <a:ext cx="449863"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11043732" y="1757827"/>
            <a:ext cx="447973"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407988" y="1902757"/>
            <a:ext cx="1431203"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440410" y="2318935"/>
            <a:ext cx="1425190" cy="0"/>
          </a:xfrm>
          <a:prstGeom prst="line">
            <a:avLst/>
          </a:prstGeom>
        </p:spPr>
        <p:style>
          <a:lnRef idx="2">
            <a:schemeClr val="dk1"/>
          </a:lnRef>
          <a:fillRef idx="0">
            <a:schemeClr val="dk1"/>
          </a:fillRef>
          <a:effectRef idx="1">
            <a:schemeClr val="dk1"/>
          </a:effectRef>
          <a:fontRef idx="minor">
            <a:schemeClr val="tx1"/>
          </a:fontRef>
        </p:style>
      </p:cxnSp>
      <p:sp>
        <p:nvSpPr>
          <p:cNvPr id="10" name="矩形 9"/>
          <p:cNvSpPr/>
          <p:nvPr/>
        </p:nvSpPr>
        <p:spPr>
          <a:xfrm>
            <a:off x="1494706" y="3014585"/>
            <a:ext cx="70975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1506346" y="3430763"/>
            <a:ext cx="706769" cy="0"/>
          </a:xfrm>
          <a:prstGeom prst="line">
            <a:avLst/>
          </a:prstGeom>
        </p:spPr>
        <p:style>
          <a:lnRef idx="2">
            <a:schemeClr val="dk1"/>
          </a:lnRef>
          <a:fillRef idx="0">
            <a:schemeClr val="dk1"/>
          </a:fillRef>
          <a:effectRef idx="1">
            <a:schemeClr val="dk1"/>
          </a:effectRef>
          <a:fontRef idx="minor">
            <a:schemeClr val="tx1"/>
          </a:fontRef>
        </p:style>
      </p:cxnSp>
      <p:sp>
        <p:nvSpPr>
          <p:cNvPr id="14" name="矩形 13"/>
          <p:cNvSpPr/>
          <p:nvPr/>
        </p:nvSpPr>
        <p:spPr>
          <a:xfrm>
            <a:off x="2572522" y="3014585"/>
            <a:ext cx="102745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连接符 14"/>
          <p:cNvCxnSpPr/>
          <p:nvPr/>
        </p:nvCxnSpPr>
        <p:spPr>
          <a:xfrm>
            <a:off x="2584225" y="3430763"/>
            <a:ext cx="1023134" cy="0"/>
          </a:xfrm>
          <a:prstGeom prst="line">
            <a:avLst/>
          </a:prstGeom>
        </p:spPr>
        <p:style>
          <a:lnRef idx="2">
            <a:schemeClr val="dk1"/>
          </a:lnRef>
          <a:fillRef idx="0">
            <a:schemeClr val="dk1"/>
          </a:fillRef>
          <a:effectRef idx="1">
            <a:schemeClr val="dk1"/>
          </a:effectRef>
          <a:fontRef idx="minor">
            <a:schemeClr val="tx1"/>
          </a:fontRef>
        </p:style>
      </p:cxnSp>
      <p:sp>
        <p:nvSpPr>
          <p:cNvPr id="17" name="矩形 16"/>
          <p:cNvSpPr/>
          <p:nvPr/>
        </p:nvSpPr>
        <p:spPr>
          <a:xfrm>
            <a:off x="9253876" y="3024976"/>
            <a:ext cx="1999478"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9265579" y="3461936"/>
            <a:ext cx="1991077" cy="0"/>
          </a:xfrm>
          <a:prstGeom prst="line">
            <a:avLst/>
          </a:prstGeom>
        </p:spPr>
        <p:style>
          <a:lnRef idx="2">
            <a:schemeClr val="dk1"/>
          </a:lnRef>
          <a:fillRef idx="0">
            <a:schemeClr val="dk1"/>
          </a:fillRef>
          <a:effectRef idx="1">
            <a:schemeClr val="dk1"/>
          </a:effectRef>
          <a:fontRef idx="minor">
            <a:schemeClr val="tx1"/>
          </a:fontRef>
        </p:style>
      </p:cxnSp>
      <p:sp>
        <p:nvSpPr>
          <p:cNvPr id="20" name="矩形 19"/>
          <p:cNvSpPr/>
          <p:nvPr/>
        </p:nvSpPr>
        <p:spPr>
          <a:xfrm>
            <a:off x="735183" y="3758698"/>
            <a:ext cx="1194292" cy="1026530"/>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nvCxnSpPr>
        <p:spPr>
          <a:xfrm>
            <a:off x="746886" y="4780752"/>
            <a:ext cx="1189274"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973898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par>
                                <p:cTn id="8" presetID="22" presetClass="exit" presetSubtype="4" fill="hold" grpId="0" nodeType="withEffect">
                                  <p:stCondLst>
                                    <p:cond delay="0"/>
                                  </p:stCondLst>
                                  <p:childTnLst>
                                    <p:animEffect transition="out" filter="wipe(down)">
                                      <p:cBhvr>
                                        <p:cTn id="9" dur="500"/>
                                        <p:tgtEl>
                                          <p:spTgt spid="7"/>
                                        </p:tgtEl>
                                      </p:cBhvr>
                                    </p:animEffect>
                                    <p:set>
                                      <p:cBhvr>
                                        <p:cTn id="10" dur="1" fill="hold">
                                          <p:stCondLst>
                                            <p:cond delay="499"/>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22" presetClass="exit" presetSubtype="4" fill="hold" grpId="0" nodeType="clickEffect">
                                  <p:stCondLst>
                                    <p:cond delay="0"/>
                                  </p:stCondLst>
                                  <p:childTnLst>
                                    <p:animEffect transition="out" filter="wipe(down)">
                                      <p:cBhvr>
                                        <p:cTn id="14" dur="500"/>
                                        <p:tgtEl>
                                          <p:spTgt spid="10"/>
                                        </p:tgtEl>
                                      </p:cBhvr>
                                    </p:animEffect>
                                    <p:set>
                                      <p:cBhvr>
                                        <p:cTn id="15" dur="1" fill="hold">
                                          <p:stCondLst>
                                            <p:cond delay="499"/>
                                          </p:stCondLst>
                                        </p:cTn>
                                        <p:tgtEl>
                                          <p:spTgt spid="10"/>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22" presetClass="exit" presetSubtype="4" fill="hold" grpId="0" nodeType="clickEffect">
                                  <p:stCondLst>
                                    <p:cond delay="0"/>
                                  </p:stCondLst>
                                  <p:childTnLst>
                                    <p:animEffect transition="out" filter="wipe(down)">
                                      <p:cBhvr>
                                        <p:cTn id="19" dur="500"/>
                                        <p:tgtEl>
                                          <p:spTgt spid="14"/>
                                        </p:tgtEl>
                                      </p:cBhvr>
                                    </p:animEffect>
                                    <p:set>
                                      <p:cBhvr>
                                        <p:cTn id="20" dur="1" fill="hold">
                                          <p:stCondLst>
                                            <p:cond delay="499"/>
                                          </p:stCondLst>
                                        </p:cTn>
                                        <p:tgtEl>
                                          <p:spTgt spid="14"/>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2" presetClass="exit" presetSubtype="4" fill="hold" grpId="0" nodeType="clickEffect">
                                  <p:stCondLst>
                                    <p:cond delay="0"/>
                                  </p:stCondLst>
                                  <p:childTnLst>
                                    <p:animEffect transition="out" filter="wipe(down)">
                                      <p:cBhvr>
                                        <p:cTn id="24" dur="500"/>
                                        <p:tgtEl>
                                          <p:spTgt spid="17"/>
                                        </p:tgtEl>
                                      </p:cBhvr>
                                    </p:animEffect>
                                    <p:set>
                                      <p:cBhvr>
                                        <p:cTn id="25" dur="1" fill="hold">
                                          <p:stCondLst>
                                            <p:cond delay="499"/>
                                          </p:stCondLst>
                                        </p:cTn>
                                        <p:tgtEl>
                                          <p:spTgt spid="17"/>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2" presetClass="exit" presetSubtype="4" fill="hold" grpId="0" nodeType="clickEffect">
                                  <p:stCondLst>
                                    <p:cond delay="0"/>
                                  </p:stCondLst>
                                  <p:childTnLst>
                                    <p:animEffect transition="out" filter="wipe(down)">
                                      <p:cBhvr>
                                        <p:cTn id="29" dur="500"/>
                                        <p:tgtEl>
                                          <p:spTgt spid="20"/>
                                        </p:tgtEl>
                                      </p:cBhvr>
                                    </p:animEffect>
                                    <p:set>
                                      <p:cBhvr>
                                        <p:cTn id="30"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0" grpId="0" animBg="1"/>
      <p:bldP spid="14" grpId="0" animBg="1"/>
      <p:bldP spid="17" grpId="0" animBg="1"/>
      <p:bldP spid="2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1772793"/>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的法向量为</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的法向量为</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1,1),</a:t>
            </a:r>
            <a:r>
              <a:rPr lang="zh-CN" altLang="zh-CN" sz="2800" dirty="0">
                <a:solidFill>
                  <a:srgbClr val="000000"/>
                </a:solidFill>
                <a:latin typeface="Times New Roman" panose="02020603050405020304" pitchFamily="18" charset="0"/>
                <a:cs typeface="Times New Roman" panose="02020603050405020304" pitchFamily="18" charset="0"/>
              </a:rPr>
              <a:t>则平面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的夹角为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b="1" dirty="0">
                <a:solidFill>
                  <a:srgbClr val="000000"/>
                </a:solidFill>
                <a:latin typeface="Times New Roman" panose="02020603050405020304" pitchFamily="18" charset="0"/>
                <a:cs typeface="Times New Roman" panose="02020603050405020304" pitchFamily="18" charset="0"/>
              </a:rPr>
              <a:t>u</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1" dirty="0">
                <a:solidFill>
                  <a:srgbClr val="000000"/>
                </a:solidFill>
                <a:latin typeface="Times New Roman" panose="02020603050405020304" pitchFamily="18" charset="0"/>
                <a:cs typeface="Times New Roman" panose="02020603050405020304" pitchFamily="18" charset="0"/>
              </a:rPr>
              <a:t>v</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1,1),</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的夹角为</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8853452"/>
              </p:ext>
            </p:extLst>
          </p:nvPr>
        </p:nvGraphicFramePr>
        <p:xfrm>
          <a:off x="51816" y="2944207"/>
          <a:ext cx="11430000" cy="1003297"/>
        </p:xfrm>
        <a:graphic>
          <a:graphicData uri="http://schemas.openxmlformats.org/presentationml/2006/ole">
            <mc:AlternateContent xmlns:mc="http://schemas.openxmlformats.org/markup-compatibility/2006">
              <mc:Choice xmlns:v="urn:schemas-microsoft-com:vml" Requires="v">
                <p:oleObj spid="_x0000_s8230"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51816" y="2944207"/>
                        <a:ext cx="11430000" cy="1003297"/>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026453872"/>
              </p:ext>
            </p:extLst>
          </p:nvPr>
        </p:nvGraphicFramePr>
        <p:xfrm>
          <a:off x="51816" y="3790511"/>
          <a:ext cx="11430000" cy="1003297"/>
        </p:xfrm>
        <a:graphic>
          <a:graphicData uri="http://schemas.openxmlformats.org/presentationml/2006/ole">
            <mc:AlternateContent xmlns:mc="http://schemas.openxmlformats.org/markup-compatibility/2006">
              <mc:Choice xmlns:v="urn:schemas-microsoft-com:vml" Requires="v">
                <p:oleObj spid="_x0000_s8231"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51816" y="3790511"/>
                        <a:ext cx="11430000" cy="1003297"/>
                      </a:xfrm>
                      <a:prstGeom prst="rect">
                        <a:avLst/>
                      </a:prstGeom>
                    </p:spPr>
                  </p:pic>
                </p:oleObj>
              </mc:Fallback>
            </mc:AlternateContent>
          </a:graphicData>
        </a:graphic>
      </p:graphicFrame>
    </p:spTree>
    <p:extLst>
      <p:ext uri="{BB962C8B-B14F-4D97-AF65-F5344CB8AC3E}">
        <p14:creationId xmlns:p14="http://schemas.microsoft.com/office/powerpoint/2010/main" val="37028273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376403"/>
            <a:ext cx="11430000" cy="50734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dirty="0">
                <a:solidFill>
                  <a:srgbClr val="000000"/>
                </a:solidFill>
                <a:latin typeface="NEU-BZ-S92"/>
                <a:ea typeface="Arial" panose="020B0604020202020204" pitchFamily="34" charset="0"/>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错误的画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两条异面直线所成的角与这两条直线的方向向量所成的角相等或互补</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的方向向量与平面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的法向量的夹角的余角就是直线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所成的角</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的夹角的大小就等于这两个平面形成的二面角</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的大小</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的夹角为</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法向量分别为</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&gt;.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3" name="矩形 2"/>
          <p:cNvSpPr/>
          <p:nvPr/>
        </p:nvSpPr>
        <p:spPr>
          <a:xfrm>
            <a:off x="1101349" y="2113064"/>
            <a:ext cx="391978" cy="587551"/>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858321" y="3230817"/>
            <a:ext cx="491587"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493327" y="4350721"/>
            <a:ext cx="491587"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0221691" y="4915706"/>
            <a:ext cx="491587" cy="534137"/>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343651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求异面直线所成的角</a:t>
                </a:r>
              </a:p>
            </p:txBody>
          </p:sp>
        </p:grpSp>
      </p:grpSp>
      <p:graphicFrame>
        <p:nvGraphicFramePr>
          <p:cNvPr id="4" name="对象 3"/>
          <p:cNvGraphicFramePr>
            <a:graphicFrameLocks noChangeAspect="1"/>
          </p:cNvGraphicFramePr>
          <p:nvPr>
            <p:extLst>
              <p:ext uri="{D42A27DB-BD31-4B8C-83A1-F6EECF244321}">
                <p14:modId xmlns:p14="http://schemas.microsoft.com/office/powerpoint/2010/main" val="642727129"/>
              </p:ext>
            </p:extLst>
          </p:nvPr>
        </p:nvGraphicFramePr>
        <p:xfrm>
          <a:off x="381000" y="4072578"/>
          <a:ext cx="11430000" cy="1504488"/>
        </p:xfrm>
        <a:graphic>
          <a:graphicData uri="http://schemas.openxmlformats.org/presentationml/2006/ole">
            <mc:AlternateContent xmlns:mc="http://schemas.openxmlformats.org/markup-compatibility/2006">
              <mc:Choice xmlns:v="urn:schemas-microsoft-com:vml" Requires="v">
                <p:oleObj spid="_x0000_s9252" name="文档" r:id="rId3" imgW="4520786" imgH="595054" progId="Word.Document.12">
                  <p:embed/>
                </p:oleObj>
              </mc:Choice>
              <mc:Fallback>
                <p:oleObj name="文档" r:id="rId3" imgW="4520786" imgH="595054" progId="Word.Document.12">
                  <p:embed/>
                  <p:pic>
                    <p:nvPicPr>
                      <p:cNvPr id="0" name=""/>
                      <p:cNvPicPr/>
                      <p:nvPr/>
                    </p:nvPicPr>
                    <p:blipFill>
                      <a:blip r:embed="rId4"/>
                      <a:stretch>
                        <a:fillRect/>
                      </a:stretch>
                    </p:blipFill>
                    <p:spPr>
                      <a:xfrm>
                        <a:off x="381000" y="4072578"/>
                        <a:ext cx="11430000" cy="1504488"/>
                      </a:xfrm>
                      <a:prstGeom prst="rect">
                        <a:avLst/>
                      </a:prstGeom>
                    </p:spPr>
                  </p:pic>
                </p:oleObj>
              </mc:Fallback>
            </mc:AlternateContent>
          </a:graphicData>
        </a:graphic>
      </p:graphicFrame>
      <p:grpSp>
        <p:nvGrpSpPr>
          <p:cNvPr id="5" name="组合 4"/>
          <p:cNvGrpSpPr/>
          <p:nvPr/>
        </p:nvGrpSpPr>
        <p:grpSpPr>
          <a:xfrm>
            <a:off x="381000" y="891141"/>
            <a:ext cx="11539728" cy="3193629"/>
            <a:chOff x="381000" y="1026224"/>
            <a:chExt cx="11539728" cy="3193629"/>
          </a:xfrm>
        </p:grpSpPr>
        <p:sp>
          <p:nvSpPr>
            <p:cNvPr id="2" name="矩形 1"/>
            <p:cNvSpPr>
              <a:spLocks noChangeAspect="1"/>
            </p:cNvSpPr>
            <p:nvPr/>
          </p:nvSpPr>
          <p:spPr>
            <a:xfrm>
              <a:off x="381000" y="1026224"/>
              <a:ext cx="8099933" cy="2332946"/>
            </a:xfrm>
            <a:prstGeom prst="rect">
              <a:avLst/>
            </a:prstGeom>
          </p:spPr>
          <p:txBody>
            <a:bodyPr wrap="squar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如</a:t>
              </a:r>
              <a:r>
                <a:rPr lang="zh-CN" altLang="zh-CN" sz="2800" dirty="0">
                  <a:solidFill>
                    <a:srgbClr val="000000"/>
                  </a:solidFill>
                  <a:latin typeface="Times New Roman" panose="02020603050405020304" pitchFamily="18" charset="0"/>
                  <a:cs typeface="Times New Roman" panose="02020603050405020304" pitchFamily="18" charset="0"/>
                </a:rPr>
                <a:t>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在三棱锥</a:t>
              </a:r>
              <a:r>
                <a:rPr lang="en-US" altLang="zh-CN" sz="2800" i="1" dirty="0">
                  <a:solidFill>
                    <a:srgbClr val="000000"/>
                  </a:solidFill>
                  <a:latin typeface="Times New Roman" panose="02020603050405020304" pitchFamily="18" charset="0"/>
                  <a:cs typeface="Times New Roman" panose="02020603050405020304" pitchFamily="18" charset="0"/>
                </a:rPr>
                <a:t>V-ABC</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顶点</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在空间直角坐标系的原点处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顶点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V</a:t>
              </a:r>
              <a:r>
                <a:rPr lang="zh-CN" altLang="zh-CN" sz="2800" dirty="0">
                  <a:solidFill>
                    <a:srgbClr val="000000"/>
                  </a:solidFill>
                  <a:latin typeface="Times New Roman" panose="02020603050405020304" pitchFamily="18" charset="0"/>
                  <a:cs typeface="Times New Roman" panose="02020603050405020304" pitchFamily="18" charset="0"/>
                </a:rPr>
                <a:t>分别在</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cs typeface="Times New Roman" panose="02020603050405020304" pitchFamily="18" charset="0"/>
                </a:rPr>
                <a:t>轴上</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zh-CN" altLang="zh-CN" sz="2800" dirty="0">
                  <a:solidFill>
                    <a:srgbClr val="000000"/>
                  </a:solidFill>
                  <a:latin typeface="Times New Roman" panose="02020603050405020304" pitchFamily="18" charset="0"/>
                  <a:cs typeface="Times New Roman" panose="02020603050405020304" pitchFamily="18" charset="0"/>
                </a:rPr>
                <a:t>是线段</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AC=BC=</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VDC</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当</a:t>
              </a:r>
              <a:r>
                <a:rPr lang="en-US" altLang="zh-CN" sz="2800" i="1" dirty="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求异面直线</a:t>
              </a:r>
              <a:r>
                <a:rPr lang="en-US" altLang="zh-CN" sz="2800" i="1" dirty="0">
                  <a:solidFill>
                    <a:srgbClr val="000000"/>
                  </a:solidFill>
                  <a:latin typeface="Times New Roman" panose="02020603050405020304" pitchFamily="18" charset="0"/>
                  <a:cs typeface="Times New Roman" panose="02020603050405020304" pitchFamily="18" charset="0"/>
                </a:rPr>
                <a:t>AC</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VD</a:t>
              </a:r>
              <a:r>
                <a:rPr lang="zh-CN" altLang="zh-CN" sz="2800" dirty="0">
                  <a:solidFill>
                    <a:srgbClr val="000000"/>
                  </a:solidFill>
                  <a:latin typeface="Times New Roman" panose="02020603050405020304" pitchFamily="18" charset="0"/>
                  <a:cs typeface="Times New Roman" panose="02020603050405020304" pitchFamily="18" charset="0"/>
                </a:rPr>
                <a:t>所成角的余弦值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46376601"/>
                </p:ext>
              </p:extLst>
            </p:nvPr>
          </p:nvGraphicFramePr>
          <p:xfrm>
            <a:off x="8146863" y="2076659"/>
            <a:ext cx="572025" cy="826550"/>
          </p:xfrm>
          <a:graphic>
            <a:graphicData uri="http://schemas.openxmlformats.org/presentationml/2006/ole">
              <mc:AlternateContent xmlns:mc="http://schemas.openxmlformats.org/markup-compatibility/2006">
                <mc:Choice xmlns:v="urn:schemas-microsoft-com:vml" Requires="v">
                  <p:oleObj spid="_x0000_s9253" name="文档" r:id="rId5" imgW="281065" imgH="396823" progId="Word.Document.12">
                    <p:embed/>
                  </p:oleObj>
                </mc:Choice>
                <mc:Fallback>
                  <p:oleObj name="文档" r:id="rId5" imgW="281065" imgH="396823" progId="Word.Document.12">
                    <p:embed/>
                    <p:pic>
                      <p:nvPicPr>
                        <p:cNvPr id="0" name=""/>
                        <p:cNvPicPr/>
                        <p:nvPr/>
                      </p:nvPicPr>
                      <p:blipFill>
                        <a:blip r:embed="rId6"/>
                        <a:stretch>
                          <a:fillRect/>
                        </a:stretch>
                      </p:blipFill>
                      <p:spPr>
                        <a:xfrm>
                          <a:off x="8146863" y="2076659"/>
                          <a:ext cx="572025" cy="826550"/>
                        </a:xfrm>
                        <a:prstGeom prst="rect">
                          <a:avLst/>
                        </a:prstGeom>
                      </p:spPr>
                    </p:pic>
                  </p:oleObj>
                </mc:Fallback>
              </mc:AlternateContent>
            </a:graphicData>
          </a:graphic>
        </p:graphicFrame>
        <p:pic>
          <p:nvPicPr>
            <p:cNvPr id="10" name="YMX1TRAX19.eps" descr="id:2147496614;FounderCES"/>
            <p:cNvPicPr/>
            <p:nvPr/>
          </p:nvPicPr>
          <p:blipFill>
            <a:blip r:embed="rId7">
              <a:clrChange>
                <a:clrFrom>
                  <a:srgbClr val="F3F3F3"/>
                </a:clrFrom>
                <a:clrTo>
                  <a:srgbClr val="F3F3F3">
                    <a:alpha val="0"/>
                  </a:srgbClr>
                </a:clrTo>
              </a:clrChange>
            </a:blip>
            <a:stretch>
              <a:fillRect/>
            </a:stretch>
          </p:blipFill>
          <p:spPr>
            <a:xfrm>
              <a:off x="8828616" y="1026224"/>
              <a:ext cx="3092112" cy="3193629"/>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902550221"/>
              </p:ext>
            </p:extLst>
          </p:nvPr>
        </p:nvGraphicFramePr>
        <p:xfrm>
          <a:off x="67065" y="615469"/>
          <a:ext cx="11301965" cy="4462905"/>
        </p:xfrm>
        <a:graphic>
          <a:graphicData uri="http://schemas.openxmlformats.org/presentationml/2006/ole">
            <mc:AlternateContent xmlns:mc="http://schemas.openxmlformats.org/markup-compatibility/2006">
              <mc:Choice xmlns:v="urn:schemas-microsoft-com:vml" Requires="v">
                <p:oleObj spid="_x0000_s10259" name="文档" r:id="rId3" imgW="4520786" imgH="1785162" progId="Word.Document.12">
                  <p:embed/>
                </p:oleObj>
              </mc:Choice>
              <mc:Fallback>
                <p:oleObj name="文档" r:id="rId3" imgW="4520786" imgH="1785162" progId="Word.Document.12">
                  <p:embed/>
                  <p:pic>
                    <p:nvPicPr>
                      <p:cNvPr id="0" name=""/>
                      <p:cNvPicPr/>
                      <p:nvPr/>
                    </p:nvPicPr>
                    <p:blipFill>
                      <a:blip r:embed="rId4"/>
                      <a:stretch>
                        <a:fillRect/>
                      </a:stretch>
                    </p:blipFill>
                    <p:spPr>
                      <a:xfrm>
                        <a:off x="67065" y="615469"/>
                        <a:ext cx="11301965" cy="4462905"/>
                      </a:xfrm>
                      <a:prstGeom prst="rect">
                        <a:avLst/>
                      </a:prstGeom>
                    </p:spPr>
                  </p:pic>
                </p:oleObj>
              </mc:Fallback>
            </mc:AlternateContent>
          </a:graphicData>
        </a:graphic>
      </p:graphicFrame>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41986"/>
            <a:ext cx="11430000" cy="6254020"/>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异面直线所成角的方法</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几何法</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作图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选择</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特殊点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作异面直线的平行线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作出所求角</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证明</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证明所作角符合定义</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③</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计算</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解三角形求解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坐标法</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建系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找坐标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求出两条异面直线的方向向量的坐标</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③</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求夹角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利用向量夹角的公式计算两直线方向向量的夹角</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④</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下结论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结合异面直线所成角的范围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得到异面直线所成的角</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提醒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两条异面直线所成角的取值范围</a:t>
            </a:r>
            <a:r>
              <a:rPr lang="zh-CN" altLang="zh-CN" sz="2800" dirty="0" smtClean="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是</a:t>
            </a:r>
            <a:r>
              <a:rPr lang="en-US" altLang="zh-CN" sz="2800" dirty="0" smtClean="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272708496"/>
              </p:ext>
            </p:extLst>
          </p:nvPr>
        </p:nvGraphicFramePr>
        <p:xfrm>
          <a:off x="6563932" y="5576507"/>
          <a:ext cx="1619250" cy="1000125"/>
        </p:xfrm>
        <a:graphic>
          <a:graphicData uri="http://schemas.openxmlformats.org/presentationml/2006/ole">
            <mc:AlternateContent xmlns:mc="http://schemas.openxmlformats.org/markup-compatibility/2006">
              <mc:Choice xmlns:v="urn:schemas-microsoft-com:vml" Requires="v">
                <p:oleObj spid="_x0000_s11283" name="文档" r:id="rId3" imgW="648140" imgH="396823" progId="Word.Document.12">
                  <p:embed/>
                </p:oleObj>
              </mc:Choice>
              <mc:Fallback>
                <p:oleObj name="文档" r:id="rId3" imgW="648140" imgH="396823" progId="Word.Document.12">
                  <p:embed/>
                  <p:pic>
                    <p:nvPicPr>
                      <p:cNvPr id="0" name=""/>
                      <p:cNvPicPr/>
                      <p:nvPr/>
                    </p:nvPicPr>
                    <p:blipFill>
                      <a:blip r:embed="rId4"/>
                      <a:stretch>
                        <a:fillRect/>
                      </a:stretch>
                    </p:blipFill>
                    <p:spPr>
                      <a:xfrm>
                        <a:off x="6563932" y="5576507"/>
                        <a:ext cx="1619250" cy="1000125"/>
                      </a:xfrm>
                      <a:prstGeom prst="rect">
                        <a:avLst/>
                      </a:prstGeom>
                    </p:spPr>
                  </p:pic>
                </p:oleObj>
              </mc:Fallback>
            </mc:AlternateContent>
          </a:graphicData>
        </a:graphic>
      </p:graphicFrame>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374517"/>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a:t>
            </a:r>
            <a:r>
              <a:rPr lang="zh-CN" altLang="zh-CN" sz="2800" dirty="0" smtClean="0">
                <a:solidFill>
                  <a:srgbClr val="000000"/>
                </a:solidFill>
                <a:latin typeface="Times New Roman" panose="02020603050405020304" pitchFamily="18" charset="0"/>
                <a:cs typeface="Times New Roman" panose="02020603050405020304" pitchFamily="18" charset="0"/>
              </a:rPr>
              <a:t>图</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en-US" sz="2800" dirty="0">
                <a:solidFill>
                  <a:srgbClr val="000000"/>
                </a:solidFill>
                <a:latin typeface="Times New Roman" panose="02020603050405020304" pitchFamily="18" charset="0"/>
                <a:cs typeface="Times New Roman" panose="02020603050405020304" pitchFamily="18" charset="0"/>
              </a:rPr>
              <a:t>已知</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B</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C</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-ABC</a:t>
            </a:r>
            <a:r>
              <a:rPr lang="zh-CN" altLang="zh-CN" sz="2800" dirty="0">
                <a:solidFill>
                  <a:srgbClr val="000000"/>
                </a:solidFill>
                <a:latin typeface="Times New Roman" panose="02020603050405020304" pitchFamily="18" charset="0"/>
                <a:cs typeface="Times New Roman" panose="02020603050405020304" pitchFamily="18" charset="0"/>
              </a:rPr>
              <a:t>是直三棱柱</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ACB=</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点</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分别是</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BC=CA=CC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i="1" dirty="0">
                <a:solidFill>
                  <a:srgbClr val="000000"/>
                </a:solidFill>
                <a:latin typeface="Times New Roman" panose="02020603050405020304" pitchFamily="18" charset="0"/>
                <a:cs typeface="Times New Roman" panose="02020603050405020304" pitchFamily="18" charset="0"/>
              </a:rPr>
              <a:t>BD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AF</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所成角的余弦值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YMX1TRAX20a.eps" descr="id:2147496628;FounderCES"/>
          <p:cNvPicPr>
            <a:picLocks noChangeAspect="1"/>
          </p:cNvPicPr>
          <p:nvPr/>
        </p:nvPicPr>
        <p:blipFill>
          <a:blip r:embed="rId2">
            <a:clrChange>
              <a:clrFrom>
                <a:srgbClr val="F3F3F3"/>
              </a:clrFrom>
              <a:clrTo>
                <a:srgbClr val="F3F3F3">
                  <a:alpha val="0"/>
                </a:srgbClr>
              </a:clrTo>
            </a:clrChange>
          </a:blip>
          <a:stretch>
            <a:fillRect/>
          </a:stretch>
        </p:blipFill>
        <p:spPr>
          <a:xfrm>
            <a:off x="4275025" y="1795029"/>
            <a:ext cx="3641950" cy="3255937"/>
          </a:xfrm>
          <a:prstGeom prst="rect">
            <a:avLst/>
          </a:prstGeom>
        </p:spPr>
      </p:pic>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8" name="组合 7"/>
          <p:cNvGrpSpPr/>
          <p:nvPr/>
        </p:nvGrpSpPr>
        <p:grpSpPr>
          <a:xfrm>
            <a:off x="64008" y="56642"/>
            <a:ext cx="11746992" cy="6703750"/>
            <a:chOff x="64008" y="56642"/>
            <a:chExt cx="11746992" cy="6703750"/>
          </a:xfrm>
        </p:grpSpPr>
        <p:sp>
          <p:nvSpPr>
            <p:cNvPr id="2" name="矩形 1"/>
            <p:cNvSpPr>
              <a:spLocks noChangeAspect="1"/>
            </p:cNvSpPr>
            <p:nvPr/>
          </p:nvSpPr>
          <p:spPr>
            <a:xfrm>
              <a:off x="381000" y="56642"/>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CB=CA=CC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latin typeface="NEU-BZ-S92"/>
                <a:ea typeface="方正书宋_GBK"/>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795134415"/>
                </p:ext>
              </p:extLst>
            </p:nvPr>
          </p:nvGraphicFramePr>
          <p:xfrm>
            <a:off x="64008" y="1745735"/>
            <a:ext cx="11430000" cy="5014657"/>
          </p:xfrm>
          <a:graphic>
            <a:graphicData uri="http://schemas.openxmlformats.org/presentationml/2006/ole">
              <mc:AlternateContent xmlns:mc="http://schemas.openxmlformats.org/markup-compatibility/2006">
                <mc:Choice xmlns:v="urn:schemas-microsoft-com:vml" Requires="v">
                  <p:oleObj spid="_x0000_s12308" name="文档" r:id="rId3" imgW="4520786" imgH="1983394" progId="Word.Document.12">
                    <p:embed/>
                  </p:oleObj>
                </mc:Choice>
                <mc:Fallback>
                  <p:oleObj name="文档" r:id="rId3" imgW="4520786" imgH="1983394" progId="Word.Document.12">
                    <p:embed/>
                    <p:pic>
                      <p:nvPicPr>
                        <p:cNvPr id="0" name=""/>
                        <p:cNvPicPr/>
                        <p:nvPr/>
                      </p:nvPicPr>
                      <p:blipFill>
                        <a:blip r:embed="rId4"/>
                        <a:stretch>
                          <a:fillRect/>
                        </a:stretch>
                      </p:blipFill>
                      <p:spPr>
                        <a:xfrm>
                          <a:off x="64008" y="1745735"/>
                          <a:ext cx="11430000" cy="5014657"/>
                        </a:xfrm>
                        <a:prstGeom prst="rect">
                          <a:avLst/>
                        </a:prstGeom>
                      </p:spPr>
                    </p:pic>
                  </p:oleObj>
                </mc:Fallback>
              </mc:AlternateContent>
            </a:graphicData>
          </a:graphic>
        </p:graphicFrame>
        <p:pic>
          <p:nvPicPr>
            <p:cNvPr id="7" name="YMX1TRAX20.eps" descr="id:2147496635;FounderCES"/>
            <p:cNvPicPr/>
            <p:nvPr/>
          </p:nvPicPr>
          <p:blipFill>
            <a:blip r:embed="rId5">
              <a:clrChange>
                <a:clrFrom>
                  <a:srgbClr val="F3F3F3"/>
                </a:clrFrom>
                <a:clrTo>
                  <a:srgbClr val="F3F3F3">
                    <a:alpha val="0"/>
                  </a:srgbClr>
                </a:clrTo>
              </a:clrChange>
            </a:blip>
            <a:stretch>
              <a:fillRect/>
            </a:stretch>
          </p:blipFill>
          <p:spPr>
            <a:xfrm>
              <a:off x="8037275" y="1745735"/>
              <a:ext cx="3456733" cy="3586442"/>
            </a:xfrm>
            <a:prstGeom prst="rect">
              <a:avLst/>
            </a:prstGeom>
          </p:spPr>
        </p:pic>
      </p:grpSp>
    </p:spTree>
    <p:extLst>
      <p:ext uri="{BB962C8B-B14F-4D97-AF65-F5344CB8AC3E}">
        <p14:creationId xmlns:p14="http://schemas.microsoft.com/office/powerpoint/2010/main" val="2745225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求直线与平面所成的角</a:t>
                </a:r>
              </a:p>
            </p:txBody>
          </p:sp>
        </p:grpSp>
      </p:grpSp>
      <p:sp>
        <p:nvSpPr>
          <p:cNvPr id="2" name="矩形 1"/>
          <p:cNvSpPr>
            <a:spLocks noChangeAspect="1"/>
          </p:cNvSpPr>
          <p:nvPr/>
        </p:nvSpPr>
        <p:spPr>
          <a:xfrm>
            <a:off x="381000" y="895405"/>
            <a:ext cx="11430000" cy="451328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在四棱锥</a:t>
            </a:r>
            <a:r>
              <a:rPr lang="en-US" altLang="zh-CN" sz="2800" i="1" dirty="0">
                <a:solidFill>
                  <a:srgbClr val="000000"/>
                </a:solidFill>
                <a:latin typeface="Times New Roman" panose="02020603050405020304" pitchFamily="18" charset="0"/>
                <a:cs typeface="Times New Roman" panose="02020603050405020304" pitchFamily="18" charset="0"/>
              </a:rPr>
              <a:t>P-ABCD</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底面为直角梯形</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BAD=</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底面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PA=AD=AB=</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M</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N</a:t>
            </a:r>
            <a:r>
              <a:rPr lang="zh-CN" altLang="zh-CN" sz="2800" dirty="0">
                <a:solidFill>
                  <a:srgbClr val="000000"/>
                </a:solidFill>
                <a:latin typeface="Times New Roman" panose="02020603050405020304" pitchFamily="18" charset="0"/>
                <a:cs typeface="Times New Roman" panose="02020603050405020304" pitchFamily="18" charset="0"/>
              </a:rPr>
              <a:t>分别为</a:t>
            </a:r>
            <a:r>
              <a:rPr lang="en-US" altLang="zh-CN" sz="2800" i="1" dirty="0">
                <a:solidFill>
                  <a:srgbClr val="000000"/>
                </a:solidFill>
                <a:latin typeface="Times New Roman" panose="02020603050405020304" pitchFamily="18" charset="0"/>
                <a:cs typeface="Times New Roman" panose="02020603050405020304" pitchFamily="18" charset="0"/>
              </a:rPr>
              <a:t>PC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PB</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求证</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PB</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DM</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cs typeface="Times New Roman" panose="02020603050405020304" pitchFamily="18" charset="0"/>
              </a:rPr>
              <a:t>ADMN</a:t>
            </a:r>
            <a:r>
              <a:rPr lang="zh-CN" altLang="zh-CN" sz="2800" dirty="0">
                <a:solidFill>
                  <a:srgbClr val="000000"/>
                </a:solidFill>
                <a:latin typeface="Times New Roman" panose="02020603050405020304" pitchFamily="18" charset="0"/>
                <a:cs typeface="Times New Roman" panose="02020603050405020304" pitchFamily="18" charset="0"/>
              </a:rPr>
              <a:t>所成的角</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用向量方法证明垂直</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先计算平面</a:t>
            </a:r>
            <a:r>
              <a:rPr lang="en-US" altLang="zh-CN" sz="2800" i="1" dirty="0">
                <a:solidFill>
                  <a:srgbClr val="000000"/>
                </a:solidFill>
                <a:latin typeface="Times New Roman" panose="02020603050405020304" pitchFamily="18" charset="0"/>
                <a:cs typeface="Times New Roman" panose="02020603050405020304" pitchFamily="18" charset="0"/>
              </a:rPr>
              <a:t>ADMN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的法向量与直线</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方向</a:t>
            </a:r>
            <a:endParaRPr lang="en-US"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向量</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的夹角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再转化为直线</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与平面</a:t>
            </a:r>
            <a:r>
              <a:rPr lang="en-US" altLang="zh-CN" sz="2800" i="1" dirty="0">
                <a:solidFill>
                  <a:srgbClr val="000000"/>
                </a:solidFill>
                <a:latin typeface="Times New Roman" panose="02020603050405020304" pitchFamily="18" charset="0"/>
                <a:cs typeface="Times New Roman" panose="02020603050405020304" pitchFamily="18" charset="0"/>
              </a:rPr>
              <a:t>ADMN</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所成的角</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8" name="YMX1TRAX21.eps" descr="id:2147496649;FounderCES"/>
          <p:cNvPicPr/>
          <p:nvPr/>
        </p:nvPicPr>
        <p:blipFill>
          <a:blip r:embed="rId2">
            <a:clrChange>
              <a:clrFrom>
                <a:srgbClr val="F3F3F3"/>
              </a:clrFrom>
              <a:clrTo>
                <a:srgbClr val="F3F3F3">
                  <a:alpha val="0"/>
                </a:srgbClr>
              </a:clrTo>
            </a:clrChange>
          </a:blip>
          <a:stretch>
            <a:fillRect/>
          </a:stretch>
        </p:blipFill>
        <p:spPr>
          <a:xfrm>
            <a:off x="8819197" y="2185768"/>
            <a:ext cx="3116771" cy="319084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wipe(down)">
                                      <p:cBhvr>
                                        <p:cTn id="7" dur="500"/>
                                        <p:tgtEl>
                                          <p:spTgt spid="2">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wipe(down)">
                                      <p:cBhvr>
                                        <p:cTn id="10" dur="500"/>
                                        <p:tgtEl>
                                          <p:spTgt spid="2">
                                            <p:txEl>
                                              <p:pRg st="4" end="4"/>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Effect transition="in" filter="wipe(down)">
                                      <p:cBhvr>
                                        <p:cTn id="13"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480812053"/>
              </p:ext>
            </p:extLst>
          </p:nvPr>
        </p:nvGraphicFramePr>
        <p:xfrm>
          <a:off x="64008" y="2026991"/>
          <a:ext cx="11430000" cy="3510170"/>
        </p:xfrm>
        <a:graphic>
          <a:graphicData uri="http://schemas.openxmlformats.org/presentationml/2006/ole">
            <mc:AlternateContent xmlns:mc="http://schemas.openxmlformats.org/markup-compatibility/2006">
              <mc:Choice xmlns:v="urn:schemas-microsoft-com:vml" Requires="v">
                <p:oleObj spid="_x0000_s13332" name="文档" r:id="rId3" imgW="4520786" imgH="1388340" progId="Word.Document.12">
                  <p:embed/>
                </p:oleObj>
              </mc:Choice>
              <mc:Fallback>
                <p:oleObj name="文档" r:id="rId3" imgW="4520786" imgH="1388340" progId="Word.Document.12">
                  <p:embed/>
                  <p:pic>
                    <p:nvPicPr>
                      <p:cNvPr id="0" name=""/>
                      <p:cNvPicPr/>
                      <p:nvPr/>
                    </p:nvPicPr>
                    <p:blipFill>
                      <a:blip r:embed="rId4"/>
                      <a:stretch>
                        <a:fillRect/>
                      </a:stretch>
                    </p:blipFill>
                    <p:spPr>
                      <a:xfrm>
                        <a:off x="64008" y="2026991"/>
                        <a:ext cx="11430000" cy="3510170"/>
                      </a:xfrm>
                      <a:prstGeom prst="rect">
                        <a:avLst/>
                      </a:prstGeom>
                    </p:spPr>
                  </p:pic>
                </p:oleObj>
              </mc:Fallback>
            </mc:AlternateContent>
          </a:graphicData>
        </a:graphic>
      </p:graphicFrame>
      <p:pic>
        <p:nvPicPr>
          <p:cNvPr id="7" name="YMX1TRAX22.eps" descr="id:2147496656;FounderCES"/>
          <p:cNvPicPr/>
          <p:nvPr/>
        </p:nvPicPr>
        <p:blipFill>
          <a:blip r:embed="rId5">
            <a:clrChange>
              <a:clrFrom>
                <a:srgbClr val="F3F3F3"/>
              </a:clrFrom>
              <a:clrTo>
                <a:srgbClr val="F3F3F3">
                  <a:alpha val="0"/>
                </a:srgbClr>
              </a:clrTo>
            </a:clrChange>
          </a:blip>
          <a:stretch>
            <a:fillRect/>
          </a:stretch>
        </p:blipFill>
        <p:spPr>
          <a:xfrm>
            <a:off x="8002209" y="1799662"/>
            <a:ext cx="3411681" cy="3379779"/>
          </a:xfrm>
          <a:prstGeom prst="rect">
            <a:avLst/>
          </a:prstGeom>
        </p:spPr>
      </p:pic>
      <p:sp>
        <p:nvSpPr>
          <p:cNvPr id="4" name="矩形 3"/>
          <p:cNvSpPr>
            <a:spLocks noChangeAspect="1"/>
          </p:cNvSpPr>
          <p:nvPr/>
        </p:nvSpPr>
        <p:spPr>
          <a:xfrm>
            <a:off x="381000" y="304491"/>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Axyz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(0,0,0),</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(0,0,2),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(2,0,0),</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(0,2,0),</a:t>
            </a:r>
            <a:endParaRPr lang="zh-CN" altLang="zh-CN" sz="2800"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527313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986023283"/>
              </p:ext>
            </p:extLst>
          </p:nvPr>
        </p:nvGraphicFramePr>
        <p:xfrm>
          <a:off x="64008" y="226844"/>
          <a:ext cx="11430000" cy="6017954"/>
        </p:xfrm>
        <a:graphic>
          <a:graphicData uri="http://schemas.openxmlformats.org/presentationml/2006/ole">
            <mc:AlternateContent xmlns:mc="http://schemas.openxmlformats.org/markup-compatibility/2006">
              <mc:Choice xmlns:v="urn:schemas-microsoft-com:vml" Requires="v">
                <p:oleObj spid="_x0000_s14354" name="文档" r:id="rId3" imgW="4510061" imgH="2382160" progId="Word.Document.12">
                  <p:embed/>
                </p:oleObj>
              </mc:Choice>
              <mc:Fallback>
                <p:oleObj name="文档" r:id="rId3" imgW="4510061" imgH="2382160" progId="Word.Document.12">
                  <p:embed/>
                  <p:pic>
                    <p:nvPicPr>
                      <p:cNvPr id="0" name=""/>
                      <p:cNvPicPr/>
                      <p:nvPr/>
                    </p:nvPicPr>
                    <p:blipFill>
                      <a:blip r:embed="rId4"/>
                      <a:stretch>
                        <a:fillRect/>
                      </a:stretch>
                    </p:blipFill>
                    <p:spPr>
                      <a:xfrm>
                        <a:off x="64008" y="226844"/>
                        <a:ext cx="11430000" cy="6017954"/>
                      </a:xfrm>
                      <a:prstGeom prst="rect">
                        <a:avLst/>
                      </a:prstGeom>
                    </p:spPr>
                  </p:pic>
                </p:oleObj>
              </mc:Fallback>
            </mc:AlternateContent>
          </a:graphicData>
        </a:graphic>
      </p:graphicFrame>
    </p:spTree>
    <p:extLst>
      <p:ext uri="{BB962C8B-B14F-4D97-AF65-F5344CB8AC3E}">
        <p14:creationId xmlns:p14="http://schemas.microsoft.com/office/powerpoint/2010/main" val="414524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67015"/>
            <a:ext cx="11430000" cy="2332946"/>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直线与平面所成的角的方法与步骤</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en-US"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方法</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找直线在平面内的射影</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充分利用面面垂直的性质及解三角形知识可求得夹角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或夹角的某一三角函数值</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en-US"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方法</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利用向量法求直线与平面所成的角</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的基本步骤</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5" name="24C03.eps" descr="id:2147514781;FounderCES"/>
          <p:cNvPicPr>
            <a:picLocks noChangeAspect="1"/>
          </p:cNvPicPr>
          <p:nvPr/>
        </p:nvPicPr>
        <p:blipFill>
          <a:blip r:embed="rId2">
            <a:clrChange>
              <a:clrFrom>
                <a:srgbClr val="FFFFFF"/>
              </a:clrFrom>
              <a:clrTo>
                <a:srgbClr val="FFFFFF">
                  <a:alpha val="0"/>
                </a:srgbClr>
              </a:clrTo>
            </a:clrChange>
          </a:blip>
          <a:stretch>
            <a:fillRect/>
          </a:stretch>
        </p:blipFill>
        <p:spPr>
          <a:xfrm>
            <a:off x="2805190" y="2426993"/>
            <a:ext cx="6581621" cy="3816648"/>
          </a:xfrm>
          <a:prstGeom prst="rect">
            <a:avLst/>
          </a:prstGeom>
        </p:spPr>
      </p:pic>
    </p:spTree>
    <p:extLst>
      <p:ext uri="{BB962C8B-B14F-4D97-AF65-F5344CB8AC3E}">
        <p14:creationId xmlns:p14="http://schemas.microsoft.com/office/powerpoint/2010/main" val="283917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97365"/>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在直三棱柱</a:t>
            </a:r>
            <a:r>
              <a:rPr lang="en-US" altLang="zh-CN" sz="2800" i="1" dirty="0">
                <a:solidFill>
                  <a:srgbClr val="000000"/>
                </a:solidFill>
                <a:latin typeface="Times New Roman" panose="02020603050405020304" pitchFamily="18" charset="0"/>
                <a:cs typeface="Times New Roman" panose="02020603050405020304" pitchFamily="18" charset="0"/>
              </a:rPr>
              <a:t>ABC-A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AB=AC=AA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zh-CN" altLang="zh-CN" sz="2800" dirty="0" smtClean="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BAC=</a:t>
            </a:r>
            <a:r>
              <a:rPr lang="en-US" altLang="zh-CN" sz="2800" dirty="0">
                <a:solidFill>
                  <a:srgbClr val="000000"/>
                </a:solidFill>
                <a:latin typeface="Times New Roman" panose="02020603050405020304" pitchFamily="18" charset="0"/>
                <a:cs typeface="Times New Roman" panose="02020603050405020304" pitchFamily="18" charset="0"/>
              </a:rPr>
              <a:t>90</a:t>
            </a:r>
            <a:r>
              <a:rPr lang="en-US" altLang="zh-CN" sz="2800"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分别为</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求直线</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cs typeface="Times New Roman" panose="02020603050405020304" pitchFamily="18" charset="0"/>
              </a:rPr>
              <a:t>AEF</a:t>
            </a:r>
            <a:r>
              <a:rPr lang="zh-CN" altLang="zh-CN" sz="2800" dirty="0">
                <a:solidFill>
                  <a:srgbClr val="000000"/>
                </a:solidFill>
                <a:latin typeface="Times New Roman" panose="02020603050405020304" pitchFamily="18" charset="0"/>
                <a:cs typeface="Times New Roman" panose="02020603050405020304" pitchFamily="18" charset="0"/>
              </a:rPr>
              <a:t>所成角的正弦值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3" name="YMX1TRAX24.eps" descr="id:2147496677;FounderCES"/>
          <p:cNvPicPr>
            <a:picLocks noChangeAspect="1"/>
          </p:cNvPicPr>
          <p:nvPr/>
        </p:nvPicPr>
        <p:blipFill>
          <a:blip r:embed="rId2">
            <a:clrChange>
              <a:clrFrom>
                <a:srgbClr val="F3F3F3"/>
              </a:clrFrom>
              <a:clrTo>
                <a:srgbClr val="F3F3F3">
                  <a:alpha val="0"/>
                </a:srgbClr>
              </a:clrTo>
            </a:clrChange>
          </a:blip>
          <a:stretch>
            <a:fillRect/>
          </a:stretch>
        </p:blipFill>
        <p:spPr>
          <a:xfrm>
            <a:off x="4440568" y="2014616"/>
            <a:ext cx="3310864" cy="3068371"/>
          </a:xfrm>
          <a:prstGeom prst="rect">
            <a:avLst/>
          </a:prstGeom>
        </p:spPr>
      </p:pic>
    </p:spTree>
    <p:extLst>
      <p:ext uri="{BB962C8B-B14F-4D97-AF65-F5344CB8AC3E}">
        <p14:creationId xmlns:p14="http://schemas.microsoft.com/office/powerpoint/2010/main" val="17492114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0960" y="56737"/>
            <a:ext cx="11750040" cy="6576994"/>
            <a:chOff x="60960" y="56737"/>
            <a:chExt cx="11750040" cy="6576994"/>
          </a:xfrm>
        </p:grpSpPr>
        <p:sp>
          <p:nvSpPr>
            <p:cNvPr id="2" name="矩形 1"/>
            <p:cNvSpPr>
              <a:spLocks noChangeAspect="1"/>
            </p:cNvSpPr>
            <p:nvPr/>
          </p:nvSpPr>
          <p:spPr>
            <a:xfrm>
              <a:off x="381000" y="56737"/>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Axyz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(0,0,0),</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(0,0,2),</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(2,0,0),</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(0,2,1),</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(1,1,0),</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8369610"/>
                </p:ext>
              </p:extLst>
            </p:nvPr>
          </p:nvGraphicFramePr>
          <p:xfrm>
            <a:off x="60960" y="1116971"/>
            <a:ext cx="11430000" cy="5516760"/>
          </p:xfrm>
          <a:graphic>
            <a:graphicData uri="http://schemas.openxmlformats.org/presentationml/2006/ole">
              <mc:AlternateContent xmlns:mc="http://schemas.openxmlformats.org/markup-compatibility/2006">
                <mc:Choice xmlns:v="urn:schemas-microsoft-com:vml" Requires="v">
                  <p:oleObj spid="_x0000_s15380" name="文档" r:id="rId3" imgW="4520786" imgH="2181985" progId="Word.Document.12">
                    <p:embed/>
                  </p:oleObj>
                </mc:Choice>
                <mc:Fallback>
                  <p:oleObj name="文档" r:id="rId3" imgW="4520786" imgH="2181985" progId="Word.Document.12">
                    <p:embed/>
                    <p:pic>
                      <p:nvPicPr>
                        <p:cNvPr id="0" name=""/>
                        <p:cNvPicPr/>
                        <p:nvPr/>
                      </p:nvPicPr>
                      <p:blipFill>
                        <a:blip r:embed="rId4"/>
                        <a:stretch>
                          <a:fillRect/>
                        </a:stretch>
                      </p:blipFill>
                      <p:spPr>
                        <a:xfrm>
                          <a:off x="60960" y="1116971"/>
                          <a:ext cx="11430000" cy="5516760"/>
                        </a:xfrm>
                        <a:prstGeom prst="rect">
                          <a:avLst/>
                        </a:prstGeom>
                      </p:spPr>
                    </p:pic>
                  </p:oleObj>
                </mc:Fallback>
              </mc:AlternateContent>
            </a:graphicData>
          </a:graphic>
        </p:graphicFrame>
        <p:pic>
          <p:nvPicPr>
            <p:cNvPr id="4" name="YMX1TRAX25.eps" descr="id:2147496684;FounderCES"/>
            <p:cNvPicPr/>
            <p:nvPr/>
          </p:nvPicPr>
          <p:blipFill>
            <a:blip r:embed="rId5">
              <a:clrChange>
                <a:clrFrom>
                  <a:srgbClr val="F3F3F3"/>
                </a:clrFrom>
                <a:clrTo>
                  <a:srgbClr val="F3F3F3">
                    <a:alpha val="0"/>
                  </a:srgbClr>
                </a:clrTo>
              </a:clrChange>
            </a:blip>
            <a:stretch>
              <a:fillRect/>
            </a:stretch>
          </p:blipFill>
          <p:spPr>
            <a:xfrm>
              <a:off x="7744770" y="1881258"/>
              <a:ext cx="3351336" cy="3220680"/>
            </a:xfrm>
            <a:prstGeom prst="rect">
              <a:avLst/>
            </a:prstGeom>
          </p:spPr>
        </p:pic>
      </p:grpSp>
    </p:spTree>
    <p:extLst>
      <p:ext uri="{BB962C8B-B14F-4D97-AF65-F5344CB8AC3E}">
        <p14:creationId xmlns:p14="http://schemas.microsoft.com/office/powerpoint/2010/main" val="424909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smtClean="0">
                    <a:solidFill>
                      <a:schemeClr val="bg1"/>
                    </a:solidFill>
                  </a:rPr>
                  <a:t>求平面与平面的夹角</a:t>
                </a:r>
                <a:endParaRPr lang="zh-CN" altLang="en-US" sz="2800" b="1" dirty="0">
                  <a:solidFill>
                    <a:schemeClr val="bg1"/>
                  </a:solidFill>
                </a:endParaRPr>
              </a:p>
            </p:txBody>
          </p:sp>
        </p:grpSp>
      </p:grpSp>
      <p:sp>
        <p:nvSpPr>
          <p:cNvPr id="2" name="矩形 1"/>
          <p:cNvSpPr>
            <a:spLocks noChangeAspect="1"/>
          </p:cNvSpPr>
          <p:nvPr/>
        </p:nvSpPr>
        <p:spPr>
          <a:xfrm>
            <a:off x="381000" y="703470"/>
            <a:ext cx="11430000" cy="569386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在底面为平行四边形的四棱锥</a:t>
            </a:r>
            <a:r>
              <a:rPr lang="en-US" altLang="zh-CN" sz="2800" i="1" dirty="0">
                <a:solidFill>
                  <a:srgbClr val="000000"/>
                </a:solidFill>
                <a:latin typeface="Times New Roman" panose="02020603050405020304" pitchFamily="18" charset="0"/>
                <a:cs typeface="Times New Roman" panose="02020603050405020304" pitchFamily="18" charset="0"/>
              </a:rPr>
              <a:t>P-ABCD</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AC</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PA</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PA=AB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a:t>
            </a:r>
            <a:r>
              <a:rPr lang="zh-CN" altLang="zh-CN" sz="2800" dirty="0">
                <a:solidFill>
                  <a:srgbClr val="000000"/>
                </a:solidFill>
                <a:latin typeface="Times New Roman" panose="02020603050405020304" pitchFamily="18" charset="0"/>
                <a:cs typeface="Times New Roman" panose="02020603050405020304" pitchFamily="18" charset="0"/>
              </a:rPr>
              <a:t>是</a:t>
            </a:r>
            <a:r>
              <a:rPr lang="en-US" altLang="zh-CN" sz="2800" i="1" dirty="0">
                <a:solidFill>
                  <a:srgbClr val="000000"/>
                </a:solidFill>
                <a:latin typeface="Times New Roman" panose="02020603050405020304" pitchFamily="18" charset="0"/>
                <a:cs typeface="Times New Roman" panose="02020603050405020304" pitchFamily="18" charset="0"/>
              </a:rPr>
              <a:t>PD</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求平面</a:t>
            </a:r>
            <a:r>
              <a:rPr lang="en-US" altLang="zh-CN" sz="2800" i="1" dirty="0">
                <a:solidFill>
                  <a:srgbClr val="000000"/>
                </a:solidFill>
                <a:latin typeface="Times New Roman" panose="02020603050405020304" pitchFamily="18" charset="0"/>
                <a:cs typeface="Times New Roman" panose="02020603050405020304" pitchFamily="18" charset="0"/>
              </a:rPr>
              <a:t>EAC</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zh-CN" altLang="zh-CN" sz="2800" dirty="0">
                <a:solidFill>
                  <a:srgbClr val="000000"/>
                </a:solidFill>
                <a:latin typeface="Times New Roman" panose="02020603050405020304" pitchFamily="18" charset="0"/>
                <a:cs typeface="Times New Roman" panose="02020603050405020304" pitchFamily="18" charset="0"/>
              </a:rPr>
              <a:t>的夹角的大小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smtClean="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根据二面角的定义找出平面</a:t>
            </a:r>
            <a:r>
              <a:rPr lang="en-US" altLang="zh-CN" sz="2800" i="1" dirty="0">
                <a:solidFill>
                  <a:srgbClr val="000000"/>
                </a:solidFill>
                <a:latin typeface="Times New Roman" panose="02020603050405020304" pitchFamily="18" charset="0"/>
                <a:cs typeface="Times New Roman" panose="02020603050405020304" pitchFamily="18" charset="0"/>
              </a:rPr>
              <a:t>EAC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与平面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的夹角</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再求其大小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求平面的法向量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利用法向量的夹角与平面间的夹角之间的关系求解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8" name="YMX1TRAX26A.eps" descr="id:2147496698;FounderCES"/>
          <p:cNvPicPr>
            <a:picLocks noChangeAspect="1"/>
          </p:cNvPicPr>
          <p:nvPr/>
        </p:nvPicPr>
        <p:blipFill>
          <a:blip r:embed="rId2">
            <a:clrChange>
              <a:clrFrom>
                <a:srgbClr val="F3F3F3"/>
              </a:clrFrom>
              <a:clrTo>
                <a:srgbClr val="F3F3F3">
                  <a:alpha val="0"/>
                </a:srgbClr>
              </a:clrTo>
            </a:clrChange>
          </a:blip>
          <a:stretch>
            <a:fillRect/>
          </a:stretch>
        </p:blipFill>
        <p:spPr>
          <a:xfrm>
            <a:off x="4760444" y="1913590"/>
            <a:ext cx="2671112" cy="264086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charRg st="88" end="173"/>
                                            </p:txEl>
                                          </p:spTgt>
                                        </p:tgtEl>
                                        <p:attrNameLst>
                                          <p:attrName>style.visibility</p:attrName>
                                        </p:attrNameLst>
                                      </p:cBhvr>
                                      <p:to>
                                        <p:strVal val="visible"/>
                                      </p:to>
                                    </p:set>
                                    <p:animEffect transition="in" filter="randombar(horizontal)">
                                      <p:cBhvr>
                                        <p:cTn id="7" dur="500"/>
                                        <p:tgtEl>
                                          <p:spTgt spid="2">
                                            <p:txEl>
                                              <p:charRg st="88" end="17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60960" y="135197"/>
            <a:ext cx="11921828" cy="6272753"/>
            <a:chOff x="60960" y="166370"/>
            <a:chExt cx="11921828" cy="6272753"/>
          </a:xfrm>
        </p:grpSpPr>
        <p:sp>
          <p:nvSpPr>
            <p:cNvPr id="2" name="矩形 1"/>
            <p:cNvSpPr>
              <a:spLocks noChangeAspect="1"/>
            </p:cNvSpPr>
            <p:nvPr/>
          </p:nvSpPr>
          <p:spPr>
            <a:xfrm>
              <a:off x="381000" y="166370"/>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dirty="0">
                  <a:solidFill>
                    <a:srgbClr val="000000"/>
                  </a:solidFill>
                  <a:latin typeface="Times New Roman" panose="02020603050405020304" pitchFamily="18" charset="0"/>
                  <a:cs typeface="Times New Roman" panose="02020603050405020304" pitchFamily="18" charset="0"/>
                </a:rPr>
                <a:t>PA=AB=</a:t>
              </a:r>
              <a:r>
                <a:rPr lang="en-US" altLang="zh-CN" sz="2800"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AC</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连接</a:t>
              </a:r>
              <a:r>
                <a:rPr lang="en-US" altLang="zh-CN" sz="2800" i="1" dirty="0">
                  <a:solidFill>
                    <a:srgbClr val="000000"/>
                  </a:solidFill>
                  <a:latin typeface="Times New Roman" panose="02020603050405020304" pitchFamily="18" charset="0"/>
                  <a:cs typeface="Times New Roman" panose="02020603050405020304" pitchFamily="18" charset="0"/>
                </a:rPr>
                <a:t>BD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AC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的交点为</a:t>
              </a:r>
              <a:r>
                <a:rPr lang="en-US" altLang="zh-CN" sz="2800" i="1" dirty="0">
                  <a:solidFill>
                    <a:srgbClr val="000000"/>
                  </a:solidFill>
                  <a:latin typeface="Times New Roman" panose="02020603050405020304" pitchFamily="18" charset="0"/>
                  <a:cs typeface="Times New Roman" panose="02020603050405020304" pitchFamily="18" charset="0"/>
                </a:rPr>
                <a:t>O</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连接</a:t>
              </a:r>
              <a:r>
                <a:rPr lang="en-US" altLang="zh-CN" sz="2800" i="1" dirty="0">
                  <a:solidFill>
                    <a:srgbClr val="000000"/>
                  </a:solidFill>
                  <a:latin typeface="Times New Roman" panose="02020603050405020304" pitchFamily="18" charset="0"/>
                  <a:cs typeface="Times New Roman" panose="02020603050405020304" pitchFamily="18" charset="0"/>
                </a:rPr>
                <a:t>OE.</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取</a:t>
              </a:r>
              <a:r>
                <a:rPr lang="en-US" altLang="zh-CN" sz="2800" i="1" dirty="0">
                  <a:solidFill>
                    <a:srgbClr val="000000"/>
                  </a:solidFill>
                  <a:latin typeface="Times New Roman" panose="02020603050405020304" pitchFamily="18" charset="0"/>
                  <a:cs typeface="Times New Roman" panose="02020603050405020304" pitchFamily="18" charset="0"/>
                </a:rPr>
                <a:t>AD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的中点</a:t>
              </a:r>
              <a:r>
                <a:rPr lang="en-US" altLang="zh-CN" sz="2800" i="1" dirty="0">
                  <a:solidFill>
                    <a:srgbClr val="000000"/>
                  </a:solidFill>
                  <a:latin typeface="Times New Roman" panose="02020603050405020304" pitchFamily="18" charset="0"/>
                  <a:cs typeface="Times New Roman" panose="02020603050405020304" pitchFamily="18" charset="0"/>
                </a:rPr>
                <a:t>F</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连接</a:t>
              </a:r>
              <a:r>
                <a:rPr lang="en-US" altLang="zh-CN" sz="2800" i="1" dirty="0">
                  <a:solidFill>
                    <a:srgbClr val="000000"/>
                  </a:solidFill>
                  <a:latin typeface="Times New Roman" panose="02020603050405020304" pitchFamily="18" charset="0"/>
                  <a:cs typeface="Times New Roman" panose="02020603050405020304" pitchFamily="18" charset="0"/>
                </a:rPr>
                <a:t>OF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EF.</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383649705"/>
                </p:ext>
              </p:extLst>
            </p:nvPr>
          </p:nvGraphicFramePr>
          <p:xfrm>
            <a:off x="60960" y="2426851"/>
            <a:ext cx="11430000" cy="4012272"/>
          </p:xfrm>
          <a:graphic>
            <a:graphicData uri="http://schemas.openxmlformats.org/presentationml/2006/ole">
              <mc:AlternateContent xmlns:mc="http://schemas.openxmlformats.org/markup-compatibility/2006">
                <mc:Choice xmlns:v="urn:schemas-microsoft-com:vml" Requires="v">
                  <p:oleObj spid="_x0000_s16402" name="文档" r:id="rId3" imgW="4520786" imgH="1586931" progId="Word.Document.12">
                    <p:embed/>
                  </p:oleObj>
                </mc:Choice>
                <mc:Fallback>
                  <p:oleObj name="文档" r:id="rId3" imgW="4520786" imgH="1586931" progId="Word.Document.12">
                    <p:embed/>
                    <p:pic>
                      <p:nvPicPr>
                        <p:cNvPr id="0" name=""/>
                        <p:cNvPicPr/>
                        <p:nvPr/>
                      </p:nvPicPr>
                      <p:blipFill>
                        <a:blip r:embed="rId4"/>
                        <a:stretch>
                          <a:fillRect/>
                        </a:stretch>
                      </p:blipFill>
                      <p:spPr>
                        <a:xfrm>
                          <a:off x="60960" y="2426851"/>
                          <a:ext cx="11430000" cy="4012272"/>
                        </a:xfrm>
                        <a:prstGeom prst="rect">
                          <a:avLst/>
                        </a:prstGeom>
                      </p:spPr>
                    </p:pic>
                  </p:oleObj>
                </mc:Fallback>
              </mc:AlternateContent>
            </a:graphicData>
          </a:graphic>
        </p:graphicFrame>
        <p:pic>
          <p:nvPicPr>
            <p:cNvPr id="5" name="YMX1TRAX26.eps" descr="id:2147496705;FounderCES"/>
            <p:cNvPicPr/>
            <p:nvPr/>
          </p:nvPicPr>
          <p:blipFill>
            <a:blip r:embed="rId5">
              <a:clrChange>
                <a:clrFrom>
                  <a:srgbClr val="F3F3F3"/>
                </a:clrFrom>
                <a:clrTo>
                  <a:srgbClr val="F3F3F3">
                    <a:alpha val="0"/>
                  </a:srgbClr>
                </a:clrTo>
              </a:clrChange>
            </a:blip>
            <a:stretch>
              <a:fillRect/>
            </a:stretch>
          </p:blipFill>
          <p:spPr>
            <a:xfrm>
              <a:off x="8816171" y="2068957"/>
              <a:ext cx="3166617" cy="3514980"/>
            </a:xfrm>
            <a:prstGeom prst="rect">
              <a:avLst/>
            </a:prstGeom>
          </p:spPr>
        </p:pic>
      </p:grpSp>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503743816"/>
              </p:ext>
            </p:extLst>
          </p:nvPr>
        </p:nvGraphicFramePr>
        <p:xfrm>
          <a:off x="64008" y="177706"/>
          <a:ext cx="11430000" cy="5516760"/>
        </p:xfrm>
        <a:graphic>
          <a:graphicData uri="http://schemas.openxmlformats.org/presentationml/2006/ole">
            <mc:AlternateContent xmlns:mc="http://schemas.openxmlformats.org/markup-compatibility/2006">
              <mc:Choice xmlns:v="urn:schemas-microsoft-com:vml" Requires="v">
                <p:oleObj spid="_x0000_s17424" name="文档" r:id="rId3" imgW="4520786" imgH="2181985" progId="Word.Document.12">
                  <p:embed/>
                </p:oleObj>
              </mc:Choice>
              <mc:Fallback>
                <p:oleObj name="文档" r:id="rId3" imgW="4520786" imgH="2181985" progId="Word.Document.12">
                  <p:embed/>
                  <p:pic>
                    <p:nvPicPr>
                      <p:cNvPr id="0" name=""/>
                      <p:cNvPicPr/>
                      <p:nvPr/>
                    </p:nvPicPr>
                    <p:blipFill>
                      <a:blip r:embed="rId4"/>
                      <a:stretch>
                        <a:fillRect/>
                      </a:stretch>
                    </p:blipFill>
                    <p:spPr>
                      <a:xfrm>
                        <a:off x="64008" y="177706"/>
                        <a:ext cx="11430000" cy="5516760"/>
                      </a:xfrm>
                      <a:prstGeom prst="rect">
                        <a:avLst/>
                      </a:prstGeom>
                    </p:spPr>
                  </p:pic>
                </p:oleObj>
              </mc:Fallback>
            </mc:AlternateContent>
          </a:graphicData>
        </a:graphic>
      </p:graphicFrame>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4008" y="133396"/>
            <a:ext cx="11430000" cy="6101497"/>
            <a:chOff x="64008" y="141986"/>
            <a:chExt cx="11430000" cy="6101497"/>
          </a:xfrm>
        </p:grpSpPr>
        <p:sp>
          <p:nvSpPr>
            <p:cNvPr id="2" name="矩形 1"/>
            <p:cNvSpPr>
              <a:spLocks noChangeAspect="1"/>
            </p:cNvSpPr>
            <p:nvPr/>
          </p:nvSpPr>
          <p:spPr>
            <a:xfrm>
              <a:off x="381000" y="141986"/>
              <a:ext cx="6885411" cy="592213"/>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建系如方法一</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PA</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072291028"/>
                </p:ext>
              </p:extLst>
            </p:nvPr>
          </p:nvGraphicFramePr>
          <p:xfrm>
            <a:off x="64008" y="726723"/>
            <a:ext cx="11430000" cy="5516760"/>
          </p:xfrm>
          <a:graphic>
            <a:graphicData uri="http://schemas.openxmlformats.org/presentationml/2006/ole">
              <mc:AlternateContent xmlns:mc="http://schemas.openxmlformats.org/markup-compatibility/2006">
                <mc:Choice xmlns:v="urn:schemas-microsoft-com:vml" Requires="v">
                  <p:oleObj spid="_x0000_s18450" name="文档" r:id="rId3" imgW="4510061" imgH="2183586" progId="Word.Document.12">
                    <p:embed/>
                  </p:oleObj>
                </mc:Choice>
                <mc:Fallback>
                  <p:oleObj name="文档" r:id="rId3" imgW="4510061" imgH="2183586" progId="Word.Document.12">
                    <p:embed/>
                    <p:pic>
                      <p:nvPicPr>
                        <p:cNvPr id="0" name=""/>
                        <p:cNvPicPr/>
                        <p:nvPr/>
                      </p:nvPicPr>
                      <p:blipFill>
                        <a:blip r:embed="rId4"/>
                        <a:stretch>
                          <a:fillRect/>
                        </a:stretch>
                      </p:blipFill>
                      <p:spPr>
                        <a:xfrm>
                          <a:off x="64008" y="726723"/>
                          <a:ext cx="11430000" cy="5516760"/>
                        </a:xfrm>
                        <a:prstGeom prst="rect">
                          <a:avLst/>
                        </a:prstGeom>
                      </p:spPr>
                    </p:pic>
                  </p:oleObj>
                </mc:Fallback>
              </mc:AlternateContent>
            </a:graphicData>
          </a:graphic>
        </p:graphicFrame>
      </p:grpSp>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2980"/>
            <a:ext cx="11430000" cy="3453253"/>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向量方法求平面与平面的夹角的大小时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多采用法向量法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具体求解步骤</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如下</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建立空间直角坐标</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系</a:t>
            </a:r>
            <a:r>
              <a:rPr lang="en-US"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分别求出两个平面的法向量</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和</a:t>
            </a:r>
            <a:r>
              <a:rPr lang="en-US" altLang="zh-CN" sz="2800" b="1" dirty="0" smtClean="0">
                <a:solidFill>
                  <a:srgbClr val="000000"/>
                </a:solidFill>
                <a:latin typeface="Times New Roman" panose="02020603050405020304" pitchFamily="18" charset="0"/>
                <a:cs typeface="Times New Roman" panose="02020603050405020304" pitchFamily="18" charset="0"/>
              </a:rPr>
              <a:t>n</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设两平面间的夹角为</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则</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 </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θ</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err="1">
                <a:solidFill>
                  <a:srgbClr val="000000"/>
                </a:solidFill>
                <a:latin typeface="Times New Roman" panose="02020603050405020304" pitchFamily="18" charset="0"/>
                <a:cs typeface="Times New Roman" panose="02020603050405020304" pitchFamily="18" charset="0"/>
              </a:rPr>
              <a:t>cos</a:t>
            </a:r>
            <a:r>
              <a:rPr lang="en-US" altLang="zh-CN" sz="2800" i="1" dirty="0">
                <a:solidFill>
                  <a:srgbClr val="000000"/>
                </a:solidFill>
                <a:latin typeface="Times New Roman" panose="02020603050405020304" pitchFamily="18" charset="0"/>
                <a:cs typeface="Times New Roman" panose="02020603050405020304" pitchFamily="18" charset="0"/>
              </a:rPr>
              <a:t>&lt;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1" dirty="0">
                <a:solidFill>
                  <a:srgbClr val="000000"/>
                </a:solidFill>
                <a:latin typeface="Times New Roman" panose="02020603050405020304" pitchFamily="18" charset="0"/>
                <a:cs typeface="Times New Roman" panose="02020603050405020304" pitchFamily="18" charset="0"/>
              </a:rPr>
              <a:t>n</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&gt;|</a:t>
            </a:r>
            <a:r>
              <a:rPr lang="en-US" altLang="zh-CN" sz="2800"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根据余弦值</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确定两平面间的夹角的大小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16570342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81000" y="320016"/>
            <a:ext cx="11430000" cy="5498895"/>
            <a:chOff x="381000" y="423926"/>
            <a:chExt cx="11430000" cy="5498895"/>
          </a:xfrm>
        </p:grpSpPr>
        <p:sp>
          <p:nvSpPr>
            <p:cNvPr id="2" name="矩形 1"/>
            <p:cNvSpPr>
              <a:spLocks noChangeAspect="1"/>
            </p:cNvSpPr>
            <p:nvPr/>
          </p:nvSpPr>
          <p:spPr>
            <a:xfrm>
              <a:off x="381000" y="423926"/>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AC</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en-US" altLang="zh-CN" sz="2800" i="1" dirty="0" smtClean="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PA=AC=</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求平面</a:t>
              </a:r>
              <a:r>
                <a:rPr lang="en-US" altLang="zh-CN" sz="2800" i="1" dirty="0">
                  <a:solidFill>
                    <a:srgbClr val="000000"/>
                  </a:solidFill>
                  <a:latin typeface="Times New Roman" panose="02020603050405020304" pitchFamily="18" charset="0"/>
                  <a:cs typeface="Times New Roman" panose="02020603050405020304" pitchFamily="18" charset="0"/>
                </a:rPr>
                <a:t>PAB</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cs typeface="Times New Roman" panose="02020603050405020304" pitchFamily="18" charset="0"/>
                </a:rPr>
                <a:t>PBC</a:t>
              </a:r>
              <a:r>
                <a:rPr lang="zh-CN" altLang="zh-CN" sz="2800" dirty="0">
                  <a:solidFill>
                    <a:srgbClr val="000000"/>
                  </a:solidFill>
                  <a:latin typeface="Times New Roman" panose="02020603050405020304" pitchFamily="18" charset="0"/>
                  <a:cs typeface="Times New Roman" panose="02020603050405020304" pitchFamily="18" charset="0"/>
                </a:rPr>
                <a:t>的夹角的余弦值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YMX1TRAX27.eps" descr="id:2147496719;FounderCES"/>
            <p:cNvPicPr>
              <a:picLocks noChangeAspect="1"/>
            </p:cNvPicPr>
            <p:nvPr/>
          </p:nvPicPr>
          <p:blipFill>
            <a:blip r:embed="rId3">
              <a:clrChange>
                <a:clrFrom>
                  <a:srgbClr val="F3F3F3"/>
                </a:clrFrom>
                <a:clrTo>
                  <a:srgbClr val="F3F3F3">
                    <a:alpha val="0"/>
                  </a:srgbClr>
                </a:clrTo>
              </a:clrChange>
            </a:blip>
            <a:stretch>
              <a:fillRect/>
            </a:stretch>
          </p:blipFill>
          <p:spPr>
            <a:xfrm>
              <a:off x="4591062" y="1823163"/>
              <a:ext cx="3009876" cy="4099658"/>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994092264"/>
                </p:ext>
              </p:extLst>
            </p:nvPr>
          </p:nvGraphicFramePr>
          <p:xfrm>
            <a:off x="8232648" y="496846"/>
            <a:ext cx="673100" cy="533400"/>
          </p:xfrm>
          <a:graphic>
            <a:graphicData uri="http://schemas.openxmlformats.org/presentationml/2006/ole">
              <mc:AlternateContent xmlns:mc="http://schemas.openxmlformats.org/markup-compatibility/2006">
                <mc:Choice xmlns:v="urn:schemas-microsoft-com:vml" Requires="v">
                  <p:oleObj spid="_x0000_s19472" name="文档" r:id="rId4" imgW="271708" imgH="211567" progId="Word.Document.12">
                    <p:embed/>
                  </p:oleObj>
                </mc:Choice>
                <mc:Fallback>
                  <p:oleObj name="文档" r:id="rId4" imgW="271708" imgH="211567" progId="Word.Document.12">
                    <p:embed/>
                    <p:pic>
                      <p:nvPicPr>
                        <p:cNvPr id="0" name=""/>
                        <p:cNvPicPr/>
                        <p:nvPr/>
                      </p:nvPicPr>
                      <p:blipFill>
                        <a:blip r:embed="rId5"/>
                        <a:stretch>
                          <a:fillRect/>
                        </a:stretch>
                      </p:blipFill>
                      <p:spPr>
                        <a:xfrm>
                          <a:off x="8232648" y="496846"/>
                          <a:ext cx="673100" cy="533400"/>
                        </a:xfrm>
                        <a:prstGeom prst="rect">
                          <a:avLst/>
                        </a:prstGeom>
                      </p:spPr>
                    </p:pic>
                  </p:oleObj>
                </mc:Fallback>
              </mc:AlternateContent>
            </a:graphicData>
          </a:graphic>
        </p:graphicFrame>
      </p:grpSp>
    </p:spTree>
    <p:extLst>
      <p:ext uri="{BB962C8B-B14F-4D97-AF65-F5344CB8AC3E}">
        <p14:creationId xmlns:p14="http://schemas.microsoft.com/office/powerpoint/2010/main" val="7201653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nvSpPr>
        <p:spPr>
          <a:xfrm>
            <a:off x="381000" y="49948"/>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平行于</a:t>
            </a:r>
            <a:r>
              <a:rPr lang="en-US" altLang="zh-CN" sz="2800" i="1" dirty="0">
                <a:solidFill>
                  <a:srgbClr val="000000"/>
                </a:solidFill>
                <a:latin typeface="Times New Roman" panose="02020603050405020304" pitchFamily="18" charset="0"/>
                <a:cs typeface="Times New Roman" panose="02020603050405020304" pitchFamily="18" charset="0"/>
              </a:rPr>
              <a:t>AP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的直线为</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Cxyz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899484096"/>
              </p:ext>
            </p:extLst>
          </p:nvPr>
        </p:nvGraphicFramePr>
        <p:xfrm>
          <a:off x="66675" y="1242293"/>
          <a:ext cx="11401425" cy="5486400"/>
        </p:xfrm>
        <a:graphic>
          <a:graphicData uri="http://schemas.openxmlformats.org/presentationml/2006/ole">
            <mc:AlternateContent xmlns:mc="http://schemas.openxmlformats.org/markup-compatibility/2006">
              <mc:Choice xmlns:v="urn:schemas-microsoft-com:vml" Requires="v">
                <p:oleObj spid="_x0000_s20501" name="文档" r:id="rId3" imgW="4510061" imgH="2181784" progId="Word.Document.12">
                  <p:embed/>
                </p:oleObj>
              </mc:Choice>
              <mc:Fallback>
                <p:oleObj name="文档" r:id="rId3" imgW="4510061" imgH="2181784" progId="Word.Document.12">
                  <p:embed/>
                  <p:pic>
                    <p:nvPicPr>
                      <p:cNvPr id="0" name=""/>
                      <p:cNvPicPr/>
                      <p:nvPr/>
                    </p:nvPicPr>
                    <p:blipFill>
                      <a:blip r:embed="rId4"/>
                      <a:stretch>
                        <a:fillRect/>
                      </a:stretch>
                    </p:blipFill>
                    <p:spPr>
                      <a:xfrm>
                        <a:off x="66675" y="1242293"/>
                        <a:ext cx="11401425" cy="5486400"/>
                      </a:xfrm>
                      <a:prstGeom prst="rect">
                        <a:avLst/>
                      </a:prstGeom>
                    </p:spPr>
                  </p:pic>
                </p:oleObj>
              </mc:Fallback>
            </mc:AlternateContent>
          </a:graphicData>
        </a:graphic>
      </p:graphicFrame>
      <p:pic>
        <p:nvPicPr>
          <p:cNvPr id="9" name="YMX1TRAX28.eps" descr="id:2147496726;FounderCES"/>
          <p:cNvPicPr/>
          <p:nvPr/>
        </p:nvPicPr>
        <p:blipFill>
          <a:blip r:embed="rId5">
            <a:clrChange>
              <a:clrFrom>
                <a:srgbClr val="F3F3F3"/>
              </a:clrFrom>
              <a:clrTo>
                <a:srgbClr val="F3F3F3">
                  <a:alpha val="0"/>
                </a:srgbClr>
              </a:clrTo>
            </a:clrChange>
          </a:blip>
          <a:stretch>
            <a:fillRect/>
          </a:stretch>
        </p:blipFill>
        <p:spPr>
          <a:xfrm>
            <a:off x="8956002" y="1810769"/>
            <a:ext cx="2512098" cy="3301936"/>
          </a:xfrm>
          <a:prstGeom prst="rect">
            <a:avLst/>
          </a:prstGeom>
        </p:spPr>
      </p:pic>
    </p:spTree>
    <p:extLst>
      <p:ext uri="{BB962C8B-B14F-4D97-AF65-F5344CB8AC3E}">
        <p14:creationId xmlns:p14="http://schemas.microsoft.com/office/powerpoint/2010/main" val="38560094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930265599"/>
              </p:ext>
            </p:extLst>
          </p:nvPr>
        </p:nvGraphicFramePr>
        <p:xfrm>
          <a:off x="64008" y="1209566"/>
          <a:ext cx="11430000" cy="5516760"/>
        </p:xfrm>
        <a:graphic>
          <a:graphicData uri="http://schemas.openxmlformats.org/presentationml/2006/ole">
            <mc:AlternateContent xmlns:mc="http://schemas.openxmlformats.org/markup-compatibility/2006">
              <mc:Choice xmlns:v="urn:schemas-microsoft-com:vml" Requires="v">
                <p:oleObj spid="_x0000_s21524" name="文档" r:id="rId3" imgW="4520786" imgH="2181985" progId="Word.Document.12">
                  <p:embed/>
                </p:oleObj>
              </mc:Choice>
              <mc:Fallback>
                <p:oleObj name="文档" r:id="rId3" imgW="4520786" imgH="2181985" progId="Word.Document.12">
                  <p:embed/>
                  <p:pic>
                    <p:nvPicPr>
                      <p:cNvPr id="0" name=""/>
                      <p:cNvPicPr/>
                      <p:nvPr/>
                    </p:nvPicPr>
                    <p:blipFill>
                      <a:blip r:embed="rId4"/>
                      <a:stretch>
                        <a:fillRect/>
                      </a:stretch>
                    </p:blipFill>
                    <p:spPr>
                      <a:xfrm>
                        <a:off x="64008" y="1209566"/>
                        <a:ext cx="11430000" cy="5516760"/>
                      </a:xfrm>
                      <a:prstGeom prst="rect">
                        <a:avLst/>
                      </a:prstGeom>
                    </p:spPr>
                  </p:pic>
                </p:oleObj>
              </mc:Fallback>
            </mc:AlternateContent>
          </a:graphicData>
        </a:graphic>
      </p:graphicFrame>
      <p:sp>
        <p:nvSpPr>
          <p:cNvPr id="7" name="矩形 6"/>
          <p:cNvSpPr>
            <a:spLocks noChangeAspect="1"/>
          </p:cNvSpPr>
          <p:nvPr/>
        </p:nvSpPr>
        <p:spPr>
          <a:xfrm>
            <a:off x="381000" y="50737"/>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平行于</a:t>
            </a:r>
            <a:r>
              <a:rPr lang="en-US" altLang="zh-CN" sz="2800" i="1" dirty="0">
                <a:solidFill>
                  <a:srgbClr val="000000"/>
                </a:solidFill>
                <a:latin typeface="Times New Roman" panose="02020603050405020304" pitchFamily="18" charset="0"/>
                <a:cs typeface="Times New Roman" panose="02020603050405020304" pitchFamily="18" charset="0"/>
              </a:rPr>
              <a:t>AP</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的直线为</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Cxyz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8" name="YMX1TRAX29.eps" descr="id:2147496733;FounderCES"/>
          <p:cNvPicPr/>
          <p:nvPr/>
        </p:nvPicPr>
        <p:blipFill>
          <a:blip r:embed="rId5">
            <a:clrChange>
              <a:clrFrom>
                <a:srgbClr val="F3F3F3"/>
              </a:clrFrom>
              <a:clrTo>
                <a:srgbClr val="F3F3F3">
                  <a:alpha val="0"/>
                </a:srgbClr>
              </a:clrTo>
            </a:clrChange>
          </a:blip>
          <a:stretch>
            <a:fillRect/>
          </a:stretch>
        </p:blipFill>
        <p:spPr>
          <a:xfrm>
            <a:off x="8559327" y="3141751"/>
            <a:ext cx="2382301" cy="3087518"/>
          </a:xfrm>
          <a:prstGeom prst="rect">
            <a:avLst/>
          </a:prstGeom>
        </p:spPr>
      </p:pic>
    </p:spTree>
    <p:extLst>
      <p:ext uri="{BB962C8B-B14F-4D97-AF65-F5344CB8AC3E}">
        <p14:creationId xmlns:p14="http://schemas.microsoft.com/office/powerpoint/2010/main" val="42418985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p:cNvGraphicFramePr>
            <a:graphicFrameLocks noChangeAspect="1"/>
          </p:cNvGraphicFramePr>
          <p:nvPr>
            <p:extLst>
              <p:ext uri="{D42A27DB-BD31-4B8C-83A1-F6EECF244321}">
                <p14:modId xmlns:p14="http://schemas.microsoft.com/office/powerpoint/2010/main" val="4007997602"/>
              </p:ext>
            </p:extLst>
          </p:nvPr>
        </p:nvGraphicFramePr>
        <p:xfrm>
          <a:off x="64008" y="28204"/>
          <a:ext cx="11430000" cy="6519145"/>
        </p:xfrm>
        <a:graphic>
          <a:graphicData uri="http://schemas.openxmlformats.org/presentationml/2006/ole">
            <mc:AlternateContent xmlns:mc="http://schemas.openxmlformats.org/markup-compatibility/2006">
              <mc:Choice xmlns:v="urn:schemas-microsoft-com:vml" Requires="v">
                <p:oleObj spid="_x0000_s22543" name="文档" r:id="rId3" imgW="4520786" imgH="2578448" progId="Word.Document.12">
                  <p:embed/>
                </p:oleObj>
              </mc:Choice>
              <mc:Fallback>
                <p:oleObj name="文档" r:id="rId3" imgW="4520786" imgH="2578448" progId="Word.Document.12">
                  <p:embed/>
                  <p:pic>
                    <p:nvPicPr>
                      <p:cNvPr id="0" name=""/>
                      <p:cNvPicPr/>
                      <p:nvPr/>
                    </p:nvPicPr>
                    <p:blipFill>
                      <a:blip r:embed="rId4"/>
                      <a:stretch>
                        <a:fillRect/>
                      </a:stretch>
                    </p:blipFill>
                    <p:spPr>
                      <a:xfrm>
                        <a:off x="64008" y="28204"/>
                        <a:ext cx="11430000" cy="6519145"/>
                      </a:xfrm>
                      <a:prstGeom prst="rect">
                        <a:avLst/>
                      </a:prstGeom>
                    </p:spPr>
                  </p:pic>
                </p:oleObj>
              </mc:Fallback>
            </mc:AlternateContent>
          </a:graphicData>
        </a:graphic>
      </p:graphicFrame>
    </p:spTree>
    <p:extLst>
      <p:ext uri="{BB962C8B-B14F-4D97-AF65-F5344CB8AC3E}">
        <p14:creationId xmlns:p14="http://schemas.microsoft.com/office/powerpoint/2010/main" val="4747722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81000" y="50021"/>
            <a:ext cx="2362200" cy="640625"/>
          </a:xfrm>
          <a:prstGeom prst="rect">
            <a:avLst/>
          </a:prstGeom>
        </p:spPr>
        <p:txBody>
          <a:bodyPr wrap="square">
            <a:spAutoFit/>
          </a:bodyPr>
          <a:lstStyle/>
          <a:p>
            <a:pPr>
              <a:lnSpc>
                <a:spcPct val="130000"/>
              </a:lnSpc>
              <a:tabLst>
                <a:tab pos="1188085" algn="l"/>
                <a:tab pos="2163445" algn="l"/>
                <a:tab pos="3142615" algn="l"/>
                <a:tab pos="4190365" algn="l"/>
              </a:tabLst>
            </a:pP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zh-CN" altLang="en-US"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规范解答</a:t>
            </a:r>
            <a:r>
              <a:rPr lang="zh-CN"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en-US" altLang="zh-CN" sz="3200" b="1" dirty="0" smtClean="0">
                <a:solidFill>
                  <a:srgbClr val="E88651">
                    <a:lumMod val="75000"/>
                  </a:srgbClr>
                </a:solidFill>
                <a:latin typeface="黑体" panose="02010609060101010101" pitchFamily="49" charset="-122"/>
                <a:ea typeface="方正姚体" panose="02010601030101010101"/>
                <a:cs typeface="方正姚体" panose="02010601030101010101" charset="-122"/>
              </a:rPr>
              <a:t> </a:t>
            </a:r>
            <a:endParaRPr lang="zh-CN" altLang="zh-CN" sz="3200" b="1" dirty="0">
              <a:solidFill>
                <a:srgbClr val="E88651">
                  <a:lumMod val="75000"/>
                </a:srgbClr>
              </a:solidFill>
              <a:latin typeface="黑体" panose="02010609060101010101" pitchFamily="49" charset="-122"/>
              <a:ea typeface="方正姚体" panose="02010601030101010101"/>
              <a:cs typeface="方正姚体" panose="02010601030101010101" charset="-122"/>
            </a:endParaRPr>
          </a:p>
        </p:txBody>
      </p:sp>
      <p:sp>
        <p:nvSpPr>
          <p:cNvPr id="8" name="矩形 7"/>
          <p:cNvSpPr>
            <a:spLocks noChangeAspect="1"/>
          </p:cNvSpPr>
          <p:nvPr/>
        </p:nvSpPr>
        <p:spPr>
          <a:xfrm>
            <a:off x="381000" y="708705"/>
            <a:ext cx="11430000" cy="5693866"/>
          </a:xfrm>
          <a:prstGeom prst="rect">
            <a:avLst/>
          </a:prstGeom>
        </p:spPr>
        <p:txBody>
          <a:bodyPr>
            <a:spAutoFit/>
          </a:bodyPr>
          <a:lstStyle/>
          <a:p>
            <a:pPr algn="ctr">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利用空间向量解决空间几何的综合问题</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【典例】</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如图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在直三棱柱</a:t>
            </a:r>
            <a:r>
              <a:rPr lang="en-US" altLang="zh-CN" sz="2800" i="1" dirty="0">
                <a:solidFill>
                  <a:srgbClr val="000000"/>
                </a:solidFill>
                <a:latin typeface="Times New Roman" panose="02020603050405020304" pitchFamily="18" charset="0"/>
                <a:cs typeface="Times New Roman" panose="02020603050405020304" pitchFamily="18" charset="0"/>
              </a:rPr>
              <a:t>ABC-A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a:t>
            </a:r>
            <a:r>
              <a:rPr lang="zh-CN" altLang="zh-CN" sz="2800" dirty="0">
                <a:solidFill>
                  <a:srgbClr val="000000"/>
                </a:solidFill>
                <a:latin typeface="Times New Roman" panose="02020603050405020304" pitchFamily="18" charset="0"/>
                <a:cs typeface="Times New Roman" panose="02020603050405020304" pitchFamily="18" charset="0"/>
              </a:rPr>
              <a:t>分别是</a:t>
            </a:r>
            <a:r>
              <a:rPr lang="en-US" altLang="zh-CN" sz="2800" i="1" dirty="0">
                <a:solidFill>
                  <a:srgbClr val="000000"/>
                </a:solidFill>
                <a:latin typeface="Times New Roman" panose="02020603050405020304" pitchFamily="18" charset="0"/>
                <a:cs typeface="Times New Roman" panose="02020603050405020304" pitchFamily="18" charset="0"/>
              </a:rPr>
              <a:t>AB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AA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 </a:t>
            </a:r>
            <a:r>
              <a:rPr lang="en-US" altLang="zh-CN" sz="2800" i="1" dirty="0" smtClean="0">
                <a:solidFill>
                  <a:srgbClr val="000000"/>
                </a:solidFill>
                <a:latin typeface="Times New Roman" panose="02020603050405020304" pitchFamily="18" charset="0"/>
                <a:cs typeface="Times New Roman" panose="02020603050405020304" pitchFamily="18" charset="0"/>
              </a:rPr>
              <a:t>=AC=CB=     AB</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CD</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CE</a:t>
            </a:r>
            <a:r>
              <a:rPr lang="zh-CN" altLang="zh-CN" sz="2800" dirty="0">
                <a:solidFill>
                  <a:srgbClr val="000000"/>
                </a:solidFill>
                <a:latin typeface="Times New Roman" panose="02020603050405020304" pitchFamily="18" charset="0"/>
                <a:cs typeface="Times New Roman" panose="02020603050405020304" pitchFamily="18" charset="0"/>
              </a:rPr>
              <a:t>的夹角的正弦值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smtClean="0">
              <a:solidFill>
                <a:srgbClr val="FF0000"/>
              </a:solidFill>
              <a:effectLst/>
              <a:latin typeface="Arial" panose="020B0604020202020204" pitchFamily="34" charset="0"/>
              <a:ea typeface="黑体" panose="02010609060101010101" pitchFamily="49"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smtClean="0">
              <a:solidFill>
                <a:srgbClr val="FF0000"/>
              </a:solidFill>
              <a:effectLst/>
              <a:latin typeface="Arial" panose="020B0604020202020204" pitchFamily="34" charset="0"/>
              <a:ea typeface="黑体" panose="02010609060101010101" pitchFamily="49"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smtClean="0">
              <a:solidFill>
                <a:srgbClr val="FF0000"/>
              </a:solidFill>
              <a:effectLst/>
              <a:latin typeface="Arial" panose="020B0604020202020204" pitchFamily="34" charset="0"/>
              <a:ea typeface="黑体" panose="02010609060101010101" pitchFamily="49"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审题</a:t>
            </a: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策略</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建立空间直角坐标系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利用向量方法进行求解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3458289178"/>
              </p:ext>
            </p:extLst>
          </p:nvPr>
        </p:nvGraphicFramePr>
        <p:xfrm>
          <a:off x="2046093" y="1771840"/>
          <a:ext cx="548648" cy="683099"/>
        </p:xfrm>
        <a:graphic>
          <a:graphicData uri="http://schemas.openxmlformats.org/presentationml/2006/ole">
            <mc:AlternateContent xmlns:mc="http://schemas.openxmlformats.org/markup-compatibility/2006">
              <mc:Choice xmlns:v="urn:schemas-microsoft-com:vml" Requires="v">
                <p:oleObj spid="_x0000_s23566" name="文档" r:id="rId3" imgW="325689" imgH="396823" progId="Word.Document.12">
                  <p:embed/>
                </p:oleObj>
              </mc:Choice>
              <mc:Fallback>
                <p:oleObj name="文档" r:id="rId3" imgW="325689" imgH="396823" progId="Word.Document.12">
                  <p:embed/>
                  <p:pic>
                    <p:nvPicPr>
                      <p:cNvPr id="0" name=""/>
                      <p:cNvPicPr/>
                      <p:nvPr/>
                    </p:nvPicPr>
                    <p:blipFill>
                      <a:blip r:embed="rId4"/>
                      <a:stretch>
                        <a:fillRect/>
                      </a:stretch>
                    </p:blipFill>
                    <p:spPr>
                      <a:xfrm>
                        <a:off x="2046093" y="1771840"/>
                        <a:ext cx="548648" cy="683099"/>
                      </a:xfrm>
                      <a:prstGeom prst="rect">
                        <a:avLst/>
                      </a:prstGeom>
                    </p:spPr>
                  </p:pic>
                </p:oleObj>
              </mc:Fallback>
            </mc:AlternateContent>
          </a:graphicData>
        </a:graphic>
      </p:graphicFrame>
      <p:pic>
        <p:nvPicPr>
          <p:cNvPr id="10" name="YMX1TRAX30.eps" descr="id:2147496747;FounderCES"/>
          <p:cNvPicPr>
            <a:picLocks noChangeAspect="1"/>
          </p:cNvPicPr>
          <p:nvPr/>
        </p:nvPicPr>
        <p:blipFill>
          <a:blip r:embed="rId5">
            <a:clrChange>
              <a:clrFrom>
                <a:srgbClr val="F3F3F3"/>
              </a:clrFrom>
              <a:clrTo>
                <a:srgbClr val="F3F3F3">
                  <a:alpha val="0"/>
                </a:srgbClr>
              </a:clrTo>
            </a:clrChange>
          </a:blip>
          <a:stretch>
            <a:fillRect/>
          </a:stretch>
        </p:blipFill>
        <p:spPr>
          <a:xfrm>
            <a:off x="4727875" y="2478703"/>
            <a:ext cx="2736251" cy="3151148"/>
          </a:xfrm>
          <a:prstGeom prst="rect">
            <a:avLst/>
          </a:prstGeom>
        </p:spPr>
      </p:pic>
    </p:spTree>
    <p:extLst>
      <p:ext uri="{BB962C8B-B14F-4D97-AF65-F5344CB8AC3E}">
        <p14:creationId xmlns:p14="http://schemas.microsoft.com/office/powerpoint/2010/main" val="187828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8" end="8"/>
                                            </p:txEl>
                                          </p:spTgt>
                                        </p:tgtEl>
                                        <p:attrNameLst>
                                          <p:attrName>style.visibility</p:attrName>
                                        </p:attrNameLst>
                                      </p:cBhvr>
                                      <p:to>
                                        <p:strVal val="visible"/>
                                      </p:to>
                                    </p:set>
                                    <p:animEffect transition="in" filter="wipe(down)">
                                      <p:cBhvr>
                                        <p:cTn id="7"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0960" y="-38033"/>
            <a:ext cx="11430000" cy="6496316"/>
            <a:chOff x="60960" y="-38033"/>
            <a:chExt cx="11430000" cy="6496316"/>
          </a:xfrm>
        </p:grpSpPr>
        <p:graphicFrame>
          <p:nvGraphicFramePr>
            <p:cNvPr id="2" name="对象 1"/>
            <p:cNvGraphicFramePr>
              <a:graphicFrameLocks noChangeAspect="1"/>
            </p:cNvGraphicFramePr>
            <p:nvPr>
              <p:extLst>
                <p:ext uri="{D42A27DB-BD31-4B8C-83A1-F6EECF244321}">
                  <p14:modId xmlns:p14="http://schemas.microsoft.com/office/powerpoint/2010/main" val="268367434"/>
                </p:ext>
              </p:extLst>
            </p:nvPr>
          </p:nvGraphicFramePr>
          <p:xfrm>
            <a:off x="60960" y="-38033"/>
            <a:ext cx="11430000" cy="1003297"/>
          </p:xfrm>
          <a:graphic>
            <a:graphicData uri="http://schemas.openxmlformats.org/presentationml/2006/ole">
              <mc:AlternateContent xmlns:mc="http://schemas.openxmlformats.org/markup-compatibility/2006">
                <mc:Choice xmlns:v="urn:schemas-microsoft-com:vml" Requires="v">
                  <p:oleObj spid="_x0000_s24620"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60960" y="-38033"/>
                          <a:ext cx="11430000" cy="1003297"/>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167826071"/>
                </p:ext>
              </p:extLst>
            </p:nvPr>
          </p:nvGraphicFramePr>
          <p:xfrm>
            <a:off x="60960" y="2948113"/>
            <a:ext cx="11430000" cy="3510170"/>
          </p:xfrm>
          <a:graphic>
            <a:graphicData uri="http://schemas.openxmlformats.org/presentationml/2006/ole">
              <mc:AlternateContent xmlns:mc="http://schemas.openxmlformats.org/markup-compatibility/2006">
                <mc:Choice xmlns:v="urn:schemas-microsoft-com:vml" Requires="v">
                  <p:oleObj spid="_x0000_s24621" name="文档" r:id="rId5" imgW="4520786" imgH="1388340" progId="Word.Document.12">
                    <p:embed/>
                  </p:oleObj>
                </mc:Choice>
                <mc:Fallback>
                  <p:oleObj name="文档" r:id="rId5" imgW="4520786" imgH="1388340" progId="Word.Document.12">
                    <p:embed/>
                    <p:pic>
                      <p:nvPicPr>
                        <p:cNvPr id="0" name=""/>
                        <p:cNvPicPr/>
                        <p:nvPr/>
                      </p:nvPicPr>
                      <p:blipFill>
                        <a:blip r:embed="rId6"/>
                        <a:stretch>
                          <a:fillRect/>
                        </a:stretch>
                      </p:blipFill>
                      <p:spPr>
                        <a:xfrm>
                          <a:off x="60960" y="2948113"/>
                          <a:ext cx="11430000" cy="3510170"/>
                        </a:xfrm>
                        <a:prstGeom prst="rect">
                          <a:avLst/>
                        </a:prstGeom>
                      </p:spPr>
                    </p:pic>
                  </p:oleObj>
                </mc:Fallback>
              </mc:AlternateContent>
            </a:graphicData>
          </a:graphic>
        </p:graphicFrame>
      </p:grpSp>
      <p:graphicFrame>
        <p:nvGraphicFramePr>
          <p:cNvPr id="6" name="对象 5"/>
          <p:cNvGraphicFramePr>
            <a:graphicFrameLocks noChangeAspect="1"/>
          </p:cNvGraphicFramePr>
          <p:nvPr>
            <p:extLst>
              <p:ext uri="{D42A27DB-BD31-4B8C-83A1-F6EECF244321}">
                <p14:modId xmlns:p14="http://schemas.microsoft.com/office/powerpoint/2010/main" val="4014617201"/>
              </p:ext>
            </p:extLst>
          </p:nvPr>
        </p:nvGraphicFramePr>
        <p:xfrm>
          <a:off x="479206" y="708892"/>
          <a:ext cx="11275153" cy="2181245"/>
        </p:xfrm>
        <a:graphic>
          <a:graphicData uri="http://schemas.openxmlformats.org/presentationml/2006/ole">
            <mc:AlternateContent xmlns:mc="http://schemas.openxmlformats.org/markup-compatibility/2006">
              <mc:Choice xmlns:v="urn:schemas-microsoft-com:vml" Requires="v">
                <p:oleObj spid="_x0000_s24622" name="文档" r:id="rId7" imgW="4510061" imgH="872498" progId="Word.Document.12">
                  <p:embed/>
                </p:oleObj>
              </mc:Choice>
              <mc:Fallback>
                <p:oleObj name="文档" r:id="rId7" imgW="4510061" imgH="872498" progId="Word.Document.12">
                  <p:embed/>
                  <p:pic>
                    <p:nvPicPr>
                      <p:cNvPr id="0" name=""/>
                      <p:cNvPicPr/>
                      <p:nvPr/>
                    </p:nvPicPr>
                    <p:blipFill>
                      <a:blip r:embed="rId8"/>
                      <a:stretch>
                        <a:fillRect/>
                      </a:stretch>
                    </p:blipFill>
                    <p:spPr>
                      <a:xfrm>
                        <a:off x="479206" y="708892"/>
                        <a:ext cx="11275153" cy="2181245"/>
                      </a:xfrm>
                      <a:prstGeom prst="rect">
                        <a:avLst/>
                      </a:prstGeom>
                    </p:spPr>
                  </p:pic>
                </p:oleObj>
              </mc:Fallback>
            </mc:AlternateContent>
          </a:graphicData>
        </a:graphic>
      </p:graphicFrame>
      <p:pic>
        <p:nvPicPr>
          <p:cNvPr id="7" name="NMX1TRAX96.eps" descr="id:2147514838;FounderCES"/>
          <p:cNvPicPr/>
          <p:nvPr/>
        </p:nvPicPr>
        <p:blipFill>
          <a:blip r:embed="rId9">
            <a:clrChange>
              <a:clrFrom>
                <a:srgbClr val="FFFFFF"/>
              </a:clrFrom>
              <a:clrTo>
                <a:srgbClr val="FFFFFF">
                  <a:alpha val="0"/>
                </a:srgbClr>
              </a:clrTo>
            </a:clrChange>
          </a:blip>
          <a:stretch>
            <a:fillRect/>
          </a:stretch>
        </p:blipFill>
        <p:spPr>
          <a:xfrm>
            <a:off x="8625349" y="2465313"/>
            <a:ext cx="2669957" cy="3436723"/>
          </a:xfrm>
          <a:prstGeom prst="rect">
            <a:avLst/>
          </a:prstGeom>
        </p:spPr>
      </p:pic>
    </p:spTree>
    <p:extLst>
      <p:ext uri="{BB962C8B-B14F-4D97-AF65-F5344CB8AC3E}">
        <p14:creationId xmlns:p14="http://schemas.microsoft.com/office/powerpoint/2010/main" val="263878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760941412"/>
              </p:ext>
            </p:extLst>
          </p:nvPr>
        </p:nvGraphicFramePr>
        <p:xfrm>
          <a:off x="64008" y="618998"/>
          <a:ext cx="11430000" cy="5014657"/>
        </p:xfrm>
        <a:graphic>
          <a:graphicData uri="http://schemas.openxmlformats.org/presentationml/2006/ole">
            <mc:AlternateContent xmlns:mc="http://schemas.openxmlformats.org/markup-compatibility/2006">
              <mc:Choice xmlns:v="urn:schemas-microsoft-com:vml" Requires="v">
                <p:oleObj spid="_x0000_s25614" name="文档" r:id="rId3" imgW="4520786" imgH="1983394" progId="Word.Document.12">
                  <p:embed/>
                </p:oleObj>
              </mc:Choice>
              <mc:Fallback>
                <p:oleObj name="文档" r:id="rId3" imgW="4520786" imgH="1983394" progId="Word.Document.12">
                  <p:embed/>
                  <p:pic>
                    <p:nvPicPr>
                      <p:cNvPr id="0" name=""/>
                      <p:cNvPicPr/>
                      <p:nvPr/>
                    </p:nvPicPr>
                    <p:blipFill>
                      <a:blip r:embed="rId4"/>
                      <a:stretch>
                        <a:fillRect/>
                      </a:stretch>
                    </p:blipFill>
                    <p:spPr>
                      <a:xfrm>
                        <a:off x="64008" y="618998"/>
                        <a:ext cx="11430000" cy="5014657"/>
                      </a:xfrm>
                      <a:prstGeom prst="rect">
                        <a:avLst/>
                      </a:prstGeom>
                    </p:spPr>
                  </p:pic>
                </p:oleObj>
              </mc:Fallback>
            </mc:AlternateContent>
          </a:graphicData>
        </a:graphic>
      </p:graphicFrame>
    </p:spTree>
    <p:extLst>
      <p:ext uri="{BB962C8B-B14F-4D97-AF65-F5344CB8AC3E}">
        <p14:creationId xmlns:p14="http://schemas.microsoft.com/office/powerpoint/2010/main" val="26628909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05348"/>
            <a:ext cx="11430000" cy="395313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答题模板</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第</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建立空间直角坐标系</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Cambria Math" panose="02040503050406030204" pitchFamily="18" charset="0"/>
                <a:ea typeface="NEU-BZ-S92"/>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第</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求出向量坐标</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Cambria Math" panose="02040503050406030204" pitchFamily="18" charset="0"/>
                <a:ea typeface="NEU-BZ-S92"/>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第</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用待定系数法求法向量坐标</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Cambria Math" panose="02040503050406030204" pitchFamily="18" charset="0"/>
                <a:ea typeface="NEU-BZ-S92"/>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第</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求两个法向量的夹角的余弦值</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进而求得正弦值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4883189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05350"/>
            <a:ext cx="11430000" cy="4013406"/>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通过</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分析</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得出规范解答本题的要点</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如下</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利用三角形中的边长关系找到垂直的条件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从而恰当地建立空间直角坐标</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系</a:t>
            </a:r>
            <a:r>
              <a:rPr lang="en-US"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利用中点公式正确地求出相关点的</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坐标</a:t>
            </a:r>
            <a:r>
              <a:rPr lang="en-US"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用待定系数法求出平面的法</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向量</a:t>
            </a:r>
            <a:r>
              <a:rPr lang="en-US"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利用三角函数的知识把向量夹角的余弦值转化为两平面夹角的正弦值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19620020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31999"/>
            <a:ext cx="11430000" cy="569386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smtClean="0">
                <a:solidFill>
                  <a:srgbClr val="000000"/>
                </a:solidFill>
                <a:latin typeface="Times New Roman" panose="02020603050405020304" pitchFamily="18" charset="0"/>
                <a:cs typeface="Times New Roman" panose="02020603050405020304" pitchFamily="18" charset="0"/>
              </a:rPr>
              <a:t>如</a:t>
            </a:r>
            <a:r>
              <a:rPr lang="zh-CN" altLang="zh-CN" sz="2800" dirty="0">
                <a:solidFill>
                  <a:srgbClr val="000000"/>
                </a:solidFill>
                <a:latin typeface="Times New Roman" panose="02020603050405020304" pitchFamily="18" charset="0"/>
                <a:cs typeface="Times New Roman" panose="02020603050405020304" pitchFamily="18" charset="0"/>
              </a:rPr>
              <a:t>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四边形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zh-CN" altLang="zh-CN" sz="2800" dirty="0">
                <a:solidFill>
                  <a:srgbClr val="000000"/>
                </a:solidFill>
                <a:latin typeface="Times New Roman" panose="02020603050405020304" pitchFamily="18" charset="0"/>
                <a:cs typeface="Times New Roman" panose="02020603050405020304" pitchFamily="18" charset="0"/>
              </a:rPr>
              <a:t>为正方形</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F</a:t>
            </a:r>
            <a:r>
              <a:rPr lang="zh-CN" altLang="zh-CN" sz="2800" dirty="0">
                <a:solidFill>
                  <a:srgbClr val="000000"/>
                </a:solidFill>
                <a:latin typeface="Times New Roman" panose="02020603050405020304" pitchFamily="18" charset="0"/>
                <a:cs typeface="Times New Roman" panose="02020603050405020304" pitchFamily="18" charset="0"/>
              </a:rPr>
              <a:t>分别为</a:t>
            </a:r>
            <a:r>
              <a:rPr lang="en-US" altLang="zh-CN" sz="2800" i="1" dirty="0">
                <a:solidFill>
                  <a:srgbClr val="000000"/>
                </a:solidFill>
                <a:latin typeface="Times New Roman" panose="02020603050405020304" pitchFamily="18" charset="0"/>
                <a:cs typeface="Times New Roman" panose="02020603050405020304" pitchFamily="18" charset="0"/>
              </a:rPr>
              <a:t>AD</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DF</a:t>
            </a:r>
            <a:r>
              <a:rPr lang="zh-CN" altLang="zh-CN" sz="2800" dirty="0">
                <a:solidFill>
                  <a:srgbClr val="000000"/>
                </a:solidFill>
                <a:latin typeface="Times New Roman" panose="02020603050405020304" pitchFamily="18" charset="0"/>
                <a:cs typeface="Times New Roman" panose="02020603050405020304" pitchFamily="18" charset="0"/>
              </a:rPr>
              <a:t>为折痕把</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DFC</a:t>
            </a:r>
            <a:r>
              <a:rPr lang="zh-CN" altLang="zh-CN" sz="2800" dirty="0">
                <a:solidFill>
                  <a:srgbClr val="000000"/>
                </a:solidFill>
                <a:latin typeface="Times New Roman" panose="02020603050405020304" pitchFamily="18" charset="0"/>
                <a:cs typeface="Times New Roman" panose="02020603050405020304" pitchFamily="18" charset="0"/>
              </a:rPr>
              <a:t>折起</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使点</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到达点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zh-CN" altLang="zh-CN" sz="2800" dirty="0">
                <a:solidFill>
                  <a:srgbClr val="000000"/>
                </a:solidFill>
                <a:latin typeface="Times New Roman" panose="02020603050405020304" pitchFamily="18" charset="0"/>
                <a:cs typeface="Times New Roman" panose="02020603050405020304" pitchFamily="18" charset="0"/>
              </a:rPr>
              <a:t>的位置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PF</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BF</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endParaRPr lang="en-US" altLang="zh-CN" sz="2800" i="1" dirty="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smtClean="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smtClean="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en-US" altLang="zh-CN" sz="2800" i="1" dirty="0">
              <a:solidFill>
                <a:srgbClr val="000000"/>
              </a:solidFill>
              <a:latin typeface="Times New Roman" panose="02020603050405020304" pitchFamily="18" charset="0"/>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latin typeface="Times New Roman" panose="02020603050405020304" pitchFamily="18" charset="0"/>
                <a:cs typeface="Times New Roman" panose="02020603050405020304" pitchFamily="18" charset="0"/>
              </a:rPr>
              <a:t>证明</a:t>
            </a:r>
            <a:r>
              <a:rPr lang="en-US" altLang="zh-CN" sz="2800" dirty="0">
                <a:latin typeface="Times New Roman" panose="02020603050405020304" pitchFamily="18" charset="0"/>
                <a:cs typeface="Times New Roman" panose="02020603050405020304" pitchFamily="18" charset="0"/>
              </a:rPr>
              <a:t>:</a:t>
            </a:r>
            <a:r>
              <a:rPr lang="zh-CN" altLang="zh-CN" sz="2800" dirty="0">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PEF</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ABFD</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求直线</a:t>
            </a:r>
            <a:r>
              <a:rPr lang="en-US" altLang="zh-CN" sz="2800" i="1" dirty="0">
                <a:solidFill>
                  <a:srgbClr val="000000"/>
                </a:solidFill>
                <a:latin typeface="Times New Roman" panose="02020603050405020304" pitchFamily="18" charset="0"/>
                <a:cs typeface="Times New Roman" panose="02020603050405020304" pitchFamily="18" charset="0"/>
              </a:rPr>
              <a:t>DP</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cs typeface="Times New Roman" panose="02020603050405020304" pitchFamily="18" charset="0"/>
              </a:rPr>
              <a:t>ABFD</a:t>
            </a:r>
            <a:r>
              <a:rPr lang="zh-CN" altLang="zh-CN" sz="2800" dirty="0">
                <a:solidFill>
                  <a:srgbClr val="000000"/>
                </a:solidFill>
                <a:latin typeface="Times New Roman" panose="02020603050405020304" pitchFamily="18" charset="0"/>
                <a:cs typeface="Times New Roman" panose="02020603050405020304" pitchFamily="18" charset="0"/>
              </a:rPr>
              <a:t>所成角的正弦值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YMX1TRAX32.eps" descr="id:2147496768;FounderCES"/>
          <p:cNvPicPr>
            <a:picLocks noChangeAspect="1"/>
          </p:cNvPicPr>
          <p:nvPr/>
        </p:nvPicPr>
        <p:blipFill>
          <a:blip r:embed="rId2">
            <a:clrChange>
              <a:clrFrom>
                <a:srgbClr val="F3F3F3"/>
              </a:clrFrom>
              <a:clrTo>
                <a:srgbClr val="F3F3F3">
                  <a:alpha val="0"/>
                </a:srgbClr>
              </a:clrTo>
            </a:clrChange>
          </a:blip>
          <a:stretch>
            <a:fillRect/>
          </a:stretch>
        </p:blipFill>
        <p:spPr>
          <a:xfrm>
            <a:off x="3445215" y="1652596"/>
            <a:ext cx="5301570" cy="2692789"/>
          </a:xfrm>
          <a:prstGeom prst="rect">
            <a:avLst/>
          </a:prstGeom>
        </p:spPr>
      </p:pic>
    </p:spTree>
    <p:extLst>
      <p:ext uri="{BB962C8B-B14F-4D97-AF65-F5344CB8AC3E}">
        <p14:creationId xmlns:p14="http://schemas.microsoft.com/office/powerpoint/2010/main" val="26190845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4008" y="194687"/>
            <a:ext cx="11746992" cy="6076217"/>
            <a:chOff x="64008" y="194687"/>
            <a:chExt cx="11746992" cy="6076217"/>
          </a:xfrm>
        </p:grpSpPr>
        <p:sp>
          <p:nvSpPr>
            <p:cNvPr id="2" name="矩形 1"/>
            <p:cNvSpPr>
              <a:spLocks noChangeAspect="1"/>
            </p:cNvSpPr>
            <p:nvPr/>
          </p:nvSpPr>
          <p:spPr>
            <a:xfrm>
              <a:off x="381000" y="194687"/>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证明</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由已知可得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BF</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PF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BF</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EF.</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i="1" dirty="0">
                  <a:solidFill>
                    <a:srgbClr val="000000"/>
                  </a:solidFill>
                  <a:latin typeface="Times New Roman" panose="02020603050405020304" pitchFamily="18" charset="0"/>
                  <a:cs typeface="Times New Roman" panose="02020603050405020304" pitchFamily="18" charset="0"/>
                </a:rPr>
                <a:t>PF</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EF=F</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BF</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PEF.</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BF</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ABFD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所以平面</a:t>
              </a:r>
              <a:r>
                <a:rPr lang="en-US" altLang="zh-CN" sz="2800" i="1" dirty="0">
                  <a:solidFill>
                    <a:srgbClr val="000000"/>
                  </a:solidFill>
                  <a:latin typeface="Times New Roman" panose="02020603050405020304" pitchFamily="18" charset="0"/>
                  <a:cs typeface="Times New Roman" panose="02020603050405020304" pitchFamily="18" charset="0"/>
                </a:rPr>
                <a:t>PEF</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ABFD.</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作</a:t>
              </a:r>
              <a:r>
                <a:rPr lang="en-US" altLang="zh-CN" sz="2800" i="1" dirty="0">
                  <a:solidFill>
                    <a:srgbClr val="000000"/>
                  </a:solidFill>
                  <a:latin typeface="Times New Roman" panose="02020603050405020304" pitchFamily="18" charset="0"/>
                  <a:cs typeface="Times New Roman" panose="02020603050405020304" pitchFamily="18" charset="0"/>
                </a:rPr>
                <a:t>PH</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EF</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垂足为</a:t>
              </a:r>
              <a:r>
                <a:rPr lang="en-US" altLang="zh-CN" sz="2800" i="1" dirty="0">
                  <a:solidFill>
                    <a:srgbClr val="000000"/>
                  </a:solidFill>
                  <a:latin typeface="Times New Roman" panose="02020603050405020304" pitchFamily="18" charset="0"/>
                  <a:cs typeface="Times New Roman" panose="02020603050405020304" pitchFamily="18" charset="0"/>
                </a:rPr>
                <a:t>H.</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PH</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平面</a:t>
              </a:r>
              <a:r>
                <a:rPr lang="en-US" altLang="zh-CN" sz="2800" i="1" dirty="0">
                  <a:solidFill>
                    <a:srgbClr val="000000"/>
                  </a:solidFill>
                  <a:latin typeface="Times New Roman" panose="02020603050405020304" pitchFamily="18" charset="0"/>
                  <a:cs typeface="Times New Roman" panose="02020603050405020304" pitchFamily="18" charset="0"/>
                </a:rPr>
                <a:t>ABFD.</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848420638"/>
                </p:ext>
              </p:extLst>
            </p:nvPr>
          </p:nvGraphicFramePr>
          <p:xfrm>
            <a:off x="64008" y="2503936"/>
            <a:ext cx="11430000" cy="501192"/>
          </p:xfrm>
          <a:graphic>
            <a:graphicData uri="http://schemas.openxmlformats.org/presentationml/2006/ole">
              <mc:AlternateContent xmlns:mc="http://schemas.openxmlformats.org/markup-compatibility/2006">
                <mc:Choice xmlns:v="urn:schemas-microsoft-com:vml" Requires="v">
                  <p:oleObj spid="_x0000_s26654" name="文档" r:id="rId3" imgW="4520786" imgH="198231" progId="Word.Document.12">
                    <p:embed/>
                  </p:oleObj>
                </mc:Choice>
                <mc:Fallback>
                  <p:oleObj name="文档" r:id="rId3" imgW="4520786" imgH="198231" progId="Word.Document.12">
                    <p:embed/>
                    <p:pic>
                      <p:nvPicPr>
                        <p:cNvPr id="0" name=""/>
                        <p:cNvPicPr/>
                        <p:nvPr/>
                      </p:nvPicPr>
                      <p:blipFill>
                        <a:blip r:embed="rId4"/>
                        <a:stretch>
                          <a:fillRect/>
                        </a:stretch>
                      </p:blipFill>
                      <p:spPr>
                        <a:xfrm>
                          <a:off x="64008" y="2503936"/>
                          <a:ext cx="11430000" cy="501192"/>
                        </a:xfrm>
                        <a:prstGeom prst="rect">
                          <a:avLst/>
                        </a:prstGeom>
                      </p:spPr>
                    </p:pic>
                  </p:oleObj>
                </mc:Fallback>
              </mc:AlternateContent>
            </a:graphicData>
          </a:graphic>
        </p:graphicFrame>
        <p:sp>
          <p:nvSpPr>
            <p:cNvPr id="4" name="矩形 3"/>
            <p:cNvSpPr>
              <a:spLocks noChangeAspect="1"/>
            </p:cNvSpPr>
            <p:nvPr/>
          </p:nvSpPr>
          <p:spPr>
            <a:xfrm>
              <a:off x="381000" y="3041704"/>
              <a:ext cx="11430000" cy="177279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Hxyz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en-US"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知</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DE</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PE.</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DP=</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DE=</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930628380"/>
                </p:ext>
              </p:extLst>
            </p:nvPr>
          </p:nvGraphicFramePr>
          <p:xfrm>
            <a:off x="64008" y="4766416"/>
            <a:ext cx="11430000" cy="1504488"/>
          </p:xfrm>
          <a:graphic>
            <a:graphicData uri="http://schemas.openxmlformats.org/presentationml/2006/ole">
              <mc:AlternateContent xmlns:mc="http://schemas.openxmlformats.org/markup-compatibility/2006">
                <mc:Choice xmlns:v="urn:schemas-microsoft-com:vml" Requires="v">
                  <p:oleObj spid="_x0000_s26655" name="文档" r:id="rId5" imgW="4520786" imgH="595054" progId="Word.Document.12">
                    <p:embed/>
                  </p:oleObj>
                </mc:Choice>
                <mc:Fallback>
                  <p:oleObj name="文档" r:id="rId5" imgW="4520786" imgH="595054" progId="Word.Document.12">
                    <p:embed/>
                    <p:pic>
                      <p:nvPicPr>
                        <p:cNvPr id="0" name=""/>
                        <p:cNvPicPr/>
                        <p:nvPr/>
                      </p:nvPicPr>
                      <p:blipFill>
                        <a:blip r:embed="rId6"/>
                        <a:stretch>
                          <a:fillRect/>
                        </a:stretch>
                      </p:blipFill>
                      <p:spPr>
                        <a:xfrm>
                          <a:off x="64008" y="4766416"/>
                          <a:ext cx="11430000" cy="1504488"/>
                        </a:xfrm>
                        <a:prstGeom prst="rect">
                          <a:avLst/>
                        </a:prstGeom>
                      </p:spPr>
                    </p:pic>
                  </p:oleObj>
                </mc:Fallback>
              </mc:AlternateContent>
            </a:graphicData>
          </a:graphic>
        </p:graphicFrame>
        <p:pic>
          <p:nvPicPr>
            <p:cNvPr id="6" name="YMX1TRAX33.eps" descr="id:2147496775;FounderCES"/>
            <p:cNvPicPr/>
            <p:nvPr/>
          </p:nvPicPr>
          <p:blipFill>
            <a:blip r:embed="rId7">
              <a:clrChange>
                <a:clrFrom>
                  <a:srgbClr val="F3F3F3"/>
                </a:clrFrom>
                <a:clrTo>
                  <a:srgbClr val="F3F3F3">
                    <a:alpha val="0"/>
                  </a:srgbClr>
                </a:clrTo>
              </a:clrChange>
            </a:blip>
            <a:stretch>
              <a:fillRect/>
            </a:stretch>
          </p:blipFill>
          <p:spPr>
            <a:xfrm>
              <a:off x="7318045" y="3216465"/>
              <a:ext cx="4419803" cy="2599119"/>
            </a:xfrm>
            <a:prstGeom prst="rect">
              <a:avLst/>
            </a:prstGeom>
          </p:spPr>
        </p:pic>
      </p:grpSp>
    </p:spTree>
    <p:extLst>
      <p:ext uri="{BB962C8B-B14F-4D97-AF65-F5344CB8AC3E}">
        <p14:creationId xmlns:p14="http://schemas.microsoft.com/office/powerpoint/2010/main" val="540505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239989127"/>
              </p:ext>
            </p:extLst>
          </p:nvPr>
        </p:nvGraphicFramePr>
        <p:xfrm>
          <a:off x="64008" y="594208"/>
          <a:ext cx="11430000" cy="4513463"/>
        </p:xfrm>
        <a:graphic>
          <a:graphicData uri="http://schemas.openxmlformats.org/presentationml/2006/ole">
            <mc:AlternateContent xmlns:mc="http://schemas.openxmlformats.org/markup-compatibility/2006">
              <mc:Choice xmlns:v="urn:schemas-microsoft-com:vml" Requires="v">
                <p:oleObj spid="_x0000_s27662" name="文档" r:id="rId3" imgW="4520786" imgH="1785162" progId="Word.Document.12">
                  <p:embed/>
                </p:oleObj>
              </mc:Choice>
              <mc:Fallback>
                <p:oleObj name="文档" r:id="rId3" imgW="4520786" imgH="1785162" progId="Word.Document.12">
                  <p:embed/>
                  <p:pic>
                    <p:nvPicPr>
                      <p:cNvPr id="0" name=""/>
                      <p:cNvPicPr/>
                      <p:nvPr/>
                    </p:nvPicPr>
                    <p:blipFill>
                      <a:blip r:embed="rId4"/>
                      <a:stretch>
                        <a:fillRect/>
                      </a:stretch>
                    </p:blipFill>
                    <p:spPr>
                      <a:xfrm>
                        <a:off x="64008" y="594208"/>
                        <a:ext cx="11430000" cy="4513463"/>
                      </a:xfrm>
                      <a:prstGeom prst="rect">
                        <a:avLst/>
                      </a:prstGeom>
                    </p:spPr>
                  </p:pic>
                </p:oleObj>
              </mc:Fallback>
            </mc:AlternateContent>
          </a:graphicData>
        </a:graphic>
      </p:graphicFrame>
    </p:spTree>
    <p:extLst>
      <p:ext uri="{BB962C8B-B14F-4D97-AF65-F5344CB8AC3E}">
        <p14:creationId xmlns:p14="http://schemas.microsoft.com/office/powerpoint/2010/main" val="14908138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47138"/>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若异面直线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的方向向量与</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的方向向量的夹角</a:t>
            </a:r>
            <a:r>
              <a:rPr lang="zh-CN" altLang="zh-CN" sz="2800" dirty="0" smtClean="0">
                <a:solidFill>
                  <a:srgbClr val="000000"/>
                </a:solidFill>
                <a:latin typeface="Times New Roman" panose="02020603050405020304" pitchFamily="18" charset="0"/>
                <a:cs typeface="Times New Roman" panose="02020603050405020304" pitchFamily="18" charset="0"/>
              </a:rPr>
              <a:t>为</a:t>
            </a:r>
            <a:r>
              <a:rPr lang="en-US" altLang="zh-CN" sz="2800" dirty="0" smtClean="0">
                <a:solidFill>
                  <a:srgbClr val="000000"/>
                </a:solidFill>
                <a:latin typeface="Times New Roman" panose="02020603050405020304" pitchFamily="18"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所成的角为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854888208"/>
              </p:ext>
            </p:extLst>
          </p:nvPr>
        </p:nvGraphicFramePr>
        <p:xfrm>
          <a:off x="8369446" y="75045"/>
          <a:ext cx="684212" cy="992187"/>
        </p:xfrm>
        <a:graphic>
          <a:graphicData uri="http://schemas.openxmlformats.org/presentationml/2006/ole">
            <mc:AlternateContent xmlns:mc="http://schemas.openxmlformats.org/markup-compatibility/2006">
              <mc:Choice xmlns:v="urn:schemas-microsoft-com:vml" Requires="v">
                <p:oleObj spid="_x0000_s28704" name="文档" r:id="rId3" imgW="281235" imgH="398949" progId="Word.Document.12">
                  <p:embed/>
                </p:oleObj>
              </mc:Choice>
              <mc:Fallback>
                <p:oleObj name="文档" r:id="rId3" imgW="281235" imgH="398949" progId="Word.Document.12">
                  <p:embed/>
                  <p:pic>
                    <p:nvPicPr>
                      <p:cNvPr id="0" name=""/>
                      <p:cNvPicPr/>
                      <p:nvPr/>
                    </p:nvPicPr>
                    <p:blipFill>
                      <a:blip r:embed="rId4"/>
                      <a:stretch>
                        <a:fillRect/>
                      </a:stretch>
                    </p:blipFill>
                    <p:spPr>
                      <a:xfrm>
                        <a:off x="8369446" y="75045"/>
                        <a:ext cx="684212" cy="992187"/>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317242926"/>
              </p:ext>
            </p:extLst>
          </p:nvPr>
        </p:nvGraphicFramePr>
        <p:xfrm>
          <a:off x="479206" y="1338356"/>
          <a:ext cx="11275153" cy="1983030"/>
        </p:xfrm>
        <a:graphic>
          <a:graphicData uri="http://schemas.openxmlformats.org/presentationml/2006/ole">
            <mc:AlternateContent xmlns:mc="http://schemas.openxmlformats.org/markup-compatibility/2006">
              <mc:Choice xmlns:v="urn:schemas-microsoft-com:vml" Requires="v">
                <p:oleObj spid="_x0000_s28705" name="文档" r:id="rId5" imgW="4510061" imgH="793212" progId="Word.Document.12">
                  <p:embed/>
                </p:oleObj>
              </mc:Choice>
              <mc:Fallback>
                <p:oleObj name="文档" r:id="rId5" imgW="4510061" imgH="793212" progId="Word.Document.12">
                  <p:embed/>
                  <p:pic>
                    <p:nvPicPr>
                      <p:cNvPr id="0" name=""/>
                      <p:cNvPicPr/>
                      <p:nvPr/>
                    </p:nvPicPr>
                    <p:blipFill>
                      <a:blip r:embed="rId6"/>
                      <a:stretch>
                        <a:fillRect/>
                      </a:stretch>
                    </p:blipFill>
                    <p:spPr>
                      <a:xfrm>
                        <a:off x="479206" y="1338356"/>
                        <a:ext cx="11275153" cy="1983030"/>
                      </a:xfrm>
                      <a:prstGeom prst="rect">
                        <a:avLst/>
                      </a:prstGeom>
                    </p:spPr>
                  </p:pic>
                </p:oleObj>
              </mc:Fallback>
            </mc:AlternateContent>
          </a:graphicData>
        </a:graphic>
      </p:graphicFrame>
      <p:sp>
        <p:nvSpPr>
          <p:cNvPr id="6" name="矩形 5"/>
          <p:cNvSpPr>
            <a:spLocks noChangeAspect="1"/>
          </p:cNvSpPr>
          <p:nvPr/>
        </p:nvSpPr>
        <p:spPr>
          <a:xfrm>
            <a:off x="381000" y="3248649"/>
            <a:ext cx="11430000" cy="28328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所成角与其方向向量的夹角相等或互补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且异面直线所成角的</a:t>
            </a:r>
            <a:endPar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范围为</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所成的角</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a:t>
            </a:r>
            <a:r>
              <a:rPr lang="en-US"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a:t>
            </a:r>
            <a:endParaRPr lang="zh-CN" altLang="zh-CN" sz="2800" dirty="0">
              <a:solidFill>
                <a:srgbClr val="000000"/>
              </a:solidFill>
              <a:latin typeface="NEU-BZ-S92"/>
              <a:ea typeface="方正书宋_GBK"/>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456142061"/>
              </p:ext>
            </p:extLst>
          </p:nvPr>
        </p:nvGraphicFramePr>
        <p:xfrm>
          <a:off x="1435011" y="4220850"/>
          <a:ext cx="1089602" cy="909205"/>
        </p:xfrm>
        <a:graphic>
          <a:graphicData uri="http://schemas.openxmlformats.org/presentationml/2006/ole">
            <mc:AlternateContent xmlns:mc="http://schemas.openxmlformats.org/markup-compatibility/2006">
              <mc:Choice xmlns:v="urn:schemas-microsoft-com:vml" Requires="v">
                <p:oleObj spid="_x0000_s28706" name="文档" r:id="rId7" imgW="481877" imgH="396823" progId="Word.Document.12">
                  <p:embed/>
                </p:oleObj>
              </mc:Choice>
              <mc:Fallback>
                <p:oleObj name="文档" r:id="rId7" imgW="481877" imgH="396823" progId="Word.Document.12">
                  <p:embed/>
                  <p:pic>
                    <p:nvPicPr>
                      <p:cNvPr id="0" name=""/>
                      <p:cNvPicPr/>
                      <p:nvPr/>
                    </p:nvPicPr>
                    <p:blipFill>
                      <a:blip r:embed="rId8"/>
                      <a:stretch>
                        <a:fillRect/>
                      </a:stretch>
                    </p:blipFill>
                    <p:spPr>
                      <a:xfrm>
                        <a:off x="1435011" y="4220850"/>
                        <a:ext cx="1089602" cy="909205"/>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170408667"/>
              </p:ext>
            </p:extLst>
          </p:nvPr>
        </p:nvGraphicFramePr>
        <p:xfrm>
          <a:off x="5474133" y="4167952"/>
          <a:ext cx="684212" cy="992187"/>
        </p:xfrm>
        <a:graphic>
          <a:graphicData uri="http://schemas.openxmlformats.org/presentationml/2006/ole">
            <mc:AlternateContent xmlns:mc="http://schemas.openxmlformats.org/markup-compatibility/2006">
              <mc:Choice xmlns:v="urn:schemas-microsoft-com:vml" Requires="v">
                <p:oleObj spid="_x0000_s28707" name="文档" r:id="rId9" imgW="281235" imgH="398949" progId="Word.Document.12">
                  <p:embed/>
                </p:oleObj>
              </mc:Choice>
              <mc:Fallback>
                <p:oleObj name="文档" r:id="rId9" imgW="281235" imgH="398949" progId="Word.Document.12">
                  <p:embed/>
                  <p:pic>
                    <p:nvPicPr>
                      <p:cNvPr id="0" name=""/>
                      <p:cNvPicPr/>
                      <p:nvPr/>
                    </p:nvPicPr>
                    <p:blipFill>
                      <a:blip r:embed="rId10"/>
                      <a:stretch>
                        <a:fillRect/>
                      </a:stretch>
                    </p:blipFill>
                    <p:spPr>
                      <a:xfrm>
                        <a:off x="5474133" y="4167952"/>
                        <a:ext cx="684212" cy="992187"/>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wipe(down)">
                                      <p:cBhvr>
                                        <p:cTn id="10" dur="500"/>
                                        <p:tgtEl>
                                          <p:spTgt spid="6">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par>
                                <p:cTn id="14" presetID="22" presetClass="entr" presetSubtype="4" fill="hold"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transition="in" filter="wipe(down)">
                                      <p:cBhvr>
                                        <p:cTn id="16" dur="500"/>
                                        <p:tgtEl>
                                          <p:spTgt spid="6">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wipe(down)">
                                      <p:cBhvr>
                                        <p:cTn id="21"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在正方体</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a:t>
            </a:r>
            <a:r>
              <a:rPr lang="zh-CN" altLang="zh-CN" sz="2800" dirty="0">
                <a:solidFill>
                  <a:srgbClr val="000000"/>
                </a:solidFill>
                <a:latin typeface="Times New Roman" panose="02020603050405020304" pitchFamily="18" charset="0"/>
                <a:cs typeface="Times New Roman" panose="02020603050405020304" pitchFamily="18" charset="0"/>
              </a:rPr>
              <a:t>是</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则直线</a:t>
            </a:r>
            <a:r>
              <a:rPr lang="en-US" altLang="zh-CN" sz="2800" i="1" dirty="0">
                <a:solidFill>
                  <a:srgbClr val="000000"/>
                </a:solidFill>
                <a:latin typeface="Times New Roman" panose="02020603050405020304" pitchFamily="18" charset="0"/>
                <a:cs typeface="Times New Roman" panose="02020603050405020304" pitchFamily="18" charset="0"/>
              </a:rPr>
              <a:t>BE</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BD</a:t>
            </a:r>
            <a:r>
              <a:rPr lang="zh-CN" altLang="zh-CN" sz="2800" dirty="0">
                <a:solidFill>
                  <a:srgbClr val="000000"/>
                </a:solidFill>
                <a:latin typeface="Times New Roman" panose="02020603050405020304" pitchFamily="18" charset="0"/>
                <a:cs typeface="Times New Roman" panose="02020603050405020304" pitchFamily="18" charset="0"/>
              </a:rPr>
              <a:t>所成角的正弦值为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521261391"/>
              </p:ext>
            </p:extLst>
          </p:nvPr>
        </p:nvGraphicFramePr>
        <p:xfrm>
          <a:off x="466344" y="2478207"/>
          <a:ext cx="11430000" cy="2005680"/>
        </p:xfrm>
        <a:graphic>
          <a:graphicData uri="http://schemas.openxmlformats.org/presentationml/2006/ole">
            <mc:AlternateContent xmlns:mc="http://schemas.openxmlformats.org/markup-compatibility/2006">
              <mc:Choice xmlns:v="urn:schemas-microsoft-com:vml" Requires="v">
                <p:oleObj spid="_x0000_s29710"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466344" y="2478207"/>
                        <a:ext cx="11430000" cy="2005680"/>
                      </a:xfrm>
                      <a:prstGeom prst="rect">
                        <a:avLst/>
                      </a:prstGeom>
                    </p:spPr>
                  </p:pic>
                </p:oleObj>
              </mc:Fallback>
            </mc:AlternateContent>
          </a:graphicData>
        </a:graphic>
      </p:graphicFrame>
    </p:spTree>
    <p:extLst>
      <p:ext uri="{BB962C8B-B14F-4D97-AF65-F5344CB8AC3E}">
        <p14:creationId xmlns:p14="http://schemas.microsoft.com/office/powerpoint/2010/main" val="23825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81000" y="6071402"/>
            <a:ext cx="1330814"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B </a:t>
            </a:r>
            <a:endParaRPr lang="zh-CN" altLang="zh-CN" sz="2800" dirty="0">
              <a:solidFill>
                <a:srgbClr val="000000"/>
              </a:solidFill>
              <a:effectLst/>
              <a:latin typeface="NEU-BZ-S92"/>
              <a:ea typeface="方正书宋_GBK"/>
              <a:cs typeface="Times New Roman" panose="02020603050405020304" pitchFamily="18" charset="0"/>
            </a:endParaRPr>
          </a:p>
        </p:txBody>
      </p:sp>
      <p:grpSp>
        <p:nvGrpSpPr>
          <p:cNvPr id="6" name="组合 5"/>
          <p:cNvGrpSpPr/>
          <p:nvPr/>
        </p:nvGrpSpPr>
        <p:grpSpPr>
          <a:xfrm>
            <a:off x="381000" y="56642"/>
            <a:ext cx="11527536" cy="6210348"/>
            <a:chOff x="381000" y="56642"/>
            <a:chExt cx="11527536" cy="6210348"/>
          </a:xfrm>
        </p:grpSpPr>
        <p:sp>
          <p:nvSpPr>
            <p:cNvPr id="2" name="矩形 1"/>
            <p:cNvSpPr>
              <a:spLocks noChangeAspect="1"/>
            </p:cNvSpPr>
            <p:nvPr/>
          </p:nvSpPr>
          <p:spPr>
            <a:xfrm>
              <a:off x="381000" y="56642"/>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Dxyz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设正方体的棱长为</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(0,0,0),</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(2,2,0),</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(2,2,2),</a:t>
              </a:r>
              <a:r>
                <a:rPr lang="en-US" altLang="zh-CN" sz="2800" i="1" dirty="0">
                  <a:solidFill>
                    <a:srgbClr val="000000"/>
                  </a:solidFill>
                  <a:latin typeface="Times New Roman" panose="02020603050405020304" pitchFamily="18" charset="0"/>
                  <a:cs typeface="Times New Roman" panose="02020603050405020304" pitchFamily="18" charset="0"/>
                </a:rPr>
                <a:t>E</a:t>
              </a:r>
              <a:r>
                <a:rPr lang="en-US" altLang="zh-CN" sz="2800" dirty="0">
                  <a:solidFill>
                    <a:srgbClr val="000000"/>
                  </a:solidFill>
                  <a:latin typeface="Times New Roman" panose="02020603050405020304" pitchFamily="18" charset="0"/>
                  <a:cs typeface="Times New Roman" panose="02020603050405020304" pitchFamily="18" charset="0"/>
                </a:rPr>
                <a:t>(0,2,1),</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42264594"/>
                </p:ext>
              </p:extLst>
            </p:nvPr>
          </p:nvGraphicFramePr>
          <p:xfrm>
            <a:off x="478536" y="1252333"/>
            <a:ext cx="11430000" cy="5014657"/>
          </p:xfrm>
          <a:graphic>
            <a:graphicData uri="http://schemas.openxmlformats.org/presentationml/2006/ole">
              <mc:AlternateContent xmlns:mc="http://schemas.openxmlformats.org/markup-compatibility/2006">
                <mc:Choice xmlns:v="urn:schemas-microsoft-com:vml" Requires="v">
                  <p:oleObj spid="_x0000_s30734" name="文档" r:id="rId3" imgW="4520786" imgH="1983394" progId="Word.Document.12">
                    <p:embed/>
                  </p:oleObj>
                </mc:Choice>
                <mc:Fallback>
                  <p:oleObj name="文档" r:id="rId3" imgW="4520786" imgH="1983394" progId="Word.Document.12">
                    <p:embed/>
                    <p:pic>
                      <p:nvPicPr>
                        <p:cNvPr id="0" name=""/>
                        <p:cNvPicPr/>
                        <p:nvPr/>
                      </p:nvPicPr>
                      <p:blipFill>
                        <a:blip r:embed="rId4"/>
                        <a:stretch>
                          <a:fillRect/>
                        </a:stretch>
                      </p:blipFill>
                      <p:spPr>
                        <a:xfrm>
                          <a:off x="478536" y="1252333"/>
                          <a:ext cx="11430000" cy="5014657"/>
                        </a:xfrm>
                        <a:prstGeom prst="rect">
                          <a:avLst/>
                        </a:prstGeom>
                      </p:spPr>
                    </p:pic>
                  </p:oleObj>
                </mc:Fallback>
              </mc:AlternateContent>
            </a:graphicData>
          </a:graphic>
        </p:graphicFrame>
        <p:pic>
          <p:nvPicPr>
            <p:cNvPr id="5" name="YMX1TRAX35.eps" descr="id:2147496789;FounderCES"/>
            <p:cNvPicPr/>
            <p:nvPr/>
          </p:nvPicPr>
          <p:blipFill>
            <a:blip r:embed="rId5">
              <a:clrChange>
                <a:clrFrom>
                  <a:srgbClr val="F3F3F3"/>
                </a:clrFrom>
                <a:clrTo>
                  <a:srgbClr val="F3F3F3">
                    <a:alpha val="0"/>
                  </a:srgbClr>
                </a:clrTo>
              </a:clrChange>
            </a:blip>
            <a:stretch>
              <a:fillRect/>
            </a:stretch>
          </p:blipFill>
          <p:spPr>
            <a:xfrm>
              <a:off x="7624571" y="1165188"/>
              <a:ext cx="3680089" cy="3772091"/>
            </a:xfrm>
            <a:prstGeom prst="rect">
              <a:avLst/>
            </a:prstGeom>
          </p:spPr>
        </p:pic>
      </p:grpSp>
    </p:spTree>
    <p:extLst>
      <p:ext uri="{BB962C8B-B14F-4D97-AF65-F5344CB8AC3E}">
        <p14:creationId xmlns:p14="http://schemas.microsoft.com/office/powerpoint/2010/main" val="366111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09901"/>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若平面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α</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β</a:t>
            </a:r>
            <a:r>
              <a:rPr lang="zh-CN" altLang="zh-CN" sz="2800" dirty="0">
                <a:solidFill>
                  <a:srgbClr val="000000"/>
                </a:solidFill>
                <a:latin typeface="Times New Roman" panose="02020603050405020304" pitchFamily="18" charset="0"/>
                <a:cs typeface="Times New Roman" panose="02020603050405020304" pitchFamily="18" charset="0"/>
              </a:rPr>
              <a:t>相交于直线</a:t>
            </a:r>
            <a:r>
              <a:rPr lang="en-US" altLang="zh-CN" sz="2800" i="1" dirty="0">
                <a:solidFill>
                  <a:srgbClr val="000000"/>
                </a:solidFill>
                <a:latin typeface="Times New Roman" panose="02020603050405020304" pitchFamily="18" charset="0"/>
                <a:cs typeface="Times New Roman" panose="02020603050405020304" pitchFamily="18" charset="0"/>
              </a:rPr>
              <a:t>l</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在两个平面内与</a:t>
            </a:r>
            <a:r>
              <a:rPr lang="en-US" altLang="zh-CN" sz="2800" i="1" dirty="0">
                <a:solidFill>
                  <a:srgbClr val="000000"/>
                </a:solidFill>
                <a:latin typeface="Times New Roman" panose="02020603050405020304" pitchFamily="18" charset="0"/>
                <a:cs typeface="Times New Roman" panose="02020603050405020304" pitchFamily="18" charset="0"/>
              </a:rPr>
              <a:t>l</a:t>
            </a:r>
            <a:r>
              <a:rPr lang="zh-CN" altLang="zh-CN" sz="2800" dirty="0">
                <a:solidFill>
                  <a:srgbClr val="000000"/>
                </a:solidFill>
                <a:latin typeface="Times New Roman" panose="02020603050405020304" pitchFamily="18" charset="0"/>
                <a:cs typeface="Times New Roman" panose="02020603050405020304" pitchFamily="18" charset="0"/>
              </a:rPr>
              <a:t>垂直的两个向量分别为</a:t>
            </a:r>
            <a:r>
              <a:rPr lang="en-US" altLang="zh-CN" sz="2800" b="1" dirty="0">
                <a:solidFill>
                  <a:srgbClr val="000000"/>
                </a:solidFill>
                <a:latin typeface="Times New Roman" panose="02020603050405020304" pitchFamily="18" charset="0"/>
                <a:cs typeface="Times New Roman" panose="02020603050405020304" pitchFamily="18" charset="0"/>
              </a:rPr>
              <a:t>u</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1,3),</a:t>
            </a:r>
            <a:r>
              <a:rPr lang="en-US" altLang="zh-CN" sz="2800" b="1" dirty="0">
                <a:solidFill>
                  <a:srgbClr val="000000"/>
                </a:solidFill>
                <a:latin typeface="Times New Roman" panose="02020603050405020304" pitchFamily="18" charset="0"/>
                <a:cs typeface="Times New Roman" panose="02020603050405020304" pitchFamily="18" charset="0"/>
              </a:rPr>
              <a:t>v</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(2,2,4),</a:t>
            </a:r>
            <a:r>
              <a:rPr lang="zh-CN" altLang="zh-CN" sz="2800" dirty="0">
                <a:solidFill>
                  <a:srgbClr val="000000"/>
                </a:solidFill>
                <a:latin typeface="Times New Roman" panose="02020603050405020304" pitchFamily="18" charset="0"/>
                <a:cs typeface="Times New Roman" panose="02020603050405020304" pitchFamily="18" charset="0"/>
              </a:rPr>
              <a:t>则这两个平面夹角的余弦值为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847584089"/>
              </p:ext>
            </p:extLst>
          </p:nvPr>
        </p:nvGraphicFramePr>
        <p:xfrm>
          <a:off x="478536" y="1938816"/>
          <a:ext cx="11430000" cy="2005680"/>
        </p:xfrm>
        <a:graphic>
          <a:graphicData uri="http://schemas.openxmlformats.org/presentationml/2006/ole">
            <mc:AlternateContent xmlns:mc="http://schemas.openxmlformats.org/markup-compatibility/2006">
              <mc:Choice xmlns:v="urn:schemas-microsoft-com:vml" Requires="v">
                <p:oleObj spid="_x0000_s31770"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478536" y="1938816"/>
                        <a:ext cx="11430000" cy="200568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899435856"/>
              </p:ext>
            </p:extLst>
          </p:nvPr>
        </p:nvGraphicFramePr>
        <p:xfrm>
          <a:off x="478536" y="3854280"/>
          <a:ext cx="11430000" cy="1003297"/>
        </p:xfrm>
        <a:graphic>
          <a:graphicData uri="http://schemas.openxmlformats.org/presentationml/2006/ole">
            <mc:AlternateContent xmlns:mc="http://schemas.openxmlformats.org/markup-compatibility/2006">
              <mc:Choice xmlns:v="urn:schemas-microsoft-com:vml" Requires="v">
                <p:oleObj spid="_x0000_s31771"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478536" y="3854280"/>
                        <a:ext cx="11430000" cy="1003297"/>
                      </a:xfrm>
                      <a:prstGeom prst="rect">
                        <a:avLst/>
                      </a:prstGeom>
                    </p:spPr>
                  </p:pic>
                </p:oleObj>
              </mc:Fallback>
            </mc:AlternateContent>
          </a:graphicData>
        </a:graphic>
      </p:graphicFrame>
    </p:spTree>
    <p:extLst>
      <p:ext uri="{BB962C8B-B14F-4D97-AF65-F5344CB8AC3E}">
        <p14:creationId xmlns:p14="http://schemas.microsoft.com/office/powerpoint/2010/main" val="32256709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6277"/>
            <a:ext cx="11430000" cy="17727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已知在棱长为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的正方体</a:t>
            </a:r>
            <a:r>
              <a:rPr lang="en-US" altLang="zh-CN" sz="2800" i="1" dirty="0">
                <a:solidFill>
                  <a:srgbClr val="000000"/>
                </a:solidFill>
                <a:latin typeface="Times New Roman" panose="02020603050405020304" pitchFamily="18" charset="0"/>
                <a:cs typeface="Times New Roman" panose="02020603050405020304" pitchFamily="18" charset="0"/>
              </a:rPr>
              <a:t>ABCD-A'B'C'D'</a:t>
            </a:r>
            <a:r>
              <a:rPr lang="zh-CN" altLang="zh-CN" sz="2800" dirty="0">
                <a:solidFill>
                  <a:srgbClr val="000000"/>
                </a:solidFill>
                <a:latin typeface="Times New Roman" panose="02020603050405020304" pitchFamily="18" charset="0"/>
                <a:cs typeface="Times New Roman" panose="02020603050405020304" pitchFamily="18" charset="0"/>
              </a:rPr>
              <a:t>中</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E</a:t>
            </a:r>
            <a:r>
              <a:rPr lang="zh-CN" altLang="zh-CN" sz="2800" dirty="0">
                <a:solidFill>
                  <a:srgbClr val="000000"/>
                </a:solidFill>
                <a:latin typeface="Times New Roman" panose="02020603050405020304" pitchFamily="18" charset="0"/>
                <a:cs typeface="Times New Roman" panose="02020603050405020304" pitchFamily="18" charset="0"/>
              </a:rPr>
              <a:t>是</a:t>
            </a:r>
            <a:r>
              <a:rPr lang="en-US" altLang="zh-CN" sz="2800" i="1" dirty="0">
                <a:solidFill>
                  <a:srgbClr val="000000"/>
                </a:solidFill>
                <a:latin typeface="Times New Roman" panose="02020603050405020304" pitchFamily="18" charset="0"/>
                <a:cs typeface="Times New Roman" panose="02020603050405020304" pitchFamily="18" charset="0"/>
              </a:rPr>
              <a:t>BC</a:t>
            </a:r>
            <a:r>
              <a:rPr lang="zh-CN" altLang="zh-CN" sz="2800" dirty="0">
                <a:solidFill>
                  <a:srgbClr val="000000"/>
                </a:solidFill>
                <a:latin typeface="Times New Roman" panose="02020603050405020304" pitchFamily="18" charset="0"/>
                <a:cs typeface="Times New Roman" panose="02020603050405020304" pitchFamily="18" charset="0"/>
              </a:rPr>
              <a:t>的中点</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则直线</a:t>
            </a:r>
            <a:r>
              <a:rPr lang="en-US" altLang="zh-CN" sz="2800" i="1" dirty="0">
                <a:solidFill>
                  <a:srgbClr val="000000"/>
                </a:solidFill>
                <a:latin typeface="Times New Roman" panose="02020603050405020304" pitchFamily="18" charset="0"/>
                <a:cs typeface="Times New Roman" panose="02020603050405020304" pitchFamily="18" charset="0"/>
              </a:rPr>
              <a:t>A'C</a:t>
            </a:r>
            <a:r>
              <a:rPr lang="zh-CN" altLang="zh-CN" sz="2800" dirty="0">
                <a:solidFill>
                  <a:srgbClr val="000000"/>
                </a:solidFill>
                <a:latin typeface="Times New Roman" panose="02020603050405020304" pitchFamily="18" charset="0"/>
                <a:cs typeface="Times New Roman" panose="02020603050405020304" pitchFamily="18" charset="0"/>
              </a:rPr>
              <a:t>与</a:t>
            </a:r>
            <a:r>
              <a:rPr lang="en-US" altLang="zh-CN" sz="2800" i="1" dirty="0">
                <a:solidFill>
                  <a:srgbClr val="000000"/>
                </a:solidFill>
                <a:latin typeface="Times New Roman" panose="02020603050405020304" pitchFamily="18" charset="0"/>
                <a:cs typeface="Times New Roman" panose="02020603050405020304" pitchFamily="18" charset="0"/>
              </a:rPr>
              <a:t>DE</a:t>
            </a:r>
            <a:r>
              <a:rPr lang="zh-CN" altLang="zh-CN" sz="2800" dirty="0">
                <a:solidFill>
                  <a:srgbClr val="000000"/>
                </a:solidFill>
                <a:latin typeface="Times New Roman" panose="02020603050405020304" pitchFamily="18" charset="0"/>
                <a:cs typeface="Times New Roman" panose="02020603050405020304" pitchFamily="18" charset="0"/>
              </a:rPr>
              <a:t>所成角的余弦值为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en-US" altLang="zh-CN" sz="2800" i="1" dirty="0" smtClean="0">
              <a:solidFill>
                <a:srgbClr val="000000"/>
              </a:solidFill>
              <a:latin typeface="宋体" panose="02010600030101010101" pitchFamily="2" charset="-12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建立空间直角坐标系</a:t>
            </a:r>
            <a:r>
              <a:rPr lang="en-US" altLang="zh-CN" sz="2800" i="1" dirty="0" err="1">
                <a:solidFill>
                  <a:srgbClr val="000000"/>
                </a:solidFill>
                <a:latin typeface="Times New Roman" panose="02020603050405020304" pitchFamily="18" charset="0"/>
                <a:cs typeface="Times New Roman" panose="02020603050405020304" pitchFamily="18" charset="0"/>
              </a:rPr>
              <a:t>Axyz</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如图所示</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841651089"/>
              </p:ext>
            </p:extLst>
          </p:nvPr>
        </p:nvGraphicFramePr>
        <p:xfrm>
          <a:off x="481140" y="1756605"/>
          <a:ext cx="11430000" cy="4012272"/>
        </p:xfrm>
        <a:graphic>
          <a:graphicData uri="http://schemas.openxmlformats.org/presentationml/2006/ole">
            <mc:AlternateContent xmlns:mc="http://schemas.openxmlformats.org/markup-compatibility/2006">
              <mc:Choice xmlns:v="urn:schemas-microsoft-com:vml" Requires="v">
                <p:oleObj spid="_x0000_s32794" name="文档" r:id="rId3" imgW="4520786" imgH="1586931" progId="Word.Document.12">
                  <p:embed/>
                </p:oleObj>
              </mc:Choice>
              <mc:Fallback>
                <p:oleObj name="文档" r:id="rId3" imgW="4520786" imgH="1586931" progId="Word.Document.12">
                  <p:embed/>
                  <p:pic>
                    <p:nvPicPr>
                      <p:cNvPr id="0" name=""/>
                      <p:cNvPicPr/>
                      <p:nvPr/>
                    </p:nvPicPr>
                    <p:blipFill>
                      <a:blip r:embed="rId4"/>
                      <a:stretch>
                        <a:fillRect/>
                      </a:stretch>
                    </p:blipFill>
                    <p:spPr>
                      <a:xfrm>
                        <a:off x="481140" y="1756605"/>
                        <a:ext cx="11430000" cy="4012272"/>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956455942"/>
              </p:ext>
            </p:extLst>
          </p:nvPr>
        </p:nvGraphicFramePr>
        <p:xfrm>
          <a:off x="481140" y="5586479"/>
          <a:ext cx="11430000" cy="1003297"/>
        </p:xfrm>
        <a:graphic>
          <a:graphicData uri="http://schemas.openxmlformats.org/presentationml/2006/ole">
            <mc:AlternateContent xmlns:mc="http://schemas.openxmlformats.org/markup-compatibility/2006">
              <mc:Choice xmlns:v="urn:schemas-microsoft-com:vml" Requires="v">
                <p:oleObj spid="_x0000_s32795"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481140" y="5586479"/>
                        <a:ext cx="11430000" cy="1003297"/>
                      </a:xfrm>
                      <a:prstGeom prst="rect">
                        <a:avLst/>
                      </a:prstGeom>
                    </p:spPr>
                  </p:pic>
                </p:oleObj>
              </mc:Fallback>
            </mc:AlternateContent>
          </a:graphicData>
        </a:graphic>
      </p:graphicFrame>
      <p:pic>
        <p:nvPicPr>
          <p:cNvPr id="6" name="YMX1TRAX36.eps" descr="id:2147496796;FounderCES"/>
          <p:cNvPicPr/>
          <p:nvPr/>
        </p:nvPicPr>
        <p:blipFill>
          <a:blip r:embed="rId7">
            <a:clrChange>
              <a:clrFrom>
                <a:srgbClr val="F3F3F3"/>
              </a:clrFrom>
              <a:clrTo>
                <a:srgbClr val="F3F3F3">
                  <a:alpha val="0"/>
                </a:srgbClr>
              </a:clrTo>
            </a:clrChange>
          </a:blip>
          <a:stretch>
            <a:fillRect/>
          </a:stretch>
        </p:blipFill>
        <p:spPr>
          <a:xfrm>
            <a:off x="8179879" y="1922371"/>
            <a:ext cx="3323425" cy="3498342"/>
          </a:xfrm>
          <a:prstGeom prst="rect">
            <a:avLst/>
          </a:prstGeom>
        </p:spPr>
      </p:pic>
    </p:spTree>
    <p:extLst>
      <p:ext uri="{BB962C8B-B14F-4D97-AF65-F5344CB8AC3E}">
        <p14:creationId xmlns:p14="http://schemas.microsoft.com/office/powerpoint/2010/main" val="32310720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par>
                                <p:cTn id="11" presetID="22" presetClass="entr" presetSubtype="4"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down)">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35601"/>
            <a:ext cx="11430000" cy="569386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5</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如</a:t>
            </a:r>
            <a:r>
              <a:rPr lang="zh-CN" altLang="zh-CN" sz="2800" dirty="0">
                <a:solidFill>
                  <a:srgbClr val="000000"/>
                </a:solidFill>
                <a:latin typeface="Times New Roman" panose="02020603050405020304" pitchFamily="18" charset="0"/>
                <a:cs typeface="Times New Roman" panose="02020603050405020304" pitchFamily="18" charset="0"/>
              </a:rPr>
              <a:t>图</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四棱柱</a:t>
            </a:r>
            <a:r>
              <a:rPr lang="en-US" altLang="zh-CN" sz="2800" i="1" dirty="0">
                <a:solidFill>
                  <a:srgbClr val="000000"/>
                </a:solidFill>
                <a:latin typeface="Times New Roman" panose="02020603050405020304" pitchFamily="18" charset="0"/>
                <a:cs typeface="Times New Roman" panose="02020603050405020304" pitchFamily="18" charset="0"/>
              </a:rPr>
              <a:t>ABCD-A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的所有棱长都相等</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BD=O</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A</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C</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B</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D</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 </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四边形</a:t>
            </a:r>
            <a:r>
              <a:rPr lang="en-US" altLang="zh-CN" sz="2800" i="1" dirty="0">
                <a:solidFill>
                  <a:srgbClr val="000000"/>
                </a:solidFill>
                <a:latin typeface="Times New Roman" panose="02020603050405020304" pitchFamily="18" charset="0"/>
                <a:cs typeface="Times New Roman" panose="02020603050405020304" pitchFamily="18" charset="0"/>
              </a:rPr>
              <a:t>ACC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和四边形</a:t>
            </a:r>
            <a:r>
              <a:rPr lang="en-US" altLang="zh-CN" sz="2800" i="1" dirty="0">
                <a:solidFill>
                  <a:srgbClr val="000000"/>
                </a:solidFill>
                <a:latin typeface="Times New Roman" panose="02020603050405020304" pitchFamily="18" charset="0"/>
                <a:cs typeface="Times New Roman" panose="02020603050405020304" pitchFamily="18" charset="0"/>
              </a:rPr>
              <a:t>BDD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均为矩形</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i="1" dirty="0">
              <a:solidFill>
                <a:srgbClr val="000000"/>
              </a:solidFill>
              <a:latin typeface="Times New Roman" panose="02020603050405020304" pitchFamily="18" charset="0"/>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dirty="0" smtClean="0">
              <a:solidFill>
                <a:srgbClr val="000000"/>
              </a:solidFill>
              <a:latin typeface="Times New Roman" panose="02020603050405020304" pitchFamily="18" charset="0"/>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dirty="0" smtClean="0">
              <a:solidFill>
                <a:srgbClr val="000000"/>
              </a:solidFill>
              <a:latin typeface="Times New Roman" panose="02020603050405020304" pitchFamily="18" charset="0"/>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dirty="0">
              <a:solidFill>
                <a:srgbClr val="000000"/>
              </a:solidFill>
              <a:latin typeface="Times New Roman" panose="02020603050405020304" pitchFamily="18" charset="0"/>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dirty="0" smtClean="0">
              <a:solidFill>
                <a:srgbClr val="000000"/>
              </a:solidFill>
              <a:latin typeface="Times New Roman" panose="02020603050405020304" pitchFamily="18" charset="0"/>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latin typeface="Times New Roman" panose="02020603050405020304" pitchFamily="18" charset="0"/>
                <a:cs typeface="Times New Roman" panose="02020603050405020304" pitchFamily="18" charset="0"/>
              </a:rPr>
              <a:t>证明</a:t>
            </a:r>
            <a:r>
              <a:rPr lang="en-US" altLang="zh-CN" sz="2800" dirty="0">
                <a:latin typeface="Times New Roman" panose="02020603050405020304" pitchFamily="18" charset="0"/>
                <a:cs typeface="Times New Roman" panose="02020603050405020304" pitchFamily="18" charset="0"/>
              </a:rPr>
              <a:t>:</a:t>
            </a:r>
            <a:r>
              <a:rPr lang="en-US" altLang="zh-CN" sz="2800" i="1" dirty="0">
                <a:latin typeface="Times New Roman" panose="02020603050405020304" pitchFamily="18" charset="0"/>
                <a:cs typeface="Times New Roman" panose="02020603050405020304" pitchFamily="18" charset="0"/>
              </a:rPr>
              <a:t>O</a:t>
            </a:r>
            <a:r>
              <a:rPr lang="en-US" altLang="zh-CN" sz="2800" baseline="-25000" dirty="0">
                <a:latin typeface="Times New Roman" panose="02020603050405020304" pitchFamily="18" charset="0"/>
                <a:cs typeface="Times New Roman" panose="02020603050405020304" pitchFamily="18" charset="0"/>
              </a:rPr>
              <a:t>1</a:t>
            </a:r>
            <a:r>
              <a:rPr lang="en-US" altLang="zh-CN" sz="2800" i="1" dirty="0">
                <a:latin typeface="Times New Roman" panose="02020603050405020304" pitchFamily="18" charset="0"/>
                <a:cs typeface="Times New Roman" panose="02020603050405020304" pitchFamily="18" charset="0"/>
              </a:rPr>
              <a:t>O</a:t>
            </a:r>
            <a:r>
              <a:rPr lang="zh-CN" altLang="zh-CN" sz="2800" dirty="0">
                <a:latin typeface="NEU-BZ-S92"/>
                <a:cs typeface="宋体" panose="02010600030101010101" pitchFamily="2" charset="-122"/>
              </a:rPr>
              <a:t>⊥</a:t>
            </a:r>
            <a:r>
              <a:rPr lang="zh-CN" altLang="zh-CN" sz="2800" dirty="0">
                <a:solidFill>
                  <a:srgbClr val="000000"/>
                </a:solidFill>
                <a:latin typeface="Times New Roman" panose="02020603050405020304" pitchFamily="18" charset="0"/>
                <a:cs typeface="Times New Roman" panose="02020603050405020304" pitchFamily="18" charset="0"/>
              </a:rPr>
              <a:t>底面</a:t>
            </a:r>
            <a:r>
              <a:rPr lang="en-US" altLang="zh-CN" sz="2800" i="1" dirty="0">
                <a:solidFill>
                  <a:srgbClr val="000000"/>
                </a:solidFill>
                <a:latin typeface="Times New Roman" panose="02020603050405020304" pitchFamily="18" charset="0"/>
                <a:cs typeface="Times New Roman" panose="02020603050405020304" pitchFamily="18" charset="0"/>
              </a:rPr>
              <a:t>ABCD.</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若</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CBA=</a:t>
            </a:r>
            <a:r>
              <a:rPr lang="en-US" altLang="zh-CN" sz="2800" dirty="0">
                <a:solidFill>
                  <a:srgbClr val="000000"/>
                </a:solidFill>
                <a:latin typeface="Times New Roman" panose="02020603050405020304" pitchFamily="18" charset="0"/>
                <a:cs typeface="Times New Roman" panose="02020603050405020304" pitchFamily="18" charset="0"/>
              </a:rPr>
              <a:t>60</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求平面</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OC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与平面</a:t>
            </a:r>
            <a:r>
              <a:rPr lang="en-US" altLang="zh-CN" sz="2800" i="1" dirty="0">
                <a:solidFill>
                  <a:srgbClr val="000000"/>
                </a:solidFill>
                <a:latin typeface="Times New Roman" panose="02020603050405020304" pitchFamily="18" charset="0"/>
                <a:cs typeface="Times New Roman" panose="02020603050405020304" pitchFamily="18" charset="0"/>
              </a:rPr>
              <a:t>BDD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夹角的余弦值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YMX1TRAX37.eps" descr="id:2147496803;FounderCES"/>
          <p:cNvPicPr>
            <a:picLocks noChangeAspect="1"/>
          </p:cNvPicPr>
          <p:nvPr/>
        </p:nvPicPr>
        <p:blipFill>
          <a:blip r:embed="rId2">
            <a:clrChange>
              <a:clrFrom>
                <a:srgbClr val="F3F3F3"/>
              </a:clrFrom>
              <a:clrTo>
                <a:srgbClr val="F3F3F3">
                  <a:alpha val="0"/>
                </a:srgbClr>
              </a:clrTo>
            </a:clrChange>
          </a:blip>
          <a:stretch>
            <a:fillRect/>
          </a:stretch>
        </p:blipFill>
        <p:spPr>
          <a:xfrm>
            <a:off x="4440568" y="1487189"/>
            <a:ext cx="3310864" cy="3166305"/>
          </a:xfrm>
          <a:prstGeom prst="rect">
            <a:avLst/>
          </a:prstGeom>
        </p:spPr>
      </p:pic>
    </p:spTree>
    <p:extLst>
      <p:ext uri="{BB962C8B-B14F-4D97-AF65-F5344CB8AC3E}">
        <p14:creationId xmlns:p14="http://schemas.microsoft.com/office/powerpoint/2010/main" val="28887506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339298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证明</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因为四边形</a:t>
            </a:r>
            <a:r>
              <a:rPr lang="en-US" altLang="zh-CN" sz="2800" i="1" dirty="0">
                <a:solidFill>
                  <a:srgbClr val="000000"/>
                </a:solidFill>
                <a:latin typeface="Times New Roman" panose="02020603050405020304" pitchFamily="18" charset="0"/>
                <a:cs typeface="Times New Roman" panose="02020603050405020304" pitchFamily="18" charset="0"/>
              </a:rPr>
              <a:t>ACC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和四边形</a:t>
            </a:r>
            <a:r>
              <a:rPr lang="en-US" altLang="zh-CN" sz="2800" i="1" dirty="0">
                <a:solidFill>
                  <a:srgbClr val="000000"/>
                </a:solidFill>
                <a:latin typeface="Times New Roman" panose="02020603050405020304" pitchFamily="18" charset="0"/>
                <a:cs typeface="Times New Roman" panose="02020603050405020304" pitchFamily="18" charset="0"/>
              </a:rPr>
              <a:t>BDD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均为矩形</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BD</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CC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DD</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OO</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OO</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OO</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BD.</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i="1" dirty="0">
                <a:solidFill>
                  <a:srgbClr val="000000"/>
                </a:solidFill>
                <a:latin typeface="Times New Roman" panose="02020603050405020304" pitchFamily="18" charset="0"/>
                <a:cs typeface="Times New Roman" panose="02020603050405020304" pitchFamily="18" charset="0"/>
              </a:rPr>
              <a:t>AC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BD=O</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O</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底面</a:t>
            </a:r>
            <a:r>
              <a:rPr lang="en-US" altLang="zh-CN" sz="2800" i="1" dirty="0">
                <a:solidFill>
                  <a:srgbClr val="000000"/>
                </a:solidFill>
                <a:latin typeface="Times New Roman" panose="02020603050405020304" pitchFamily="18" charset="0"/>
                <a:cs typeface="Times New Roman" panose="02020603050405020304" pitchFamily="18" charset="0"/>
              </a:rPr>
              <a:t>ABCD.</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41901708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81000" y="56642"/>
            <a:ext cx="11527536" cy="6832907"/>
            <a:chOff x="381000" y="56642"/>
            <a:chExt cx="11527536" cy="6832907"/>
          </a:xfrm>
        </p:grpSpPr>
        <p:sp>
          <p:nvSpPr>
            <p:cNvPr id="2" name="矩形 1"/>
            <p:cNvSpPr>
              <a:spLocks noChangeAspect="1"/>
            </p:cNvSpPr>
            <p:nvPr/>
          </p:nvSpPr>
          <p:spPr>
            <a:xfrm>
              <a:off x="381000" y="56642"/>
              <a:ext cx="11430000" cy="28328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因为四棱柱的所有棱长都相等</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所以四边形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为菱形</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AC</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BD</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又</a:t>
              </a:r>
              <a:r>
                <a:rPr lang="en-US" altLang="zh-CN" sz="2800" i="1" dirty="0">
                  <a:solidFill>
                    <a:srgbClr val="000000"/>
                  </a:solidFill>
                  <a:latin typeface="Times New Roman" panose="02020603050405020304" pitchFamily="18" charset="0"/>
                  <a:cs typeface="Times New Roman" panose="02020603050405020304" pitchFamily="18" charset="0"/>
                </a:rPr>
                <a:t>O</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底面</a:t>
              </a:r>
              <a:r>
                <a:rPr lang="en-US" altLang="zh-CN" sz="2800" i="1" dirty="0">
                  <a:solidFill>
                    <a:srgbClr val="000000"/>
                  </a:solidFill>
                  <a:latin typeface="Times New Roman" panose="02020603050405020304" pitchFamily="18" charset="0"/>
                  <a:cs typeface="Times New Roman" panose="02020603050405020304" pitchFamily="18" charset="0"/>
                </a:rPr>
                <a:t>ABCD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dirty="0">
                  <a:solidFill>
                    <a:srgbClr val="000000"/>
                  </a:solidFill>
                  <a:latin typeface="Times New Roman" panose="02020603050405020304" pitchFamily="18" charset="0"/>
                  <a:cs typeface="Times New Roman" panose="02020603050405020304" pitchFamily="18" charset="0"/>
                </a:rPr>
                <a:t>OB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OO</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两两垂直</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a:t>
              </a:r>
              <a:r>
                <a:rPr lang="en-US" altLang="zh-CN" sz="2800" i="1" dirty="0">
                  <a:solidFill>
                    <a:srgbClr val="000000"/>
                  </a:solidFill>
                  <a:latin typeface="Times New Roman" panose="02020603050405020304" pitchFamily="18" charset="0"/>
                  <a:cs typeface="Times New Roman" panose="02020603050405020304" pitchFamily="18" charset="0"/>
                </a:rPr>
                <a:t>O</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为原点</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OB</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OC</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OO</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直线分别为</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i="1" dirty="0">
                  <a:solidFill>
                    <a:srgbClr val="000000"/>
                  </a:solidFill>
                  <a:latin typeface="Times New Roman" panose="02020603050405020304" pitchFamily="18" charset="0"/>
                  <a:cs typeface="Times New Roman" panose="02020603050405020304" pitchFamily="18" charset="0"/>
                </a:rPr>
                <a:t>z</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建立如图所示的空间直角坐标系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设四棱柱的棱长为</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125809288"/>
                </p:ext>
              </p:extLst>
            </p:nvPr>
          </p:nvGraphicFramePr>
          <p:xfrm>
            <a:off x="478536" y="2877277"/>
            <a:ext cx="11430000" cy="4012272"/>
          </p:xfrm>
          <a:graphic>
            <a:graphicData uri="http://schemas.openxmlformats.org/presentationml/2006/ole">
              <mc:AlternateContent xmlns:mc="http://schemas.openxmlformats.org/markup-compatibility/2006">
                <mc:Choice xmlns:v="urn:schemas-microsoft-com:vml" Requires="v">
                  <p:oleObj spid="_x0000_s33805" name="文档" r:id="rId3" imgW="4520786" imgH="1586931" progId="Word.Document.12">
                    <p:embed/>
                  </p:oleObj>
                </mc:Choice>
                <mc:Fallback>
                  <p:oleObj name="文档" r:id="rId3" imgW="4520786" imgH="1586931" progId="Word.Document.12">
                    <p:embed/>
                    <p:pic>
                      <p:nvPicPr>
                        <p:cNvPr id="0" name=""/>
                        <p:cNvPicPr/>
                        <p:nvPr/>
                      </p:nvPicPr>
                      <p:blipFill>
                        <a:blip r:embed="rId4"/>
                        <a:stretch>
                          <a:fillRect/>
                        </a:stretch>
                      </p:blipFill>
                      <p:spPr>
                        <a:xfrm>
                          <a:off x="478536" y="2877277"/>
                          <a:ext cx="11430000" cy="4012272"/>
                        </a:xfrm>
                        <a:prstGeom prst="rect">
                          <a:avLst/>
                        </a:prstGeom>
                      </p:spPr>
                    </p:pic>
                  </p:oleObj>
                </mc:Fallback>
              </mc:AlternateContent>
            </a:graphicData>
          </a:graphic>
        </p:graphicFrame>
        <p:pic>
          <p:nvPicPr>
            <p:cNvPr id="4" name="YMX1TRAX39.eps" descr="id:2147496810;FounderCES"/>
            <p:cNvPicPr/>
            <p:nvPr/>
          </p:nvPicPr>
          <p:blipFill>
            <a:blip r:embed="rId5">
              <a:clrChange>
                <a:clrFrom>
                  <a:srgbClr val="F3F3F3"/>
                </a:clrFrom>
                <a:clrTo>
                  <a:srgbClr val="F3F3F3">
                    <a:alpha val="0"/>
                  </a:srgbClr>
                </a:clrTo>
              </a:clrChange>
            </a:blip>
            <a:stretch>
              <a:fillRect/>
            </a:stretch>
          </p:blipFill>
          <p:spPr>
            <a:xfrm>
              <a:off x="7472235" y="2548699"/>
              <a:ext cx="3654742" cy="3839909"/>
            </a:xfrm>
            <a:prstGeom prst="rect">
              <a:avLst/>
            </a:prstGeom>
          </p:spPr>
        </p:pic>
      </p:grpSp>
    </p:spTree>
    <p:extLst>
      <p:ext uri="{BB962C8B-B14F-4D97-AF65-F5344CB8AC3E}">
        <p14:creationId xmlns:p14="http://schemas.microsoft.com/office/powerpoint/2010/main" val="32744474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346707836"/>
              </p:ext>
            </p:extLst>
          </p:nvPr>
        </p:nvGraphicFramePr>
        <p:xfrm>
          <a:off x="466344" y="364392"/>
          <a:ext cx="11430000" cy="5014657"/>
        </p:xfrm>
        <a:graphic>
          <a:graphicData uri="http://schemas.openxmlformats.org/presentationml/2006/ole">
            <mc:AlternateContent xmlns:mc="http://schemas.openxmlformats.org/markup-compatibility/2006">
              <mc:Choice xmlns:v="urn:schemas-microsoft-com:vml" Requires="v">
                <p:oleObj spid="_x0000_s34829" name="文档" r:id="rId3" imgW="4520786" imgH="1983394" progId="Word.Document.12">
                  <p:embed/>
                </p:oleObj>
              </mc:Choice>
              <mc:Fallback>
                <p:oleObj name="文档" r:id="rId3" imgW="4520786" imgH="1983394" progId="Word.Document.12">
                  <p:embed/>
                  <p:pic>
                    <p:nvPicPr>
                      <p:cNvPr id="0" name=""/>
                      <p:cNvPicPr/>
                      <p:nvPr/>
                    </p:nvPicPr>
                    <p:blipFill>
                      <a:blip r:embed="rId4"/>
                      <a:stretch>
                        <a:fillRect/>
                      </a:stretch>
                    </p:blipFill>
                    <p:spPr>
                      <a:xfrm>
                        <a:off x="466344" y="364392"/>
                        <a:ext cx="11430000" cy="5014657"/>
                      </a:xfrm>
                      <a:prstGeom prst="rect">
                        <a:avLst/>
                      </a:prstGeom>
                    </p:spPr>
                  </p:pic>
                </p:oleObj>
              </mc:Fallback>
            </mc:AlternateContent>
          </a:graphicData>
        </a:graphic>
      </p:graphicFrame>
    </p:spTree>
    <p:extLst>
      <p:ext uri="{BB962C8B-B14F-4D97-AF65-F5344CB8AC3E}">
        <p14:creationId xmlns:p14="http://schemas.microsoft.com/office/powerpoint/2010/main" val="38915998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12" name="文本框 11"/>
          <p:cNvSpPr txBox="1"/>
          <p:nvPr/>
        </p:nvSpPr>
        <p:spPr>
          <a:xfrm>
            <a:off x="3451123" y="2222090"/>
            <a:ext cx="4994787" cy="1015663"/>
          </a:xfrm>
          <a:prstGeom prst="rect">
            <a:avLst/>
          </a:prstGeom>
          <a:noFill/>
        </p:spPr>
        <p:txBody>
          <a:bodyPr wrap="square" rtlCol="0">
            <a:spAutoFit/>
          </a:bodyPr>
          <a:lstStyle/>
          <a:p>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441</TotalTime>
  <Words>2680</Words>
  <Application>Microsoft Office PowerPoint</Application>
  <PresentationFormat>宽屏</PresentationFormat>
  <Paragraphs>201</Paragraphs>
  <Slides>56</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56</vt:i4>
      </vt:variant>
    </vt:vector>
  </HeadingPairs>
  <TitlesOfParts>
    <vt:vector size="77"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Microsoft Yi Baiti</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SkyUser</cp:lastModifiedBy>
  <cp:revision>45</cp:revision>
  <dcterms:created xsi:type="dcterms:W3CDTF">2021-08-30T08:30:26Z</dcterms:created>
  <dcterms:modified xsi:type="dcterms:W3CDTF">2025-08-09T08:15:46Z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