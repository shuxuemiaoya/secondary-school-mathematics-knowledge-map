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docx" ContentType="application/vnd.openxmlformats-officedocument.wordprocessingml.document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1"/>
  </p:notesMasterIdLst>
  <p:sldIdLst>
    <p:sldId id="677" r:id="rId2"/>
    <p:sldId id="488" r:id="rId3"/>
    <p:sldId id="494" r:id="rId4"/>
    <p:sldId id="392" r:id="rId5"/>
    <p:sldId id="686" r:id="rId6"/>
    <p:sldId id="687" r:id="rId7"/>
    <p:sldId id="688" r:id="rId8"/>
    <p:sldId id="689" r:id="rId9"/>
    <p:sldId id="690" r:id="rId10"/>
    <p:sldId id="691" r:id="rId11"/>
    <p:sldId id="692" r:id="rId12"/>
    <p:sldId id="407" r:id="rId13"/>
    <p:sldId id="394" r:id="rId14"/>
    <p:sldId id="699" r:id="rId15"/>
    <p:sldId id="700" r:id="rId16"/>
    <p:sldId id="701" r:id="rId17"/>
    <p:sldId id="402" r:id="rId18"/>
    <p:sldId id="712" r:id="rId19"/>
    <p:sldId id="713" r:id="rId20"/>
    <p:sldId id="714" r:id="rId21"/>
    <p:sldId id="498" r:id="rId22"/>
    <p:sldId id="730" r:id="rId23"/>
    <p:sldId id="733" r:id="rId24"/>
    <p:sldId id="743" r:id="rId25"/>
    <p:sldId id="744" r:id="rId26"/>
    <p:sldId id="740" r:id="rId27"/>
    <p:sldId id="739" r:id="rId28"/>
    <p:sldId id="745" r:id="rId29"/>
    <p:sldId id="746" r:id="rId30"/>
    <p:sldId id="747" r:id="rId31"/>
    <p:sldId id="748" r:id="rId32"/>
    <p:sldId id="398" r:id="rId33"/>
    <p:sldId id="395" r:id="rId34"/>
    <p:sldId id="756" r:id="rId35"/>
    <p:sldId id="757" r:id="rId36"/>
    <p:sldId id="758" r:id="rId37"/>
    <p:sldId id="759" r:id="rId38"/>
    <p:sldId id="760" r:id="rId39"/>
    <p:sldId id="490" r:id="rId4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68">
          <p15:clr>
            <a:srgbClr val="A4A3A4"/>
          </p15:clr>
        </p15:guide>
        <p15:guide id="2" pos="211" userDrawn="1">
          <p15:clr>
            <a:srgbClr val="A4A3A4"/>
          </p15:clr>
        </p15:guide>
        <p15:guide id="3" orient="horz" pos="436" userDrawn="1">
          <p15:clr>
            <a:srgbClr val="A4A3A4"/>
          </p15:clr>
        </p15:guide>
        <p15:guide id="4" orient="horz" pos="777" userDrawn="1">
          <p15:clr>
            <a:srgbClr val="A4A3A4"/>
          </p15:clr>
        </p15:guide>
        <p15:guide id="5" orient="horz" pos="28" userDrawn="1">
          <p15:clr>
            <a:srgbClr val="A4A3A4"/>
          </p15:clr>
        </p15:guide>
        <p15:guide id="6" pos="25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5B3E"/>
    <a:srgbClr val="7088DB"/>
    <a:srgbClr val="CF5B1B"/>
    <a:srgbClr val="38425D"/>
    <a:srgbClr val="4472C4"/>
    <a:srgbClr val="DFF0F5"/>
    <a:srgbClr val="4040C8"/>
    <a:srgbClr val="159470"/>
    <a:srgbClr val="157392"/>
    <a:srgbClr val="1593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92" d="100"/>
          <a:sy n="92" d="100"/>
        </p:scale>
        <p:origin x="498" y="84"/>
      </p:cViewPr>
      <p:guideLst>
        <p:guide orient="horz" pos="368"/>
        <p:guide pos="211"/>
        <p:guide orient="horz" pos="436"/>
        <p:guide orient="horz" pos="777"/>
        <p:guide orient="horz" pos="28"/>
        <p:guide pos="257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991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8.emf"/><Relationship Id="rId1" Type="http://schemas.openxmlformats.org/officeDocument/2006/relationships/image" Target="../media/image7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image" Target="../media/image11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image" Target="../media/image20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emf"/></Relationships>
</file>

<file path=ppt/drawings/_rels/vmlDrawing20.v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image" Target="../media/image29.emf"/></Relationships>
</file>

<file path=ppt/drawings/_rels/vmlDrawing2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image" Target="../media/image31.emf"/></Relationships>
</file>

<file path=ppt/drawings/_rels/vmlDrawing2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4.emf"/><Relationship Id="rId1" Type="http://schemas.openxmlformats.org/officeDocument/2006/relationships/image" Target="../media/image33.e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e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4B3386-1164-4DE5-87D6-99DD641BC976}" type="datetimeFigureOut">
              <a:rPr lang="zh-CN" altLang="en-US" smtClean="0"/>
              <a:t>2025-08-09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BDB411-4171-48A7-B819-B87F89F6C7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4488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7.xml"/><Relationship Id="rId2" Type="http://schemas.openxmlformats.org/officeDocument/2006/relationships/slide" Target="../slides/slide13.xml"/><Relationship Id="rId1" Type="http://schemas.openxmlformats.org/officeDocument/2006/relationships/slideMaster" Target="../slideMasters/slideMaster1.xml"/><Relationship Id="rId5" Type="http://schemas.openxmlformats.org/officeDocument/2006/relationships/slide" Target="../slides/slide26.xml"/><Relationship Id="rId4" Type="http://schemas.openxmlformats.org/officeDocument/2006/relationships/slide" Target="../slides/slide2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6">
            <a:hlinkClick r:id="rId2" action="ppaction://hlinksldjump"/>
          </p:cNvPr>
          <p:cNvSpPr/>
          <p:nvPr userDrawn="1"/>
        </p:nvSpPr>
        <p:spPr>
          <a:xfrm>
            <a:off x="7886567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探究一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8" name="圆角矩形 7">
            <a:hlinkClick r:id="rId3" action="ppaction://hlinksldjump"/>
          </p:cNvPr>
          <p:cNvSpPr/>
          <p:nvPr userDrawn="1"/>
        </p:nvSpPr>
        <p:spPr>
          <a:xfrm>
            <a:off x="8952911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探究二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9" name="圆角矩形 8">
            <a:hlinkClick r:id="rId4" action="ppaction://hlinksldjump"/>
          </p:cNvPr>
          <p:cNvSpPr/>
          <p:nvPr userDrawn="1"/>
        </p:nvSpPr>
        <p:spPr>
          <a:xfrm>
            <a:off x="10019255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探究三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5" name="圆角矩形 4">
            <a:hlinkClick r:id="rId5" action="ppaction://hlinksldjump"/>
          </p:cNvPr>
          <p:cNvSpPr/>
          <p:nvPr userDrawn="1"/>
        </p:nvSpPr>
        <p:spPr>
          <a:xfrm>
            <a:off x="11085599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思想方法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1" r:id="rId3"/>
  </p:sldLayoutIdLst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slide" Target="slide4.xml"/><Relationship Id="rId1" Type="http://schemas.openxmlformats.org/officeDocument/2006/relationships/slideLayout" Target="../slideLayouts/slideLayout1.xml"/><Relationship Id="rId4" Type="http://schemas.openxmlformats.org/officeDocument/2006/relationships/slide" Target="slide3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3.e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3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4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4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5.e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5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package" Target="../embeddings/Microsoft_Word___7.docx"/><Relationship Id="rId5" Type="http://schemas.openxmlformats.org/officeDocument/2006/relationships/package" Target="../embeddings/Microsoft_Word___6.docx"/><Relationship Id="rId4" Type="http://schemas.openxmlformats.org/officeDocument/2006/relationships/image" Target="../media/image6.e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package" Target="../embeddings/Microsoft_Word___8.docx"/><Relationship Id="rId7" Type="http://schemas.openxmlformats.org/officeDocument/2006/relationships/package" Target="../embeddings/Microsoft_Word___10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8.emf"/><Relationship Id="rId5" Type="http://schemas.openxmlformats.org/officeDocument/2006/relationships/package" Target="../embeddings/Microsoft_Word___9.docx"/><Relationship Id="rId4" Type="http://schemas.openxmlformats.org/officeDocument/2006/relationships/image" Target="../media/image7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1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9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2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10.em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3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12.emf"/><Relationship Id="rId5" Type="http://schemas.openxmlformats.org/officeDocument/2006/relationships/package" Target="../embeddings/Microsoft_Word___14.docx"/><Relationship Id="rId4" Type="http://schemas.openxmlformats.org/officeDocument/2006/relationships/image" Target="../media/image11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13.emf"/><Relationship Id="rId4" Type="http://schemas.openxmlformats.org/officeDocument/2006/relationships/package" Target="../embeddings/Microsoft_Word___15.docx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6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15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5" Type="http://schemas.openxmlformats.org/officeDocument/2006/relationships/image" Target="../media/image16.emf"/><Relationship Id="rId4" Type="http://schemas.openxmlformats.org/officeDocument/2006/relationships/package" Target="../embeddings/Microsoft_Word___17.docx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8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18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9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4" Type="http://schemas.openxmlformats.org/officeDocument/2006/relationships/image" Target="../media/image19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0.docx"/><Relationship Id="rId7" Type="http://schemas.openxmlformats.org/officeDocument/2006/relationships/image" Target="../media/image22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21.emf"/><Relationship Id="rId5" Type="http://schemas.openxmlformats.org/officeDocument/2006/relationships/package" Target="../embeddings/Microsoft_Word___21.docx"/><Relationship Id="rId4" Type="http://schemas.openxmlformats.org/officeDocument/2006/relationships/image" Target="../media/image20.emf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2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4" Type="http://schemas.openxmlformats.org/officeDocument/2006/relationships/image" Target="../media/image24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3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4" Type="http://schemas.openxmlformats.org/officeDocument/2006/relationships/image" Target="../media/image25.emf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4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4" Type="http://schemas.openxmlformats.org/officeDocument/2006/relationships/image" Target="../media/image26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5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5" Type="http://schemas.openxmlformats.org/officeDocument/2006/relationships/image" Target="../media/image28.jpeg"/><Relationship Id="rId4" Type="http://schemas.openxmlformats.org/officeDocument/2006/relationships/image" Target="../media/image27.emf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6.docx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30.emf"/><Relationship Id="rId5" Type="http://schemas.openxmlformats.org/officeDocument/2006/relationships/package" Target="../embeddings/Microsoft_Word___27.docx"/><Relationship Id="rId4" Type="http://schemas.openxmlformats.org/officeDocument/2006/relationships/image" Target="../media/image29.e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8.docx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32.emf"/><Relationship Id="rId5" Type="http://schemas.openxmlformats.org/officeDocument/2006/relationships/package" Target="../embeddings/Microsoft_Word___29.docx"/><Relationship Id="rId4" Type="http://schemas.openxmlformats.org/officeDocument/2006/relationships/image" Target="../media/image31.emf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30.docx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34.emf"/><Relationship Id="rId5" Type="http://schemas.openxmlformats.org/officeDocument/2006/relationships/package" Target="../embeddings/Microsoft_Word___31.docx"/><Relationship Id="rId4" Type="http://schemas.openxmlformats.org/officeDocument/2006/relationships/image" Target="../media/image33.e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32.docx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3.vml"/><Relationship Id="rId4" Type="http://schemas.openxmlformats.org/officeDocument/2006/relationships/image" Target="../media/image35.e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33.docx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4.vml"/><Relationship Id="rId4" Type="http://schemas.openxmlformats.org/officeDocument/2006/relationships/image" Target="../media/image36.e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300879" y="519978"/>
            <a:ext cx="40479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dist"/>
            <a:r>
              <a:rPr lang="zh-CN" altLang="en-US" sz="2400" b="1" spc="600" dirty="0" smtClean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高中同步测控优化设计</a:t>
            </a:r>
            <a:endParaRPr lang="zh-CN" altLang="en-US" sz="2400" b="1" spc="600" dirty="0">
              <a:solidFill>
                <a:srgbClr val="757C8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2282351" y="1003843"/>
            <a:ext cx="4305485" cy="0"/>
          </a:xfrm>
          <a:prstGeom prst="line">
            <a:avLst/>
          </a:prstGeom>
          <a:ln>
            <a:solidFill>
              <a:schemeClr val="tx1"/>
            </a:solidFill>
            <a:prstDash val="lgDashDotDot"/>
            <a:headEnd type="diamond" w="med" len="med"/>
            <a:tailEnd type="diamond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2173232" y="1026313"/>
            <a:ext cx="441460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 smtClean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GAO ZHONG TONG </a:t>
            </a:r>
            <a:r>
              <a:rPr lang="en-US" altLang="zh-CN" sz="1600" b="1" dirty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600" b="1" dirty="0" smtClean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U CE KONG YOU HUA SHE JI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635" y="2775585"/>
            <a:ext cx="12191365" cy="1478915"/>
            <a:chOff x="303375" y="3227146"/>
            <a:chExt cx="11560182" cy="1479076"/>
          </a:xfrm>
        </p:grpSpPr>
        <p:sp>
          <p:nvSpPr>
            <p:cNvPr id="6" name="矩形 5"/>
            <p:cNvSpPr/>
            <p:nvPr/>
          </p:nvSpPr>
          <p:spPr>
            <a:xfrm>
              <a:off x="303375" y="3227146"/>
              <a:ext cx="11560182" cy="1479076"/>
            </a:xfrm>
            <a:prstGeom prst="rect">
              <a:avLst/>
            </a:prstGeom>
            <a:solidFill>
              <a:srgbClr val="6B7278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3665034" y="3614538"/>
              <a:ext cx="8158783" cy="6452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3600" b="1" dirty="0">
                  <a:solidFill>
                    <a:schemeClr val="bg1"/>
                  </a:solidFill>
                  <a:latin typeface="华文细黑" panose="02010600040101010101" charset="-122"/>
                  <a:ea typeface="华文细黑" panose="02010600040101010101" charset="-122"/>
                </a:rPr>
                <a:t>3.3.2</a:t>
              </a:r>
              <a:r>
                <a:rPr lang="zh-CN" altLang="en-US" sz="3600" b="1" dirty="0">
                  <a:solidFill>
                    <a:schemeClr val="bg1"/>
                  </a:solidFill>
                  <a:latin typeface="华文细黑" panose="02010600040101010101" charset="-122"/>
                  <a:ea typeface="华文细黑" panose="02010600040101010101" charset="-122"/>
                </a:rPr>
                <a:t>　抛物线的简单几何性质</a:t>
              </a:r>
            </a:p>
          </p:txBody>
        </p:sp>
      </p:grpSp>
      <p:sp>
        <p:nvSpPr>
          <p:cNvPr id="8" name="矩形 7"/>
          <p:cNvSpPr/>
          <p:nvPr/>
        </p:nvSpPr>
        <p:spPr>
          <a:xfrm>
            <a:off x="1109345" y="2277745"/>
            <a:ext cx="2282825" cy="2407920"/>
          </a:xfrm>
          <a:prstGeom prst="rect">
            <a:avLst/>
          </a:prstGeom>
          <a:solidFill>
            <a:srgbClr val="748773"/>
          </a:solidFill>
          <a:ln w="12700" cap="flat" cmpd="sng" algn="ctr">
            <a:noFill/>
            <a:prstDash val="solid"/>
            <a:miter lim="800000"/>
          </a:ln>
          <a:effectLst>
            <a:outerShdw blurRad="317500" dist="127000" dir="2700000" algn="tl" rotWithShape="0">
              <a:prstClr val="black">
                <a:alpha val="25000"/>
              </a:prstClr>
            </a:outerShdw>
          </a:effectLst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none" rtlCol="0" anchor="ctr"/>
          <a:lstStyle/>
          <a:p>
            <a:pPr algn="ctr"/>
            <a:r>
              <a:rPr lang="zh-CN" altLang="en-US" sz="3600" b="1" kern="0" dirty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cs typeface="Open Sans" panose="020B0606030504020204" pitchFamily="34" charset="0"/>
              </a:rPr>
              <a:t>第三章</a:t>
            </a:r>
            <a:endParaRPr lang="en-US" altLang="zh-CN" sz="3600" b="1" kern="0" dirty="0" smtClean="0">
              <a:solidFill>
                <a:schemeClr val="bg1"/>
              </a:solidFill>
              <a:latin typeface="华文细黑" panose="02010600040101010101" charset="-122"/>
              <a:ea typeface="华文细黑" panose="02010600040101010101" charset="-122"/>
              <a:cs typeface="Open Sans" panose="020B0606030504020204" pitchFamily="34" charset="0"/>
            </a:endParaRPr>
          </a:p>
          <a:p>
            <a:pPr algn="ctr"/>
            <a:r>
              <a:rPr lang="en-US" altLang="zh-CN" sz="3600" b="1" kern="0" dirty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cs typeface="Open Sans" panose="020B0606030504020204" pitchFamily="34" charset="0"/>
              </a:rPr>
              <a:t>3.3</a:t>
            </a:r>
          </a:p>
        </p:txBody>
      </p:sp>
      <p:pic>
        <p:nvPicPr>
          <p:cNvPr id="10" name="图片 9" descr="e37b0ec1d4924ecca897357d279cf88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01370" y="175260"/>
            <a:ext cx="1453515" cy="1453515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1001385" y="587446"/>
            <a:ext cx="1052723" cy="5870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rgbClr val="757C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2025</a:t>
            </a:r>
          </a:p>
        </p:txBody>
      </p:sp>
    </p:spTree>
    <p:extLst>
      <p:ext uri="{BB962C8B-B14F-4D97-AF65-F5344CB8AC3E}">
        <p14:creationId xmlns:p14="http://schemas.microsoft.com/office/powerpoint/2010/main" val="3949984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  <p:bldLst>
      <p:bldP spid="2" grpId="0"/>
      <p:bldP spid="4" grpId="0"/>
      <p:bldP spid="8" grpId="0" bldLvl="0" animBg="1"/>
      <p:bldP spid="11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/>
          <p:cNvSpPr txBox="1"/>
          <p:nvPr/>
        </p:nvSpPr>
        <p:spPr>
          <a:xfrm>
            <a:off x="1788494" y="1591871"/>
            <a:ext cx="94298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4800" smtClean="0">
                <a:solidFill>
                  <a:srgbClr val="2C3814"/>
                </a:solidFill>
                <a:cs typeface="+mn-ea"/>
                <a:sym typeface="+mn-lt"/>
              </a:rPr>
              <a:t>内容索引</a:t>
            </a:r>
            <a:endParaRPr kumimoji="1" lang="zh-CN" altLang="en-US" sz="4800" dirty="0">
              <a:solidFill>
                <a:srgbClr val="2C3814"/>
              </a:solidFill>
              <a:cs typeface="+mn-ea"/>
              <a:sym typeface="+mn-lt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1378713" y="856615"/>
            <a:ext cx="1105802" cy="815646"/>
            <a:chOff x="-1604504" y="2147667"/>
            <a:chExt cx="3687215" cy="2719712"/>
          </a:xfrm>
        </p:grpSpPr>
        <p:cxnSp>
          <p:nvCxnSpPr>
            <p:cNvPr id="26" name="直接连接符 25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27" name="直接连接符 26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28" name="组合 27"/>
          <p:cNvGrpSpPr/>
          <p:nvPr/>
        </p:nvGrpSpPr>
        <p:grpSpPr>
          <a:xfrm flipH="1" flipV="1">
            <a:off x="1707083" y="4546456"/>
            <a:ext cx="1105803" cy="815646"/>
            <a:chOff x="-1604504" y="2147667"/>
            <a:chExt cx="3687215" cy="2719712"/>
          </a:xfrm>
        </p:grpSpPr>
        <p:cxnSp>
          <p:nvCxnSpPr>
            <p:cNvPr id="38" name="直接连接符 37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39" name="直接连接符 38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grpSp>
        <p:nvGrpSpPr>
          <p:cNvPr id="40" name="组合 39"/>
          <p:cNvGrpSpPr/>
          <p:nvPr/>
        </p:nvGrpSpPr>
        <p:grpSpPr>
          <a:xfrm>
            <a:off x="4764013" y="1194282"/>
            <a:ext cx="804581" cy="804581"/>
            <a:chOff x="3685832" y="623962"/>
            <a:chExt cx="739840" cy="739840"/>
          </a:xfrm>
        </p:grpSpPr>
        <p:sp>
          <p:nvSpPr>
            <p:cNvPr id="44" name="椭圆 43"/>
            <p:cNvSpPr/>
            <p:nvPr/>
          </p:nvSpPr>
          <p:spPr>
            <a:xfrm>
              <a:off x="3685832" y="623962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2540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E93F3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45" name="TextBox 7"/>
            <p:cNvSpPr txBox="1"/>
            <p:nvPr/>
          </p:nvSpPr>
          <p:spPr>
            <a:xfrm>
              <a:off x="3786929" y="743838"/>
              <a:ext cx="537648" cy="5000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Arial" panose="020B0604020202020204" pitchFamily="34" charset="0"/>
                </a:rPr>
                <a:t>01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Arial" panose="020B0604020202020204" pitchFamily="34" charset="0"/>
              </a:endParaRPr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4764013" y="2760859"/>
            <a:ext cx="804581" cy="804581"/>
            <a:chOff x="3685832" y="1673493"/>
            <a:chExt cx="739840" cy="739840"/>
          </a:xfrm>
        </p:grpSpPr>
        <p:sp>
          <p:nvSpPr>
            <p:cNvPr id="47" name="椭圆 46"/>
            <p:cNvSpPr/>
            <p:nvPr/>
          </p:nvSpPr>
          <p:spPr>
            <a:xfrm>
              <a:off x="3685832" y="1673493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2540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3574A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48" name="TextBox 10"/>
            <p:cNvSpPr txBox="1"/>
            <p:nvPr/>
          </p:nvSpPr>
          <p:spPr>
            <a:xfrm>
              <a:off x="3786931" y="1793369"/>
              <a:ext cx="537648" cy="5000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Arial" panose="020B0604020202020204" pitchFamily="34" charset="0"/>
                </a:rPr>
                <a:t>02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Arial" panose="020B0604020202020204" pitchFamily="34" charset="0"/>
              </a:endParaRP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4764013" y="4327435"/>
            <a:ext cx="804581" cy="804581"/>
            <a:chOff x="3685832" y="2723024"/>
            <a:chExt cx="739840" cy="739840"/>
          </a:xfrm>
        </p:grpSpPr>
        <p:sp>
          <p:nvSpPr>
            <p:cNvPr id="50" name="椭圆 49"/>
            <p:cNvSpPr/>
            <p:nvPr/>
          </p:nvSpPr>
          <p:spPr>
            <a:xfrm>
              <a:off x="3685832" y="2723024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1905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3574A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51" name="TextBox 13"/>
            <p:cNvSpPr txBox="1"/>
            <p:nvPr/>
          </p:nvSpPr>
          <p:spPr>
            <a:xfrm>
              <a:off x="3786929" y="2842900"/>
              <a:ext cx="537648" cy="5000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Arial" panose="020B0604020202020204" pitchFamily="34" charset="0"/>
                </a:rPr>
                <a:t>03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Arial" panose="020B0604020202020204" pitchFamily="34" charset="0"/>
              </a:endParaRPr>
            </a:p>
          </p:txBody>
        </p:sp>
      </p:grpSp>
      <p:sp>
        <p:nvSpPr>
          <p:cNvPr id="52" name="矩形 51">
            <a:hlinkClick r:id="rId2" action="ppaction://hlinksldjump"/>
          </p:cNvPr>
          <p:cNvSpPr/>
          <p:nvPr/>
        </p:nvSpPr>
        <p:spPr>
          <a:xfrm>
            <a:off x="5678538" y="1286748"/>
            <a:ext cx="2997835" cy="5016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自主预习 新知导学</a:t>
            </a:r>
            <a:endParaRPr lang="zh-CN" altLang="en-US" sz="2665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  <p:sp>
        <p:nvSpPr>
          <p:cNvPr id="53" name="矩形 52">
            <a:hlinkClick r:id="rId3" action="ppaction://hlinksldjump"/>
          </p:cNvPr>
          <p:cNvSpPr/>
          <p:nvPr/>
        </p:nvSpPr>
        <p:spPr>
          <a:xfrm>
            <a:off x="5678538" y="2871606"/>
            <a:ext cx="2997835" cy="5016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合作探究 释疑解惑</a:t>
            </a:r>
            <a:endParaRPr lang="zh-CN" altLang="en-US" sz="2665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  <p:sp>
        <p:nvSpPr>
          <p:cNvPr id="54" name="矩形 53">
            <a:hlinkClick r:id="rId4" action="ppaction://hlinksldjump"/>
          </p:cNvPr>
          <p:cNvSpPr/>
          <p:nvPr/>
        </p:nvSpPr>
        <p:spPr>
          <a:xfrm>
            <a:off x="5678538" y="4456463"/>
            <a:ext cx="1556836" cy="5024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随堂练习</a:t>
            </a:r>
            <a:endParaRPr lang="zh-CN" altLang="en-US" sz="2665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17500" y="701716"/>
            <a:ext cx="11557000" cy="5689151"/>
          </a:xfrm>
          <a:prstGeom prst="rect">
            <a:avLst/>
          </a:prstGeom>
          <a:noFill/>
          <a:ln w="19050">
            <a:gradFill>
              <a:gsLst>
                <a:gs pos="100000">
                  <a:schemeClr val="accent1">
                    <a:lumMod val="5000"/>
                    <a:lumOff val="95000"/>
                  </a:schemeClr>
                </a:gs>
                <a:gs pos="57000">
                  <a:schemeClr val="tx1">
                    <a:lumMod val="50000"/>
                    <a:lumOff val="50000"/>
                  </a:schemeClr>
                </a:gs>
                <a:gs pos="29000">
                  <a:schemeClr val="tx1"/>
                </a:gs>
                <a:gs pos="100000">
                  <a:schemeClr val="bg1"/>
                </a:gs>
              </a:gsLst>
              <a:lin ang="5400000" scaled="1"/>
            </a:gra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4766695" y="446122"/>
            <a:ext cx="3253105" cy="49064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wrap="square" lIns="0" tIns="0" rIns="0" bIns="0" rtlCol="0" anchor="ctr" anchorCtr="0">
            <a:no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800" kern="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课标定</a:t>
            </a:r>
            <a:r>
              <a:rPr lang="zh-CN" altLang="en-US" sz="2800" kern="0" dirty="0" smtClean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位素养</a:t>
            </a:r>
            <a:r>
              <a:rPr lang="zh-CN" altLang="en-US" sz="2800" kern="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阐释</a:t>
            </a:r>
          </a:p>
        </p:txBody>
      </p:sp>
      <p:sp>
        <p:nvSpPr>
          <p:cNvPr id="3" name="矩形 2"/>
          <p:cNvSpPr>
            <a:spLocks noChangeAspect="1"/>
          </p:cNvSpPr>
          <p:nvPr/>
        </p:nvSpPr>
        <p:spPr>
          <a:xfrm>
            <a:off x="381000" y="1245680"/>
            <a:ext cx="11430000" cy="233294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了解抛物线的简单几何性质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能利用性质解决与抛物线有关的问题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能利用方程与数形结合思想解决焦点弦问题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4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  <a:r>
              <a:rPr lang="zh-CN" altLang="en-US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提升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直观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想象、逻辑推理与数学运算素养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  <a:endParaRPr lang="zh-CN" altLang="en-US" sz="2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180083" y="2636520"/>
            <a:ext cx="1105802" cy="815646"/>
            <a:chOff x="-1604504" y="2147667"/>
            <a:chExt cx="3687215" cy="2719712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 flipH="1" flipV="1">
            <a:off x="8735898" y="2665586"/>
            <a:ext cx="1105803" cy="815646"/>
            <a:chOff x="-1604504" y="2147667"/>
            <a:chExt cx="3687215" cy="2719712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2" name="文本框 11"/>
          <p:cNvSpPr txBox="1"/>
          <p:nvPr/>
        </p:nvSpPr>
        <p:spPr>
          <a:xfrm>
            <a:off x="2969260" y="2585720"/>
            <a:ext cx="62528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  <a:sym typeface="+mn-ea"/>
              </a:rPr>
              <a:t>自主预习 新知导学</a:t>
            </a:r>
            <a:endParaRPr lang="zh-CN" altLang="en-US" sz="5400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243879"/>
            <a:ext cx="11430000" cy="345325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一、抛物线的简单几何性质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我们知道二次函数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是抛物线的一种标准方程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有定义域、值域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其图象有对称轴、顶点坐标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那么你能写出抛物线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的对称轴、顶点坐标、图象上的点的横、纵坐标满足的范围吗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提示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抛物线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的对称轴为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顶点坐标为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(0,0),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3502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56642"/>
            <a:ext cx="3799117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抛物线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的几何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性质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5515065"/>
              </p:ext>
            </p:extLst>
          </p:nvPr>
        </p:nvGraphicFramePr>
        <p:xfrm>
          <a:off x="381000" y="692150"/>
          <a:ext cx="11430000" cy="67287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1" name="文档" r:id="rId3" imgW="4520786" imgH="2661345" progId="Word.Document.12">
                  <p:embed/>
                </p:oleObj>
              </mc:Choice>
              <mc:Fallback>
                <p:oleObj name="文档" r:id="rId3" imgW="4520786" imgH="266134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1000" y="692150"/>
                        <a:ext cx="11430000" cy="672873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/>
          <p:nvPr/>
        </p:nvSpPr>
        <p:spPr>
          <a:xfrm>
            <a:off x="6761429" y="2763580"/>
            <a:ext cx="1634425" cy="450307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5410612" y="5060163"/>
            <a:ext cx="896670" cy="450307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8808438" y="3779409"/>
            <a:ext cx="896670" cy="450307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0187235" y="3527144"/>
            <a:ext cx="923840" cy="450307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10187235" y="4053321"/>
            <a:ext cx="923840" cy="409370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6176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1152804"/>
              </p:ext>
            </p:extLst>
          </p:nvPr>
        </p:nvGraphicFramePr>
        <p:xfrm>
          <a:off x="381000" y="172685"/>
          <a:ext cx="11430000" cy="72299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5" name="文档" r:id="rId3" imgW="4520786" imgH="2859576" progId="Word.Document.12">
                  <p:embed/>
                </p:oleObj>
              </mc:Choice>
              <mc:Fallback>
                <p:oleObj name="文档" r:id="rId3" imgW="4520786" imgH="285957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1000" y="172685"/>
                        <a:ext cx="11430000" cy="722992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/>
          <p:nvPr/>
        </p:nvSpPr>
        <p:spPr>
          <a:xfrm>
            <a:off x="6761428" y="2258861"/>
            <a:ext cx="1727945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5419064" y="4786472"/>
            <a:ext cx="950564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8816890" y="3525366"/>
            <a:ext cx="950564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0181686" y="3265594"/>
            <a:ext cx="922608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0181686" y="3789440"/>
            <a:ext cx="922608" cy="40130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4933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248791"/>
            <a:ext cx="11430000" cy="345325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顶点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在原点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对称轴为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顶点到准线的距离为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的抛物线方程是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B.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±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D.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±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顶点在原点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对称轴为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轴的抛物线方程有两个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 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p&gt;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由顶点到准线的距离为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故所求抛物线方程为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103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710533"/>
            <a:ext cx="11430000" cy="2332946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二、过焦点的弦长公式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若斜率为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经过抛物线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的焦点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与抛物线相交于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两点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你能想到哪些求弦长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|AB|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的方法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提示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方法一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利用两点间的距离公式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3311539"/>
              </p:ext>
            </p:extLst>
          </p:nvPr>
        </p:nvGraphicFramePr>
        <p:xfrm>
          <a:off x="48768" y="3053870"/>
          <a:ext cx="11430000" cy="150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9" name="文档" r:id="rId3" imgW="4520786" imgH="595054" progId="Word.Document.12">
                  <p:embed/>
                </p:oleObj>
              </mc:Choice>
              <mc:Fallback>
                <p:oleObj name="文档" r:id="rId3" imgW="4520786" imgH="59505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8768" y="3053870"/>
                        <a:ext cx="11430000" cy="15044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58719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276405"/>
            <a:ext cx="1904367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焦点弦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0293274"/>
              </p:ext>
            </p:extLst>
          </p:nvPr>
        </p:nvGraphicFramePr>
        <p:xfrm>
          <a:off x="381000" y="928891"/>
          <a:ext cx="11430000" cy="150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3" name="文档" r:id="rId3" imgW="4520786" imgH="595054" progId="Word.Document.12">
                  <p:embed/>
                </p:oleObj>
              </mc:Choice>
              <mc:Fallback>
                <p:oleObj name="文档" r:id="rId3" imgW="4520786" imgH="59505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1000" y="928891"/>
                        <a:ext cx="11430000" cy="15044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81000" y="2267238"/>
            <a:ext cx="11430000" cy="345325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过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抛物线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的焦点作直线交抛物线于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两点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|AB|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等于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A.10	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B.8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altLang="zh-CN" sz="280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C.6 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D.4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|AB|=x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+p=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743285" y="1610187"/>
            <a:ext cx="1208566" cy="450307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3648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247321"/>
            <a:ext cx="11430000" cy="339298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【思考辨析】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判断下列说法是否正确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正确的在后面的括号内画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altLang="zh-CN" sz="2800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√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错误的画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“×”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抛物线关于顶点对称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×  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抛物线只有一个焦点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一条对称轴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无对称中心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>
                <a:solidFill>
                  <a:srgbClr val="FF0000"/>
                </a:solidFill>
                <a:latin typeface="Cambria Math" panose="02040503050406030204" pitchFamily="18" charset="0"/>
                <a:cs typeface="Times New Roman" panose="02020603050405020304" pitchFamily="18" charset="0"/>
              </a:rPr>
              <a:t>  √  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抛物线的标准方程虽然各不相同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但是其离心率都相同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>
                <a:solidFill>
                  <a:srgbClr val="FF0000"/>
                </a:solidFill>
                <a:latin typeface="Cambria Math" panose="02040503050406030204" pitchFamily="18" charset="0"/>
                <a:cs typeface="Times New Roman" panose="02020603050405020304" pitchFamily="18" charset="0"/>
              </a:rPr>
              <a:t>  √  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(4)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抛物线是双曲线的一支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也有渐近线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×  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640928" y="2491985"/>
            <a:ext cx="586571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8391496" y="2999849"/>
            <a:ext cx="400635" cy="485579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9721395" y="3537383"/>
            <a:ext cx="400635" cy="485579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6874285" y="4123549"/>
            <a:ext cx="555215" cy="485579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150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180083" y="2636520"/>
            <a:ext cx="1105802" cy="815646"/>
            <a:chOff x="-1604504" y="2147667"/>
            <a:chExt cx="3687215" cy="2719712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 flipH="1" flipV="1">
            <a:off x="8735898" y="2665586"/>
            <a:ext cx="1105803" cy="815646"/>
            <a:chOff x="-1604504" y="2147667"/>
            <a:chExt cx="3687215" cy="2719712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2" name="文本框 11"/>
          <p:cNvSpPr txBox="1"/>
          <p:nvPr/>
        </p:nvSpPr>
        <p:spPr>
          <a:xfrm>
            <a:off x="2969260" y="2585720"/>
            <a:ext cx="62528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  <a:sym typeface="+mn-ea"/>
              </a:rPr>
              <a:t>合作探究 释疑解惑</a:t>
            </a:r>
            <a:endParaRPr lang="zh-CN" altLang="en-US" sz="5400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36" name="矩形 35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37" name="组合 36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38" name="矩形 37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探究一</a:t>
                </a:r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 dirty="0">
                    <a:solidFill>
                      <a:schemeClr val="bg1"/>
                    </a:solidFill>
                  </a:rPr>
                  <a:t>由抛物线的几何性质求其标准方程</a:t>
                </a:r>
              </a:p>
            </p:txBody>
          </p:sp>
        </p:grpSp>
      </p:grpSp>
      <p:sp>
        <p:nvSpPr>
          <p:cNvPr id="2" name="矩形 1"/>
          <p:cNvSpPr>
            <a:spLocks noChangeAspect="1"/>
          </p:cNvSpPr>
          <p:nvPr/>
        </p:nvSpPr>
        <p:spPr>
          <a:xfrm>
            <a:off x="381000" y="887236"/>
            <a:ext cx="11430000" cy="4609147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【例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已知抛物线的顶点在原点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对称轴重合于椭圆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36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短轴所在的直线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抛物线焦点到顶点的距离为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则抛物线的方程为</a:t>
            </a:r>
            <a:r>
              <a:rPr lang="zh-CN" altLang="zh-CN" sz="2800" i="1" u="sng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　　　　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i="1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 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已知抛物线的顶点在坐标原点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对称轴为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轴且与圆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+y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相交的公共弦长等于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2      ,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则抛物线的方程为</a:t>
            </a:r>
            <a:r>
              <a:rPr lang="zh-CN" altLang="zh-CN" sz="2800" i="1" u="sng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　　　　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i="1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 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分析</a:t>
            </a:r>
            <a:r>
              <a:rPr lang="en-US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利用几何性质确定抛物线方程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因为圆和抛物线都关于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轴对称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所以它们的交点也关于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轴对称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即公共弦被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轴垂直平分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于是由弦长等于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2      ,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可知交点纵坐标为</a:t>
            </a:r>
            <a:r>
              <a:rPr lang="en-US" altLang="zh-CN" sz="2800" dirty="0" smtClean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±   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2359271"/>
              </p:ext>
            </p:extLst>
          </p:nvPr>
        </p:nvGraphicFramePr>
        <p:xfrm>
          <a:off x="2344656" y="3204001"/>
          <a:ext cx="669925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91" name="文档" r:id="rId3" imgW="271708" imgH="198592" progId="Word.Document.12">
                  <p:embed/>
                </p:oleObj>
              </mc:Choice>
              <mc:Fallback>
                <p:oleObj name="文档" r:id="rId3" imgW="271708" imgH="19859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44656" y="3204001"/>
                        <a:ext cx="669925" cy="501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0932636"/>
              </p:ext>
            </p:extLst>
          </p:nvPr>
        </p:nvGraphicFramePr>
        <p:xfrm>
          <a:off x="6144768" y="4849921"/>
          <a:ext cx="669925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92" name="文档" r:id="rId5" imgW="271708" imgH="198592" progId="Word.Document.12">
                  <p:embed/>
                </p:oleObj>
              </mc:Choice>
              <mc:Fallback>
                <p:oleObj name="文档" r:id="rId5" imgW="271708" imgH="19859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144768" y="4849921"/>
                        <a:ext cx="669925" cy="501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6736716"/>
              </p:ext>
            </p:extLst>
          </p:nvPr>
        </p:nvGraphicFramePr>
        <p:xfrm>
          <a:off x="9948672" y="4849921"/>
          <a:ext cx="669925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93" name="文档" r:id="rId6" imgW="271708" imgH="198592" progId="Word.Document.12">
                  <p:embed/>
                </p:oleObj>
              </mc:Choice>
              <mc:Fallback>
                <p:oleObj name="文档" r:id="rId6" imgW="271708" imgH="19859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948672" y="4849921"/>
                        <a:ext cx="669925" cy="501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1581468"/>
              </p:ext>
            </p:extLst>
          </p:nvPr>
        </p:nvGraphicFramePr>
        <p:xfrm>
          <a:off x="48768" y="33783"/>
          <a:ext cx="11430000" cy="10032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6" name="文档" r:id="rId3" imgW="4520786" imgH="396823" progId="Word.Document.12">
                  <p:embed/>
                </p:oleObj>
              </mc:Choice>
              <mc:Fallback>
                <p:oleObj name="文档" r:id="rId3" imgW="4520786" imgH="3968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8768" y="33783"/>
                        <a:ext cx="11430000" cy="10032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>
            <a:spLocks noChangeAspect="1"/>
          </p:cNvSpPr>
          <p:nvPr/>
        </p:nvSpPr>
        <p:spPr>
          <a:xfrm>
            <a:off x="381000" y="876188"/>
            <a:ext cx="11430000" cy="1152367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故抛物线的对称轴为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所以设抛物线的方程为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2880112"/>
              </p:ext>
            </p:extLst>
          </p:nvPr>
        </p:nvGraphicFramePr>
        <p:xfrm>
          <a:off x="48768" y="1993615"/>
          <a:ext cx="11430000" cy="10032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7" name="文档" r:id="rId5" imgW="4520786" imgH="396823" progId="Word.Document.12">
                  <p:embed/>
                </p:oleObj>
              </mc:Choice>
              <mc:Fallback>
                <p:oleObj name="文档" r:id="rId5" imgW="4520786" imgH="3968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8768" y="1993615"/>
                        <a:ext cx="11430000" cy="10032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>
            <a:spLocks noChangeAspect="1"/>
          </p:cNvSpPr>
          <p:nvPr/>
        </p:nvSpPr>
        <p:spPr>
          <a:xfrm>
            <a:off x="381000" y="2772038"/>
            <a:ext cx="11430000" cy="3498394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则抛物线的标准方程为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根据抛物线和圆的对称性知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其交点纵坐标为</a:t>
            </a:r>
            <a:r>
              <a:rPr lang="en-US" altLang="zh-CN" sz="2800" dirty="0" smtClean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±   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交点横坐标为</a:t>
            </a:r>
            <a:r>
              <a:rPr lang="en-US" altLang="zh-CN" sz="2800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±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设抛物线方程为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从而抛物线方程为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或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或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5177066"/>
              </p:ext>
            </p:extLst>
          </p:nvPr>
        </p:nvGraphicFramePr>
        <p:xfrm>
          <a:off x="8271770" y="3981292"/>
          <a:ext cx="669925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8" name="文档" r:id="rId7" imgW="271708" imgH="198592" progId="Word.Document.12">
                  <p:embed/>
                </p:oleObj>
              </mc:Choice>
              <mc:Fallback>
                <p:oleObj name="文档" r:id="rId7" imgW="271708" imgH="19859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271770" y="3981292"/>
                        <a:ext cx="669925" cy="501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49963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81000" y="1589031"/>
            <a:ext cx="11430000" cy="2438168"/>
            <a:chOff x="381000" y="2222876"/>
            <a:chExt cx="11430000" cy="2438168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2222876"/>
              <a:ext cx="11430000" cy="2332946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en-US" sz="2800" dirty="0">
                  <a:solidFill>
                    <a:srgbClr val="00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反思感悟</a:t>
              </a:r>
              <a:r>
                <a:rPr lang="en-US" altLang="zh-CN" sz="2800" dirty="0">
                  <a:solidFill>
                    <a:srgbClr val="00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抛物线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各元素间的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关系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抛物线的焦点始终在对称轴上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顶点就是抛物线与对称轴的交点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准线始终与对称轴垂直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准线与对称轴的交点和焦点关于顶点对称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顶点到焦点的距离等于顶点到准线的距离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 smtClean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为</a:t>
              </a:r>
              <a:r>
                <a:rPr lang="en-US" altLang="zh-CN" sz="2800" dirty="0" smtClean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   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22983306"/>
                </p:ext>
              </p:extLst>
            </p:nvPr>
          </p:nvGraphicFramePr>
          <p:xfrm>
            <a:off x="5149590" y="3834494"/>
            <a:ext cx="347675" cy="826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93" name="文档" r:id="rId3" imgW="173821" imgH="396823" progId="Word.Document.12">
                    <p:embed/>
                  </p:oleObj>
                </mc:Choice>
                <mc:Fallback>
                  <p:oleObj name="文档" r:id="rId3" imgW="173821" imgH="396823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5149590" y="3834494"/>
                          <a:ext cx="347675" cy="8265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564354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590041"/>
            <a:ext cx="11430000" cy="171252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已知圆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+y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与抛物线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的准线相切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A.1	B.2	C.3	D.4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0085464"/>
              </p:ext>
            </p:extLst>
          </p:nvPr>
        </p:nvGraphicFramePr>
        <p:xfrm>
          <a:off x="48768" y="2302561"/>
          <a:ext cx="11430000" cy="2005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7" name="文档" r:id="rId3" imgW="4520786" imgH="793285" progId="Word.Document.12">
                  <p:embed/>
                </p:oleObj>
              </mc:Choice>
              <mc:Fallback>
                <p:oleObj name="文档" r:id="rId3" imgW="4520786" imgH="79328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8768" y="2302561"/>
                        <a:ext cx="11430000" cy="20056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81000" y="4180474"/>
            <a:ext cx="11430000" cy="1152367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9300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10" name="矩形 9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探究二</a:t>
                </a:r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 dirty="0">
                    <a:solidFill>
                      <a:schemeClr val="bg1"/>
                    </a:solidFill>
                  </a:rPr>
                  <a:t>抛物线的几何性质的应用</a:t>
                </a:r>
              </a:p>
            </p:txBody>
          </p:sp>
        </p:grpSp>
      </p:grpSp>
      <p:sp>
        <p:nvSpPr>
          <p:cNvPr id="2" name="矩形 1"/>
          <p:cNvSpPr>
            <a:spLocks noChangeAspect="1"/>
          </p:cNvSpPr>
          <p:nvPr/>
        </p:nvSpPr>
        <p:spPr>
          <a:xfrm>
            <a:off x="381000" y="1804707"/>
            <a:ext cx="11430000" cy="227267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【例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是抛物线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上两点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为坐标原点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|OA|=|OB|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</a:t>
            </a:r>
            <a:r>
              <a:rPr lang="en-US" altLang="zh-CN" sz="2800" dirty="0">
                <a:solidFill>
                  <a:srgbClr val="000000"/>
                </a:solidFill>
                <a:latin typeface="Cambria Math" panose="02040503050406030204" pitchFamily="18" charset="0"/>
                <a:cs typeface="Cambria Math" panose="02040503050406030204" pitchFamily="18" charset="0"/>
              </a:rPr>
              <a:t>△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的垂心恰是此抛物线的焦点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的方程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分析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先由抛物线的对称性设出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两点的坐标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再利用垂直和点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在抛物线上求解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60960" y="329828"/>
            <a:ext cx="11750040" cy="5145370"/>
            <a:chOff x="60960" y="572008"/>
            <a:chExt cx="11750040" cy="5145370"/>
          </a:xfrm>
        </p:grpSpPr>
        <p:graphicFrame>
          <p:nvGraphicFramePr>
            <p:cNvPr id="2" name="对象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45011067"/>
                </p:ext>
              </p:extLst>
            </p:nvPr>
          </p:nvGraphicFramePr>
          <p:xfrm>
            <a:off x="60960" y="572008"/>
            <a:ext cx="11430000" cy="1003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62" name="文档" r:id="rId3" imgW="4520786" imgH="396823" progId="Word.Document.12">
                    <p:embed/>
                  </p:oleObj>
                </mc:Choice>
                <mc:Fallback>
                  <p:oleObj name="文档" r:id="rId3" imgW="4520786" imgH="396823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60960" y="572008"/>
                          <a:ext cx="11430000" cy="100329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381000" y="1451668"/>
              <a:ext cx="11430000" cy="227267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∵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抛物线关于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轴对称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|OA|=|OB|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∴</a:t>
              </a:r>
              <a:r>
                <a:rPr lang="en-US" altLang="zh-CN" sz="2800" dirty="0">
                  <a:solidFill>
                    <a:srgbClr val="000000"/>
                  </a:solidFill>
                  <a:latin typeface="Cambria Math" panose="02040503050406030204" pitchFamily="18" charset="0"/>
                  <a:cs typeface="Cambria Math" panose="02040503050406030204" pitchFamily="18" charset="0"/>
                </a:rPr>
                <a:t>△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ABO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为等腰三角形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∴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两点关于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轴对称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设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则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-y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),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∵</a:t>
              </a:r>
              <a:r>
                <a:rPr lang="en-US" altLang="zh-CN" sz="2800" dirty="0">
                  <a:solidFill>
                    <a:srgbClr val="000000"/>
                  </a:solidFill>
                  <a:latin typeface="Cambria Math" panose="02040503050406030204" pitchFamily="18" charset="0"/>
                  <a:cs typeface="Cambria Math" panose="02040503050406030204" pitchFamily="18" charset="0"/>
                </a:rPr>
                <a:t>△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ABO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的垂心恰为抛物线的焦点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∴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BF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⊥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OA.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67352989"/>
                </p:ext>
              </p:extLst>
            </p:nvPr>
          </p:nvGraphicFramePr>
          <p:xfrm>
            <a:off x="60960" y="3711698"/>
            <a:ext cx="11430000" cy="20056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63" name="文档" r:id="rId5" imgW="4520786" imgH="793285" progId="Word.Document.12">
                    <p:embed/>
                  </p:oleObj>
                </mc:Choice>
                <mc:Fallback>
                  <p:oleObj name="文档" r:id="rId5" imgW="4520786" imgH="793285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60960" y="3711698"/>
                          <a:ext cx="11430000" cy="200568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527313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759903"/>
            <a:ext cx="11430000" cy="1152367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本例题若把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垂心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改为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重心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其他条件不变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的方程如何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因为抛物线关于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轴对称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|OA|=|OB|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两点关于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轴对称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pic>
        <p:nvPicPr>
          <p:cNvPr id="3" name="延伸探究H.eps" descr="id:2147494559;FounderCES"/>
          <p:cNvPicPr/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757688" y="355621"/>
            <a:ext cx="2016224" cy="367706"/>
          </a:xfrm>
          <a:prstGeom prst="rect">
            <a:avLst/>
          </a:prstGeom>
        </p:spPr>
      </p:pic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6900843"/>
              </p:ext>
            </p:extLst>
          </p:nvPr>
        </p:nvGraphicFramePr>
        <p:xfrm>
          <a:off x="48768" y="1892602"/>
          <a:ext cx="11430000" cy="10032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4" name="文档" r:id="rId4" imgW="4520786" imgH="396823" progId="Word.Document.12">
                  <p:embed/>
                </p:oleObj>
              </mc:Choice>
              <mc:Fallback>
                <p:oleObj name="文档" r:id="rId4" imgW="4520786" imgH="3968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8768" y="1892602"/>
                        <a:ext cx="11430000" cy="10032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>
            <a:spLocks noChangeAspect="1"/>
          </p:cNvSpPr>
          <p:nvPr/>
        </p:nvSpPr>
        <p:spPr>
          <a:xfrm>
            <a:off x="381000" y="2760408"/>
            <a:ext cx="11430000" cy="289310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反思感悟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利用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抛物线的性质可以解决的问题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对称性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解决抛物线的内接三角形问题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焦点、准线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解决与抛物线的定义有关的问题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范围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解决与抛物线有关的最值问题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(4)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焦点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解决焦点弦问题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524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357399"/>
            <a:ext cx="11430000" cy="171252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已知抛物线的焦点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轴上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过点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且垂直于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与抛物线交于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两点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为坐标原点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800" dirty="0">
                <a:solidFill>
                  <a:srgbClr val="000000"/>
                </a:solidFill>
                <a:latin typeface="Cambria Math" panose="02040503050406030204" pitchFamily="18" charset="0"/>
                <a:cs typeface="Cambria Math" panose="02040503050406030204" pitchFamily="18" charset="0"/>
              </a:rPr>
              <a:t>△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OAB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的面积等于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求此抛物线的标准方程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9325724"/>
              </p:ext>
            </p:extLst>
          </p:nvPr>
        </p:nvGraphicFramePr>
        <p:xfrm>
          <a:off x="48768" y="2008959"/>
          <a:ext cx="11430000" cy="35101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7" name="文档" r:id="rId3" imgW="4520786" imgH="1388340" progId="Word.Document.12">
                  <p:embed/>
                </p:oleObj>
              </mc:Choice>
              <mc:Fallback>
                <p:oleObj name="文档" r:id="rId3" imgW="4520786" imgH="138834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8768" y="2008959"/>
                        <a:ext cx="11430000" cy="35101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39178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10" name="矩形 9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探究三</a:t>
                </a:r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 dirty="0">
                    <a:solidFill>
                      <a:schemeClr val="bg1"/>
                    </a:solidFill>
                  </a:rPr>
                  <a:t>抛物线中过焦点的弦长问题</a:t>
                </a:r>
              </a:p>
            </p:txBody>
          </p:sp>
        </p:grpSp>
      </p:grpSp>
      <p:sp>
        <p:nvSpPr>
          <p:cNvPr id="2" name="矩形 1"/>
          <p:cNvSpPr>
            <a:spLocks noChangeAspect="1"/>
          </p:cNvSpPr>
          <p:nvPr/>
        </p:nvSpPr>
        <p:spPr>
          <a:xfrm>
            <a:off x="381000" y="704342"/>
            <a:ext cx="11430000" cy="5693866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【例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如图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斜率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经过抛物线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的焦点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(1,0),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且与抛物线相交于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两点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sz="2800" i="1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sz="2800" i="1" dirty="0" smtClean="0">
              <a:solidFill>
                <a:srgbClr val="000000"/>
              </a:solidFill>
              <a:latin typeface="Times New Roman" panose="02020603050405020304" pitchFamily="18" charset="0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sz="2800" i="1" dirty="0" smtClean="0">
              <a:solidFill>
                <a:srgbClr val="000000"/>
              </a:solidFill>
              <a:latin typeface="Times New Roman" panose="02020603050405020304" pitchFamily="18" charset="0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求该抛物线的标准方程和准线方程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求线段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分析</a:t>
            </a:r>
            <a:r>
              <a:rPr lang="en-US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由抛物线的焦点坐标得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的值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求出抛物线方程及其准线方程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由过焦点的直线方程与抛物线方程联立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利用焦点弦长公式可解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pic>
        <p:nvPicPr>
          <p:cNvPr id="8" name="NMX1TRAX32.eps" descr="id:2147497730;FounderCES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965318" y="1414209"/>
            <a:ext cx="2261365" cy="2576702"/>
          </a:xfrm>
          <a:prstGeom prst="rect">
            <a:avLst/>
          </a:prstGeom>
        </p:spPr>
      </p:pic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8377969"/>
              </p:ext>
            </p:extLst>
          </p:nvPr>
        </p:nvGraphicFramePr>
        <p:xfrm>
          <a:off x="4014852" y="667766"/>
          <a:ext cx="362585" cy="7514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9" name="文档" r:id="rId4" imgW="197933" imgH="396823" progId="Word.Document.12">
                  <p:embed/>
                </p:oleObj>
              </mc:Choice>
              <mc:Fallback>
                <p:oleObj name="文档" r:id="rId4" imgW="197933" imgH="3968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014852" y="667766"/>
                        <a:ext cx="362585" cy="75140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8425510"/>
              </p:ext>
            </p:extLst>
          </p:nvPr>
        </p:nvGraphicFramePr>
        <p:xfrm>
          <a:off x="48768" y="263388"/>
          <a:ext cx="11430000" cy="5516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3" name="文档" r:id="rId3" imgW="4520786" imgH="2181985" progId="Word.Document.12">
                  <p:embed/>
                </p:oleObj>
              </mc:Choice>
              <mc:Fallback>
                <p:oleObj name="文档" r:id="rId3" imgW="4520786" imgH="218198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8768" y="263388"/>
                        <a:ext cx="11430000" cy="55167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82448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6576" y="792767"/>
            <a:ext cx="11774424" cy="4266161"/>
            <a:chOff x="36576" y="1239580"/>
            <a:chExt cx="11774424" cy="4266161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1239580"/>
              <a:ext cx="11430000" cy="2332946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en-US" sz="2800" dirty="0">
                  <a:solidFill>
                    <a:srgbClr val="00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反思感悟</a:t>
              </a:r>
              <a:r>
                <a:rPr lang="en-US" altLang="zh-CN" sz="2800" dirty="0">
                  <a:solidFill>
                    <a:srgbClr val="00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对于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抛物线的焦点弦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应熟悉一些常见的结论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并可直接应用于选择题和填空题的解答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如设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AB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是过抛物线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p&gt;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的焦点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的一条弦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点为直线与抛物线的交点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则有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: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=-p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;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05626412"/>
                </p:ext>
              </p:extLst>
            </p:nvPr>
          </p:nvGraphicFramePr>
          <p:xfrm>
            <a:off x="36576" y="3500061"/>
            <a:ext cx="11430000" cy="20056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57" name="文档" r:id="rId3" imgW="4520786" imgH="793285" progId="Word.Document.12">
                    <p:embed/>
                  </p:oleObj>
                </mc:Choice>
                <mc:Fallback>
                  <p:oleObj name="文档" r:id="rId3" imgW="4520786" imgH="793285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6576" y="3500061"/>
                          <a:ext cx="11430000" cy="200568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587997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56642"/>
            <a:ext cx="11430000" cy="171252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抛物线的顶点在原点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轴为对称轴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经过焦点且倾斜角为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135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°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的直线被抛物线所截得的弦长为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试求抛物线的方程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如图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依题意可设抛物线方程为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0),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39624" y="1744778"/>
            <a:ext cx="11945112" cy="4984740"/>
            <a:chOff x="39624" y="1744778"/>
            <a:chExt cx="11945112" cy="4984740"/>
          </a:xfrm>
        </p:grpSpPr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14879840"/>
                </p:ext>
              </p:extLst>
            </p:nvPr>
          </p:nvGraphicFramePr>
          <p:xfrm>
            <a:off x="39624" y="1744778"/>
            <a:ext cx="11430000" cy="25077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98" name="文档" r:id="rId3" imgW="4520786" imgH="991877" progId="Word.Document.12">
                    <p:embed/>
                  </p:oleObj>
                </mc:Choice>
                <mc:Fallback>
                  <p:oleObj name="文档" r:id="rId3" imgW="4520786" imgH="991877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9624" y="1744778"/>
                          <a:ext cx="11430000" cy="250778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81000" y="4043061"/>
              <a:ext cx="11430000" cy="115236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即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+x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+p=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①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又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是抛物线和直线的交点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10872232"/>
                </p:ext>
              </p:extLst>
            </p:nvPr>
          </p:nvGraphicFramePr>
          <p:xfrm>
            <a:off x="39624" y="5225030"/>
            <a:ext cx="11430000" cy="15044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99" name="文档" r:id="rId5" imgW="4520786" imgH="595054" progId="Word.Document.12">
                    <p:embed/>
                  </p:oleObj>
                </mc:Choice>
                <mc:Fallback>
                  <p:oleObj name="文档" r:id="rId5" imgW="4520786" imgH="595054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9624" y="5225030"/>
                          <a:ext cx="11430000" cy="150448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6" name="NMX1TRAX33.eps" descr="id:2147497744;FounderCES"/>
            <p:cNvPicPr/>
            <p:nvPr/>
          </p:nvPicPr>
          <p:blipFill>
            <a:blip r:embed="rId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9723246" y="2189863"/>
              <a:ext cx="2261490" cy="263024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28069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81000" y="1248322"/>
            <a:ext cx="11430000" cy="2832827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将其代入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①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所求抛物线方程为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当抛物线方程设为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同理可求得抛物线方程为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故抛物线方程为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7034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>
            <a:spLocks noChangeAspect="1"/>
          </p:cNvSpPr>
          <p:nvPr/>
        </p:nvSpPr>
        <p:spPr>
          <a:xfrm>
            <a:off x="381000" y="50021"/>
            <a:ext cx="2362200" cy="6406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【</a:t>
            </a:r>
            <a:r>
              <a:rPr lang="zh-CN" altLang="en-US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思想方法</a:t>
            </a:r>
            <a:r>
              <a:rPr lang="zh-CN" altLang="zh-CN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】</a:t>
            </a:r>
            <a:r>
              <a:rPr lang="en-US" altLang="zh-CN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 </a:t>
            </a:r>
            <a:endParaRPr lang="zh-CN" altLang="zh-CN" sz="3200" b="1" dirty="0">
              <a:solidFill>
                <a:srgbClr val="E88651">
                  <a:lumMod val="75000"/>
                </a:srgbClr>
              </a:solidFill>
              <a:latin typeface="黑体" panose="02010609060101010101" pitchFamily="49" charset="-122"/>
              <a:ea typeface="方正姚体" panose="02010601030101010101"/>
              <a:cs typeface="方正姚体" panose="02010601030101010101" charset="-122"/>
            </a:endParaRPr>
          </a:p>
        </p:txBody>
      </p:sp>
      <p:sp>
        <p:nvSpPr>
          <p:cNvPr id="8" name="矩形 7"/>
          <p:cNvSpPr>
            <a:spLocks noChangeAspect="1"/>
          </p:cNvSpPr>
          <p:nvPr/>
        </p:nvSpPr>
        <p:spPr>
          <a:xfrm>
            <a:off x="381000" y="704342"/>
            <a:ext cx="11430000" cy="5693866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函数思想与数形结合思想在抛物线最值中的应用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【典例】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如图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交抛物线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两点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试在抛物线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AOB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这段曲线上求一点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使</a:t>
            </a:r>
            <a:r>
              <a:rPr lang="en-US" altLang="zh-CN" sz="2800" dirty="0">
                <a:solidFill>
                  <a:srgbClr val="000000"/>
                </a:solidFill>
                <a:latin typeface="Cambria Math" panose="02040503050406030204" pitchFamily="18" charset="0"/>
                <a:cs typeface="Cambria Math" panose="02040503050406030204" pitchFamily="18" charset="0"/>
              </a:rPr>
              <a:t>△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的面积最大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并求出这个最大面积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sz="2800" dirty="0" smtClean="0">
              <a:solidFill>
                <a:srgbClr val="FF0000"/>
              </a:solidFill>
              <a:latin typeface="Arial" panose="020B0604020202020204" pitchFamily="34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sz="2800" dirty="0">
              <a:solidFill>
                <a:srgbClr val="FF0000"/>
              </a:solidFill>
              <a:latin typeface="Arial" panose="020B0604020202020204" pitchFamily="34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sz="2800" dirty="0" smtClean="0">
              <a:solidFill>
                <a:srgbClr val="FF0000"/>
              </a:solidFill>
              <a:latin typeface="Arial" panose="020B0604020202020204" pitchFamily="34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sz="2800" dirty="0">
              <a:solidFill>
                <a:srgbClr val="FF0000"/>
              </a:solidFill>
              <a:latin typeface="Arial" panose="020B0604020202020204" pitchFamily="34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 smtClean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审题视角</a:t>
            </a:r>
            <a:r>
              <a:rPr lang="en-US" altLang="zh-CN" sz="2800" dirty="0" smtClean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通过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联立方程组求得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的坐标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从而可得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|AB|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的大小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设出点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坐标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利用点到直线的距离公式表示出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边上的高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从而表示出</a:t>
            </a:r>
            <a:r>
              <a:rPr lang="en-US" altLang="zh-CN" sz="2800" dirty="0">
                <a:solidFill>
                  <a:srgbClr val="000000"/>
                </a:solidFill>
                <a:latin typeface="Cambria Math" panose="02040503050406030204" pitchFamily="18" charset="0"/>
                <a:cs typeface="Cambria Math" panose="02040503050406030204" pitchFamily="18" charset="0"/>
              </a:rPr>
              <a:t>△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的面积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考虑点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坐标变量的范围求得函数的最大值即可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pic>
        <p:nvPicPr>
          <p:cNvPr id="9" name="NMX1TRAX34.eps" descr="id:2147497758;FounderCES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068107" y="2409946"/>
            <a:ext cx="2055786" cy="2267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28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5984347"/>
              </p:ext>
            </p:extLst>
          </p:nvPr>
        </p:nvGraphicFramePr>
        <p:xfrm>
          <a:off x="39624" y="101356"/>
          <a:ext cx="11430000" cy="65191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0" name="文档" r:id="rId3" imgW="4520786" imgH="2578448" progId="Word.Document.12">
                  <p:embed/>
                </p:oleObj>
              </mc:Choice>
              <mc:Fallback>
                <p:oleObj name="文档" r:id="rId3" imgW="4520786" imgH="257844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9624" y="101356"/>
                        <a:ext cx="11430000" cy="65191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387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8438991"/>
              </p:ext>
            </p:extLst>
          </p:nvPr>
        </p:nvGraphicFramePr>
        <p:xfrm>
          <a:off x="48768" y="125740"/>
          <a:ext cx="11430000" cy="65191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4" name="文档" r:id="rId3" imgW="4520786" imgH="2578448" progId="Word.Document.12">
                  <p:embed/>
                </p:oleObj>
              </mc:Choice>
              <mc:Fallback>
                <p:oleObj name="文档" r:id="rId3" imgW="4520786" imgH="257844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8768" y="125740"/>
                        <a:ext cx="11430000" cy="65191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62890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245520"/>
            <a:ext cx="11430000" cy="345325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80670"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方法点睛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解决本题的关键是弦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的长度为定值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于是</a:t>
            </a:r>
            <a:r>
              <a:rPr lang="en-US" altLang="zh-CN" sz="2800" dirty="0">
                <a:solidFill>
                  <a:srgbClr val="000000"/>
                </a:solidFill>
                <a:latin typeface="Cambria Math" panose="02040503050406030204" pitchFamily="18" charset="0"/>
                <a:cs typeface="Cambria Math" panose="02040503050406030204" pitchFamily="18" charset="0"/>
              </a:rPr>
              <a:t>△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的面积最大转化为点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到直线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的距离最大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要求何时点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到直线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的距离最大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有两种思路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一是利用函数思想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设出点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的坐标转化为二次函数问题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二是利用数形结合思想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平移直线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与抛物线相切问题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在应用二次函数配方法求最值时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一定要注意自变量的取值范围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8318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/>
        </p:nvSpPr>
        <p:spPr>
          <a:xfrm>
            <a:off x="381000" y="590773"/>
            <a:ext cx="11430000" cy="177279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求抛物线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y=-x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上的点到直线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的最小距离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方法一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为抛物线上的点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到直线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距离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9039126"/>
              </p:ext>
            </p:extLst>
          </p:nvPr>
        </p:nvGraphicFramePr>
        <p:xfrm>
          <a:off x="51816" y="2317286"/>
          <a:ext cx="11430000" cy="30089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8" name="文档" r:id="rId3" imgW="4520786" imgH="1190108" progId="Word.Document.12">
                  <p:embed/>
                </p:oleObj>
              </mc:Choice>
              <mc:Fallback>
                <p:oleObj name="文档" r:id="rId3" imgW="4520786" imgH="119010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1816" y="2317286"/>
                        <a:ext cx="11430000" cy="30089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62002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51816" y="794445"/>
            <a:ext cx="11759184" cy="4223923"/>
            <a:chOff x="51816" y="1043829"/>
            <a:chExt cx="11759184" cy="4223923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1043829"/>
              <a:ext cx="11430000" cy="115236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方法二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如图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设与直线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平行的抛物线的切线方程为</a:t>
              </a:r>
              <a:r>
                <a:rPr lang="en-US" altLang="zh-CN" sz="28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sz="28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x+</a:t>
              </a:r>
              <a:r>
                <a:rPr lang="en-US" altLang="zh-CN" sz="28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y+m=</a:t>
              </a:r>
              <a:r>
                <a:rPr lang="en-US" altLang="zh-CN" sz="28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0(</a:t>
              </a:r>
              <a:r>
                <a:rPr lang="en-US" altLang="zh-CN" sz="28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en-US" altLang="zh-CN" sz="28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≠</a:t>
              </a:r>
              <a:r>
                <a:rPr lang="en-US" altLang="zh-CN" sz="28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8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8),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60973105"/>
                </p:ext>
              </p:extLst>
            </p:nvPr>
          </p:nvGraphicFramePr>
          <p:xfrm>
            <a:off x="51816" y="2258776"/>
            <a:ext cx="11430000" cy="30089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472" name="文档" r:id="rId3" imgW="4520786" imgH="1190108" progId="Word.Document.12">
                    <p:embed/>
                  </p:oleObj>
                </mc:Choice>
                <mc:Fallback>
                  <p:oleObj name="文档" r:id="rId3" imgW="4520786" imgH="1190108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51816" y="2258776"/>
                          <a:ext cx="11430000" cy="300897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4" name="NMX1TRAX35.eps" descr="id:2147497772;FounderCES"/>
            <p:cNvPicPr/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7682992" y="2472540"/>
              <a:ext cx="3666948" cy="258144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19084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617835" y="2558415"/>
            <a:ext cx="1105802" cy="815646"/>
            <a:chOff x="-1604504" y="2147667"/>
            <a:chExt cx="3687215" cy="2719712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 flipH="1" flipV="1">
            <a:off x="8334801" y="2587481"/>
            <a:ext cx="1105803" cy="815646"/>
            <a:chOff x="-1604504" y="2147667"/>
            <a:chExt cx="3687215" cy="2719712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2" name="文本框 11"/>
          <p:cNvSpPr txBox="1"/>
          <p:nvPr/>
        </p:nvSpPr>
        <p:spPr>
          <a:xfrm>
            <a:off x="3612492" y="2507615"/>
            <a:ext cx="458787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隶书" panose="02010509060101010101" pitchFamily="49" charset="-122"/>
                <a:sym typeface="+mn-ea"/>
              </a:rPr>
              <a:t>随堂练习</a:t>
            </a:r>
            <a:endParaRPr lang="zh-CN" altLang="en-US" sz="5400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隶书" panose="02010509060101010101" pitchFamily="49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0802613"/>
              </p:ext>
            </p:extLst>
          </p:nvPr>
        </p:nvGraphicFramePr>
        <p:xfrm>
          <a:off x="478536" y="448924"/>
          <a:ext cx="11430000" cy="25077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0" name="文档" r:id="rId3" imgW="4520786" imgH="991877" progId="Word.Document.12">
                  <p:embed/>
                </p:oleObj>
              </mc:Choice>
              <mc:Fallback>
                <p:oleObj name="文档" r:id="rId3" imgW="4520786" imgH="99187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78536" y="448924"/>
                        <a:ext cx="11430000" cy="25077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997481"/>
              </p:ext>
            </p:extLst>
          </p:nvPr>
        </p:nvGraphicFramePr>
        <p:xfrm>
          <a:off x="478536" y="2993284"/>
          <a:ext cx="11430000" cy="10032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1" name="文档" r:id="rId5" imgW="4520786" imgH="396823" progId="Word.Document.12">
                  <p:embed/>
                </p:oleObj>
              </mc:Choice>
              <mc:Fallback>
                <p:oleObj name="文档" r:id="rId5" imgW="4520786" imgH="3968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78536" y="2993284"/>
                        <a:ext cx="11430000" cy="10032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>
            <a:spLocks noChangeAspect="1"/>
          </p:cNvSpPr>
          <p:nvPr/>
        </p:nvSpPr>
        <p:spPr>
          <a:xfrm>
            <a:off x="381000" y="3836136"/>
            <a:ext cx="11430000" cy="171252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且抛物线开口向右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抛物线的标准方程为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8716358"/>
              </p:ext>
            </p:extLst>
          </p:nvPr>
        </p:nvGraphicFramePr>
        <p:xfrm>
          <a:off x="478536" y="527512"/>
          <a:ext cx="11430000" cy="30089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30" name="文档" r:id="rId3" imgW="4520786" imgH="1190108" progId="Word.Document.12">
                  <p:embed/>
                </p:oleObj>
              </mc:Choice>
              <mc:Fallback>
                <p:oleObj name="文档" r:id="rId3" imgW="4520786" imgH="119010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78536" y="527512"/>
                        <a:ext cx="11430000" cy="30089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3958609"/>
              </p:ext>
            </p:extLst>
          </p:nvPr>
        </p:nvGraphicFramePr>
        <p:xfrm>
          <a:off x="478536" y="3370024"/>
          <a:ext cx="11430000" cy="2005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31" name="文档" r:id="rId5" imgW="4520786" imgH="793285" progId="Word.Document.12">
                  <p:embed/>
                </p:oleObj>
              </mc:Choice>
              <mc:Fallback>
                <p:oleObj name="文档" r:id="rId5" imgW="4520786" imgH="79328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78536" y="3370024"/>
                        <a:ext cx="11430000" cy="20056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81000" y="5269232"/>
            <a:ext cx="1331839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25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590041"/>
            <a:ext cx="11430000" cy="507344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过抛物线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的焦点作倾斜角为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45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°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的直线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则被抛物线截得的弦长为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A.8	B.16	</a:t>
            </a:r>
            <a:endParaRPr lang="en-US" altLang="zh-CN" sz="280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C.32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D.61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由抛物线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的焦点坐标为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(2,0),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得直线的方程为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y=x-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代入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弦长等于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+p=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1115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248397"/>
            <a:ext cx="11430000" cy="59221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抛物线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上到其准线和顶点距离相等的点的坐标为</a:t>
            </a:r>
            <a:r>
              <a:rPr lang="zh-CN" altLang="zh-CN" sz="2800" i="1" u="sng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　　　　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i="1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 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111656"/>
              </p:ext>
            </p:extLst>
          </p:nvPr>
        </p:nvGraphicFramePr>
        <p:xfrm>
          <a:off x="481140" y="1904627"/>
          <a:ext cx="11430000" cy="2005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52" name="文档" r:id="rId3" imgW="4520786" imgH="793285" progId="Word.Document.12">
                  <p:embed/>
                </p:oleObj>
              </mc:Choice>
              <mc:Fallback>
                <p:oleObj name="文档" r:id="rId3" imgW="4520786" imgH="79328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81140" y="1904627"/>
                        <a:ext cx="11430000" cy="20056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9105584"/>
              </p:ext>
            </p:extLst>
          </p:nvPr>
        </p:nvGraphicFramePr>
        <p:xfrm>
          <a:off x="481140" y="3885923"/>
          <a:ext cx="11430000" cy="10032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53" name="文档" r:id="rId5" imgW="4520786" imgH="396823" progId="Word.Document.12">
                  <p:embed/>
                </p:oleObj>
              </mc:Choice>
              <mc:Fallback>
                <p:oleObj name="文档" r:id="rId5" imgW="4520786" imgH="3968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81140" y="3885923"/>
                        <a:ext cx="11430000" cy="10032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25670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>
            <a:spLocks noChangeAspect="1"/>
          </p:cNvSpPr>
          <p:nvPr/>
        </p:nvSpPr>
        <p:spPr>
          <a:xfrm>
            <a:off x="381000" y="228602"/>
            <a:ext cx="11430000" cy="228774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经过抛物线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的焦点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且与抛物线相交于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两点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的倾斜角为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60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|AB|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的值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|AB|=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求线段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的中点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到准线的距离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因为直线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的倾斜角为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60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4929088"/>
              </p:ext>
            </p:extLst>
          </p:nvPr>
        </p:nvGraphicFramePr>
        <p:xfrm>
          <a:off x="458424" y="2537126"/>
          <a:ext cx="11275153" cy="31248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9" name="文档" r:id="rId3" imgW="4510061" imgH="1249921" progId="Word.Document.12">
                  <p:embed/>
                </p:oleObj>
              </mc:Choice>
              <mc:Fallback>
                <p:oleObj name="文档" r:id="rId3" imgW="4510061" imgH="124992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8424" y="2537126"/>
                        <a:ext cx="11275153" cy="312480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31072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0849689"/>
              </p:ext>
            </p:extLst>
          </p:nvPr>
        </p:nvGraphicFramePr>
        <p:xfrm>
          <a:off x="458424" y="1652744"/>
          <a:ext cx="11275153" cy="24141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5" name="文档" r:id="rId3" imgW="4510061" imgH="965652" progId="Word.Document.12">
                  <p:embed/>
                </p:oleObj>
              </mc:Choice>
              <mc:Fallback>
                <p:oleObj name="文档" r:id="rId3" imgW="4510061" imgH="96565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8424" y="1652744"/>
                        <a:ext cx="11275153" cy="24141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67307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阴影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5712" y="1511279"/>
            <a:ext cx="7280625" cy="339612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809976" y="4908623"/>
            <a:ext cx="8572049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lnSpc>
                <a:spcPct val="150000"/>
              </a:lnSpc>
            </a:pPr>
            <a:r>
              <a:rPr lang="zh-CN" altLang="en-US" sz="2400" smtClean="0">
                <a:solidFill>
                  <a:srgbClr val="55463D"/>
                </a:solidFill>
              </a:rPr>
              <a:t>更多精彩内容请登录</a:t>
            </a:r>
            <a:r>
              <a:rPr lang="zh-CN" altLang="en-US" sz="2800" b="1" smtClean="0">
                <a:solidFill>
                  <a:srgbClr val="55463D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志鸿优化网</a:t>
            </a:r>
            <a:endParaRPr lang="en-US" altLang="zh-CN" sz="2400" b="1" smtClean="0">
              <a:solidFill>
                <a:srgbClr val="55463D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algn="ctr" fontAlgn="auto">
              <a:lnSpc>
                <a:spcPct val="150000"/>
              </a:lnSpc>
            </a:pPr>
            <a:r>
              <a:rPr lang="en-US" altLang="zh-CN" sz="2400" smtClean="0">
                <a:solidFill>
                  <a:srgbClr val="55463D"/>
                </a:solidFill>
              </a:rPr>
              <a:t>http</a:t>
            </a:r>
            <a:r>
              <a:rPr lang="en-US" altLang="zh-CN" sz="2400">
                <a:solidFill>
                  <a:srgbClr val="55463D"/>
                </a:solidFill>
              </a:rPr>
              <a:t>://www.zhyh.org</a:t>
            </a:r>
            <a:r>
              <a:rPr lang="en-US" altLang="zh-CN" sz="2400" smtClean="0">
                <a:solidFill>
                  <a:srgbClr val="55463D"/>
                </a:solidFill>
              </a:rPr>
              <a:t>/</a:t>
            </a:r>
            <a:endParaRPr lang="zh-CN" altLang="en-US" sz="2400">
              <a:solidFill>
                <a:srgbClr val="55463D"/>
              </a:solidFill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>
            <a:clrChange>
              <a:clrFrom>
                <a:srgbClr val="ECECEE"/>
              </a:clrFrom>
              <a:clrTo>
                <a:srgbClr val="ECECE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23290" y="4517181"/>
            <a:ext cx="2325712" cy="2253486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3451123" y="2222090"/>
            <a:ext cx="499478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b="1">
                <a:solidFill>
                  <a:srgbClr val="55463D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本  课  结  束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800" decel="100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204519"/>
  <p:tag name="MH_LIBRARY" val="GRAPHIC"/>
  <p:tag name="MH_ORDER" val="TextBox 3"/>
</p:tagLst>
</file>

<file path=ppt/theme/theme1.xml><?xml version="1.0" encoding="utf-8"?>
<a:theme xmlns:a="http://schemas.openxmlformats.org/drawingml/2006/main" name="1_Office 主题">
  <a:themeElements>
    <a:clrScheme name="模块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1" id="{721B1EAD-A6C0-47A7-B782-D5918D0D228F}" vid="{2963E896-880A-42B6-99FF-93DBD5586BD1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理科模板</Template>
  <TotalTime>405</TotalTime>
  <Words>1621</Words>
  <Application>Microsoft Office PowerPoint</Application>
  <PresentationFormat>宽屏</PresentationFormat>
  <Paragraphs>135</Paragraphs>
  <Slides>39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39</vt:i4>
      </vt:variant>
    </vt:vector>
  </HeadingPairs>
  <TitlesOfParts>
    <vt:vector size="59" baseType="lpstr">
      <vt:lpstr>NEU-BZ-S92</vt:lpstr>
      <vt:lpstr>Open Sans</vt:lpstr>
      <vt:lpstr>方正书宋_GBK</vt:lpstr>
      <vt:lpstr>方正姚体</vt:lpstr>
      <vt:lpstr>方正正中黑简体</vt:lpstr>
      <vt:lpstr>仿宋</vt:lpstr>
      <vt:lpstr>黑体</vt:lpstr>
      <vt:lpstr>华文细黑</vt:lpstr>
      <vt:lpstr>华文新魏</vt:lpstr>
      <vt:lpstr>楷体</vt:lpstr>
      <vt:lpstr>隶书</vt:lpstr>
      <vt:lpstr>思源黑体 CN Medium</vt:lpstr>
      <vt:lpstr>宋体</vt:lpstr>
      <vt:lpstr>微软雅黑</vt:lpstr>
      <vt:lpstr>Arial</vt:lpstr>
      <vt:lpstr>Calibri</vt:lpstr>
      <vt:lpstr>Cambria Math</vt:lpstr>
      <vt:lpstr>Times New Roman</vt:lpstr>
      <vt:lpstr>1_Office 主题</vt:lpstr>
      <vt:lpstr>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ITSK.com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SkyUser</dc:creator>
  <cp:lastModifiedBy>SkyUser</cp:lastModifiedBy>
  <cp:revision>39</cp:revision>
  <dcterms:created xsi:type="dcterms:W3CDTF">2021-08-30T08:30:26Z</dcterms:created>
  <dcterms:modified xsi:type="dcterms:W3CDTF">2025-08-09T09:46:09Z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2052-11.1.0.10000</vt:lpwstr>
  </property>
</Properties>
</file>