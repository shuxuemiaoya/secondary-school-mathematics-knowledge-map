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677" r:id="rId2"/>
    <p:sldId id="488" r:id="rId3"/>
    <p:sldId id="494" r:id="rId4"/>
    <p:sldId id="392" r:id="rId5"/>
    <p:sldId id="686" r:id="rId6"/>
    <p:sldId id="687" r:id="rId7"/>
    <p:sldId id="688" r:id="rId8"/>
    <p:sldId id="689" r:id="rId9"/>
    <p:sldId id="690" r:id="rId10"/>
    <p:sldId id="691" r:id="rId11"/>
    <p:sldId id="692" r:id="rId12"/>
    <p:sldId id="693" r:id="rId13"/>
    <p:sldId id="407" r:id="rId14"/>
    <p:sldId id="394" r:id="rId15"/>
    <p:sldId id="767" r:id="rId16"/>
    <p:sldId id="768" r:id="rId17"/>
    <p:sldId id="769" r:id="rId18"/>
    <p:sldId id="770" r:id="rId19"/>
    <p:sldId id="771" r:id="rId20"/>
    <p:sldId id="766" r:id="rId21"/>
    <p:sldId id="699" r:id="rId22"/>
    <p:sldId id="700" r:id="rId23"/>
    <p:sldId id="701" r:id="rId24"/>
    <p:sldId id="702" r:id="rId25"/>
    <p:sldId id="706" r:id="rId26"/>
    <p:sldId id="402" r:id="rId27"/>
    <p:sldId id="712" r:id="rId28"/>
    <p:sldId id="713" r:id="rId29"/>
    <p:sldId id="714" r:id="rId30"/>
    <p:sldId id="765" r:id="rId31"/>
    <p:sldId id="715" r:id="rId32"/>
    <p:sldId id="498" r:id="rId33"/>
    <p:sldId id="730" r:id="rId34"/>
    <p:sldId id="733" r:id="rId35"/>
    <p:sldId id="772" r:id="rId36"/>
    <p:sldId id="743" r:id="rId37"/>
    <p:sldId id="744" r:id="rId38"/>
    <p:sldId id="734" r:id="rId39"/>
    <p:sldId id="737" r:id="rId40"/>
    <p:sldId id="740" r:id="rId41"/>
    <p:sldId id="739" r:id="rId42"/>
    <p:sldId id="745" r:id="rId43"/>
    <p:sldId id="746" r:id="rId44"/>
    <p:sldId id="398" r:id="rId45"/>
    <p:sldId id="395" r:id="rId46"/>
    <p:sldId id="756" r:id="rId47"/>
    <p:sldId id="757" r:id="rId48"/>
    <p:sldId id="758" r:id="rId49"/>
    <p:sldId id="759" r:id="rId50"/>
    <p:sldId id="490"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11" userDrawn="1">
          <p15:clr>
            <a:srgbClr val="A4A3A4"/>
          </p15:clr>
        </p15:guide>
        <p15:guide id="3" orient="horz" pos="368"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2" d="100"/>
          <a:sy n="92" d="100"/>
        </p:scale>
        <p:origin x="498" y="84"/>
      </p:cViewPr>
      <p:guideLst>
        <p:guide pos="211"/>
        <p:guide orient="horz" pos="368"/>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34.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47.e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image" Target="../media/image49.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2.e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image" Target="../media/image5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 Target="../slides/slide14.xml"/><Relationship Id="rId5" Type="http://schemas.openxmlformats.org/officeDocument/2006/relationships/slide" Target="../slides/slide40.xml"/><Relationship Id="rId4" Type="http://schemas.openxmlformats.org/officeDocument/2006/relationships/slide" Target="../slides/slide3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8491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5126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smtClean="0">
                <a:ln>
                  <a:solidFill>
                    <a:schemeClr val="bg1"/>
                  </a:solidFill>
                </a:ln>
                <a:solidFill>
                  <a:schemeClr val="bg1"/>
                </a:solidFill>
              </a:rPr>
              <a:t>探究三</a:t>
            </a:r>
          </a:p>
        </p:txBody>
      </p:sp>
      <p:sp>
        <p:nvSpPr>
          <p:cNvPr id="9" name="圆角矩形 8">
            <a:hlinkClick r:id="rId4" action="ppaction://hlinksldjump"/>
          </p:cNvPr>
          <p:cNvSpPr/>
          <p:nvPr userDrawn="1"/>
        </p:nvSpPr>
        <p:spPr>
          <a:xfrm>
            <a:off x="1001760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探究四</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8394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
        <p:nvSpPr>
          <p:cNvPr id="6" name="圆角矩形 5">
            <a:hlinkClick r:id="rId6" action="ppaction://hlinksldjump"/>
          </p:cNvPr>
          <p:cNvSpPr/>
          <p:nvPr userDrawn="1"/>
        </p:nvSpPr>
        <p:spPr>
          <a:xfrm>
            <a:off x="6818573"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4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package" Target="../embeddings/Microsoft_Word___2.docx"/><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7.emf"/><Relationship Id="rId5" Type="http://schemas.openxmlformats.org/officeDocument/2006/relationships/package" Target="../embeddings/Microsoft_Word___6.docx"/><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package" Target="../embeddings/Microsoft_Word___7.docx"/><Relationship Id="rId7" Type="http://schemas.openxmlformats.org/officeDocument/2006/relationships/package" Target="../embeddings/Microsoft_Word___9.docx"/><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9.emf"/><Relationship Id="rId5" Type="http://schemas.openxmlformats.org/officeDocument/2006/relationships/package" Target="../embeddings/Microsoft_Word___8.docx"/><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10.docx"/><Relationship Id="rId7" Type="http://schemas.openxmlformats.org/officeDocument/2006/relationships/image" Target="../media/image12.emf"/><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package" Target="../embeddings/Microsoft_Word___12.docx"/><Relationship Id="rId5" Type="http://schemas.openxmlformats.org/officeDocument/2006/relationships/package" Target="../embeddings/Microsoft_Word___11.docx"/><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3.xml"/><Relationship Id="rId1" Type="http://schemas.openxmlformats.org/officeDocument/2006/relationships/vmlDrawing" Target="../drawings/vmlDrawing7.vml"/><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5.jpeg"/><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7.jpeg"/><Relationship Id="rId4" Type="http://schemas.openxmlformats.org/officeDocument/2006/relationships/image" Target="../media/image16.emf"/></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9.jpeg"/><Relationship Id="rId4" Type="http://schemas.openxmlformats.org/officeDocument/2006/relationships/image" Target="../media/image18.emf"/></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0.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2.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3.emf"/></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4.emf"/></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5.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6.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7.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5.docx"/><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28.emf"/></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30.emf"/><Relationship Id="rId5" Type="http://schemas.openxmlformats.org/officeDocument/2006/relationships/package" Target="../embeddings/Microsoft_Word___27.docx"/><Relationship Id="rId4" Type="http://schemas.openxmlformats.org/officeDocument/2006/relationships/image" Target="../media/image29.emf"/></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28.docx"/><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31.emf"/></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Word___29.docx"/><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32.emf"/></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Word___30.docx"/><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33.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package" Target="../embeddings/Microsoft_Word___31.docx"/><Relationship Id="rId7" Type="http://schemas.openxmlformats.org/officeDocument/2006/relationships/package" Target="../embeddings/Microsoft_Word___33.docx"/><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35.emf"/><Relationship Id="rId5" Type="http://schemas.openxmlformats.org/officeDocument/2006/relationships/package" Target="../embeddings/Microsoft_Word___32.docx"/><Relationship Id="rId4" Type="http://schemas.openxmlformats.org/officeDocument/2006/relationships/image" Target="../media/image34.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34.docx"/><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38.emf"/><Relationship Id="rId5" Type="http://schemas.openxmlformats.org/officeDocument/2006/relationships/package" Target="../embeddings/Microsoft_Word___35.docx"/><Relationship Id="rId4" Type="http://schemas.openxmlformats.org/officeDocument/2006/relationships/image" Target="../media/image37.emf"/></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Word___36.docx"/><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39.emf"/></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__37.docx"/><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41.emf"/><Relationship Id="rId5" Type="http://schemas.openxmlformats.org/officeDocument/2006/relationships/package" Target="../embeddings/Microsoft_Word___38.docx"/><Relationship Id="rId4" Type="http://schemas.openxmlformats.org/officeDocument/2006/relationships/image" Target="../media/image40.emf"/></Relationships>
</file>

<file path=ppt/slides/_rels/slide41.xml.rels><?xml version="1.0" encoding="UTF-8" standalone="yes"?>
<Relationships xmlns="http://schemas.openxmlformats.org/package/2006/relationships"><Relationship Id="rId3" Type="http://schemas.openxmlformats.org/officeDocument/2006/relationships/package" Target="../embeddings/Microsoft_Word___39.docx"/><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42.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Word___40.docx"/><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44.jpeg"/><Relationship Id="rId5" Type="http://schemas.openxmlformats.org/officeDocument/2006/relationships/package" Target="../embeddings/Microsoft_Word___41.docx"/><Relationship Id="rId4" Type="http://schemas.openxmlformats.org/officeDocument/2006/relationships/image" Target="../media/image43.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Word___42.docx"/><Relationship Id="rId2" Type="http://schemas.openxmlformats.org/officeDocument/2006/relationships/slideLayout" Target="../slideLayouts/slideLayout1.xml"/><Relationship Id="rId1" Type="http://schemas.openxmlformats.org/officeDocument/2006/relationships/vmlDrawing" Target="../drawings/vmlDrawing30.vml"/><Relationship Id="rId6" Type="http://schemas.openxmlformats.org/officeDocument/2006/relationships/image" Target="../media/image46.emf"/><Relationship Id="rId5" Type="http://schemas.openxmlformats.org/officeDocument/2006/relationships/package" Target="../embeddings/Microsoft_Word___43.docx"/><Relationship Id="rId4" Type="http://schemas.openxmlformats.org/officeDocument/2006/relationships/image" Target="../media/image45.emf"/></Relationships>
</file>

<file path=ppt/slides/_rels/slide46.xml.rels><?xml version="1.0" encoding="UTF-8" standalone="yes"?>
<Relationships xmlns="http://schemas.openxmlformats.org/package/2006/relationships"><Relationship Id="rId3" Type="http://schemas.openxmlformats.org/officeDocument/2006/relationships/package" Target="../embeddings/Microsoft_Word___44.docx"/><Relationship Id="rId2" Type="http://schemas.openxmlformats.org/officeDocument/2006/relationships/slideLayout" Target="../slideLayouts/slideLayout1.xml"/><Relationship Id="rId1" Type="http://schemas.openxmlformats.org/officeDocument/2006/relationships/vmlDrawing" Target="../drawings/vmlDrawing31.vml"/><Relationship Id="rId6" Type="http://schemas.openxmlformats.org/officeDocument/2006/relationships/image" Target="../media/image48.emf"/><Relationship Id="rId5" Type="http://schemas.openxmlformats.org/officeDocument/2006/relationships/package" Target="../embeddings/Microsoft_Word___45.docx"/><Relationship Id="rId4" Type="http://schemas.openxmlformats.org/officeDocument/2006/relationships/image" Target="../media/image47.emf"/></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Word___46.docx"/><Relationship Id="rId2" Type="http://schemas.openxmlformats.org/officeDocument/2006/relationships/slideLayout" Target="../slideLayouts/slideLayout1.xml"/><Relationship Id="rId1" Type="http://schemas.openxmlformats.org/officeDocument/2006/relationships/vmlDrawing" Target="../drawings/vmlDrawing32.vml"/><Relationship Id="rId6" Type="http://schemas.openxmlformats.org/officeDocument/2006/relationships/image" Target="../media/image50.emf"/><Relationship Id="rId5" Type="http://schemas.openxmlformats.org/officeDocument/2006/relationships/package" Target="../embeddings/Microsoft_Word___47.docx"/><Relationship Id="rId4" Type="http://schemas.openxmlformats.org/officeDocument/2006/relationships/image" Target="../media/image49.emf"/></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Word___48.docx"/><Relationship Id="rId2" Type="http://schemas.openxmlformats.org/officeDocument/2006/relationships/slideLayout" Target="../slideLayouts/slideLayout1.xml"/><Relationship Id="rId1" Type="http://schemas.openxmlformats.org/officeDocument/2006/relationships/vmlDrawing" Target="../drawings/vmlDrawing33.vml"/><Relationship Id="rId6" Type="http://schemas.openxmlformats.org/officeDocument/2006/relationships/image" Target="../media/image51.emf"/><Relationship Id="rId5" Type="http://schemas.openxmlformats.org/officeDocument/2006/relationships/package" Target="../embeddings/Microsoft_Word___49.docx"/><Relationship Id="rId4" Type="http://schemas.openxmlformats.org/officeDocument/2006/relationships/image" Target="../media/image2.emf"/></Relationships>
</file>

<file path=ppt/slides/_rels/slide49.xml.rels><?xml version="1.0" encoding="UTF-8" standalone="yes"?>
<Relationships xmlns="http://schemas.openxmlformats.org/package/2006/relationships"><Relationship Id="rId3" Type="http://schemas.openxmlformats.org/officeDocument/2006/relationships/package" Target="../embeddings/Microsoft_Word___50.docx"/><Relationship Id="rId2" Type="http://schemas.openxmlformats.org/officeDocument/2006/relationships/slideLayout" Target="../slideLayouts/slideLayout1.xml"/><Relationship Id="rId1" Type="http://schemas.openxmlformats.org/officeDocument/2006/relationships/vmlDrawing" Target="../drawings/vmlDrawing34.vml"/><Relationship Id="rId6" Type="http://schemas.openxmlformats.org/officeDocument/2006/relationships/image" Target="../media/image53.emf"/><Relationship Id="rId5" Type="http://schemas.openxmlformats.org/officeDocument/2006/relationships/package" Target="../embeddings/Microsoft_Word___51.docx"/><Relationship Id="rId4" Type="http://schemas.openxmlformats.org/officeDocument/2006/relationships/image" Target="../media/image52.emf"/></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dirty="0">
                  <a:solidFill>
                    <a:schemeClr val="bg1"/>
                  </a:solidFill>
                  <a:latin typeface="华文细黑" panose="02010600040101010101" charset="-122"/>
                  <a:ea typeface="华文细黑" panose="02010600040101010101" charset="-122"/>
                </a:rPr>
                <a:t>第</a:t>
              </a:r>
              <a:r>
                <a:rPr lang="en-US" altLang="zh-CN" sz="3600" b="1" dirty="0">
                  <a:solidFill>
                    <a:schemeClr val="bg1"/>
                  </a:solidFill>
                  <a:latin typeface="华文细黑" panose="02010600040101010101" charset="-122"/>
                  <a:ea typeface="华文细黑" panose="02010600040101010101" charset="-122"/>
                </a:rPr>
                <a:t>2</a:t>
              </a:r>
              <a:r>
                <a:rPr lang="zh-CN" altLang="en-US" sz="3600" b="1">
                  <a:solidFill>
                    <a:schemeClr val="bg1"/>
                  </a:solidFill>
                  <a:latin typeface="华文细黑" panose="02010600040101010101" charset="-122"/>
                  <a:ea typeface="华文细黑" panose="02010600040101010101" charset="-122"/>
                </a:rPr>
                <a:t>课时　双曲线简单几何性质的应用</a:t>
              </a:r>
              <a:endParaRPr lang="zh-CN" altLang="en-US" sz="3600" b="1" dirty="0">
                <a:solidFill>
                  <a:schemeClr val="bg1"/>
                </a:solidFill>
                <a:latin typeface="华文细黑" panose="02010600040101010101" charset="-122"/>
                <a:ea typeface="华文细黑" panose="02010600040101010101" charset="-122"/>
              </a:endParaRP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第三章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3.2.2</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2854"/>
            <a:ext cx="11430000" cy="2332946"/>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进一步掌握双曲线的方程及其简单几何性质的应用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会判断直线与双曲线的位置关系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能运用直线与双曲线的位置关系解决相关的弦长、中点弦问题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4</a:t>
            </a:r>
            <a:r>
              <a:rPr lang="en-US" altLang="zh-CN" sz="2800" i="1" dirty="0" smtClean="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直观</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想象、逻辑推理与数学运算素养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一、直线与双曲线的位置关系</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类比直线与椭圆的位置关系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思考直线与双曲线有几种位置关系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怎样判断其位置关系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直线与双曲线的位置关系有相离、相交、相切三种</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判断方法是联立直线与双曲线方程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转化为关于</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利用方程的解来判断</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447993"/>
            <a:ext cx="11430000" cy="289310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y=kx+m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双曲线</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b&gt;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两方程联立消去</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会得到一个什么样的方程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怎样判断这个方程的解的个数</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两方程联立消去</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mkx-a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方程有一解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Δ&gt;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Cambria Math" panose="02040503050406030204" pitchFamily="18" charset="0"/>
                <a:ea typeface="NEU-BZ-S9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方程有两解</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Δ=</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Cambria Math" panose="02040503050406030204" pitchFamily="18" charset="0"/>
                <a:ea typeface="NEU-BZ-S9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方程有一解</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Δ&lt;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Cambria Math" panose="02040503050406030204" pitchFamily="18" charset="0"/>
                <a:ea typeface="NEU-BZ-S9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方程无解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89593198"/>
              </p:ext>
            </p:extLst>
          </p:nvPr>
        </p:nvGraphicFramePr>
        <p:xfrm>
          <a:off x="5922379" y="211487"/>
          <a:ext cx="1773237" cy="998537"/>
        </p:xfrm>
        <a:graphic>
          <a:graphicData uri="http://schemas.openxmlformats.org/presentationml/2006/ole">
            <mc:AlternateContent xmlns:mc="http://schemas.openxmlformats.org/markup-compatibility/2006">
              <mc:Choice xmlns:v="urn:schemas-microsoft-com:vml" Requires="v">
                <p:oleObj spid="_x0000_s1070" name="文档" r:id="rId3" imgW="710416" imgH="397386" progId="Word.Document.12">
                  <p:embed/>
                </p:oleObj>
              </mc:Choice>
              <mc:Fallback>
                <p:oleObj name="文档" r:id="rId3" imgW="710416" imgH="397386" progId="Word.Document.12">
                  <p:embed/>
                  <p:pic>
                    <p:nvPicPr>
                      <p:cNvPr id="0" name=""/>
                      <p:cNvPicPr/>
                      <p:nvPr/>
                    </p:nvPicPr>
                    <p:blipFill>
                      <a:blip r:embed="rId4"/>
                      <a:stretch>
                        <a:fillRect/>
                      </a:stretch>
                    </p:blipFill>
                    <p:spPr>
                      <a:xfrm>
                        <a:off x="5922379" y="211487"/>
                        <a:ext cx="1773237" cy="99853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71742206"/>
              </p:ext>
            </p:extLst>
          </p:nvPr>
        </p:nvGraphicFramePr>
        <p:xfrm>
          <a:off x="381000" y="3182357"/>
          <a:ext cx="11430000" cy="1504488"/>
        </p:xfrm>
        <a:graphic>
          <a:graphicData uri="http://schemas.openxmlformats.org/presentationml/2006/ole">
            <mc:AlternateContent xmlns:mc="http://schemas.openxmlformats.org/markup-compatibility/2006">
              <mc:Choice xmlns:v="urn:schemas-microsoft-com:vml" Requires="v">
                <p:oleObj spid="_x0000_s1071" name="文档" r:id="rId5" imgW="4520786" imgH="595054" progId="Word.Document.12">
                  <p:embed/>
                </p:oleObj>
              </mc:Choice>
              <mc:Fallback>
                <p:oleObj name="文档" r:id="rId5" imgW="4520786" imgH="595054" progId="Word.Document.12">
                  <p:embed/>
                  <p:pic>
                    <p:nvPicPr>
                      <p:cNvPr id="0" name=""/>
                      <p:cNvPicPr/>
                      <p:nvPr/>
                    </p:nvPicPr>
                    <p:blipFill>
                      <a:blip r:embed="rId6"/>
                      <a:stretch>
                        <a:fillRect/>
                      </a:stretch>
                    </p:blipFill>
                    <p:spPr>
                      <a:xfrm>
                        <a:off x="381000" y="3182357"/>
                        <a:ext cx="11430000" cy="1504488"/>
                      </a:xfrm>
                      <a:prstGeom prst="rect">
                        <a:avLst/>
                      </a:prstGeom>
                    </p:spPr>
                  </p:pic>
                </p:oleObj>
              </mc:Fallback>
            </mc:AlternateContent>
          </a:graphicData>
        </a:graphic>
      </p:graphicFrame>
      <p:sp>
        <p:nvSpPr>
          <p:cNvPr id="5" name="矩形 4"/>
          <p:cNvSpPr>
            <a:spLocks noChangeAspect="1"/>
          </p:cNvSpPr>
          <p:nvPr/>
        </p:nvSpPr>
        <p:spPr>
          <a:xfrm>
            <a:off x="381000" y="4740437"/>
            <a:ext cx="6939720"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一个公共点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此时直线与双曲线相交</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5513"/>
            <a:ext cx="11430000" cy="121264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直线</a:t>
            </a:r>
            <a:r>
              <a:rPr lang="zh-CN" altLang="zh-CN" sz="2800" dirty="0">
                <a:solidFill>
                  <a:srgbClr val="000000"/>
                </a:solidFill>
                <a:latin typeface="Times New Roman" panose="02020603050405020304" pitchFamily="18" charset="0"/>
                <a:cs typeface="Times New Roman" panose="02020603050405020304" pitchFamily="18" charset="0"/>
              </a:rPr>
              <a:t>与双曲线的位置关系</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一般地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y=kx+m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NEU-BZ-S92"/>
                <a:cs typeface="宋体" panose="02010600030101010101" pitchFamily="2" charset="-122"/>
              </a:rPr>
              <a:t>①</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74823827"/>
              </p:ext>
            </p:extLst>
          </p:nvPr>
        </p:nvGraphicFramePr>
        <p:xfrm>
          <a:off x="381000" y="1870237"/>
          <a:ext cx="11430000" cy="3008976"/>
        </p:xfrm>
        <a:graphic>
          <a:graphicData uri="http://schemas.openxmlformats.org/presentationml/2006/ole">
            <mc:AlternateContent xmlns:mc="http://schemas.openxmlformats.org/markup-compatibility/2006">
              <mc:Choice xmlns:v="urn:schemas-microsoft-com:vml" Requires="v">
                <p:oleObj spid="_x0000_s2072"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381000" y="1870237"/>
                        <a:ext cx="11430000" cy="3008976"/>
                      </a:xfrm>
                      <a:prstGeom prst="rect">
                        <a:avLst/>
                      </a:prstGeom>
                    </p:spPr>
                  </p:pic>
                </p:oleObj>
              </mc:Fallback>
            </mc:AlternateContent>
          </a:graphicData>
        </a:graphic>
      </p:graphicFrame>
      <p:sp>
        <p:nvSpPr>
          <p:cNvPr id="5" name="矩形 4"/>
          <p:cNvSpPr/>
          <p:nvPr/>
        </p:nvSpPr>
        <p:spPr>
          <a:xfrm>
            <a:off x="8652574" y="3599284"/>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96658" y="4347429"/>
            <a:ext cx="1752077"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4" name="组合 3"/>
          <p:cNvGrpSpPr/>
          <p:nvPr/>
        </p:nvGrpSpPr>
        <p:grpSpPr>
          <a:xfrm>
            <a:off x="61785" y="1134719"/>
            <a:ext cx="11749215" cy="3127686"/>
            <a:chOff x="61785" y="1702291"/>
            <a:chExt cx="11749215" cy="3127686"/>
          </a:xfrm>
        </p:grpSpPr>
        <p:graphicFrame>
          <p:nvGraphicFramePr>
            <p:cNvPr id="2" name="对象 1"/>
            <p:cNvGraphicFramePr>
              <a:graphicFrameLocks noChangeAspect="1"/>
            </p:cNvGraphicFramePr>
            <p:nvPr>
              <p:extLst>
                <p:ext uri="{D42A27DB-BD31-4B8C-83A1-F6EECF244321}">
                  <p14:modId xmlns:p14="http://schemas.microsoft.com/office/powerpoint/2010/main" val="555257260"/>
                </p:ext>
              </p:extLst>
            </p:nvPr>
          </p:nvGraphicFramePr>
          <p:xfrm>
            <a:off x="61785" y="1702291"/>
            <a:ext cx="11430000" cy="1003297"/>
          </p:xfrm>
          <a:graphic>
            <a:graphicData uri="http://schemas.openxmlformats.org/presentationml/2006/ole">
              <mc:AlternateContent xmlns:mc="http://schemas.openxmlformats.org/markup-compatibility/2006">
                <mc:Choice xmlns:v="urn:schemas-microsoft-com:vml" Requires="v">
                  <p:oleObj spid="_x0000_s3096"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1785" y="1702291"/>
                          <a:ext cx="11430000" cy="1003297"/>
                        </a:xfrm>
                        <a:prstGeom prst="rect">
                          <a:avLst/>
                        </a:prstGeom>
                      </p:spPr>
                    </p:pic>
                  </p:oleObj>
                </mc:Fallback>
              </mc:AlternateContent>
            </a:graphicData>
          </a:graphic>
        </p:graphicFrame>
        <p:sp>
          <p:nvSpPr>
            <p:cNvPr id="3" name="矩形 2"/>
            <p:cNvSpPr>
              <a:spLocks noChangeAspect="1"/>
            </p:cNvSpPr>
            <p:nvPr/>
          </p:nvSpPr>
          <p:spPr>
            <a:xfrm>
              <a:off x="381000" y="2557304"/>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i="1" dirty="0">
                  <a:solidFill>
                    <a:srgbClr val="000000"/>
                  </a:solidFill>
                  <a:latin typeface="Times New Roman" panose="02020603050405020304" pitchFamily="18" charset="0"/>
                  <a:cs typeface="Times New Roman" panose="02020603050405020304" pitchFamily="18" charset="0"/>
                </a:rPr>
                <a:t>Δ=</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Δ&gt;</a:t>
              </a:r>
              <a:r>
                <a:rPr lang="en-US" altLang="zh-CN" sz="2800" u="sng" dirty="0">
                  <a:solidFill>
                    <a:srgbClr val="FF0000"/>
                  </a:solidFill>
                  <a:uFill>
                    <a:solidFill>
                      <a:srgbClr val="000000"/>
                    </a:solidFill>
                  </a:uFill>
                  <a:latin typeface="Times New Roman" panose="02020603050405020304" pitchFamily="18" charset="0"/>
                  <a:cs typeface="Times New Roman" panose="02020603050405020304" pitchFamily="18" charset="0"/>
                </a:rPr>
                <a:t>0</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直线与双曲线有两个公共点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此时称直线与双曲线相交</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Δ=</a:t>
              </a:r>
              <a:r>
                <a:rPr lang="en-US" altLang="zh-CN" sz="2800" u="sng" dirty="0">
                  <a:solidFill>
                    <a:srgbClr val="FF0000"/>
                  </a:solidFill>
                  <a:uFill>
                    <a:solidFill>
                      <a:srgbClr val="000000"/>
                    </a:solidFill>
                  </a:uFill>
                  <a:latin typeface="Times New Roman" panose="02020603050405020304" pitchFamily="18" charset="0"/>
                  <a:cs typeface="Times New Roman" panose="02020603050405020304" pitchFamily="18" charset="0"/>
                </a:rPr>
                <a:t>0</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直线与双曲线有一个公共点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此时称直线与双曲线相切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Δ&lt;</a:t>
              </a:r>
              <a:r>
                <a:rPr lang="en-US" altLang="zh-CN" sz="2800" u="sng" dirty="0">
                  <a:solidFill>
                    <a:srgbClr val="FF0000"/>
                  </a:solidFill>
                  <a:uFill>
                    <a:solidFill>
                      <a:srgbClr val="000000"/>
                    </a:solidFill>
                  </a:uFill>
                  <a:latin typeface="Times New Roman" panose="02020603050405020304" pitchFamily="18" charset="0"/>
                  <a:cs typeface="Times New Roman" panose="02020603050405020304" pitchFamily="18" charset="0"/>
                </a:rPr>
                <a:t>0</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直线与双曲线没有公共点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此时称直线与双曲线相离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
        <p:nvSpPr>
          <p:cNvPr id="5" name="矩形 4"/>
          <p:cNvSpPr/>
          <p:nvPr/>
        </p:nvSpPr>
        <p:spPr>
          <a:xfrm>
            <a:off x="672357" y="2623614"/>
            <a:ext cx="709751"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61966" y="3180010"/>
            <a:ext cx="709751"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61966" y="3741625"/>
            <a:ext cx="709751"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23902519"/>
              </p:ext>
            </p:extLst>
          </p:nvPr>
        </p:nvGraphicFramePr>
        <p:xfrm>
          <a:off x="72084" y="1121639"/>
          <a:ext cx="11430000" cy="1003297"/>
        </p:xfrm>
        <a:graphic>
          <a:graphicData uri="http://schemas.openxmlformats.org/presentationml/2006/ole">
            <mc:AlternateContent xmlns:mc="http://schemas.openxmlformats.org/markup-compatibility/2006">
              <mc:Choice xmlns:v="urn:schemas-microsoft-com:vml" Requires="v">
                <p:oleObj spid="_x0000_s4142" name="文档" r:id="rId3" imgW="4510061" imgH="397147" progId="Word.Document.12">
                  <p:embed/>
                </p:oleObj>
              </mc:Choice>
              <mc:Fallback>
                <p:oleObj name="文档" r:id="rId3" imgW="4510061" imgH="397147" progId="Word.Document.12">
                  <p:embed/>
                  <p:pic>
                    <p:nvPicPr>
                      <p:cNvPr id="0" name=""/>
                      <p:cNvPicPr/>
                      <p:nvPr/>
                    </p:nvPicPr>
                    <p:blipFill>
                      <a:blip r:embed="rId4"/>
                      <a:stretch>
                        <a:fillRect/>
                      </a:stretch>
                    </p:blipFill>
                    <p:spPr>
                      <a:xfrm>
                        <a:off x="72084" y="1121639"/>
                        <a:ext cx="11430000" cy="1003297"/>
                      </a:xfrm>
                      <a:prstGeom prst="rect">
                        <a:avLst/>
                      </a:prstGeom>
                    </p:spPr>
                  </p:pic>
                </p:oleObj>
              </mc:Fallback>
            </mc:AlternateContent>
          </a:graphicData>
        </a:graphic>
      </p:graphicFrame>
      <p:sp>
        <p:nvSpPr>
          <p:cNvPr id="4" name="矩形 3"/>
          <p:cNvSpPr>
            <a:spLocks noChangeAspect="1"/>
          </p:cNvSpPr>
          <p:nvPr/>
        </p:nvSpPr>
        <p:spPr>
          <a:xfrm>
            <a:off x="381000" y="2011757"/>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A.0	</a:t>
            </a:r>
            <a:r>
              <a:rPr lang="en-US" altLang="zh-CN" sz="2800" dirty="0" smtClean="0">
                <a:solidFill>
                  <a:srgbClr val="000000"/>
                </a:solidFill>
                <a:latin typeface="Times New Roman" panose="02020603050405020304" pitchFamily="18" charset="0"/>
                <a:cs typeface="Times New Roman" panose="02020603050405020304" pitchFamily="18" charset="0"/>
              </a:rPr>
              <a:t>	B.1</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C.2</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D.4</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直线过</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定点</a:t>
            </a:r>
            <a:r>
              <a:rPr lang="en-US"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且</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平行于双曲线的一条渐近线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故与双曲线有且只有</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个交点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5376898"/>
              </p:ext>
            </p:extLst>
          </p:nvPr>
        </p:nvGraphicFramePr>
        <p:xfrm>
          <a:off x="3313753" y="2539505"/>
          <a:ext cx="875450" cy="752601"/>
        </p:xfrm>
        <a:graphic>
          <a:graphicData uri="http://schemas.openxmlformats.org/presentationml/2006/ole">
            <mc:AlternateContent xmlns:mc="http://schemas.openxmlformats.org/markup-compatibility/2006">
              <mc:Choice xmlns:v="urn:schemas-microsoft-com:vml" Requires="v">
                <p:oleObj spid="_x0000_s4143" name="文档" r:id="rId5" imgW="469641" imgH="397183" progId="Word.Document.12">
                  <p:embed/>
                </p:oleObj>
              </mc:Choice>
              <mc:Fallback>
                <p:oleObj name="文档" r:id="rId5" imgW="469641" imgH="397183" progId="Word.Document.12">
                  <p:embed/>
                  <p:pic>
                    <p:nvPicPr>
                      <p:cNvPr id="0" name=""/>
                      <p:cNvPicPr/>
                      <p:nvPr/>
                    </p:nvPicPr>
                    <p:blipFill>
                      <a:blip r:embed="rId6"/>
                      <a:stretch>
                        <a:fillRect/>
                      </a:stretch>
                    </p:blipFill>
                    <p:spPr>
                      <a:xfrm>
                        <a:off x="3313753" y="2539505"/>
                        <a:ext cx="875450" cy="752601"/>
                      </a:xfrm>
                      <a:prstGeom prst="rect">
                        <a:avLst/>
                      </a:prstGeom>
                    </p:spPr>
                  </p:pic>
                </p:oleObj>
              </mc:Fallback>
            </mc:AlternateContent>
          </a:graphicData>
        </a:graphic>
      </p:graphicFrame>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down)">
                                      <p:cBhvr>
                                        <p:cTn id="7" dur="500"/>
                                        <p:tgtEl>
                                          <p:spTgt spid="4">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down)">
                                      <p:cBhvr>
                                        <p:cTn id="1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8" name="组合 7"/>
          <p:cNvGrpSpPr/>
          <p:nvPr/>
        </p:nvGrpSpPr>
        <p:grpSpPr>
          <a:xfrm>
            <a:off x="381000" y="282413"/>
            <a:ext cx="11430000" cy="2591479"/>
            <a:chOff x="381000" y="272022"/>
            <a:chExt cx="11430000" cy="2591479"/>
          </a:xfrm>
        </p:grpSpPr>
        <p:sp>
          <p:nvSpPr>
            <p:cNvPr id="3" name="矩形 2"/>
            <p:cNvSpPr>
              <a:spLocks noChangeAspect="1"/>
            </p:cNvSpPr>
            <p:nvPr/>
          </p:nvSpPr>
          <p:spPr>
            <a:xfrm>
              <a:off x="381000" y="272022"/>
              <a:ext cx="11430000" cy="2591479"/>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二、直线与双曲线相交的弦长公式</a:t>
              </a:r>
              <a:endParaRPr lang="zh-CN" altLang="zh-CN" sz="2800" dirty="0">
                <a:solidFill>
                  <a:srgbClr val="000000"/>
                </a:solidFill>
                <a:effectLst/>
                <a:latin typeface="NEU-BZ-S92"/>
                <a:ea typeface="方正书宋_GBK"/>
                <a:cs typeface="Times New Roman" panose="02020603050405020304" pitchFamily="18" charset="0"/>
              </a:endParaRPr>
            </a:p>
            <a:p>
              <a:pPr indent="280670">
                <a:lnSpc>
                  <a:spcPct val="15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y=kx+m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a:t>
              </a:r>
              <a:r>
                <a:rPr lang="zh-CN" altLang="zh-CN" sz="2800" dirty="0" smtClean="0">
                  <a:solidFill>
                    <a:srgbClr val="000000"/>
                  </a:solidFill>
                  <a:latin typeface="Times New Roman" panose="02020603050405020304" pitchFamily="18" charset="0"/>
                  <a:cs typeface="Times New Roman" panose="02020603050405020304" pitchFamily="18" charset="0"/>
                </a:rPr>
                <a:t>椭圆</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a&gt;b&gt;</a:t>
              </a:r>
              <a:r>
                <a:rPr lang="en-US" altLang="zh-CN" sz="2800" dirty="0" smtClean="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相交于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回想弦长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的表达式是什么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若直线与双曲线相交于两点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这个弦长公式还适用吗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709208341"/>
                </p:ext>
              </p:extLst>
            </p:nvPr>
          </p:nvGraphicFramePr>
          <p:xfrm>
            <a:off x="5070584" y="713437"/>
            <a:ext cx="2068512" cy="998537"/>
          </p:xfrm>
          <a:graphic>
            <a:graphicData uri="http://schemas.openxmlformats.org/presentationml/2006/ole">
              <mc:AlternateContent xmlns:mc="http://schemas.openxmlformats.org/markup-compatibility/2006">
                <mc:Choice xmlns:v="urn:schemas-microsoft-com:vml" Requires="v">
                  <p:oleObj spid="_x0000_s5188" name="文档" r:id="rId3" imgW="830743" imgH="397386" progId="Word.Document.12">
                    <p:embed/>
                  </p:oleObj>
                </mc:Choice>
                <mc:Fallback>
                  <p:oleObj name="文档" r:id="rId3" imgW="830743" imgH="397386" progId="Word.Document.12">
                    <p:embed/>
                    <p:pic>
                      <p:nvPicPr>
                        <p:cNvPr id="0" name=""/>
                        <p:cNvPicPr/>
                        <p:nvPr/>
                      </p:nvPicPr>
                      <p:blipFill>
                        <a:blip r:embed="rId4"/>
                        <a:stretch>
                          <a:fillRect/>
                        </a:stretch>
                      </p:blipFill>
                      <p:spPr>
                        <a:xfrm>
                          <a:off x="5070584" y="713437"/>
                          <a:ext cx="2068512" cy="998537"/>
                        </a:xfrm>
                        <a:prstGeom prst="rect">
                          <a:avLst/>
                        </a:prstGeom>
                      </p:spPr>
                    </p:pic>
                  </p:oleObj>
                </mc:Fallback>
              </mc:AlternateContent>
            </a:graphicData>
          </a:graphic>
        </p:graphicFrame>
      </p:grpSp>
      <p:graphicFrame>
        <p:nvGraphicFramePr>
          <p:cNvPr id="5" name="对象 4"/>
          <p:cNvGraphicFramePr>
            <a:graphicFrameLocks noChangeAspect="1"/>
          </p:cNvGraphicFramePr>
          <p:nvPr>
            <p:extLst>
              <p:ext uri="{D42A27DB-BD31-4B8C-83A1-F6EECF244321}">
                <p14:modId xmlns:p14="http://schemas.microsoft.com/office/powerpoint/2010/main" val="2619159701"/>
              </p:ext>
            </p:extLst>
          </p:nvPr>
        </p:nvGraphicFramePr>
        <p:xfrm>
          <a:off x="49428" y="2717010"/>
          <a:ext cx="11430000" cy="1003297"/>
        </p:xfrm>
        <a:graphic>
          <a:graphicData uri="http://schemas.openxmlformats.org/presentationml/2006/ole">
            <mc:AlternateContent xmlns:mc="http://schemas.openxmlformats.org/markup-compatibility/2006">
              <mc:Choice xmlns:v="urn:schemas-microsoft-com:vml" Requires="v">
                <p:oleObj spid="_x0000_s5189"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9428" y="2717010"/>
                        <a:ext cx="11430000" cy="1003297"/>
                      </a:xfrm>
                      <a:prstGeom prst="rect">
                        <a:avLst/>
                      </a:prstGeom>
                    </p:spPr>
                  </p:pic>
                </p:oleObj>
              </mc:Fallback>
            </mc:AlternateContent>
          </a:graphicData>
        </a:graphic>
      </p:graphicFrame>
      <p:sp>
        <p:nvSpPr>
          <p:cNvPr id="6" name="矩形 5"/>
          <p:cNvSpPr>
            <a:spLocks noChangeAspect="1"/>
          </p:cNvSpPr>
          <p:nvPr/>
        </p:nvSpPr>
        <p:spPr>
          <a:xfrm>
            <a:off x="381000" y="3657478"/>
            <a:ext cx="6032421"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这个弦长公式对于双曲线仍然适用</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957315407"/>
              </p:ext>
            </p:extLst>
          </p:nvPr>
        </p:nvGraphicFramePr>
        <p:xfrm>
          <a:off x="381000" y="4346022"/>
          <a:ext cx="11430000" cy="1504488"/>
        </p:xfrm>
        <a:graphic>
          <a:graphicData uri="http://schemas.openxmlformats.org/presentationml/2006/ole">
            <mc:AlternateContent xmlns:mc="http://schemas.openxmlformats.org/markup-compatibility/2006">
              <mc:Choice xmlns:v="urn:schemas-microsoft-com:vml" Requires="v">
                <p:oleObj spid="_x0000_s5190" name="文档" r:id="rId7" imgW="4510061" imgH="596081" progId="Word.Document.12">
                  <p:embed/>
                </p:oleObj>
              </mc:Choice>
              <mc:Fallback>
                <p:oleObj name="文档" r:id="rId7" imgW="4510061" imgH="596081" progId="Word.Document.12">
                  <p:embed/>
                  <p:pic>
                    <p:nvPicPr>
                      <p:cNvPr id="0" name=""/>
                      <p:cNvPicPr/>
                      <p:nvPr/>
                    </p:nvPicPr>
                    <p:blipFill>
                      <a:blip r:embed="rId8"/>
                      <a:stretch>
                        <a:fillRect/>
                      </a:stretch>
                    </p:blipFill>
                    <p:spPr>
                      <a:xfrm>
                        <a:off x="381000" y="4346022"/>
                        <a:ext cx="11430000" cy="1504488"/>
                      </a:xfrm>
                      <a:prstGeom prst="rect">
                        <a:avLst/>
                      </a:prstGeom>
                    </p:spPr>
                  </p:pic>
                </p:oleObj>
              </mc:Fallback>
            </mc:AlternateContent>
          </a:graphicData>
        </a:graphic>
      </p:graphicFrame>
      <p:sp>
        <p:nvSpPr>
          <p:cNvPr id="9" name="矩形 8"/>
          <p:cNvSpPr/>
          <p:nvPr/>
        </p:nvSpPr>
        <p:spPr>
          <a:xfrm>
            <a:off x="1243856" y="4973794"/>
            <a:ext cx="2050062" cy="600271"/>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1255496" y="5569590"/>
            <a:ext cx="2041449" cy="0"/>
          </a:xfrm>
          <a:prstGeom prst="line">
            <a:avLst/>
          </a:prstGeom>
        </p:spPr>
        <p:style>
          <a:lnRef idx="2">
            <a:schemeClr val="dk1"/>
          </a:lnRef>
          <a:fillRef idx="0">
            <a:schemeClr val="dk1"/>
          </a:fillRef>
          <a:effectRef idx="1">
            <a:schemeClr val="dk1"/>
          </a:effectRef>
          <a:fontRef idx="minor">
            <a:schemeClr val="tx1"/>
          </a:fontRef>
        </p:style>
      </p:cxnSp>
      <p:sp>
        <p:nvSpPr>
          <p:cNvPr id="12" name="矩形 11"/>
          <p:cNvSpPr/>
          <p:nvPr/>
        </p:nvSpPr>
        <p:spPr>
          <a:xfrm>
            <a:off x="4538198" y="4883724"/>
            <a:ext cx="2008075" cy="898161"/>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4549838" y="5777410"/>
            <a:ext cx="199963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0" nodeType="clickEffect">
                                  <p:stCondLst>
                                    <p:cond delay="0"/>
                                  </p:stCondLst>
                                  <p:childTnLst>
                                    <p:animEffect transition="out" filter="wipe(down)">
                                      <p:cBhvr>
                                        <p:cTn id="14" dur="500"/>
                                        <p:tgtEl>
                                          <p:spTgt spid="9"/>
                                        </p:tgtEl>
                                      </p:cBhvr>
                                    </p:animEffect>
                                    <p:set>
                                      <p:cBhvr>
                                        <p:cTn id="15" dur="1" fill="hold">
                                          <p:stCondLst>
                                            <p:cond delay="499"/>
                                          </p:stCondLst>
                                        </p:cTn>
                                        <p:tgtEl>
                                          <p:spTgt spid="9"/>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grpId="0" nodeType="clickEffect">
                                  <p:stCondLst>
                                    <p:cond delay="0"/>
                                  </p:stCondLst>
                                  <p:childTnLst>
                                    <p:animEffect transition="out" filter="wipe(down)">
                                      <p:cBhvr>
                                        <p:cTn id="19" dur="500"/>
                                        <p:tgtEl>
                                          <p:spTgt spid="12"/>
                                        </p:tgtEl>
                                      </p:cBhvr>
                                    </p:animEffect>
                                    <p:set>
                                      <p:cBhvr>
                                        <p:cTn id="20"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177279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直线</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x-y+</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被双曲线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截得的弦</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的长为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联立直线与双曲线方程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设交点为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13531017"/>
              </p:ext>
            </p:extLst>
          </p:nvPr>
        </p:nvGraphicFramePr>
        <p:xfrm>
          <a:off x="1651622" y="1335594"/>
          <a:ext cx="669925" cy="501650"/>
        </p:xfrm>
        <a:graphic>
          <a:graphicData uri="http://schemas.openxmlformats.org/presentationml/2006/ole">
            <mc:AlternateContent xmlns:mc="http://schemas.openxmlformats.org/markup-compatibility/2006">
              <mc:Choice xmlns:v="urn:schemas-microsoft-com:vml" Requires="v">
                <p:oleObj spid="_x0000_s6212" name="文档" r:id="rId3" imgW="271708" imgH="198592" progId="Word.Document.12">
                  <p:embed/>
                </p:oleObj>
              </mc:Choice>
              <mc:Fallback>
                <p:oleObj name="文档" r:id="rId3" imgW="271708" imgH="198592" progId="Word.Document.12">
                  <p:embed/>
                  <p:pic>
                    <p:nvPicPr>
                      <p:cNvPr id="0" name=""/>
                      <p:cNvPicPr/>
                      <p:nvPr/>
                    </p:nvPicPr>
                    <p:blipFill>
                      <a:blip r:embed="rId4"/>
                      <a:stretch>
                        <a:fillRect/>
                      </a:stretch>
                    </p:blipFill>
                    <p:spPr>
                      <a:xfrm>
                        <a:off x="1651622" y="1335594"/>
                        <a:ext cx="669925" cy="5016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560614466"/>
              </p:ext>
            </p:extLst>
          </p:nvPr>
        </p:nvGraphicFramePr>
        <p:xfrm>
          <a:off x="2874943" y="1335594"/>
          <a:ext cx="669925" cy="501650"/>
        </p:xfrm>
        <a:graphic>
          <a:graphicData uri="http://schemas.openxmlformats.org/presentationml/2006/ole">
            <mc:AlternateContent xmlns:mc="http://schemas.openxmlformats.org/markup-compatibility/2006">
              <mc:Choice xmlns:v="urn:schemas-microsoft-com:vml" Requires="v">
                <p:oleObj spid="_x0000_s6213" name="文档" r:id="rId5" imgW="271708" imgH="198592" progId="Word.Document.12">
                  <p:embed/>
                </p:oleObj>
              </mc:Choice>
              <mc:Fallback>
                <p:oleObj name="文档" r:id="rId5" imgW="271708" imgH="198592" progId="Word.Document.12">
                  <p:embed/>
                  <p:pic>
                    <p:nvPicPr>
                      <p:cNvPr id="0" name=""/>
                      <p:cNvPicPr/>
                      <p:nvPr/>
                    </p:nvPicPr>
                    <p:blipFill>
                      <a:blip r:embed="rId4"/>
                      <a:stretch>
                        <a:fillRect/>
                      </a:stretch>
                    </p:blipFill>
                    <p:spPr>
                      <a:xfrm>
                        <a:off x="2874943" y="1335594"/>
                        <a:ext cx="669925" cy="50165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677323177"/>
              </p:ext>
            </p:extLst>
          </p:nvPr>
        </p:nvGraphicFramePr>
        <p:xfrm>
          <a:off x="49428" y="2882257"/>
          <a:ext cx="11430000" cy="1003297"/>
        </p:xfrm>
        <a:graphic>
          <a:graphicData uri="http://schemas.openxmlformats.org/presentationml/2006/ole">
            <mc:AlternateContent xmlns:mc="http://schemas.openxmlformats.org/markup-compatibility/2006">
              <mc:Choice xmlns:v="urn:schemas-microsoft-com:vml" Requires="v">
                <p:oleObj spid="_x0000_s6214" name="文档" r:id="rId6" imgW="4520786" imgH="396823" progId="Word.Document.12">
                  <p:embed/>
                </p:oleObj>
              </mc:Choice>
              <mc:Fallback>
                <p:oleObj name="文档" r:id="rId6" imgW="4520786" imgH="396823" progId="Word.Document.12">
                  <p:embed/>
                  <p:pic>
                    <p:nvPicPr>
                      <p:cNvPr id="0" name=""/>
                      <p:cNvPicPr/>
                      <p:nvPr/>
                    </p:nvPicPr>
                    <p:blipFill>
                      <a:blip r:embed="rId7"/>
                      <a:stretch>
                        <a:fillRect/>
                      </a:stretch>
                    </p:blipFill>
                    <p:spPr>
                      <a:xfrm>
                        <a:off x="49428" y="2882257"/>
                        <a:ext cx="11430000" cy="1003297"/>
                      </a:xfrm>
                      <a:prstGeom prst="rect">
                        <a:avLst/>
                      </a:prstGeom>
                    </p:spPr>
                  </p:pic>
                </p:oleObj>
              </mc:Fallback>
            </mc:AlternateContent>
          </a:graphicData>
        </a:graphic>
      </p:graphicFrame>
      <p:sp>
        <p:nvSpPr>
          <p:cNvPr id="6" name="矩形 5"/>
          <p:cNvSpPr>
            <a:spLocks noChangeAspect="1"/>
          </p:cNvSpPr>
          <p:nvPr/>
        </p:nvSpPr>
        <p:spPr>
          <a:xfrm>
            <a:off x="381000" y="3848483"/>
            <a:ext cx="1553630"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381000" y="316000"/>
            <a:ext cx="11442357" cy="5261458"/>
            <a:chOff x="381000" y="596557"/>
            <a:chExt cx="11442357" cy="5261458"/>
          </a:xfrm>
        </p:grpSpPr>
        <p:sp>
          <p:nvSpPr>
            <p:cNvPr id="2" name="矩形 1"/>
            <p:cNvSpPr>
              <a:spLocks noChangeAspect="1"/>
            </p:cNvSpPr>
            <p:nvPr/>
          </p:nvSpPr>
          <p:spPr>
            <a:xfrm>
              <a:off x="381000" y="596557"/>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直线和双曲线只有一个公共点</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直线与双曲线相切</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54858350"/>
                </p:ext>
              </p:extLst>
            </p:nvPr>
          </p:nvGraphicFramePr>
          <p:xfrm>
            <a:off x="393357" y="2272006"/>
            <a:ext cx="11430000" cy="2507784"/>
          </p:xfrm>
          <a:graphic>
            <a:graphicData uri="http://schemas.openxmlformats.org/presentationml/2006/ole">
              <mc:AlternateContent xmlns:mc="http://schemas.openxmlformats.org/markup-compatibility/2006">
                <mc:Choice xmlns:v="urn:schemas-microsoft-com:vml" Requires="v">
                  <p:oleObj spid="_x0000_s7192"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393357" y="2272006"/>
                          <a:ext cx="11430000" cy="2507784"/>
                        </a:xfrm>
                        <a:prstGeom prst="rect">
                          <a:avLst/>
                        </a:prstGeom>
                      </p:spPr>
                    </p:pic>
                  </p:oleObj>
                </mc:Fallback>
              </mc:AlternateContent>
            </a:graphicData>
          </a:graphic>
        </p:graphicFrame>
        <p:sp>
          <p:nvSpPr>
            <p:cNvPr id="4" name="矩形 3"/>
            <p:cNvSpPr>
              <a:spLocks noChangeAspect="1"/>
            </p:cNvSpPr>
            <p:nvPr/>
          </p:nvSpPr>
          <p:spPr>
            <a:xfrm>
              <a:off x="381000" y="470564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直线和双曲线有两个公共点</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直线与双曲线相交</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过双曲线焦点的直线一定与双曲线有两个交点</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
        <p:nvSpPr>
          <p:cNvPr id="6" name="矩形 5"/>
          <p:cNvSpPr/>
          <p:nvPr/>
        </p:nvSpPr>
        <p:spPr>
          <a:xfrm>
            <a:off x="9275274" y="1562668"/>
            <a:ext cx="586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090210" y="2970128"/>
            <a:ext cx="586571"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306447" y="3678380"/>
            <a:ext cx="586571" cy="60505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958769" y="4472004"/>
            <a:ext cx="533246" cy="550052"/>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584696" y="5057822"/>
            <a:ext cx="533246" cy="550052"/>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生活中的双曲线</a:t>
                </a:r>
              </a:p>
            </p:txBody>
          </p:sp>
        </p:grpSp>
      </p:grpSp>
      <p:sp>
        <p:nvSpPr>
          <p:cNvPr id="3" name="矩形 2"/>
          <p:cNvSpPr>
            <a:spLocks noChangeAspect="1"/>
          </p:cNvSpPr>
          <p:nvPr/>
        </p:nvSpPr>
        <p:spPr>
          <a:xfrm>
            <a:off x="381000" y="884875"/>
            <a:ext cx="11430000" cy="4573560"/>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飞船返回舱顺利到达地球后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为了及时将航天员安全救出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地面指挥中心在返回舱预计到达区域安排了三个救援中心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记为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的正东方向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相距</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千米</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的北偏西</a:t>
            </a: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方向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相距</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千米</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为航天员着陆点</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某一时刻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接收到</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的求救信号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由于</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两地比</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距</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远</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在此</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秒后</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两个救援中心才同时接收到这一信号</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已知该信号的传播速度为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千米</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求在</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处发现</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的方向角</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先判断点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的运动轨迹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再建系求出点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满足的两个轨迹方程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联立求解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2166"/>
            <a:ext cx="11430000" cy="345325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i="1" dirty="0">
                <a:solidFill>
                  <a:srgbClr val="000000"/>
                </a:solidFill>
                <a:latin typeface="Times New Roman" panose="02020603050405020304" pitchFamily="18" charset="0"/>
                <a:cs typeface="Times New Roman" panose="02020603050405020304" pitchFamily="18" charset="0"/>
              </a:rPr>
              <a:t>|PC|=|PB|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smtClean="0">
                <a:solidFill>
                  <a:srgbClr val="000000"/>
                </a:solidFill>
                <a:latin typeface="Times New Roman" panose="02020603050405020304" pitchFamily="18" charset="0"/>
                <a:cs typeface="Times New Roman" panose="02020603050405020304" pitchFamily="18" charset="0"/>
              </a:rPr>
              <a:t>P</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的运动轨迹</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线段</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的垂直平分线上</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又因为</a:t>
            </a:r>
            <a:r>
              <a:rPr lang="en-US" altLang="zh-CN" sz="2800" i="1" dirty="0">
                <a:solidFill>
                  <a:srgbClr val="000000"/>
                </a:solidFill>
                <a:latin typeface="Times New Roman" panose="02020603050405020304" pitchFamily="18" charset="0"/>
                <a:cs typeface="Times New Roman" panose="02020603050405020304" pitchFamily="18" charset="0"/>
              </a:rPr>
              <a:t>|PB|-|PA|=</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029335" algn="l"/>
                <a:tab pos="1850390" algn="l"/>
                <a:tab pos="2538095" algn="l"/>
                <a:tab pos="3221990"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为焦点的双曲线的靠近</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的一支上</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以线段</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的中点为坐标原点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029335" algn="l"/>
                <a:tab pos="1850390" algn="l"/>
                <a:tab pos="2538095" algn="l"/>
                <a:tab pos="3221990"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的垂直平分线为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建立平面直角坐标系</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029335" algn="l"/>
                <a:tab pos="1850390" algn="l"/>
                <a:tab pos="2538095" algn="l"/>
                <a:tab pos="3221990"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700120383"/>
              </p:ext>
            </p:extLst>
          </p:nvPr>
        </p:nvGraphicFramePr>
        <p:xfrm>
          <a:off x="38099" y="3404543"/>
          <a:ext cx="11430000" cy="3039298"/>
        </p:xfrm>
        <a:graphic>
          <a:graphicData uri="http://schemas.openxmlformats.org/presentationml/2006/ole">
            <mc:AlternateContent xmlns:mc="http://schemas.openxmlformats.org/markup-compatibility/2006">
              <mc:Choice xmlns:v="urn:schemas-microsoft-com:vml" Requires="v">
                <p:oleObj spid="_x0000_s30731" name="文档" r:id="rId3" imgW="4510061" imgH="1199249" progId="Word.Document.12">
                  <p:embed/>
                </p:oleObj>
              </mc:Choice>
              <mc:Fallback>
                <p:oleObj name="文档" r:id="rId3" imgW="4510061" imgH="1199249" progId="Word.Document.12">
                  <p:embed/>
                  <p:pic>
                    <p:nvPicPr>
                      <p:cNvPr id="0" name=""/>
                      <p:cNvPicPr/>
                      <p:nvPr/>
                    </p:nvPicPr>
                    <p:blipFill>
                      <a:blip r:embed="rId4"/>
                      <a:stretch>
                        <a:fillRect/>
                      </a:stretch>
                    </p:blipFill>
                    <p:spPr>
                      <a:xfrm>
                        <a:off x="38099" y="3404543"/>
                        <a:ext cx="11430000" cy="3039298"/>
                      </a:xfrm>
                      <a:prstGeom prst="rect">
                        <a:avLst/>
                      </a:prstGeom>
                    </p:spPr>
                  </p:pic>
                </p:oleObj>
              </mc:Fallback>
            </mc:AlternateContent>
          </a:graphicData>
        </a:graphic>
      </p:graphicFrame>
      <p:pic>
        <p:nvPicPr>
          <p:cNvPr id="4" name="NMX1TRAX300.eps" descr="id:2147517956;FounderCES"/>
          <p:cNvPicPr/>
          <p:nvPr/>
        </p:nvPicPr>
        <p:blipFill>
          <a:blip r:embed="rId5">
            <a:clrChange>
              <a:clrFrom>
                <a:srgbClr val="FFFFFF"/>
              </a:clrFrom>
              <a:clrTo>
                <a:srgbClr val="FFFFFF">
                  <a:alpha val="0"/>
                </a:srgbClr>
              </a:clrTo>
            </a:clrChange>
          </a:blip>
          <a:stretch>
            <a:fillRect/>
          </a:stretch>
        </p:blipFill>
        <p:spPr>
          <a:xfrm>
            <a:off x="8306762" y="1175751"/>
            <a:ext cx="3312005" cy="2228792"/>
          </a:xfrm>
          <a:prstGeom prst="rect">
            <a:avLst/>
          </a:prstGeom>
        </p:spPr>
      </p:pic>
    </p:spTree>
    <p:extLst>
      <p:ext uri="{BB962C8B-B14F-4D97-AF65-F5344CB8AC3E}">
        <p14:creationId xmlns:p14="http://schemas.microsoft.com/office/powerpoint/2010/main" val="3794499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93100"/>
          </a:xfrm>
          <a:prstGeom prst="rect">
            <a:avLst/>
          </a:prstGeom>
        </p:spPr>
        <p:txBody>
          <a:bodyPr>
            <a:spAutoFit/>
          </a:bodyPr>
          <a:lstStyle/>
          <a:p>
            <a:pPr indent="279400">
              <a:lnSpc>
                <a:spcPct val="130000"/>
              </a:lnSpc>
              <a:tabLst>
                <a:tab pos="1029335" algn="l"/>
                <a:tab pos="1850390" algn="l"/>
                <a:tab pos="2538095" algn="l"/>
                <a:tab pos="3221990"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双曲线解决实际问题的基本步骤</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在实际问题中寻找几何量之间的关系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得到几何关系式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验证满足双曲线的定义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建立适当的直角坐标系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求出双曲线的标准方程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根据双曲线的方程或几何性质解决实际应用问题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221928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45411765"/>
              </p:ext>
            </p:extLst>
          </p:nvPr>
        </p:nvGraphicFramePr>
        <p:xfrm>
          <a:off x="381000" y="275681"/>
          <a:ext cx="11430000" cy="1240493"/>
        </p:xfrm>
        <a:graphic>
          <a:graphicData uri="http://schemas.openxmlformats.org/presentationml/2006/ole">
            <mc:AlternateContent xmlns:mc="http://schemas.openxmlformats.org/markup-compatibility/2006">
              <mc:Choice xmlns:v="urn:schemas-microsoft-com:vml" Requires="v">
                <p:oleObj spid="_x0000_s31753" name="文档" r:id="rId3" imgW="4510061" imgH="489475" progId="Word.Document.12">
                  <p:embed/>
                </p:oleObj>
              </mc:Choice>
              <mc:Fallback>
                <p:oleObj name="文档" r:id="rId3" imgW="4510061" imgH="489475" progId="Word.Document.12">
                  <p:embed/>
                  <p:pic>
                    <p:nvPicPr>
                      <p:cNvPr id="0" name=""/>
                      <p:cNvPicPr/>
                      <p:nvPr/>
                    </p:nvPicPr>
                    <p:blipFill>
                      <a:blip r:embed="rId4"/>
                      <a:stretch>
                        <a:fillRect/>
                      </a:stretch>
                    </p:blipFill>
                    <p:spPr>
                      <a:xfrm>
                        <a:off x="381000" y="275681"/>
                        <a:ext cx="11430000" cy="1240493"/>
                      </a:xfrm>
                      <a:prstGeom prst="rect">
                        <a:avLst/>
                      </a:prstGeom>
                    </p:spPr>
                  </p:pic>
                </p:oleObj>
              </mc:Fallback>
            </mc:AlternateContent>
          </a:graphicData>
        </a:graphic>
      </p:graphicFrame>
      <p:pic>
        <p:nvPicPr>
          <p:cNvPr id="3" name="NMX1TRAX166.eps" descr="id:2147517970;FounderCES"/>
          <p:cNvPicPr>
            <a:picLocks noChangeAspect="1"/>
          </p:cNvPicPr>
          <p:nvPr/>
        </p:nvPicPr>
        <p:blipFill>
          <a:blip r:embed="rId5">
            <a:clrChange>
              <a:clrFrom>
                <a:srgbClr val="FFFFFF"/>
              </a:clrFrom>
              <a:clrTo>
                <a:srgbClr val="FFFFFF">
                  <a:alpha val="0"/>
                </a:srgbClr>
              </a:clrTo>
            </a:clrChange>
          </a:blip>
          <a:stretch>
            <a:fillRect/>
          </a:stretch>
        </p:blipFill>
        <p:spPr>
          <a:xfrm>
            <a:off x="4591062" y="1650759"/>
            <a:ext cx="3009876" cy="3893605"/>
          </a:xfrm>
          <a:prstGeom prst="rect">
            <a:avLst/>
          </a:prstGeom>
        </p:spPr>
      </p:pic>
    </p:spTree>
    <p:extLst>
      <p:ext uri="{BB962C8B-B14F-4D97-AF65-F5344CB8AC3E}">
        <p14:creationId xmlns:p14="http://schemas.microsoft.com/office/powerpoint/2010/main" val="30544201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4841"/>
            <a:ext cx="11430000" cy="2332946"/>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的垂直平分线为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建立直角坐标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系</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CD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因为双曲线经过点</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为焦点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由双曲线的对称性知</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关于</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轴对称</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839267256"/>
              </p:ext>
            </p:extLst>
          </p:nvPr>
        </p:nvGraphicFramePr>
        <p:xfrm>
          <a:off x="31173" y="2358687"/>
          <a:ext cx="11430000" cy="4155920"/>
        </p:xfrm>
        <a:graphic>
          <a:graphicData uri="http://schemas.openxmlformats.org/presentationml/2006/ole">
            <mc:AlternateContent xmlns:mc="http://schemas.openxmlformats.org/markup-compatibility/2006">
              <mc:Choice xmlns:v="urn:schemas-microsoft-com:vml" Requires="v">
                <p:oleObj spid="_x0000_s32777" name="文档" r:id="rId3" imgW="4510061" imgH="1639847" progId="Word.Document.12">
                  <p:embed/>
                </p:oleObj>
              </mc:Choice>
              <mc:Fallback>
                <p:oleObj name="文档" r:id="rId3" imgW="4510061" imgH="1639847" progId="Word.Document.12">
                  <p:embed/>
                  <p:pic>
                    <p:nvPicPr>
                      <p:cNvPr id="0" name=""/>
                      <p:cNvPicPr/>
                      <p:nvPr/>
                    </p:nvPicPr>
                    <p:blipFill>
                      <a:blip r:embed="rId4"/>
                      <a:stretch>
                        <a:fillRect/>
                      </a:stretch>
                    </p:blipFill>
                    <p:spPr>
                      <a:xfrm>
                        <a:off x="31173" y="2358687"/>
                        <a:ext cx="11430000" cy="4155920"/>
                      </a:xfrm>
                      <a:prstGeom prst="rect">
                        <a:avLst/>
                      </a:prstGeom>
                    </p:spPr>
                  </p:pic>
                </p:oleObj>
              </mc:Fallback>
            </mc:AlternateContent>
          </a:graphicData>
        </a:graphic>
      </p:graphicFrame>
      <p:pic>
        <p:nvPicPr>
          <p:cNvPr id="5" name="NMX1TRAX301.eps" descr="id:2147517977;FounderCES"/>
          <p:cNvPicPr/>
          <p:nvPr/>
        </p:nvPicPr>
        <p:blipFill>
          <a:blip r:embed="rId5">
            <a:clrChange>
              <a:clrFrom>
                <a:srgbClr val="FFFFFF"/>
              </a:clrFrom>
              <a:clrTo>
                <a:srgbClr val="FFFFFF">
                  <a:alpha val="0"/>
                </a:srgbClr>
              </a:clrTo>
            </a:clrChange>
          </a:blip>
          <a:stretch>
            <a:fillRect/>
          </a:stretch>
        </p:blipFill>
        <p:spPr>
          <a:xfrm>
            <a:off x="8481608" y="2615939"/>
            <a:ext cx="3061269" cy="3182188"/>
          </a:xfrm>
          <a:prstGeom prst="rect">
            <a:avLst/>
          </a:prstGeom>
        </p:spPr>
      </p:pic>
    </p:spTree>
    <p:extLst>
      <p:ext uri="{BB962C8B-B14F-4D97-AF65-F5344CB8AC3E}">
        <p14:creationId xmlns:p14="http://schemas.microsoft.com/office/powerpoint/2010/main" val="37226627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75693569"/>
              </p:ext>
            </p:extLst>
          </p:nvPr>
        </p:nvGraphicFramePr>
        <p:xfrm>
          <a:off x="31173" y="1157095"/>
          <a:ext cx="11430000" cy="3176826"/>
        </p:xfrm>
        <a:graphic>
          <a:graphicData uri="http://schemas.openxmlformats.org/presentationml/2006/ole">
            <mc:AlternateContent xmlns:mc="http://schemas.openxmlformats.org/markup-compatibility/2006">
              <mc:Choice xmlns:v="urn:schemas-microsoft-com:vml" Requires="v">
                <p:oleObj spid="_x0000_s33801" name="文档" r:id="rId3" imgW="4510061" imgH="1253515" progId="Word.Document.12">
                  <p:embed/>
                </p:oleObj>
              </mc:Choice>
              <mc:Fallback>
                <p:oleObj name="文档" r:id="rId3" imgW="4510061" imgH="1253515" progId="Word.Document.12">
                  <p:embed/>
                  <p:pic>
                    <p:nvPicPr>
                      <p:cNvPr id="0" name=""/>
                      <p:cNvPicPr/>
                      <p:nvPr/>
                    </p:nvPicPr>
                    <p:blipFill>
                      <a:blip r:embed="rId4"/>
                      <a:stretch>
                        <a:fillRect/>
                      </a:stretch>
                    </p:blipFill>
                    <p:spPr>
                      <a:xfrm>
                        <a:off x="31173" y="1157095"/>
                        <a:ext cx="11430000" cy="3176826"/>
                      </a:xfrm>
                      <a:prstGeom prst="rect">
                        <a:avLst/>
                      </a:prstGeom>
                    </p:spPr>
                  </p:pic>
                </p:oleObj>
              </mc:Fallback>
            </mc:AlternateContent>
          </a:graphicData>
        </a:graphic>
      </p:graphicFrame>
    </p:spTree>
    <p:extLst>
      <p:ext uri="{BB962C8B-B14F-4D97-AF65-F5344CB8AC3E}">
        <p14:creationId xmlns:p14="http://schemas.microsoft.com/office/powerpoint/2010/main" val="24749757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rPr>
                  <a:t>探究二</a:t>
                </a:r>
                <a:endParaRPr lang="zh-CN" altLang="en-US" sz="2800" b="1" dirty="0" smtClean="0">
                  <a:solidFill>
                    <a:schemeClr val="bg1"/>
                  </a:solidFill>
                </a:endParaRP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直线与双曲线的位置关系</a:t>
                </a:r>
              </a:p>
            </p:txBody>
          </p:sp>
        </p:grpSp>
      </p:grpSp>
      <p:sp>
        <p:nvSpPr>
          <p:cNvPr id="2" name="矩形 1"/>
          <p:cNvSpPr>
            <a:spLocks noChangeAspect="1"/>
          </p:cNvSpPr>
          <p:nvPr/>
        </p:nvSpPr>
        <p:spPr>
          <a:xfrm>
            <a:off x="381000" y="1243879"/>
            <a:ext cx="11430000" cy="345325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y=kx+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与双曲线</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相交于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为何值时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在双曲线的同一支上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为何值时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分别在双曲线的两支上</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直线与双曲线有两交点的条件是联立后的方程有两组解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也就是消元后获得的一元二次方程有两解</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两交点在同一支上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则说明两个交点的横坐标同号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即一元二次方程有两个同号的实数根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两交点分别在两支上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则说明两个交点的横坐标异号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即一元二次方程有两个异号的实数根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183869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49428" y="-15930"/>
            <a:ext cx="11761572" cy="6702337"/>
            <a:chOff x="49428" y="56807"/>
            <a:chExt cx="11761572" cy="6702337"/>
          </a:xfrm>
        </p:grpSpPr>
        <p:sp>
          <p:nvSpPr>
            <p:cNvPr id="2" name="矩形 1"/>
            <p:cNvSpPr>
              <a:spLocks noChangeAspect="1"/>
            </p:cNvSpPr>
            <p:nvPr/>
          </p:nvSpPr>
          <p:spPr>
            <a:xfrm>
              <a:off x="381000" y="5680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把</a:t>
              </a:r>
              <a:r>
                <a:rPr lang="en-US" altLang="zh-CN" sz="2800" i="1" dirty="0">
                  <a:solidFill>
                    <a:srgbClr val="000000"/>
                  </a:solidFill>
                  <a:latin typeface="Times New Roman" panose="02020603050405020304" pitchFamily="18" charset="0"/>
                  <a:cs typeface="Times New Roman" panose="02020603050405020304" pitchFamily="18" charset="0"/>
                </a:rPr>
                <a:t>y=kx+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整理</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要使直线与双曲线有两个交点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883863151"/>
                </p:ext>
              </p:extLst>
            </p:nvPr>
          </p:nvGraphicFramePr>
          <p:xfrm>
            <a:off x="49428" y="1242384"/>
            <a:ext cx="11430000" cy="5516760"/>
          </p:xfrm>
          <a:graphic>
            <a:graphicData uri="http://schemas.openxmlformats.org/presentationml/2006/ole">
              <mc:AlternateContent xmlns:mc="http://schemas.openxmlformats.org/markup-compatibility/2006">
                <mc:Choice xmlns:v="urn:schemas-microsoft-com:vml" Requires="v">
                  <p:oleObj spid="_x0000_s8212" name="文档" r:id="rId3" imgW="4520786" imgH="2181985" progId="Word.Document.12">
                    <p:embed/>
                  </p:oleObj>
                </mc:Choice>
                <mc:Fallback>
                  <p:oleObj name="文档" r:id="rId3" imgW="4520786" imgH="2181985" progId="Word.Document.12">
                    <p:embed/>
                    <p:pic>
                      <p:nvPicPr>
                        <p:cNvPr id="0" name=""/>
                        <p:cNvPicPr/>
                        <p:nvPr/>
                      </p:nvPicPr>
                      <p:blipFill>
                        <a:blip r:embed="rId4"/>
                        <a:stretch>
                          <a:fillRect/>
                        </a:stretch>
                      </p:blipFill>
                      <p:spPr>
                        <a:xfrm>
                          <a:off x="49428" y="1242384"/>
                          <a:ext cx="11430000" cy="5516760"/>
                        </a:xfrm>
                        <a:prstGeom prst="rect">
                          <a:avLst/>
                        </a:prstGeom>
                      </p:spPr>
                    </p:pic>
                  </p:oleObj>
                </mc:Fallback>
              </mc:AlternateContent>
            </a:graphicData>
          </a:graphic>
        </p:graphicFrame>
      </p:gr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4591"/>
            <a:ext cx="11430000" cy="4573560"/>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与双曲线位置关系的判断方法</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方程思想的应用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把直线与双曲线的方程联立成方程组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通过消元后化为</a:t>
            </a:r>
            <a:r>
              <a:rPr lang="en-US" altLang="zh-CN" sz="2800" i="1" dirty="0">
                <a:solidFill>
                  <a:srgbClr val="000000"/>
                </a:solidFill>
                <a:latin typeface="Times New Roman" panose="02020603050405020304" pitchFamily="18" charset="0"/>
                <a:cs typeface="Times New Roman" panose="02020603050405020304" pitchFamily="18" charset="0"/>
              </a:rPr>
              <a:t>ax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+bx+c=</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的形式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的情况下考查方程的判别式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Δ&gt;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直线与双曲线有两个不同的公共点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Δ=</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直线与双曲线只有一个公共点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Δ&lt;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直线与双曲线没有公共点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直线与双曲线的渐近线平行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不包含重合的情形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直线与双曲线有一个公共点</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数形结合思想的应用</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①</a:t>
            </a:r>
            <a:r>
              <a:rPr lang="zh-CN" altLang="en-US"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过定点时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根据定点的位置和双曲线的渐近线的斜率与直线的斜率的大小关系确定其位置关系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②</a:t>
            </a:r>
            <a:r>
              <a:rPr lang="zh-CN" altLang="en-US"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斜率一定时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通过平行移动直线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比较直线斜率与渐近线斜率的关系来确定其位置关系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40822"/>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y=kx-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与双曲线</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与双曲线</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有两个不同的交点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求实数</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的取值范围</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与双曲线</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只有一个交点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求实数</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的取值范围</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与双曲线</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的两支各有一个交点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的取值范围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311548603"/>
              </p:ext>
            </p:extLst>
          </p:nvPr>
        </p:nvGraphicFramePr>
        <p:xfrm>
          <a:off x="416860" y="2681566"/>
          <a:ext cx="11275153" cy="2974998"/>
        </p:xfrm>
        <a:graphic>
          <a:graphicData uri="http://schemas.openxmlformats.org/presentationml/2006/ole">
            <mc:AlternateContent xmlns:mc="http://schemas.openxmlformats.org/markup-compatibility/2006">
              <mc:Choice xmlns:v="urn:schemas-microsoft-com:vml" Requires="v">
                <p:oleObj spid="_x0000_s9237" name="文档" r:id="rId3" imgW="4510061" imgH="1189999" progId="Word.Document.12">
                  <p:embed/>
                </p:oleObj>
              </mc:Choice>
              <mc:Fallback>
                <p:oleObj name="文档" r:id="rId3" imgW="4510061" imgH="1189999" progId="Word.Document.12">
                  <p:embed/>
                  <p:pic>
                    <p:nvPicPr>
                      <p:cNvPr id="0" name=""/>
                      <p:cNvPicPr/>
                      <p:nvPr/>
                    </p:nvPicPr>
                    <p:blipFill>
                      <a:blip r:embed="rId4"/>
                      <a:stretch>
                        <a:fillRect/>
                      </a:stretch>
                    </p:blipFill>
                    <p:spPr>
                      <a:xfrm>
                        <a:off x="416860" y="2681566"/>
                        <a:ext cx="11275153" cy="2974998"/>
                      </a:xfrm>
                      <a:prstGeom prst="rect">
                        <a:avLst/>
                      </a:prstGeom>
                    </p:spPr>
                  </p:pic>
                </p:oleObj>
              </mc:Fallback>
            </mc:AlternateContent>
          </a:graphicData>
        </a:graphic>
      </p:graphicFrame>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6144" y="533004"/>
            <a:ext cx="11754856" cy="4659607"/>
            <a:chOff x="56144" y="896689"/>
            <a:chExt cx="11754856" cy="4659607"/>
          </a:xfrm>
        </p:grpSpPr>
        <p:sp>
          <p:nvSpPr>
            <p:cNvPr id="2" name="矩形 1"/>
            <p:cNvSpPr>
              <a:spLocks noChangeAspect="1"/>
            </p:cNvSpPr>
            <p:nvPr/>
          </p:nvSpPr>
          <p:spPr>
            <a:xfrm>
              <a:off x="381000" y="896689"/>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此时等价于</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式方程只有一解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式方程只有一解</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应满足</a:t>
              </a:r>
              <a:r>
                <a:rPr lang="en-US" altLang="zh-CN" sz="2800" i="1" dirty="0">
                  <a:solidFill>
                    <a:srgbClr val="000000"/>
                  </a:solidFill>
                  <a:latin typeface="Times New Roman" panose="02020603050405020304" pitchFamily="18" charset="0"/>
                  <a:cs typeface="Times New Roman" panose="02020603050405020304" pitchFamily="18" charset="0"/>
                </a:rPr>
                <a:t>Δ=</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20(1</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43481416"/>
                </p:ext>
              </p:extLst>
            </p:nvPr>
          </p:nvGraphicFramePr>
          <p:xfrm>
            <a:off x="56144" y="2547320"/>
            <a:ext cx="11430000" cy="3008976"/>
          </p:xfrm>
          <a:graphic>
            <a:graphicData uri="http://schemas.openxmlformats.org/presentationml/2006/ole">
              <mc:AlternateContent xmlns:mc="http://schemas.openxmlformats.org/markup-compatibility/2006">
                <mc:Choice xmlns:v="urn:schemas-microsoft-com:vml" Requires="v">
                  <p:oleObj spid="_x0000_s10260"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56144" y="2547320"/>
                          <a:ext cx="11430000" cy="3008976"/>
                        </a:xfrm>
                        <a:prstGeom prst="rect">
                          <a:avLst/>
                        </a:prstGeom>
                      </p:spPr>
                    </p:pic>
                  </p:oleObj>
                </mc:Fallback>
              </mc:AlternateContent>
            </a:graphicData>
          </a:graphic>
        </p:graphicFrame>
      </p:grpSp>
    </p:spTree>
    <p:extLst>
      <p:ext uri="{BB962C8B-B14F-4D97-AF65-F5344CB8AC3E}">
        <p14:creationId xmlns:p14="http://schemas.microsoft.com/office/powerpoint/2010/main" val="993292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rPr>
                  <a:t>探究三</a:t>
                </a:r>
                <a:endParaRPr lang="zh-CN" altLang="en-US" sz="2800" b="1" dirty="0" smtClean="0">
                  <a:solidFill>
                    <a:schemeClr val="bg1"/>
                  </a:solidFill>
                </a:endParaRP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直线与双曲线的相交弦问题</a:t>
                </a:r>
              </a:p>
            </p:txBody>
          </p:sp>
        </p:grpSp>
      </p:grpSp>
      <p:sp>
        <p:nvSpPr>
          <p:cNvPr id="2" name="矩形 1"/>
          <p:cNvSpPr>
            <a:spLocks noChangeAspect="1"/>
          </p:cNvSpPr>
          <p:nvPr/>
        </p:nvSpPr>
        <p:spPr>
          <a:xfrm>
            <a:off x="381000" y="1491213"/>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经过点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(2,2)</a:t>
            </a:r>
            <a:r>
              <a:rPr lang="zh-CN" altLang="zh-CN" sz="2800" dirty="0">
                <a:solidFill>
                  <a:srgbClr val="000000"/>
                </a:solidFill>
                <a:latin typeface="Times New Roman" panose="02020603050405020304" pitchFamily="18" charset="0"/>
                <a:cs typeface="Times New Roman" panose="02020603050405020304" pitchFamily="18" charset="0"/>
              </a:rPr>
              <a:t>作直线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交双曲线</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为</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求线段</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先用点差法求</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的斜率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再用弦长公式求</a:t>
            </a:r>
            <a:r>
              <a:rPr lang="en-US" altLang="zh-CN" sz="2800" i="1" dirty="0">
                <a:solidFill>
                  <a:srgbClr val="000000"/>
                </a:solidFill>
                <a:latin typeface="Times New Roman" panose="02020603050405020304" pitchFamily="18" charset="0"/>
                <a:cs typeface="Times New Roman" panose="02020603050405020304" pitchFamily="18" charset="0"/>
              </a:rPr>
              <a:t>|AB|.</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23869765"/>
              </p:ext>
            </p:extLst>
          </p:nvPr>
        </p:nvGraphicFramePr>
        <p:xfrm>
          <a:off x="7145421" y="1386492"/>
          <a:ext cx="635000" cy="816054"/>
        </p:xfrm>
        <a:graphic>
          <a:graphicData uri="http://schemas.openxmlformats.org/presentationml/2006/ole">
            <mc:AlternateContent xmlns:mc="http://schemas.openxmlformats.org/markup-compatibility/2006">
              <mc:Choice xmlns:v="urn:schemas-microsoft-com:vml" Requires="v">
                <p:oleObj spid="_x0000_s11283" name="文档" r:id="rId3" imgW="309135" imgH="396823" progId="Word.Document.12">
                  <p:embed/>
                </p:oleObj>
              </mc:Choice>
              <mc:Fallback>
                <p:oleObj name="文档" r:id="rId3" imgW="309135" imgH="396823" progId="Word.Document.12">
                  <p:embed/>
                  <p:pic>
                    <p:nvPicPr>
                      <p:cNvPr id="0" name=""/>
                      <p:cNvPicPr/>
                      <p:nvPr/>
                    </p:nvPicPr>
                    <p:blipFill>
                      <a:blip r:embed="rId4"/>
                      <a:stretch>
                        <a:fillRect/>
                      </a:stretch>
                    </p:blipFill>
                    <p:spPr>
                      <a:xfrm>
                        <a:off x="7145421" y="1386492"/>
                        <a:ext cx="635000" cy="816054"/>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14428942"/>
              </p:ext>
            </p:extLst>
          </p:nvPr>
        </p:nvGraphicFramePr>
        <p:xfrm>
          <a:off x="56146" y="-27742"/>
          <a:ext cx="11430000" cy="6519145"/>
        </p:xfrm>
        <a:graphic>
          <a:graphicData uri="http://schemas.openxmlformats.org/presentationml/2006/ole">
            <mc:AlternateContent xmlns:mc="http://schemas.openxmlformats.org/markup-compatibility/2006">
              <mc:Choice xmlns:v="urn:schemas-microsoft-com:vml" Requires="v">
                <p:oleObj spid="_x0000_s12307" name="文档" r:id="rId3" imgW="4520786" imgH="2578448" progId="Word.Document.12">
                  <p:embed/>
                </p:oleObj>
              </mc:Choice>
              <mc:Fallback>
                <p:oleObj name="文档" r:id="rId3" imgW="4520786" imgH="2578448" progId="Word.Document.12">
                  <p:embed/>
                  <p:pic>
                    <p:nvPicPr>
                      <p:cNvPr id="0" name=""/>
                      <p:cNvPicPr/>
                      <p:nvPr/>
                    </p:nvPicPr>
                    <p:blipFill>
                      <a:blip r:embed="rId4"/>
                      <a:stretch>
                        <a:fillRect/>
                      </a:stretch>
                    </p:blipFill>
                    <p:spPr>
                      <a:xfrm>
                        <a:off x="56146" y="-27742"/>
                        <a:ext cx="11430000" cy="6519145"/>
                      </a:xfrm>
                      <a:prstGeom prst="rect">
                        <a:avLst/>
                      </a:prstGeom>
                    </p:spPr>
                  </p:pic>
                </p:oleObj>
              </mc:Fallback>
            </mc:AlternateContent>
          </a:graphicData>
        </a:graphic>
      </p:graphicFrame>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07330"/>
            <a:ext cx="11430000" cy="4013406"/>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弦长的求法</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求直线与双曲线相交所得弦长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主要利用弦长公式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要注意方程思想以及根与系数关系的应用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弦中点问题的解决方法</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对于弦中点问题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通常使用点差法解决</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以减小运算量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提高运算速度</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另外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对于相交弦问题还要注意灵活转化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如垂直、相等等问题也可以转化成中点、弦长问题解决</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81000" y="1812837"/>
            <a:ext cx="11430000" cy="1347334"/>
            <a:chOff x="381000" y="2296285"/>
            <a:chExt cx="11430000" cy="1347334"/>
          </a:xfrm>
        </p:grpSpPr>
        <p:sp>
          <p:nvSpPr>
            <p:cNvPr id="2" name="矩形 1"/>
            <p:cNvSpPr>
              <a:spLocks noChangeAspect="1"/>
            </p:cNvSpPr>
            <p:nvPr/>
          </p:nvSpPr>
          <p:spPr>
            <a:xfrm>
              <a:off x="381000" y="2430979"/>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zh-CN" altLang="zh-CN" sz="2800" dirty="0" smtClean="0">
                  <a:solidFill>
                    <a:srgbClr val="000000"/>
                  </a:solidFill>
                  <a:latin typeface="Times New Roman" panose="02020603050405020304" pitchFamily="18" charset="0"/>
                  <a:cs typeface="Times New Roman" panose="02020603050405020304" pitchFamily="18" charset="0"/>
                </a:rPr>
                <a:t>双曲线</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求过点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且被点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平分的弦</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Times New Roman" panose="02020603050405020304" pitchFamily="18" charset="0"/>
                  <a:cs typeface="Times New Roman" panose="02020603050405020304" pitchFamily="18" charset="0"/>
                </a:rPr>
                <a:t>所在直线的方程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65359317"/>
                </p:ext>
              </p:extLst>
            </p:nvPr>
          </p:nvGraphicFramePr>
          <p:xfrm>
            <a:off x="5026787" y="2296285"/>
            <a:ext cx="503802" cy="825238"/>
          </p:xfrm>
          <a:graphic>
            <a:graphicData uri="http://schemas.openxmlformats.org/presentationml/2006/ole">
              <mc:AlternateContent xmlns:mc="http://schemas.openxmlformats.org/markup-compatibility/2006">
                <mc:Choice xmlns:v="urn:schemas-microsoft-com:vml" Requires="v">
                  <p:oleObj spid="_x0000_s13331" name="文档" r:id="rId3" imgW="249395" imgH="396823" progId="Word.Document.12">
                    <p:embed/>
                  </p:oleObj>
                </mc:Choice>
                <mc:Fallback>
                  <p:oleObj name="文档" r:id="rId3" imgW="249395" imgH="396823" progId="Word.Document.12">
                    <p:embed/>
                    <p:pic>
                      <p:nvPicPr>
                        <p:cNvPr id="0" name=""/>
                        <p:cNvPicPr/>
                        <p:nvPr/>
                      </p:nvPicPr>
                      <p:blipFill>
                        <a:blip r:embed="rId4"/>
                        <a:stretch>
                          <a:fillRect/>
                        </a:stretch>
                      </p:blipFill>
                      <p:spPr>
                        <a:xfrm>
                          <a:off x="5026787" y="2296285"/>
                          <a:ext cx="503802" cy="825238"/>
                        </a:xfrm>
                        <a:prstGeom prst="rect">
                          <a:avLst/>
                        </a:prstGeom>
                      </p:spPr>
                    </p:pic>
                  </p:oleObj>
                </mc:Fallback>
              </mc:AlternateContent>
            </a:graphicData>
          </a:graphic>
        </p:graphicFrame>
      </p:gr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8177" y="56482"/>
            <a:ext cx="11742823" cy="6633031"/>
            <a:chOff x="68177" y="56482"/>
            <a:chExt cx="11742823" cy="6633031"/>
          </a:xfrm>
        </p:grpSpPr>
        <p:sp>
          <p:nvSpPr>
            <p:cNvPr id="4" name="矩形 3"/>
            <p:cNvSpPr>
              <a:spLocks noChangeAspect="1"/>
            </p:cNvSpPr>
            <p:nvPr/>
          </p:nvSpPr>
          <p:spPr>
            <a:xfrm>
              <a:off x="381000" y="56482"/>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由题意知直线的斜率存在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故可设直线方程为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y=kx-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903391692"/>
                </p:ext>
              </p:extLst>
            </p:nvPr>
          </p:nvGraphicFramePr>
          <p:xfrm>
            <a:off x="68177" y="1172753"/>
            <a:ext cx="11430000" cy="5516760"/>
          </p:xfrm>
          <a:graphic>
            <a:graphicData uri="http://schemas.openxmlformats.org/presentationml/2006/ole">
              <mc:AlternateContent xmlns:mc="http://schemas.openxmlformats.org/markup-compatibility/2006">
                <mc:Choice xmlns:v="urn:schemas-microsoft-com:vml" Requires="v">
                  <p:oleObj spid="_x0000_s14355" name="文档" r:id="rId3" imgW="4520786" imgH="2181985" progId="Word.Document.12">
                    <p:embed/>
                  </p:oleObj>
                </mc:Choice>
                <mc:Fallback>
                  <p:oleObj name="文档" r:id="rId3" imgW="4520786" imgH="2181985" progId="Word.Document.12">
                    <p:embed/>
                    <p:pic>
                      <p:nvPicPr>
                        <p:cNvPr id="0" name=""/>
                        <p:cNvPicPr/>
                        <p:nvPr/>
                      </p:nvPicPr>
                      <p:blipFill>
                        <a:blip r:embed="rId4"/>
                        <a:stretch>
                          <a:fillRect/>
                        </a:stretch>
                      </p:blipFill>
                      <p:spPr>
                        <a:xfrm>
                          <a:off x="68177" y="1172753"/>
                          <a:ext cx="11430000" cy="5516760"/>
                        </a:xfrm>
                        <a:prstGeom prst="rect">
                          <a:avLst/>
                        </a:prstGeom>
                      </p:spPr>
                    </p:pic>
                  </p:oleObj>
                </mc:Fallback>
              </mc:AlternateContent>
            </a:graphicData>
          </a:graphic>
        </p:graphicFrame>
      </p:grpSp>
    </p:spTree>
    <p:extLst>
      <p:ext uri="{BB962C8B-B14F-4D97-AF65-F5344CB8AC3E}">
        <p14:creationId xmlns:p14="http://schemas.microsoft.com/office/powerpoint/2010/main" val="23327817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0160" y="49769"/>
            <a:ext cx="11750840" cy="6676415"/>
            <a:chOff x="60160" y="49769"/>
            <a:chExt cx="11750840" cy="6676415"/>
          </a:xfrm>
        </p:grpSpPr>
        <p:sp>
          <p:nvSpPr>
            <p:cNvPr id="2" name="矩形 1"/>
            <p:cNvSpPr>
              <a:spLocks noChangeAspect="1"/>
            </p:cNvSpPr>
            <p:nvPr/>
          </p:nvSpPr>
          <p:spPr>
            <a:xfrm>
              <a:off x="381000" y="4976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均在双曲线上</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78351241"/>
                </p:ext>
              </p:extLst>
            </p:nvPr>
          </p:nvGraphicFramePr>
          <p:xfrm>
            <a:off x="60160" y="1209424"/>
            <a:ext cx="11430000" cy="5516760"/>
          </p:xfrm>
          <a:graphic>
            <a:graphicData uri="http://schemas.openxmlformats.org/presentationml/2006/ole">
              <mc:AlternateContent xmlns:mc="http://schemas.openxmlformats.org/markup-compatibility/2006">
                <mc:Choice xmlns:v="urn:schemas-microsoft-com:vml" Requires="v">
                  <p:oleObj spid="_x0000_s15379" name="文档" r:id="rId3" imgW="4520786" imgH="2181985" progId="Word.Document.12">
                    <p:embed/>
                  </p:oleObj>
                </mc:Choice>
                <mc:Fallback>
                  <p:oleObj name="文档" r:id="rId3" imgW="4520786" imgH="2181985" progId="Word.Document.12">
                    <p:embed/>
                    <p:pic>
                      <p:nvPicPr>
                        <p:cNvPr id="0" name=""/>
                        <p:cNvPicPr/>
                        <p:nvPr/>
                      </p:nvPicPr>
                      <p:blipFill>
                        <a:blip r:embed="rId4"/>
                        <a:stretch>
                          <a:fillRect/>
                        </a:stretch>
                      </p:blipFill>
                      <p:spPr>
                        <a:xfrm>
                          <a:off x="60160" y="1209424"/>
                          <a:ext cx="11430000" cy="5516760"/>
                        </a:xfrm>
                        <a:prstGeom prst="rect">
                          <a:avLst/>
                        </a:prstGeom>
                      </p:spPr>
                    </p:pic>
                  </p:oleObj>
                </mc:Fallback>
              </mc:AlternateContent>
            </a:graphicData>
          </a:graphic>
        </p:graphicFrame>
      </p:grpSp>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bg1"/>
                    </a:solidFill>
                  </a:rPr>
                  <a:t>探究四</a:t>
                </a:r>
                <a:endParaRPr lang="zh-CN" altLang="en-US" sz="2800" b="1" dirty="0" smtClean="0">
                  <a:solidFill>
                    <a:schemeClr val="bg1"/>
                  </a:solidFill>
                </a:endParaRP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直线与双曲线的综合问题</a:t>
                </a:r>
              </a:p>
            </p:txBody>
          </p:sp>
        </p:grpSp>
      </p:grpSp>
      <p:sp>
        <p:nvSpPr>
          <p:cNvPr id="7" name="矩形 6"/>
          <p:cNvSpPr>
            <a:spLocks noChangeAspect="1"/>
          </p:cNvSpPr>
          <p:nvPr/>
        </p:nvSpPr>
        <p:spPr>
          <a:xfrm>
            <a:off x="381000" y="986777"/>
            <a:ext cx="11430000" cy="345325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已知定点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定直线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不在</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轴上的动点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与点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的距离是它到直线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的距离的</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倍</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的轨迹为</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的直线交</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于</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Times New Roman" panose="02020603050405020304" pitchFamily="18" charset="0"/>
                <a:cs typeface="Times New Roman" panose="02020603050405020304" pitchFamily="18" charset="0"/>
              </a:rPr>
              <a:t>分别交</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于点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试判断以线段</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Times New Roman" panose="02020603050405020304" pitchFamily="18" charset="0"/>
                <a:cs typeface="Times New Roman" panose="02020603050405020304" pitchFamily="18" charset="0"/>
              </a:rPr>
              <a:t>为直径的圆是否过点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并说明理由</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利用点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满足的关系式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代入坐标化简即可</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3837249114"/>
              </p:ext>
            </p:extLst>
          </p:nvPr>
        </p:nvGraphicFramePr>
        <p:xfrm>
          <a:off x="7218334" y="945213"/>
          <a:ext cx="527178" cy="753795"/>
        </p:xfrm>
        <a:graphic>
          <a:graphicData uri="http://schemas.openxmlformats.org/presentationml/2006/ole">
            <mc:AlternateContent xmlns:mc="http://schemas.openxmlformats.org/markup-compatibility/2006">
              <mc:Choice xmlns:v="urn:schemas-microsoft-com:vml" Requires="v">
                <p:oleObj spid="_x0000_s16418" name="文档" r:id="rId3" imgW="285035" imgH="397130" progId="Word.Document.12">
                  <p:embed/>
                </p:oleObj>
              </mc:Choice>
              <mc:Fallback>
                <p:oleObj name="文档" r:id="rId3" imgW="285035" imgH="397130" progId="Word.Document.12">
                  <p:embed/>
                  <p:pic>
                    <p:nvPicPr>
                      <p:cNvPr id="0" name=""/>
                      <p:cNvPicPr/>
                      <p:nvPr/>
                    </p:nvPicPr>
                    <p:blipFill>
                      <a:blip r:embed="rId4"/>
                      <a:stretch>
                        <a:fillRect/>
                      </a:stretch>
                    </p:blipFill>
                    <p:spPr>
                      <a:xfrm>
                        <a:off x="7218334" y="945213"/>
                        <a:ext cx="527178" cy="75379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610267537"/>
              </p:ext>
            </p:extLst>
          </p:nvPr>
        </p:nvGraphicFramePr>
        <p:xfrm>
          <a:off x="31175" y="4390266"/>
          <a:ext cx="11430000" cy="591101"/>
        </p:xfrm>
        <a:graphic>
          <a:graphicData uri="http://schemas.openxmlformats.org/presentationml/2006/ole">
            <mc:AlternateContent xmlns:mc="http://schemas.openxmlformats.org/markup-compatibility/2006">
              <mc:Choice xmlns:v="urn:schemas-microsoft-com:vml" Requires="v">
                <p:oleObj spid="_x0000_s16419" name="文档" r:id="rId5" imgW="4510061" imgH="233237" progId="Word.Document.12">
                  <p:embed/>
                </p:oleObj>
              </mc:Choice>
              <mc:Fallback>
                <p:oleObj name="文档" r:id="rId5" imgW="4510061" imgH="233237" progId="Word.Document.12">
                  <p:embed/>
                  <p:pic>
                    <p:nvPicPr>
                      <p:cNvPr id="0" name=""/>
                      <p:cNvPicPr/>
                      <p:nvPr/>
                    </p:nvPicPr>
                    <p:blipFill>
                      <a:blip r:embed="rId6"/>
                      <a:stretch>
                        <a:fillRect/>
                      </a:stretch>
                    </p:blipFill>
                    <p:spPr>
                      <a:xfrm>
                        <a:off x="31175" y="4390266"/>
                        <a:ext cx="11430000" cy="591101"/>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barn(inVertical)">
                                      <p:cBhvr>
                                        <p:cTn id="7" dur="500"/>
                                        <p:tgtEl>
                                          <p:spTgt spid="7">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135631779"/>
              </p:ext>
            </p:extLst>
          </p:nvPr>
        </p:nvGraphicFramePr>
        <p:xfrm>
          <a:off x="31173" y="253256"/>
          <a:ext cx="11430000" cy="5524832"/>
        </p:xfrm>
        <a:graphic>
          <a:graphicData uri="http://schemas.openxmlformats.org/presentationml/2006/ole">
            <mc:AlternateContent xmlns:mc="http://schemas.openxmlformats.org/markup-compatibility/2006">
              <mc:Choice xmlns:v="urn:schemas-microsoft-com:vml" Requires="v">
                <p:oleObj spid="_x0000_s17426" name="文档" r:id="rId3" imgW="4510061" imgH="2179994" progId="Word.Document.12">
                  <p:embed/>
                </p:oleObj>
              </mc:Choice>
              <mc:Fallback>
                <p:oleObj name="文档" r:id="rId3" imgW="4510061" imgH="2179994" progId="Word.Document.12">
                  <p:embed/>
                  <p:pic>
                    <p:nvPicPr>
                      <p:cNvPr id="0" name=""/>
                      <p:cNvPicPr/>
                      <p:nvPr/>
                    </p:nvPicPr>
                    <p:blipFill>
                      <a:blip r:embed="rId4"/>
                      <a:stretch>
                        <a:fillRect/>
                      </a:stretch>
                    </p:blipFill>
                    <p:spPr>
                      <a:xfrm>
                        <a:off x="31173" y="253256"/>
                        <a:ext cx="11430000" cy="5524832"/>
                      </a:xfrm>
                      <a:prstGeom prst="rect">
                        <a:avLst/>
                      </a:prstGeom>
                    </p:spPr>
                  </p:pic>
                </p:oleObj>
              </mc:Fallback>
            </mc:AlternateContent>
          </a:graphicData>
        </a:graphic>
      </p:graphicFrame>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792595365"/>
              </p:ext>
            </p:extLst>
          </p:nvPr>
        </p:nvGraphicFramePr>
        <p:xfrm>
          <a:off x="31173" y="867501"/>
          <a:ext cx="11430000" cy="4088522"/>
        </p:xfrm>
        <a:graphic>
          <a:graphicData uri="http://schemas.openxmlformats.org/presentationml/2006/ole">
            <mc:AlternateContent xmlns:mc="http://schemas.openxmlformats.org/markup-compatibility/2006">
              <mc:Choice xmlns:v="urn:schemas-microsoft-com:vml" Requires="v">
                <p:oleObj spid="_x0000_s18450" name="文档" r:id="rId3" imgW="4510061" imgH="1613253" progId="Word.Document.12">
                  <p:embed/>
                </p:oleObj>
              </mc:Choice>
              <mc:Fallback>
                <p:oleObj name="文档" r:id="rId3" imgW="4510061" imgH="1613253" progId="Word.Document.12">
                  <p:embed/>
                  <p:pic>
                    <p:nvPicPr>
                      <p:cNvPr id="0" name=""/>
                      <p:cNvPicPr/>
                      <p:nvPr/>
                    </p:nvPicPr>
                    <p:blipFill>
                      <a:blip r:embed="rId4"/>
                      <a:stretch>
                        <a:fillRect/>
                      </a:stretch>
                    </p:blipFill>
                    <p:spPr>
                      <a:xfrm>
                        <a:off x="31173" y="867501"/>
                        <a:ext cx="11430000" cy="4088522"/>
                      </a:xfrm>
                      <a:prstGeom prst="rect">
                        <a:avLst/>
                      </a:prstGeom>
                    </p:spPr>
                  </p:pic>
                </p:oleObj>
              </mc:Fallback>
            </mc:AlternateContent>
          </a:graphicData>
        </a:graphic>
      </p:graphicFrame>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8099" y="597477"/>
            <a:ext cx="11772901" cy="4546656"/>
            <a:chOff x="38099" y="597477"/>
            <a:chExt cx="11772901" cy="4546656"/>
          </a:xfrm>
        </p:grpSpPr>
        <p:sp>
          <p:nvSpPr>
            <p:cNvPr id="2" name="矩形 1"/>
            <p:cNvSpPr>
              <a:spLocks noChangeAspect="1"/>
            </p:cNvSpPr>
            <p:nvPr/>
          </p:nvSpPr>
          <p:spPr>
            <a:xfrm>
              <a:off x="381000" y="597477"/>
              <a:ext cx="11430000" cy="1152367"/>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当直线</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轴垂直时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其方程为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(2,3),</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y=x+</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182757933"/>
                </p:ext>
              </p:extLst>
            </p:nvPr>
          </p:nvGraphicFramePr>
          <p:xfrm>
            <a:off x="38099" y="1825059"/>
            <a:ext cx="11430000" cy="2769702"/>
          </p:xfrm>
          <a:graphic>
            <a:graphicData uri="http://schemas.openxmlformats.org/presentationml/2006/ole">
              <mc:AlternateContent xmlns:mc="http://schemas.openxmlformats.org/markup-compatibility/2006">
                <mc:Choice xmlns:v="urn:schemas-microsoft-com:vml" Requires="v">
                  <p:oleObj spid="_x0000_s34825" name="文档" r:id="rId3" imgW="4510061" imgH="1092872" progId="Word.Document.12">
                    <p:embed/>
                  </p:oleObj>
                </mc:Choice>
                <mc:Fallback>
                  <p:oleObj name="文档" r:id="rId3" imgW="4510061" imgH="1092872" progId="Word.Document.12">
                    <p:embed/>
                    <p:pic>
                      <p:nvPicPr>
                        <p:cNvPr id="0" name=""/>
                        <p:cNvPicPr/>
                        <p:nvPr/>
                      </p:nvPicPr>
                      <p:blipFill>
                        <a:blip r:embed="rId4"/>
                        <a:stretch>
                          <a:fillRect/>
                        </a:stretch>
                      </p:blipFill>
                      <p:spPr>
                        <a:xfrm>
                          <a:off x="38099" y="1825059"/>
                          <a:ext cx="11430000" cy="2769702"/>
                        </a:xfrm>
                        <a:prstGeom prst="rect">
                          <a:avLst/>
                        </a:prstGeom>
                      </p:spPr>
                    </p:pic>
                  </p:oleObj>
                </mc:Fallback>
              </mc:AlternateContent>
            </a:graphicData>
          </a:graphic>
        </p:graphicFrame>
        <p:sp>
          <p:nvSpPr>
            <p:cNvPr id="5" name="矩形 4"/>
            <p:cNvSpPr>
              <a:spLocks noChangeAspect="1"/>
            </p:cNvSpPr>
            <p:nvPr/>
          </p:nvSpPr>
          <p:spPr>
            <a:xfrm>
              <a:off x="381000" y="4551920"/>
              <a:ext cx="11430000" cy="59221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故以线段</a:t>
              </a:r>
              <a:r>
                <a:rPr lang="en-US" altLang="zh-CN" sz="2800" i="1" dirty="0">
                  <a:solidFill>
                    <a:srgbClr val="000000"/>
                  </a:solidFill>
                  <a:latin typeface="Times New Roman" panose="02020603050405020304" pitchFamily="18" charset="0"/>
                  <a:cs typeface="Times New Roman" panose="02020603050405020304" pitchFamily="18" charset="0"/>
                </a:rPr>
                <a:t>MN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为直径的圆过点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5168581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32598"/>
            <a:ext cx="11430000" cy="227267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双曲线</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的综合问题最终仍体现在直线与双曲线轨迹、向量的应用及参数范围的探求上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直线方程与双曲线方程联立后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要注意二次项系数为零的情况</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另外</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设而不求、根与系数的关系、消参也是常用的方法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在解题时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应有意识地运用这些方法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达到熟练掌握的程度</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0160" y="294123"/>
            <a:ext cx="11750840" cy="2609039"/>
            <a:chOff x="60160" y="449988"/>
            <a:chExt cx="11750840" cy="2609039"/>
          </a:xfrm>
        </p:grpSpPr>
        <p:sp>
          <p:nvSpPr>
            <p:cNvPr id="2" name="矩形 1"/>
            <p:cNvSpPr>
              <a:spLocks noChangeAspect="1"/>
            </p:cNvSpPr>
            <p:nvPr/>
          </p:nvSpPr>
          <p:spPr>
            <a:xfrm>
              <a:off x="381000" y="449988"/>
              <a:ext cx="11430000" cy="1767022"/>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4</a:t>
              </a:r>
              <a:r>
                <a:rPr lang="zh-CN" altLang="zh-CN" sz="2800" dirty="0" smtClean="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smtClean="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已知点</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(2,0),</a:t>
              </a:r>
              <a:r>
                <a:rPr lang="zh-CN" altLang="zh-CN" sz="2800" dirty="0">
                  <a:solidFill>
                    <a:srgbClr val="000000"/>
                  </a:solidFill>
                  <a:latin typeface="Times New Roman" panose="02020603050405020304" pitchFamily="18" charset="0"/>
                  <a:cs typeface="Times New Roman" panose="02020603050405020304" pitchFamily="18" charset="0"/>
                </a:rPr>
                <a:t>动点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满足条件</a:t>
              </a:r>
              <a:r>
                <a:rPr lang="en-US" altLang="zh-CN" sz="2800" i="1" dirty="0">
                  <a:solidFill>
                    <a:srgbClr val="000000"/>
                  </a:solidFill>
                  <a:latin typeface="Times New Roman" panose="02020603050405020304" pitchFamily="18" charset="0"/>
                  <a:cs typeface="Times New Roman" panose="02020603050405020304" pitchFamily="18" charset="0"/>
                </a:rPr>
                <a:t>|PM|-|PN|=</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记动点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的轨迹为</a:t>
              </a:r>
              <a:r>
                <a:rPr lang="en-US" altLang="zh-CN" sz="2800" i="1" dirty="0">
                  <a:solidFill>
                    <a:srgbClr val="000000"/>
                  </a:solidFill>
                  <a:latin typeface="Times New Roman" panose="02020603050405020304" pitchFamily="18" charset="0"/>
                  <a:cs typeface="Times New Roman" panose="02020603050405020304" pitchFamily="18" charset="0"/>
                </a:rPr>
                <a:t>W.</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W</a:t>
              </a:r>
              <a:r>
                <a:rPr lang="zh-CN" altLang="zh-CN" sz="2800" dirty="0">
                  <a:solidFill>
                    <a:srgbClr val="000000"/>
                  </a:solidFill>
                  <a:latin typeface="Times New Roman" panose="02020603050405020304" pitchFamily="18" charset="0"/>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46111147"/>
                </p:ext>
              </p:extLst>
            </p:nvPr>
          </p:nvGraphicFramePr>
          <p:xfrm>
            <a:off x="10668001" y="534212"/>
            <a:ext cx="673100" cy="533400"/>
          </p:xfrm>
          <a:graphic>
            <a:graphicData uri="http://schemas.openxmlformats.org/presentationml/2006/ole">
              <mc:AlternateContent xmlns:mc="http://schemas.openxmlformats.org/markup-compatibility/2006">
                <mc:Choice xmlns:v="urn:schemas-microsoft-com:vml" Requires="v">
                  <p:oleObj spid="_x0000_s19506" name="文档" r:id="rId3" imgW="271708" imgH="211567" progId="Word.Document.12">
                    <p:embed/>
                  </p:oleObj>
                </mc:Choice>
                <mc:Fallback>
                  <p:oleObj name="文档" r:id="rId3" imgW="271708" imgH="211567" progId="Word.Document.12">
                    <p:embed/>
                    <p:pic>
                      <p:nvPicPr>
                        <p:cNvPr id="0" name=""/>
                        <p:cNvPicPr/>
                        <p:nvPr/>
                      </p:nvPicPr>
                      <p:blipFill>
                        <a:blip r:embed="rId4"/>
                        <a:stretch>
                          <a:fillRect/>
                        </a:stretch>
                      </p:blipFill>
                      <p:spPr>
                        <a:xfrm>
                          <a:off x="10668001" y="534212"/>
                          <a:ext cx="673100" cy="5334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51586890"/>
                </p:ext>
              </p:extLst>
            </p:nvPr>
          </p:nvGraphicFramePr>
          <p:xfrm>
            <a:off x="60160" y="2055730"/>
            <a:ext cx="11430000" cy="1003297"/>
          </p:xfrm>
          <a:graphic>
            <a:graphicData uri="http://schemas.openxmlformats.org/presentationml/2006/ole">
              <mc:AlternateContent xmlns:mc="http://schemas.openxmlformats.org/markup-compatibility/2006">
                <mc:Choice xmlns:v="urn:schemas-microsoft-com:vml" Requires="v">
                  <p:oleObj spid="_x0000_s19507"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60160" y="2055730"/>
                          <a:ext cx="11430000" cy="1003297"/>
                        </a:xfrm>
                        <a:prstGeom prst="rect">
                          <a:avLst/>
                        </a:prstGeom>
                      </p:spPr>
                    </p:pic>
                  </p:oleObj>
                </mc:Fallback>
              </mc:AlternateContent>
            </a:graphicData>
          </a:graphic>
        </p:graphicFrame>
      </p:grpSp>
      <p:graphicFrame>
        <p:nvGraphicFramePr>
          <p:cNvPr id="5" name="对象 4"/>
          <p:cNvGraphicFramePr>
            <a:graphicFrameLocks noChangeAspect="1"/>
          </p:cNvGraphicFramePr>
          <p:nvPr>
            <p:extLst>
              <p:ext uri="{D42A27DB-BD31-4B8C-83A1-F6EECF244321}">
                <p14:modId xmlns:p14="http://schemas.microsoft.com/office/powerpoint/2010/main" val="4045374061"/>
              </p:ext>
            </p:extLst>
          </p:nvPr>
        </p:nvGraphicFramePr>
        <p:xfrm>
          <a:off x="381000" y="2794877"/>
          <a:ext cx="11430000" cy="3008976"/>
        </p:xfrm>
        <a:graphic>
          <a:graphicData uri="http://schemas.openxmlformats.org/presentationml/2006/ole">
            <mc:AlternateContent xmlns:mc="http://schemas.openxmlformats.org/markup-compatibility/2006">
              <mc:Choice xmlns:v="urn:schemas-microsoft-com:vml" Requires="v">
                <p:oleObj spid="_x0000_s19508" name="文档" r:id="rId7" imgW="4520786" imgH="1190108" progId="Word.Document.12">
                  <p:embed/>
                </p:oleObj>
              </mc:Choice>
              <mc:Fallback>
                <p:oleObj name="文档" r:id="rId7" imgW="4520786" imgH="1190108" progId="Word.Document.12">
                  <p:embed/>
                  <p:pic>
                    <p:nvPicPr>
                      <p:cNvPr id="0" name=""/>
                      <p:cNvPicPr/>
                      <p:nvPr/>
                    </p:nvPicPr>
                    <p:blipFill>
                      <a:blip r:embed="rId8"/>
                      <a:stretch>
                        <a:fillRect/>
                      </a:stretch>
                    </p:blipFill>
                    <p:spPr>
                      <a:xfrm>
                        <a:off x="381000" y="2794877"/>
                        <a:ext cx="11430000" cy="3008976"/>
                      </a:xfrm>
                      <a:prstGeom prst="rect">
                        <a:avLst/>
                      </a:prstGeom>
                    </p:spPr>
                  </p:pic>
                </p:oleObj>
              </mc:Fallback>
            </mc:AlternateContent>
          </a:graphicData>
        </a:graphic>
      </p:graphicFrame>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8128" y="55806"/>
            <a:ext cx="11762872" cy="6484563"/>
            <a:chOff x="48128" y="55806"/>
            <a:chExt cx="11762872" cy="6484563"/>
          </a:xfrm>
        </p:grpSpPr>
        <p:sp>
          <p:nvSpPr>
            <p:cNvPr id="2" name="矩形 1"/>
            <p:cNvSpPr>
              <a:spLocks noChangeAspect="1"/>
            </p:cNvSpPr>
            <p:nvPr/>
          </p:nvSpPr>
          <p:spPr>
            <a:xfrm>
              <a:off x="381000" y="55806"/>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的坐标分别为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49295747"/>
                </p:ext>
              </p:extLst>
            </p:nvPr>
          </p:nvGraphicFramePr>
          <p:xfrm>
            <a:off x="48128" y="1165395"/>
            <a:ext cx="11430000" cy="1003297"/>
          </p:xfrm>
          <a:graphic>
            <a:graphicData uri="http://schemas.openxmlformats.org/presentationml/2006/ole">
              <mc:AlternateContent xmlns:mc="http://schemas.openxmlformats.org/markup-compatibility/2006">
                <mc:Choice xmlns:v="urn:schemas-microsoft-com:vml" Requires="v">
                  <p:oleObj spid="_x0000_s20516"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8128" y="1165395"/>
                          <a:ext cx="11430000" cy="1003297"/>
                        </a:xfrm>
                        <a:prstGeom prst="rect">
                          <a:avLst/>
                        </a:prstGeom>
                      </p:spPr>
                    </p:pic>
                  </p:oleObj>
                </mc:Fallback>
              </mc:AlternateContent>
            </a:graphicData>
          </a:graphic>
        </p:graphicFrame>
        <p:sp>
          <p:nvSpPr>
            <p:cNvPr id="4" name="矩形 3"/>
            <p:cNvSpPr>
              <a:spLocks noChangeAspect="1"/>
            </p:cNvSpPr>
            <p:nvPr/>
          </p:nvSpPr>
          <p:spPr>
            <a:xfrm>
              <a:off x="381000" y="1957122"/>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轴不垂直时</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的方程为</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i="1" dirty="0" err="1">
                  <a:solidFill>
                    <a:srgbClr val="000000"/>
                  </a:solidFill>
                  <a:latin typeface="Times New Roman" panose="02020603050405020304" pitchFamily="18" charset="0"/>
                  <a:cs typeface="Times New Roman" panose="02020603050405020304" pitchFamily="18" charset="0"/>
                </a:rPr>
                <a:t>kx+m</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a:t>
              </a:r>
              <a:r>
                <a:rPr lang="en-US" altLang="zh-CN" sz="2800" i="1" dirty="0">
                  <a:solidFill>
                    <a:srgbClr val="000000"/>
                  </a:solidFill>
                  <a:latin typeface="Times New Roman" panose="02020603050405020304" pitchFamily="18" charset="0"/>
                  <a:cs typeface="Times New Roman" panose="02020603050405020304" pitchFamily="18" charset="0"/>
                </a:rPr>
                <a:t>W</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消去</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整理得</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kmx-m</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533627242"/>
                </p:ext>
              </p:extLst>
            </p:nvPr>
          </p:nvGraphicFramePr>
          <p:xfrm>
            <a:off x="48128" y="3531393"/>
            <a:ext cx="11430000" cy="3008976"/>
          </p:xfrm>
          <a:graphic>
            <a:graphicData uri="http://schemas.openxmlformats.org/presentationml/2006/ole">
              <mc:AlternateContent xmlns:mc="http://schemas.openxmlformats.org/markup-compatibility/2006">
                <mc:Choice xmlns:v="urn:schemas-microsoft-com:vml" Requires="v">
                  <p:oleObj spid="_x0000_s20517" name="文档" r:id="rId5" imgW="4520786" imgH="1190108" progId="Word.Document.12">
                    <p:embed/>
                  </p:oleObj>
                </mc:Choice>
                <mc:Fallback>
                  <p:oleObj name="文档" r:id="rId5" imgW="4520786" imgH="1190108" progId="Word.Document.12">
                    <p:embed/>
                    <p:pic>
                      <p:nvPicPr>
                        <p:cNvPr id="0" name=""/>
                        <p:cNvPicPr/>
                        <p:nvPr/>
                      </p:nvPicPr>
                      <p:blipFill>
                        <a:blip r:embed="rId6"/>
                        <a:stretch>
                          <a:fillRect/>
                        </a:stretch>
                      </p:blipFill>
                      <p:spPr>
                        <a:xfrm>
                          <a:off x="48128" y="3531393"/>
                          <a:ext cx="11430000" cy="3008976"/>
                        </a:xfrm>
                        <a:prstGeom prst="rect">
                          <a:avLst/>
                        </a:prstGeom>
                      </p:spPr>
                    </p:pic>
                  </p:oleObj>
                </mc:Fallback>
              </mc:AlternateContent>
            </a:graphicData>
          </a:graphic>
        </p:graphicFrame>
      </p:grpSp>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41974086"/>
              </p:ext>
            </p:extLst>
          </p:nvPr>
        </p:nvGraphicFramePr>
        <p:xfrm>
          <a:off x="60160" y="1835643"/>
          <a:ext cx="11430000" cy="2005680"/>
        </p:xfrm>
        <a:graphic>
          <a:graphicData uri="http://schemas.openxmlformats.org/presentationml/2006/ole">
            <mc:AlternateContent xmlns:mc="http://schemas.openxmlformats.org/markup-compatibility/2006">
              <mc:Choice xmlns:v="urn:schemas-microsoft-com:vml" Requires="v">
                <p:oleObj spid="_x0000_s21522"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60160" y="1835643"/>
                        <a:ext cx="11430000" cy="2005680"/>
                      </a:xfrm>
                      <a:prstGeom prst="rect">
                        <a:avLst/>
                      </a:prstGeom>
                    </p:spPr>
                  </p:pic>
                </p:oleObj>
              </mc:Fallback>
            </mc:AlternateContent>
          </a:graphicData>
        </a:graphic>
      </p:graphicFrame>
    </p:spTree>
    <p:extLst>
      <p:ext uri="{BB962C8B-B14F-4D97-AF65-F5344CB8AC3E}">
        <p14:creationId xmlns:p14="http://schemas.microsoft.com/office/powerpoint/2010/main" val="3856009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grpSp>
        <p:nvGrpSpPr>
          <p:cNvPr id="11" name="组合 10"/>
          <p:cNvGrpSpPr/>
          <p:nvPr/>
        </p:nvGrpSpPr>
        <p:grpSpPr>
          <a:xfrm>
            <a:off x="44114" y="969962"/>
            <a:ext cx="11766886" cy="4293027"/>
            <a:chOff x="44114" y="1250519"/>
            <a:chExt cx="11766886" cy="4293027"/>
          </a:xfrm>
        </p:grpSpPr>
        <p:sp>
          <p:nvSpPr>
            <p:cNvPr id="8" name="矩形 7"/>
            <p:cNvSpPr>
              <a:spLocks noChangeAspect="1"/>
            </p:cNvSpPr>
            <p:nvPr/>
          </p:nvSpPr>
          <p:spPr>
            <a:xfrm>
              <a:off x="381000" y="1250519"/>
              <a:ext cx="11430000" cy="3453253"/>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直线与双曲线相交忽视特殊情况致误</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cs typeface="Times New Roman" panose="02020603050405020304" pitchFamily="18" charset="0"/>
                </a:rPr>
                <a:t>斜率为</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与双曲线</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只有一个公共点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试探究直线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的斜率</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错解</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由题意得</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代入双曲线方程消去</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整理</a:t>
              </a:r>
              <a:r>
                <a:rPr lang="zh-CN" altLang="zh-CN" sz="2800" dirty="0">
                  <a:solidFill>
                    <a:srgbClr val="000000"/>
                  </a:solidFill>
                  <a:latin typeface="Times New Roman" panose="02020603050405020304" pitchFamily="18" charset="0"/>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由题意得</a:t>
              </a:r>
              <a:r>
                <a:rPr lang="en-US" altLang="zh-CN" sz="2800" i="1" dirty="0">
                  <a:solidFill>
                    <a:srgbClr val="000000"/>
                  </a:solidFill>
                  <a:latin typeface="Times New Roman" panose="02020603050405020304" pitchFamily="18" charset="0"/>
                  <a:cs typeface="Times New Roman" panose="02020603050405020304" pitchFamily="18" charset="0"/>
                </a:rPr>
                <a:t>Δ=</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4(4</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641949854"/>
                </p:ext>
              </p:extLst>
            </p:nvPr>
          </p:nvGraphicFramePr>
          <p:xfrm>
            <a:off x="9078262" y="1691534"/>
            <a:ext cx="473626" cy="825238"/>
          </p:xfrm>
          <a:graphic>
            <a:graphicData uri="http://schemas.openxmlformats.org/presentationml/2006/ole">
              <mc:AlternateContent xmlns:mc="http://schemas.openxmlformats.org/markup-compatibility/2006">
                <mc:Choice xmlns:v="urn:schemas-microsoft-com:vml" Requires="v">
                  <p:oleObj spid="_x0000_s22562" name="文档" r:id="rId3" imgW="235000" imgH="396823" progId="Word.Document.12">
                    <p:embed/>
                  </p:oleObj>
                </mc:Choice>
                <mc:Fallback>
                  <p:oleObj name="文档" r:id="rId3" imgW="235000" imgH="396823" progId="Word.Document.12">
                    <p:embed/>
                    <p:pic>
                      <p:nvPicPr>
                        <p:cNvPr id="0" name=""/>
                        <p:cNvPicPr/>
                        <p:nvPr/>
                      </p:nvPicPr>
                      <p:blipFill>
                        <a:blip r:embed="rId4"/>
                        <a:stretch>
                          <a:fillRect/>
                        </a:stretch>
                      </p:blipFill>
                      <p:spPr>
                        <a:xfrm>
                          <a:off x="9078262" y="1691534"/>
                          <a:ext cx="473626" cy="825238"/>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697252551"/>
                </p:ext>
              </p:extLst>
            </p:nvPr>
          </p:nvGraphicFramePr>
          <p:xfrm>
            <a:off x="44114" y="4540249"/>
            <a:ext cx="11430000" cy="1003297"/>
          </p:xfrm>
          <a:graphic>
            <a:graphicData uri="http://schemas.openxmlformats.org/presentationml/2006/ole">
              <mc:AlternateContent xmlns:mc="http://schemas.openxmlformats.org/markup-compatibility/2006">
                <mc:Choice xmlns:v="urn:schemas-microsoft-com:vml" Requires="v">
                  <p:oleObj spid="_x0000_s22563"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4114" y="4540249"/>
                          <a:ext cx="11430000" cy="1003297"/>
                        </a:xfrm>
                        <a:prstGeom prst="rect">
                          <a:avLst/>
                        </a:prstGeom>
                      </p:spPr>
                    </p:pic>
                  </p:oleObj>
                </mc:Fallback>
              </mc:AlternateContent>
            </a:graphicData>
          </a:graphic>
        </p:graphicFrame>
      </p:grpSp>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0001"/>
            <a:ext cx="11430000" cy="457356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以上解答过程中都有哪些错误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错解的原因是忽略了直线与双曲线的渐近线平行时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直线与双曲线只有一个公共点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正解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由题意得</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y=k</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代入双曲线方程消去</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整理</a:t>
            </a:r>
            <a:r>
              <a:rPr lang="zh-CN" altLang="zh-CN" sz="2800" dirty="0">
                <a:solidFill>
                  <a:srgbClr val="000000"/>
                </a:solidFill>
                <a:latin typeface="Times New Roman" panose="02020603050405020304" pitchFamily="18" charset="0"/>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若</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此时直线与双曲线的渐近线平行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直线与双曲线只有一个公共点</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310816972"/>
              </p:ext>
            </p:extLst>
          </p:nvPr>
        </p:nvGraphicFramePr>
        <p:xfrm>
          <a:off x="41564" y="4684070"/>
          <a:ext cx="11430000" cy="1393503"/>
        </p:xfrm>
        <a:graphic>
          <a:graphicData uri="http://schemas.openxmlformats.org/presentationml/2006/ole">
            <mc:AlternateContent xmlns:mc="http://schemas.openxmlformats.org/markup-compatibility/2006">
              <mc:Choice xmlns:v="urn:schemas-microsoft-com:vml" Requires="v">
                <p:oleObj spid="_x0000_s23570" name="文档" r:id="rId3" imgW="4510061" imgH="549850" progId="Word.Document.12">
                  <p:embed/>
                </p:oleObj>
              </mc:Choice>
              <mc:Fallback>
                <p:oleObj name="文档" r:id="rId3" imgW="4510061" imgH="549850" progId="Word.Document.12">
                  <p:embed/>
                  <p:pic>
                    <p:nvPicPr>
                      <p:cNvPr id="0" name=""/>
                      <p:cNvPicPr/>
                      <p:nvPr/>
                    </p:nvPicPr>
                    <p:blipFill>
                      <a:blip r:embed="rId4"/>
                      <a:stretch>
                        <a:fillRect/>
                      </a:stretch>
                    </p:blipFill>
                    <p:spPr>
                      <a:xfrm>
                        <a:off x="41564" y="4684070"/>
                        <a:ext cx="11430000" cy="1393503"/>
                      </a:xfrm>
                      <a:prstGeom prst="rect">
                        <a:avLst/>
                      </a:prstGeom>
                    </p:spPr>
                  </p:pic>
                </p:oleObj>
              </mc:Fallback>
            </mc:AlternateContent>
          </a:graphicData>
        </a:graphic>
      </p:graphicFrame>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37188"/>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防范措施</a:t>
            </a:r>
            <a:r>
              <a:rPr lang="en-US"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直线与双曲线的位置关系的题目时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要注意讨论联立直线与双曲线的方程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并且消元后得到的方程是否为一元一次方程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即二次项系数是否为</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因为直线与双曲线有一个公共点包含直线与双曲线的渐近线平行的情况</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90044"/>
            <a:ext cx="11430000" cy="457356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已知双曲线</a:t>
            </a:r>
            <a:r>
              <a:rPr lang="en-US" altLang="zh-CN" sz="2800" i="1" dirty="0" smtClean="0">
                <a:solidFill>
                  <a:srgbClr val="000000"/>
                </a:solidFill>
                <a:latin typeface="Times New Roman" panose="02020603050405020304" pitchFamily="18" charset="0"/>
                <a:cs typeface="Times New Roman" panose="02020603050405020304" pitchFamily="18" charset="0"/>
              </a:rPr>
              <a:t>C</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smtClean="0">
                <a:solidFill>
                  <a:srgbClr val="000000"/>
                </a:solidFill>
                <a:latin typeface="Times New Roman" panose="02020603050405020304" pitchFamily="18" charset="0"/>
                <a:cs typeface="Times New Roman" panose="02020603050405020304" pitchFamily="18" charset="0"/>
              </a:rPr>
              <a:t>的</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有且只有一个公共点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则满足上述条件的</a:t>
            </a:r>
            <a:r>
              <a:rPr lang="zh-CN" altLang="zh-CN" sz="2800" dirty="0" smtClean="0">
                <a:solidFill>
                  <a:srgbClr val="000000"/>
                </a:solidFill>
                <a:latin typeface="Times New Roman" panose="02020603050405020304" pitchFamily="18" charset="0"/>
                <a:cs typeface="Times New Roman" panose="02020603050405020304" pitchFamily="18" charset="0"/>
              </a:rPr>
              <a:t>直</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共有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A.1</a:t>
            </a:r>
            <a:r>
              <a:rPr lang="zh-CN" altLang="zh-CN" sz="2800" dirty="0">
                <a:solidFill>
                  <a:srgbClr val="000000"/>
                </a:solidFill>
                <a:latin typeface="Times New Roman" panose="02020603050405020304" pitchFamily="18" charset="0"/>
                <a:cs typeface="Times New Roman" panose="02020603050405020304" pitchFamily="18" charset="0"/>
              </a:rPr>
              <a:t>条</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B.2</a:t>
            </a:r>
            <a:r>
              <a:rPr lang="zh-CN" altLang="zh-CN" sz="2800" dirty="0">
                <a:solidFill>
                  <a:srgbClr val="000000"/>
                </a:solidFill>
                <a:latin typeface="Times New Roman" panose="02020603050405020304" pitchFamily="18" charset="0"/>
                <a:cs typeface="Times New Roman" panose="02020603050405020304" pitchFamily="18" charset="0"/>
              </a:rPr>
              <a:t>条</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C.3</a:t>
            </a:r>
            <a:r>
              <a:rPr lang="zh-CN" altLang="zh-CN" sz="2800" dirty="0">
                <a:solidFill>
                  <a:srgbClr val="000000"/>
                </a:solidFill>
                <a:latin typeface="Times New Roman" panose="02020603050405020304" pitchFamily="18" charset="0"/>
                <a:cs typeface="Times New Roman" panose="02020603050405020304" pitchFamily="18" charset="0"/>
              </a:rPr>
              <a:t>条</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D.4</a:t>
            </a:r>
            <a:r>
              <a:rPr lang="zh-CN" altLang="zh-CN" sz="2800" dirty="0">
                <a:solidFill>
                  <a:srgbClr val="000000"/>
                </a:solidFill>
                <a:latin typeface="Times New Roman" panose="02020603050405020304" pitchFamily="18" charset="0"/>
                <a:cs typeface="Times New Roman" panose="02020603050405020304" pitchFamily="18" charset="0"/>
              </a:rPr>
              <a:t>条</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过点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与双曲线</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有且只有一个公共点有两种情况</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分别是垂直于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轴和与渐近线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平行</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83235272"/>
              </p:ext>
            </p:extLst>
          </p:nvPr>
        </p:nvGraphicFramePr>
        <p:xfrm>
          <a:off x="5490732" y="513849"/>
          <a:ext cx="677460" cy="750216"/>
        </p:xfrm>
        <a:graphic>
          <a:graphicData uri="http://schemas.openxmlformats.org/presentationml/2006/ole">
            <mc:AlternateContent xmlns:mc="http://schemas.openxmlformats.org/markup-compatibility/2006">
              <mc:Choice xmlns:v="urn:schemas-microsoft-com:vml" Requires="v">
                <p:oleObj spid="_x0000_s24608" name="文档" r:id="rId3" imgW="365636" imgH="396823" progId="Word.Document.12">
                  <p:embed/>
                </p:oleObj>
              </mc:Choice>
              <mc:Fallback>
                <p:oleObj name="文档" r:id="rId3" imgW="365636" imgH="396823" progId="Word.Document.12">
                  <p:embed/>
                  <p:pic>
                    <p:nvPicPr>
                      <p:cNvPr id="0" name=""/>
                      <p:cNvPicPr/>
                      <p:nvPr/>
                    </p:nvPicPr>
                    <p:blipFill>
                      <a:blip r:embed="rId4"/>
                      <a:stretch>
                        <a:fillRect/>
                      </a:stretch>
                    </p:blipFill>
                    <p:spPr>
                      <a:xfrm>
                        <a:off x="5490732" y="513849"/>
                        <a:ext cx="677460" cy="750216"/>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571145317"/>
              </p:ext>
            </p:extLst>
          </p:nvPr>
        </p:nvGraphicFramePr>
        <p:xfrm>
          <a:off x="5709142" y="3272585"/>
          <a:ext cx="677460" cy="750216"/>
        </p:xfrm>
        <a:graphic>
          <a:graphicData uri="http://schemas.openxmlformats.org/presentationml/2006/ole">
            <mc:AlternateContent xmlns:mc="http://schemas.openxmlformats.org/markup-compatibility/2006">
              <mc:Choice xmlns:v="urn:schemas-microsoft-com:vml" Requires="v">
                <p:oleObj spid="_x0000_s24609" name="文档" r:id="rId5" imgW="365636" imgH="396823" progId="Word.Document.12">
                  <p:embed/>
                </p:oleObj>
              </mc:Choice>
              <mc:Fallback>
                <p:oleObj name="文档" r:id="rId5" imgW="365636" imgH="396823" progId="Word.Document.12">
                  <p:embed/>
                  <p:pic>
                    <p:nvPicPr>
                      <p:cNvPr id="0" name=""/>
                      <p:cNvPicPr/>
                      <p:nvPr/>
                    </p:nvPicPr>
                    <p:blipFill>
                      <a:blip r:embed="rId4"/>
                      <a:stretch>
                        <a:fillRect/>
                      </a:stretch>
                    </p:blipFill>
                    <p:spPr>
                      <a:xfrm>
                        <a:off x="5709142" y="3272585"/>
                        <a:ext cx="677460" cy="750216"/>
                      </a:xfrm>
                      <a:prstGeom prst="rect">
                        <a:avLst/>
                      </a:prstGeom>
                    </p:spPr>
                  </p:pic>
                </p:oleObj>
              </mc:Fallback>
            </mc:AlternateContent>
          </a:graphicData>
        </a:graphic>
      </p:graphicFrame>
      <p:pic>
        <p:nvPicPr>
          <p:cNvPr id="5" name="NMX1TRAX01.eps" descr="id:2147497367;FounderCES"/>
          <p:cNvPicPr/>
          <p:nvPr/>
        </p:nvPicPr>
        <p:blipFill>
          <a:blip r:embed="rId6">
            <a:clrChange>
              <a:clrFrom>
                <a:srgbClr val="FFFFFF"/>
              </a:clrFrom>
              <a:clrTo>
                <a:srgbClr val="FFFFFF">
                  <a:alpha val="0"/>
                </a:srgbClr>
              </a:clrTo>
            </a:clrChange>
          </a:blip>
          <a:stretch>
            <a:fillRect/>
          </a:stretch>
        </p:blipFill>
        <p:spPr>
          <a:xfrm>
            <a:off x="8654761" y="638172"/>
            <a:ext cx="2951702" cy="2718635"/>
          </a:xfrm>
          <a:prstGeom prst="rect">
            <a:avLst/>
          </a:prstGeom>
        </p:spPr>
      </p:pic>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wipe(down)">
                                      <p:cBhvr>
                                        <p:cTn id="7" dur="500"/>
                                        <p:tgtEl>
                                          <p:spTgt spid="2">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wipe(down)">
                                      <p:cBhvr>
                                        <p:cTn id="1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81000" y="558708"/>
            <a:ext cx="11538284" cy="1893269"/>
            <a:chOff x="381000" y="704182"/>
            <a:chExt cx="11538284" cy="1893269"/>
          </a:xfrm>
        </p:grpSpPr>
        <p:sp>
          <p:nvSpPr>
            <p:cNvPr id="2" name="矩形 1"/>
            <p:cNvSpPr>
              <a:spLocks noChangeAspect="1"/>
            </p:cNvSpPr>
            <p:nvPr/>
          </p:nvSpPr>
          <p:spPr>
            <a:xfrm>
              <a:off x="381000" y="704182"/>
              <a:ext cx="11430000" cy="65248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y=mx+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与双曲线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总有公共点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m</a:t>
              </a:r>
              <a:r>
                <a:rPr lang="zh-CN" altLang="zh-CN" sz="2800" dirty="0">
                  <a:solidFill>
                    <a:srgbClr val="000000"/>
                  </a:solidFill>
                  <a:latin typeface="Times New Roman" panose="02020603050405020304" pitchFamily="18" charset="0"/>
                  <a:cs typeface="Times New Roman" panose="02020603050405020304" pitchFamily="18" charset="0"/>
                </a:rPr>
                <a:t>的取值范围是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68397096"/>
                </p:ext>
              </p:extLst>
            </p:nvPr>
          </p:nvGraphicFramePr>
          <p:xfrm>
            <a:off x="489284" y="1393679"/>
            <a:ext cx="11430000" cy="1203772"/>
          </p:xfrm>
          <a:graphic>
            <a:graphicData uri="http://schemas.openxmlformats.org/presentationml/2006/ole">
              <mc:AlternateContent xmlns:mc="http://schemas.openxmlformats.org/markup-compatibility/2006">
                <mc:Choice xmlns:v="urn:schemas-microsoft-com:vml" Requires="v">
                  <p:oleObj spid="_x0000_s25632" name="文档" r:id="rId3" imgW="4520786" imgH="476115" progId="Word.Document.12">
                    <p:embed/>
                  </p:oleObj>
                </mc:Choice>
                <mc:Fallback>
                  <p:oleObj name="文档" r:id="rId3" imgW="4520786" imgH="476115" progId="Word.Document.12">
                    <p:embed/>
                    <p:pic>
                      <p:nvPicPr>
                        <p:cNvPr id="0" name=""/>
                        <p:cNvPicPr/>
                        <p:nvPr/>
                      </p:nvPicPr>
                      <p:blipFill>
                        <a:blip r:embed="rId4"/>
                        <a:stretch>
                          <a:fillRect/>
                        </a:stretch>
                      </p:blipFill>
                      <p:spPr>
                        <a:xfrm>
                          <a:off x="489284" y="1393679"/>
                          <a:ext cx="11430000" cy="1203772"/>
                        </a:xfrm>
                        <a:prstGeom prst="rect">
                          <a:avLst/>
                        </a:prstGeom>
                      </p:spPr>
                    </p:pic>
                  </p:oleObj>
                </mc:Fallback>
              </mc:AlternateContent>
            </a:graphicData>
          </a:graphic>
        </p:graphicFrame>
      </p:grpSp>
      <p:graphicFrame>
        <p:nvGraphicFramePr>
          <p:cNvPr id="4" name="对象 3"/>
          <p:cNvGraphicFramePr>
            <a:graphicFrameLocks noChangeAspect="1"/>
          </p:cNvGraphicFramePr>
          <p:nvPr>
            <p:extLst>
              <p:ext uri="{D42A27DB-BD31-4B8C-83A1-F6EECF244321}">
                <p14:modId xmlns:p14="http://schemas.microsoft.com/office/powerpoint/2010/main" val="647674388"/>
              </p:ext>
            </p:extLst>
          </p:nvPr>
        </p:nvGraphicFramePr>
        <p:xfrm>
          <a:off x="489284" y="2452892"/>
          <a:ext cx="11430000" cy="2206158"/>
        </p:xfrm>
        <a:graphic>
          <a:graphicData uri="http://schemas.openxmlformats.org/presentationml/2006/ole">
            <mc:AlternateContent xmlns:mc="http://schemas.openxmlformats.org/markup-compatibility/2006">
              <mc:Choice xmlns:v="urn:schemas-microsoft-com:vml" Requires="v">
                <p:oleObj spid="_x0000_s25633" name="文档" r:id="rId5" imgW="4520786" imgH="872578" progId="Word.Document.12">
                  <p:embed/>
                </p:oleObj>
              </mc:Choice>
              <mc:Fallback>
                <p:oleObj name="文档" r:id="rId5" imgW="4520786" imgH="872578" progId="Word.Document.12">
                  <p:embed/>
                  <p:pic>
                    <p:nvPicPr>
                      <p:cNvPr id="0" name=""/>
                      <p:cNvPicPr/>
                      <p:nvPr/>
                    </p:nvPicPr>
                    <p:blipFill>
                      <a:blip r:embed="rId6"/>
                      <a:stretch>
                        <a:fillRect/>
                      </a:stretch>
                    </p:blipFill>
                    <p:spPr>
                      <a:xfrm>
                        <a:off x="489284" y="2452892"/>
                        <a:ext cx="11430000" cy="2206158"/>
                      </a:xfrm>
                      <a:prstGeom prst="rect">
                        <a:avLst/>
                      </a:prstGeom>
                    </p:spPr>
                  </p:pic>
                </p:oleObj>
              </mc:Fallback>
            </mc:AlternateContent>
          </a:graphicData>
        </a:graphic>
      </p:graphicFrame>
      <p:sp>
        <p:nvSpPr>
          <p:cNvPr id="5" name="矩形 4"/>
          <p:cNvSpPr>
            <a:spLocks noChangeAspect="1"/>
          </p:cNvSpPr>
          <p:nvPr/>
        </p:nvSpPr>
        <p:spPr>
          <a:xfrm>
            <a:off x="381000" y="4683114"/>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648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若直线</a:t>
            </a:r>
            <a:r>
              <a:rPr lang="en-US" altLang="zh-CN" sz="2800" i="1" dirty="0">
                <a:solidFill>
                  <a:srgbClr val="000000"/>
                </a:solidFill>
                <a:latin typeface="Times New Roman" panose="02020603050405020304" pitchFamily="18" charset="0"/>
                <a:cs typeface="Times New Roman" panose="02020603050405020304" pitchFamily="18" charset="0"/>
              </a:rPr>
              <a:t>y=kx+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与双曲线</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的右支交于不同的两点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k</a:t>
            </a:r>
            <a:r>
              <a:rPr lang="zh-CN" altLang="zh-CN" sz="2800" dirty="0">
                <a:solidFill>
                  <a:srgbClr val="000000"/>
                </a:solidFill>
                <a:latin typeface="Times New Roman" panose="02020603050405020304" pitchFamily="18" charset="0"/>
                <a:cs typeface="Times New Roman" panose="02020603050405020304" pitchFamily="18" charset="0"/>
              </a:rPr>
              <a:t>的取值范围是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32356681"/>
              </p:ext>
            </p:extLst>
          </p:nvPr>
        </p:nvGraphicFramePr>
        <p:xfrm>
          <a:off x="489283" y="1256977"/>
          <a:ext cx="11430000" cy="2005680"/>
        </p:xfrm>
        <a:graphic>
          <a:graphicData uri="http://schemas.openxmlformats.org/presentationml/2006/ole">
            <mc:AlternateContent xmlns:mc="http://schemas.openxmlformats.org/markup-compatibility/2006">
              <mc:Choice xmlns:v="urn:schemas-microsoft-com:vml" Requires="v">
                <p:oleObj spid="_x0000_s26656"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89283" y="1256977"/>
                        <a:ext cx="11430000" cy="2005680"/>
                      </a:xfrm>
                      <a:prstGeom prst="rect">
                        <a:avLst/>
                      </a:prstGeom>
                    </p:spPr>
                  </p:pic>
                </p:oleObj>
              </mc:Fallback>
            </mc:AlternateContent>
          </a:graphicData>
        </a:graphic>
      </p:graphicFrame>
      <p:grpSp>
        <p:nvGrpSpPr>
          <p:cNvPr id="6" name="组合 5"/>
          <p:cNvGrpSpPr/>
          <p:nvPr/>
        </p:nvGrpSpPr>
        <p:grpSpPr>
          <a:xfrm>
            <a:off x="381000" y="3238593"/>
            <a:ext cx="11538283" cy="2690857"/>
            <a:chOff x="381000" y="3238593"/>
            <a:chExt cx="11538283" cy="2690857"/>
          </a:xfrm>
        </p:grpSpPr>
        <p:sp>
          <p:nvSpPr>
            <p:cNvPr id="4" name="矩形 3"/>
            <p:cNvSpPr>
              <a:spLocks noChangeAspect="1"/>
            </p:cNvSpPr>
            <p:nvPr/>
          </p:nvSpPr>
          <p:spPr>
            <a:xfrm>
              <a:off x="381000" y="3238593"/>
              <a:ext cx="7563289"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a:t>
              </a:r>
              <a:r>
                <a:rPr lang="en-US" altLang="zh-CN" sz="2800" i="1" dirty="0">
                  <a:solidFill>
                    <a:srgbClr val="000000"/>
                  </a:solidFill>
                  <a:latin typeface="Times New Roman" panose="02020603050405020304" pitchFamily="18" charset="0"/>
                  <a:cs typeface="Times New Roman" panose="02020603050405020304" pitchFamily="18" charset="0"/>
                </a:rPr>
                <a:t>y=kx+</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代入</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-k</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kx-</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en-US"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024821773"/>
                </p:ext>
              </p:extLst>
            </p:nvPr>
          </p:nvGraphicFramePr>
          <p:xfrm>
            <a:off x="489283" y="3923770"/>
            <a:ext cx="11430000" cy="2005680"/>
          </p:xfrm>
          <a:graphic>
            <a:graphicData uri="http://schemas.openxmlformats.org/presentationml/2006/ole">
              <mc:AlternateContent xmlns:mc="http://schemas.openxmlformats.org/markup-compatibility/2006">
                <mc:Choice xmlns:v="urn:schemas-microsoft-com:vml" Requires="v">
                  <p:oleObj spid="_x0000_s26657" name="文档" r:id="rId5" imgW="4520786" imgH="793285" progId="Word.Document.12">
                    <p:embed/>
                  </p:oleObj>
                </mc:Choice>
                <mc:Fallback>
                  <p:oleObj name="文档" r:id="rId5" imgW="4520786" imgH="793285" progId="Word.Document.12">
                    <p:embed/>
                    <p:pic>
                      <p:nvPicPr>
                        <p:cNvPr id="0" name=""/>
                        <p:cNvPicPr/>
                        <p:nvPr/>
                      </p:nvPicPr>
                      <p:blipFill>
                        <a:blip r:embed="rId6"/>
                        <a:stretch>
                          <a:fillRect/>
                        </a:stretch>
                      </p:blipFill>
                      <p:spPr>
                        <a:xfrm>
                          <a:off x="489283" y="3923770"/>
                          <a:ext cx="11430000" cy="2005680"/>
                        </a:xfrm>
                        <a:prstGeom prst="rect">
                          <a:avLst/>
                        </a:prstGeom>
                      </p:spPr>
                    </p:pic>
                  </p:oleObj>
                </mc:Fallback>
              </mc:AlternateContent>
            </a:graphicData>
          </a:graphic>
        </p:graphicFrame>
      </p:grpSp>
      <p:sp>
        <p:nvSpPr>
          <p:cNvPr id="7" name="矩形 6"/>
          <p:cNvSpPr>
            <a:spLocks noChangeAspect="1"/>
          </p:cNvSpPr>
          <p:nvPr/>
        </p:nvSpPr>
        <p:spPr>
          <a:xfrm>
            <a:off x="381000" y="5894251"/>
            <a:ext cx="135165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73393457"/>
              </p:ext>
            </p:extLst>
          </p:nvPr>
        </p:nvGraphicFramePr>
        <p:xfrm>
          <a:off x="492212" y="80546"/>
          <a:ext cx="11430000" cy="1504488"/>
        </p:xfrm>
        <a:graphic>
          <a:graphicData uri="http://schemas.openxmlformats.org/presentationml/2006/ole">
            <mc:AlternateContent xmlns:mc="http://schemas.openxmlformats.org/markup-compatibility/2006">
              <mc:Choice xmlns:v="urn:schemas-microsoft-com:vml" Requires="v">
                <p:oleObj spid="_x0000_s27680"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492212" y="80546"/>
                        <a:ext cx="11430000" cy="1504488"/>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964281553"/>
              </p:ext>
            </p:extLst>
          </p:nvPr>
        </p:nvGraphicFramePr>
        <p:xfrm>
          <a:off x="492212" y="1714236"/>
          <a:ext cx="11430000" cy="4012272"/>
        </p:xfrm>
        <a:graphic>
          <a:graphicData uri="http://schemas.openxmlformats.org/presentationml/2006/ole">
            <mc:AlternateContent xmlns:mc="http://schemas.openxmlformats.org/markup-compatibility/2006">
              <mc:Choice xmlns:v="urn:schemas-microsoft-com:vml" Requires="v">
                <p:oleObj spid="_x0000_s27681" name="文档" r:id="rId5" imgW="4520786" imgH="1586931" progId="Word.Document.12">
                  <p:embed/>
                </p:oleObj>
              </mc:Choice>
              <mc:Fallback>
                <p:oleObj name="文档" r:id="rId5" imgW="4520786" imgH="1586931" progId="Word.Document.12">
                  <p:embed/>
                  <p:pic>
                    <p:nvPicPr>
                      <p:cNvPr id="0" name=""/>
                      <p:cNvPicPr/>
                      <p:nvPr/>
                    </p:nvPicPr>
                    <p:blipFill>
                      <a:blip r:embed="rId6"/>
                      <a:stretch>
                        <a:fillRect/>
                      </a:stretch>
                    </p:blipFill>
                    <p:spPr>
                      <a:xfrm>
                        <a:off x="492212" y="1714236"/>
                        <a:ext cx="11430000" cy="4012272"/>
                      </a:xfrm>
                      <a:prstGeom prst="rect">
                        <a:avLst/>
                      </a:prstGeom>
                    </p:spPr>
                  </p:pic>
                </p:oleObj>
              </mc:Fallback>
            </mc:AlternateContent>
          </a:graphicData>
        </a:graphic>
      </p:graphicFrame>
      <p:sp>
        <p:nvSpPr>
          <p:cNvPr id="4" name="矩形 3"/>
          <p:cNvSpPr>
            <a:spLocks noChangeAspect="1"/>
          </p:cNvSpPr>
          <p:nvPr/>
        </p:nvSpPr>
        <p:spPr>
          <a:xfrm>
            <a:off x="381000" y="5681582"/>
            <a:ext cx="1271502"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3</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81000" y="598041"/>
            <a:ext cx="11430000" cy="2015023"/>
            <a:chOff x="381000" y="1003290"/>
            <a:chExt cx="11430000" cy="2015023"/>
          </a:xfrm>
        </p:grpSpPr>
        <p:sp>
          <p:nvSpPr>
            <p:cNvPr id="2" name="矩形 1"/>
            <p:cNvSpPr>
              <a:spLocks noChangeAspect="1"/>
            </p:cNvSpPr>
            <p:nvPr/>
          </p:nvSpPr>
          <p:spPr>
            <a:xfrm>
              <a:off x="381000" y="1245520"/>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a:t>
              </a:r>
              <a:r>
                <a:rPr lang="zh-CN" altLang="zh-CN" sz="2800" dirty="0" smtClean="0">
                  <a:solidFill>
                    <a:srgbClr val="000000"/>
                  </a:solidFill>
                  <a:latin typeface="Times New Roman" panose="02020603050405020304" pitchFamily="18" charset="0"/>
                  <a:cs typeface="Times New Roman" panose="02020603050405020304" pitchFamily="18" charset="0"/>
                </a:rPr>
                <a:t>双曲线</a:t>
              </a:r>
              <a:r>
                <a:rPr lang="zh-CN" altLang="en-US" sz="2800"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a&gt;</a:t>
              </a:r>
              <a:r>
                <a:rPr lang="en-US" altLang="zh-CN" sz="2800" dirty="0" smtClean="0">
                  <a:solidFill>
                    <a:srgbClr val="000000"/>
                  </a:solidFill>
                  <a:latin typeface="Times New Roman" panose="02020603050405020304" pitchFamily="18" charset="0"/>
                  <a:cs typeface="Times New Roman" panose="02020603050405020304" pitchFamily="18" charset="0"/>
                </a:rPr>
                <a:t>0,</a:t>
              </a:r>
              <a:r>
                <a:rPr lang="en-US" altLang="zh-CN" sz="2800" i="1" dirty="0" smtClean="0">
                  <a:solidFill>
                    <a:srgbClr val="000000"/>
                  </a:solidFill>
                  <a:latin typeface="Times New Roman" panose="02020603050405020304" pitchFamily="18" charset="0"/>
                  <a:cs typeface="Times New Roman" panose="02020603050405020304" pitchFamily="18" charset="0"/>
                </a:rPr>
                <a:t>b&gt;</a:t>
              </a:r>
              <a:r>
                <a:rPr lang="en-US" altLang="zh-CN" sz="2800" dirty="0" smtClean="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的右焦点为</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若过点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且倾斜角为</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的直线与双曲线的右支有且只有一个交点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则此双曲线离心率的取值范围是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169534348"/>
                </p:ext>
              </p:extLst>
            </p:nvPr>
          </p:nvGraphicFramePr>
          <p:xfrm>
            <a:off x="2595811" y="1003290"/>
            <a:ext cx="1773237" cy="998537"/>
          </p:xfrm>
          <a:graphic>
            <a:graphicData uri="http://schemas.openxmlformats.org/presentationml/2006/ole">
              <mc:AlternateContent xmlns:mc="http://schemas.openxmlformats.org/markup-compatibility/2006">
                <mc:Choice xmlns:v="urn:schemas-microsoft-com:vml" Requires="v">
                  <p:oleObj spid="_x0000_s28704" name="文档" r:id="rId3" imgW="710416" imgH="397386" progId="Word.Document.12">
                    <p:embed/>
                  </p:oleObj>
                </mc:Choice>
                <mc:Fallback>
                  <p:oleObj name="文档" r:id="rId3" imgW="710416" imgH="397386" progId="Word.Document.12">
                    <p:embed/>
                    <p:pic>
                      <p:nvPicPr>
                        <p:cNvPr id="0" name=""/>
                        <p:cNvPicPr/>
                        <p:nvPr/>
                      </p:nvPicPr>
                      <p:blipFill>
                        <a:blip r:embed="rId4"/>
                        <a:stretch>
                          <a:fillRect/>
                        </a:stretch>
                      </p:blipFill>
                      <p:spPr>
                        <a:xfrm>
                          <a:off x="2595811" y="1003290"/>
                          <a:ext cx="1773237" cy="998537"/>
                        </a:xfrm>
                        <a:prstGeom prst="rect">
                          <a:avLst/>
                        </a:prstGeom>
                      </p:spPr>
                    </p:pic>
                  </p:oleObj>
                </mc:Fallback>
              </mc:AlternateContent>
            </a:graphicData>
          </a:graphic>
        </p:graphicFrame>
      </p:grpSp>
      <p:graphicFrame>
        <p:nvGraphicFramePr>
          <p:cNvPr id="4" name="对象 3"/>
          <p:cNvGraphicFramePr>
            <a:graphicFrameLocks noChangeAspect="1"/>
          </p:cNvGraphicFramePr>
          <p:nvPr>
            <p:extLst>
              <p:ext uri="{D42A27DB-BD31-4B8C-83A1-F6EECF244321}">
                <p14:modId xmlns:p14="http://schemas.microsoft.com/office/powerpoint/2010/main" val="414595891"/>
              </p:ext>
            </p:extLst>
          </p:nvPr>
        </p:nvGraphicFramePr>
        <p:xfrm>
          <a:off x="492209" y="2576968"/>
          <a:ext cx="11430000" cy="1604726"/>
        </p:xfrm>
        <a:graphic>
          <a:graphicData uri="http://schemas.openxmlformats.org/presentationml/2006/ole">
            <mc:AlternateContent xmlns:mc="http://schemas.openxmlformats.org/markup-compatibility/2006">
              <mc:Choice xmlns:v="urn:schemas-microsoft-com:vml" Requires="v">
                <p:oleObj spid="_x0000_s28705" name="文档" r:id="rId5" imgW="4520786" imgH="634700" progId="Word.Document.12">
                  <p:embed/>
                </p:oleObj>
              </mc:Choice>
              <mc:Fallback>
                <p:oleObj name="文档" r:id="rId5" imgW="4520786" imgH="634700" progId="Word.Document.12">
                  <p:embed/>
                  <p:pic>
                    <p:nvPicPr>
                      <p:cNvPr id="0" name=""/>
                      <p:cNvPicPr/>
                      <p:nvPr/>
                    </p:nvPicPr>
                    <p:blipFill>
                      <a:blip r:embed="rId6"/>
                      <a:stretch>
                        <a:fillRect/>
                      </a:stretch>
                    </p:blipFill>
                    <p:spPr>
                      <a:xfrm>
                        <a:off x="492209" y="2576968"/>
                        <a:ext cx="11430000" cy="1604726"/>
                      </a:xfrm>
                      <a:prstGeom prst="rect">
                        <a:avLst/>
                      </a:prstGeom>
                    </p:spPr>
                  </p:pic>
                </p:oleObj>
              </mc:Fallback>
            </mc:AlternateContent>
          </a:graphicData>
        </a:graphic>
      </p:graphicFrame>
      <p:sp>
        <p:nvSpPr>
          <p:cNvPr id="5" name="矩形 4"/>
          <p:cNvSpPr>
            <a:spLocks noChangeAspect="1"/>
          </p:cNvSpPr>
          <p:nvPr/>
        </p:nvSpPr>
        <p:spPr>
          <a:xfrm>
            <a:off x="381000" y="4169662"/>
            <a:ext cx="2100255"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panose="03000509000000000000"/>
              <a:cs typeface="Times New Roman" panose="02020603050405020304" pitchFamily="18" charset="0"/>
            </a:endParaRPr>
          </a:p>
        </p:txBody>
      </p:sp>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38368555"/>
              </p:ext>
            </p:extLst>
          </p:nvPr>
        </p:nvGraphicFramePr>
        <p:xfrm>
          <a:off x="489283" y="34425"/>
          <a:ext cx="11430000" cy="1003297"/>
        </p:xfrm>
        <a:graphic>
          <a:graphicData uri="http://schemas.openxmlformats.org/presentationml/2006/ole">
            <mc:AlternateContent xmlns:mc="http://schemas.openxmlformats.org/markup-compatibility/2006">
              <mc:Choice xmlns:v="urn:schemas-microsoft-com:vml" Requires="v">
                <p:oleObj spid="_x0000_s29728"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89283" y="34425"/>
                        <a:ext cx="11430000" cy="1003297"/>
                      </a:xfrm>
                      <a:prstGeom prst="rect">
                        <a:avLst/>
                      </a:prstGeom>
                    </p:spPr>
                  </p:pic>
                </p:oleObj>
              </mc:Fallback>
            </mc:AlternateContent>
          </a:graphicData>
        </a:graphic>
      </p:graphicFrame>
      <p:grpSp>
        <p:nvGrpSpPr>
          <p:cNvPr id="5" name="组合 4"/>
          <p:cNvGrpSpPr/>
          <p:nvPr/>
        </p:nvGrpSpPr>
        <p:grpSpPr>
          <a:xfrm>
            <a:off x="381000" y="941466"/>
            <a:ext cx="11506200" cy="5568872"/>
            <a:chOff x="381000" y="941466"/>
            <a:chExt cx="11506200" cy="5568872"/>
          </a:xfrm>
        </p:grpSpPr>
        <p:sp>
          <p:nvSpPr>
            <p:cNvPr id="3" name="矩形 2"/>
            <p:cNvSpPr>
              <a:spLocks noChangeAspect="1"/>
            </p:cNvSpPr>
            <p:nvPr/>
          </p:nvSpPr>
          <p:spPr>
            <a:xfrm>
              <a:off x="381000" y="941466"/>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y=kx-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过</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若使直线与双曲线只有一个公共点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必须直线与双曲线的渐近线平行或直线与双曲线相切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162843915"/>
                </p:ext>
              </p:extLst>
            </p:nvPr>
          </p:nvGraphicFramePr>
          <p:xfrm>
            <a:off x="484188" y="2016125"/>
            <a:ext cx="11403012" cy="4494213"/>
          </p:xfrm>
          <a:graphic>
            <a:graphicData uri="http://schemas.openxmlformats.org/presentationml/2006/ole">
              <mc:AlternateContent xmlns:mc="http://schemas.openxmlformats.org/markup-compatibility/2006">
                <mc:Choice xmlns:v="urn:schemas-microsoft-com:vml" Requires="v">
                  <p:oleObj spid="_x0000_s29729" name="文档" r:id="rId5" imgW="4510061" imgH="1787881" progId="Word.Document.12">
                    <p:embed/>
                  </p:oleObj>
                </mc:Choice>
                <mc:Fallback>
                  <p:oleObj name="文档" r:id="rId5" imgW="4510061" imgH="1787881" progId="Word.Document.12">
                    <p:embed/>
                    <p:pic>
                      <p:nvPicPr>
                        <p:cNvPr id="0" name=""/>
                        <p:cNvPicPr/>
                        <p:nvPr/>
                      </p:nvPicPr>
                      <p:blipFill>
                        <a:blip r:embed="rId6"/>
                        <a:stretch>
                          <a:fillRect/>
                        </a:stretch>
                      </p:blipFill>
                      <p:spPr>
                        <a:xfrm>
                          <a:off x="484188" y="2016125"/>
                          <a:ext cx="11403012" cy="4494213"/>
                        </a:xfrm>
                        <a:prstGeom prst="rect">
                          <a:avLst/>
                        </a:prstGeom>
                      </p:spPr>
                    </p:pic>
                  </p:oleObj>
                </mc:Fallback>
              </mc:AlternateContent>
            </a:graphicData>
          </a:graphic>
        </p:graphicFrame>
      </p:grpSp>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360</TotalTime>
  <Words>2384</Words>
  <Application>Microsoft Office PowerPoint</Application>
  <PresentationFormat>宽屏</PresentationFormat>
  <Paragraphs>150</Paragraphs>
  <Slides>50</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70"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40</cp:revision>
  <dcterms:created xsi:type="dcterms:W3CDTF">2021-08-30T08:30:26Z</dcterms:created>
  <dcterms:modified xsi:type="dcterms:W3CDTF">2025-08-09T09:35:25Z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