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677" r:id="rId2"/>
    <p:sldId id="488" r:id="rId3"/>
    <p:sldId id="494" r:id="rId4"/>
    <p:sldId id="392" r:id="rId5"/>
    <p:sldId id="686" r:id="rId6"/>
    <p:sldId id="687" r:id="rId7"/>
    <p:sldId id="688" r:id="rId8"/>
    <p:sldId id="689" r:id="rId9"/>
    <p:sldId id="691" r:id="rId10"/>
    <p:sldId id="692" r:id="rId11"/>
    <p:sldId id="693" r:id="rId12"/>
    <p:sldId id="694" r:id="rId13"/>
    <p:sldId id="695" r:id="rId14"/>
    <p:sldId id="407" r:id="rId15"/>
    <p:sldId id="394" r:id="rId16"/>
    <p:sldId id="699" r:id="rId17"/>
    <p:sldId id="700" r:id="rId18"/>
    <p:sldId id="701" r:id="rId19"/>
    <p:sldId id="702" r:id="rId20"/>
    <p:sldId id="706" r:id="rId21"/>
    <p:sldId id="402" r:id="rId22"/>
    <p:sldId id="712" r:id="rId23"/>
    <p:sldId id="713" r:id="rId24"/>
    <p:sldId id="714" r:id="rId25"/>
    <p:sldId id="715" r:id="rId26"/>
    <p:sldId id="719" r:id="rId27"/>
    <p:sldId id="498" r:id="rId28"/>
    <p:sldId id="730" r:id="rId29"/>
    <p:sldId id="761" r:id="rId30"/>
    <p:sldId id="733" r:id="rId31"/>
    <p:sldId id="743" r:id="rId32"/>
    <p:sldId id="740" r:id="rId33"/>
    <p:sldId id="739" r:id="rId34"/>
    <p:sldId id="745" r:id="rId35"/>
    <p:sldId id="746" r:id="rId36"/>
    <p:sldId id="398" r:id="rId37"/>
    <p:sldId id="395" r:id="rId38"/>
    <p:sldId id="756" r:id="rId39"/>
    <p:sldId id="757" r:id="rId40"/>
    <p:sldId id="758" r:id="rId41"/>
    <p:sldId id="759" r:id="rId42"/>
    <p:sldId id="760" r:id="rId43"/>
    <p:sldId id="490"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4" orient="horz" pos="618"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68"/>
        <p:guide pos="211"/>
        <p:guide orient="horz" pos="618"/>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image" Target="../media/image18.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image" Target="../media/image2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image" Target="../media/image38.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image" Target="../media/image4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slide" Target="../slides/slide15.xml"/><Relationship Id="rId1" Type="http://schemas.openxmlformats.org/officeDocument/2006/relationships/slideMaster" Target="../slideMasters/slideMaster1.xml"/><Relationship Id="rId5" Type="http://schemas.openxmlformats.org/officeDocument/2006/relationships/slide" Target="../slides/slide32.xml"/><Relationship Id="rId4" Type="http://schemas.openxmlformats.org/officeDocument/2006/relationships/slide" Target="../slides/slide2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8656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5291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001925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1108559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3.jpeg"/><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Word___2.docx"/><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__3.docx"/><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5.docx"/><Relationship Id="rId2" Type="http://schemas.openxmlformats.org/officeDocument/2006/relationships/slideLayout" Target="../slideLayouts/slideLayout3.xml"/><Relationship Id="rId1" Type="http://schemas.openxmlformats.org/officeDocument/2006/relationships/vmlDrawing" Target="../drawings/vmlDrawing5.vml"/><Relationship Id="rId4" Type="http://schemas.openxmlformats.org/officeDocument/2006/relationships/image" Target="../media/image9.emf"/></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Word___6.docx"/><Relationship Id="rId2" Type="http://schemas.openxmlformats.org/officeDocument/2006/relationships/slideLayout" Target="../slideLayouts/slideLayout3.xml"/><Relationship Id="rId1" Type="http://schemas.openxmlformats.org/officeDocument/2006/relationships/vmlDrawing" Target="../drawings/vmlDrawing6.vml"/><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7.docx"/><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1.emf"/></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Word___8.docx"/><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3.emf"/><Relationship Id="rId5" Type="http://schemas.openxmlformats.org/officeDocument/2006/relationships/package" Target="../embeddings/Microsoft_Word___9.docx"/><Relationship Id="rId4" Type="http://schemas.openxmlformats.org/officeDocument/2006/relationships/image" Target="../media/image12.emf"/></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Word___10.docx"/><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package" Target="../embeddings/Microsoft_Word___11.docx"/><Relationship Id="rId4" Type="http://schemas.openxmlformats.org/officeDocument/2006/relationships/image" Target="../media/image14.emf"/></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__12.docx"/><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4.emf"/></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13.docx"/><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17.png"/><Relationship Id="rId4" Type="http://schemas.openxmlformats.org/officeDocument/2006/relationships/image" Target="../media/image16.emf"/></Relationships>
</file>

<file path=ppt/slides/_rels/slide21.xml.rels><?xml version="1.0" encoding="UTF-8" standalone="yes"?>
<Relationships xmlns="http://schemas.openxmlformats.org/package/2006/relationships"><Relationship Id="rId8" Type="http://schemas.openxmlformats.org/officeDocument/2006/relationships/package" Target="../embeddings/Microsoft_Word___17.docx"/><Relationship Id="rId3" Type="http://schemas.openxmlformats.org/officeDocument/2006/relationships/package" Target="../embeddings/Microsoft_Word___14.docx"/><Relationship Id="rId7" Type="http://schemas.openxmlformats.org/officeDocument/2006/relationships/package" Target="../embeddings/Microsoft_Word___16.docx"/><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19.emf"/><Relationship Id="rId5" Type="http://schemas.openxmlformats.org/officeDocument/2006/relationships/package" Target="../embeddings/Microsoft_Word___15.docx"/><Relationship Id="rId4" Type="http://schemas.openxmlformats.org/officeDocument/2006/relationships/image" Target="../media/image18.emf"/><Relationship Id="rId9" Type="http://schemas.openxmlformats.org/officeDocument/2006/relationships/image" Target="../media/image20.emf"/></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3.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package" Target="../embeddings/Microsoft_Word___19.docx"/><Relationship Id="rId5" Type="http://schemas.openxmlformats.org/officeDocument/2006/relationships/image" Target="../media/image22.emf"/><Relationship Id="rId4" Type="http://schemas.openxmlformats.org/officeDocument/2006/relationships/package" Target="../embeddings/Microsoft_Word___18.docx"/></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package" Target="../embeddings/Microsoft_Word___20.docx"/><Relationship Id="rId7"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26.emf"/><Relationship Id="rId5" Type="http://schemas.openxmlformats.org/officeDocument/2006/relationships/package" Target="../embeddings/Microsoft_Word___21.docx"/><Relationship Id="rId4" Type="http://schemas.openxmlformats.org/officeDocument/2006/relationships/image" Target="../media/image25.emf"/><Relationship Id="rId9" Type="http://schemas.openxmlformats.org/officeDocument/2006/relationships/image" Target="../media/image28.jpeg"/></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9.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Word___24.docx"/><Relationship Id="rId7" Type="http://schemas.openxmlformats.org/officeDocument/2006/relationships/image" Target="../media/image32.jpeg"/><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31.emf"/><Relationship Id="rId5" Type="http://schemas.openxmlformats.org/officeDocument/2006/relationships/package" Target="../embeddings/Microsoft_Word___25.docx"/><Relationship Id="rId4" Type="http://schemas.openxmlformats.org/officeDocument/2006/relationships/image" Target="../media/image30.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33.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Word___27.docx"/><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35.emf"/><Relationship Id="rId5" Type="http://schemas.openxmlformats.org/officeDocument/2006/relationships/package" Target="../embeddings/Microsoft_Word___28.docx"/><Relationship Id="rId4" Type="http://schemas.openxmlformats.org/officeDocument/2006/relationships/image" Target="../media/image34.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Word___29.docx"/><Relationship Id="rId2" Type="http://schemas.openxmlformats.org/officeDocument/2006/relationships/slideLayout" Target="../slideLayouts/slideLayout1.xml"/><Relationship Id="rId1" Type="http://schemas.openxmlformats.org/officeDocument/2006/relationships/vmlDrawing" Target="../drawings/vmlDrawing19.vml"/><Relationship Id="rId6" Type="http://schemas.openxmlformats.org/officeDocument/2006/relationships/image" Target="../media/image37.emf"/><Relationship Id="rId5" Type="http://schemas.openxmlformats.org/officeDocument/2006/relationships/package" Target="../embeddings/Microsoft_Word___30.docx"/><Relationship Id="rId4" Type="http://schemas.openxmlformats.org/officeDocument/2006/relationships/image" Target="../media/image36.emf"/></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31.docx"/><Relationship Id="rId7" Type="http://schemas.openxmlformats.org/officeDocument/2006/relationships/image" Target="../media/image40.jpeg"/><Relationship Id="rId2" Type="http://schemas.openxmlformats.org/officeDocument/2006/relationships/slideLayout" Target="../slideLayouts/slideLayout1.xml"/><Relationship Id="rId1" Type="http://schemas.openxmlformats.org/officeDocument/2006/relationships/vmlDrawing" Target="../drawings/vmlDrawing20.vml"/><Relationship Id="rId6" Type="http://schemas.openxmlformats.org/officeDocument/2006/relationships/image" Target="../media/image39.emf"/><Relationship Id="rId5" Type="http://schemas.openxmlformats.org/officeDocument/2006/relationships/package" Target="../embeddings/Microsoft_Word___32.docx"/><Relationship Id="rId4" Type="http://schemas.openxmlformats.org/officeDocument/2006/relationships/image" Target="../media/image38.emf"/></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Word___33.docx"/><Relationship Id="rId7" Type="http://schemas.openxmlformats.org/officeDocument/2006/relationships/image" Target="../media/image43.jpeg"/><Relationship Id="rId2" Type="http://schemas.openxmlformats.org/officeDocument/2006/relationships/slideLayout" Target="../slideLayouts/slideLayout1.xml"/><Relationship Id="rId1" Type="http://schemas.openxmlformats.org/officeDocument/2006/relationships/vmlDrawing" Target="../drawings/vmlDrawing21.vml"/><Relationship Id="rId6" Type="http://schemas.openxmlformats.org/officeDocument/2006/relationships/image" Target="../media/image42.emf"/><Relationship Id="rId5" Type="http://schemas.openxmlformats.org/officeDocument/2006/relationships/package" Target="../embeddings/Microsoft_Word___34.docx"/><Relationship Id="rId4" Type="http://schemas.openxmlformats.org/officeDocument/2006/relationships/image" Target="../media/image41.emf"/></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Word___35.docx"/><Relationship Id="rId2" Type="http://schemas.openxmlformats.org/officeDocument/2006/relationships/slideLayout" Target="../slideLayouts/slideLayout1.xml"/><Relationship Id="rId1" Type="http://schemas.openxmlformats.org/officeDocument/2006/relationships/vmlDrawing" Target="../drawings/vmlDrawing22.vml"/><Relationship Id="rId4" Type="http://schemas.openxmlformats.org/officeDocument/2006/relationships/image" Target="../media/image44.emf"/></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en-US" altLang="zh-CN" sz="3600" b="1" dirty="0">
                  <a:solidFill>
                    <a:schemeClr val="bg1"/>
                  </a:solidFill>
                  <a:latin typeface="华文细黑" panose="02010600040101010101" charset="-122"/>
                  <a:ea typeface="华文细黑" panose="02010600040101010101" charset="-122"/>
                </a:rPr>
                <a:t>3.3.1</a:t>
              </a:r>
              <a:r>
                <a:rPr lang="zh-CN" altLang="en-US" sz="3600" b="1" dirty="0">
                  <a:solidFill>
                    <a:schemeClr val="bg1"/>
                  </a:solidFill>
                  <a:latin typeface="华文细黑" panose="02010600040101010101" charset="-122"/>
                  <a:ea typeface="华文细黑" panose="02010600040101010101" charset="-122"/>
                </a:rPr>
                <a:t>　抛物线及其标准方程</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第三章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3.3</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5680"/>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了解抛物线的定义及焦点、准线的概念</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了解抛物线的几何图形和标准方程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明确</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的几何意义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并能解决简单的求抛物线标准方程问题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4</a:t>
            </a:r>
            <a:r>
              <a:rPr lang="en-US" altLang="zh-CN" sz="2800" i="1" dirty="0" smtClean="0">
                <a:solidFill>
                  <a:srgbClr val="000000"/>
                </a:solidFill>
                <a:latin typeface="Times New Roman" panose="02020603050405020304" pitchFamily="18" charset="0"/>
              </a:rPr>
              <a:t>.</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数学</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抽象、直观想象、逻辑推理与数学运算素养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7542"/>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一、抛物线的定义</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前面我们已经学习过求动点的轨迹方程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试求到直线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的距离与到定点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(0,1)</a:t>
            </a:r>
            <a:r>
              <a:rPr lang="zh-CN" altLang="zh-CN" sz="2800" dirty="0">
                <a:solidFill>
                  <a:srgbClr val="000000"/>
                </a:solidFill>
                <a:latin typeface="Times New Roman" panose="02020603050405020304" pitchFamily="18" charset="0"/>
                <a:cs typeface="Times New Roman" panose="02020603050405020304" pitchFamily="18" charset="0"/>
              </a:rPr>
              <a:t>的距离相等的动点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的轨迹方程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这是我们以前学过的什么函数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试画出它的图象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并判断其图象是一条什么曲线</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7" name="组合 6"/>
          <p:cNvGrpSpPr/>
          <p:nvPr/>
        </p:nvGrpSpPr>
        <p:grpSpPr>
          <a:xfrm>
            <a:off x="51816" y="2450097"/>
            <a:ext cx="11430000" cy="3820728"/>
            <a:chOff x="51816" y="2865737"/>
            <a:chExt cx="11430000" cy="3820728"/>
          </a:xfrm>
        </p:grpSpPr>
        <p:graphicFrame>
          <p:nvGraphicFramePr>
            <p:cNvPr id="4" name="对象 3"/>
            <p:cNvGraphicFramePr>
              <a:graphicFrameLocks noChangeAspect="1"/>
            </p:cNvGraphicFramePr>
            <p:nvPr>
              <p:extLst>
                <p:ext uri="{D42A27DB-BD31-4B8C-83A1-F6EECF244321}">
                  <p14:modId xmlns:p14="http://schemas.microsoft.com/office/powerpoint/2010/main" val="1477236473"/>
                </p:ext>
              </p:extLst>
            </p:nvPr>
          </p:nvGraphicFramePr>
          <p:xfrm>
            <a:off x="51816" y="2865737"/>
            <a:ext cx="11430000" cy="1003297"/>
          </p:xfrm>
          <a:graphic>
            <a:graphicData uri="http://schemas.openxmlformats.org/presentationml/2006/ole">
              <mc:AlternateContent xmlns:mc="http://schemas.openxmlformats.org/markup-compatibility/2006">
                <mc:Choice xmlns:v="urn:schemas-microsoft-com:vml" Requires="v">
                  <p:oleObj spid="_x0000_s1045"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51816" y="2865737"/>
                          <a:ext cx="11430000" cy="1003297"/>
                        </a:xfrm>
                        <a:prstGeom prst="rect">
                          <a:avLst/>
                        </a:prstGeom>
                      </p:spPr>
                    </p:pic>
                  </p:oleObj>
                </mc:Fallback>
              </mc:AlternateContent>
            </a:graphicData>
          </a:graphic>
        </p:graphicFrame>
        <p:sp>
          <p:nvSpPr>
            <p:cNvPr id="5" name="矩形 4"/>
            <p:cNvSpPr>
              <a:spLocks noChangeAspect="1"/>
            </p:cNvSpPr>
            <p:nvPr/>
          </p:nvSpPr>
          <p:spPr>
            <a:xfrm>
              <a:off x="381000" y="3832458"/>
              <a:ext cx="8366393"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这是我们学过的二次函数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图象是一条抛物线</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6" name="NMX1TRAX06.eps" descr="id:2147497431;FounderCES"/>
            <p:cNvPicPr>
              <a:picLocks noChangeAspect="1"/>
            </p:cNvPicPr>
            <p:nvPr/>
          </p:nvPicPr>
          <p:blipFill>
            <a:blip r:embed="rId5">
              <a:clrChange>
                <a:clrFrom>
                  <a:srgbClr val="FFFFFF"/>
                </a:clrFrom>
                <a:clrTo>
                  <a:srgbClr val="FFFFFF">
                    <a:alpha val="0"/>
                  </a:srgbClr>
                </a:clrTo>
              </a:clrChange>
            </a:blip>
            <a:stretch>
              <a:fillRect/>
            </a:stretch>
          </p:blipFill>
          <p:spPr>
            <a:xfrm>
              <a:off x="4560813" y="4536645"/>
              <a:ext cx="3070375" cy="2149820"/>
            </a:xfrm>
            <a:prstGeom prst="rect">
              <a:avLst/>
            </a:prstGeom>
          </p:spPr>
        </p:pic>
      </p:gr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94591"/>
            <a:ext cx="11430000" cy="395313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若将直线方程改为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的坐标改为</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cs typeface="Times New Roman" panose="02020603050405020304" pitchFamily="18" charset="0"/>
              </a:rPr>
              <a:t>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的距离与到点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的距离相等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的轨迹方程又是什么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其图象与上一条曲线有什么联系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轨迹方程是</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图象可由</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的图象绕原点顺时针旋转</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得到</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在上面两条曲线中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满足的条件是什么</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到定直线的距离与到定点的距离相等</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wipe(down)">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08241"/>
            <a:ext cx="3080972"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抛物线</a:t>
            </a:r>
            <a:r>
              <a:rPr lang="zh-CN" altLang="zh-CN" sz="2800" dirty="0">
                <a:solidFill>
                  <a:srgbClr val="000000"/>
                </a:solidFill>
                <a:latin typeface="Times New Roman" panose="02020603050405020304" pitchFamily="18" charset="0"/>
                <a:cs typeface="Times New Roman" panose="02020603050405020304" pitchFamily="18" charset="0"/>
              </a:rPr>
              <a:t>的</a:t>
            </a:r>
            <a:r>
              <a:rPr lang="zh-CN" altLang="zh-CN" sz="2800" dirty="0" smtClean="0">
                <a:solidFill>
                  <a:srgbClr val="000000"/>
                </a:solidFill>
                <a:latin typeface="Times New Roman" panose="02020603050405020304" pitchFamily="18" charset="0"/>
                <a:cs typeface="Times New Roman" panose="02020603050405020304" pitchFamily="18" charset="0"/>
              </a:rPr>
              <a:t>定义</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816976085"/>
              </p:ext>
            </p:extLst>
          </p:nvPr>
        </p:nvGraphicFramePr>
        <p:xfrm>
          <a:off x="381000" y="859249"/>
          <a:ext cx="11430000" cy="3751653"/>
        </p:xfrm>
        <a:graphic>
          <a:graphicData uri="http://schemas.openxmlformats.org/presentationml/2006/ole">
            <mc:AlternateContent xmlns:mc="http://schemas.openxmlformats.org/markup-compatibility/2006">
              <mc:Choice xmlns:v="urn:schemas-microsoft-com:vml" Requires="v">
                <p:oleObj spid="_x0000_s2068" name="文档" r:id="rId3" imgW="4520786" imgH="1483851" progId="Word.Document.12">
                  <p:embed/>
                </p:oleObj>
              </mc:Choice>
              <mc:Fallback>
                <p:oleObj name="文档" r:id="rId3" imgW="4520786" imgH="1483851" progId="Word.Document.12">
                  <p:embed/>
                  <p:pic>
                    <p:nvPicPr>
                      <p:cNvPr id="0" name=""/>
                      <p:cNvPicPr/>
                      <p:nvPr/>
                    </p:nvPicPr>
                    <p:blipFill>
                      <a:blip r:embed="rId4"/>
                      <a:stretch>
                        <a:fillRect/>
                      </a:stretch>
                    </p:blipFill>
                    <p:spPr>
                      <a:xfrm>
                        <a:off x="381000" y="859249"/>
                        <a:ext cx="11430000" cy="3751653"/>
                      </a:xfrm>
                      <a:prstGeom prst="rect">
                        <a:avLst/>
                      </a:prstGeom>
                    </p:spPr>
                  </p:pic>
                </p:oleObj>
              </mc:Fallback>
            </mc:AlternateContent>
          </a:graphicData>
        </a:graphic>
      </p:graphicFrame>
      <p:sp>
        <p:nvSpPr>
          <p:cNvPr id="4" name="矩形 3"/>
          <p:cNvSpPr>
            <a:spLocks noChangeAspect="1"/>
          </p:cNvSpPr>
          <p:nvPr/>
        </p:nvSpPr>
        <p:spPr>
          <a:xfrm>
            <a:off x="381000" y="3705874"/>
            <a:ext cx="11430000" cy="233294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到</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与到定点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的距离相等的点的轨迹是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抛物线</a:t>
            </a:r>
            <a:r>
              <a:rPr lang="en-US" altLang="zh-CN" sz="2800" dirty="0">
                <a:solidFill>
                  <a:srgbClr val="000000"/>
                </a:solidFill>
                <a:latin typeface="Times New Roman" panose="02020603050405020304" pitchFamily="18" charset="0"/>
                <a:cs typeface="Times New Roman" panose="02020603050405020304" pitchFamily="18" charset="0"/>
              </a:rPr>
              <a:t>	B.</a:t>
            </a:r>
            <a:r>
              <a:rPr lang="zh-CN" altLang="zh-CN" sz="2800" dirty="0">
                <a:solidFill>
                  <a:srgbClr val="000000"/>
                </a:solidFill>
                <a:latin typeface="Times New Roman" panose="02020603050405020304" pitchFamily="18" charset="0"/>
                <a:cs typeface="Times New Roman" panose="02020603050405020304" pitchFamily="18" charset="0"/>
              </a:rPr>
              <a:t>双曲线</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椭圆</a:t>
            </a:r>
            <a:r>
              <a:rPr lang="en-US" altLang="zh-CN" sz="2800" dirty="0">
                <a:solidFill>
                  <a:srgbClr val="000000"/>
                </a:solidFill>
                <a:latin typeface="Times New Roman" panose="02020603050405020304" pitchFamily="18" charset="0"/>
                <a:cs typeface="Times New Roman" panose="02020603050405020304" pitchFamily="18" charset="0"/>
              </a:rPr>
              <a:t>	D.</a:t>
            </a:r>
            <a:r>
              <a:rPr lang="zh-CN" altLang="zh-CN" sz="2800" dirty="0">
                <a:solidFill>
                  <a:srgbClr val="000000"/>
                </a:solidFill>
                <a:latin typeface="Times New Roman" panose="02020603050405020304" pitchFamily="18" charset="0"/>
                <a:cs typeface="Times New Roman" panose="02020603050405020304" pitchFamily="18" charset="0"/>
              </a:rPr>
              <a:t>直线</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5" name="矩形 4"/>
          <p:cNvSpPr/>
          <p:nvPr/>
        </p:nvSpPr>
        <p:spPr>
          <a:xfrm>
            <a:off x="3067602" y="1458197"/>
            <a:ext cx="719860"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368524" y="1982930"/>
            <a:ext cx="719860"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286001" y="2503249"/>
            <a:ext cx="1018308"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394383" y="3042216"/>
            <a:ext cx="1138030"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wipe(down)">
                                      <p:cBhvr>
                                        <p:cTn id="2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4841"/>
            <a:ext cx="10643755" cy="2332946"/>
          </a:xfrm>
          <a:prstGeom prst="rect">
            <a:avLst/>
          </a:prstGeom>
        </p:spPr>
        <p:txBody>
          <a:bodyPr wrap="squar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二、抛物线的标准方程</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【问题思考】</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设定点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到定直线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|FK|=p</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类比椭圆、双曲线标准方程的建立过程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试建立适当的平面直角坐标系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求抛物线的标准方程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pSp>
        <p:nvGrpSpPr>
          <p:cNvPr id="10" name="组合 9"/>
          <p:cNvGrpSpPr/>
          <p:nvPr/>
        </p:nvGrpSpPr>
        <p:grpSpPr>
          <a:xfrm>
            <a:off x="64008" y="2325441"/>
            <a:ext cx="11746992" cy="4372961"/>
            <a:chOff x="64008" y="2325441"/>
            <a:chExt cx="11746992" cy="4372961"/>
          </a:xfrm>
        </p:grpSpPr>
        <p:sp>
          <p:nvSpPr>
            <p:cNvPr id="5" name="矩形 4"/>
            <p:cNvSpPr>
              <a:spLocks noChangeAspect="1"/>
            </p:cNvSpPr>
            <p:nvPr/>
          </p:nvSpPr>
          <p:spPr>
            <a:xfrm>
              <a:off x="381000" y="2325441"/>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取经过点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且垂直于直线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的直线为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线段</a:t>
              </a:r>
              <a:r>
                <a:rPr lang="en-US" altLang="zh-CN" sz="2800" i="1" dirty="0">
                  <a:solidFill>
                    <a:srgbClr val="000000"/>
                  </a:solidFill>
                  <a:latin typeface="Times New Roman" panose="02020603050405020304" pitchFamily="18" charset="0"/>
                  <a:cs typeface="Times New Roman" panose="02020603050405020304" pitchFamily="18" charset="0"/>
                </a:rPr>
                <a:t>FK</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的中点</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坐标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原点</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建立平面直角坐标系</a:t>
              </a:r>
              <a:r>
                <a:rPr lang="en-US" altLang="zh-CN" sz="2800" i="1" dirty="0">
                  <a:solidFill>
                    <a:srgbClr val="000000"/>
                  </a:solidFill>
                  <a:latin typeface="Times New Roman" panose="02020603050405020304" pitchFamily="18" charset="0"/>
                  <a:cs typeface="Times New Roman" panose="02020603050405020304" pitchFamily="18" charset="0"/>
                </a:rPr>
                <a:t>Oxy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6" name="组合 5"/>
            <p:cNvGrpSpPr/>
            <p:nvPr/>
          </p:nvGrpSpPr>
          <p:grpSpPr>
            <a:xfrm>
              <a:off x="64008" y="3475735"/>
              <a:ext cx="11442192" cy="3222667"/>
              <a:chOff x="64008" y="2755019"/>
              <a:chExt cx="11442192" cy="3222667"/>
            </a:xfrm>
          </p:grpSpPr>
          <p:graphicFrame>
            <p:nvGraphicFramePr>
              <p:cNvPr id="7" name="对象 6"/>
              <p:cNvGraphicFramePr>
                <a:graphicFrameLocks noChangeAspect="1"/>
              </p:cNvGraphicFramePr>
              <p:nvPr>
                <p:extLst>
                  <p:ext uri="{D42A27DB-BD31-4B8C-83A1-F6EECF244321}">
                    <p14:modId xmlns:p14="http://schemas.microsoft.com/office/powerpoint/2010/main" val="347330901"/>
                  </p:ext>
                </p:extLst>
              </p:nvPr>
            </p:nvGraphicFramePr>
            <p:xfrm>
              <a:off x="64008" y="2755019"/>
              <a:ext cx="11430000" cy="3008976"/>
            </p:xfrm>
            <a:graphic>
              <a:graphicData uri="http://schemas.openxmlformats.org/presentationml/2006/ole">
                <mc:AlternateContent xmlns:mc="http://schemas.openxmlformats.org/markup-compatibility/2006">
                  <mc:Choice xmlns:v="urn:schemas-microsoft-com:vml" Requires="v">
                    <p:oleObj spid="_x0000_s25610"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64008" y="2755019"/>
                            <a:ext cx="11430000" cy="3008976"/>
                          </a:xfrm>
                          <a:prstGeom prst="rect">
                            <a:avLst/>
                          </a:prstGeom>
                        </p:spPr>
                      </p:pic>
                    </p:oleObj>
                  </mc:Fallback>
                </mc:AlternateContent>
              </a:graphicData>
            </a:graphic>
          </p:graphicFrame>
          <p:pic>
            <p:nvPicPr>
              <p:cNvPr id="8" name="NMX1TRAX08.eps" descr="id:2147497453;FounderCES"/>
              <p:cNvPicPr>
                <a:picLocks noChangeAspect="1"/>
              </p:cNvPicPr>
              <p:nvPr/>
            </p:nvPicPr>
            <p:blipFill>
              <a:blip r:embed="rId5">
                <a:clrChange>
                  <a:clrFrom>
                    <a:srgbClr val="FFFFFF"/>
                  </a:clrFrom>
                  <a:clrTo>
                    <a:srgbClr val="FFFFFF">
                      <a:alpha val="0"/>
                    </a:srgbClr>
                  </a:clrTo>
                </a:clrChange>
              </a:blip>
              <a:stretch>
                <a:fillRect/>
              </a:stretch>
            </p:blipFill>
            <p:spPr>
              <a:xfrm>
                <a:off x="9018699" y="2911360"/>
                <a:ext cx="2487501" cy="3066326"/>
              </a:xfrm>
              <a:prstGeom prst="rect">
                <a:avLst/>
              </a:prstGeom>
            </p:spPr>
          </p:pic>
        </p:grpSp>
      </p:grpSp>
      <p:pic>
        <p:nvPicPr>
          <p:cNvPr id="9" name="NMX1TRAX07.eps" descr="id:2147497446;FounderCES"/>
          <p:cNvPicPr/>
          <p:nvPr/>
        </p:nvPicPr>
        <p:blipFill>
          <a:blip r:embed="rId6">
            <a:clrChange>
              <a:clrFrom>
                <a:srgbClr val="FFFFFF"/>
              </a:clrFrom>
              <a:clrTo>
                <a:srgbClr val="FFFFFF">
                  <a:alpha val="0"/>
                </a:srgbClr>
              </a:clrTo>
            </a:clrChange>
          </a:blip>
          <a:stretch>
            <a:fillRect/>
          </a:stretch>
        </p:blipFill>
        <p:spPr>
          <a:xfrm>
            <a:off x="10827682" y="356929"/>
            <a:ext cx="1147909" cy="2124853"/>
          </a:xfrm>
          <a:prstGeom prst="rect">
            <a:avLst/>
          </a:prstGeom>
        </p:spPr>
      </p:pic>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693593"/>
            <a:ext cx="11430000" cy="233294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根据</a:t>
            </a:r>
            <a:r>
              <a:rPr lang="zh-CN" altLang="zh-CN" sz="2800" dirty="0">
                <a:solidFill>
                  <a:srgbClr val="000000"/>
                </a:solidFill>
                <a:latin typeface="Times New Roman" panose="02020603050405020304" pitchFamily="18" charset="0"/>
                <a:cs typeface="Times New Roman" panose="02020603050405020304" pitchFamily="18" charset="0"/>
              </a:rPr>
              <a:t>定点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与定直线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的位置关系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你认为抛物线的标准方程有几种类型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开口方向有哪些</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抛物线的标准方程有四种类型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开口方向有向右、向左、向上、向下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3657"/>
            <a:ext cx="3699731"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抛物线</a:t>
            </a:r>
            <a:r>
              <a:rPr lang="zh-CN" altLang="zh-CN" sz="2800" dirty="0">
                <a:solidFill>
                  <a:srgbClr val="000000"/>
                </a:solidFill>
                <a:latin typeface="Times New Roman" panose="02020603050405020304" pitchFamily="18" charset="0"/>
                <a:cs typeface="Times New Roman" panose="02020603050405020304" pitchFamily="18" charset="0"/>
              </a:rPr>
              <a:t>的标准</a:t>
            </a:r>
            <a:r>
              <a:rPr lang="zh-CN" altLang="zh-CN" sz="2800" dirty="0" smtClean="0">
                <a:solidFill>
                  <a:srgbClr val="000000"/>
                </a:solidFill>
                <a:latin typeface="Times New Roman" panose="02020603050405020304" pitchFamily="18" charset="0"/>
                <a:cs typeface="Times New Roman" panose="02020603050405020304" pitchFamily="18" charset="0"/>
              </a:rPr>
              <a:t>方程</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76956305"/>
              </p:ext>
            </p:extLst>
          </p:nvPr>
        </p:nvGraphicFramePr>
        <p:xfrm>
          <a:off x="381000" y="728726"/>
          <a:ext cx="11430000" cy="6728736"/>
        </p:xfrm>
        <a:graphic>
          <a:graphicData uri="http://schemas.openxmlformats.org/presentationml/2006/ole">
            <mc:AlternateContent xmlns:mc="http://schemas.openxmlformats.org/markup-compatibility/2006">
              <mc:Choice xmlns:v="urn:schemas-microsoft-com:vml" Requires="v">
                <p:oleObj spid="_x0000_s4116" name="文档" r:id="rId3" imgW="4520786" imgH="2661345" progId="Word.Document.12">
                  <p:embed/>
                </p:oleObj>
              </mc:Choice>
              <mc:Fallback>
                <p:oleObj name="文档" r:id="rId3" imgW="4520786" imgH="2661345" progId="Word.Document.12">
                  <p:embed/>
                  <p:pic>
                    <p:nvPicPr>
                      <p:cNvPr id="0" name=""/>
                      <p:cNvPicPr/>
                      <p:nvPr/>
                    </p:nvPicPr>
                    <p:blipFill>
                      <a:blip r:embed="rId4"/>
                      <a:stretch>
                        <a:fillRect/>
                      </a:stretch>
                    </p:blipFill>
                    <p:spPr>
                      <a:xfrm>
                        <a:off x="381000" y="728726"/>
                        <a:ext cx="11430000" cy="6728736"/>
                      </a:xfrm>
                      <a:prstGeom prst="rect">
                        <a:avLst/>
                      </a:prstGeom>
                    </p:spPr>
                  </p:pic>
                </p:oleObj>
              </mc:Fallback>
            </mc:AlternateContent>
          </a:graphicData>
        </a:graphic>
      </p:graphicFrame>
      <p:sp>
        <p:nvSpPr>
          <p:cNvPr id="4" name="矩形 3"/>
          <p:cNvSpPr/>
          <p:nvPr/>
        </p:nvSpPr>
        <p:spPr>
          <a:xfrm>
            <a:off x="9047429" y="2161310"/>
            <a:ext cx="803153" cy="715632"/>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9059069" y="2872466"/>
            <a:ext cx="799779"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458963" y="4561610"/>
            <a:ext cx="1126029" cy="715632"/>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886525914"/>
              </p:ext>
            </p:extLst>
          </p:nvPr>
        </p:nvGraphicFramePr>
        <p:xfrm>
          <a:off x="381000" y="322142"/>
          <a:ext cx="11430000" cy="6728736"/>
        </p:xfrm>
        <a:graphic>
          <a:graphicData uri="http://schemas.openxmlformats.org/presentationml/2006/ole">
            <mc:AlternateContent xmlns:mc="http://schemas.openxmlformats.org/markup-compatibility/2006">
              <mc:Choice xmlns:v="urn:schemas-microsoft-com:vml" Requires="v">
                <p:oleObj spid="_x0000_s5140" name="文档" r:id="rId3" imgW="4520786" imgH="2661345" progId="Word.Document.12">
                  <p:embed/>
                </p:oleObj>
              </mc:Choice>
              <mc:Fallback>
                <p:oleObj name="文档" r:id="rId3" imgW="4520786" imgH="2661345" progId="Word.Document.12">
                  <p:embed/>
                  <p:pic>
                    <p:nvPicPr>
                      <p:cNvPr id="0" name=""/>
                      <p:cNvPicPr/>
                      <p:nvPr/>
                    </p:nvPicPr>
                    <p:blipFill>
                      <a:blip r:embed="rId4"/>
                      <a:stretch>
                        <a:fillRect/>
                      </a:stretch>
                    </p:blipFill>
                    <p:spPr>
                      <a:xfrm>
                        <a:off x="381000" y="322142"/>
                        <a:ext cx="11430000" cy="6728736"/>
                      </a:xfrm>
                      <a:prstGeom prst="rect">
                        <a:avLst/>
                      </a:prstGeom>
                    </p:spPr>
                  </p:pic>
                </p:oleObj>
              </mc:Fallback>
            </mc:AlternateContent>
          </a:graphicData>
        </a:graphic>
      </p:graphicFrame>
      <p:sp>
        <p:nvSpPr>
          <p:cNvPr id="3" name="矩形 2"/>
          <p:cNvSpPr/>
          <p:nvPr/>
        </p:nvSpPr>
        <p:spPr>
          <a:xfrm>
            <a:off x="9047428" y="1787236"/>
            <a:ext cx="823935" cy="67406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9059068" y="2456830"/>
            <a:ext cx="820473"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457944" y="4197927"/>
            <a:ext cx="1128067" cy="67406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6484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48768" y="850822"/>
            <a:ext cx="11762232" cy="3684535"/>
            <a:chOff x="48768" y="1245680"/>
            <a:chExt cx="11762232" cy="3684535"/>
          </a:xfrm>
        </p:grpSpPr>
        <p:sp>
          <p:nvSpPr>
            <p:cNvPr id="2" name="矩形 1"/>
            <p:cNvSpPr>
              <a:spLocks noChangeAspect="1"/>
            </p:cNvSpPr>
            <p:nvPr/>
          </p:nvSpPr>
          <p:spPr>
            <a:xfrm>
              <a:off x="381000" y="1245680"/>
              <a:ext cx="11430000" cy="121264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下列</a:t>
              </a:r>
              <a:r>
                <a:rPr lang="zh-CN" altLang="zh-CN" sz="2800" dirty="0">
                  <a:solidFill>
                    <a:srgbClr val="000000"/>
                  </a:solidFill>
                  <a:latin typeface="Times New Roman" panose="02020603050405020304" pitchFamily="18" charset="0"/>
                  <a:cs typeface="Times New Roman" panose="02020603050405020304" pitchFamily="18" charset="0"/>
                </a:rPr>
                <a:t>关于抛物线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的描述正确的是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开口向上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焦点坐标为</a:t>
              </a:r>
              <a:r>
                <a:rPr lang="en-US" altLang="zh-CN" sz="2800" dirty="0">
                  <a:solidFill>
                    <a:srgbClr val="000000"/>
                  </a:solidFill>
                  <a:latin typeface="Times New Roman" panose="02020603050405020304" pitchFamily="18" charset="0"/>
                  <a:cs typeface="Times New Roman" panose="02020603050405020304" pitchFamily="18" charset="0"/>
                </a:rPr>
                <a:t>(0,1)</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87179670"/>
                </p:ext>
              </p:extLst>
            </p:nvPr>
          </p:nvGraphicFramePr>
          <p:xfrm>
            <a:off x="48768" y="2422431"/>
            <a:ext cx="11430000" cy="2507784"/>
          </p:xfrm>
          <a:graphic>
            <a:graphicData uri="http://schemas.openxmlformats.org/presentationml/2006/ole">
              <mc:AlternateContent xmlns:mc="http://schemas.openxmlformats.org/markup-compatibility/2006">
                <mc:Choice xmlns:v="urn:schemas-microsoft-com:vml" Requires="v">
                  <p:oleObj spid="_x0000_s6164"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48768" y="2422431"/>
                          <a:ext cx="11430000" cy="2507784"/>
                        </a:xfrm>
                        <a:prstGeom prst="rect">
                          <a:avLst/>
                        </a:prstGeom>
                      </p:spPr>
                    </p:pic>
                  </p:oleObj>
                </mc:Fallback>
              </mc:AlternateContent>
            </a:graphicData>
          </a:graphic>
        </p:graphicFrame>
      </p:grpSp>
      <p:sp>
        <p:nvSpPr>
          <p:cNvPr id="4" name="矩形 3"/>
          <p:cNvSpPr>
            <a:spLocks noChangeAspect="1"/>
          </p:cNvSpPr>
          <p:nvPr/>
        </p:nvSpPr>
        <p:spPr>
          <a:xfrm>
            <a:off x="381000" y="4392206"/>
            <a:ext cx="1613968"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23326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88529"/>
            <a:ext cx="11430000" cy="451328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方程</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py</a:t>
            </a:r>
            <a:r>
              <a:rPr lang="zh-CN" altLang="zh-CN" sz="2800" dirty="0">
                <a:solidFill>
                  <a:srgbClr val="000000"/>
                </a:solidFill>
                <a:latin typeface="Times New Roman" panose="02020603050405020304" pitchFamily="18" charset="0"/>
                <a:cs typeface="Times New Roman" panose="02020603050405020304" pitchFamily="18" charset="0"/>
              </a:rPr>
              <a:t>表示的抛物线开口向上</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抛物线的方程都是</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关于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的二次函数</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标准方程</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中的</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的几何意义是焦点到准线的距离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抛物线的焦点位置由一次项及一次项系数的正负决定</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平面内与一个定点和一条定直线的距离相等的点的轨迹一定是抛物线</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p:nvPr/>
        </p:nvSpPr>
        <p:spPr>
          <a:xfrm>
            <a:off x="6729500" y="1812559"/>
            <a:ext cx="5865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7074740" y="2382955"/>
            <a:ext cx="5865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0700617" y="2887322"/>
            <a:ext cx="400635"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635559" y="3426896"/>
            <a:ext cx="400635"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125404" y="4551581"/>
            <a:ext cx="537141"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3898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求抛物线的标准方程</a:t>
                </a:r>
              </a:p>
            </p:txBody>
          </p:sp>
        </p:grpSp>
      </p:grpSp>
      <p:sp>
        <p:nvSpPr>
          <p:cNvPr id="2" name="矩形 1"/>
          <p:cNvSpPr>
            <a:spLocks noChangeAspect="1"/>
          </p:cNvSpPr>
          <p:nvPr/>
        </p:nvSpPr>
        <p:spPr>
          <a:xfrm>
            <a:off x="381000" y="991466"/>
            <a:ext cx="8545929"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分别求适合下列条件的抛物线的标准方程</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52297322"/>
              </p:ext>
            </p:extLst>
          </p:nvPr>
        </p:nvGraphicFramePr>
        <p:xfrm>
          <a:off x="51816" y="1497648"/>
          <a:ext cx="11430000" cy="1003297"/>
        </p:xfrm>
        <a:graphic>
          <a:graphicData uri="http://schemas.openxmlformats.org/presentationml/2006/ole">
            <mc:AlternateContent xmlns:mc="http://schemas.openxmlformats.org/markup-compatibility/2006">
              <mc:Choice xmlns:v="urn:schemas-microsoft-com:vml" Requires="v">
                <p:oleObj spid="_x0000_s7186"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51816" y="1497648"/>
                        <a:ext cx="11430000" cy="1003297"/>
                      </a:xfrm>
                      <a:prstGeom prst="rect">
                        <a:avLst/>
                      </a:prstGeom>
                    </p:spPr>
                  </p:pic>
                </p:oleObj>
              </mc:Fallback>
            </mc:AlternateContent>
          </a:graphicData>
        </a:graphic>
      </p:graphicFrame>
      <p:sp>
        <p:nvSpPr>
          <p:cNvPr id="4" name="矩形 3"/>
          <p:cNvSpPr>
            <a:spLocks noChangeAspect="1"/>
          </p:cNvSpPr>
          <p:nvPr/>
        </p:nvSpPr>
        <p:spPr>
          <a:xfrm>
            <a:off x="381000" y="2314279"/>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过点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3,2);</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焦点在直线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焦点在</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焦点到准线的距离为</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根据已知条件求出抛物线的标准方程中的</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注意标准方程的形式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wipe(down)">
                                      <p:cBhvr>
                                        <p:cTn id="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48768" y="368435"/>
            <a:ext cx="11762232" cy="5078383"/>
            <a:chOff x="48768" y="565864"/>
            <a:chExt cx="11762232" cy="5078383"/>
          </a:xfrm>
        </p:grpSpPr>
        <p:graphicFrame>
          <p:nvGraphicFramePr>
            <p:cNvPr id="2" name="对象 1"/>
            <p:cNvGraphicFramePr>
              <a:graphicFrameLocks noChangeAspect="1"/>
            </p:cNvGraphicFramePr>
            <p:nvPr>
              <p:extLst>
                <p:ext uri="{D42A27DB-BD31-4B8C-83A1-F6EECF244321}">
                  <p14:modId xmlns:p14="http://schemas.microsoft.com/office/powerpoint/2010/main" val="1773890741"/>
                </p:ext>
              </p:extLst>
            </p:nvPr>
          </p:nvGraphicFramePr>
          <p:xfrm>
            <a:off x="48768" y="565864"/>
            <a:ext cx="11430000" cy="2005680"/>
          </p:xfrm>
          <a:graphic>
            <a:graphicData uri="http://schemas.openxmlformats.org/presentationml/2006/ole">
              <mc:AlternateContent xmlns:mc="http://schemas.openxmlformats.org/markup-compatibility/2006">
                <mc:Choice xmlns:v="urn:schemas-microsoft-com:vml" Requires="v">
                  <p:oleObj spid="_x0000_s8228"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8768" y="565864"/>
                          <a:ext cx="11430000" cy="2005680"/>
                        </a:xfrm>
                        <a:prstGeom prst="rect">
                          <a:avLst/>
                        </a:prstGeom>
                      </p:spPr>
                    </p:pic>
                  </p:oleObj>
                </mc:Fallback>
              </mc:AlternateContent>
            </a:graphicData>
          </a:graphic>
        </p:graphicFrame>
        <p:sp>
          <p:nvSpPr>
            <p:cNvPr id="3" name="矩形 2"/>
            <p:cNvSpPr>
              <a:spLocks noChangeAspect="1"/>
            </p:cNvSpPr>
            <p:nvPr/>
          </p:nvSpPr>
          <p:spPr>
            <a:xfrm>
              <a:off x="381000" y="2486200"/>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由题知点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在第二象限</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p&gt;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898567426"/>
                </p:ext>
              </p:extLst>
            </p:nvPr>
          </p:nvGraphicFramePr>
          <p:xfrm>
            <a:off x="48768" y="3638567"/>
            <a:ext cx="11430000" cy="2005680"/>
          </p:xfrm>
          <a:graphic>
            <a:graphicData uri="http://schemas.openxmlformats.org/presentationml/2006/ole">
              <mc:AlternateContent xmlns:mc="http://schemas.openxmlformats.org/markup-compatibility/2006">
                <mc:Choice xmlns:v="urn:schemas-microsoft-com:vml" Requires="v">
                  <p:oleObj spid="_x0000_s8229" name="文档" r:id="rId5" imgW="4520786" imgH="793285" progId="Word.Document.12">
                    <p:embed/>
                  </p:oleObj>
                </mc:Choice>
                <mc:Fallback>
                  <p:oleObj name="文档" r:id="rId5" imgW="4520786" imgH="793285" progId="Word.Document.12">
                    <p:embed/>
                    <p:pic>
                      <p:nvPicPr>
                        <p:cNvPr id="0" name=""/>
                        <p:cNvPicPr/>
                        <p:nvPr/>
                      </p:nvPicPr>
                      <p:blipFill>
                        <a:blip r:embed="rId6"/>
                        <a:stretch>
                          <a:fillRect/>
                        </a:stretch>
                      </p:blipFill>
                      <p:spPr>
                        <a:xfrm>
                          <a:off x="48768" y="3638567"/>
                          <a:ext cx="11430000" cy="2005680"/>
                        </a:xfrm>
                        <a:prstGeom prst="rect">
                          <a:avLst/>
                        </a:prstGeom>
                      </p:spPr>
                    </p:pic>
                  </p:oleObj>
                </mc:Fallback>
              </mc:AlternateContent>
            </a:graphicData>
          </a:graphic>
        </p:graphicFrame>
      </p:grpSp>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6" name="组合 5"/>
          <p:cNvGrpSpPr/>
          <p:nvPr/>
        </p:nvGrpSpPr>
        <p:grpSpPr>
          <a:xfrm>
            <a:off x="381000" y="335954"/>
            <a:ext cx="11430000" cy="5693866"/>
            <a:chOff x="381000" y="335954"/>
            <a:chExt cx="11430000" cy="5693866"/>
          </a:xfrm>
        </p:grpSpPr>
        <p:sp>
          <p:nvSpPr>
            <p:cNvPr id="3" name="矩形 2"/>
            <p:cNvSpPr>
              <a:spLocks noChangeAspect="1"/>
            </p:cNvSpPr>
            <p:nvPr/>
          </p:nvSpPr>
          <p:spPr>
            <a:xfrm>
              <a:off x="381000" y="335954"/>
              <a:ext cx="11430000" cy="569386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令</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由方程</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故抛物线的焦点坐标为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p&gt;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8,</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故所求抛物线的标准方程为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y.</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令</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故抛物线的焦点坐标为</a:t>
              </a:r>
              <a:r>
                <a:rPr lang="en-US" altLang="zh-CN" sz="2800" dirty="0">
                  <a:solidFill>
                    <a:srgbClr val="000000"/>
                  </a:solidFill>
                  <a:latin typeface="Times New Roman" panose="02020603050405020304" pitchFamily="18" charset="0"/>
                  <a:cs typeface="Times New Roman" panose="02020603050405020304" pitchFamily="18" charset="0"/>
                </a:rPr>
                <a:t>(4,0)</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p&gt;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16,</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故所求抛物线的标准方程为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en-US" altLang="zh-CN" sz="2800" i="1" dirty="0">
                  <a:solidFill>
                    <a:srgbClr val="000000"/>
                  </a:solidFill>
                  <a:latin typeface="Times New Roman" panose="02020603050405020304" pitchFamily="18" charset="0"/>
                  <a:cs typeface="Times New Roman" panose="02020603050405020304" pitchFamily="18" charset="0"/>
                </a:rPr>
                <a:t>x.</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综上可知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en-US" altLang="zh-CN" sz="2800" i="1" dirty="0">
                  <a:solidFill>
                    <a:srgbClr val="000000"/>
                  </a:solidFill>
                  <a:latin typeface="Times New Roman" panose="02020603050405020304" pitchFamily="18" charset="0"/>
                  <a:cs typeface="Times New Roman" panose="02020603050405020304" pitchFamily="18" charset="0"/>
                </a:rPr>
                <a:t>x.</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已知抛物线的焦点在</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轴上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可设方程为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由焦点到准线的距离为</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所以满足条件的抛物线有两条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它们的标准方程分别为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和</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y.</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044482848"/>
                </p:ext>
              </p:extLst>
            </p:nvPr>
          </p:nvGraphicFramePr>
          <p:xfrm>
            <a:off x="1378638" y="1953469"/>
            <a:ext cx="448459" cy="750216"/>
          </p:xfrm>
          <a:graphic>
            <a:graphicData uri="http://schemas.openxmlformats.org/presentationml/2006/ole">
              <mc:AlternateContent xmlns:mc="http://schemas.openxmlformats.org/markup-compatibility/2006">
                <mc:Choice xmlns:v="urn:schemas-microsoft-com:vml" Requires="v">
                  <p:oleObj spid="_x0000_s9250" name="文档" r:id="rId3" imgW="244357" imgH="396823" progId="Word.Document.12">
                    <p:embed/>
                  </p:oleObj>
                </mc:Choice>
                <mc:Fallback>
                  <p:oleObj name="文档" r:id="rId3" imgW="244357" imgH="396823" progId="Word.Document.12">
                    <p:embed/>
                    <p:pic>
                      <p:nvPicPr>
                        <p:cNvPr id="0" name=""/>
                        <p:cNvPicPr/>
                        <p:nvPr/>
                      </p:nvPicPr>
                      <p:blipFill>
                        <a:blip r:embed="rId4"/>
                        <a:stretch>
                          <a:fillRect/>
                        </a:stretch>
                      </p:blipFill>
                      <p:spPr>
                        <a:xfrm>
                          <a:off x="1378638" y="1953469"/>
                          <a:ext cx="448459" cy="750216"/>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799651094"/>
                </p:ext>
              </p:extLst>
            </p:nvPr>
          </p:nvGraphicFramePr>
          <p:xfrm>
            <a:off x="3756078" y="3062941"/>
            <a:ext cx="448459" cy="750216"/>
          </p:xfrm>
          <a:graphic>
            <a:graphicData uri="http://schemas.openxmlformats.org/presentationml/2006/ole">
              <mc:AlternateContent xmlns:mc="http://schemas.openxmlformats.org/markup-compatibility/2006">
                <mc:Choice xmlns:v="urn:schemas-microsoft-com:vml" Requires="v">
                  <p:oleObj spid="_x0000_s9251" name="文档" r:id="rId5" imgW="244357" imgH="396823" progId="Word.Document.12">
                    <p:embed/>
                  </p:oleObj>
                </mc:Choice>
                <mc:Fallback>
                  <p:oleObj name="文档" r:id="rId5" imgW="244357" imgH="396823" progId="Word.Document.12">
                    <p:embed/>
                    <p:pic>
                      <p:nvPicPr>
                        <p:cNvPr id="0" name=""/>
                        <p:cNvPicPr/>
                        <p:nvPr/>
                      </p:nvPicPr>
                      <p:blipFill>
                        <a:blip r:embed="rId4"/>
                        <a:stretch>
                          <a:fillRect/>
                        </a:stretch>
                      </p:blipFill>
                      <p:spPr>
                        <a:xfrm>
                          <a:off x="3756078" y="3062941"/>
                          <a:ext cx="448459" cy="750216"/>
                        </a:xfrm>
                        <a:prstGeom prst="rect">
                          <a:avLst/>
                        </a:prstGeom>
                      </p:spPr>
                    </p:pic>
                  </p:oleObj>
                </mc:Fallback>
              </mc:AlternateContent>
            </a:graphicData>
          </a:graphic>
        </p:graphicFrame>
      </p:gr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4" name="组合 3"/>
          <p:cNvGrpSpPr/>
          <p:nvPr/>
        </p:nvGrpSpPr>
        <p:grpSpPr>
          <a:xfrm>
            <a:off x="381000" y="256920"/>
            <a:ext cx="9618422" cy="5727731"/>
            <a:chOff x="381000" y="288093"/>
            <a:chExt cx="9618422" cy="5727731"/>
          </a:xfrm>
        </p:grpSpPr>
        <p:sp>
          <p:nvSpPr>
            <p:cNvPr id="2" name="矩形 1"/>
            <p:cNvSpPr>
              <a:spLocks noChangeAspect="1"/>
            </p:cNvSpPr>
            <p:nvPr/>
          </p:nvSpPr>
          <p:spPr>
            <a:xfrm>
              <a:off x="381000" y="288093"/>
              <a:ext cx="8566448" cy="592213"/>
            </a:xfrm>
            <a:prstGeom prst="rect">
              <a:avLst/>
            </a:prstGeom>
          </p:spPr>
          <p:txBody>
            <a:bodyPr wrap="none">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用待定系数法求抛物线标准方程的步骤</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NMX1TRAX13.eps" descr="id:2147497497;FounderCES"/>
            <p:cNvPicPr>
              <a:picLocks noChangeAspect="1"/>
            </p:cNvPicPr>
            <p:nvPr/>
          </p:nvPicPr>
          <p:blipFill>
            <a:blip r:embed="rId2">
              <a:clrChange>
                <a:clrFrom>
                  <a:srgbClr val="FFFFFF"/>
                </a:clrFrom>
                <a:clrTo>
                  <a:srgbClr val="FFFFFF">
                    <a:alpha val="0"/>
                  </a:srgbClr>
                </a:clrTo>
              </a:clrChange>
            </a:blip>
            <a:stretch>
              <a:fillRect/>
            </a:stretch>
          </p:blipFill>
          <p:spPr>
            <a:xfrm>
              <a:off x="2192578" y="1016027"/>
              <a:ext cx="7806844" cy="4999797"/>
            </a:xfrm>
            <a:prstGeom prst="rect">
              <a:avLst/>
            </a:prstGeom>
          </p:spPr>
        </p:pic>
      </p:gr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381000" y="1427503"/>
            <a:ext cx="11430000" cy="2941868"/>
            <a:chOff x="381000" y="1915875"/>
            <a:chExt cx="11430000" cy="2941868"/>
          </a:xfrm>
        </p:grpSpPr>
        <p:sp>
          <p:nvSpPr>
            <p:cNvPr id="2" name="矩形 1"/>
            <p:cNvSpPr>
              <a:spLocks noChangeAspect="1"/>
            </p:cNvSpPr>
            <p:nvPr/>
          </p:nvSpPr>
          <p:spPr>
            <a:xfrm>
              <a:off x="381000" y="1915875"/>
              <a:ext cx="11430000" cy="289310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求抛物线的标准方程时需注意的三个问题</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把握开口方向与方程间的对应关系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当抛物线的类型没有确定时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可设方程为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ny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这样可以减少讨论情况的个数</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注意</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与</a:t>
              </a:r>
              <a:r>
                <a:rPr lang="en-US" altLang="zh-CN" sz="2800" dirty="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   </a:t>
              </a:r>
              <a:r>
                <a:rPr lang="zh-CN" altLang="zh-CN" sz="2800" dirty="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的</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几何意义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087230797"/>
                </p:ext>
              </p:extLst>
            </p:nvPr>
          </p:nvGraphicFramePr>
          <p:xfrm>
            <a:off x="2329614" y="4107527"/>
            <a:ext cx="448459" cy="750216"/>
          </p:xfrm>
          <a:graphic>
            <a:graphicData uri="http://schemas.openxmlformats.org/presentationml/2006/ole">
              <mc:AlternateContent xmlns:mc="http://schemas.openxmlformats.org/markup-compatibility/2006">
                <mc:Choice xmlns:v="urn:schemas-microsoft-com:vml" Requires="v">
                  <p:oleObj spid="_x0000_s10257" name="文档" r:id="rId3" imgW="244357" imgH="396823" progId="Word.Document.12">
                    <p:embed/>
                  </p:oleObj>
                </mc:Choice>
                <mc:Fallback>
                  <p:oleObj name="文档" r:id="rId3" imgW="244357" imgH="396823" progId="Word.Document.12">
                    <p:embed/>
                    <p:pic>
                      <p:nvPicPr>
                        <p:cNvPr id="0" name=""/>
                        <p:cNvPicPr/>
                        <p:nvPr/>
                      </p:nvPicPr>
                      <p:blipFill>
                        <a:blip r:embed="rId4"/>
                        <a:stretch>
                          <a:fillRect/>
                        </a:stretch>
                      </p:blipFill>
                      <p:spPr>
                        <a:xfrm>
                          <a:off x="2329614" y="4107527"/>
                          <a:ext cx="448459" cy="750216"/>
                        </a:xfrm>
                        <a:prstGeom prst="rect">
                          <a:avLst/>
                        </a:prstGeom>
                      </p:spPr>
                    </p:pic>
                  </p:oleObj>
                </mc:Fallback>
              </mc:AlternateContent>
            </a:graphicData>
          </a:graphic>
        </p:graphicFrame>
      </p:grpSp>
    </p:spTree>
    <p:extLst>
      <p:ext uri="{BB962C8B-B14F-4D97-AF65-F5344CB8AC3E}">
        <p14:creationId xmlns:p14="http://schemas.microsoft.com/office/powerpoint/2010/main" val="274522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56642"/>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根据下列条件求抛物线的标准方程</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焦点在</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轴上且过点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过点</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p&gt;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7" name="组合 6"/>
          <p:cNvGrpSpPr/>
          <p:nvPr/>
        </p:nvGrpSpPr>
        <p:grpSpPr>
          <a:xfrm>
            <a:off x="51816" y="2280547"/>
            <a:ext cx="11901921" cy="4204514"/>
            <a:chOff x="51816" y="2280547"/>
            <a:chExt cx="11901921" cy="4204514"/>
          </a:xfrm>
        </p:grpSpPr>
        <p:graphicFrame>
          <p:nvGraphicFramePr>
            <p:cNvPr id="4" name="对象 3"/>
            <p:cNvGraphicFramePr>
              <a:graphicFrameLocks noChangeAspect="1"/>
            </p:cNvGraphicFramePr>
            <p:nvPr>
              <p:extLst>
                <p:ext uri="{D42A27DB-BD31-4B8C-83A1-F6EECF244321}">
                  <p14:modId xmlns:p14="http://schemas.microsoft.com/office/powerpoint/2010/main" val="531674956"/>
                </p:ext>
              </p:extLst>
            </p:nvPr>
          </p:nvGraphicFramePr>
          <p:xfrm>
            <a:off x="51816" y="2280547"/>
            <a:ext cx="11430000" cy="2005680"/>
          </p:xfrm>
          <a:graphic>
            <a:graphicData uri="http://schemas.openxmlformats.org/presentationml/2006/ole">
              <mc:AlternateContent xmlns:mc="http://schemas.openxmlformats.org/markup-compatibility/2006">
                <mc:Choice xmlns:v="urn:schemas-microsoft-com:vml" Requires="v">
                  <p:oleObj spid="_x0000_s11281"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51816" y="2280547"/>
                          <a:ext cx="11430000" cy="2005680"/>
                        </a:xfrm>
                        <a:prstGeom prst="rect">
                          <a:avLst/>
                        </a:prstGeom>
                      </p:spPr>
                    </p:pic>
                  </p:oleObj>
                </mc:Fallback>
              </mc:AlternateContent>
            </a:graphicData>
          </a:graphic>
        </p:graphicFrame>
        <p:sp>
          <p:nvSpPr>
            <p:cNvPr id="5" name="矩形 4"/>
            <p:cNvSpPr>
              <a:spLocks noChangeAspect="1"/>
            </p:cNvSpPr>
            <p:nvPr/>
          </p:nvSpPr>
          <p:spPr>
            <a:xfrm>
              <a:off x="381000" y="4152115"/>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设抛物线的标准方程</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endPar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px</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p&gt;</a:t>
              </a:r>
              <a:r>
                <a:rPr lang="en-US" altLang="zh-CN" sz="2800" dirty="0" smtClean="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将</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a:t>
              </a:r>
              <a:endPar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px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8,</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将</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所求抛物线的标准方程为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6" name="图片 5"/>
            <p:cNvPicPr>
              <a:picLocks noChangeAspect="1"/>
            </p:cNvPicPr>
            <p:nvPr/>
          </p:nvPicPr>
          <p:blipFill>
            <a:blip r:embed="rId5">
              <a:clrChange>
                <a:clrFrom>
                  <a:srgbClr val="FFFFFF"/>
                </a:clrFrom>
                <a:clrTo>
                  <a:srgbClr val="FFFFFF">
                    <a:alpha val="0"/>
                  </a:srgbClr>
                </a:clrTo>
              </a:clrChange>
            </a:blip>
            <a:stretch>
              <a:fillRect/>
            </a:stretch>
          </p:blipFill>
          <p:spPr>
            <a:xfrm>
              <a:off x="6754090" y="3284196"/>
              <a:ext cx="5199647" cy="2514583"/>
            </a:xfrm>
            <a:prstGeom prst="rect">
              <a:avLst/>
            </a:prstGeom>
          </p:spPr>
        </p:pic>
      </p:grpSp>
    </p:spTree>
    <p:extLst>
      <p:ext uri="{BB962C8B-B14F-4D97-AF65-F5344CB8AC3E}">
        <p14:creationId xmlns:p14="http://schemas.microsoft.com/office/powerpoint/2010/main" val="9932925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抛物线的定义及其应用</a:t>
                </a:r>
              </a:p>
            </p:txBody>
          </p:sp>
        </p:grpSp>
      </p:grpSp>
      <p:grpSp>
        <p:nvGrpSpPr>
          <p:cNvPr id="6" name="组合 5"/>
          <p:cNvGrpSpPr/>
          <p:nvPr/>
        </p:nvGrpSpPr>
        <p:grpSpPr>
          <a:xfrm>
            <a:off x="64008" y="670406"/>
            <a:ext cx="11746992" cy="2260882"/>
            <a:chOff x="64008" y="982136"/>
            <a:chExt cx="11746992" cy="2260882"/>
          </a:xfrm>
        </p:grpSpPr>
        <p:sp>
          <p:nvSpPr>
            <p:cNvPr id="2" name="矩形 1"/>
            <p:cNvSpPr>
              <a:spLocks noChangeAspect="1"/>
            </p:cNvSpPr>
            <p:nvPr/>
          </p:nvSpPr>
          <p:spPr>
            <a:xfrm>
              <a:off x="381000" y="982136"/>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cs typeface="Times New Roman" panose="02020603050405020304" pitchFamily="18" charset="0"/>
                </a:rPr>
                <a:t>为坐标原点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为抛物线</a:t>
              </a:r>
              <a:r>
                <a:rPr lang="en-US" altLang="zh-CN" sz="2800" i="1" dirty="0" smtClean="0">
                  <a:solidFill>
                    <a:srgbClr val="000000"/>
                  </a:solidFill>
                  <a:latin typeface="Times New Roman" panose="02020603050405020304" pitchFamily="18" charset="0"/>
                  <a:cs typeface="Times New Roman" panose="02020603050405020304" pitchFamily="18" charset="0"/>
                </a:rPr>
                <a:t>C</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4      </a:t>
              </a: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的焦点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上一点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|PF|=</a:t>
              </a:r>
              <a:r>
                <a:rPr lang="en-US" altLang="zh-CN" sz="2800" dirty="0" smtClean="0">
                  <a:solidFill>
                    <a:srgbClr val="000000"/>
                  </a:solidFill>
                  <a:latin typeface="Times New Roman" panose="02020603050405020304" pitchFamily="18" charset="0"/>
                  <a:cs typeface="Times New Roman" panose="02020603050405020304" pitchFamily="18" charset="0"/>
                </a:rPr>
                <a:t>4      ,</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POF</a:t>
              </a:r>
              <a:r>
                <a:rPr lang="zh-CN" altLang="zh-CN" sz="2800" dirty="0">
                  <a:solidFill>
                    <a:srgbClr val="000000"/>
                  </a:solidFill>
                  <a:latin typeface="Times New Roman" panose="02020603050405020304" pitchFamily="18" charset="0"/>
                  <a:cs typeface="Times New Roman" panose="02020603050405020304" pitchFamily="18" charset="0"/>
                </a:rPr>
                <a:t>的</a:t>
              </a:r>
              <a:r>
                <a:rPr lang="zh-CN" altLang="zh-CN" sz="2800" dirty="0" smtClean="0">
                  <a:solidFill>
                    <a:srgbClr val="000000"/>
                  </a:solidFill>
                  <a:latin typeface="Times New Roman" panose="02020603050405020304" pitchFamily="18" charset="0"/>
                  <a:cs typeface="Times New Roman" panose="02020603050405020304" pitchFamily="18" charset="0"/>
                </a:rPr>
                <a:t>面积</a:t>
              </a:r>
              <a:r>
                <a:rPr lang="en-US" altLang="zh-CN" sz="2800" i="1" dirty="0">
                  <a:solidFill>
                    <a:srgbClr val="000000"/>
                  </a:solidFill>
                  <a:latin typeface="Times New Roman" panose="02020603050405020304" pitchFamily="18" charset="0"/>
                  <a:cs typeface="Times New Roman" panose="02020603050405020304" pitchFamily="18" charset="0"/>
                </a:rPr>
                <a:t>S</a:t>
              </a:r>
              <a:r>
                <a:rPr lang="zh-CN" altLang="zh-CN" sz="2800" dirty="0" smtClean="0">
                  <a:solidFill>
                    <a:srgbClr val="000000"/>
                  </a:solidFill>
                  <a:latin typeface="Times New Roman" panose="02020603050405020304" pitchFamily="18" charset="0"/>
                  <a:cs typeface="Times New Roman" panose="02020603050405020304" pitchFamily="18" charset="0"/>
                </a:rPr>
                <a:t>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358101819"/>
                </p:ext>
              </p:extLst>
            </p:nvPr>
          </p:nvGraphicFramePr>
          <p:xfrm>
            <a:off x="8025384" y="1057923"/>
            <a:ext cx="673100" cy="533400"/>
          </p:xfrm>
          <a:graphic>
            <a:graphicData uri="http://schemas.openxmlformats.org/presentationml/2006/ole">
              <mc:AlternateContent xmlns:mc="http://schemas.openxmlformats.org/markup-compatibility/2006">
                <mc:Choice xmlns:v="urn:schemas-microsoft-com:vml" Requires="v">
                  <p:oleObj spid="_x0000_s12354" name="文档" r:id="rId3" imgW="271708" imgH="211567" progId="Word.Document.12">
                    <p:embed/>
                  </p:oleObj>
                </mc:Choice>
                <mc:Fallback>
                  <p:oleObj name="文档" r:id="rId3" imgW="271708" imgH="211567" progId="Word.Document.12">
                    <p:embed/>
                    <p:pic>
                      <p:nvPicPr>
                        <p:cNvPr id="0" name=""/>
                        <p:cNvPicPr/>
                        <p:nvPr/>
                      </p:nvPicPr>
                      <p:blipFill>
                        <a:blip r:embed="rId4"/>
                        <a:stretch>
                          <a:fillRect/>
                        </a:stretch>
                      </p:blipFill>
                      <p:spPr>
                        <a:xfrm>
                          <a:off x="8025384" y="1057923"/>
                          <a:ext cx="673100" cy="53340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629193212"/>
                </p:ext>
              </p:extLst>
            </p:nvPr>
          </p:nvGraphicFramePr>
          <p:xfrm>
            <a:off x="64008" y="2239721"/>
            <a:ext cx="11430000" cy="1003297"/>
          </p:xfrm>
          <a:graphic>
            <a:graphicData uri="http://schemas.openxmlformats.org/presentationml/2006/ole">
              <mc:AlternateContent xmlns:mc="http://schemas.openxmlformats.org/markup-compatibility/2006">
                <mc:Choice xmlns:v="urn:schemas-microsoft-com:vml" Requires="v">
                  <p:oleObj spid="_x0000_s12355"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64008" y="2239721"/>
                          <a:ext cx="11430000" cy="1003297"/>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575449020"/>
                </p:ext>
              </p:extLst>
            </p:nvPr>
          </p:nvGraphicFramePr>
          <p:xfrm>
            <a:off x="2248177" y="1616820"/>
            <a:ext cx="673100" cy="533400"/>
          </p:xfrm>
          <a:graphic>
            <a:graphicData uri="http://schemas.openxmlformats.org/presentationml/2006/ole">
              <mc:AlternateContent xmlns:mc="http://schemas.openxmlformats.org/markup-compatibility/2006">
                <mc:Choice xmlns:v="urn:schemas-microsoft-com:vml" Requires="v">
                  <p:oleObj spid="_x0000_s12356" name="文档" r:id="rId7" imgW="271708" imgH="211567" progId="Word.Document.12">
                    <p:embed/>
                  </p:oleObj>
                </mc:Choice>
                <mc:Fallback>
                  <p:oleObj name="文档" r:id="rId7" imgW="271708" imgH="211567" progId="Word.Document.12">
                    <p:embed/>
                    <p:pic>
                      <p:nvPicPr>
                        <p:cNvPr id="0" name=""/>
                        <p:cNvPicPr/>
                        <p:nvPr/>
                      </p:nvPicPr>
                      <p:blipFill>
                        <a:blip r:embed="rId4"/>
                        <a:stretch>
                          <a:fillRect/>
                        </a:stretch>
                      </p:blipFill>
                      <p:spPr>
                        <a:xfrm>
                          <a:off x="2248177" y="1616820"/>
                          <a:ext cx="673100" cy="533400"/>
                        </a:xfrm>
                        <a:prstGeom prst="rect">
                          <a:avLst/>
                        </a:prstGeom>
                      </p:spPr>
                    </p:pic>
                  </p:oleObj>
                </mc:Fallback>
              </mc:AlternateContent>
            </a:graphicData>
          </a:graphic>
        </p:graphicFrame>
      </p:grpSp>
      <p:graphicFrame>
        <p:nvGraphicFramePr>
          <p:cNvPr id="7" name="对象 6"/>
          <p:cNvGraphicFramePr>
            <a:graphicFrameLocks noChangeAspect="1"/>
          </p:cNvGraphicFramePr>
          <p:nvPr>
            <p:extLst>
              <p:ext uri="{D42A27DB-BD31-4B8C-83A1-F6EECF244321}">
                <p14:modId xmlns:p14="http://schemas.microsoft.com/office/powerpoint/2010/main" val="3242295090"/>
              </p:ext>
            </p:extLst>
          </p:nvPr>
        </p:nvGraphicFramePr>
        <p:xfrm>
          <a:off x="66675" y="2986088"/>
          <a:ext cx="11236325" cy="2754312"/>
        </p:xfrm>
        <a:graphic>
          <a:graphicData uri="http://schemas.openxmlformats.org/presentationml/2006/ole">
            <mc:AlternateContent xmlns:mc="http://schemas.openxmlformats.org/markup-compatibility/2006">
              <mc:Choice xmlns:v="urn:schemas-microsoft-com:vml" Requires="v">
                <p:oleObj spid="_x0000_s12357" name="文档" r:id="rId8" imgW="4510061" imgH="1112515" progId="Word.Document.12">
                  <p:embed/>
                </p:oleObj>
              </mc:Choice>
              <mc:Fallback>
                <p:oleObj name="文档" r:id="rId8" imgW="4510061" imgH="1112515" progId="Word.Document.12">
                  <p:embed/>
                  <p:pic>
                    <p:nvPicPr>
                      <p:cNvPr id="0" name=""/>
                      <p:cNvPicPr/>
                      <p:nvPr/>
                    </p:nvPicPr>
                    <p:blipFill>
                      <a:blip r:embed="rId9"/>
                      <a:stretch>
                        <a:fillRect/>
                      </a:stretch>
                    </p:blipFill>
                    <p:spPr>
                      <a:xfrm>
                        <a:off x="66675" y="2986088"/>
                        <a:ext cx="11236325" cy="2754312"/>
                      </a:xfrm>
                      <a:prstGeom prst="rect">
                        <a:avLst/>
                      </a:prstGeom>
                    </p:spPr>
                  </p:pic>
                </p:oleObj>
              </mc:Fallback>
            </mc:AlternateContent>
          </a:graphicData>
        </a:graphic>
      </p:graphicFrame>
      <p:sp>
        <p:nvSpPr>
          <p:cNvPr id="16" name="矩形 15"/>
          <p:cNvSpPr>
            <a:spLocks noChangeAspect="1"/>
          </p:cNvSpPr>
          <p:nvPr/>
        </p:nvSpPr>
        <p:spPr>
          <a:xfrm>
            <a:off x="381000" y="5585446"/>
            <a:ext cx="1612942"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C </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09313"/>
            <a:ext cx="11430000" cy="56335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已知抛物线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的焦点是</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是抛物线上的动点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对于定点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(4,2),</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|PA|+|PF|</a:t>
            </a:r>
            <a:r>
              <a:rPr lang="zh-CN" altLang="zh-CN" sz="2800" dirty="0">
                <a:solidFill>
                  <a:srgbClr val="000000"/>
                </a:solidFill>
                <a:latin typeface="Times New Roman" panose="02020603050405020304" pitchFamily="18" charset="0"/>
                <a:cs typeface="Times New Roman" panose="02020603050405020304" pitchFamily="18" charset="0"/>
              </a:rPr>
              <a:t>的最小值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并求出取最小值时的点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的坐标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由条件及抛物线的定义求出点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的横、纵坐标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dirty="0">
                <a:solidFill>
                  <a:srgbClr val="000000"/>
                </a:solidFill>
                <a:latin typeface="Cambria Math" panose="02040503050406030204" pitchFamily="18" charset="0"/>
                <a:cs typeface="Cambria Math" panose="020405030504060302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POF</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的面积易得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利用抛物线的定义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把</a:t>
            </a:r>
            <a:r>
              <a:rPr lang="en-US" altLang="zh-CN" sz="2800" i="1" dirty="0">
                <a:solidFill>
                  <a:srgbClr val="000000"/>
                </a:solidFill>
                <a:latin typeface="Times New Roman" panose="02020603050405020304" pitchFamily="18" charset="0"/>
                <a:cs typeface="Times New Roman" panose="02020603050405020304" pitchFamily="18" charset="0"/>
              </a:rPr>
              <a:t>|PF|</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转化为点到准线的距离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作</a:t>
            </a:r>
            <a:r>
              <a:rPr lang="en-US" altLang="zh-CN" sz="2800" i="1" dirty="0">
                <a:solidFill>
                  <a:srgbClr val="000000"/>
                </a:solidFill>
                <a:latin typeface="Times New Roman" panose="02020603050405020304" pitchFamily="18" charset="0"/>
                <a:cs typeface="Times New Roman" panose="02020603050405020304" pitchFamily="18" charset="0"/>
              </a:rPr>
              <a:t>PN</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于点</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为准线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作</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于点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|PA|+|PF|=|PA|+|PN|</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当且仅当</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与抛物线的交点时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取等号</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|PA|+|PF|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25000" dirty="0">
                <a:solidFill>
                  <a:srgbClr val="000000"/>
                </a:solidFill>
                <a:latin typeface="Times New Roman" panose="02020603050405020304" pitchFamily="18" charset="0"/>
                <a:cs typeface="Times New Roman" panose="02020603050405020304" pitchFamily="18" charset="0"/>
              </a:rPr>
              <a:t>min</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此时</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i="1" baseline="-25000" dirty="0" err="1">
                <a:solidFill>
                  <a:srgbClr val="000000"/>
                </a:solidFill>
                <a:latin typeface="Times New Roman" panose="02020603050405020304" pitchFamily="18" charset="0"/>
                <a:cs typeface="Times New Roman" panose="02020603050405020304" pitchFamily="18" charset="0"/>
              </a:rPr>
              <a:t>P</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代入抛物线方程得</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i="1" baseline="-25000" dirty="0" err="1">
                <a:solidFill>
                  <a:srgbClr val="000000"/>
                </a:solidFill>
                <a:latin typeface="Times New Roman" panose="02020603050405020304" pitchFamily="18" charset="0"/>
                <a:cs typeface="Times New Roman" panose="02020603050405020304" pitchFamily="18" charset="0"/>
              </a:rPr>
              <a:t>P</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NMX1TRAX17.eps" descr="id:2147497525;FounderCES"/>
          <p:cNvPicPr/>
          <p:nvPr/>
        </p:nvPicPr>
        <p:blipFill>
          <a:blip r:embed="rId2">
            <a:clrChange>
              <a:clrFrom>
                <a:srgbClr val="FFFFFF"/>
              </a:clrFrom>
              <a:clrTo>
                <a:srgbClr val="FFFFFF">
                  <a:alpha val="0"/>
                </a:srgbClr>
              </a:clrTo>
            </a:clrChange>
          </a:blip>
          <a:stretch>
            <a:fillRect/>
          </a:stretch>
        </p:blipFill>
        <p:spPr>
          <a:xfrm>
            <a:off x="8330819" y="3026109"/>
            <a:ext cx="3373501" cy="3011624"/>
          </a:xfrm>
          <a:prstGeom prst="rect">
            <a:avLst/>
          </a:prstGeom>
        </p:spPr>
      </p:pic>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wipe(down)">
                                      <p:cBhvr>
                                        <p:cTn id="15" dur="500"/>
                                        <p:tgtEl>
                                          <p:spTgt spid="2">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wipe(down)">
                                      <p:cBhvr>
                                        <p:cTn id="18" dur="500"/>
                                        <p:tgtEl>
                                          <p:spTgt spid="2">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wipe(down)">
                                      <p:cBhvr>
                                        <p:cTn id="21" dur="500"/>
                                        <p:tgtEl>
                                          <p:spTgt spid="2">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wipe(down)">
                                      <p:cBhvr>
                                        <p:cTn id="24" dur="500"/>
                                        <p:tgtEl>
                                          <p:spTgt spid="2">
                                            <p:txEl>
                                              <p:pRg st="6" end="6"/>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wipe(down)">
                                      <p:cBhvr>
                                        <p:cTn id="27" dur="500"/>
                                        <p:tgtEl>
                                          <p:spTgt spid="2">
                                            <p:txEl>
                                              <p:pRg st="7" end="7"/>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down)">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16684"/>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将本例</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坐标改为</a:t>
            </a:r>
            <a:r>
              <a:rPr lang="en-US" altLang="zh-CN" sz="2800" dirty="0">
                <a:solidFill>
                  <a:srgbClr val="000000"/>
                </a:solidFill>
                <a:latin typeface="Times New Roman" panose="02020603050405020304" pitchFamily="18" charset="0"/>
                <a:cs typeface="Times New Roman" panose="02020603050405020304" pitchFamily="18" charset="0"/>
              </a:rPr>
              <a:t>(3,4),</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到抛物线准线的距离为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其他条件不变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|PA|+d</a:t>
            </a:r>
            <a:r>
              <a:rPr lang="zh-CN" altLang="zh-CN" sz="2800" dirty="0">
                <a:solidFill>
                  <a:srgbClr val="000000"/>
                </a:solidFill>
                <a:latin typeface="Times New Roman" panose="02020603050405020304" pitchFamily="18" charset="0"/>
                <a:cs typeface="Times New Roman" panose="02020603050405020304" pitchFamily="18" charset="0"/>
              </a:rPr>
              <a:t>的最小值为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由题意可知点</a:t>
            </a:r>
            <a:r>
              <a:rPr lang="en-US" altLang="zh-CN" sz="2800" dirty="0">
                <a:solidFill>
                  <a:srgbClr val="000000"/>
                </a:solidFill>
                <a:latin typeface="Times New Roman" panose="02020603050405020304" pitchFamily="18" charset="0"/>
                <a:cs typeface="Times New Roman" panose="02020603050405020304" pitchFamily="18" charset="0"/>
              </a:rPr>
              <a:t>(3,4)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在抛物线的外部</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d=|PF|.</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|PA|+d=|PA|+|PF|</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的最小值即为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两点间的距离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4" name="延伸探究H.eps" descr="id:2147494559;FounderCES"/>
          <p:cNvPicPr/>
          <p:nvPr/>
        </p:nvPicPr>
        <p:blipFill>
          <a:blip r:embed="rId3">
            <a:clrChange>
              <a:clrFrom>
                <a:srgbClr val="FFFFFF"/>
              </a:clrFrom>
              <a:clrTo>
                <a:srgbClr val="FFFFFF">
                  <a:alpha val="0"/>
                </a:srgbClr>
              </a:clrTo>
            </a:clrChange>
          </a:blip>
          <a:stretch>
            <a:fillRect/>
          </a:stretch>
        </p:blipFill>
        <p:spPr>
          <a:xfrm>
            <a:off x="4757688" y="588018"/>
            <a:ext cx="2016224" cy="367706"/>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1649673349"/>
              </p:ext>
            </p:extLst>
          </p:nvPr>
        </p:nvGraphicFramePr>
        <p:xfrm>
          <a:off x="50800" y="3338125"/>
          <a:ext cx="11430000" cy="1003297"/>
        </p:xfrm>
        <a:graphic>
          <a:graphicData uri="http://schemas.openxmlformats.org/presentationml/2006/ole">
            <mc:AlternateContent xmlns:mc="http://schemas.openxmlformats.org/markup-compatibility/2006">
              <mc:Choice xmlns:v="urn:schemas-microsoft-com:vml" Requires="v">
                <p:oleObj spid="_x0000_s13342" name="文档" r:id="rId4" imgW="4520786" imgH="396823" progId="Word.Document.12">
                  <p:embed/>
                </p:oleObj>
              </mc:Choice>
              <mc:Fallback>
                <p:oleObj name="文档" r:id="rId4" imgW="4520786" imgH="396823" progId="Word.Document.12">
                  <p:embed/>
                  <p:pic>
                    <p:nvPicPr>
                      <p:cNvPr id="0" name=""/>
                      <p:cNvPicPr/>
                      <p:nvPr/>
                    </p:nvPicPr>
                    <p:blipFill>
                      <a:blip r:embed="rId5"/>
                      <a:stretch>
                        <a:fillRect/>
                      </a:stretch>
                    </p:blipFill>
                    <p:spPr>
                      <a:xfrm>
                        <a:off x="50800" y="3338125"/>
                        <a:ext cx="11430000" cy="100329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471034046"/>
              </p:ext>
            </p:extLst>
          </p:nvPr>
        </p:nvGraphicFramePr>
        <p:xfrm>
          <a:off x="50800" y="4402382"/>
          <a:ext cx="11430000" cy="501192"/>
        </p:xfrm>
        <a:graphic>
          <a:graphicData uri="http://schemas.openxmlformats.org/presentationml/2006/ole">
            <mc:AlternateContent xmlns:mc="http://schemas.openxmlformats.org/markup-compatibility/2006">
              <mc:Choice xmlns:v="urn:schemas-microsoft-com:vml" Requires="v">
                <p:oleObj spid="_x0000_s13343" name="文档" r:id="rId6" imgW="4520786" imgH="198231" progId="Word.Document.12">
                  <p:embed/>
                </p:oleObj>
              </mc:Choice>
              <mc:Fallback>
                <p:oleObj name="文档" r:id="rId6" imgW="4520786" imgH="198231" progId="Word.Document.12">
                  <p:embed/>
                  <p:pic>
                    <p:nvPicPr>
                      <p:cNvPr id="0" name=""/>
                      <p:cNvPicPr/>
                      <p:nvPr/>
                    </p:nvPicPr>
                    <p:blipFill>
                      <a:blip r:embed="rId7"/>
                      <a:stretch>
                        <a:fillRect/>
                      </a:stretch>
                    </p:blipFill>
                    <p:spPr>
                      <a:xfrm>
                        <a:off x="50800" y="4402382"/>
                        <a:ext cx="11430000" cy="501192"/>
                      </a:xfrm>
                      <a:prstGeom prst="rect">
                        <a:avLst/>
                      </a:prstGeom>
                    </p:spPr>
                  </p:pic>
                </p:oleObj>
              </mc:Fallback>
            </mc:AlternateContent>
          </a:graphicData>
        </a:graphic>
      </p:graphicFrame>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91466"/>
            <a:ext cx="11430000" cy="3453253"/>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抛物线</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定义的两种应用</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实现距离转化</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根据抛物线的定义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抛物线上任意一点到焦点的距离等于它到准线的距离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因此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由抛物线定义可以实现点点距与点线距的相互转化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从而简化某些问题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解决最值问题</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在抛物线中求解与焦点有关的两点间距离和的最小值时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往往用抛物线的定义进行转化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即化折线为直线解决最值问题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6657"/>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已知点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是抛物线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上的一个动点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(0,2)</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zh-CN" altLang="zh-CN" sz="2800" dirty="0" smtClean="0">
                <a:solidFill>
                  <a:srgbClr val="000000"/>
                </a:solidFill>
                <a:latin typeface="Times New Roman" panose="02020603050405020304" pitchFamily="18" charset="0"/>
                <a:cs typeface="Times New Roman" panose="02020603050405020304" pitchFamily="18" charset="0"/>
              </a:rPr>
              <a:t>与</a:t>
            </a:r>
            <a:r>
              <a:rPr lang="zh-CN" altLang="en-US" sz="2800" dirty="0">
                <a:solidFill>
                  <a:srgbClr val="000000"/>
                </a:solidFill>
                <a:latin typeface="Times New Roman" panose="02020603050405020304" pitchFamily="18" charset="0"/>
                <a:cs typeface="Times New Roman" panose="02020603050405020304" pitchFamily="18" charset="0"/>
              </a:rPr>
              <a:t>点</a:t>
            </a:r>
            <a:r>
              <a:rPr lang="en-US" altLang="zh-CN" sz="2800" i="1" dirty="0" smtClean="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到该抛物线准线的距离之和的最小值为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543951648"/>
              </p:ext>
            </p:extLst>
          </p:nvPr>
        </p:nvGraphicFramePr>
        <p:xfrm>
          <a:off x="51816" y="1238598"/>
          <a:ext cx="11430000" cy="2005680"/>
        </p:xfrm>
        <a:graphic>
          <a:graphicData uri="http://schemas.openxmlformats.org/presentationml/2006/ole">
            <mc:AlternateContent xmlns:mc="http://schemas.openxmlformats.org/markup-compatibility/2006">
              <mc:Choice xmlns:v="urn:schemas-microsoft-com:vml" Requires="v">
                <p:oleObj spid="_x0000_s14383"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51816" y="1238598"/>
                        <a:ext cx="11430000" cy="2005680"/>
                      </a:xfrm>
                      <a:prstGeom prst="rect">
                        <a:avLst/>
                      </a:prstGeom>
                    </p:spPr>
                  </p:pic>
                </p:oleObj>
              </mc:Fallback>
            </mc:AlternateContent>
          </a:graphicData>
        </a:graphic>
      </p:graphicFrame>
      <p:grpSp>
        <p:nvGrpSpPr>
          <p:cNvPr id="8" name="组合 7"/>
          <p:cNvGrpSpPr/>
          <p:nvPr/>
        </p:nvGrpSpPr>
        <p:grpSpPr>
          <a:xfrm>
            <a:off x="51816" y="3125889"/>
            <a:ext cx="11896344" cy="2691545"/>
            <a:chOff x="51816" y="3125889"/>
            <a:chExt cx="11896344" cy="2691545"/>
          </a:xfrm>
        </p:grpSpPr>
        <p:sp>
          <p:nvSpPr>
            <p:cNvPr id="4" name="矩形 3"/>
            <p:cNvSpPr>
              <a:spLocks noChangeAspect="1"/>
            </p:cNvSpPr>
            <p:nvPr/>
          </p:nvSpPr>
          <p:spPr>
            <a:xfrm>
              <a:off x="381000" y="3125889"/>
              <a:ext cx="11567160" cy="1772793"/>
            </a:xfrm>
            <a:prstGeom prst="rect">
              <a:avLst/>
            </a:prstGeom>
          </p:spPr>
          <p:txBody>
            <a:bodyPr wrap="squar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由抛物线的定义可知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抛物线上的点到准线的距离等于到焦点的距离</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由图可得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到准线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距离</a:t>
              </a:r>
              <a:r>
                <a:rPr lang="en-US" altLang="zh-CN" sz="2800" i="1" dirty="0">
                  <a:solidFill>
                    <a:srgbClr val="000000"/>
                  </a:solidFill>
                  <a:latin typeface="Times New Roman" panose="02020603050405020304" pitchFamily="18" charset="0"/>
                  <a:cs typeface="Times New Roman" panose="02020603050405020304" pitchFamily="18" charset="0"/>
                </a:rPr>
                <a:t>d=|PF|</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易知点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在抛物线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的外部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AF</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交抛物线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于点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欲使所求距离之和最小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只需</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共线</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783184084"/>
                </p:ext>
              </p:extLst>
            </p:nvPr>
          </p:nvGraphicFramePr>
          <p:xfrm>
            <a:off x="4476598" y="3576038"/>
            <a:ext cx="498012" cy="799341"/>
          </p:xfrm>
          <a:graphic>
            <a:graphicData uri="http://schemas.openxmlformats.org/presentationml/2006/ole">
              <mc:AlternateContent xmlns:mc="http://schemas.openxmlformats.org/markup-compatibility/2006">
                <mc:Choice xmlns:v="urn:schemas-microsoft-com:vml" Requires="v">
                  <p:oleObj spid="_x0000_s14384" name="文档" r:id="rId5" imgW="255873" imgH="398985" progId="Word.Document.12">
                    <p:embed/>
                  </p:oleObj>
                </mc:Choice>
                <mc:Fallback>
                  <p:oleObj name="文档" r:id="rId5" imgW="255873" imgH="398985" progId="Word.Document.12">
                    <p:embed/>
                    <p:pic>
                      <p:nvPicPr>
                        <p:cNvPr id="0" name=""/>
                        <p:cNvPicPr/>
                        <p:nvPr/>
                      </p:nvPicPr>
                      <p:blipFill>
                        <a:blip r:embed="rId6"/>
                        <a:stretch>
                          <a:fillRect/>
                        </a:stretch>
                      </p:blipFill>
                      <p:spPr>
                        <a:xfrm>
                          <a:off x="4476598" y="3576038"/>
                          <a:ext cx="498012" cy="799341"/>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60281970"/>
                </p:ext>
              </p:extLst>
            </p:nvPr>
          </p:nvGraphicFramePr>
          <p:xfrm>
            <a:off x="51816" y="4814137"/>
            <a:ext cx="11430000" cy="1003297"/>
          </p:xfrm>
          <a:graphic>
            <a:graphicData uri="http://schemas.openxmlformats.org/presentationml/2006/ole">
              <mc:AlternateContent xmlns:mc="http://schemas.openxmlformats.org/markup-compatibility/2006">
                <mc:Choice xmlns:v="urn:schemas-microsoft-com:vml" Requires="v">
                  <p:oleObj spid="_x0000_s14385" name="文档" r:id="rId7" imgW="4520786" imgH="396823" progId="Word.Document.12">
                    <p:embed/>
                  </p:oleObj>
                </mc:Choice>
                <mc:Fallback>
                  <p:oleObj name="文档" r:id="rId7" imgW="4520786" imgH="396823" progId="Word.Document.12">
                    <p:embed/>
                    <p:pic>
                      <p:nvPicPr>
                        <p:cNvPr id="0" name=""/>
                        <p:cNvPicPr/>
                        <p:nvPr/>
                      </p:nvPicPr>
                      <p:blipFill>
                        <a:blip r:embed="rId8"/>
                        <a:stretch>
                          <a:fillRect/>
                        </a:stretch>
                      </p:blipFill>
                      <p:spPr>
                        <a:xfrm>
                          <a:off x="51816" y="4814137"/>
                          <a:ext cx="11430000" cy="1003297"/>
                        </a:xfrm>
                        <a:prstGeom prst="rect">
                          <a:avLst/>
                        </a:prstGeom>
                      </p:spPr>
                    </p:pic>
                  </p:oleObj>
                </mc:Fallback>
              </mc:AlternateContent>
            </a:graphicData>
          </a:graphic>
        </p:graphicFrame>
      </p:grpSp>
      <p:sp>
        <p:nvSpPr>
          <p:cNvPr id="7" name="矩形 6"/>
          <p:cNvSpPr>
            <a:spLocks noChangeAspect="1"/>
          </p:cNvSpPr>
          <p:nvPr/>
        </p:nvSpPr>
        <p:spPr>
          <a:xfrm>
            <a:off x="381000" y="5829626"/>
            <a:ext cx="1613968"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 </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9" name="NMX1TRAX18.eps" descr="id:2147497546;FounderCES"/>
          <p:cNvPicPr/>
          <p:nvPr/>
        </p:nvPicPr>
        <p:blipFill>
          <a:blip r:embed="rId9">
            <a:clrChange>
              <a:clrFrom>
                <a:srgbClr val="FFFFFF"/>
              </a:clrFrom>
              <a:clrTo>
                <a:srgbClr val="FFFFFF">
                  <a:alpha val="0"/>
                </a:srgbClr>
              </a:clrTo>
            </a:clrChange>
          </a:blip>
          <a:stretch>
            <a:fillRect/>
          </a:stretch>
        </p:blipFill>
        <p:spPr>
          <a:xfrm>
            <a:off x="10076687" y="774961"/>
            <a:ext cx="1881435" cy="2375312"/>
          </a:xfrm>
          <a:prstGeom prst="rect">
            <a:avLst/>
          </a:prstGeom>
        </p:spPr>
      </p:pic>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8616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若抛物线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上有一点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其横坐标为</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cs typeface="Times New Roman" panose="02020603050405020304" pitchFamily="18" charset="0"/>
              </a:rPr>
              <a:t>它到焦点的距离为</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cs typeface="Times New Roman" panose="02020603050405020304" pitchFamily="18" charset="0"/>
              </a:rPr>
              <a:t>求抛物线方程和点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的坐标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5" name="组合 4"/>
          <p:cNvGrpSpPr/>
          <p:nvPr/>
        </p:nvGrpSpPr>
        <p:grpSpPr>
          <a:xfrm>
            <a:off x="48768" y="1326344"/>
            <a:ext cx="11762232" cy="4568120"/>
            <a:chOff x="48768" y="1480408"/>
            <a:chExt cx="11762232" cy="4568120"/>
          </a:xfrm>
        </p:grpSpPr>
        <p:graphicFrame>
          <p:nvGraphicFramePr>
            <p:cNvPr id="3" name="对象 2"/>
            <p:cNvGraphicFramePr>
              <a:graphicFrameLocks noChangeAspect="1"/>
            </p:cNvGraphicFramePr>
            <p:nvPr>
              <p:extLst>
                <p:ext uri="{D42A27DB-BD31-4B8C-83A1-F6EECF244321}">
                  <p14:modId xmlns:p14="http://schemas.microsoft.com/office/powerpoint/2010/main" val="514288965"/>
                </p:ext>
              </p:extLst>
            </p:nvPr>
          </p:nvGraphicFramePr>
          <p:xfrm>
            <a:off x="48768" y="1480408"/>
            <a:ext cx="11430000" cy="3008976"/>
          </p:xfrm>
          <a:graphic>
            <a:graphicData uri="http://schemas.openxmlformats.org/presentationml/2006/ole">
              <mc:AlternateContent xmlns:mc="http://schemas.openxmlformats.org/markup-compatibility/2006">
                <mc:Choice xmlns:v="urn:schemas-microsoft-com:vml" Requires="v">
                  <p:oleObj spid="_x0000_s15376"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48768" y="1480408"/>
                          <a:ext cx="11430000" cy="3008976"/>
                        </a:xfrm>
                        <a:prstGeom prst="rect">
                          <a:avLst/>
                        </a:prstGeom>
                      </p:spPr>
                    </p:pic>
                  </p:oleObj>
                </mc:Fallback>
              </mc:AlternateContent>
            </a:graphicData>
          </a:graphic>
        </p:graphicFrame>
        <p:sp>
          <p:nvSpPr>
            <p:cNvPr id="4" name="矩形 3"/>
            <p:cNvSpPr>
              <a:spLocks noChangeAspect="1"/>
            </p:cNvSpPr>
            <p:nvPr/>
          </p:nvSpPr>
          <p:spPr>
            <a:xfrm>
              <a:off x="381000" y="4336008"/>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故抛物线方程为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9,6)</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42490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与抛物线有关的轨迹方程</a:t>
                </a:r>
              </a:p>
            </p:txBody>
          </p:sp>
        </p:grpSp>
      </p:grpSp>
      <p:sp>
        <p:nvSpPr>
          <p:cNvPr id="2" name="矩形 1"/>
          <p:cNvSpPr>
            <a:spLocks noChangeAspect="1"/>
          </p:cNvSpPr>
          <p:nvPr/>
        </p:nvSpPr>
        <p:spPr>
          <a:xfrm>
            <a:off x="381000" y="989337"/>
            <a:ext cx="11430000" cy="457356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已知动圆</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与直线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且与定圆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外切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求动圆圆心</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的轨迹方程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某河上有一座抛物线形的拱桥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当水面距拱顶</a:t>
            </a:r>
            <a:r>
              <a:rPr lang="en-US" altLang="zh-CN" sz="2800" dirty="0">
                <a:solidFill>
                  <a:srgbClr val="000000"/>
                </a:solidFill>
                <a:latin typeface="Times New Roman" panose="02020603050405020304" pitchFamily="18" charset="0"/>
                <a:cs typeface="Times New Roman" panose="02020603050405020304" pitchFamily="18" charset="0"/>
              </a:rPr>
              <a:t>5 m</a:t>
            </a:r>
            <a:r>
              <a:rPr lang="zh-CN" altLang="zh-CN" sz="2800" dirty="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水面宽</a:t>
            </a:r>
            <a:r>
              <a:rPr lang="en-US" altLang="zh-CN" sz="2800" dirty="0">
                <a:solidFill>
                  <a:srgbClr val="000000"/>
                </a:solidFill>
                <a:latin typeface="Times New Roman" panose="02020603050405020304" pitchFamily="18" charset="0"/>
                <a:cs typeface="Times New Roman" panose="02020603050405020304" pitchFamily="18" charset="0"/>
              </a:rPr>
              <a:t>8 m</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一木船宽</a:t>
            </a:r>
            <a:r>
              <a:rPr lang="en-US" altLang="zh-CN" sz="2800" dirty="0">
                <a:solidFill>
                  <a:srgbClr val="000000"/>
                </a:solidFill>
                <a:latin typeface="Times New Roman" panose="02020603050405020304" pitchFamily="18" charset="0"/>
                <a:cs typeface="Times New Roman" panose="02020603050405020304" pitchFamily="18" charset="0"/>
              </a:rPr>
              <a:t>4 m,</a:t>
            </a:r>
            <a:r>
              <a:rPr lang="zh-CN" altLang="zh-CN" sz="2800" dirty="0">
                <a:solidFill>
                  <a:srgbClr val="000000"/>
                </a:solidFill>
                <a:latin typeface="Times New Roman" panose="02020603050405020304" pitchFamily="18" charset="0"/>
                <a:cs typeface="Times New Roman" panose="02020603050405020304" pitchFamily="18" charset="0"/>
              </a:rPr>
              <a:t>高</a:t>
            </a:r>
            <a:r>
              <a:rPr lang="en-US" altLang="zh-CN" sz="2800" dirty="0">
                <a:solidFill>
                  <a:srgbClr val="000000"/>
                </a:solidFill>
                <a:latin typeface="Times New Roman" panose="02020603050405020304" pitchFamily="18" charset="0"/>
                <a:cs typeface="Times New Roman" panose="02020603050405020304" pitchFamily="18" charset="0"/>
              </a:rPr>
              <a:t>2 m,</a:t>
            </a:r>
            <a:r>
              <a:rPr lang="zh-CN" altLang="zh-CN" sz="2800" dirty="0">
                <a:solidFill>
                  <a:srgbClr val="000000"/>
                </a:solidFill>
                <a:latin typeface="Times New Roman" panose="02020603050405020304" pitchFamily="18" charset="0"/>
                <a:cs typeface="Times New Roman" panose="02020603050405020304" pitchFamily="18" charset="0"/>
              </a:rPr>
              <a:t>该木船载货时露在水面上的部分为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75 m,</a:t>
            </a:r>
            <a:r>
              <a:rPr lang="zh-CN" altLang="zh-CN" sz="2800" dirty="0">
                <a:solidFill>
                  <a:srgbClr val="000000"/>
                </a:solidFill>
                <a:latin typeface="Times New Roman" panose="02020603050405020304" pitchFamily="18" charset="0"/>
                <a:cs typeface="Times New Roman" panose="02020603050405020304" pitchFamily="18" charset="0"/>
              </a:rPr>
              <a:t>当水面上涨到与拱顶相距多少时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木船开始不能通航</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利用</a:t>
            </a:r>
            <a:r>
              <a:rPr lang="en-US" altLang="zh-CN" sz="2800" i="1" dirty="0">
                <a:solidFill>
                  <a:srgbClr val="000000"/>
                </a:solidFill>
                <a:latin typeface="Times New Roman" panose="02020603050405020304" pitchFamily="18" charset="0"/>
                <a:cs typeface="Times New Roman" panose="02020603050405020304" pitchFamily="18" charset="0"/>
              </a:rPr>
              <a:t>|MC|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的长度比点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到直线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的距离大</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先建立平面直角坐标系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确定抛物线的方程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由对称性知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木船的轴线与</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轴重合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问题转化为求</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出</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时的</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wipe(down)">
                                      <p:cBhvr>
                                        <p:cTn id="10"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01970"/>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设动圆圆心为</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半径为</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则由题意可得</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的距离与到直线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的距离相等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由抛物线的定义可知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动圆圆心的轨迹是以</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为焦点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为准线的一条抛物线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48768" y="390144"/>
            <a:ext cx="11762232" cy="5267829"/>
            <a:chOff x="48768" y="57634"/>
            <a:chExt cx="11762232" cy="5267829"/>
          </a:xfrm>
        </p:grpSpPr>
        <p:grpSp>
          <p:nvGrpSpPr>
            <p:cNvPr id="9" name="组合 8"/>
            <p:cNvGrpSpPr/>
            <p:nvPr/>
          </p:nvGrpSpPr>
          <p:grpSpPr>
            <a:xfrm>
              <a:off x="48768" y="57634"/>
              <a:ext cx="11762232" cy="5267829"/>
              <a:chOff x="48768" y="57634"/>
              <a:chExt cx="11762232" cy="5267829"/>
            </a:xfrm>
          </p:grpSpPr>
          <p:sp>
            <p:nvSpPr>
              <p:cNvPr id="2" name="矩形 1"/>
              <p:cNvSpPr>
                <a:spLocks noChangeAspect="1"/>
              </p:cNvSpPr>
              <p:nvPr/>
            </p:nvSpPr>
            <p:spPr>
              <a:xfrm>
                <a:off x="381000" y="57634"/>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以桥的拱顶为坐标原点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拱高所在的直线为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建立直角坐标系如图所示</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抛物线的方程是</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在抛物线上</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5" name="矩形 4"/>
              <p:cNvSpPr>
                <a:spLocks noChangeAspect="1"/>
              </p:cNvSpPr>
              <p:nvPr/>
            </p:nvSpPr>
            <p:spPr>
              <a:xfrm>
                <a:off x="381000" y="2633214"/>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设水面上涨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木船面两侧与抛物线形拱桥接触于点</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木船开始不能通航</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644606127"/>
                  </p:ext>
                </p:extLst>
              </p:nvPr>
            </p:nvGraphicFramePr>
            <p:xfrm>
              <a:off x="48768" y="1768463"/>
              <a:ext cx="11430000" cy="1003297"/>
            </p:xfrm>
            <a:graphic>
              <a:graphicData uri="http://schemas.openxmlformats.org/presentationml/2006/ole">
                <mc:AlternateContent xmlns:mc="http://schemas.openxmlformats.org/markup-compatibility/2006">
                  <mc:Choice xmlns:v="urn:schemas-microsoft-com:vml" Requires="v">
                    <p:oleObj spid="_x0000_s26630"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8768" y="1768463"/>
                            <a:ext cx="11430000" cy="1003297"/>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115685171"/>
                  </p:ext>
                </p:extLst>
              </p:nvPr>
            </p:nvGraphicFramePr>
            <p:xfrm>
              <a:off x="48768" y="3756138"/>
              <a:ext cx="11430000" cy="1003297"/>
            </p:xfrm>
            <a:graphic>
              <a:graphicData uri="http://schemas.openxmlformats.org/presentationml/2006/ole">
                <mc:AlternateContent xmlns:mc="http://schemas.openxmlformats.org/markup-compatibility/2006">
                  <mc:Choice xmlns:v="urn:schemas-microsoft-com:vml" Requires="v">
                    <p:oleObj spid="_x0000_s26631"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8768" y="3756138"/>
                            <a:ext cx="11430000" cy="1003297"/>
                          </a:xfrm>
                          <a:prstGeom prst="rect">
                            <a:avLst/>
                          </a:prstGeom>
                        </p:spPr>
                      </p:pic>
                    </p:oleObj>
                  </mc:Fallback>
                </mc:AlternateContent>
              </a:graphicData>
            </a:graphic>
          </p:graphicFrame>
          <p:sp>
            <p:nvSpPr>
              <p:cNvPr id="8" name="矩形 7"/>
              <p:cNvSpPr>
                <a:spLocks noChangeAspect="1"/>
              </p:cNvSpPr>
              <p:nvPr/>
            </p:nvSpPr>
            <p:spPr>
              <a:xfrm>
                <a:off x="381000" y="4672977"/>
                <a:ext cx="11430000" cy="65248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故当水面上涨到与抛物线形的拱顶相距</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木船开始不能通航</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pSp>
        <p:pic>
          <p:nvPicPr>
            <p:cNvPr id="10" name="NMX1TRAX19.eps" descr="id:2147497560;FounderCES"/>
            <p:cNvPicPr/>
            <p:nvPr/>
          </p:nvPicPr>
          <p:blipFill>
            <a:blip r:embed="rId7">
              <a:clrChange>
                <a:clrFrom>
                  <a:srgbClr val="FFFFFF"/>
                </a:clrFrom>
                <a:clrTo>
                  <a:srgbClr val="FFFFFF">
                    <a:alpha val="0"/>
                  </a:srgbClr>
                </a:clrTo>
              </a:clrChange>
            </a:blip>
            <a:stretch>
              <a:fillRect/>
            </a:stretch>
          </p:blipFill>
          <p:spPr>
            <a:xfrm>
              <a:off x="9464384" y="2012804"/>
              <a:ext cx="2346616" cy="2377578"/>
            </a:xfrm>
            <a:prstGeom prst="rect">
              <a:avLst/>
            </a:prstGeom>
          </p:spPr>
        </p:pic>
      </p:grpSp>
    </p:spTree>
    <p:extLst>
      <p:ext uri="{BB962C8B-B14F-4D97-AF65-F5344CB8AC3E}">
        <p14:creationId xmlns:p14="http://schemas.microsoft.com/office/powerpoint/2010/main" val="8094596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88529"/>
            <a:ext cx="11430000" cy="4573560"/>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求动点轨迹方程的方法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定义法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判断动点的轨迹是否满足抛物线的定义</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若满足抛物线的定义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则可按抛物线标准方程的形式写出方程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求解与抛物线有关的实际应用题的五个</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步骤</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建立适当的</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坐标系</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设出合适的抛物线标准</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方程</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通过计算求出抛物线的标准</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方程</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求出需要求出的</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量</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还原到实际问题中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从而解决实际问题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82631"/>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已知动圆</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经过点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(3,0),</a:t>
            </a:r>
            <a:r>
              <a:rPr lang="zh-CN" altLang="zh-CN" sz="2800" dirty="0">
                <a:solidFill>
                  <a:srgbClr val="000000"/>
                </a:solidFill>
                <a:latin typeface="Times New Roman" panose="02020603050405020304" pitchFamily="18" charset="0"/>
                <a:cs typeface="Times New Roman" panose="02020603050405020304" pitchFamily="18" charset="0"/>
              </a:rPr>
              <a:t>且与直线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求动圆圆心</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的轨迹方程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Segoe UI Symbol" panose="020B0502040204020203" pitchFamily="34" charset="0"/>
                <a:cs typeface="Segoe UI Symbol" panose="020B0502040204020203" pitchFamily="34"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的切点为</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|MA|=|MN|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到定点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和定直线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的距离相等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的轨迹是抛物线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且以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(3,0)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为焦点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为准线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故动圆圆心</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的轨迹方程是</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x.</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88726809"/>
              </p:ext>
            </p:extLst>
          </p:nvPr>
        </p:nvGraphicFramePr>
        <p:xfrm>
          <a:off x="8474276" y="3174228"/>
          <a:ext cx="473626" cy="825238"/>
        </p:xfrm>
        <a:graphic>
          <a:graphicData uri="http://schemas.openxmlformats.org/presentationml/2006/ole">
            <mc:AlternateContent xmlns:mc="http://schemas.openxmlformats.org/markup-compatibility/2006">
              <mc:Choice xmlns:v="urn:schemas-microsoft-com:vml" Requires="v">
                <p:oleObj spid="_x0000_s17422" name="文档" r:id="rId3" imgW="235000" imgH="396823" progId="Word.Document.12">
                  <p:embed/>
                </p:oleObj>
              </mc:Choice>
              <mc:Fallback>
                <p:oleObj name="文档" r:id="rId3" imgW="235000" imgH="396823" progId="Word.Document.12">
                  <p:embed/>
                  <p:pic>
                    <p:nvPicPr>
                      <p:cNvPr id="0" name=""/>
                      <p:cNvPicPr/>
                      <p:nvPr/>
                    </p:nvPicPr>
                    <p:blipFill>
                      <a:blip r:embed="rId4"/>
                      <a:stretch>
                        <a:fillRect/>
                      </a:stretch>
                    </p:blipFill>
                    <p:spPr>
                      <a:xfrm>
                        <a:off x="8474276" y="3174228"/>
                        <a:ext cx="473626" cy="825238"/>
                      </a:xfrm>
                      <a:prstGeom prst="rect">
                        <a:avLst/>
                      </a:prstGeom>
                    </p:spPr>
                  </p:pic>
                </p:oleObj>
              </mc:Fallback>
            </mc:AlternateContent>
          </a:graphicData>
        </a:graphic>
      </p:graphicFrame>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易错辨析</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8" name="矩形 7"/>
          <p:cNvSpPr>
            <a:spLocks noChangeAspect="1"/>
          </p:cNvSpPr>
          <p:nvPr/>
        </p:nvSpPr>
        <p:spPr>
          <a:xfrm>
            <a:off x="381000" y="991466"/>
            <a:ext cx="11430000" cy="3953133"/>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考虑问题时思维不严密致误</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轴的距离比它到定点</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的距离小</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x</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的轨迹方程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错解</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因为动点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轴的距离比它到定点</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的距离小</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所以动点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到定点</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的距离与它到定直线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的距离相等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所以动点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的轨迹是以</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为焦点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为准线的抛物线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所以抛物线的方程为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即所求动点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的轨迹方程为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4841"/>
            <a:ext cx="11430000" cy="62540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出错的原因是什么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你如何改正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你如何防范</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错解只考虑了</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轴右侧的情况</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在此题中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定点</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轴的距离为</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轴上原点左侧的点也满足题中条件</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正</a:t>
            </a: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因为动点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轴的距离比它到定点</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的距离小</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cs typeface="Times New Roman" panose="02020603050405020304" pitchFamily="18" charset="0"/>
              </a:rPr>
              <a:t>所以动点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到定点</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的距离与它到定直线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的距离相等</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cs typeface="Times New Roman" panose="02020603050405020304" pitchFamily="18" charset="0"/>
              </a:rPr>
              <a:t>所以以</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为焦点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为准线的抛物线方程满足轨迹方程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4,</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cs typeface="Times New Roman" panose="02020603050405020304" pitchFamily="18" charset="0"/>
              </a:rPr>
              <a:t>所以抛物线的方程为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x.</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轴上原点左侧的点到</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轴的距离比它到点</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的距离小</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cs typeface="Times New Roman" panose="02020603050405020304" pitchFamily="18" charset="0"/>
              </a:rPr>
              <a:t>所以方程</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x&lt;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也满足轨迹方程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cs typeface="Times New Roman" panose="02020603050405020304" pitchFamily="18" charset="0"/>
              </a:rPr>
              <a:t>综上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动点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的轨迹方程为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x&lt;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x.</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wipe(down)">
                                      <p:cBhvr>
                                        <p:cTn id="15" dur="500"/>
                                        <p:tgtEl>
                                          <p:spTgt spid="2">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wipe(down)">
                                      <p:cBhvr>
                                        <p:cTn id="18" dur="500"/>
                                        <p:tgtEl>
                                          <p:spTgt spid="2">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wipe(down)">
                                      <p:cBhvr>
                                        <p:cTn id="21" dur="500"/>
                                        <p:tgtEl>
                                          <p:spTgt spid="2">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wipe(down)">
                                      <p:cBhvr>
                                        <p:cTn id="24" dur="500"/>
                                        <p:tgtEl>
                                          <p:spTgt spid="2">
                                            <p:txEl>
                                              <p:pRg st="6" end="6"/>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wipe(down)">
                                      <p:cBhvr>
                                        <p:cTn id="27" dur="500"/>
                                        <p:tgtEl>
                                          <p:spTgt spid="2">
                                            <p:txEl>
                                              <p:pRg st="7" end="7"/>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2">
                                            <p:txEl>
                                              <p:pRg st="8" end="8"/>
                                            </p:txEl>
                                          </p:spTgt>
                                        </p:tgtEl>
                                        <p:attrNameLst>
                                          <p:attrName>style.visibility</p:attrName>
                                        </p:attrNameLst>
                                      </p:cBhvr>
                                      <p:to>
                                        <p:strVal val="visible"/>
                                      </p:to>
                                    </p:set>
                                    <p:animEffect transition="in" filter="wipe(down)">
                                      <p:cBhvr>
                                        <p:cTn id="30"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057028"/>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防范措施</a:t>
            </a:r>
            <a:r>
              <a:rPr lang="en-US"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考虑</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问题时要注意题目中的隐含条件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本题中定点</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轴的距离正好等于</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又定点</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轴上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轴上原点左侧的点也满足条件</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也可借助数形结合挖掘隐含条件</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541546809"/>
              </p:ext>
            </p:extLst>
          </p:nvPr>
        </p:nvGraphicFramePr>
        <p:xfrm>
          <a:off x="381000" y="212296"/>
          <a:ext cx="11430000" cy="2005680"/>
        </p:xfrm>
        <a:graphic>
          <a:graphicData uri="http://schemas.openxmlformats.org/presentationml/2006/ole">
            <mc:AlternateContent xmlns:mc="http://schemas.openxmlformats.org/markup-compatibility/2006">
              <mc:Choice xmlns:v="urn:schemas-microsoft-com:vml" Requires="v">
                <p:oleObj spid="_x0000_s18458"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381000" y="212296"/>
                        <a:ext cx="11430000" cy="200568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64843660"/>
              </p:ext>
            </p:extLst>
          </p:nvPr>
        </p:nvGraphicFramePr>
        <p:xfrm>
          <a:off x="381000" y="2049736"/>
          <a:ext cx="11430000" cy="4012272"/>
        </p:xfrm>
        <a:graphic>
          <a:graphicData uri="http://schemas.openxmlformats.org/presentationml/2006/ole">
            <mc:AlternateContent xmlns:mc="http://schemas.openxmlformats.org/markup-compatibility/2006">
              <mc:Choice xmlns:v="urn:schemas-microsoft-com:vml" Requires="v">
                <p:oleObj spid="_x0000_s18459" name="文档" r:id="rId5" imgW="4520786" imgH="1586931" progId="Word.Document.12">
                  <p:embed/>
                </p:oleObj>
              </mc:Choice>
              <mc:Fallback>
                <p:oleObj name="文档" r:id="rId5" imgW="4520786" imgH="1586931" progId="Word.Document.12">
                  <p:embed/>
                  <p:pic>
                    <p:nvPicPr>
                      <p:cNvPr id="0" name=""/>
                      <p:cNvPicPr/>
                      <p:nvPr/>
                    </p:nvPicPr>
                    <p:blipFill>
                      <a:blip r:embed="rId6"/>
                      <a:stretch>
                        <a:fillRect/>
                      </a:stretch>
                    </p:blipFill>
                    <p:spPr>
                      <a:xfrm>
                        <a:off x="381000" y="2049736"/>
                        <a:ext cx="11430000" cy="4012272"/>
                      </a:xfrm>
                      <a:prstGeom prst="rect">
                        <a:avLst/>
                      </a:prstGeom>
                    </p:spPr>
                  </p:pic>
                </p:oleObj>
              </mc:Fallback>
            </mc:AlternateContent>
          </a:graphicData>
        </a:graphic>
      </p:graphicFrame>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90910"/>
            <a:ext cx="7079182" cy="592213"/>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焦点是</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(0,5)</a:t>
            </a:r>
            <a:r>
              <a:rPr lang="zh-CN" altLang="zh-CN" sz="2800" dirty="0">
                <a:solidFill>
                  <a:srgbClr val="000000"/>
                </a:solidFill>
                <a:latin typeface="Times New Roman" panose="02020603050405020304" pitchFamily="18" charset="0"/>
                <a:cs typeface="Times New Roman" panose="02020603050405020304" pitchFamily="18" charset="0"/>
              </a:rPr>
              <a:t>的抛物线的标准方程是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90291546"/>
              </p:ext>
            </p:extLst>
          </p:nvPr>
        </p:nvGraphicFramePr>
        <p:xfrm>
          <a:off x="481140" y="1695718"/>
          <a:ext cx="11430000" cy="1504488"/>
        </p:xfrm>
        <a:graphic>
          <a:graphicData uri="http://schemas.openxmlformats.org/presentationml/2006/ole">
            <mc:AlternateContent xmlns:mc="http://schemas.openxmlformats.org/markup-compatibility/2006">
              <mc:Choice xmlns:v="urn:schemas-microsoft-com:vml" Requires="v">
                <p:oleObj spid="_x0000_s19480"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481140" y="1695718"/>
                        <a:ext cx="11430000" cy="150448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207844076"/>
              </p:ext>
            </p:extLst>
          </p:nvPr>
        </p:nvGraphicFramePr>
        <p:xfrm>
          <a:off x="481140" y="3090478"/>
          <a:ext cx="11430000" cy="1003297"/>
        </p:xfrm>
        <a:graphic>
          <a:graphicData uri="http://schemas.openxmlformats.org/presentationml/2006/ole">
            <mc:AlternateContent xmlns:mc="http://schemas.openxmlformats.org/markup-compatibility/2006">
              <mc:Choice xmlns:v="urn:schemas-microsoft-com:vml" Requires="v">
                <p:oleObj spid="_x0000_s19481"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81140" y="3090478"/>
                        <a:ext cx="11430000" cy="1003297"/>
                      </a:xfrm>
                      <a:prstGeom prst="rect">
                        <a:avLst/>
                      </a:prstGeom>
                    </p:spPr>
                  </p:pic>
                </p:oleObj>
              </mc:Fallback>
            </mc:AlternateContent>
          </a:graphicData>
        </a:graphic>
      </p:graphicFrame>
      <p:sp>
        <p:nvSpPr>
          <p:cNvPr id="5" name="矩形 4"/>
          <p:cNvSpPr>
            <a:spLocks noChangeAspect="1"/>
          </p:cNvSpPr>
          <p:nvPr/>
        </p:nvSpPr>
        <p:spPr>
          <a:xfrm>
            <a:off x="381000" y="3957822"/>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y.</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B</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down)">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down)">
                                      <p:cBhvr>
                                        <p:cTn id="15"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81000" y="165666"/>
            <a:ext cx="11530140" cy="2585701"/>
            <a:chOff x="381000" y="251010"/>
            <a:chExt cx="11530140" cy="2585701"/>
          </a:xfrm>
        </p:grpSpPr>
        <p:sp>
          <p:nvSpPr>
            <p:cNvPr id="2" name="矩形 1"/>
            <p:cNvSpPr>
              <a:spLocks noChangeAspect="1"/>
            </p:cNvSpPr>
            <p:nvPr/>
          </p:nvSpPr>
          <p:spPr>
            <a:xfrm>
              <a:off x="381000" y="251010"/>
              <a:ext cx="11430000" cy="5922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若抛物线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上的一点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到焦点的距离为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的纵坐标是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89562368"/>
                </p:ext>
              </p:extLst>
            </p:nvPr>
          </p:nvGraphicFramePr>
          <p:xfrm>
            <a:off x="481140" y="831031"/>
            <a:ext cx="11430000" cy="2005680"/>
          </p:xfrm>
          <a:graphic>
            <a:graphicData uri="http://schemas.openxmlformats.org/presentationml/2006/ole">
              <mc:AlternateContent xmlns:mc="http://schemas.openxmlformats.org/markup-compatibility/2006">
                <mc:Choice xmlns:v="urn:schemas-microsoft-com:vml" Requires="v">
                  <p:oleObj spid="_x0000_s20504"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81140" y="831031"/>
                          <a:ext cx="11430000" cy="2005680"/>
                        </a:xfrm>
                        <a:prstGeom prst="rect">
                          <a:avLst/>
                        </a:prstGeom>
                      </p:spPr>
                    </p:pic>
                  </p:oleObj>
                </mc:Fallback>
              </mc:AlternateContent>
            </a:graphicData>
          </a:graphic>
        </p:graphicFrame>
      </p:grpSp>
      <p:grpSp>
        <p:nvGrpSpPr>
          <p:cNvPr id="8" name="组合 7"/>
          <p:cNvGrpSpPr/>
          <p:nvPr/>
        </p:nvGrpSpPr>
        <p:grpSpPr>
          <a:xfrm>
            <a:off x="481140" y="2575768"/>
            <a:ext cx="11430000" cy="3983528"/>
            <a:chOff x="481140" y="2661112"/>
            <a:chExt cx="11430000" cy="3983528"/>
          </a:xfrm>
        </p:grpSpPr>
        <p:graphicFrame>
          <p:nvGraphicFramePr>
            <p:cNvPr id="4" name="对象 3"/>
            <p:cNvGraphicFramePr>
              <a:graphicFrameLocks noChangeAspect="1"/>
            </p:cNvGraphicFramePr>
            <p:nvPr>
              <p:extLst>
                <p:ext uri="{D42A27DB-BD31-4B8C-83A1-F6EECF244321}">
                  <p14:modId xmlns:p14="http://schemas.microsoft.com/office/powerpoint/2010/main" val="1792725953"/>
                </p:ext>
              </p:extLst>
            </p:nvPr>
          </p:nvGraphicFramePr>
          <p:xfrm>
            <a:off x="481140" y="2661112"/>
            <a:ext cx="11430000" cy="3008976"/>
          </p:xfrm>
          <a:graphic>
            <a:graphicData uri="http://schemas.openxmlformats.org/presentationml/2006/ole">
              <mc:AlternateContent xmlns:mc="http://schemas.openxmlformats.org/markup-compatibility/2006">
                <mc:Choice xmlns:v="urn:schemas-microsoft-com:vml" Requires="v">
                  <p:oleObj spid="_x0000_s20505" name="文档" r:id="rId5" imgW="4520786" imgH="1190108" progId="Word.Document.12">
                    <p:embed/>
                  </p:oleObj>
                </mc:Choice>
                <mc:Fallback>
                  <p:oleObj name="文档" r:id="rId5" imgW="4520786" imgH="1190108" progId="Word.Document.12">
                    <p:embed/>
                    <p:pic>
                      <p:nvPicPr>
                        <p:cNvPr id="0" name=""/>
                        <p:cNvPicPr/>
                        <p:nvPr/>
                      </p:nvPicPr>
                      <p:blipFill>
                        <a:blip r:embed="rId6"/>
                        <a:stretch>
                          <a:fillRect/>
                        </a:stretch>
                      </p:blipFill>
                      <p:spPr>
                        <a:xfrm>
                          <a:off x="481140" y="2661112"/>
                          <a:ext cx="11430000" cy="3008976"/>
                        </a:xfrm>
                        <a:prstGeom prst="rect">
                          <a:avLst/>
                        </a:prstGeom>
                      </p:spPr>
                    </p:pic>
                  </p:oleObj>
                </mc:Fallback>
              </mc:AlternateContent>
            </a:graphicData>
          </a:graphic>
        </p:graphicFrame>
        <p:pic>
          <p:nvPicPr>
            <p:cNvPr id="5" name="NMX1TRAX20.eps" descr="id:2147497595;FounderCES"/>
            <p:cNvPicPr/>
            <p:nvPr/>
          </p:nvPicPr>
          <p:blipFill>
            <a:blip r:embed="rId7">
              <a:clrChange>
                <a:clrFrom>
                  <a:srgbClr val="FFFFFF"/>
                </a:clrFrom>
                <a:clrTo>
                  <a:srgbClr val="FFFFFF">
                    <a:alpha val="0"/>
                  </a:srgbClr>
                </a:clrTo>
              </a:clrChange>
            </a:blip>
            <a:stretch>
              <a:fillRect/>
            </a:stretch>
          </p:blipFill>
          <p:spPr>
            <a:xfrm>
              <a:off x="7221790" y="4618024"/>
              <a:ext cx="2839697" cy="2026616"/>
            </a:xfrm>
            <a:prstGeom prst="rect">
              <a:avLst/>
            </a:prstGeom>
          </p:spPr>
        </p:pic>
      </p:grpSp>
      <p:sp>
        <p:nvSpPr>
          <p:cNvPr id="6" name="矩形 5"/>
          <p:cNvSpPr>
            <a:spLocks noChangeAspect="1"/>
          </p:cNvSpPr>
          <p:nvPr/>
        </p:nvSpPr>
        <p:spPr>
          <a:xfrm>
            <a:off x="381000" y="5523784"/>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B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81000" y="55626"/>
            <a:ext cx="11542332" cy="2693431"/>
            <a:chOff x="381000" y="55626"/>
            <a:chExt cx="11542332" cy="2693431"/>
          </a:xfrm>
        </p:grpSpPr>
        <p:sp>
          <p:nvSpPr>
            <p:cNvPr id="2" name="矩形 1"/>
            <p:cNvSpPr>
              <a:spLocks noChangeAspect="1"/>
            </p:cNvSpPr>
            <p:nvPr/>
          </p:nvSpPr>
          <p:spPr>
            <a:xfrm>
              <a:off x="381000" y="55626"/>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在抛物线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到点</a:t>
              </a:r>
              <a:r>
                <a:rPr lang="en-US" altLang="zh-CN" sz="2800" i="1" dirty="0">
                  <a:solidFill>
                    <a:srgbClr val="000000"/>
                  </a:solidFill>
                  <a:latin typeface="Times New Roman" panose="02020603050405020304" pitchFamily="18" charset="0"/>
                  <a:cs typeface="Times New Roman" panose="02020603050405020304" pitchFamily="18" charset="0"/>
                </a:rPr>
                <a:t>Q</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的距离与点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到抛物线焦点的距离之和取得最小值时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的坐标为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797927942"/>
                </p:ext>
              </p:extLst>
            </p:nvPr>
          </p:nvGraphicFramePr>
          <p:xfrm>
            <a:off x="493332" y="1244569"/>
            <a:ext cx="11430000" cy="1504488"/>
          </p:xfrm>
          <a:graphic>
            <a:graphicData uri="http://schemas.openxmlformats.org/presentationml/2006/ole">
              <mc:AlternateContent xmlns:mc="http://schemas.openxmlformats.org/markup-compatibility/2006">
                <mc:Choice xmlns:v="urn:schemas-microsoft-com:vml" Requires="v">
                  <p:oleObj spid="_x0000_s21530"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493332" y="1244569"/>
                          <a:ext cx="11430000" cy="1504488"/>
                        </a:xfrm>
                        <a:prstGeom prst="rect">
                          <a:avLst/>
                        </a:prstGeom>
                      </p:spPr>
                    </p:pic>
                  </p:oleObj>
                </mc:Fallback>
              </mc:AlternateContent>
            </a:graphicData>
          </a:graphic>
        </p:graphicFrame>
      </p:grpSp>
      <p:sp>
        <p:nvSpPr>
          <p:cNvPr id="6" name="矩形 5"/>
          <p:cNvSpPr>
            <a:spLocks noChangeAspect="1"/>
          </p:cNvSpPr>
          <p:nvPr/>
        </p:nvSpPr>
        <p:spPr>
          <a:xfrm>
            <a:off x="381000" y="5844687"/>
            <a:ext cx="1331839"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 </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9" name="组合 8"/>
          <p:cNvGrpSpPr/>
          <p:nvPr/>
        </p:nvGrpSpPr>
        <p:grpSpPr>
          <a:xfrm>
            <a:off x="381000" y="2799468"/>
            <a:ext cx="11542332" cy="3166242"/>
            <a:chOff x="381000" y="2799468"/>
            <a:chExt cx="11542332" cy="3166242"/>
          </a:xfrm>
        </p:grpSpPr>
        <p:sp>
          <p:nvSpPr>
            <p:cNvPr id="4" name="矩形 3"/>
            <p:cNvSpPr>
              <a:spLocks noChangeAspect="1"/>
            </p:cNvSpPr>
            <p:nvPr/>
          </p:nvSpPr>
          <p:spPr>
            <a:xfrm>
              <a:off x="381000" y="2799468"/>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Q</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在抛物线内部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由抛物线的定义知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抛物线上的点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的距离等于点</a:t>
              </a:r>
              <a:r>
                <a:rPr lang="en-US" altLang="zh-CN" sz="2800" i="1" dirty="0" smtClean="0">
                  <a:solidFill>
                    <a:srgbClr val="000000"/>
                  </a:solidFill>
                  <a:latin typeface="Times New Roman" panose="02020603050405020304" pitchFamily="18" charset="0"/>
                  <a:cs typeface="Times New Roman" panose="02020603050405020304" pitchFamily="18" charset="0"/>
                </a:rPr>
                <a:t>P</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准线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Q</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作</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的垂线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与抛物线交于</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endPar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P</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为所求</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即当</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重合时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所求距离之和最小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706016267"/>
                </p:ext>
              </p:extLst>
            </p:nvPr>
          </p:nvGraphicFramePr>
          <p:xfrm>
            <a:off x="493332" y="4962413"/>
            <a:ext cx="11430000" cy="1003297"/>
          </p:xfrm>
          <a:graphic>
            <a:graphicData uri="http://schemas.openxmlformats.org/presentationml/2006/ole">
              <mc:AlternateContent xmlns:mc="http://schemas.openxmlformats.org/markup-compatibility/2006">
                <mc:Choice xmlns:v="urn:schemas-microsoft-com:vml" Requires="v">
                  <p:oleObj spid="_x0000_s21531"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93332" y="4962413"/>
                          <a:ext cx="11430000" cy="1003297"/>
                        </a:xfrm>
                        <a:prstGeom prst="rect">
                          <a:avLst/>
                        </a:prstGeom>
                      </p:spPr>
                    </p:pic>
                  </p:oleObj>
                </mc:Fallback>
              </mc:AlternateContent>
            </a:graphicData>
          </a:graphic>
        </p:graphicFrame>
        <p:pic>
          <p:nvPicPr>
            <p:cNvPr id="8" name="NMX1TRAX21.eps" descr="id:2147497602;FounderCES"/>
            <p:cNvPicPr/>
            <p:nvPr/>
          </p:nvPicPr>
          <p:blipFill>
            <a:blip r:embed="rId7">
              <a:clrChange>
                <a:clrFrom>
                  <a:srgbClr val="FFFFFF"/>
                </a:clrFrom>
                <a:clrTo>
                  <a:srgbClr val="FFFFFF">
                    <a:alpha val="0"/>
                  </a:srgbClr>
                </a:clrTo>
              </a:clrChange>
            </a:blip>
            <a:stretch>
              <a:fillRect/>
            </a:stretch>
          </p:blipFill>
          <p:spPr>
            <a:xfrm>
              <a:off x="9285749" y="2945972"/>
              <a:ext cx="2637583" cy="2760153"/>
            </a:xfrm>
            <a:prstGeom prst="rect">
              <a:avLst/>
            </a:prstGeom>
          </p:spPr>
        </p:pic>
      </p:grpSp>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82320"/>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若抛物线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上一点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轴的距离为</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cs typeface="Times New Roman" panose="02020603050405020304" pitchFamily="18" charset="0"/>
              </a:rPr>
              <a:t>则点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与焦点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的距离</a:t>
            </a:r>
            <a:r>
              <a:rPr lang="en-US" altLang="zh-CN" sz="2800" i="1" dirty="0">
                <a:solidFill>
                  <a:srgbClr val="000000"/>
                </a:solidFill>
                <a:latin typeface="Times New Roman" panose="02020603050405020304" pitchFamily="18" charset="0"/>
                <a:cs typeface="Times New Roman" panose="02020603050405020304" pitchFamily="18" charset="0"/>
              </a:rPr>
              <a:t>|PF|=</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由于点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到</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轴的距离为</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可知点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的纵坐标为</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58531389"/>
              </p:ext>
            </p:extLst>
          </p:nvPr>
        </p:nvGraphicFramePr>
        <p:xfrm>
          <a:off x="481140" y="2686384"/>
          <a:ext cx="11430000" cy="2005680"/>
        </p:xfrm>
        <a:graphic>
          <a:graphicData uri="http://schemas.openxmlformats.org/presentationml/2006/ole">
            <mc:AlternateContent xmlns:mc="http://schemas.openxmlformats.org/markup-compatibility/2006">
              <mc:Choice xmlns:v="urn:schemas-microsoft-com:vml" Requires="v">
                <p:oleObj spid="_x0000_s22541"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81140" y="2686384"/>
                        <a:ext cx="11430000" cy="2005680"/>
                      </a:xfrm>
                      <a:prstGeom prst="rect">
                        <a:avLst/>
                      </a:prstGeom>
                    </p:spPr>
                  </p:pic>
                </p:oleObj>
              </mc:Fallback>
            </mc:AlternateContent>
          </a:graphicData>
        </a:graphic>
      </p:graphicFrame>
      <p:sp>
        <p:nvSpPr>
          <p:cNvPr id="4" name="矩形 3"/>
          <p:cNvSpPr>
            <a:spLocks noChangeAspect="1"/>
          </p:cNvSpPr>
          <p:nvPr/>
        </p:nvSpPr>
        <p:spPr>
          <a:xfrm>
            <a:off x="381000" y="4548226"/>
            <a:ext cx="1451038"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13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wipe(down)">
                                      <p:cBhvr>
                                        <p:cTn id="15"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p:cNvSpPr>
                <a:spLocks noChangeAspect="1"/>
              </p:cNvSpPr>
              <p:nvPr/>
            </p:nvSpPr>
            <p:spPr>
              <a:xfrm>
                <a:off x="381000" y="175965"/>
                <a:ext cx="11430000" cy="6138925"/>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已知抛物线的焦点在</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抛物线上的点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到焦点的距离等于</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求抛物线的标准方程和</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则焦点</a:t>
                </a:r>
                <a:r>
                  <a:rPr lang="en-US" altLang="zh-CN" sz="2800" i="1" dirty="0">
                    <a:solidFill>
                      <a:srgbClr val="000000"/>
                    </a:solidFill>
                    <a:latin typeface="Times New Roman" panose="02020603050405020304" pitchFamily="18" charset="0"/>
                    <a:cs typeface="Times New Roman" panose="02020603050405020304" pitchFamily="18" charset="0"/>
                  </a:rPr>
                  <a:t>F</a:t>
                </a:r>
                <a14:m>
                  <m:oMath xmlns:m="http://schemas.openxmlformats.org/officeDocument/2006/math">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solidFill>
                                  <a:srgbClr val="000000"/>
                                </a:solidFill>
                                <a:latin typeface="Cambria Math" panose="02040503050406030204" pitchFamily="18" charset="0"/>
                                <a:cs typeface="Times New Roman" panose="02020603050405020304" pitchFamily="18" charset="0"/>
                              </a:rPr>
                              <m:t>𝑝</m:t>
                            </m:r>
                          </m:num>
                          <m:den>
                            <m:r>
                              <a:rPr lang="en-US" altLang="zh-CN" sz="2800">
                                <a:solidFill>
                                  <a:srgbClr val="000000"/>
                                </a:solidFill>
                                <a:latin typeface="Cambria Math" panose="02040503050406030204" pitchFamily="18" charset="0"/>
                                <a:cs typeface="Times New Roman" panose="02020603050405020304" pitchFamily="18" charset="0"/>
                              </a:rPr>
                              <m:t>2</m:t>
                            </m:r>
                          </m:den>
                        </m:f>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0</m:t>
                        </m:r>
                      </m:e>
                    </m:d>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由题设可得</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𝑚</m:t>
                                  </m:r>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a:solidFill>
                                    <a:srgbClr val="000000"/>
                                  </a:solidFill>
                                  <a:latin typeface="Cambria Math" panose="02040503050406030204" pitchFamily="18" charset="0"/>
                                  <a:cs typeface="Times New Roman" panose="02020603050405020304" pitchFamily="18" charset="0"/>
                                </a:rPr>
                                <m:t>=6</m:t>
                              </m:r>
                              <m:r>
                                <a:rPr lang="en-US" altLang="zh-CN" sz="2800" i="1">
                                  <a:solidFill>
                                    <a:srgbClr val="000000"/>
                                  </a:solidFill>
                                  <a:latin typeface="Cambria Math" panose="02040503050406030204" pitchFamily="18" charset="0"/>
                                  <a:cs typeface="Times New Roman" panose="02020603050405020304" pitchFamily="18" charset="0"/>
                                </a:rPr>
                                <m:t>𝑝</m:t>
                              </m:r>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a:solidFill>
                                            <a:srgbClr val="000000"/>
                                          </a:solidFill>
                                          <a:latin typeface="Cambria Math" panose="02040503050406030204" pitchFamily="18" charset="0"/>
                                          <a:cs typeface="Times New Roman" panose="02020603050405020304" pitchFamily="18" charset="0"/>
                                        </a:rPr>
                                        <m:t>𝑚</m:t>
                                      </m:r>
                                    </m:e>
                                    <m:sup>
                                      <m:r>
                                        <a:rPr lang="en-US" altLang="zh-CN" sz="2800">
                                          <a:solidFill>
                                            <a:srgbClr val="000000"/>
                                          </a:solidFill>
                                          <a:latin typeface="Cambria Math" panose="02040503050406030204" pitchFamily="18" charset="0"/>
                                          <a:cs typeface="Times New Roman" panose="02020603050405020304" pitchFamily="18" charset="0"/>
                                        </a:rPr>
                                        <m:t>2</m:t>
                                      </m:r>
                                    </m:sup>
                                  </m:sSup>
                                  <m:r>
                                    <a:rPr lang="en-US" altLang="zh-CN" sz="2800">
                                      <a:solidFill>
                                        <a:srgbClr val="000000"/>
                                      </a:solidFill>
                                      <a:latin typeface="Cambria Math" panose="02040503050406030204" pitchFamily="18" charset="0"/>
                                      <a:cs typeface="Times New Roman" panose="02020603050405020304" pitchFamily="18" charset="0"/>
                                    </a:rPr>
                                    <m:t>+</m:t>
                                  </m:r>
                                  <m:sSup>
                                    <m:sSup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a:solidFill>
                                                <a:srgbClr val="000000"/>
                                              </a:solidFill>
                                              <a:latin typeface="Cambria Math" panose="02040503050406030204" pitchFamily="18" charset="0"/>
                                              <a:cs typeface="Times New Roman" panose="02020603050405020304" pitchFamily="18" charset="0"/>
                                            </a:rPr>
                                            <m:t>3</m:t>
                                          </m:r>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solidFill>
                                                    <a:srgbClr val="000000"/>
                                                  </a:solidFill>
                                                  <a:latin typeface="Cambria Math" panose="02040503050406030204" pitchFamily="18" charset="0"/>
                                                  <a:cs typeface="Times New Roman" panose="02020603050405020304" pitchFamily="18" charset="0"/>
                                                </a:rPr>
                                                <m:t>𝑝</m:t>
                                              </m:r>
                                            </m:num>
                                            <m:den>
                                              <m:r>
                                                <a:rPr lang="en-US" altLang="zh-CN" sz="2800">
                                                  <a:solidFill>
                                                    <a:srgbClr val="000000"/>
                                                  </a:solidFill>
                                                  <a:latin typeface="Cambria Math" panose="02040503050406030204" pitchFamily="18" charset="0"/>
                                                  <a:cs typeface="Times New Roman" panose="02020603050405020304" pitchFamily="18" charset="0"/>
                                                </a:rPr>
                                                <m:t>2</m:t>
                                              </m:r>
                                            </m:den>
                                          </m:f>
                                        </m:e>
                                      </m:d>
                                    </m:e>
                                    <m:sup>
                                      <m:r>
                                        <a:rPr lang="en-US" altLang="zh-CN" sz="2800">
                                          <a:solidFill>
                                            <a:srgbClr val="000000"/>
                                          </a:solidFill>
                                          <a:latin typeface="Cambria Math" panose="02040503050406030204" pitchFamily="18" charset="0"/>
                                          <a:cs typeface="Times New Roman" panose="02020603050405020304" pitchFamily="18" charset="0"/>
                                        </a:rPr>
                                        <m:t>2</m:t>
                                      </m:r>
                                    </m:sup>
                                  </m:sSup>
                                </m:e>
                              </m:rad>
                              <m:r>
                                <a:rPr lang="en-US" altLang="zh-CN" sz="2800">
                                  <a:solidFill>
                                    <a:srgbClr val="000000"/>
                                  </a:solidFill>
                                  <a:latin typeface="Cambria Math" panose="02040503050406030204" pitchFamily="18" charset="0"/>
                                  <a:cs typeface="Times New Roman" panose="02020603050405020304" pitchFamily="18" charset="0"/>
                                </a:rPr>
                                <m:t>=5</m:t>
                              </m:r>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oMath>
                </a14:m>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解得</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800" i="1">
                                  <a:solidFill>
                                    <a:srgbClr val="000000"/>
                                  </a:solidFill>
                                  <a:latin typeface="Cambria Math" panose="02040503050406030204" pitchFamily="18" charset="0"/>
                                  <a:cs typeface="Times New Roman" panose="02020603050405020304" pitchFamily="18" charset="0"/>
                                </a:rPr>
                                <m:t>𝑝</m:t>
                              </m:r>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r>
                                <a:rPr lang="en-US" altLang="zh-CN" sz="2800" i="1">
                                  <a:solidFill>
                                    <a:srgbClr val="000000"/>
                                  </a:solidFill>
                                  <a:latin typeface="Cambria Math" panose="02040503050406030204" pitchFamily="18" charset="0"/>
                                  <a:cs typeface="Times New Roman" panose="02020603050405020304" pitchFamily="18" charset="0"/>
                                </a:rPr>
                                <m:t>𝑚</m:t>
                              </m:r>
                              <m:r>
                                <a:rPr lang="en-US" altLang="zh-CN" sz="2800">
                                  <a:solidFill>
                                    <a:srgbClr val="000000"/>
                                  </a:solidFill>
                                  <a:latin typeface="Cambria Math" panose="02040503050406030204" pitchFamily="18" charset="0"/>
                                  <a:cs typeface="Times New Roman" panose="02020603050405020304" pitchFamily="18" charset="0"/>
                                </a:rPr>
                                <m:t>=2</m:t>
                              </m:r>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6</m:t>
                                  </m:r>
                                </m:e>
                              </m:rad>
                            </m:e>
                          </m:mr>
                        </m:m>
                      </m:e>
                    </m:d>
                    <m:r>
                      <a:rPr lang="zh-CN" altLang="zh-CN" sz="2800">
                        <a:solidFill>
                          <a:srgbClr val="000000"/>
                        </a:solidFill>
                        <a:effectLst/>
                        <a:latin typeface="Cambria Math" panose="02040503050406030204" pitchFamily="18" charset="0"/>
                        <a:ea typeface="楷体" panose="02010609060101010101" pitchFamily="49" charset="-122"/>
                        <a:cs typeface="Times New Roman" panose="02020603050405020304" pitchFamily="18" charset="0"/>
                      </a:rPr>
                      <m:t>或</m:t>
                    </m:r>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m>
                          <m:mPr>
                            <m:plcHide m:val="on"/>
                            <m:mcs>
                              <m:mc>
                                <m:mcPr>
                                  <m:count m:val="1"/>
                                  <m:mcJc m:val="center"/>
                                </m:mcPr>
                              </m:mc>
                            </m:mcs>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800" i="1">
                                  <a:solidFill>
                                    <a:srgbClr val="000000"/>
                                  </a:solidFill>
                                  <a:latin typeface="Cambria Math" panose="02040503050406030204" pitchFamily="18" charset="0"/>
                                  <a:cs typeface="Times New Roman" panose="02020603050405020304" pitchFamily="18" charset="0"/>
                                </a:rPr>
                                <m:t>𝑝</m:t>
                              </m:r>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a:solidFill>
                                    <a:srgbClr val="000000"/>
                                  </a:solidFill>
                                  <a:latin typeface="Times New Roman" panose="02020603050405020304" pitchFamily="18" charset="0"/>
                                  <a:cs typeface="Times New Roman" panose="02020603050405020304" pitchFamily="18" charset="0"/>
                                </a:rPr>
                                <m:t>,</m:t>
                              </m:r>
                            </m:e>
                          </m:mr>
                          <m:mr>
                            <m:e>
                              <m:r>
                                <a:rPr lang="en-US" altLang="zh-CN" sz="2800" i="1">
                                  <a:solidFill>
                                    <a:srgbClr val="000000"/>
                                  </a:solidFill>
                                  <a:latin typeface="Cambria Math" panose="02040503050406030204" pitchFamily="18" charset="0"/>
                                  <a:cs typeface="Times New Roman" panose="02020603050405020304" pitchFamily="18" charset="0"/>
                                </a:rPr>
                                <m:t>𝑚</m:t>
                              </m:r>
                              <m:r>
                                <a:rPr lang="en-US" altLang="zh-CN" sz="2800">
                                  <a:solidFill>
                                    <a:srgbClr val="000000"/>
                                  </a:solidFill>
                                  <a:latin typeface="Cambria Math" panose="02040503050406030204" pitchFamily="18" charset="0"/>
                                  <a:cs typeface="Times New Roman" panose="02020603050405020304" pitchFamily="18" charset="0"/>
                                </a:rPr>
                                <m:t>=</m:t>
                              </m:r>
                              <m:r>
                                <m:rPr>
                                  <m:nor/>
                                </m:rPr>
                                <a:rPr lang="en-US" altLang="zh-CN" sz="2800" i="1">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2</m:t>
                              </m:r>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6</m:t>
                                  </m:r>
                                </m:e>
                              </m:rad>
                              <m:r>
                                <m:rPr>
                                  <m:nor/>
                                </m:rPr>
                                <a:rPr lang="en-US" altLang="zh-CN" sz="2800">
                                  <a:solidFill>
                                    <a:srgbClr val="000000"/>
                                  </a:solidFill>
                                  <a:latin typeface="Times New Roman" panose="02020603050405020304" pitchFamily="18" charset="0"/>
                                  <a:cs typeface="Times New Roman" panose="02020603050405020304" pitchFamily="18" charset="0"/>
                                </a:rPr>
                                <m:t>,</m:t>
                              </m:r>
                            </m:e>
                          </m:mr>
                        </m:m>
                      </m:e>
                    </m:d>
                  </m:oMath>
                </a14:m>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故所求的抛物线的标准方程为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的值为</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6</m:t>
                        </m:r>
                      </m:e>
                    </m:rad>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381000" y="175965"/>
                <a:ext cx="11430000" cy="6138925"/>
              </a:xfrm>
              <a:prstGeom prst="rect">
                <a:avLst/>
              </a:prstGeom>
              <a:blipFill rotWithShape="0">
                <a:blip r:embed="rId2"/>
                <a:stretch>
                  <a:fillRect l="-1120" t="-298" r="-427" b="-18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0" dur="500"/>
                                        <p:tgtEl>
                                          <p:spTgt spid="4">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3" dur="500"/>
                                        <p:tgtEl>
                                          <p:spTgt spid="4">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6"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矩形 2"/>
              <p:cNvSpPr>
                <a:spLocks noChangeAspect="1"/>
              </p:cNvSpPr>
              <p:nvPr/>
            </p:nvSpPr>
            <p:spPr>
              <a:xfrm>
                <a:off x="381000" y="850718"/>
                <a:ext cx="11430000" cy="3916585"/>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px</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p&gt;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则焦点</a:t>
                </a:r>
                <a:r>
                  <a:rPr lang="en-US" altLang="zh-CN" sz="2800" i="1" dirty="0">
                    <a:solidFill>
                      <a:srgbClr val="000000"/>
                    </a:solidFill>
                    <a:latin typeface="Times New Roman" panose="02020603050405020304" pitchFamily="18" charset="0"/>
                    <a:cs typeface="Times New Roman" panose="02020603050405020304" pitchFamily="18" charset="0"/>
                  </a:rPr>
                  <a:t>F</a:t>
                </a:r>
                <a14:m>
                  <m:oMath xmlns:m="http://schemas.openxmlformats.org/officeDocument/2006/math">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solidFill>
                                  <a:srgbClr val="000000"/>
                                </a:solidFill>
                                <a:latin typeface="Cambria Math" panose="02040503050406030204" pitchFamily="18" charset="0"/>
                                <a:cs typeface="Times New Roman" panose="02020603050405020304" pitchFamily="18" charset="0"/>
                              </a:rPr>
                              <m:t>𝑝</m:t>
                            </m:r>
                          </m:num>
                          <m:den>
                            <m:r>
                              <a:rPr lang="en-US" altLang="zh-CN" sz="2800">
                                <a:solidFill>
                                  <a:srgbClr val="000000"/>
                                </a:solidFill>
                                <a:latin typeface="Cambria Math" panose="02040503050406030204" pitchFamily="18" charset="0"/>
                                <a:cs typeface="Times New Roman" panose="02020603050405020304" pitchFamily="18" charset="0"/>
                              </a:rPr>
                              <m:t>2</m:t>
                            </m:r>
                          </m:den>
                        </m:f>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a:solidFill>
                              <a:srgbClr val="000000"/>
                            </a:solidFill>
                            <a:latin typeface="Cambria Math" panose="02040503050406030204" pitchFamily="18" charset="0"/>
                            <a:cs typeface="Times New Roman" panose="02020603050405020304" pitchFamily="18" charset="0"/>
                          </a:rPr>
                          <m:t>0</m:t>
                        </m:r>
                      </m:e>
                    </m:d>
                  </m:oMath>
                </a14:m>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准线方程为</a:t>
                </a:r>
                <a:r>
                  <a:rPr lang="en-US" altLang="zh-CN" sz="2800" i="1" dirty="0">
                    <a:solidFill>
                      <a:srgbClr val="000000"/>
                    </a:solidFill>
                    <a:latin typeface="Times New Roman" panose="02020603050405020304" pitchFamily="18" charset="0"/>
                    <a:cs typeface="Times New Roman" panose="02020603050405020304" pitchFamily="18" charset="0"/>
                  </a:rPr>
                  <a:t>x=</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solidFill>
                              <a:srgbClr val="000000"/>
                            </a:solidFill>
                            <a:latin typeface="Cambria Math" panose="02040503050406030204" pitchFamily="18" charset="0"/>
                            <a:cs typeface="Times New Roman" panose="02020603050405020304" pitchFamily="18" charset="0"/>
                          </a:rPr>
                          <m:t>𝑝</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根据抛物线的定义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到焦点的距离等于</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也就是</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到准线的距离为</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a:solidFill>
                              <a:srgbClr val="000000"/>
                            </a:solidFill>
                            <a:latin typeface="Cambria Math" panose="02040503050406030204" pitchFamily="18" charset="0"/>
                            <a:cs typeface="Times New Roman" panose="02020603050405020304" pitchFamily="18" charset="0"/>
                          </a:rPr>
                          <m:t>𝑝</m:t>
                        </m:r>
                      </m:num>
                      <m:den>
                        <m:r>
                          <a:rPr lang="en-US" altLang="zh-CN" sz="2800">
                            <a:solidFill>
                              <a:srgbClr val="000000"/>
                            </a:solidFill>
                            <a:latin typeface="Cambria Math" panose="02040503050406030204" pitchFamily="18" charset="0"/>
                            <a:cs typeface="Times New Roman" panose="02020603050405020304" pitchFamily="18" charset="0"/>
                          </a:rPr>
                          <m:t>2</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4,</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抛物线的标准方程为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又</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在抛物线上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于是</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24,</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14:m>
                  <m:oMath xmlns:m="http://schemas.openxmlformats.org/officeDocument/2006/math">
                    <m:rad>
                      <m:radPr>
                        <m:degHide m:val="on"/>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a:solidFill>
                              <a:srgbClr val="000000"/>
                            </a:solidFill>
                            <a:latin typeface="Cambria Math" panose="02040503050406030204" pitchFamily="18" charset="0"/>
                            <a:cs typeface="Times New Roman" panose="02020603050405020304" pitchFamily="18" charset="0"/>
                          </a:rPr>
                          <m:t>6</m:t>
                        </m:r>
                      </m:e>
                    </m:rad>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381000" y="850718"/>
                <a:ext cx="11430000" cy="3916585"/>
              </a:xfrm>
              <a:prstGeom prst="rect">
                <a:avLst/>
              </a:prstGeom>
              <a:blipFill rotWithShape="0">
                <a:blip r:embed="rId2"/>
                <a:stretch>
                  <a:fillRect l="-1120" t="-467" b="-35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88750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394</TotalTime>
  <Words>2870</Words>
  <Application>Microsoft Office PowerPoint</Application>
  <PresentationFormat>宽屏</PresentationFormat>
  <Paragraphs>171</Paragraphs>
  <Slides>43</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64"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Segoe UI Symbol</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37</cp:revision>
  <dcterms:created xsi:type="dcterms:W3CDTF">2021-08-30T08:30:26Z</dcterms:created>
  <dcterms:modified xsi:type="dcterms:W3CDTF">2025-08-09T09:42:23Z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