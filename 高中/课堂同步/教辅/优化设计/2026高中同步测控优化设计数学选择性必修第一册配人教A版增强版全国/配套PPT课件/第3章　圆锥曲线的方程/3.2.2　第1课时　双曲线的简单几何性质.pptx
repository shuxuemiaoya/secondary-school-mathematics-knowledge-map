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690" r:id="rId10"/>
    <p:sldId id="691" r:id="rId11"/>
    <p:sldId id="692" r:id="rId12"/>
    <p:sldId id="693" r:id="rId13"/>
    <p:sldId id="694" r:id="rId14"/>
    <p:sldId id="695" r:id="rId15"/>
    <p:sldId id="407" r:id="rId16"/>
    <p:sldId id="394" r:id="rId17"/>
    <p:sldId id="699" r:id="rId18"/>
    <p:sldId id="700" r:id="rId19"/>
    <p:sldId id="701" r:id="rId20"/>
    <p:sldId id="402" r:id="rId21"/>
    <p:sldId id="712" r:id="rId22"/>
    <p:sldId id="713" r:id="rId23"/>
    <p:sldId id="714" r:id="rId24"/>
    <p:sldId id="715" r:id="rId25"/>
    <p:sldId id="719" r:id="rId26"/>
    <p:sldId id="720" r:id="rId27"/>
    <p:sldId id="721" r:id="rId28"/>
    <p:sldId id="726" r:id="rId29"/>
    <p:sldId id="765" r:id="rId30"/>
    <p:sldId id="498" r:id="rId31"/>
    <p:sldId id="730" r:id="rId32"/>
    <p:sldId id="733" r:id="rId33"/>
    <p:sldId id="743" r:id="rId34"/>
    <p:sldId id="744" r:id="rId35"/>
    <p:sldId id="734" r:id="rId36"/>
    <p:sldId id="740" r:id="rId37"/>
    <p:sldId id="739" r:id="rId38"/>
    <p:sldId id="745" r:id="rId39"/>
    <p:sldId id="398" r:id="rId40"/>
    <p:sldId id="395" r:id="rId41"/>
    <p:sldId id="756" r:id="rId42"/>
    <p:sldId id="757" r:id="rId43"/>
    <p:sldId id="758" r:id="rId44"/>
    <p:sldId id="759" r:id="rId45"/>
    <p:sldId id="760" r:id="rId46"/>
    <p:sldId id="490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51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51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39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53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slide" Target="../slides/slide16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6.xml"/><Relationship Id="rId4" Type="http://schemas.openxmlformats.org/officeDocument/2006/relationships/slide" Target="../slides/slide3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148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4783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417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051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6.docx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8.docx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5" Type="http://schemas.openxmlformats.org/officeDocument/2006/relationships/package" Target="../embeddings/Microsoft_Word___10.docx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7.docx"/><Relationship Id="rId4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1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3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Word___23.docx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2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29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package" Target="../embeddings/Microsoft_Word___27.docx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__28.docx"/><Relationship Id="rId4" Type="http://schemas.openxmlformats.org/officeDocument/2006/relationships/image" Target="../media/image3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package" Target="../embeddings/Microsoft_Word___31.docx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30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6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package" Target="../embeddings/Microsoft_Word___33.docx"/><Relationship Id="rId7" Type="http://schemas.openxmlformats.org/officeDocument/2006/relationships/package" Target="../embeddings/Microsoft_Word___3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8.emf"/><Relationship Id="rId11" Type="http://schemas.openxmlformats.org/officeDocument/2006/relationships/image" Target="../media/image41.jpeg"/><Relationship Id="rId5" Type="http://schemas.openxmlformats.org/officeDocument/2006/relationships/package" Target="../embeddings/Microsoft_Word___34.docx"/><Relationship Id="rId10" Type="http://schemas.openxmlformats.org/officeDocument/2006/relationships/image" Target="../media/image40.emf"/><Relationship Id="rId4" Type="http://schemas.openxmlformats.org/officeDocument/2006/relationships/image" Target="../media/image37.emf"/><Relationship Id="rId9" Type="http://schemas.openxmlformats.org/officeDocument/2006/relationships/package" Target="../embeddings/Microsoft_Word___36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3.emf"/><Relationship Id="rId5" Type="http://schemas.openxmlformats.org/officeDocument/2006/relationships/package" Target="../embeddings/Microsoft_Word___38.docx"/><Relationship Id="rId4" Type="http://schemas.openxmlformats.org/officeDocument/2006/relationships/image" Target="../media/image42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4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4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7.emf"/><Relationship Id="rId5" Type="http://schemas.openxmlformats.org/officeDocument/2006/relationships/package" Target="../embeddings/Microsoft_Word___42.docx"/><Relationship Id="rId4" Type="http://schemas.openxmlformats.org/officeDocument/2006/relationships/image" Target="../media/image46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49.emf"/><Relationship Id="rId5" Type="http://schemas.openxmlformats.org/officeDocument/2006/relationships/package" Target="../embeddings/Microsoft_Word___44.docx"/><Relationship Id="rId4" Type="http://schemas.openxmlformats.org/officeDocument/2006/relationships/image" Target="../media/image4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50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package" Target="../embeddings/Microsoft_Word___46.docx"/><Relationship Id="rId7" Type="http://schemas.openxmlformats.org/officeDocument/2006/relationships/package" Target="../embeddings/Microsoft_Word___4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51.emf"/><Relationship Id="rId5" Type="http://schemas.openxmlformats.org/officeDocument/2006/relationships/package" Target="../embeddings/Microsoft_Word___47.docx"/><Relationship Id="rId4" Type="http://schemas.openxmlformats.org/officeDocument/2006/relationships/image" Target="../media/image3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__50.docx"/><Relationship Id="rId4" Type="http://schemas.openxmlformats.org/officeDocument/2006/relationships/image" Target="../media/image5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55.emf"/><Relationship Id="rId5" Type="http://schemas.openxmlformats.org/officeDocument/2006/relationships/package" Target="../embeddings/Microsoft_Word___52.docx"/><Relationship Id="rId4" Type="http://schemas.openxmlformats.org/officeDocument/2006/relationships/image" Target="../media/image54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1</a:t>
              </a:r>
              <a:r>
                <a:rPr lang="zh-CN" altLang="en-US" sz="3600" b="1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双曲线的简单几何性质</a:t>
              </a:r>
              <a:endParaRPr lang="zh-CN" altLang="en-US" sz="3600" b="1" dirty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第三章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3.2.2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6367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了解双曲线的简单几何性质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理解双曲线的渐近线及离心率的意义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67913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一、双曲线的简单几何性质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类比椭圆的几何性质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你认为应该研究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的哪些几何性质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范围、对称性、顶点、离心率、渐近线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638613"/>
              </p:ext>
            </p:extLst>
          </p:nvPr>
        </p:nvGraphicFramePr>
        <p:xfrm>
          <a:off x="7977948" y="2060326"/>
          <a:ext cx="177323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文档" r:id="rId3" imgW="710416" imgH="397386" progId="Word.Document.12">
                  <p:embed/>
                </p:oleObj>
              </mc:Choice>
              <mc:Fallback>
                <p:oleObj name="文档" r:id="rId3" imgW="71041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77948" y="2060326"/>
                        <a:ext cx="1773237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5763" y="98425"/>
            <a:ext cx="11403012" cy="5368332"/>
            <a:chOff x="385763" y="129598"/>
            <a:chExt cx="11403012" cy="536833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4252836"/>
                </p:ext>
              </p:extLst>
            </p:nvPr>
          </p:nvGraphicFramePr>
          <p:xfrm>
            <a:off x="385763" y="129598"/>
            <a:ext cx="11403012" cy="299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7" name="文档" r:id="rId3" imgW="4510061" imgH="1193603" progId="Word.Document.12">
                    <p:embed/>
                  </p:oleObj>
                </mc:Choice>
                <mc:Fallback>
                  <p:oleObj name="文档" r:id="rId3" imgW="4510061" imgH="119360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5763" y="129598"/>
                          <a:ext cx="11403012" cy="299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" name="EMX1TRAX32.eps" descr="id:2147497183;FounderCES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092928" y="2829951"/>
              <a:ext cx="4006145" cy="2667979"/>
            </a:xfrm>
            <a:prstGeom prst="rect">
              <a:avLst/>
            </a:prstGeom>
          </p:spPr>
        </p:pic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81000" y="5646302"/>
            <a:ext cx="11430000" cy="65248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的横坐标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越来越大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越来越小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始终不等于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1145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在椭圆中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离心率刻画了椭圆的扁平程度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在双曲线中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离心率刻画双曲线的什么几何特征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双曲线的离心率刻画了双曲线的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大小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离心率越大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双曲线的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张口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越大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8502"/>
            <a:ext cx="388888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的几何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479645"/>
              </p:ext>
            </p:extLst>
          </p:nvPr>
        </p:nvGraphicFramePr>
        <p:xfrm>
          <a:off x="381000" y="745964"/>
          <a:ext cx="11430000" cy="6330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文档" r:id="rId3" imgW="4521746" imgH="2504504" progId="Word.Document.12">
                  <p:embed/>
                </p:oleObj>
              </mc:Choice>
              <mc:Fallback>
                <p:oleObj name="文档" r:id="rId3" imgW="4521746" imgH="25045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745964"/>
                        <a:ext cx="11430000" cy="6330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449201" y="4440235"/>
            <a:ext cx="222670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712937" y="4440235"/>
            <a:ext cx="222670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86288" y="4998803"/>
            <a:ext cx="154580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832222" y="4984745"/>
            <a:ext cx="1545806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782212" y="5517040"/>
            <a:ext cx="772903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977165" y="5517040"/>
            <a:ext cx="772903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022771" y="5517040"/>
            <a:ext cx="812328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253336" y="5517040"/>
            <a:ext cx="812328" cy="372156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477106"/>
              </p:ext>
            </p:extLst>
          </p:nvPr>
        </p:nvGraphicFramePr>
        <p:xfrm>
          <a:off x="381000" y="1159694"/>
          <a:ext cx="11430000" cy="47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文档" r:id="rId3" imgW="4521746" imgH="1895973" progId="Word.Document.12">
                  <p:embed/>
                </p:oleObj>
              </mc:Choice>
              <mc:Fallback>
                <p:oleObj name="文档" r:id="rId3" imgW="4521746" imgH="18959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159694"/>
                        <a:ext cx="11430000" cy="4792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589729" y="1798403"/>
            <a:ext cx="366735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177064" y="1798403"/>
            <a:ext cx="366735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394773" y="3073027"/>
            <a:ext cx="938236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395" y="1040157"/>
            <a:ext cx="11746605" cy="3469611"/>
            <a:chOff x="64395" y="1323641"/>
            <a:chExt cx="11746605" cy="3469611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3565532"/>
                </p:ext>
              </p:extLst>
            </p:nvPr>
          </p:nvGraphicFramePr>
          <p:xfrm>
            <a:off x="64395" y="1323641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4" name="文档" r:id="rId3" imgW="4510061" imgH="397147" progId="Word.Document.12">
                    <p:embed/>
                  </p:oleObj>
                </mc:Choice>
                <mc:Fallback>
                  <p:oleObj name="文档" r:id="rId3" imgW="4510061" imgH="397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1323641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186478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A.(4,0),(0,1)	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4,0),(4,0)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C.(0,1),(0,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 	D.(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4,0),(0,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3520728"/>
                </p:ext>
              </p:extLst>
            </p:nvPr>
          </p:nvGraphicFramePr>
          <p:xfrm>
            <a:off x="381000" y="3286950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5" name="文档" r:id="rId5" imgW="4521746" imgH="595898" progId="Word.Document.12">
                    <p:embed/>
                  </p:oleObj>
                </mc:Choice>
                <mc:Fallback>
                  <p:oleObj name="文档" r:id="rId5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3286950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1224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双曲线的焦点在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因此双曲线的顶点坐标是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4,0),(4,0)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936795"/>
              </p:ext>
            </p:extLst>
          </p:nvPr>
        </p:nvGraphicFramePr>
        <p:xfrm>
          <a:off x="59027" y="1804999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7" y="1804999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3712931"/>
              </p:ext>
            </p:extLst>
          </p:nvPr>
        </p:nvGraphicFramePr>
        <p:xfrm>
          <a:off x="59027" y="4676484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27" y="4676484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462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二、等轴双曲线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实轴和虚轴相等的双曲线的渐近线方程和离心率分别是什么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实轴和虚轴相等的双曲线的渐近线方程是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离心率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实轴和虚轴</a:t>
            </a:r>
            <a:r>
              <a:rPr lang="zh-CN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等长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的双曲线叫做等轴双曲线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等轴双曲线具有以下性质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方程形式为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en-US" altLang="zh-CN" sz="2800" baseline="300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渐近线方程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i="1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它们互相垂直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并且平分双曲线实轴和虚轴所成的角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离心率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112820"/>
              </p:ext>
            </p:extLst>
          </p:nvPr>
        </p:nvGraphicFramePr>
        <p:xfrm>
          <a:off x="10284855" y="1773056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文档" r:id="rId3" imgW="271708" imgH="211567" progId="Word.Document.12">
                  <p:embed/>
                </p:oleObj>
              </mc:Choice>
              <mc:Fallback>
                <p:oleObj name="文档" r:id="rId3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4855" y="1773056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40358"/>
              </p:ext>
            </p:extLst>
          </p:nvPr>
        </p:nvGraphicFramePr>
        <p:xfrm>
          <a:off x="2486723" y="5123787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文档" r:id="rId5" imgW="271708" imgH="211567" progId="Word.Document.12">
                  <p:embed/>
                </p:oleObj>
              </mc:Choice>
              <mc:Fallback>
                <p:oleObj name="文档" r:id="rId5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6723" y="5123787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204056" y="2337629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215696" y="2764198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864837" y="3459848"/>
            <a:ext cx="184236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876477" y="3896808"/>
            <a:ext cx="18346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255219" y="4021573"/>
            <a:ext cx="1040700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266965" y="4448142"/>
            <a:ext cx="10363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395" y="1139969"/>
            <a:ext cx="11430000" cy="1870587"/>
            <a:chOff x="64395" y="1652283"/>
            <a:chExt cx="11430000" cy="1870587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52283"/>
              <a:ext cx="657551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的渐近线方程是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1874061"/>
                </p:ext>
              </p:extLst>
            </p:nvPr>
          </p:nvGraphicFramePr>
          <p:xfrm>
            <a:off x="64395" y="2317648"/>
            <a:ext cx="11430000" cy="1205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6" name="文档" r:id="rId3" imgW="4521746" imgH="476790" progId="Word.Document.12">
                    <p:embed/>
                  </p:oleObj>
                </mc:Choice>
                <mc:Fallback>
                  <p:oleObj name="文档" r:id="rId3" imgW="4521746" imgH="4767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2317648"/>
                          <a:ext cx="11430000" cy="12052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85667"/>
              </p:ext>
            </p:extLst>
          </p:nvPr>
        </p:nvGraphicFramePr>
        <p:xfrm>
          <a:off x="64395" y="2997677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2997677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950667"/>
            <a:ext cx="161396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1899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双曲线与椭圆一样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有四个顶点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605264"/>
              </p:ext>
            </p:extLst>
          </p:nvPr>
        </p:nvGraphicFramePr>
        <p:xfrm>
          <a:off x="393879" y="2291540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3879" y="2291540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176349" y="1842202"/>
            <a:ext cx="5332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521222" y="3439389"/>
            <a:ext cx="533246" cy="61678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415840" y="4616574"/>
            <a:ext cx="5332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89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由双曲线的方程研究其几何性质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59723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求双曲线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的实半轴长、虚半轴长、焦点坐标、离心率、顶点坐标和渐近线方程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将所给形式化为标准方程形式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得双曲线的几何性质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573762"/>
              </p:ext>
            </p:extLst>
          </p:nvPr>
        </p:nvGraphicFramePr>
        <p:xfrm>
          <a:off x="51518" y="2249585"/>
          <a:ext cx="11430000" cy="4518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文档" r:id="rId3" imgW="4521746" imgH="1787694" progId="Word.Document.12">
                  <p:embed/>
                </p:oleObj>
              </mc:Choice>
              <mc:Fallback>
                <p:oleObj name="文档" r:id="rId3" imgW="4521746" imgH="17876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8" y="2249585"/>
                        <a:ext cx="11430000" cy="4518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双曲线方程研究其几何性质的解题步骤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把双曲线方程化为标准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由标准方程确定焦点位置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lang="en-US" altLang="zh-CN" sz="280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从而写出双曲线的几何性质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求性质时一定要注意焦点的位置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987769"/>
              </p:ext>
            </p:extLst>
          </p:nvPr>
        </p:nvGraphicFramePr>
        <p:xfrm>
          <a:off x="381000" y="1067935"/>
          <a:ext cx="11430000" cy="2648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文档" r:id="rId3" imgW="4510061" imgH="1045075" progId="Word.Document.12">
                  <p:embed/>
                </p:oleObj>
              </mc:Choice>
              <mc:Fallback>
                <p:oleObj name="文档" r:id="rId3" imgW="4510061" imgH="10450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067935"/>
                        <a:ext cx="11430000" cy="26485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3716504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已知双曲线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+my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的虚轴长是实轴长的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倍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353646"/>
              </p:ext>
            </p:extLst>
          </p:nvPr>
        </p:nvGraphicFramePr>
        <p:xfrm>
          <a:off x="33338" y="294121"/>
          <a:ext cx="11401425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" name="文档" r:id="rId3" imgW="4510061" imgH="1991320" progId="Word.Document.12">
                  <p:embed/>
                </p:oleObj>
              </mc:Choice>
              <mc:Fallback>
                <p:oleObj name="文档" r:id="rId3" imgW="4510061" imgH="19913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38" y="294121"/>
                        <a:ext cx="11401425" cy="5022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160264"/>
              </p:ext>
            </p:extLst>
          </p:nvPr>
        </p:nvGraphicFramePr>
        <p:xfrm>
          <a:off x="31173" y="5309776"/>
          <a:ext cx="11430000" cy="690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文档" r:id="rId5" imgW="4510061" imgH="272409" progId="Word.Document.12">
                  <p:embed/>
                </p:oleObj>
              </mc:Choice>
              <mc:Fallback>
                <p:oleObj name="文档" r:id="rId5" imgW="4510061" imgH="2724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73" y="5309776"/>
                        <a:ext cx="11430000" cy="690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</a:rPr>
                  <a:t>由双曲线的几何性质求其标准方程</a:t>
                </a:r>
                <a:endParaRPr lang="zh-CN" altLang="en-US" sz="2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1461199"/>
            <a:ext cx="784862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已知双曲线的渐近线方程为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971960"/>
              </p:ext>
            </p:extLst>
          </p:nvPr>
        </p:nvGraphicFramePr>
        <p:xfrm>
          <a:off x="71906" y="2113685"/>
          <a:ext cx="11430000" cy="1205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文档" r:id="rId3" imgW="4521746" imgH="476790" progId="Word.Document.12">
                  <p:embed/>
                </p:oleObj>
              </mc:Choice>
              <mc:Fallback>
                <p:oleObj name="文档" r:id="rId3" imgW="4521746" imgH="4767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06" y="2113685"/>
                        <a:ext cx="11430000" cy="1205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3318907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出双曲线方程的统一形式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依据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题设建立关于待定参数的方程或方程组求解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81000" y="91354"/>
                <a:ext cx="11430000" cy="660161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双曲线的渐近线方程为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若焦点在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设所求双曲线的标准方程为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,2)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在双曲线上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②</a:t>
                </a:r>
                <a:endParaRPr lang="en-US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联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立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①②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无解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若焦点在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设所求双曲线的标准方程为</a:t>
                </a:r>
                <a:endParaRPr lang="zh-CN" altLang="zh-CN" sz="2800" dirty="0" smtClean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0),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③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,2)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在双曲线上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④</a:t>
                </a:r>
                <a:endParaRPr lang="zh-CN" altLang="zh-CN" sz="2800" dirty="0" smtClean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联立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③④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1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故所求双曲线的标准方程为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91354"/>
                <a:ext cx="11430000" cy="660161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673261"/>
              </p:ext>
            </p:extLst>
          </p:nvPr>
        </p:nvGraphicFramePr>
        <p:xfrm>
          <a:off x="59027" y="401556"/>
          <a:ext cx="11430000" cy="502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文档" r:id="rId3" imgW="4521746" imgH="1986206" progId="Word.Document.12">
                  <p:embed/>
                </p:oleObj>
              </mc:Choice>
              <mc:Fallback>
                <p:oleObj name="文档" r:id="rId3" imgW="4521746" imgH="19862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7" y="401556"/>
                        <a:ext cx="11430000" cy="5020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>
                <a:spLocks noChangeAspect="1"/>
              </p:cNvSpPr>
              <p:nvPr/>
            </p:nvSpPr>
            <p:spPr>
              <a:xfrm>
                <a:off x="381000" y="588240"/>
                <a:ext cx="11430000" cy="425635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双曲线的渐近线方程为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设双曲线的方程为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λ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λ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≠0)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双曲线过点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,2),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λ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λ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故所求双曲线的标准方程为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88240"/>
                <a:ext cx="11430000" cy="425635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5910"/>
              </p:ext>
            </p:extLst>
          </p:nvPr>
        </p:nvGraphicFramePr>
        <p:xfrm>
          <a:off x="64395" y="889267"/>
          <a:ext cx="11430000" cy="401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文档" r:id="rId3" imgW="4521746" imgH="1589181" progId="Word.Document.12">
                  <p:embed/>
                </p:oleObj>
              </mc:Choice>
              <mc:Fallback>
                <p:oleObj name="文档" r:id="rId3" imgW="4521746" imgH="15891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889267"/>
                        <a:ext cx="11430000" cy="4017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7147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由双曲线的几何性质求双曲线方程的常用方法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一是先确定基本量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从而求出双曲线方程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二是采用待定系数法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先依据焦点的位置设出标准方程的形式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再由题目条件确定参数的值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当焦点位置不确定时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方程可能有两种形式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此时应注意分类讨论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防止漏解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为了避免讨论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也可设方程为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从而直接求解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8502"/>
            <a:ext cx="4417876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常见双曲线方程的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设法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373956"/>
              </p:ext>
            </p:extLst>
          </p:nvPr>
        </p:nvGraphicFramePr>
        <p:xfrm>
          <a:off x="385763" y="606425"/>
          <a:ext cx="11403012" cy="601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文档" r:id="rId3" imgW="4510061" imgH="2388647" progId="Word.Document.12">
                  <p:embed/>
                </p:oleObj>
              </mc:Choice>
              <mc:Fallback>
                <p:oleObj name="文档" r:id="rId3" imgW="4510061" imgH="23886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3" y="606425"/>
                        <a:ext cx="11403012" cy="6015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111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1516" y="468289"/>
            <a:ext cx="11759484" cy="3136895"/>
            <a:chOff x="51516" y="468289"/>
            <a:chExt cx="11759484" cy="313689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68289"/>
              <a:ext cx="11430000" cy="116743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求满足下列条件的双曲线的标准方程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以直线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为渐近线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过点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(1,2);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0130101"/>
                </p:ext>
              </p:extLst>
            </p:nvPr>
          </p:nvGraphicFramePr>
          <p:xfrm>
            <a:off x="51516" y="1597087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2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16" y="1597087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51516" y="3581615"/>
            <a:ext cx="11759484" cy="2208389"/>
            <a:chOff x="51516" y="3405909"/>
            <a:chExt cx="11759484" cy="220838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40590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由题意可设所求双曲线方程为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将点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的坐标代入方程解得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856321"/>
                </p:ext>
              </p:extLst>
            </p:nvPr>
          </p:nvGraphicFramePr>
          <p:xfrm>
            <a:off x="51516" y="4609792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3" name="文档" r:id="rId5" imgW="4521746" imgH="397386" progId="Word.Document.12">
                    <p:embed/>
                  </p:oleObj>
                </mc:Choice>
                <mc:Fallback>
                  <p:oleObj name="文档" r:id="rId5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516" y="4609792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59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455097"/>
              </p:ext>
            </p:extLst>
          </p:nvPr>
        </p:nvGraphicFramePr>
        <p:xfrm>
          <a:off x="64395" y="1337844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1337844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29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593459"/>
              </p:ext>
            </p:extLst>
          </p:nvPr>
        </p:nvGraphicFramePr>
        <p:xfrm>
          <a:off x="51516" y="441156"/>
          <a:ext cx="11430000" cy="502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文档" r:id="rId3" imgW="4521746" imgH="1986206" progId="Word.Document.12">
                  <p:embed/>
                </p:oleObj>
              </mc:Choice>
              <mc:Fallback>
                <p:oleObj name="文档" r:id="rId3" imgW="4521746" imgH="19862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6" y="441156"/>
                        <a:ext cx="11430000" cy="5020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645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求</a:t>
                </a:r>
                <a:r>
                  <a:rPr lang="zh-CN" altLang="en-US" sz="2800" b="1" dirty="0">
                    <a:solidFill>
                      <a:schemeClr val="bg1"/>
                    </a:solidFill>
                  </a:rPr>
                  <a:t>双曲线的离心率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547283"/>
              </p:ext>
            </p:extLst>
          </p:nvPr>
        </p:nvGraphicFramePr>
        <p:xfrm>
          <a:off x="381000" y="1281447"/>
          <a:ext cx="11430000" cy="35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3" imgW="4521746" imgH="1390308" progId="Word.Document.12">
                  <p:embed/>
                </p:oleObj>
              </mc:Choice>
              <mc:Fallback>
                <p:oleObj name="文档" r:id="rId3" imgW="4521746" imgH="1390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281447"/>
                        <a:ext cx="11430000" cy="3514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395" y="2850831"/>
            <a:ext cx="11746605" cy="2860500"/>
            <a:chOff x="64395" y="2871613"/>
            <a:chExt cx="11746605" cy="2860500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871613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不妨设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|&gt;|PF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|-|PF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|+|PF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∠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由余弦定理得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2·4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·cos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357772"/>
                </p:ext>
              </p:extLst>
            </p:nvPr>
          </p:nvGraphicFramePr>
          <p:xfrm>
            <a:off x="64395" y="5230317"/>
            <a:ext cx="11430000" cy="501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90" name="文档" r:id="rId3" imgW="4521746" imgH="198512" progId="Word.Document.12">
                    <p:embed/>
                  </p:oleObj>
                </mc:Choice>
                <mc:Fallback>
                  <p:oleObj name="文档" r:id="rId3" imgW="4521746" imgH="19851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5230317"/>
                          <a:ext cx="11430000" cy="5017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990151"/>
              </p:ext>
            </p:extLst>
          </p:nvPr>
        </p:nvGraphicFramePr>
        <p:xfrm>
          <a:off x="64395" y="5685573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5685573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940951"/>
              </p:ext>
            </p:extLst>
          </p:nvPr>
        </p:nvGraphicFramePr>
        <p:xfrm>
          <a:off x="54004" y="-20074"/>
          <a:ext cx="11275153" cy="2974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" name="文档" r:id="rId7" imgW="4510061" imgH="1189999" progId="Word.Document.12">
                  <p:embed/>
                </p:oleObj>
              </mc:Choice>
              <mc:Fallback>
                <p:oleObj name="文档" r:id="rId7" imgW="4510061" imgH="1189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004" y="-20074"/>
                        <a:ext cx="11275153" cy="2974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383215"/>
            <a:ext cx="11430000" cy="116743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将本例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的最小内角为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则双曲线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的离心率为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963993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470095"/>
              </p:ext>
            </p:extLst>
          </p:nvPr>
        </p:nvGraphicFramePr>
        <p:xfrm>
          <a:off x="76558" y="2615045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文档" r:id="rId4" imgW="4521746" imgH="595898" progId="Word.Document.12">
                  <p:embed/>
                </p:oleObj>
              </mc:Choice>
              <mc:Fallback>
                <p:oleObj name="文档" r:id="rId4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558" y="2615045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989887"/>
              </p:ext>
            </p:extLst>
          </p:nvPr>
        </p:nvGraphicFramePr>
        <p:xfrm>
          <a:off x="76558" y="4024997"/>
          <a:ext cx="11430000" cy="501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1" name="文档" r:id="rId6" imgW="4521746" imgH="198512" progId="Word.Document.12">
                  <p:embed/>
                </p:oleObj>
              </mc:Choice>
              <mc:Fallback>
                <p:oleObj name="文档" r:id="rId6" imgW="4521746" imgH="1985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558" y="4024997"/>
                        <a:ext cx="11430000" cy="501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4395" y="903464"/>
            <a:ext cx="11746605" cy="3825080"/>
            <a:chOff x="64395" y="1246367"/>
            <a:chExt cx="11746605" cy="382508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6367"/>
              <a:ext cx="5682966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双曲线离心率的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方法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3919080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若得到的是关于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的齐次方程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+qac+ra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为常数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则转化为关于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的方程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+qe+r=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求解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3565044"/>
                </p:ext>
              </p:extLst>
            </p:nvPr>
          </p:nvGraphicFramePr>
          <p:xfrm>
            <a:off x="64395" y="1859467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3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1859467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4395" y="-32824"/>
            <a:ext cx="11770850" cy="6721939"/>
            <a:chOff x="64395" y="-32824"/>
            <a:chExt cx="11770850" cy="6721939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1003173"/>
                </p:ext>
              </p:extLst>
            </p:nvPr>
          </p:nvGraphicFramePr>
          <p:xfrm>
            <a:off x="381000" y="-32824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74" name="文档" r:id="rId3" imgW="4521746" imgH="595898" progId="Word.Document.12">
                    <p:embed/>
                  </p:oleObj>
                </mc:Choice>
                <mc:Fallback>
                  <p:oleObj name="文档" r:id="rId3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-32824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17900"/>
                </p:ext>
              </p:extLst>
            </p:nvPr>
          </p:nvGraphicFramePr>
          <p:xfrm>
            <a:off x="64395" y="1486357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75" name="文档" r:id="rId5" imgW="4521746" imgH="794410" progId="Word.Document.12">
                    <p:embed/>
                  </p:oleObj>
                </mc:Choice>
                <mc:Fallback>
                  <p:oleObj name="文档" r:id="rId5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95" y="1486357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409084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分别是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的两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个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以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坐标原点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为圆心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|OF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长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为半径的圆与该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</a:t>
              </a:r>
              <a:endPara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左支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的两个交点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是等边三角形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则双曲线的离心率为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8509704"/>
                </p:ext>
              </p:extLst>
            </p:nvPr>
          </p:nvGraphicFramePr>
          <p:xfrm>
            <a:off x="5209381" y="3199013"/>
            <a:ext cx="1773237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76" name="文档" r:id="rId7" imgW="710416" imgH="397386" progId="Word.Document.12">
                    <p:embed/>
                  </p:oleObj>
                </mc:Choice>
                <mc:Fallback>
                  <p:oleObj name="文档" r:id="rId7" imgW="71041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09381" y="3199013"/>
                          <a:ext cx="1773237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4281133"/>
                </p:ext>
              </p:extLst>
            </p:nvPr>
          </p:nvGraphicFramePr>
          <p:xfrm>
            <a:off x="64395" y="5182813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77" name="文档" r:id="rId9" imgW="4521746" imgH="595898" progId="Word.Document.12">
                    <p:embed/>
                  </p:oleObj>
                </mc:Choice>
                <mc:Fallback>
                  <p:oleObj name="文档" r:id="rId9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395" y="5182813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" name="EMX1TRAX35.eps" descr="id:2147497254;FounderCES"/>
            <p:cNvPicPr/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272049" y="932713"/>
              <a:ext cx="2563196" cy="29092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395" y="523928"/>
            <a:ext cx="11746605" cy="4158933"/>
            <a:chOff x="64395" y="812827"/>
            <a:chExt cx="11746605" cy="4158933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1822098"/>
                </p:ext>
              </p:extLst>
            </p:nvPr>
          </p:nvGraphicFramePr>
          <p:xfrm>
            <a:off x="64395" y="812827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2" name="文档" r:id="rId3" imgW="4521746" imgH="397386" progId="Word.Document.12">
                    <p:embed/>
                  </p:oleObj>
                </mc:Choice>
                <mc:Fallback>
                  <p:oleObj name="文档" r:id="rId3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812827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714301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图略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为等边三角形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|OF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|=|OA|=|OF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8990182"/>
                </p:ext>
              </p:extLst>
            </p:nvPr>
          </p:nvGraphicFramePr>
          <p:xfrm>
            <a:off x="64395" y="3465458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73" name="文档" r:id="rId5" imgW="4521746" imgH="595898" progId="Word.Document.12">
                    <p:embed/>
                  </p:oleObj>
                </mc:Choice>
                <mc:Fallback>
                  <p:oleObj name="文档" r:id="rId5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95" y="3465458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4498441"/>
            <a:ext cx="3092513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(1)D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1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1907" y="673856"/>
            <a:ext cx="11739093" cy="3173343"/>
            <a:chOff x="71907" y="705029"/>
            <a:chExt cx="11739093" cy="3173343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81000" y="70502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忽略焦点的位置致误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【典例】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已知双曲线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的焦距为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求实数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2239902"/>
                </p:ext>
              </p:extLst>
            </p:nvPr>
          </p:nvGraphicFramePr>
          <p:xfrm>
            <a:off x="71907" y="1870275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85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907" y="1870275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81000" y="380856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的符号不确定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所以化成标准形式后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双曲线焦点所在的坐标轴也不确定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错解忽略了讨论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的符号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395" y="336832"/>
            <a:ext cx="11746605" cy="5686869"/>
            <a:chOff x="64395" y="336832"/>
            <a:chExt cx="11746605" cy="5686869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6828292"/>
                </p:ext>
              </p:extLst>
            </p:nvPr>
          </p:nvGraphicFramePr>
          <p:xfrm>
            <a:off x="64395" y="336832"/>
            <a:ext cx="11430000" cy="4017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09" name="文档" r:id="rId3" imgW="4521746" imgH="1589181" progId="Word.Document.12">
                    <p:embed/>
                  </p:oleObj>
                </mc:Choice>
                <mc:Fallback>
                  <p:oleObj name="文档" r:id="rId3" imgW="4521746" imgH="15891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336832"/>
                          <a:ext cx="11430000" cy="40171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4250908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综上可知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或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防范措施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方程中带有参数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化为标准方程时不清楚双曲线的焦点位置时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需根据焦点位置对参数分类讨论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72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已知双曲线的渐近线方程为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则该双曲线的离心率为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83373"/>
              </p:ext>
            </p:extLst>
          </p:nvPr>
        </p:nvGraphicFramePr>
        <p:xfrm>
          <a:off x="51516" y="1704458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6" y="1704458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013146"/>
              </p:ext>
            </p:extLst>
          </p:nvPr>
        </p:nvGraphicFramePr>
        <p:xfrm>
          <a:off x="51516" y="4652336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5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16" y="4652336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642347"/>
              </p:ext>
            </p:extLst>
          </p:nvPr>
        </p:nvGraphicFramePr>
        <p:xfrm>
          <a:off x="496909" y="380708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09" y="380708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604401"/>
              </p:ext>
            </p:extLst>
          </p:nvPr>
        </p:nvGraphicFramePr>
        <p:xfrm>
          <a:off x="496909" y="3290830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909" y="3290830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20768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2691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若一双曲线与椭圆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有公共的焦点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且它们的离心率互为倒数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则该双曲线的方程为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	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	D.3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253316"/>
              </p:ext>
            </p:extLst>
          </p:nvPr>
        </p:nvGraphicFramePr>
        <p:xfrm>
          <a:off x="496910" y="2573828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文档" r:id="rId3" imgW="4521746" imgH="794410" progId="Word.Document.12">
                  <p:embed/>
                </p:oleObj>
              </mc:Choice>
              <mc:Fallback>
                <p:oleObj name="文档" r:id="rId3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10" y="2573828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454514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故所求双曲线的方程为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245044"/>
            <a:ext cx="11545909" cy="2646463"/>
            <a:chOff x="381000" y="692150"/>
            <a:chExt cx="11545909" cy="264646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894993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分别为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的左、右焦点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双曲线上存在一点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使得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|-|PF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则该双曲线的离心率为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632947"/>
                </p:ext>
              </p:extLst>
            </p:nvPr>
          </p:nvGraphicFramePr>
          <p:xfrm>
            <a:off x="4102989" y="692150"/>
            <a:ext cx="1773237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5" name="文档" r:id="rId3" imgW="710416" imgH="397386" progId="Word.Document.12">
                    <p:embed/>
                  </p:oleObj>
                </mc:Choice>
                <mc:Fallback>
                  <p:oleObj name="文档" r:id="rId3" imgW="71041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02989" y="692150"/>
                          <a:ext cx="1773237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668997"/>
                </p:ext>
              </p:extLst>
            </p:nvPr>
          </p:nvGraphicFramePr>
          <p:xfrm>
            <a:off x="496909" y="2133391"/>
            <a:ext cx="11430000" cy="1205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6" name="文档" r:id="rId5" imgW="4521746" imgH="476790" progId="Word.Document.12">
                    <p:embed/>
                  </p:oleObj>
                </mc:Choice>
                <mc:Fallback>
                  <p:oleObj name="文档" r:id="rId5" imgW="4521746" imgH="4767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6909" y="2133391"/>
                          <a:ext cx="11430000" cy="12052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/>
          <p:cNvGrpSpPr/>
          <p:nvPr/>
        </p:nvGrpSpPr>
        <p:grpSpPr>
          <a:xfrm>
            <a:off x="381000" y="2917265"/>
            <a:ext cx="11545909" cy="2209728"/>
            <a:chOff x="381000" y="3093912"/>
            <a:chExt cx="11545909" cy="220972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093912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根据双曲线的定义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|-|PF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|-|PF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</a:p>
            <a:p>
              <a:pPr algn="just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=b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a-b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452786"/>
                </p:ext>
              </p:extLst>
            </p:nvPr>
          </p:nvGraphicFramePr>
          <p:xfrm>
            <a:off x="496909" y="4299134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27" name="文档" r:id="rId7" imgW="4521746" imgH="397386" progId="Word.Document.12">
                    <p:embed/>
                  </p:oleObj>
                </mc:Choice>
                <mc:Fallback>
                  <p:oleObj name="文档" r:id="rId7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6909" y="4299134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496909" y="5205606"/>
            <a:ext cx="1351652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825512"/>
              </p:ext>
            </p:extLst>
          </p:nvPr>
        </p:nvGraphicFramePr>
        <p:xfrm>
          <a:off x="498141" y="1278547"/>
          <a:ext cx="11430000" cy="1205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8" name="文档" r:id="rId3" imgW="4521746" imgH="476790" progId="Word.Document.12">
                  <p:embed/>
                </p:oleObj>
              </mc:Choice>
              <mc:Fallback>
                <p:oleObj name="文档" r:id="rId3" imgW="4521746" imgH="4767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1278547"/>
                        <a:ext cx="11430000" cy="1205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483769"/>
            <a:ext cx="11430000" cy="23422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根据已知条件可判断双曲线的中心在坐标原点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于是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所以双曲线方程为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渐近线方程为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477154"/>
              </p:ext>
            </p:extLst>
          </p:nvPr>
        </p:nvGraphicFramePr>
        <p:xfrm>
          <a:off x="2196921" y="3129833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文档" r:id="rId5" imgW="271708" imgH="211567" progId="Word.Document.12">
                  <p:embed/>
                </p:oleObj>
              </mc:Choice>
              <mc:Fallback>
                <p:oleObj name="文档" r:id="rId5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96921" y="3129833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381356"/>
            <a:ext cx="11533030" cy="3018795"/>
            <a:chOff x="381000" y="609958"/>
            <a:chExt cx="11533030" cy="3018795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8861163"/>
                </p:ext>
              </p:extLst>
            </p:nvPr>
          </p:nvGraphicFramePr>
          <p:xfrm>
            <a:off x="484030" y="609958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62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4030" y="609958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247638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求双曲线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的标准方程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设点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是双曲线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上任意一点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855859"/>
              </p:ext>
            </p:extLst>
          </p:nvPr>
        </p:nvGraphicFramePr>
        <p:xfrm>
          <a:off x="484030" y="3451667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3" name="文档" r:id="rId5" imgW="4521746" imgH="794410" progId="Word.Document.12">
                  <p:embed/>
                </p:oleObj>
              </mc:Choice>
              <mc:Fallback>
                <p:oleObj name="文档" r:id="rId5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4030" y="3451667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可能在双曲线的左支上也可能在双曲线的右支上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在双曲线的左支上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在双曲线的右支上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综上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75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261</TotalTime>
  <Words>1463</Words>
  <Application>Microsoft Office PowerPoint</Application>
  <PresentationFormat>宽屏</PresentationFormat>
  <Paragraphs>128</Paragraphs>
  <Slides>46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7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32</cp:revision>
  <dcterms:created xsi:type="dcterms:W3CDTF">2021-08-30T08:30:26Z</dcterms:created>
  <dcterms:modified xsi:type="dcterms:W3CDTF">2025-08-09T09:33:22Z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