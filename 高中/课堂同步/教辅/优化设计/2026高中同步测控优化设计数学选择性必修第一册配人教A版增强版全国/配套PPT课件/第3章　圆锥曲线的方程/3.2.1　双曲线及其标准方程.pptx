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765" r:id="rId10"/>
    <p:sldId id="690" r:id="rId11"/>
    <p:sldId id="691" r:id="rId12"/>
    <p:sldId id="692" r:id="rId13"/>
    <p:sldId id="693" r:id="rId14"/>
    <p:sldId id="407" r:id="rId15"/>
    <p:sldId id="394" r:id="rId16"/>
    <p:sldId id="699" r:id="rId17"/>
    <p:sldId id="700" r:id="rId18"/>
    <p:sldId id="701" r:id="rId19"/>
    <p:sldId id="702" r:id="rId20"/>
    <p:sldId id="706" r:id="rId21"/>
    <p:sldId id="402" r:id="rId22"/>
    <p:sldId id="712" r:id="rId23"/>
    <p:sldId id="713" r:id="rId24"/>
    <p:sldId id="714" r:id="rId25"/>
    <p:sldId id="715" r:id="rId26"/>
    <p:sldId id="498" r:id="rId27"/>
    <p:sldId id="730" r:id="rId28"/>
    <p:sldId id="733" r:id="rId29"/>
    <p:sldId id="743" r:id="rId30"/>
    <p:sldId id="740" r:id="rId31"/>
    <p:sldId id="739" r:id="rId32"/>
    <p:sldId id="745" r:id="rId33"/>
    <p:sldId id="746" r:id="rId34"/>
    <p:sldId id="398" r:id="rId35"/>
    <p:sldId id="395" r:id="rId36"/>
    <p:sldId id="756" r:id="rId37"/>
    <p:sldId id="757" r:id="rId38"/>
    <p:sldId id="758" r:id="rId39"/>
    <p:sldId id="490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slide" Target="../slides/slide15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30.xml"/><Relationship Id="rId4" Type="http://schemas.openxmlformats.org/officeDocument/2006/relationships/slide" Target="../slides/slide2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8148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4783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1417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1108051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Word___6.docx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7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Word___12.docx"/><Relationship Id="rId4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8.emf"/><Relationship Id="rId5" Type="http://schemas.openxmlformats.org/officeDocument/2006/relationships/package" Target="../embeddings/Microsoft_Word___16.docx"/><Relationship Id="rId4" Type="http://schemas.openxmlformats.org/officeDocument/2006/relationships/image" Target="../media/image1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package" Target="../embeddings/Microsoft_Word___18.docx"/><Relationship Id="rId4" Type="http://schemas.openxmlformats.org/officeDocument/2006/relationships/image" Target="../media/image1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Word___20.docx"/><Relationship Id="rId4" Type="http://schemas.openxmlformats.org/officeDocument/2006/relationships/image" Target="../media/image2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Word___22.docx"/><Relationship Id="rId4" Type="http://schemas.openxmlformats.org/officeDocument/2006/relationships/image" Target="../media/image22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5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7.jpeg"/><Relationship Id="rId4" Type="http://schemas.openxmlformats.org/officeDocument/2006/relationships/image" Target="../media/image2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28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0.emf"/><Relationship Id="rId5" Type="http://schemas.openxmlformats.org/officeDocument/2006/relationships/package" Target="../embeddings/Microsoft_Word___27.docx"/><Relationship Id="rId4" Type="http://schemas.openxmlformats.org/officeDocument/2006/relationships/image" Target="../media/image29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3.emf"/><Relationship Id="rId5" Type="http://schemas.openxmlformats.org/officeDocument/2006/relationships/package" Target="../embeddings/Microsoft_Word___30.docx"/><Relationship Id="rId4" Type="http://schemas.openxmlformats.org/officeDocument/2006/relationships/image" Target="../media/image32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4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3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3.2.1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双曲线及其标准方程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第三章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3.2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6367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了解双曲线的定义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了解双曲线的几何图形和标准方程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能利用双曲线的定义和待定系数法求双曲线的标准方程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抽象、直观想象、逻辑推理与数学运算素养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0800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一、双曲线的定义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取一条拉链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拉开它的一部分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在拉开的两边上各选择一点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分别固定在点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把笔尖放于点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拉开闭拢的拉链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笔尖经过的点可画出一条曲线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思考曲线满足什么条件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如题图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曲线上的点满足条件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|-|MF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如果改变一下位置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|-|MF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可得到另一条曲线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EMX1TRAX25.eps" descr="id:2147497026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25751" y="2211892"/>
            <a:ext cx="3340498" cy="276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1"/>
            <a:ext cx="308097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273253"/>
              </p:ext>
            </p:extLst>
          </p:nvPr>
        </p:nvGraphicFramePr>
        <p:xfrm>
          <a:off x="381000" y="1413903"/>
          <a:ext cx="11430000" cy="4257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文档" r:id="rId3" imgW="4521746" imgH="1684467" progId="Word.Document.12">
                  <p:embed/>
                </p:oleObj>
              </mc:Choice>
              <mc:Fallback>
                <p:oleObj name="文档" r:id="rId3" imgW="4521746" imgH="16844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413903"/>
                        <a:ext cx="11430000" cy="4257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8196583" y="1505364"/>
            <a:ext cx="2826962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641240" y="2534064"/>
            <a:ext cx="669666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77126" y="3058455"/>
            <a:ext cx="696858" cy="40130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941257" y="3839631"/>
            <a:ext cx="2532201" cy="40937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的距离之差为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双曲线的一支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一条直线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一条射线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|PA|-|PB|=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&lt;|AB|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的轨迹是双曲线的一支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二、双曲线的标准方程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能否用推导椭圆标准方程的方法推出双曲线的方程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怎样推导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建系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以经过两焦点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的直线为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的垂直平分线为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建立平面直角坐标系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是双曲线上任意一点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双曲线的焦距为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那么双曲线的焦点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的坐标分别是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,0),(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1516" y="1243879"/>
            <a:ext cx="11759484" cy="3205883"/>
            <a:chOff x="51516" y="1736161"/>
            <a:chExt cx="11759484" cy="320588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736161"/>
              <a:ext cx="11430000" cy="60728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列式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|MF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|-|MF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&lt;a&lt;c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 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4679196"/>
                </p:ext>
              </p:extLst>
            </p:nvPr>
          </p:nvGraphicFramePr>
          <p:xfrm>
            <a:off x="51516" y="2431238"/>
            <a:ext cx="11430000" cy="25108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7" name="文档" r:id="rId3" imgW="4521746" imgH="993283" progId="Word.Document.12">
                    <p:embed/>
                  </p:oleObj>
                </mc:Choice>
                <mc:Fallback>
                  <p:oleObj name="文档" r:id="rId3" imgW="4521746" imgH="99328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516" y="2431238"/>
                          <a:ext cx="11430000" cy="25108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1443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15163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类比焦点在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轴上的椭圆的标准方程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轴上的双曲线的标准方程是什么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如何通过方程区分焦点所在的坐标轴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5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轴上的双曲线的标准方程为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双曲线的标准方程中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的系数的符号决定了焦点所在的坐标轴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的系数为正时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的系数为正时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而与分母的大小无关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543877"/>
              </p:ext>
            </p:extLst>
          </p:nvPr>
        </p:nvGraphicFramePr>
        <p:xfrm>
          <a:off x="7140821" y="2239764"/>
          <a:ext cx="185737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文档" r:id="rId3" imgW="743666" imgH="397386" progId="Word.Document.12">
                  <p:embed/>
                </p:oleObj>
              </mc:Choice>
              <mc:Fallback>
                <p:oleObj name="文档" r:id="rId3" imgW="74366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40821" y="2239764"/>
                        <a:ext cx="1857375" cy="99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0728"/>
            <a:ext cx="369973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的标准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008025"/>
              </p:ext>
            </p:extLst>
          </p:nvPr>
        </p:nvGraphicFramePr>
        <p:xfrm>
          <a:off x="381000" y="1307609"/>
          <a:ext cx="11430000" cy="479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文档" r:id="rId3" imgW="4521746" imgH="1895973" progId="Word.Document.12">
                  <p:embed/>
                </p:oleObj>
              </mc:Choice>
              <mc:Fallback>
                <p:oleObj name="文档" r:id="rId3" imgW="4521746" imgH="18959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307609"/>
                        <a:ext cx="11430000" cy="4792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896011" y="2047008"/>
            <a:ext cx="1395434" cy="70524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907651" y="2747774"/>
            <a:ext cx="13895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447229" y="2047008"/>
            <a:ext cx="1395434" cy="70524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7458869" y="2747774"/>
            <a:ext cx="13895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769373" y="2993357"/>
            <a:ext cx="768560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959280" y="2993357"/>
            <a:ext cx="768560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975970" y="3500496"/>
            <a:ext cx="768560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398193" y="4294740"/>
            <a:ext cx="1101070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57763"/>
              </p:ext>
            </p:extLst>
          </p:nvPr>
        </p:nvGraphicFramePr>
        <p:xfrm>
          <a:off x="59027" y="965252"/>
          <a:ext cx="11430000" cy="2208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" name="文档" r:id="rId3" imgW="4510061" imgH="873939" progId="Word.Document.12">
                  <p:embed/>
                </p:oleObj>
              </mc:Choice>
              <mc:Fallback>
                <p:oleObj name="文档" r:id="rId3" imgW="4510061" imgH="8739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27" y="965252"/>
                        <a:ext cx="11430000" cy="22088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2064624"/>
              </p:ext>
            </p:extLst>
          </p:nvPr>
        </p:nvGraphicFramePr>
        <p:xfrm>
          <a:off x="59027" y="3235438"/>
          <a:ext cx="11430000" cy="501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" name="文档" r:id="rId5" imgW="4521746" imgH="198512" progId="Word.Document.12">
                  <p:embed/>
                </p:oleObj>
              </mc:Choice>
              <mc:Fallback>
                <p:oleObj name="文档" r:id="rId5" imgW="4521746" imgH="1985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027" y="3235438"/>
                        <a:ext cx="11430000" cy="501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758399"/>
            <a:ext cx="163378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1516" y="288657"/>
            <a:ext cx="11759484" cy="5354198"/>
            <a:chOff x="51516" y="486086"/>
            <a:chExt cx="11759484" cy="535419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86086"/>
              <a:ext cx="11430000" cy="283282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错误的画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“×”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在双曲线的标准方程中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之间的关系与椭圆中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之间的关系相同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×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(1,0),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|AC|-|BC|=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的轨迹是双曲线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×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0296503"/>
                </p:ext>
              </p:extLst>
            </p:nvPr>
          </p:nvGraphicFramePr>
          <p:xfrm>
            <a:off x="51516" y="3293155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5" name="文档" r:id="rId3" imgW="4521746" imgH="794410" progId="Word.Document.12">
                    <p:embed/>
                  </p:oleObj>
                </mc:Choice>
                <mc:Fallback>
                  <p:oleObj name="文档" r:id="rId3" imgW="4521746" imgH="7944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516" y="3293155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5248071"/>
              <a:ext cx="10456709" cy="5922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关于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的方程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+ny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mn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表示的曲线为双曲线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</a:t>
              </a:r>
              <a:r>
                <a:rPr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1129558" y="2071823"/>
            <a:ext cx="52259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356685" y="2643900"/>
            <a:ext cx="52259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577367" y="3423910"/>
            <a:ext cx="52259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396158" y="4424451"/>
            <a:ext cx="52259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663545" y="5116661"/>
            <a:ext cx="682749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求双曲线的标准方程</a:t>
                </a: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545228"/>
              </p:ext>
            </p:extLst>
          </p:nvPr>
        </p:nvGraphicFramePr>
        <p:xfrm>
          <a:off x="381000" y="1257262"/>
          <a:ext cx="11430000" cy="2510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文档" r:id="rId3" imgW="4521746" imgH="993283" progId="Word.Document.12">
                  <p:embed/>
                </p:oleObj>
              </mc:Choice>
              <mc:Fallback>
                <p:oleObj name="文档" r:id="rId3" imgW="4521746" imgH="9932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257262"/>
                        <a:ext cx="11430000" cy="2510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703673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设出双曲线的标准方程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构造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关于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求得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从而求得双曲线的标准方程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注意对平方关系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的运用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083141"/>
              </p:ext>
            </p:extLst>
          </p:nvPr>
        </p:nvGraphicFramePr>
        <p:xfrm>
          <a:off x="64395" y="1004258"/>
          <a:ext cx="11430000" cy="351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文档" r:id="rId3" imgW="4521746" imgH="1390308" progId="Word.Document.12">
                  <p:embed/>
                </p:oleObj>
              </mc:Choice>
              <mc:Fallback>
                <p:oleObj name="文档" r:id="rId3" imgW="4521746" imgH="13903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5" y="1004258"/>
                        <a:ext cx="11430000" cy="35143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10737"/>
              </p:ext>
            </p:extLst>
          </p:nvPr>
        </p:nvGraphicFramePr>
        <p:xfrm>
          <a:off x="59028" y="110050"/>
          <a:ext cx="11430000" cy="6025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文档" r:id="rId3" imgW="4521746" imgH="2383592" progId="Word.Document.12">
                  <p:embed/>
                </p:oleObj>
              </mc:Choice>
              <mc:Fallback>
                <p:oleObj name="文档" r:id="rId3" imgW="4521746" imgH="2383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28" y="110050"/>
                        <a:ext cx="11430000" cy="6025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求双曲线标准方程的步骤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确定双曲线的类型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并设出标准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当双曲线的焦点所在坐标轴不确定时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需分焦点在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轴上和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轴上两种情况讨论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特别地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当已知双曲线经过两个点时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可设双曲线方程为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来求解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4395" y="351633"/>
            <a:ext cx="11746605" cy="2143994"/>
            <a:chOff x="64395" y="351633"/>
            <a:chExt cx="11746605" cy="214399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351633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已知双曲线过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(1,1),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2,5)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两点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求双曲线的标准方程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832078"/>
                </p:ext>
              </p:extLst>
            </p:nvPr>
          </p:nvGraphicFramePr>
          <p:xfrm>
            <a:off x="64395" y="1491121"/>
            <a:ext cx="11430000" cy="1004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2" name="文档" r:id="rId3" imgW="4521746" imgH="397386" progId="Word.Document.12">
                    <p:embed/>
                  </p:oleObj>
                </mc:Choice>
                <mc:Fallback>
                  <p:oleObj name="文档" r:id="rId3" imgW="4521746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1491121"/>
                          <a:ext cx="11430000" cy="10045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/>
          <p:cNvGrpSpPr/>
          <p:nvPr/>
        </p:nvGrpSpPr>
        <p:grpSpPr>
          <a:xfrm>
            <a:off x="64395" y="2469869"/>
            <a:ext cx="11746605" cy="3676052"/>
            <a:chOff x="64395" y="2469869"/>
            <a:chExt cx="11746605" cy="3676052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469869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设双曲线的方程为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+By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双曲线过点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(1,1),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2,5),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4042220"/>
                </p:ext>
              </p:extLst>
            </p:nvPr>
          </p:nvGraphicFramePr>
          <p:xfrm>
            <a:off x="64395" y="3635115"/>
            <a:ext cx="11430000" cy="25108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3" name="文档" r:id="rId5" imgW="4521746" imgH="993283" progId="Word.Document.12">
                    <p:embed/>
                  </p:oleObj>
                </mc:Choice>
                <mc:Fallback>
                  <p:oleObj name="文档" r:id="rId5" imgW="4521746" imgH="99328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4395" y="3635115"/>
                          <a:ext cx="11430000" cy="25108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582583"/>
              </p:ext>
            </p:extLst>
          </p:nvPr>
        </p:nvGraphicFramePr>
        <p:xfrm>
          <a:off x="71907" y="1275052"/>
          <a:ext cx="11430000" cy="301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文档" r:id="rId3" imgW="4521746" imgH="1191796" progId="Word.Document.12">
                  <p:embed/>
                </p:oleObj>
              </mc:Choice>
              <mc:Fallback>
                <p:oleObj name="文档" r:id="rId3" imgW="4521746" imgH="11917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907" y="1275052"/>
                        <a:ext cx="11430000" cy="3012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329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双曲线的定义及其应用</a:t>
                </a:r>
              </a:p>
            </p:txBody>
          </p:sp>
        </p:grpSp>
      </p:grpSp>
      <p:sp>
        <p:nvSpPr>
          <p:cNvPr id="4" name="矩形 3"/>
          <p:cNvSpPr>
            <a:spLocks noChangeAspect="1"/>
          </p:cNvSpPr>
          <p:nvPr/>
        </p:nvSpPr>
        <p:spPr>
          <a:xfrm>
            <a:off x="381000" y="1933643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若双曲线上一点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到它的一个焦点的距离等于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到另一个焦点的距离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是双曲线上的一点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的面积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直接利用定义求解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中利用余弦定理求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08080"/>
              </p:ext>
            </p:extLst>
          </p:nvPr>
        </p:nvGraphicFramePr>
        <p:xfrm>
          <a:off x="-10391" y="1033790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0391" y="1033790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8636" y="358086"/>
            <a:ext cx="11762364" cy="5067505"/>
            <a:chOff x="48636" y="358086"/>
            <a:chExt cx="11762364" cy="5067505"/>
          </a:xfrm>
        </p:grpSpPr>
        <p:grpSp>
          <p:nvGrpSpPr>
            <p:cNvPr id="7" name="组合 6"/>
            <p:cNvGrpSpPr/>
            <p:nvPr/>
          </p:nvGrpSpPr>
          <p:grpSpPr>
            <a:xfrm>
              <a:off x="59027" y="358086"/>
              <a:ext cx="11751973" cy="4230686"/>
              <a:chOff x="59027" y="597079"/>
              <a:chExt cx="11751973" cy="4230686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597079"/>
                <a:ext cx="11430000" cy="115236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|MF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根据双曲线的定义知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||MF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|MF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±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|MF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|MF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即点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到另一个焦点的距离为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或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75865828"/>
                  </p:ext>
                </p:extLst>
              </p:nvPr>
            </p:nvGraphicFramePr>
            <p:xfrm>
              <a:off x="59027" y="1685051"/>
              <a:ext cx="11430000" cy="10045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345" name="文档" r:id="rId3" imgW="4521746" imgH="397386" progId="Word.Document.12">
                      <p:embed/>
                    </p:oleObj>
                  </mc:Choice>
                  <mc:Fallback>
                    <p:oleObj name="文档" r:id="rId3" imgW="4521746" imgH="397386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59027" y="1685051"/>
                            <a:ext cx="11430000" cy="10045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" name="矩形 4"/>
              <p:cNvSpPr>
                <a:spLocks noChangeAspect="1"/>
              </p:cNvSpPr>
              <p:nvPr/>
            </p:nvSpPr>
            <p:spPr>
              <a:xfrm>
                <a:off x="381000" y="2555092"/>
                <a:ext cx="11430000" cy="227267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由定义和余弦定理得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|-|PF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±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6,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=|PF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+|PF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||PF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60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°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|-|PF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+|PF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·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|PF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|=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64,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1404469"/>
                </p:ext>
              </p:extLst>
            </p:nvPr>
          </p:nvGraphicFramePr>
          <p:xfrm>
            <a:off x="48636" y="4433626"/>
            <a:ext cx="11275153" cy="9919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6" name="文档" r:id="rId5" imgW="4510061" imgH="396786" progId="Word.Document.12">
                    <p:embed/>
                  </p:oleObj>
                </mc:Choice>
                <mc:Fallback>
                  <p:oleObj name="文档" r:id="rId5" imgW="4510061" imgH="3967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636" y="4433626"/>
                          <a:ext cx="11275153" cy="9919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1247370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双曲线中的焦点三角形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面积的方法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根据双曲线的定义求出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利用余弦定理表示出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之间满足的关系式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③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通过配方、整体的思想求出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|·|PF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④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|·|PF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求得面积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利用公式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 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求得面积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2454441"/>
              </p:ext>
            </p:extLst>
          </p:nvPr>
        </p:nvGraphicFramePr>
        <p:xfrm>
          <a:off x="4935887" y="2895829"/>
          <a:ext cx="479136" cy="68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文档" r:id="rId3" imgW="285035" imgH="397130" progId="Word.Document.12">
                  <p:embed/>
                </p:oleObj>
              </mc:Choice>
              <mc:Fallback>
                <p:oleObj name="文档" r:id="rId3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35887" y="2895829"/>
                        <a:ext cx="479136" cy="685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946893"/>
              </p:ext>
            </p:extLst>
          </p:nvPr>
        </p:nvGraphicFramePr>
        <p:xfrm>
          <a:off x="2909660" y="3454958"/>
          <a:ext cx="479136" cy="68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0" name="文档" r:id="rId5" imgW="285035" imgH="397130" progId="Word.Document.12">
                  <p:embed/>
                </p:oleObj>
              </mc:Choice>
              <mc:Fallback>
                <p:oleObj name="文档" r:id="rId5" imgW="285035" imgH="3971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09660" y="3454958"/>
                        <a:ext cx="479136" cy="685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922918"/>
            <a:ext cx="11430000" cy="3394281"/>
            <a:chOff x="381000" y="2408820"/>
            <a:chExt cx="11430000" cy="339428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606210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已知双曲线的方程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在双曲线上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且到其中一个焦点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的距离为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的中点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为坐标原点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|ON|=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63826042"/>
                </p:ext>
              </p:extLst>
            </p:nvPr>
          </p:nvGraphicFramePr>
          <p:xfrm>
            <a:off x="6973396" y="2408820"/>
            <a:ext cx="1941512" cy="998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2" name="文档" r:id="rId3" imgW="776902" imgH="397386" progId="Word.Document.12">
                    <p:embed/>
                  </p:oleObj>
                </mc:Choice>
                <mc:Fallback>
                  <p:oleObj name="文档" r:id="rId3" imgW="776902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973396" y="2408820"/>
                          <a:ext cx="1941512" cy="998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858879"/>
                </p:ext>
              </p:extLst>
            </p:nvPr>
          </p:nvGraphicFramePr>
          <p:xfrm>
            <a:off x="381000" y="4296799"/>
            <a:ext cx="11430000" cy="1506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3" name="文档" r:id="rId5" imgW="4510061" imgH="596081" progId="Word.Document.12">
                    <p:embed/>
                  </p:oleObj>
                </mc:Choice>
                <mc:Fallback>
                  <p:oleObj name="文档" r:id="rId5" imgW="4510061" imgH="59608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1000" y="4296799"/>
                          <a:ext cx="11430000" cy="15063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9028" y="237117"/>
            <a:ext cx="11430000" cy="5570155"/>
            <a:chOff x="59028" y="237117"/>
            <a:chExt cx="11430000" cy="557015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37117"/>
              <a:ext cx="6154249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rPr>
                <a:t>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的中位线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0052448"/>
                </p:ext>
              </p:extLst>
            </p:nvPr>
          </p:nvGraphicFramePr>
          <p:xfrm>
            <a:off x="59028" y="786571"/>
            <a:ext cx="11430000" cy="5020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4" name="文档" r:id="rId3" imgW="4521746" imgH="1986206" progId="Word.Document.12">
                    <p:embed/>
                  </p:oleObj>
                </mc:Choice>
                <mc:Fallback>
                  <p:oleObj name="文档" r:id="rId3" imgW="4521746" imgH="198620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9028" y="786571"/>
                          <a:ext cx="11430000" cy="502070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467082"/>
              </p:ext>
            </p:extLst>
          </p:nvPr>
        </p:nvGraphicFramePr>
        <p:xfrm>
          <a:off x="59028" y="5729998"/>
          <a:ext cx="11430000" cy="501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5" name="文档" r:id="rId5" imgW="4521746" imgH="198512" progId="Word.Document.12">
                  <p:embed/>
                </p:oleObj>
              </mc:Choice>
              <mc:Fallback>
                <p:oleObj name="文档" r:id="rId5" imgW="4521746" imgH="1985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028" y="5729998"/>
                        <a:ext cx="11430000" cy="501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与双曲线有关的轨迹方程</a:t>
                </a:r>
              </a:p>
            </p:txBody>
          </p:sp>
        </p:grpSp>
      </p:grpSp>
      <p:sp>
        <p:nvSpPr>
          <p:cNvPr id="3" name="矩形 2"/>
          <p:cNvSpPr>
            <a:spLocks noChangeAspect="1"/>
          </p:cNvSpPr>
          <p:nvPr/>
        </p:nvSpPr>
        <p:spPr>
          <a:xfrm>
            <a:off x="381000" y="594078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地的正东方向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km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地的北偏东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km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河流的沿岸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上任意一点到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地的距离比到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地的距离远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km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现要在河岸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上选一处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建码头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两地转运货物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经测算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修建公路的费用是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万元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千米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求修建这两条公路的最低总费用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sz="2800" dirty="0" smtClean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建立平面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直角坐标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写出曲线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的轨迹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写出修建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公路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的总费用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利用双曲线的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转化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|MB|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结合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图象得出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答案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5" name="NMX1TRAX161.eps" descr="id:2147517736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27875" y="2875719"/>
            <a:ext cx="2736251" cy="2171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81000" y="590586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所在的直线为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的中点为原点建立平面直角坐标系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113161"/>
              </p:ext>
            </p:extLst>
          </p:nvPr>
        </p:nvGraphicFramePr>
        <p:xfrm>
          <a:off x="41564" y="1191924"/>
          <a:ext cx="11430000" cy="4137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文档" r:id="rId3" imgW="4510061" imgH="1632660" progId="Word.Document.12">
                  <p:embed/>
                </p:oleObj>
              </mc:Choice>
              <mc:Fallback>
                <p:oleObj name="文档" r:id="rId3" imgW="4510061" imgH="16326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64" y="1191924"/>
                        <a:ext cx="11430000" cy="4137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与双曲线有关的点的轨迹问题的方法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列出等量关系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化简得到方程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寻找几何关系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由双曲线的定义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得出对应的方程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确定双曲线的焦点所在的坐标轴是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轴还是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检验所求的轨迹对应的是双曲线的一支还是两支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03650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同时与圆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及圆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相外切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求动圆圆心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设动圆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及圆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分别外切于点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根据两圆外切的条件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|=|AC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|+|MA|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|=|BC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|+|MB|.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|MA|=|MB|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|-|MC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|=|BC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|-|AC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这表明动点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与两定点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的距离的差是常数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根据双曲线的定义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的轨迹为双曲线的左支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141330"/>
              </p:ext>
            </p:extLst>
          </p:nvPr>
        </p:nvGraphicFramePr>
        <p:xfrm>
          <a:off x="64395" y="5175395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文档" r:id="rId3" imgW="4521746" imgH="397386" progId="Word.Document.12">
                  <p:embed/>
                </p:oleObj>
              </mc:Choice>
              <mc:Fallback>
                <p:oleObj name="文档" r:id="rId3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5" y="5175395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23TA20.eps" descr="id:2147517649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67376" y="3088133"/>
            <a:ext cx="1942831" cy="181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381000" y="952902"/>
            <a:ext cx="11430000" cy="418576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对双曲线的概念理解不清致误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5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焦点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在双曲线上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到焦点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错解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错解一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双曲线的实轴长为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错解二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双曲线的实轴长为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由双曲线的定义得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279290"/>
              </p:ext>
            </p:extLst>
          </p:nvPr>
        </p:nvGraphicFramePr>
        <p:xfrm>
          <a:off x="5008819" y="1404994"/>
          <a:ext cx="2097087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文档" r:id="rId3" imgW="844889" imgH="397386" progId="Word.Document.12">
                  <p:embed/>
                </p:oleObj>
              </mc:Choice>
              <mc:Fallback>
                <p:oleObj name="文档" r:id="rId3" imgW="844889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08819" y="1404994"/>
                        <a:ext cx="2097087" cy="99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40565"/>
            <a:ext cx="11430000" cy="56335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错解一是对双曲线的定义中的差的绝对值掌握不够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是概念性的错误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错解二没有验证两解是否符合题意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忽略了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这一条件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而得出错误的结论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双曲线的实轴长为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由双曲线的定义得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|+|PF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&lt;|F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不符合公理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两点之间线段最短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应舍去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双曲线的定义是到两个定点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的距离的差的绝对值等于非零常数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小于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注意双曲线的一个隐含条件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双曲线的一个顶点到另一分支上的点的最小距离是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到一个焦点的距离是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到另一个焦点的距离是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故本题还得满足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这一条件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505617"/>
            <a:ext cx="11430000" cy="1409418"/>
            <a:chOff x="381000" y="827738"/>
            <a:chExt cx="11430000" cy="140941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024516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双曲线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一点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是双曲线的两个焦点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|PF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8708617"/>
                </p:ext>
              </p:extLst>
            </p:nvPr>
          </p:nvGraphicFramePr>
          <p:xfrm>
            <a:off x="5533450" y="827738"/>
            <a:ext cx="2039937" cy="998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28" name="文档" r:id="rId3" imgW="815921" imgH="397386" progId="Word.Document.12">
                    <p:embed/>
                  </p:oleObj>
                </mc:Choice>
                <mc:Fallback>
                  <p:oleObj name="文档" r:id="rId3" imgW="815921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533450" y="827738"/>
                          <a:ext cx="2039937" cy="998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237100"/>
              </p:ext>
            </p:extLst>
          </p:nvPr>
        </p:nvGraphicFramePr>
        <p:xfrm>
          <a:off x="64395" y="1845225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9" name="文档" r:id="rId5" imgW="4521746" imgH="397386" progId="Word.Document.12">
                  <p:embed/>
                </p:oleObj>
              </mc:Choice>
              <mc:Fallback>
                <p:oleObj name="文档" r:id="rId5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395" y="1845225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2741284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是双曲线上的一点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31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51516"/>
            <a:ext cx="11430000" cy="68141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的距离与点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的距离之差为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双曲线的一支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两条射线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一条射线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|PM|-|PN|=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=|MN|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的轨迹是一条以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为端点的射线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若双曲线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的左、右焦点分别为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在双曲线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A.11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B.9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C.5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D.3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|PF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3(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652978"/>
              </p:ext>
            </p:extLst>
          </p:nvPr>
        </p:nvGraphicFramePr>
        <p:xfrm>
          <a:off x="2369524" y="3242443"/>
          <a:ext cx="1290992" cy="82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文档" r:id="rId3" imgW="632808" imgH="397386" progId="Word.Document.12">
                  <p:embed/>
                </p:oleObj>
              </mc:Choice>
              <mc:Fallback>
                <p:oleObj name="文档" r:id="rId3" imgW="632808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9524" y="3242443"/>
                        <a:ext cx="1290992" cy="825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109195"/>
              </p:ext>
            </p:extLst>
          </p:nvPr>
        </p:nvGraphicFramePr>
        <p:xfrm>
          <a:off x="496909" y="-84340"/>
          <a:ext cx="11430000" cy="301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" name="文档" r:id="rId3" imgW="4521746" imgH="1191796" progId="Word.Document.12">
                  <p:embed/>
                </p:oleObj>
              </mc:Choice>
              <mc:Fallback>
                <p:oleObj name="文档" r:id="rId3" imgW="4521746" imgH="11917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6909" y="-84340"/>
                        <a:ext cx="11430000" cy="3012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567439"/>
              </p:ext>
            </p:extLst>
          </p:nvPr>
        </p:nvGraphicFramePr>
        <p:xfrm>
          <a:off x="496909" y="2778093"/>
          <a:ext cx="11430000" cy="351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文档" r:id="rId5" imgW="4521746" imgH="1390308" progId="Word.Document.12">
                  <p:embed/>
                </p:oleObj>
              </mc:Choice>
              <mc:Fallback>
                <p:oleObj name="文档" r:id="rId5" imgW="4521746" imgH="13903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6909" y="2778093"/>
                        <a:ext cx="11430000" cy="35143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6128240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241356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&lt;k&lt;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1,1)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579856"/>
              </p:ext>
            </p:extLst>
          </p:nvPr>
        </p:nvGraphicFramePr>
        <p:xfrm>
          <a:off x="479206" y="1494334"/>
          <a:ext cx="11275153" cy="991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文档" r:id="rId3" imgW="4510061" imgH="396786" progId="Word.Document.12">
                  <p:embed/>
                </p:oleObj>
              </mc:Choice>
              <mc:Fallback>
                <p:oleObj name="文档" r:id="rId3" imgW="4510061" imgH="396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206" y="1494334"/>
                        <a:ext cx="11275153" cy="991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78868"/>
            <a:ext cx="11430000" cy="45132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已知定点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和定圆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动圆和圆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相外切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并且过点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求动圆圆心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设动圆半径为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则由已知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|PA|=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|=r+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|PC|=|PA|+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|PC|-|PA|=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(3,0),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|AC|=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&lt;|AC|.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的轨迹是以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为焦点的双曲线的右支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1429390"/>
              </p:ext>
            </p:extLst>
          </p:nvPr>
        </p:nvGraphicFramePr>
        <p:xfrm>
          <a:off x="498141" y="4771449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文档" r:id="rId3" imgW="4521746" imgH="397386" progId="Word.Document.12">
                  <p:embed/>
                </p:oleObj>
              </mc:Choice>
              <mc:Fallback>
                <p:oleObj name="文档" r:id="rId3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8141" y="4771449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205</TotalTime>
  <Words>2077</Words>
  <Application>Microsoft Office PowerPoint</Application>
  <PresentationFormat>宽屏</PresentationFormat>
  <Paragraphs>144</Paragraphs>
  <Slides>39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9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32</cp:revision>
  <dcterms:created xsi:type="dcterms:W3CDTF">2021-08-30T08:30:26Z</dcterms:created>
  <dcterms:modified xsi:type="dcterms:W3CDTF">2025-08-09T09:29:14Z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