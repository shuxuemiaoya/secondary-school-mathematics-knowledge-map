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docx" ContentType="application/vnd.openxmlformats-officedocument.wordprocessingml.document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1"/>
  </p:notesMasterIdLst>
  <p:sldIdLst>
    <p:sldId id="677" r:id="rId2"/>
    <p:sldId id="488" r:id="rId3"/>
    <p:sldId id="494" r:id="rId4"/>
    <p:sldId id="392" r:id="rId5"/>
    <p:sldId id="686" r:id="rId6"/>
    <p:sldId id="688" r:id="rId7"/>
    <p:sldId id="689" r:id="rId8"/>
    <p:sldId id="690" r:id="rId9"/>
    <p:sldId id="691" r:id="rId10"/>
    <p:sldId id="692" r:id="rId11"/>
    <p:sldId id="693" r:id="rId12"/>
    <p:sldId id="407" r:id="rId13"/>
    <p:sldId id="394" r:id="rId14"/>
    <p:sldId id="761" r:id="rId15"/>
    <p:sldId id="762" r:id="rId16"/>
    <p:sldId id="763" r:id="rId17"/>
    <p:sldId id="760" r:id="rId18"/>
    <p:sldId id="699" r:id="rId19"/>
    <p:sldId id="700" r:id="rId20"/>
    <p:sldId id="701" r:id="rId21"/>
    <p:sldId id="702" r:id="rId22"/>
    <p:sldId id="402" r:id="rId23"/>
    <p:sldId id="712" r:id="rId24"/>
    <p:sldId id="713" r:id="rId25"/>
    <p:sldId id="714" r:id="rId26"/>
    <p:sldId id="715" r:id="rId27"/>
    <p:sldId id="719" r:id="rId28"/>
    <p:sldId id="498" r:id="rId29"/>
    <p:sldId id="730" r:id="rId30"/>
    <p:sldId id="733" r:id="rId31"/>
    <p:sldId id="743" r:id="rId32"/>
    <p:sldId id="744" r:id="rId33"/>
    <p:sldId id="734" r:id="rId34"/>
    <p:sldId id="737" r:id="rId35"/>
    <p:sldId id="742" r:id="rId36"/>
    <p:sldId id="740" r:id="rId37"/>
    <p:sldId id="739" r:id="rId38"/>
    <p:sldId id="745" r:id="rId39"/>
    <p:sldId id="746" r:id="rId40"/>
    <p:sldId id="747" r:id="rId41"/>
    <p:sldId id="748" r:id="rId42"/>
    <p:sldId id="749" r:id="rId43"/>
    <p:sldId id="398" r:id="rId44"/>
    <p:sldId id="395" r:id="rId45"/>
    <p:sldId id="756" r:id="rId46"/>
    <p:sldId id="757" r:id="rId47"/>
    <p:sldId id="758" r:id="rId48"/>
    <p:sldId id="759" r:id="rId49"/>
    <p:sldId id="490" r:id="rId5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8">
          <p15:clr>
            <a:srgbClr val="A4A3A4"/>
          </p15:clr>
        </p15:guide>
        <p15:guide id="2" pos="211" userDrawn="1">
          <p15:clr>
            <a:srgbClr val="A4A3A4"/>
          </p15:clr>
        </p15:guide>
        <p15:guide id="3" orient="horz" pos="436" userDrawn="1">
          <p15:clr>
            <a:srgbClr val="A4A3A4"/>
          </p15:clr>
        </p15:guide>
        <p15:guide id="4" orient="horz" pos="777" userDrawn="1">
          <p15:clr>
            <a:srgbClr val="A4A3A4"/>
          </p15:clr>
        </p15:guide>
        <p15:guide id="5" orient="horz" pos="28" userDrawn="1">
          <p15:clr>
            <a:srgbClr val="A4A3A4"/>
          </p15:clr>
        </p15:guide>
        <p15:guide id="6" pos="25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5B3E"/>
    <a:srgbClr val="7088DB"/>
    <a:srgbClr val="CF5B1B"/>
    <a:srgbClr val="38425D"/>
    <a:srgbClr val="4472C4"/>
    <a:srgbClr val="DFF0F5"/>
    <a:srgbClr val="4040C8"/>
    <a:srgbClr val="159470"/>
    <a:srgbClr val="157392"/>
    <a:srgbClr val="1593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2" d="100"/>
          <a:sy n="92" d="100"/>
        </p:scale>
        <p:origin x="498" y="84"/>
      </p:cViewPr>
      <p:guideLst>
        <p:guide orient="horz" pos="368"/>
        <p:guide pos="211"/>
        <p:guide orient="horz" pos="436"/>
        <p:guide orient="horz" pos="777"/>
        <p:guide orient="horz" pos="28"/>
        <p:guide pos="25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991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image" Target="../media/image4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image" Target="../media/image7.e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image" Target="../media/image9.e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image" Target="../media/image11.e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image" Target="../media/image14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e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image" Target="../media/image29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e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emf"/></Relationships>
</file>

<file path=ppt/drawings/_rels/vmlDrawing23.vml.rels><?xml version="1.0" encoding="UTF-8" standalone="yes"?>
<Relationships xmlns="http://schemas.openxmlformats.org/package/2006/relationships"><Relationship Id="rId2" Type="http://schemas.openxmlformats.org/officeDocument/2006/relationships/image" Target="../media/image38.emf"/><Relationship Id="rId1" Type="http://schemas.openxmlformats.org/officeDocument/2006/relationships/image" Target="../media/image37.e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e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e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2" Type="http://schemas.openxmlformats.org/officeDocument/2006/relationships/image" Target="../media/image41.emf"/><Relationship Id="rId1" Type="http://schemas.openxmlformats.org/officeDocument/2006/relationships/image" Target="../media/image2.emf"/><Relationship Id="rId4" Type="http://schemas.openxmlformats.org/officeDocument/2006/relationships/image" Target="../media/image43.e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4.emf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6.emf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7.emf"/></Relationships>
</file>

<file path=ppt/drawings/_rels/vmlDrawing3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8.emf"/></Relationships>
</file>

<file path=ppt/drawings/_rels/vmlDrawing3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9.emf"/></Relationships>
</file>

<file path=ppt/drawings/_rels/vmlDrawing3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0.emf"/></Relationships>
</file>

<file path=ppt/drawings/_rels/vmlDrawing33.vml.rels><?xml version="1.0" encoding="UTF-8" standalone="yes"?>
<Relationships xmlns="http://schemas.openxmlformats.org/package/2006/relationships"><Relationship Id="rId2" Type="http://schemas.openxmlformats.org/officeDocument/2006/relationships/image" Target="../media/image52.emf"/><Relationship Id="rId1" Type="http://schemas.openxmlformats.org/officeDocument/2006/relationships/image" Target="../media/image51.emf"/></Relationships>
</file>

<file path=ppt/drawings/_rels/vmlDrawing34.vml.rels><?xml version="1.0" encoding="UTF-8" standalone="yes"?>
<Relationships xmlns="http://schemas.openxmlformats.org/package/2006/relationships"><Relationship Id="rId2" Type="http://schemas.openxmlformats.org/officeDocument/2006/relationships/image" Target="../media/image54.emf"/><Relationship Id="rId1" Type="http://schemas.openxmlformats.org/officeDocument/2006/relationships/image" Target="../media/image53.emf"/></Relationships>
</file>

<file path=ppt/drawings/_rels/vmlDrawing35.vml.rels><?xml version="1.0" encoding="UTF-8" standalone="yes"?>
<Relationships xmlns="http://schemas.openxmlformats.org/package/2006/relationships"><Relationship Id="rId2" Type="http://schemas.openxmlformats.org/officeDocument/2006/relationships/image" Target="../media/image56.emf"/><Relationship Id="rId1" Type="http://schemas.openxmlformats.org/officeDocument/2006/relationships/image" Target="../media/image55.emf"/></Relationships>
</file>

<file path=ppt/drawings/_rels/vmlDrawing36.vml.rels><?xml version="1.0" encoding="UTF-8" standalone="yes"?>
<Relationships xmlns="http://schemas.openxmlformats.org/package/2006/relationships"><Relationship Id="rId3" Type="http://schemas.openxmlformats.org/officeDocument/2006/relationships/image" Target="../media/image59.emf"/><Relationship Id="rId2" Type="http://schemas.openxmlformats.org/officeDocument/2006/relationships/image" Target="../media/image58.emf"/><Relationship Id="rId1" Type="http://schemas.openxmlformats.org/officeDocument/2006/relationships/image" Target="../media/image57.emf"/></Relationships>
</file>

<file path=ppt/drawings/_rels/vmlDrawing37.vml.rels><?xml version="1.0" encoding="UTF-8" standalone="yes"?>
<Relationships xmlns="http://schemas.openxmlformats.org/package/2006/relationships"><Relationship Id="rId2" Type="http://schemas.openxmlformats.org/officeDocument/2006/relationships/image" Target="../media/image61.emf"/><Relationship Id="rId1" Type="http://schemas.openxmlformats.org/officeDocument/2006/relationships/image" Target="../media/image60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4B3386-1164-4DE5-87D6-99DD641BC976}" type="datetimeFigureOut">
              <a:rPr lang="zh-CN" altLang="en-US" smtClean="0"/>
              <a:t>2025-08-09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BDB411-4171-48A7-B819-B87F89F6C7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4488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2.xml"/><Relationship Id="rId2" Type="http://schemas.openxmlformats.org/officeDocument/2006/relationships/slide" Target="../slides/slide17.xml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13.xml"/><Relationship Id="rId5" Type="http://schemas.openxmlformats.org/officeDocument/2006/relationships/slide" Target="../slides/slide36.xml"/><Relationship Id="rId4" Type="http://schemas.openxmlformats.org/officeDocument/2006/relationships/slide" Target="../slides/slide28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>
            <a:hlinkClick r:id="rId2" action="ppaction://hlinksldjump"/>
          </p:cNvPr>
          <p:cNvSpPr/>
          <p:nvPr userDrawn="1"/>
        </p:nvSpPr>
        <p:spPr>
          <a:xfrm>
            <a:off x="7881487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探究二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8" name="圆角矩形 7">
            <a:hlinkClick r:id="rId3" action="ppaction://hlinksldjump"/>
          </p:cNvPr>
          <p:cNvSpPr/>
          <p:nvPr userDrawn="1"/>
        </p:nvSpPr>
        <p:spPr>
          <a:xfrm>
            <a:off x="8947831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探究三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9" name="圆角矩形 8">
            <a:hlinkClick r:id="rId4" action="ppaction://hlinksldjump"/>
          </p:cNvPr>
          <p:cNvSpPr/>
          <p:nvPr userDrawn="1"/>
        </p:nvSpPr>
        <p:spPr>
          <a:xfrm>
            <a:off x="10014175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探究四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5" name="圆角矩形 4">
            <a:hlinkClick r:id="rId5" action="ppaction://hlinksldjump"/>
          </p:cNvPr>
          <p:cNvSpPr/>
          <p:nvPr userDrawn="1"/>
        </p:nvSpPr>
        <p:spPr>
          <a:xfrm>
            <a:off x="11080519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思想方法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6" name="圆角矩形 5">
            <a:hlinkClick r:id="rId6" action="ppaction://hlinksldjump"/>
          </p:cNvPr>
          <p:cNvSpPr/>
          <p:nvPr userDrawn="1"/>
        </p:nvSpPr>
        <p:spPr>
          <a:xfrm>
            <a:off x="6815143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探究一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</p:sldLayoutIdLst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slide" Target="slide4.xml"/><Relationship Id="rId1" Type="http://schemas.openxmlformats.org/officeDocument/2006/relationships/slideLayout" Target="../slideLayouts/slideLayout1.xml"/><Relationship Id="rId4" Type="http://schemas.openxmlformats.org/officeDocument/2006/relationships/slide" Target="slide4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3.e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package" Target="../embeddings/Microsoft_Word___3.docx"/><Relationship Id="rId7" Type="http://schemas.openxmlformats.org/officeDocument/2006/relationships/package" Target="../embeddings/Microsoft_Word___5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5.emf"/><Relationship Id="rId5" Type="http://schemas.openxmlformats.org/officeDocument/2006/relationships/package" Target="../embeddings/Microsoft_Word___4.docx"/><Relationship Id="rId4" Type="http://schemas.openxmlformats.org/officeDocument/2006/relationships/image" Target="../media/image4.e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6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8.emf"/><Relationship Id="rId5" Type="http://schemas.openxmlformats.org/officeDocument/2006/relationships/package" Target="../embeddings/Microsoft_Word___7.docx"/><Relationship Id="rId4" Type="http://schemas.openxmlformats.org/officeDocument/2006/relationships/image" Target="../media/image7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8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0.emf"/><Relationship Id="rId5" Type="http://schemas.openxmlformats.org/officeDocument/2006/relationships/package" Target="../embeddings/Microsoft_Word___9.docx"/><Relationship Id="rId4" Type="http://schemas.openxmlformats.org/officeDocument/2006/relationships/image" Target="../media/image9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0.doc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2.emf"/><Relationship Id="rId5" Type="http://schemas.openxmlformats.org/officeDocument/2006/relationships/package" Target="../embeddings/Microsoft_Word___11.docx"/><Relationship Id="rId4" Type="http://schemas.openxmlformats.org/officeDocument/2006/relationships/image" Target="../media/image11.e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2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5.emf"/><Relationship Id="rId5" Type="http://schemas.openxmlformats.org/officeDocument/2006/relationships/package" Target="../embeddings/Microsoft_Word___13.docx"/><Relationship Id="rId4" Type="http://schemas.openxmlformats.org/officeDocument/2006/relationships/image" Target="../media/image14.e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4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8.jpeg"/><Relationship Id="rId5" Type="http://schemas.openxmlformats.org/officeDocument/2006/relationships/image" Target="../media/image17.png"/><Relationship Id="rId4" Type="http://schemas.openxmlformats.org/officeDocument/2006/relationships/image" Target="../media/image16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5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19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6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20.emf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7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22.png"/><Relationship Id="rId4" Type="http://schemas.openxmlformats.org/officeDocument/2006/relationships/image" Target="../media/image21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8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23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19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24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0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4" Type="http://schemas.openxmlformats.org/officeDocument/2006/relationships/image" Target="../media/image25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1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4" Type="http://schemas.openxmlformats.org/officeDocument/2006/relationships/image" Target="../media/image26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2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4" Type="http://schemas.openxmlformats.org/officeDocument/2006/relationships/image" Target="../media/image27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3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4" Type="http://schemas.openxmlformats.org/officeDocument/2006/relationships/image" Target="../media/image28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4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30.emf"/><Relationship Id="rId5" Type="http://schemas.openxmlformats.org/officeDocument/2006/relationships/package" Target="../embeddings/Microsoft_Word___25.docx"/><Relationship Id="rId4" Type="http://schemas.openxmlformats.org/officeDocument/2006/relationships/image" Target="../media/image29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6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4" Type="http://schemas.openxmlformats.org/officeDocument/2006/relationships/image" Target="../media/image31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7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5" Type="http://schemas.openxmlformats.org/officeDocument/2006/relationships/image" Target="../media/image33.jpeg"/><Relationship Id="rId4" Type="http://schemas.openxmlformats.org/officeDocument/2006/relationships/image" Target="../media/image32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28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4" Type="http://schemas.openxmlformats.org/officeDocument/2006/relationships/image" Target="../media/image34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5" Type="http://schemas.openxmlformats.org/officeDocument/2006/relationships/image" Target="../media/image35.emf"/><Relationship Id="rId4" Type="http://schemas.openxmlformats.org/officeDocument/2006/relationships/package" Target="../embeddings/Microsoft_Word___29.docx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30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38.emf"/><Relationship Id="rId5" Type="http://schemas.openxmlformats.org/officeDocument/2006/relationships/package" Target="../embeddings/Microsoft_Word___31.docx"/><Relationship Id="rId4" Type="http://schemas.openxmlformats.org/officeDocument/2006/relationships/image" Target="../media/image37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32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4.vml"/><Relationship Id="rId4" Type="http://schemas.openxmlformats.org/officeDocument/2006/relationships/image" Target="../media/image39.e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33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5.vml"/><Relationship Id="rId4" Type="http://schemas.openxmlformats.org/officeDocument/2006/relationships/image" Target="../media/image40.e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emf"/><Relationship Id="rId3" Type="http://schemas.openxmlformats.org/officeDocument/2006/relationships/package" Target="../embeddings/Microsoft_Word___34.docx"/><Relationship Id="rId7" Type="http://schemas.openxmlformats.org/officeDocument/2006/relationships/package" Target="../embeddings/Microsoft_Word___36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41.emf"/><Relationship Id="rId5" Type="http://schemas.openxmlformats.org/officeDocument/2006/relationships/package" Target="../embeddings/Microsoft_Word___35.docx"/><Relationship Id="rId10" Type="http://schemas.openxmlformats.org/officeDocument/2006/relationships/image" Target="../media/image43.emf"/><Relationship Id="rId4" Type="http://schemas.openxmlformats.org/officeDocument/2006/relationships/image" Target="../media/image2.emf"/><Relationship Id="rId9" Type="http://schemas.openxmlformats.org/officeDocument/2006/relationships/package" Target="../embeddings/Microsoft_Word___37.docx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38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7.vml"/><Relationship Id="rId5" Type="http://schemas.openxmlformats.org/officeDocument/2006/relationships/image" Target="../media/image45.jpeg"/><Relationship Id="rId4" Type="http://schemas.openxmlformats.org/officeDocument/2006/relationships/image" Target="../media/image44.e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39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8.vml"/><Relationship Id="rId4" Type="http://schemas.openxmlformats.org/officeDocument/2006/relationships/image" Target="../media/image46.e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40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9.vml"/><Relationship Id="rId4" Type="http://schemas.openxmlformats.org/officeDocument/2006/relationships/image" Target="../media/image47.emf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41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0.vml"/><Relationship Id="rId4" Type="http://schemas.openxmlformats.org/officeDocument/2006/relationships/image" Target="../media/image48.e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42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1.vml"/><Relationship Id="rId4" Type="http://schemas.openxmlformats.org/officeDocument/2006/relationships/image" Target="../media/image49.e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43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2.vml"/><Relationship Id="rId4" Type="http://schemas.openxmlformats.org/officeDocument/2006/relationships/image" Target="../media/image50.emf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44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3.vml"/><Relationship Id="rId6" Type="http://schemas.openxmlformats.org/officeDocument/2006/relationships/image" Target="../media/image52.emf"/><Relationship Id="rId5" Type="http://schemas.openxmlformats.org/officeDocument/2006/relationships/package" Target="../embeddings/Microsoft_Word___45.docx"/><Relationship Id="rId4" Type="http://schemas.openxmlformats.org/officeDocument/2006/relationships/image" Target="../media/image51.e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46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4.vml"/><Relationship Id="rId6" Type="http://schemas.openxmlformats.org/officeDocument/2006/relationships/image" Target="../media/image54.emf"/><Relationship Id="rId5" Type="http://schemas.openxmlformats.org/officeDocument/2006/relationships/package" Target="../embeddings/Microsoft_Word___47.docx"/><Relationship Id="rId4" Type="http://schemas.openxmlformats.org/officeDocument/2006/relationships/image" Target="../media/image53.e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48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5.vml"/><Relationship Id="rId6" Type="http://schemas.openxmlformats.org/officeDocument/2006/relationships/image" Target="../media/image56.emf"/><Relationship Id="rId5" Type="http://schemas.openxmlformats.org/officeDocument/2006/relationships/package" Target="../embeddings/Microsoft_Word___49.docx"/><Relationship Id="rId4" Type="http://schemas.openxmlformats.org/officeDocument/2006/relationships/image" Target="../media/image55.emf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emf"/><Relationship Id="rId3" Type="http://schemas.openxmlformats.org/officeDocument/2006/relationships/package" Target="../embeddings/Microsoft_Word___50.docx"/><Relationship Id="rId7" Type="http://schemas.openxmlformats.org/officeDocument/2006/relationships/package" Target="../embeddings/Microsoft_Word___52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6.vml"/><Relationship Id="rId6" Type="http://schemas.openxmlformats.org/officeDocument/2006/relationships/image" Target="../media/image58.emf"/><Relationship Id="rId5" Type="http://schemas.openxmlformats.org/officeDocument/2006/relationships/package" Target="../embeddings/Microsoft_Word___51.docx"/><Relationship Id="rId4" Type="http://schemas.openxmlformats.org/officeDocument/2006/relationships/image" Target="../media/image57.em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__53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7.vml"/><Relationship Id="rId6" Type="http://schemas.openxmlformats.org/officeDocument/2006/relationships/image" Target="../media/image61.emf"/><Relationship Id="rId5" Type="http://schemas.openxmlformats.org/officeDocument/2006/relationships/package" Target="../embeddings/Microsoft_Word___54.docx"/><Relationship Id="rId4" Type="http://schemas.openxmlformats.org/officeDocument/2006/relationships/image" Target="../media/image60.emf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300879" y="519978"/>
            <a:ext cx="40479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lang="zh-CN" altLang="en-US" sz="2400" b="1" spc="600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高中同步测控优化设计</a:t>
            </a:r>
            <a:endParaRPr lang="zh-CN" altLang="en-US" sz="2400" b="1" spc="600" dirty="0">
              <a:solidFill>
                <a:srgbClr val="757C8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2282351" y="1003843"/>
            <a:ext cx="4305485" cy="0"/>
          </a:xfrm>
          <a:prstGeom prst="line">
            <a:avLst/>
          </a:prstGeom>
          <a:ln>
            <a:solidFill>
              <a:schemeClr val="tx1"/>
            </a:solidFill>
            <a:prstDash val="lgDashDotDot"/>
            <a:headEnd type="diamond" w="med" len="med"/>
            <a:tailEnd type="diamond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2173232" y="1026313"/>
            <a:ext cx="441460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GAO ZHONG TONG </a:t>
            </a:r>
            <a:r>
              <a:rPr lang="en-US" altLang="zh-CN" sz="1600" b="1" dirty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600" b="1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U CE KONG YOU HUA SHE JI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635" y="2775585"/>
            <a:ext cx="12191365" cy="1478915"/>
            <a:chOff x="303375" y="3227146"/>
            <a:chExt cx="11560182" cy="1479076"/>
          </a:xfrm>
        </p:grpSpPr>
        <p:sp>
          <p:nvSpPr>
            <p:cNvPr id="6" name="矩形 5"/>
            <p:cNvSpPr/>
            <p:nvPr/>
          </p:nvSpPr>
          <p:spPr>
            <a:xfrm>
              <a:off x="303375" y="3227146"/>
              <a:ext cx="11560182" cy="1479076"/>
            </a:xfrm>
            <a:prstGeom prst="rect">
              <a:avLst/>
            </a:prstGeom>
            <a:solidFill>
              <a:srgbClr val="6B7278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3665034" y="3614538"/>
              <a:ext cx="8158783" cy="6452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3600" b="1" dirty="0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第</a:t>
              </a:r>
              <a:r>
                <a:rPr lang="en-US" altLang="zh-CN" sz="3600" b="1" dirty="0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2</a:t>
              </a:r>
              <a:r>
                <a:rPr lang="zh-CN" altLang="en-US" sz="3600" b="1" dirty="0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课时　椭圆简单几何性质的应用</a:t>
              </a:r>
            </a:p>
          </p:txBody>
        </p:sp>
      </p:grpSp>
      <p:sp>
        <p:nvSpPr>
          <p:cNvPr id="8" name="矩形 7"/>
          <p:cNvSpPr/>
          <p:nvPr/>
        </p:nvSpPr>
        <p:spPr>
          <a:xfrm>
            <a:off x="1109345" y="2277745"/>
            <a:ext cx="2282825" cy="2407920"/>
          </a:xfrm>
          <a:prstGeom prst="rect">
            <a:avLst/>
          </a:prstGeom>
          <a:solidFill>
            <a:srgbClr val="748773"/>
          </a:solidFill>
          <a:ln w="12700" cap="flat" cmpd="sng" algn="ctr">
            <a:noFill/>
            <a:prstDash val="solid"/>
            <a:miter lim="800000"/>
          </a:ln>
          <a:effectLst>
            <a:outerShdw blurRad="317500" dist="127000" dir="2700000" algn="tl" rotWithShape="0">
              <a:prstClr val="black">
                <a:alpha val="25000"/>
              </a:prstClr>
            </a:outerShdw>
          </a:effectLst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none" rtlCol="0" anchor="ctr"/>
          <a:lstStyle/>
          <a:p>
            <a:pPr algn="ctr"/>
            <a:r>
              <a:rPr lang="zh-CN" altLang="en-US" sz="3600" b="1" kern="0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cs typeface="Open Sans" panose="020B0606030504020204" pitchFamily="34" charset="0"/>
              </a:rPr>
              <a:t>第三章</a:t>
            </a:r>
            <a:endParaRPr lang="en-US" altLang="zh-CN" sz="3600" b="1" kern="0" dirty="0" smtClean="0">
              <a:solidFill>
                <a:schemeClr val="bg1"/>
              </a:solidFill>
              <a:latin typeface="华文细黑" panose="02010600040101010101" charset="-122"/>
              <a:ea typeface="华文细黑" panose="02010600040101010101" charset="-122"/>
              <a:cs typeface="Open Sans" panose="020B0606030504020204" pitchFamily="34" charset="0"/>
            </a:endParaRPr>
          </a:p>
          <a:p>
            <a:pPr algn="ctr"/>
            <a:r>
              <a:rPr lang="en-US" altLang="zh-CN" sz="3600" b="1" kern="0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cs typeface="Open Sans" panose="020B0606030504020204" pitchFamily="34" charset="0"/>
              </a:rPr>
              <a:t>3.1.2</a:t>
            </a:r>
          </a:p>
        </p:txBody>
      </p:sp>
      <p:pic>
        <p:nvPicPr>
          <p:cNvPr id="10" name="图片 9" descr="e37b0ec1d4924ecca897357d279cf88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1370" y="175260"/>
            <a:ext cx="1453515" cy="1453515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1001385" y="587446"/>
            <a:ext cx="1052723" cy="5870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rgbClr val="757C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3949984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  <p:bldLst>
      <p:bldP spid="2" grpId="0"/>
      <p:bldP spid="4" grpId="0"/>
      <p:bldP spid="8" grpId="0" bldLvl="0" animBg="1"/>
      <p:bldP spid="11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/>
          <p:cNvSpPr txBox="1"/>
          <p:nvPr/>
        </p:nvSpPr>
        <p:spPr>
          <a:xfrm>
            <a:off x="1788494" y="1591871"/>
            <a:ext cx="94298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800" smtClean="0">
                <a:solidFill>
                  <a:srgbClr val="2C3814"/>
                </a:solidFill>
                <a:cs typeface="+mn-ea"/>
                <a:sym typeface="+mn-lt"/>
              </a:rPr>
              <a:t>内容索引</a:t>
            </a:r>
            <a:endParaRPr kumimoji="1" lang="zh-CN" altLang="en-US" sz="4800" dirty="0">
              <a:solidFill>
                <a:srgbClr val="2C3814"/>
              </a:solidFill>
              <a:cs typeface="+mn-ea"/>
              <a:sym typeface="+mn-lt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1378713" y="856615"/>
            <a:ext cx="1105802" cy="815646"/>
            <a:chOff x="-1604504" y="2147667"/>
            <a:chExt cx="3687215" cy="2719712"/>
          </a:xfrm>
        </p:grpSpPr>
        <p:cxnSp>
          <p:nvCxnSpPr>
            <p:cNvPr id="26" name="直接连接符 25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27" name="直接连接符 26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28" name="组合 27"/>
          <p:cNvGrpSpPr/>
          <p:nvPr/>
        </p:nvGrpSpPr>
        <p:grpSpPr>
          <a:xfrm flipH="1" flipV="1">
            <a:off x="1707083" y="4546456"/>
            <a:ext cx="1105803" cy="815646"/>
            <a:chOff x="-1604504" y="2147667"/>
            <a:chExt cx="3687215" cy="2719712"/>
          </a:xfrm>
        </p:grpSpPr>
        <p:cxnSp>
          <p:nvCxnSpPr>
            <p:cNvPr id="38" name="直接连接符 37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39" name="直接连接符 38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grpSp>
        <p:nvGrpSpPr>
          <p:cNvPr id="40" name="组合 39"/>
          <p:cNvGrpSpPr/>
          <p:nvPr/>
        </p:nvGrpSpPr>
        <p:grpSpPr>
          <a:xfrm>
            <a:off x="4764013" y="1194282"/>
            <a:ext cx="804581" cy="804581"/>
            <a:chOff x="3685832" y="623962"/>
            <a:chExt cx="739840" cy="739840"/>
          </a:xfrm>
        </p:grpSpPr>
        <p:sp>
          <p:nvSpPr>
            <p:cNvPr id="44" name="椭圆 43"/>
            <p:cNvSpPr/>
            <p:nvPr/>
          </p:nvSpPr>
          <p:spPr>
            <a:xfrm>
              <a:off x="3685832" y="623962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2540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E93F3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45" name="TextBox 7"/>
            <p:cNvSpPr txBox="1"/>
            <p:nvPr/>
          </p:nvSpPr>
          <p:spPr>
            <a:xfrm>
              <a:off x="3786929" y="743838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01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4764013" y="2760859"/>
            <a:ext cx="804581" cy="804581"/>
            <a:chOff x="3685832" y="1673493"/>
            <a:chExt cx="739840" cy="739840"/>
          </a:xfrm>
        </p:grpSpPr>
        <p:sp>
          <p:nvSpPr>
            <p:cNvPr id="47" name="椭圆 46"/>
            <p:cNvSpPr/>
            <p:nvPr/>
          </p:nvSpPr>
          <p:spPr>
            <a:xfrm>
              <a:off x="3685832" y="1673493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2540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3574A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48" name="TextBox 10"/>
            <p:cNvSpPr txBox="1"/>
            <p:nvPr/>
          </p:nvSpPr>
          <p:spPr>
            <a:xfrm>
              <a:off x="3786931" y="1793369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02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4764013" y="4327435"/>
            <a:ext cx="804581" cy="804581"/>
            <a:chOff x="3685832" y="2723024"/>
            <a:chExt cx="739840" cy="739840"/>
          </a:xfrm>
        </p:grpSpPr>
        <p:sp>
          <p:nvSpPr>
            <p:cNvPr id="50" name="椭圆 49"/>
            <p:cNvSpPr/>
            <p:nvPr/>
          </p:nvSpPr>
          <p:spPr>
            <a:xfrm>
              <a:off x="3685832" y="2723024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1905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3574A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51" name="TextBox 13"/>
            <p:cNvSpPr txBox="1"/>
            <p:nvPr/>
          </p:nvSpPr>
          <p:spPr>
            <a:xfrm>
              <a:off x="3786929" y="2842900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03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sp>
        <p:nvSpPr>
          <p:cNvPr id="52" name="矩形 51">
            <a:hlinkClick r:id="rId2" action="ppaction://hlinksldjump"/>
          </p:cNvPr>
          <p:cNvSpPr/>
          <p:nvPr/>
        </p:nvSpPr>
        <p:spPr>
          <a:xfrm>
            <a:off x="5678538" y="1286748"/>
            <a:ext cx="2997835" cy="5016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自主预习 新知导学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  <p:sp>
        <p:nvSpPr>
          <p:cNvPr id="53" name="矩形 52">
            <a:hlinkClick r:id="rId3" action="ppaction://hlinksldjump"/>
          </p:cNvPr>
          <p:cNvSpPr/>
          <p:nvPr/>
        </p:nvSpPr>
        <p:spPr>
          <a:xfrm>
            <a:off x="5678538" y="2871606"/>
            <a:ext cx="2997835" cy="5016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合作探究 释疑解惑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  <p:sp>
        <p:nvSpPr>
          <p:cNvPr id="54" name="矩形 53">
            <a:hlinkClick r:id="rId4" action="ppaction://hlinksldjump"/>
          </p:cNvPr>
          <p:cNvSpPr/>
          <p:nvPr/>
        </p:nvSpPr>
        <p:spPr>
          <a:xfrm>
            <a:off x="5678538" y="4456463"/>
            <a:ext cx="1556836" cy="5024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随堂练习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17500" y="701716"/>
            <a:ext cx="11557000" cy="5689151"/>
          </a:xfrm>
          <a:prstGeom prst="rect">
            <a:avLst/>
          </a:prstGeom>
          <a:noFill/>
          <a:ln w="19050">
            <a:gradFill>
              <a:gsLst>
                <a:gs pos="100000">
                  <a:schemeClr val="accent1">
                    <a:lumMod val="5000"/>
                    <a:lumOff val="95000"/>
                  </a:schemeClr>
                </a:gs>
                <a:gs pos="57000">
                  <a:schemeClr val="tx1">
                    <a:lumMod val="50000"/>
                    <a:lumOff val="50000"/>
                  </a:schemeClr>
                </a:gs>
                <a:gs pos="29000">
                  <a:schemeClr val="tx1"/>
                </a:gs>
                <a:gs pos="100000">
                  <a:schemeClr val="bg1"/>
                </a:gs>
              </a:gsLst>
              <a:lin ang="5400000" scaled="1"/>
            </a:gra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4766695" y="446122"/>
            <a:ext cx="3253105" cy="49064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wrap="square" lIns="0" tIns="0" rIns="0" bIns="0" rtlCol="0" anchor="ctr" anchorCtr="0">
            <a:no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kern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课标定</a:t>
            </a:r>
            <a:r>
              <a:rPr lang="zh-CN" altLang="en-US" sz="2800" kern="0" dirty="0" smtClean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位素养</a:t>
            </a:r>
            <a:r>
              <a:rPr lang="zh-CN" altLang="en-US" sz="2800" kern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阐释</a:t>
            </a:r>
          </a:p>
        </p:txBody>
      </p:sp>
      <p:sp>
        <p:nvSpPr>
          <p:cNvPr id="3" name="矩形 2"/>
          <p:cNvSpPr>
            <a:spLocks noChangeAspect="1"/>
          </p:cNvSpPr>
          <p:nvPr/>
        </p:nvSpPr>
        <p:spPr>
          <a:xfrm>
            <a:off x="381000" y="1242332"/>
            <a:ext cx="11430000" cy="233294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进一步掌握椭圆的方程及其简单几何性质的应用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会判断直线与椭圆的位置关系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能运用直线与椭圆的位置关系解决相关的弦长、中点弦问题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提升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直观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想象、逻辑推理与数学运算素养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endParaRPr lang="zh-CN" altLang="en-US" sz="2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180083" y="2636520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735898" y="2665586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2969260" y="2585720"/>
            <a:ext cx="62528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  <a:sym typeface="+mn-ea"/>
              </a:rPr>
              <a:t>自主预习 新知导学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568308"/>
            <a:ext cx="11430000" cy="177279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一、点与椭圆的位置</a:t>
            </a:r>
            <a:r>
              <a:rPr lang="zh-CN" altLang="zh-CN" sz="2800" dirty="0" smtClean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关系</a:t>
            </a:r>
            <a:endParaRPr lang="en-US" altLang="zh-CN" sz="2800" dirty="0" smtClean="0">
              <a:solidFill>
                <a:srgbClr val="000000"/>
              </a:solidFill>
              <a:latin typeface="NEU-BZ-S92"/>
              <a:ea typeface="方正正中黑简体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类比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点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与圆的位置关系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你能得出点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与椭圆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a&gt;b&gt;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的位置关系有哪些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6396514"/>
              </p:ext>
            </p:extLst>
          </p:nvPr>
        </p:nvGraphicFramePr>
        <p:xfrm>
          <a:off x="8682043" y="1892074"/>
          <a:ext cx="2174027" cy="10494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0" name="文档" r:id="rId3" imgW="830743" imgH="397386" progId="Word.Document.12">
                  <p:embed/>
                </p:oleObj>
              </mc:Choice>
              <mc:Fallback>
                <p:oleObj name="文档" r:id="rId3" imgW="830743" imgH="3973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682043" y="1892074"/>
                        <a:ext cx="2174027" cy="10494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>
            <a:spLocks noChangeAspect="1"/>
          </p:cNvSpPr>
          <p:nvPr/>
        </p:nvSpPr>
        <p:spPr>
          <a:xfrm>
            <a:off x="381000" y="3317842"/>
            <a:ext cx="8406468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在椭圆上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在椭圆内部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在椭圆外部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3502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6319492"/>
              </p:ext>
            </p:extLst>
          </p:nvPr>
        </p:nvGraphicFramePr>
        <p:xfrm>
          <a:off x="59028" y="916343"/>
          <a:ext cx="11430000" cy="40171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文档" r:id="rId3" imgW="4510061" imgH="1590749" progId="Word.Document.12">
                  <p:embed/>
                </p:oleObj>
              </mc:Choice>
              <mc:Fallback>
                <p:oleObj name="文档" r:id="rId3" imgW="4510061" imgH="159074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9028" y="916343"/>
                        <a:ext cx="11430000" cy="40171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>
          <a:xfrm>
            <a:off x="5161230" y="3152476"/>
            <a:ext cx="291446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5137395" y="4146872"/>
            <a:ext cx="294498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4933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7320094"/>
              </p:ext>
            </p:extLst>
          </p:nvPr>
        </p:nvGraphicFramePr>
        <p:xfrm>
          <a:off x="385763" y="1345187"/>
          <a:ext cx="11403012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9" name="文档" r:id="rId3" imgW="4510061" imgH="397147" progId="Word.Document.12">
                  <p:embed/>
                </p:oleObj>
              </mc:Choice>
              <mc:Fallback>
                <p:oleObj name="文档" r:id="rId3" imgW="4510061" imgH="39714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5763" y="1345187"/>
                        <a:ext cx="11403012" cy="990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6826157"/>
              </p:ext>
            </p:extLst>
          </p:nvPr>
        </p:nvGraphicFramePr>
        <p:xfrm>
          <a:off x="64395" y="2181149"/>
          <a:ext cx="11430000" cy="15063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0" name="文档" r:id="rId5" imgW="4521746" imgH="595898" progId="Word.Document.12">
                  <p:embed/>
                </p:oleObj>
              </mc:Choice>
              <mc:Fallback>
                <p:oleObj name="文档" r:id="rId5" imgW="4521746" imgH="59589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4395" y="2181149"/>
                        <a:ext cx="11430000" cy="15063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5893025"/>
              </p:ext>
            </p:extLst>
          </p:nvPr>
        </p:nvGraphicFramePr>
        <p:xfrm>
          <a:off x="64395" y="3837023"/>
          <a:ext cx="11430000" cy="5017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1" name="文档" r:id="rId7" imgW="4521746" imgH="198512" progId="Word.Document.12">
                  <p:embed/>
                </p:oleObj>
              </mc:Choice>
              <mc:Fallback>
                <p:oleObj name="文档" r:id="rId7" imgW="4521746" imgH="19851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4395" y="3837023"/>
                        <a:ext cx="11430000" cy="5017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8103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43879"/>
            <a:ext cx="11430000" cy="289310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二、直线与椭圆的位置关系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类比直线与圆的位置关系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思考直线与椭圆有几种位置关系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怎样判断其位置关系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直线与椭圆的位置关系有相离、相交、相切三种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判断方法是联立直线与椭圆方程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转化为关于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的一元二次方程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利用判别式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判断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8719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381000" y="231702"/>
            <a:ext cx="11430000" cy="6805595"/>
            <a:chOff x="381000" y="231702"/>
            <a:chExt cx="11430000" cy="6805595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231702"/>
              <a:ext cx="4517262" cy="6524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indent="28067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直线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与椭圆的位置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关系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08315893"/>
                </p:ext>
              </p:extLst>
            </p:nvPr>
          </p:nvGraphicFramePr>
          <p:xfrm>
            <a:off x="381000" y="786131"/>
            <a:ext cx="11430000" cy="25108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56" name="文档" r:id="rId3" imgW="4521746" imgH="993283" progId="Word.Document.12">
                    <p:embed/>
                  </p:oleObj>
                </mc:Choice>
                <mc:Fallback>
                  <p:oleObj name="文档" r:id="rId3" imgW="4521746" imgH="99328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81000" y="786131"/>
                          <a:ext cx="11430000" cy="251080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93276660"/>
                </p:ext>
              </p:extLst>
            </p:nvPr>
          </p:nvGraphicFramePr>
          <p:xfrm>
            <a:off x="381000" y="3281122"/>
            <a:ext cx="11430000" cy="37561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57" name="文档" r:id="rId5" imgW="4521746" imgH="1485955" progId="Word.Document.12">
                    <p:embed/>
                  </p:oleObj>
                </mc:Choice>
                <mc:Fallback>
                  <p:oleObj name="文档" r:id="rId5" imgW="4521746" imgH="1485955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81000" y="3281122"/>
                          <a:ext cx="11430000" cy="37561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" name="矩形 5"/>
          <p:cNvSpPr/>
          <p:nvPr/>
        </p:nvSpPr>
        <p:spPr>
          <a:xfrm>
            <a:off x="2822058" y="4427303"/>
            <a:ext cx="709751" cy="364823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7913603" y="4427303"/>
            <a:ext cx="709751" cy="364823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2822058" y="4969895"/>
            <a:ext cx="709751" cy="364823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7913603" y="4959504"/>
            <a:ext cx="709751" cy="364823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2822058" y="5510233"/>
            <a:ext cx="709751" cy="364823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7913603" y="5499842"/>
            <a:ext cx="709751" cy="364823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3648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51516" y="367550"/>
            <a:ext cx="11759484" cy="2052750"/>
            <a:chOff x="51516" y="731235"/>
            <a:chExt cx="11759484" cy="2052750"/>
          </a:xfrm>
        </p:grpSpPr>
        <p:graphicFrame>
          <p:nvGraphicFramePr>
            <p:cNvPr id="2" name="对象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55986287"/>
                </p:ext>
              </p:extLst>
            </p:nvPr>
          </p:nvGraphicFramePr>
          <p:xfrm>
            <a:off x="51516" y="731235"/>
            <a:ext cx="11430000" cy="10045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80" name="文档" r:id="rId3" imgW="4510061" imgH="397147" progId="Word.Document.12">
                    <p:embed/>
                  </p:oleObj>
                </mc:Choice>
                <mc:Fallback>
                  <p:oleObj name="文档" r:id="rId3" imgW="4510061" imgH="397147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51516" y="731235"/>
                          <a:ext cx="11430000" cy="100450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81000" y="1631618"/>
              <a:ext cx="11430000" cy="115236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A.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相离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	B.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相切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C.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相交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	D.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无法确定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4415345"/>
              </p:ext>
            </p:extLst>
          </p:nvPr>
        </p:nvGraphicFramePr>
        <p:xfrm>
          <a:off x="51516" y="2397030"/>
          <a:ext cx="11430000" cy="15063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1" name="文档" r:id="rId5" imgW="4521746" imgH="595898" progId="Word.Document.12">
                  <p:embed/>
                </p:oleObj>
              </mc:Choice>
              <mc:Fallback>
                <p:oleObj name="文档" r:id="rId5" imgW="4521746" imgH="59589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1516" y="2397030"/>
                        <a:ext cx="11430000" cy="15063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381000" y="3723151"/>
            <a:ext cx="11430000" cy="171252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故直线与椭圆相交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150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51516" y="51516"/>
            <a:ext cx="11759484" cy="6739645"/>
            <a:chOff x="51516" y="51516"/>
            <a:chExt cx="11759484" cy="6739645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51516"/>
              <a:ext cx="11430000" cy="115236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【思考辨析】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判断下列说法是否正确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正确的在后面的括号内画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“</a:t>
              </a:r>
              <a:r>
                <a:rPr lang="en-US" altLang="zh-CN" sz="2800" dirty="0">
                  <a:solidFill>
                    <a:srgbClr val="000000"/>
                  </a:solidFill>
                  <a:latin typeface="Cambria Math" panose="02040503050406030204" pitchFamily="18" charset="0"/>
                  <a:ea typeface="NEU-BZ-S92"/>
                  <a:cs typeface="Times New Roman" panose="02020603050405020304" pitchFamily="18" charset="0"/>
                </a:rPr>
                <a:t>√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”,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错误的画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“×”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27273470"/>
                </p:ext>
              </p:extLst>
            </p:nvPr>
          </p:nvGraphicFramePr>
          <p:xfrm>
            <a:off x="381000" y="1165246"/>
            <a:ext cx="11430000" cy="1506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04" name="文档" r:id="rId3" imgW="4521746" imgH="595898" progId="Word.Document.12">
                    <p:embed/>
                  </p:oleObj>
                </mc:Choice>
                <mc:Fallback>
                  <p:oleObj name="文档" r:id="rId3" imgW="4521746" imgH="595898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81000" y="1165246"/>
                          <a:ext cx="11430000" cy="150630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81000" y="2658669"/>
              <a:ext cx="11430000" cy="171252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(2) 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在判断直线与椭圆的位置关系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联立直线方程与椭圆方程时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只能消去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得到关于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的一元二次方程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×  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(3)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过椭圆外一点只能作一条直线与椭圆相切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×  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84334317"/>
                </p:ext>
              </p:extLst>
            </p:nvPr>
          </p:nvGraphicFramePr>
          <p:xfrm>
            <a:off x="51516" y="4235182"/>
            <a:ext cx="11430000" cy="20080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05" name="文档" r:id="rId5" imgW="4521746" imgH="794410" progId="Word.Document.12">
                    <p:embed/>
                  </p:oleObj>
                </mc:Choice>
                <mc:Fallback>
                  <p:oleObj name="文档" r:id="rId5" imgW="4521746" imgH="794410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1516" y="4235182"/>
                          <a:ext cx="11430000" cy="200809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381000" y="6138675"/>
              <a:ext cx="8691803" cy="6524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(6)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直线与椭圆只有一个交点</a:t>
              </a:r>
              <a:r>
                <a:rPr lang="en-US" altLang="zh-CN" sz="2800" dirty="0">
                  <a:solidFill>
                    <a:srgbClr val="000000"/>
                  </a:solidFill>
                  <a:latin typeface="Cambria Math" panose="02040503050406030204" pitchFamily="18" charset="0"/>
                  <a:ea typeface="NEU-BZ-S92"/>
                  <a:cs typeface="Times New Roman" panose="02020603050405020304" pitchFamily="18" charset="0"/>
                </a:rPr>
                <a:t>⇔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直线与椭圆相切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dirty="0">
                  <a:solidFill>
                    <a:srgbClr val="FF0000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rPr>
                <a:t>  √  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 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8" name="矩形 7"/>
          <p:cNvSpPr/>
          <p:nvPr/>
        </p:nvSpPr>
        <p:spPr>
          <a:xfrm>
            <a:off x="1754099" y="2219722"/>
            <a:ext cx="645228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5316338" y="3358606"/>
            <a:ext cx="586571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7830938" y="3908918"/>
            <a:ext cx="586571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8475173" y="4554478"/>
            <a:ext cx="586571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9349852" y="5471417"/>
            <a:ext cx="645228" cy="587551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8233842" y="6259618"/>
            <a:ext cx="390613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6484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180083" y="2636520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735898" y="2665586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2969260" y="2585720"/>
            <a:ext cx="62528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  <a:sym typeface="+mn-ea"/>
              </a:rPr>
              <a:t>合作探究 释疑解惑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36" name="矩形 35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37" name="组合 36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38" name="矩形 37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探究一</a:t>
                </a:r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</a:rPr>
                  <a:t>生活中的椭圆</a:t>
                </a:r>
              </a:p>
            </p:txBody>
          </p:sp>
        </p:grpSp>
      </p:grpSp>
      <p:sp>
        <p:nvSpPr>
          <p:cNvPr id="6" name="矩形 5"/>
          <p:cNvSpPr>
            <a:spLocks noChangeAspect="1"/>
          </p:cNvSpPr>
          <p:nvPr/>
        </p:nvSpPr>
        <p:spPr>
          <a:xfrm>
            <a:off x="381000" y="613541"/>
            <a:ext cx="11430000" cy="569386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【例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某海域有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两个岛屿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岛在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岛正东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海里处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经多年观察研究发现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某种鱼群洄游的路线是曲线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曾有渔船在距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岛、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岛距离和为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海里处发现过鱼群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所在直线为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垂直</a:t>
            </a:r>
            <a:endParaRPr lang="en-US" altLang="zh-CN" sz="28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平分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线为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轴建立平面直角坐标系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求曲线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的标准方程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某日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研究人员在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两岛同时用声呐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探测仪</a:t>
            </a:r>
            <a:endParaRPr lang="en-US" altLang="zh-CN" sz="28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发出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不同频率的探测信号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传播速度相同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两岛收到鱼群在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处反射信号的时间比为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问你能否确定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处的位置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即点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的坐标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分析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根据椭圆的定义求解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利用点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既在椭圆上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又满足到点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的距离为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求解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12" name="NMX1TRAX157.eps" descr="id:2147517509;FounderCES"/>
          <p:cNvPicPr/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286920" y="1754072"/>
            <a:ext cx="2847327" cy="21944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54841"/>
            <a:ext cx="9294532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由题意知曲线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为焦点且长轴长为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的椭圆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9645277"/>
              </p:ext>
            </p:extLst>
          </p:nvPr>
        </p:nvGraphicFramePr>
        <p:xfrm>
          <a:off x="31173" y="667014"/>
          <a:ext cx="11430000" cy="1330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28" name="文档" r:id="rId3" imgW="4510061" imgH="525053" progId="Word.Document.12">
                  <p:embed/>
                </p:oleObj>
              </mc:Choice>
              <mc:Fallback>
                <p:oleObj name="文档" r:id="rId3" imgW="4510061" imgH="52505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173" y="667014"/>
                        <a:ext cx="11430000" cy="13306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1904155"/>
            <a:ext cx="11430000" cy="171252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两岛收到鱼群发射信号的时间比为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所以此时距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两岛的距离比为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即鱼群分别距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两岛的距离为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海里和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海里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9745022"/>
              </p:ext>
            </p:extLst>
          </p:nvPr>
        </p:nvGraphicFramePr>
        <p:xfrm>
          <a:off x="31173" y="3347883"/>
          <a:ext cx="11430000" cy="27442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29" name="文档" r:id="rId5" imgW="4510061" imgH="1082810" progId="Word.Document.12">
                  <p:embed/>
                </p:oleObj>
              </mc:Choice>
              <mc:Fallback>
                <p:oleObj name="文档" r:id="rId5" imgW="4510061" imgH="108281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1173" y="3347883"/>
                        <a:ext cx="11430000" cy="27442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>
            <a:spLocks noChangeAspect="1"/>
          </p:cNvSpPr>
          <p:nvPr/>
        </p:nvSpPr>
        <p:spPr>
          <a:xfrm>
            <a:off x="381000" y="6028611"/>
            <a:ext cx="7654660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±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的坐标为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(2,3)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1419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43879"/>
            <a:ext cx="11430000" cy="289310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sz="28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反思感悟 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解决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和椭圆有关的实际问题的思路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通过数学抽象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找出实际问题中涉及的椭圆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将原问题转化为数学问题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确定椭圆的位置及要素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并利用椭圆的方程或几何性质求出数学问题的解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用解得的结果说明原来的实际问题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0645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56447"/>
            <a:ext cx="11430000" cy="1764394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某隧道的拱线设计为半个椭圆的形状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如图所示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最大拱高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米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路面设计是双向车道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车道总宽为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      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米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如果限制通行车辆的高度不超过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米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那么隧道设计的拱宽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至少应是</a:t>
            </a:r>
            <a:r>
              <a:rPr lang="zh-CN" altLang="zh-CN" sz="2800" i="1" u="sng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4348303"/>
              </p:ext>
            </p:extLst>
          </p:nvPr>
        </p:nvGraphicFramePr>
        <p:xfrm>
          <a:off x="7471205" y="702224"/>
          <a:ext cx="712787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50" name="文档" r:id="rId3" imgW="289733" imgH="186158" progId="Word.Document.12">
                  <p:embed/>
                </p:oleObj>
              </mc:Choice>
              <mc:Fallback>
                <p:oleObj name="文档" r:id="rId3" imgW="289733" imgH="18615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471205" y="702224"/>
                        <a:ext cx="712787" cy="4683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6" name="矩形 5"/>
              <p:cNvSpPr>
                <a:spLocks noChangeAspect="1"/>
              </p:cNvSpPr>
              <p:nvPr/>
            </p:nvSpPr>
            <p:spPr>
              <a:xfrm>
                <a:off x="381000" y="1816313"/>
                <a:ext cx="11430000" cy="4769383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indent="279400"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>
                    <a:solidFill>
                      <a:srgbClr val="FF0000"/>
                    </a:solidFill>
                    <a:latin typeface="Arial" panose="020B0604020202020204" pitchFamily="34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解析</a:t>
                </a:r>
                <a:r>
                  <a:rPr lang="en-US" altLang="zh-CN" sz="2800" dirty="0">
                    <a:solidFill>
                      <a:srgbClr val="FF0000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: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以路面中点为原点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水平垂直路面所在直线为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轴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隧道中心线为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轴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建立平面直角坐标系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图略</a:t>
                </a:r>
                <a:r>
                  <a:rPr lang="en-US" altLang="zh-CN" sz="28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altLang="zh-CN" sz="2800" i="1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indent="279400"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 smtClean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设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椭圆方程为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36</m:t>
                        </m:r>
                      </m:den>
                    </m:f>
                  </m:oMath>
                </a14:m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</a:p>
              <a:p>
                <a:pPr indent="279400"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 smtClean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当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点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(4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7</m:t>
                        </m:r>
                      </m:e>
                    </m:rad>
                  </m:oMath>
                </a14:m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,4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5)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在椭圆上时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altLang="zh-CN" sz="280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7</m:t>
                            </m:r>
                          </m:e>
                        </m:rad>
                        <m:sSup>
                          <m:sSup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f>
                      <m:fPr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  <m:r>
                          <m:rPr>
                            <m:nor/>
                          </m:rPr>
                          <a:rPr lang="en-US" altLang="zh-CN" sz="280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.</m:t>
                        </m:r>
                        <m:sSup>
                          <m:sSupPr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en-US" altLang="zh-CN" sz="28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sz="28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36</m:t>
                        </m:r>
                      </m:den>
                    </m:f>
                  </m:oMath>
                </a14:m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1,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解得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16</a:t>
                </a:r>
                <a:r>
                  <a:rPr lang="en-US" altLang="zh-CN" sz="28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</a:p>
              <a:p>
                <a:pPr indent="279400"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 smtClean="0">
                    <a:solidFill>
                      <a:srgbClr val="000000"/>
                    </a:solidFill>
                    <a:latin typeface="NEU-BZ-S92"/>
                    <a:cs typeface="宋体" panose="02010600030101010101" pitchFamily="2" charset="-122"/>
                  </a:rPr>
                  <a:t>∵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车辆高度不超过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米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endPara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 indent="279400"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>
                    <a:solidFill>
                      <a:srgbClr val="000000"/>
                    </a:solidFill>
                    <a:latin typeface="NEU-BZ-S92"/>
                    <a:cs typeface="宋体" panose="02010600030101010101" pitchFamily="2" charset="-122"/>
                  </a:rPr>
                  <a:t>∴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dirty="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方正书宋_GBK" panose="03000509000000000000" pitchFamily="65" charset="-122"/>
                    <a:cs typeface="Times New Roman" panose="02020603050405020304" pitchFamily="18" charset="0"/>
                  </a:rPr>
                  <a:t>≥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16,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dirty="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方正书宋_GBK" panose="03000509000000000000" pitchFamily="65" charset="-122"/>
                    <a:cs typeface="Times New Roman" panose="02020603050405020304" pitchFamily="18" charset="0"/>
                  </a:rPr>
                  <a:t>≥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32,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故拱宽至少为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32</a:t>
                </a:r>
                <a:r>
                  <a:rPr lang="zh-CN" altLang="zh-CN" sz="280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米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 indent="279400"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>
                    <a:solidFill>
                      <a:srgbClr val="FF0000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答案</a:t>
                </a:r>
                <a:r>
                  <a:rPr lang="en-US" altLang="zh-CN" sz="2800" dirty="0">
                    <a:solidFill>
                      <a:srgbClr val="FF0000"/>
                    </a:solidFill>
                    <a:effectLst/>
                    <a:latin typeface="Arial" panose="020B0604020202020204" pitchFamily="34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: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32</a:t>
                </a:r>
                <a:endPara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1816313"/>
                <a:ext cx="11430000" cy="4769383"/>
              </a:xfrm>
              <a:prstGeom prst="rect">
                <a:avLst/>
              </a:prstGeom>
              <a:blipFill rotWithShape="0">
                <a:blip r:embed="rId5"/>
                <a:stretch>
                  <a:fillRect l="-1120" t="-384" r="-1280" b="-15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NMX1TRAX158.eps" descr="id:2147517523;FounderCES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886480" y="2528964"/>
            <a:ext cx="3310864" cy="1496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607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36" name="矩形 35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37" name="组合 36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38" name="矩形 37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探究二</a:t>
                </a:r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</a:rPr>
                  <a:t>直线与椭圆的位置关系</a:t>
                </a:r>
              </a:p>
            </p:txBody>
          </p:sp>
        </p:grpSp>
      </p:grpSp>
      <p:grpSp>
        <p:nvGrpSpPr>
          <p:cNvPr id="5" name="组合 4"/>
          <p:cNvGrpSpPr/>
          <p:nvPr/>
        </p:nvGrpSpPr>
        <p:grpSpPr>
          <a:xfrm>
            <a:off x="381000" y="1694555"/>
            <a:ext cx="11430000" cy="1419810"/>
            <a:chOff x="381000" y="2172537"/>
            <a:chExt cx="11430000" cy="1419810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2379707"/>
              <a:ext cx="11430000" cy="121264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 smtClean="0">
                  <a:solidFill>
                    <a:srgbClr val="00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【例</a:t>
              </a: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zh-CN" altLang="zh-CN" sz="2800" dirty="0" smtClean="0"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】</a:t>
              </a:r>
              <a:r>
                <a:rPr lang="zh-CN" altLang="zh-CN" sz="2800" dirty="0" smtClean="0">
                  <a:solidFill>
                    <a:srgbClr val="000000"/>
                  </a:solidFill>
                  <a:effectLst/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已知直线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y=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x+m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与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椭圆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 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当直线和椭圆相离、相切、相交时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分别求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的取值范围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/>
            </p:nvPr>
          </p:nvGraphicFramePr>
          <p:xfrm>
            <a:off x="5796380" y="2172537"/>
            <a:ext cx="1900237" cy="9985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898" name="文档" r:id="rId3" imgW="764459" imgH="397386" progId="Word.Document.12">
                    <p:embed/>
                  </p:oleObj>
                </mc:Choice>
                <mc:Fallback>
                  <p:oleObj name="文档" r:id="rId3" imgW="764459" imgH="397386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5796380" y="2172537"/>
                          <a:ext cx="1900237" cy="99853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" name="矩形 3"/>
          <p:cNvSpPr>
            <a:spLocks noChangeAspect="1"/>
          </p:cNvSpPr>
          <p:nvPr/>
        </p:nvSpPr>
        <p:spPr>
          <a:xfrm>
            <a:off x="381000" y="3104330"/>
            <a:ext cx="8586005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分析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将直线方程与椭圆方程联立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利用判别式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判断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3073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51516" y="255863"/>
            <a:ext cx="11759484" cy="5289857"/>
            <a:chOff x="51516" y="422119"/>
            <a:chExt cx="11759484" cy="5289857"/>
          </a:xfrm>
        </p:grpSpPr>
        <p:graphicFrame>
          <p:nvGraphicFramePr>
            <p:cNvPr id="2" name="对象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09725474"/>
                </p:ext>
              </p:extLst>
            </p:nvPr>
          </p:nvGraphicFramePr>
          <p:xfrm>
            <a:off x="51516" y="422119"/>
            <a:ext cx="11430000" cy="1506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33" name="文档" r:id="rId3" imgW="4521746" imgH="595898" progId="Word.Document.12">
                    <p:embed/>
                  </p:oleObj>
                </mc:Choice>
                <mc:Fallback>
                  <p:oleObj name="文档" r:id="rId3" imgW="4521746" imgH="595898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51516" y="422119"/>
                          <a:ext cx="11430000" cy="150630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81000" y="1758843"/>
              <a:ext cx="11430000" cy="395313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故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Δ=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(32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4×25×(16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144)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9×4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(25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-m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当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Δ&gt;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即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&lt;m&lt;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直线和椭圆相交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;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当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Δ=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即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m=</a:t>
              </a:r>
              <a:r>
                <a:rPr lang="en-US" altLang="zh-CN" sz="2800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±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直线和椭圆相切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;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当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Δ&lt;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即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m&gt;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或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m&lt;-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直线和椭圆相离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综上所述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当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m&gt;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或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m&lt;-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时直线与椭圆相离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;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当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m=</a:t>
              </a:r>
              <a:r>
                <a:rPr lang="en-US" altLang="zh-CN" sz="2800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±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直线与椭圆相切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;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当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&lt;m&lt;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直线与椭圆相交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49963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46367"/>
            <a:ext cx="11430000" cy="339298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判断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直线与椭圆的位置关系时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联立直线方程与椭圆方程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消元后得到关于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的一元二次方程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利用判别式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的大小比较来判断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直线与椭圆相交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直线与椭圆相切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Δ&lt;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直线与椭圆相离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提醒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注意方程组的解与交点个数之间的等价关系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4354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81000" y="138914"/>
            <a:ext cx="11522286" cy="1432690"/>
            <a:chOff x="381000" y="364150"/>
            <a:chExt cx="11522286" cy="1432690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584200"/>
              <a:ext cx="11430000" cy="121264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 smtClean="0">
                  <a:solidFill>
                    <a:srgbClr val="00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【变式训练</a:t>
              </a: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zh-CN" altLang="zh-CN" sz="2800" dirty="0" smtClean="0"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】</a:t>
              </a:r>
              <a:r>
                <a:rPr lang="zh-CN" altLang="zh-CN" sz="2800" dirty="0" smtClean="0">
                  <a:solidFill>
                    <a:srgbClr val="000000"/>
                  </a:solidFill>
                  <a:effectLst/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若直线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y=kx+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∈</a:t>
              </a: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与焦点在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轴上的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椭圆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  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总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有公共点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求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的取值范围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03121214"/>
                </p:ext>
              </p:extLst>
            </p:nvPr>
          </p:nvGraphicFramePr>
          <p:xfrm>
            <a:off x="9891924" y="364150"/>
            <a:ext cx="2011362" cy="9985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75" name="文档" r:id="rId3" imgW="811788" imgH="397386" progId="Word.Document.12">
                    <p:embed/>
                  </p:oleObj>
                </mc:Choice>
                <mc:Fallback>
                  <p:oleObj name="文档" r:id="rId3" imgW="811788" imgH="397386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9891924" y="364150"/>
                          <a:ext cx="2011362" cy="99853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矩形 5"/>
              <p:cNvSpPr>
                <a:spLocks noChangeAspect="1"/>
              </p:cNvSpPr>
              <p:nvPr/>
            </p:nvSpPr>
            <p:spPr>
              <a:xfrm>
                <a:off x="381000" y="1561213"/>
                <a:ext cx="11430000" cy="4268733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indent="279400"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>
                    <a:solidFill>
                      <a:srgbClr val="FF0000"/>
                    </a:solidFill>
                    <a:latin typeface="Arial" panose="020B0604020202020204" pitchFamily="34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解</a:t>
                </a:r>
                <a:r>
                  <a:rPr lang="en-US" altLang="zh-CN" sz="2800" dirty="0">
                    <a:solidFill>
                      <a:srgbClr val="FF0000"/>
                    </a:solidFill>
                    <a:latin typeface="Arial" panose="020B0604020202020204" pitchFamily="34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: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方法一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由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zh-CN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𝑘𝑥</m:t>
                              </m:r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+1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zh-CN" altLang="zh-CN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zh-CN" altLang="zh-CN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zh-CN" sz="28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zh-CN" sz="28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5</m:t>
                                  </m:r>
                                </m:den>
                              </m:f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CN" altLang="zh-CN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zh-CN" altLang="zh-CN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altLang="zh-CN" sz="28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zh-CN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𝑚</m:t>
                                  </m:r>
                                </m:den>
                              </m:f>
                              <m: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=1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CN" altLang="zh-CN" sz="2800" dirty="0">
                  <a:solidFill>
                    <a:srgbClr val="000000"/>
                  </a:solidFill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 indent="279400"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en-US" altLang="zh-CN" sz="2800" i="1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Δ=</a:t>
                </a:r>
                <a:r>
                  <a:rPr lang="en-US" altLang="zh-CN" sz="28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100</a:t>
                </a:r>
                <a:r>
                  <a:rPr lang="en-US" altLang="zh-CN" sz="2800" i="1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altLang="zh-CN" sz="2800" baseline="300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altLang="zh-CN" sz="28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20(</a:t>
                </a:r>
                <a:r>
                  <a:rPr lang="en-US" altLang="zh-CN" sz="2800" i="1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m+</a:t>
                </a:r>
                <a:r>
                  <a:rPr lang="en-US" altLang="zh-CN" sz="28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  <a:r>
                  <a:rPr lang="en-US" altLang="zh-CN" sz="2800" i="1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altLang="zh-CN" sz="2800" baseline="300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)(1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-m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20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(5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altLang="zh-CN" sz="2800" baseline="30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+m-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1)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CN" altLang="zh-CN" sz="2800" dirty="0">
                  <a:solidFill>
                    <a:srgbClr val="000000"/>
                  </a:solidFill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 indent="279400"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>
                    <a:solidFill>
                      <a:srgbClr val="000000"/>
                    </a:solidFill>
                    <a:latin typeface="NEU-BZ-S92"/>
                    <a:cs typeface="宋体" panose="02010600030101010101" pitchFamily="2" charset="-122"/>
                  </a:rPr>
                  <a:t>∵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直线与椭圆总有公共点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NEU-BZ-S92"/>
                    <a:cs typeface="宋体" panose="02010600030101010101" pitchFamily="2" charset="-122"/>
                  </a:rPr>
                  <a:t>∴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Δ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宋体" panose="02010600030101010101" pitchFamily="2" charset="-122"/>
                    <a:ea typeface="方正书宋_GBK" panose="03000509000000000000" pitchFamily="65" charset="-122"/>
                    <a:cs typeface="Times New Roman" panose="02020603050405020304" pitchFamily="18" charset="0"/>
                  </a:rPr>
                  <a:t>≥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对任意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NEU-BZ-S92"/>
                    <a:cs typeface="宋体" panose="02010600030101010101" pitchFamily="2" charset="-122"/>
                  </a:rPr>
                  <a:t>∈</a:t>
                </a:r>
                <a:r>
                  <a:rPr lang="en-US" altLang="zh-CN" sz="2800" b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都成立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CN" altLang="zh-CN" sz="2800" dirty="0">
                  <a:solidFill>
                    <a:srgbClr val="000000"/>
                  </a:solidFill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 indent="279400"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>
                    <a:solidFill>
                      <a:srgbClr val="000000"/>
                    </a:solidFill>
                    <a:latin typeface="NEU-BZ-S92"/>
                    <a:cs typeface="宋体" panose="02010600030101010101" pitchFamily="2" charset="-122"/>
                  </a:rPr>
                  <a:t>∵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m&gt;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0,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NEU-BZ-S92"/>
                    <a:cs typeface="宋体" panose="02010600030101010101" pitchFamily="2" charset="-122"/>
                  </a:rPr>
                  <a:t>∴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altLang="zh-CN" sz="2800" baseline="30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宋体" panose="02010600030101010101" pitchFamily="2" charset="-122"/>
                    <a:ea typeface="方正书宋_GBK" panose="03000509000000000000" pitchFamily="65" charset="-122"/>
                    <a:cs typeface="Times New Roman" panose="02020603050405020304" pitchFamily="18" charset="0"/>
                  </a:rPr>
                  <a:t>≥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-m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恒成立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NEU-BZ-S92"/>
                    <a:cs typeface="宋体" panose="02010600030101010101" pitchFamily="2" charset="-122"/>
                  </a:rPr>
                  <a:t>∴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-m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宋体" panose="02010600030101010101" pitchFamily="2" charset="-122"/>
                    <a:ea typeface="方正书宋_GBK" panose="03000509000000000000" pitchFamily="65" charset="-122"/>
                    <a:cs typeface="Times New Roman" panose="02020603050405020304" pitchFamily="18" charset="0"/>
                  </a:rPr>
                  <a:t>≤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0,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即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宋体" panose="02010600030101010101" pitchFamily="2" charset="-122"/>
                    <a:ea typeface="方正书宋_GBK" panose="03000509000000000000" pitchFamily="65" charset="-122"/>
                    <a:cs typeface="Times New Roman" panose="02020603050405020304" pitchFamily="18" charset="0"/>
                  </a:rPr>
                  <a:t>≥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CN" altLang="zh-CN" sz="2800" dirty="0">
                  <a:solidFill>
                    <a:srgbClr val="000000"/>
                  </a:solidFill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 indent="279400"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又椭圆的焦点在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轴上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endParaRPr lang="zh-CN" altLang="zh-CN" sz="2800" dirty="0">
                  <a:solidFill>
                    <a:srgbClr val="000000"/>
                  </a:solidFill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 indent="279400"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>
                    <a:solidFill>
                      <a:srgbClr val="000000"/>
                    </a:solidFill>
                    <a:latin typeface="NEU-BZ-S92"/>
                    <a:cs typeface="宋体" panose="02010600030101010101" pitchFamily="2" charset="-122"/>
                  </a:rPr>
                  <a:t>∴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&lt;m&lt;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5,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NEU-BZ-S92"/>
                    <a:cs typeface="宋体" panose="02010600030101010101" pitchFamily="2" charset="-122"/>
                  </a:rPr>
                  <a:t>∴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宋体" panose="02010600030101010101" pitchFamily="2" charset="-122"/>
                    <a:ea typeface="方正书宋_GBK" panose="03000509000000000000" pitchFamily="65" charset="-122"/>
                    <a:cs typeface="Times New Roman" panose="02020603050405020304" pitchFamily="18" charset="0"/>
                  </a:rPr>
                  <a:t>≤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m&lt;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1561213"/>
                <a:ext cx="11430000" cy="4268733"/>
              </a:xfrm>
              <a:prstGeom prst="rect">
                <a:avLst/>
              </a:prstGeom>
              <a:blipFill rotWithShape="0">
                <a:blip r:embed="rId5"/>
                <a:stretch>
                  <a:fillRect b="-18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9300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64395" y="1243879"/>
            <a:ext cx="11746605" cy="3142453"/>
            <a:chOff x="64395" y="1802301"/>
            <a:chExt cx="11746605" cy="3142453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1802301"/>
              <a:ext cx="11430000" cy="177279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方法二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∵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直线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y=kx+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过定点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(0,1),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 smtClean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∴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要使直线与该椭圆总有公共点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则点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(0,1)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必在椭圆内或椭圆上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68636799"/>
                </p:ext>
              </p:extLst>
            </p:nvPr>
          </p:nvGraphicFramePr>
          <p:xfrm>
            <a:off x="64395" y="3438452"/>
            <a:ext cx="11430000" cy="1506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82" name="文档" r:id="rId3" imgW="4521746" imgH="595898" progId="Word.Document.12">
                    <p:embed/>
                  </p:oleObj>
                </mc:Choice>
                <mc:Fallback>
                  <p:oleObj name="文档" r:id="rId3" imgW="4521746" imgH="595898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64395" y="3438452"/>
                          <a:ext cx="11430000" cy="150630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745225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10" name="矩形 9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>
                    <a:solidFill>
                      <a:schemeClr val="bg1"/>
                    </a:solidFill>
                  </a:rPr>
                  <a:t>探究三</a:t>
                </a:r>
                <a:endParaRPr lang="zh-CN" altLang="en-US" sz="2800" b="1" dirty="0" smtClean="0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</a:rPr>
                  <a:t>弦长问题</a:t>
                </a:r>
              </a:p>
            </p:txBody>
          </p:sp>
        </p:grpSp>
      </p:grpSp>
      <p:sp>
        <p:nvSpPr>
          <p:cNvPr id="2" name="矩形 1"/>
          <p:cNvSpPr>
            <a:spLocks noChangeAspect="1"/>
          </p:cNvSpPr>
          <p:nvPr/>
        </p:nvSpPr>
        <p:spPr>
          <a:xfrm>
            <a:off x="381000" y="705029"/>
            <a:ext cx="11430000" cy="345325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【例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 dirty="0" smtClean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 smtClean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已知椭圆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及直线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x+m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当直线和椭圆有公共点时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求实数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的取值范围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求被椭圆截得的最长弦所在的直线方程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分析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将直线方程与椭圆方程联立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根据判别式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的符号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建立关于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的不等式求解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利用弦长公式建立关于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的函数解析式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通过函数的最值求得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的值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从而得到直线方程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1137654"/>
              </p:ext>
            </p:extLst>
          </p:nvPr>
        </p:nvGraphicFramePr>
        <p:xfrm>
          <a:off x="71906" y="4072251"/>
          <a:ext cx="11430000" cy="25108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4" name="文档" r:id="rId3" imgW="4521746" imgH="993283" progId="Word.Document.12">
                  <p:embed/>
                </p:oleObj>
              </mc:Choice>
              <mc:Fallback>
                <p:oleObj name="文档" r:id="rId3" imgW="4521746" imgH="99328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1906" y="4072251"/>
                        <a:ext cx="11430000" cy="25108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59027" y="244795"/>
            <a:ext cx="11751973" cy="5671272"/>
            <a:chOff x="59027" y="390269"/>
            <a:chExt cx="11751973" cy="5671272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390269"/>
              <a:ext cx="11430000" cy="115236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设直线与椭圆交于点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由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知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,5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mx+m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35965646"/>
                </p:ext>
              </p:extLst>
            </p:nvPr>
          </p:nvGraphicFramePr>
          <p:xfrm>
            <a:off x="59027" y="1542636"/>
            <a:ext cx="11430000" cy="45189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28" name="文档" r:id="rId3" imgW="4521746" imgH="1787694" progId="Word.Document.12">
                    <p:embed/>
                  </p:oleObj>
                </mc:Choice>
                <mc:Fallback>
                  <p:oleObj name="文档" r:id="rId3" imgW="4521746" imgH="1787694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59027" y="1542636"/>
                          <a:ext cx="11430000" cy="451890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527313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019288"/>
            <a:ext cx="11430000" cy="3496342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求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直线被椭圆截得的弦长的两种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方法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求出直线与椭圆的两交点坐标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用两点间距离公式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求解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.</a:t>
            </a:r>
            <a:endParaRPr lang="en-US" altLang="zh-CN" sz="28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279400">
              <a:lnSpc>
                <a:spcPct val="20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用弦长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公式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                                                          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求解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其中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为直线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的斜率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提醒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如果直线方程涉及斜率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要注意斜率不存在的情况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0499002"/>
              </p:ext>
            </p:extLst>
          </p:nvPr>
        </p:nvGraphicFramePr>
        <p:xfrm>
          <a:off x="2997044" y="2133388"/>
          <a:ext cx="5726112" cy="998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3" name="文档" r:id="rId3" imgW="2287421" imgH="397386" progId="Word.Document.12">
                  <p:embed/>
                </p:oleObj>
              </mc:Choice>
              <mc:Fallback>
                <p:oleObj name="文档" r:id="rId3" imgW="2287421" imgH="3973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997044" y="2133388"/>
                        <a:ext cx="5726112" cy="9985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4524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81000" y="1397503"/>
            <a:ext cx="11430000" cy="2519545"/>
            <a:chOff x="381000" y="2093695"/>
            <a:chExt cx="11430000" cy="2519545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2093695"/>
              <a:ext cx="11430000" cy="250530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 smtClean="0">
                  <a:solidFill>
                    <a:srgbClr val="00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【变式训练</a:t>
              </a: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zh-CN" altLang="zh-CN" sz="2800" dirty="0" smtClean="0"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】</a:t>
              </a:r>
              <a:r>
                <a:rPr lang="zh-CN" altLang="zh-CN" sz="2800" dirty="0" smtClean="0">
                  <a:solidFill>
                    <a:srgbClr val="000000"/>
                  </a:solidFill>
                  <a:effectLst/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已知椭圆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20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的左焦点为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过点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且倾斜角为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45</a:t>
              </a:r>
              <a:r>
                <a:rPr lang="en-US" altLang="zh-CN" sz="2800" dirty="0"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°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的直线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交椭圆于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两点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求弦长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|AB|.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5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椭圆有两个顶点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1,0),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(1,0),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过其焦点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(0,1)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的直线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与椭圆交于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两点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若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|CD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|=        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求直线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的方程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06303107"/>
                </p:ext>
              </p:extLst>
            </p:nvPr>
          </p:nvGraphicFramePr>
          <p:xfrm>
            <a:off x="2515044" y="3788003"/>
            <a:ext cx="837045" cy="8252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76" name="文档" r:id="rId3" imgW="412696" imgH="397386" progId="Word.Document.12">
                    <p:embed/>
                  </p:oleObj>
                </mc:Choice>
                <mc:Fallback>
                  <p:oleObj name="文档" r:id="rId3" imgW="412696" imgH="397386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515044" y="3788003"/>
                          <a:ext cx="837045" cy="82523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839178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0154089"/>
              </p:ext>
            </p:extLst>
          </p:nvPr>
        </p:nvGraphicFramePr>
        <p:xfrm>
          <a:off x="64395" y="107561"/>
          <a:ext cx="11430000" cy="60252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0" name="文档" r:id="rId3" imgW="4521746" imgH="2383592" progId="Word.Document.12">
                  <p:embed/>
                </p:oleObj>
              </mc:Choice>
              <mc:Fallback>
                <p:oleObj name="文档" r:id="rId3" imgW="4521746" imgH="238359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4395" y="107561"/>
                        <a:ext cx="11430000" cy="60252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49211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64395" y="-28141"/>
            <a:ext cx="11746605" cy="6557051"/>
            <a:chOff x="64395" y="-28141"/>
            <a:chExt cx="11746605" cy="6557051"/>
          </a:xfrm>
        </p:grpSpPr>
        <p:graphicFrame>
          <p:nvGraphicFramePr>
            <p:cNvPr id="2" name="对象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18886894"/>
                </p:ext>
              </p:extLst>
            </p:nvPr>
          </p:nvGraphicFramePr>
          <p:xfrm>
            <a:off x="64395" y="-28141"/>
            <a:ext cx="11430000" cy="20080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38" name="文档" r:id="rId3" imgW="4521746" imgH="794410" progId="Word.Document.12">
                    <p:embed/>
                  </p:oleObj>
                </mc:Choice>
                <mc:Fallback>
                  <p:oleObj name="文档" r:id="rId3" imgW="4521746" imgH="794410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64395" y="-28141"/>
                          <a:ext cx="11430000" cy="200809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81000" y="1848838"/>
              <a:ext cx="11430000" cy="115236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当直线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垂直于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轴时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与题意不符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设直线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的方程为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y=kx+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将其代入椭圆方程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化简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得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kx-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12668930"/>
                </p:ext>
              </p:extLst>
            </p:nvPr>
          </p:nvGraphicFramePr>
          <p:xfrm>
            <a:off x="64395" y="3014511"/>
            <a:ext cx="11430000" cy="35143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39" name="文档" r:id="rId5" imgW="4521746" imgH="1390308" progId="Word.Document.12">
                    <p:embed/>
                  </p:oleObj>
                </mc:Choice>
                <mc:Fallback>
                  <p:oleObj name="文档" r:id="rId5" imgW="4521746" imgH="1390308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64395" y="3014511"/>
                          <a:ext cx="11430000" cy="351439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42490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10" name="矩形 9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>
                    <a:solidFill>
                      <a:schemeClr val="bg1"/>
                    </a:solidFill>
                  </a:rPr>
                  <a:t>探究四</a:t>
                </a:r>
                <a:endParaRPr lang="zh-CN" altLang="en-US" sz="2800" b="1" dirty="0" smtClean="0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</a:rPr>
                  <a:t>中点弦问题</a:t>
                </a:r>
              </a:p>
            </p:txBody>
          </p:sp>
        </p:grpSp>
      </p:grpSp>
      <p:sp>
        <p:nvSpPr>
          <p:cNvPr id="2" name="矩形 1"/>
          <p:cNvSpPr>
            <a:spLocks noChangeAspect="1"/>
          </p:cNvSpPr>
          <p:nvPr/>
        </p:nvSpPr>
        <p:spPr>
          <a:xfrm>
            <a:off x="381000" y="1693364"/>
            <a:ext cx="11430000" cy="289310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【例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2800" dirty="0" smtClean="0">
                <a:solidFill>
                  <a:srgbClr val="00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 smtClean="0">
                <a:solidFill>
                  <a:srgbClr val="000000"/>
                </a:solidFill>
                <a:effectLst/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过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椭圆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内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(2,1)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作一条直线交椭圆于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两点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使线段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被点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平分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求此直线的方程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分析</a:t>
            </a:r>
            <a:r>
              <a:rPr lang="en-US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由于弦所在直线过定点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(2,1),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所以可设出弦所在直线的方程为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y-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与椭圆方程联立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通过中点为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得出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的值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也可以通过设而不求的思想求直线的斜率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1835700"/>
              </p:ext>
            </p:extLst>
          </p:nvPr>
        </p:nvGraphicFramePr>
        <p:xfrm>
          <a:off x="3367311" y="1463539"/>
          <a:ext cx="1857375" cy="998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7" name="文档" r:id="rId3" imgW="743666" imgH="397386" progId="Word.Document.12">
                  <p:embed/>
                </p:oleObj>
              </mc:Choice>
              <mc:Fallback>
                <p:oleObj name="文档" r:id="rId3" imgW="743666" imgH="3973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67311" y="1463539"/>
                        <a:ext cx="1857375" cy="9985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71906" y="481774"/>
            <a:ext cx="11739094" cy="4750340"/>
            <a:chOff x="71906" y="1011715"/>
            <a:chExt cx="11739094" cy="4750340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1011715"/>
              <a:ext cx="11430000" cy="233294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解</a:t>
              </a:r>
              <a:r>
                <a:rPr lang="en-US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: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方法一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如图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易知线段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AB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所在的直线斜率存在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设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所求直线的方程为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=k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2),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代入椭圆方程并整理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得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得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(4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8(2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-k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4(2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1)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16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0,(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*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又设直线与椭圆的交点为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),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77975155"/>
                </p:ext>
              </p:extLst>
            </p:nvPr>
          </p:nvGraphicFramePr>
          <p:xfrm>
            <a:off x="71906" y="3251249"/>
            <a:ext cx="11430000" cy="25108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473" name="文档" r:id="rId3" imgW="4521746" imgH="993283" progId="Word.Document.12">
                    <p:embed/>
                  </p:oleObj>
                </mc:Choice>
                <mc:Fallback>
                  <p:oleObj name="文档" r:id="rId3" imgW="4521746" imgH="99328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71906" y="3251249"/>
                          <a:ext cx="11430000" cy="251080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4" name="EMX1TRAX22a.eps" descr="id:2147496934;FounderCES"/>
            <p:cNvPicPr/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8701939" y="2621633"/>
              <a:ext cx="2954514" cy="231492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82448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64395" y="676823"/>
            <a:ext cx="11746605" cy="4709306"/>
            <a:chOff x="64395" y="905425"/>
            <a:chExt cx="11746605" cy="4709306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905425"/>
              <a:ext cx="11430000" cy="115236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方法二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设直线与椭圆的交点为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),</a:t>
              </a:r>
              <a:endParaRPr lang="zh-CN" altLang="zh-CN" sz="280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smtClean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∵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为弦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AB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的中点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∴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+x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+y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6033579"/>
                </p:ext>
              </p:extLst>
            </p:nvPr>
          </p:nvGraphicFramePr>
          <p:xfrm>
            <a:off x="64395" y="2100332"/>
            <a:ext cx="11430000" cy="35143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95" name="文档" r:id="rId3" imgW="4521746" imgH="1390308" progId="Word.Document.12">
                    <p:embed/>
                  </p:oleObj>
                </mc:Choice>
                <mc:Fallback>
                  <p:oleObj name="文档" r:id="rId3" imgW="4521746" imgH="1390308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64395" y="2100332"/>
                          <a:ext cx="11430000" cy="351439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587997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986592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本例条件不变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求弦长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|AB|.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设弦的两端点分别为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3" name="延伸探究H.eps" descr="id:2147494559;FounderCES"/>
          <p:cNvPicPr/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757688" y="593128"/>
            <a:ext cx="2016224" cy="367706"/>
          </a:xfrm>
          <a:prstGeom prst="rect">
            <a:avLst/>
          </a:prstGeom>
        </p:spPr>
      </p:pic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4102859"/>
              </p:ext>
            </p:extLst>
          </p:nvPr>
        </p:nvGraphicFramePr>
        <p:xfrm>
          <a:off x="76558" y="2151838"/>
          <a:ext cx="11430000" cy="30126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9" name="文档" r:id="rId4" imgW="4521746" imgH="1191796" progId="Word.Document.12">
                  <p:embed/>
                </p:oleObj>
              </mc:Choice>
              <mc:Fallback>
                <p:oleObj name="文档" r:id="rId4" imgW="4521746" imgH="119179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6558" y="2151838"/>
                        <a:ext cx="11430000" cy="30126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28069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64395" y="52049"/>
            <a:ext cx="11772363" cy="6257208"/>
            <a:chOff x="64395" y="52049"/>
            <a:chExt cx="11772363" cy="6257208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52049"/>
              <a:ext cx="11430000" cy="115236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en-US" sz="2800" dirty="0">
                  <a:solidFill>
                    <a:srgbClr val="00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反思感悟</a:t>
              </a:r>
              <a:r>
                <a:rPr lang="en-US" altLang="zh-CN" sz="2800" dirty="0">
                  <a:solidFill>
                    <a:srgbClr val="00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关于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中点弦问题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一般采用两种方法解决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联立方程组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消元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利用根与系数的关系进行设而不求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从而简化运算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76566712"/>
                </p:ext>
              </p:extLst>
            </p:nvPr>
          </p:nvGraphicFramePr>
          <p:xfrm>
            <a:off x="406758" y="1171828"/>
            <a:ext cx="11430000" cy="35143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556" name="文档" r:id="rId3" imgW="4521746" imgH="1390308" progId="Word.Document.12">
                    <p:embed/>
                  </p:oleObj>
                </mc:Choice>
                <mc:Fallback>
                  <p:oleObj name="文档" r:id="rId3" imgW="4521746" imgH="1390308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06758" y="1171828"/>
                          <a:ext cx="11430000" cy="351439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34830057"/>
                </p:ext>
              </p:extLst>
            </p:nvPr>
          </p:nvGraphicFramePr>
          <p:xfrm>
            <a:off x="64395" y="4273088"/>
            <a:ext cx="11430000" cy="1506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557" name="文档" r:id="rId5" imgW="4521746" imgH="595898" progId="Word.Document.12">
                    <p:embed/>
                  </p:oleObj>
                </mc:Choice>
                <mc:Fallback>
                  <p:oleObj name="文档" r:id="rId5" imgW="4521746" imgH="595898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64395" y="4273088"/>
                          <a:ext cx="11430000" cy="150630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381000" y="5717044"/>
              <a:ext cx="11430000" cy="59221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这样就建立了中点坐标与直线的斜率之间的关系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从而使问题得以解决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57034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81000" y="1347923"/>
            <a:ext cx="11430000" cy="2546634"/>
            <a:chOff x="381000" y="1322165"/>
            <a:chExt cx="11430000" cy="2546634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1535853"/>
              <a:ext cx="11430000" cy="233294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 smtClean="0">
                  <a:solidFill>
                    <a:srgbClr val="00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【变式训练</a:t>
              </a: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zh-CN" altLang="zh-CN" sz="2800" dirty="0" smtClean="0"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】</a:t>
              </a:r>
              <a:r>
                <a:rPr lang="zh-CN" altLang="zh-CN" sz="2800" dirty="0" smtClean="0">
                  <a:solidFill>
                    <a:srgbClr val="000000"/>
                  </a:solidFill>
                  <a:effectLst/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已知点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(4,2)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是直线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被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椭圆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  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所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截得的线段的中点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则直线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的方程为</a:t>
              </a:r>
              <a:r>
                <a:rPr lang="zh-CN" altLang="zh-CN" sz="2800" i="1" u="sng" dirty="0">
                  <a:solidFill>
                    <a:srgbClr val="FF0000"/>
                  </a:solidFill>
                  <a:uFill>
                    <a:solidFill>
                      <a:srgbClr val="000000"/>
                    </a:solidFill>
                  </a:uFill>
                  <a:latin typeface="Times New Roman" panose="02020603050405020304" pitchFamily="18" charset="0"/>
                  <a:cs typeface="Times New Roman" panose="02020603050405020304" pitchFamily="18" charset="0"/>
                </a:rPr>
                <a:t>　　　　　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en-US" altLang="zh-CN" sz="2800" i="1" dirty="0"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 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已知点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(4,2)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是直线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被焦点在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轴上的椭圆所截得的线段的中点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则该椭圆的离心率为</a:t>
              </a:r>
              <a:r>
                <a:rPr lang="zh-CN" altLang="zh-CN" sz="2800" i="1" u="sng" dirty="0">
                  <a:solidFill>
                    <a:srgbClr val="FF0000"/>
                  </a:solidFill>
                  <a:uFill>
                    <a:solidFill>
                      <a:srgbClr val="000000"/>
                    </a:solidFill>
                  </a:uFill>
                  <a:latin typeface="Times New Roman" panose="02020603050405020304" pitchFamily="18" charset="0"/>
                  <a:cs typeface="Times New Roman" panose="02020603050405020304" pitchFamily="18" charset="0"/>
                </a:rPr>
                <a:t>　　　　　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en-US" altLang="zh-CN" sz="2800" i="1" dirty="0"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 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35369972"/>
                </p:ext>
              </p:extLst>
            </p:nvPr>
          </p:nvGraphicFramePr>
          <p:xfrm>
            <a:off x="7965070" y="1322165"/>
            <a:ext cx="1927225" cy="9985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567" name="文档" r:id="rId3" imgW="778769" imgH="397386" progId="Word.Document.12">
                    <p:embed/>
                  </p:oleObj>
                </mc:Choice>
                <mc:Fallback>
                  <p:oleObj name="文档" r:id="rId3" imgW="778769" imgH="397386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7965070" y="1322165"/>
                          <a:ext cx="1927225" cy="99853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720165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71907" y="789163"/>
            <a:ext cx="11739093" cy="4293649"/>
            <a:chOff x="71907" y="1246367"/>
            <a:chExt cx="11739093" cy="4293649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1246367"/>
              <a:ext cx="11430000" cy="227267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解析</a:t>
              </a:r>
              <a:r>
                <a:rPr lang="en-US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: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由题意可设直线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的方程为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=k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4),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而椭圆的方程可以化为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36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将直线方程代入椭圆方程有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(4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(4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4(4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2)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36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设直线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与椭圆的交点坐标为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),(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),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2570938"/>
                </p:ext>
              </p:extLst>
            </p:nvPr>
          </p:nvGraphicFramePr>
          <p:xfrm>
            <a:off x="71907" y="3531919"/>
            <a:ext cx="11430000" cy="20080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591" name="文档" r:id="rId3" imgW="4521746" imgH="794410" progId="Word.Document.12">
                    <p:embed/>
                  </p:oleObj>
                </mc:Choice>
                <mc:Fallback>
                  <p:oleObj name="文档" r:id="rId3" imgW="4521746" imgH="794410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71907" y="3531919"/>
                          <a:ext cx="11430000" cy="200809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856009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64395" y="44450"/>
            <a:ext cx="11746605" cy="5919374"/>
            <a:chOff x="64395" y="44450"/>
            <a:chExt cx="11746605" cy="5919374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219576"/>
              <a:ext cx="11430000" cy="121264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(2)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设椭圆方程</a:t>
              </a:r>
              <a:r>
                <a:rPr lang="zh-CN" altLang="zh-CN" sz="2800" dirty="0" smtClean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为</a:t>
              </a:r>
              <a:r>
                <a:rPr lang="en-US" altLang="zh-CN" sz="2800" dirty="0" smtClean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                 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a&gt;b&gt;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),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直线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与椭圆交于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两点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且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),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68649802"/>
                </p:ext>
              </p:extLst>
            </p:nvPr>
          </p:nvGraphicFramePr>
          <p:xfrm>
            <a:off x="3351431" y="44450"/>
            <a:ext cx="2068512" cy="9985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54" name="文档" r:id="rId3" imgW="830743" imgH="397386" progId="Word.Document.12">
                    <p:embed/>
                  </p:oleObj>
                </mc:Choice>
                <mc:Fallback>
                  <p:oleObj name="文档" r:id="rId3" imgW="830743" imgH="397386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351431" y="44450"/>
                          <a:ext cx="2068512" cy="99853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83404590"/>
                </p:ext>
              </p:extLst>
            </p:nvPr>
          </p:nvGraphicFramePr>
          <p:xfrm>
            <a:off x="64395" y="921899"/>
            <a:ext cx="11430000" cy="25108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55" name="文档" r:id="rId5" imgW="4521746" imgH="993283" progId="Word.Document.12">
                    <p:embed/>
                  </p:oleObj>
                </mc:Choice>
                <mc:Fallback>
                  <p:oleObj name="文档" r:id="rId5" imgW="4521746" imgH="99328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64395" y="921899"/>
                          <a:ext cx="11430000" cy="251080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对象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44855762"/>
                </p:ext>
              </p:extLst>
            </p:nvPr>
          </p:nvGraphicFramePr>
          <p:xfrm>
            <a:off x="64395" y="2951220"/>
            <a:ext cx="11430000" cy="30126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56" name="文档" r:id="rId7" imgW="4521746" imgH="1191796" progId="Word.Document.12">
                    <p:embed/>
                  </p:oleObj>
                </mc:Choice>
                <mc:Fallback>
                  <p:oleObj name="文档" r:id="rId7" imgW="4521746" imgH="1191796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64395" y="2951220"/>
                          <a:ext cx="11430000" cy="301260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0903054"/>
              </p:ext>
            </p:extLst>
          </p:nvPr>
        </p:nvGraphicFramePr>
        <p:xfrm>
          <a:off x="64395" y="5827736"/>
          <a:ext cx="11430000" cy="10045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57" name="文档" r:id="rId9" imgW="4521746" imgH="397386" progId="Word.Document.12">
                  <p:embed/>
                </p:oleObj>
              </mc:Choice>
              <mc:Fallback>
                <p:oleObj name="文档" r:id="rId9" imgW="4521746" imgH="3973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4395" y="5827736"/>
                        <a:ext cx="11430000" cy="10045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41898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spect="1"/>
          </p:cNvSpPr>
          <p:nvPr/>
        </p:nvSpPr>
        <p:spPr>
          <a:xfrm>
            <a:off x="381000" y="50021"/>
            <a:ext cx="2362200" cy="6406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【</a:t>
            </a:r>
            <a:r>
              <a:rPr lang="zh-CN" altLang="en-US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思想方法</a:t>
            </a:r>
            <a:r>
              <a:rPr lang="zh-CN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】</a:t>
            </a:r>
            <a:r>
              <a:rPr lang="en-US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 </a:t>
            </a:r>
            <a:endParaRPr lang="zh-CN" altLang="zh-CN" sz="3200" b="1" dirty="0">
              <a:solidFill>
                <a:srgbClr val="E88651">
                  <a:lumMod val="75000"/>
                </a:srgbClr>
              </a:solidFill>
              <a:latin typeface="黑体" panose="02010609060101010101" pitchFamily="49" charset="-122"/>
              <a:ea typeface="方正姚体" panose="02010601030101010101"/>
              <a:cs typeface="方正姚体" panose="02010601030101010101" charset="-122"/>
            </a:endParaRPr>
          </a:p>
        </p:txBody>
      </p:sp>
      <p:sp>
        <p:nvSpPr>
          <p:cNvPr id="8" name="矩形 7"/>
          <p:cNvSpPr>
            <a:spLocks noChangeAspect="1"/>
          </p:cNvSpPr>
          <p:nvPr/>
        </p:nvSpPr>
        <p:spPr>
          <a:xfrm>
            <a:off x="381000" y="706967"/>
            <a:ext cx="11430000" cy="513371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椭圆中的最值问题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【典例】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如图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分别是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椭圆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长轴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的左、右端点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是椭圆的右焦点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在椭圆上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且位于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轴上方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PF.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的坐标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是椭圆长轴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上的一点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到直线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距离</a:t>
            </a:r>
            <a:endParaRPr lang="en-US" altLang="zh-CN" sz="28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等于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|MB|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求椭圆上的点到点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的距离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的最小值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审题</a:t>
            </a:r>
            <a:r>
              <a:rPr lang="zh-CN" altLang="zh-CN" sz="2800" dirty="0" smtClean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视角</a:t>
            </a:r>
            <a:r>
              <a:rPr lang="en-US" altLang="zh-CN" sz="2800" dirty="0" smtClean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设出点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的坐标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根据点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在椭圆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</a:t>
            </a:r>
            <a:endParaRPr lang="en-US" altLang="zh-CN" sz="28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以及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PF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建立方程组求解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根据两点间的距离公式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将椭圆上的点到点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的距离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表示为点的坐标的函数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借助函数方法求得最值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6759067"/>
              </p:ext>
            </p:extLst>
          </p:nvPr>
        </p:nvGraphicFramePr>
        <p:xfrm>
          <a:off x="5923577" y="1066373"/>
          <a:ext cx="1903256" cy="9788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9" name="文档" r:id="rId3" imgW="776902" imgH="397386" progId="Word.Document.12">
                  <p:embed/>
                </p:oleObj>
              </mc:Choice>
              <mc:Fallback>
                <p:oleObj name="文档" r:id="rId3" imgW="776902" imgH="3973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923577" y="1066373"/>
                        <a:ext cx="1903256" cy="97886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EMX1TRAX22.eps" descr="id:2147496962;FounderCES"/>
          <p:cNvPicPr/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614495" y="1986573"/>
            <a:ext cx="2950265" cy="2521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28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7752081"/>
              </p:ext>
            </p:extLst>
          </p:nvPr>
        </p:nvGraphicFramePr>
        <p:xfrm>
          <a:off x="59027" y="275427"/>
          <a:ext cx="11430000" cy="60252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63" name="文档" r:id="rId3" imgW="4510061" imgH="2385403" progId="Word.Document.12">
                  <p:embed/>
                </p:oleObj>
              </mc:Choice>
              <mc:Fallback>
                <p:oleObj name="文档" r:id="rId3" imgW="4510061" imgH="238540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9027" y="275427"/>
                        <a:ext cx="11430000" cy="60252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387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8982470"/>
              </p:ext>
            </p:extLst>
          </p:nvPr>
        </p:nvGraphicFramePr>
        <p:xfrm>
          <a:off x="51516" y="302472"/>
          <a:ext cx="11430000" cy="55234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7" name="文档" r:id="rId3" imgW="4521746" imgH="2185079" progId="Word.Document.12">
                  <p:embed/>
                </p:oleObj>
              </mc:Choice>
              <mc:Fallback>
                <p:oleObj name="文档" r:id="rId3" imgW="4521746" imgH="218507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516" y="302472"/>
                        <a:ext cx="11430000" cy="55234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62890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742631"/>
            <a:ext cx="11430000" cy="233294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方法点睛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解决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与椭圆有关的最值问题的三种方法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定义法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利用定义转化为几何问题处理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数形结合法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利用数与形的结合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挖掘几何特征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进而求解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函数法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探求函数模型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转化为函数的最值问题来处理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8318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4582083"/>
              </p:ext>
            </p:extLst>
          </p:nvPr>
        </p:nvGraphicFramePr>
        <p:xfrm>
          <a:off x="381000" y="734720"/>
          <a:ext cx="11430000" cy="40171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10" name="文档" r:id="rId3" imgW="4521746" imgH="1589181" progId="Word.Document.12">
                  <p:embed/>
                </p:oleObj>
              </mc:Choice>
              <mc:Fallback>
                <p:oleObj name="文档" r:id="rId3" imgW="4521746" imgH="158918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1000" y="734720"/>
                        <a:ext cx="11430000" cy="40171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62002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29766"/>
              </p:ext>
            </p:extLst>
          </p:nvPr>
        </p:nvGraphicFramePr>
        <p:xfrm>
          <a:off x="55563" y="-63789"/>
          <a:ext cx="11401425" cy="6521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4" name="文档" r:id="rId3" imgW="4510061" imgH="2589022" progId="Word.Document.12">
                  <p:embed/>
                </p:oleObj>
              </mc:Choice>
              <mc:Fallback>
                <p:oleObj name="文档" r:id="rId3" imgW="4510061" imgH="258902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5563" y="-63789"/>
                        <a:ext cx="11401425" cy="6521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19084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6804479"/>
              </p:ext>
            </p:extLst>
          </p:nvPr>
        </p:nvGraphicFramePr>
        <p:xfrm>
          <a:off x="59028" y="112194"/>
          <a:ext cx="11430000" cy="65270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8" name="文档" r:id="rId3" imgW="4510061" imgH="2585779" progId="Word.Document.12">
                  <p:embed/>
                </p:oleObj>
              </mc:Choice>
              <mc:Fallback>
                <p:oleObj name="文档" r:id="rId3" imgW="4510061" imgH="258577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9028" y="112194"/>
                        <a:ext cx="11430000" cy="65270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40505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617835" y="2558415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334801" y="2587481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3612492" y="2507615"/>
            <a:ext cx="458787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隶书" panose="02010509060101010101" pitchFamily="49" charset="-122"/>
                <a:sym typeface="+mn-ea"/>
              </a:rPr>
              <a:t>随堂练习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隶书" panose="02010509060101010101" pitchFamily="49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3126907"/>
              </p:ext>
            </p:extLst>
          </p:nvPr>
        </p:nvGraphicFramePr>
        <p:xfrm>
          <a:off x="496909" y="742173"/>
          <a:ext cx="11430000" cy="20080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94" name="文档" r:id="rId3" imgW="4521746" imgH="794410" progId="Word.Document.12">
                  <p:embed/>
                </p:oleObj>
              </mc:Choice>
              <mc:Fallback>
                <p:oleObj name="文档" r:id="rId3" imgW="4521746" imgH="79441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96909" y="742173"/>
                        <a:ext cx="11430000" cy="20080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8922677"/>
              </p:ext>
            </p:extLst>
          </p:nvPr>
        </p:nvGraphicFramePr>
        <p:xfrm>
          <a:off x="496909" y="2796810"/>
          <a:ext cx="11430000" cy="15063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95" name="文档" r:id="rId5" imgW="4521746" imgH="595898" progId="Word.Document.12">
                  <p:embed/>
                </p:oleObj>
              </mc:Choice>
              <mc:Fallback>
                <p:oleObj name="文档" r:id="rId5" imgW="4521746" imgH="59589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96909" y="2796810"/>
                        <a:ext cx="11430000" cy="15063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4393657"/>
            <a:ext cx="1330814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6121955"/>
              </p:ext>
            </p:extLst>
          </p:nvPr>
        </p:nvGraphicFramePr>
        <p:xfrm>
          <a:off x="498141" y="-23804"/>
          <a:ext cx="11430000" cy="30126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18" name="文档" r:id="rId3" imgW="4521746" imgH="1191796" progId="Word.Document.12">
                  <p:embed/>
                </p:oleObj>
              </mc:Choice>
              <mc:Fallback>
                <p:oleObj name="文档" r:id="rId3" imgW="4521746" imgH="119179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98141" y="-23804"/>
                        <a:ext cx="11430000" cy="30126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5535778"/>
              </p:ext>
            </p:extLst>
          </p:nvPr>
        </p:nvGraphicFramePr>
        <p:xfrm>
          <a:off x="498141" y="2950163"/>
          <a:ext cx="11430000" cy="30126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19" name="文档" r:id="rId5" imgW="4521746" imgH="1191796" progId="Word.Document.12">
                  <p:embed/>
                </p:oleObj>
              </mc:Choice>
              <mc:Fallback>
                <p:oleObj name="文档" r:id="rId5" imgW="4521746" imgH="119179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98141" y="2950163"/>
                        <a:ext cx="11430000" cy="30126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5898372"/>
            <a:ext cx="1330814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25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8115805"/>
              </p:ext>
            </p:extLst>
          </p:nvPr>
        </p:nvGraphicFramePr>
        <p:xfrm>
          <a:off x="496909" y="274785"/>
          <a:ext cx="11430000" cy="15063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42" name="文档" r:id="rId3" imgW="4521746" imgH="595898" progId="Word.Document.12">
                  <p:embed/>
                </p:oleObj>
              </mc:Choice>
              <mc:Fallback>
                <p:oleObj name="文档" r:id="rId3" imgW="4521746" imgH="59589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96909" y="274785"/>
                        <a:ext cx="11430000" cy="15063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8918092"/>
              </p:ext>
            </p:extLst>
          </p:nvPr>
        </p:nvGraphicFramePr>
        <p:xfrm>
          <a:off x="496909" y="1806845"/>
          <a:ext cx="11430000" cy="15063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43" name="文档" r:id="rId5" imgW="4521746" imgH="595898" progId="Word.Document.12">
                  <p:embed/>
                </p:oleObj>
              </mc:Choice>
              <mc:Fallback>
                <p:oleObj name="文档" r:id="rId5" imgW="4521746" imgH="59589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96909" y="1806845"/>
                        <a:ext cx="11430000" cy="15063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3235873"/>
            <a:ext cx="11430000" cy="227267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∵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直线与椭圆有两个公共点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解得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m&lt;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又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≠3,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≠3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(1,3)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∪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+∞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1115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5493478"/>
              </p:ext>
            </p:extLst>
          </p:nvPr>
        </p:nvGraphicFramePr>
        <p:xfrm>
          <a:off x="498141" y="719060"/>
          <a:ext cx="11430000" cy="10045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78" name="文档" r:id="rId3" imgW="4521746" imgH="397386" progId="Word.Document.12">
                  <p:embed/>
                </p:oleObj>
              </mc:Choice>
              <mc:Fallback>
                <p:oleObj name="文档" r:id="rId3" imgW="4521746" imgH="3973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98141" y="719060"/>
                        <a:ext cx="11430000" cy="10045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6322650"/>
              </p:ext>
            </p:extLst>
          </p:nvPr>
        </p:nvGraphicFramePr>
        <p:xfrm>
          <a:off x="498141" y="1607655"/>
          <a:ext cx="11430000" cy="25108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79" name="文档" r:id="rId5" imgW="4521746" imgH="993283" progId="Word.Document.12">
                  <p:embed/>
                </p:oleObj>
              </mc:Choice>
              <mc:Fallback>
                <p:oleObj name="文档" r:id="rId5" imgW="4521746" imgH="99328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98141" y="1607655"/>
                        <a:ext cx="11430000" cy="25108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0432226"/>
              </p:ext>
            </p:extLst>
          </p:nvPr>
        </p:nvGraphicFramePr>
        <p:xfrm>
          <a:off x="498141" y="4167489"/>
          <a:ext cx="11430000" cy="10045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80" name="文档" r:id="rId7" imgW="4521746" imgH="397386" progId="Word.Document.12">
                  <p:embed/>
                </p:oleObj>
              </mc:Choice>
              <mc:Fallback>
                <p:oleObj name="文档" r:id="rId7" imgW="4521746" imgH="3973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98141" y="4167489"/>
                        <a:ext cx="11430000" cy="10045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25670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0134076"/>
              </p:ext>
            </p:extLst>
          </p:nvPr>
        </p:nvGraphicFramePr>
        <p:xfrm>
          <a:off x="498141" y="85405"/>
          <a:ext cx="11430000" cy="15063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90" name="文档" r:id="rId3" imgW="4521746" imgH="595898" progId="Word.Document.12">
                  <p:embed/>
                </p:oleObj>
              </mc:Choice>
              <mc:Fallback>
                <p:oleObj name="文档" r:id="rId3" imgW="4521746" imgH="59589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98141" y="85405"/>
                        <a:ext cx="11430000" cy="15063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6550633"/>
              </p:ext>
            </p:extLst>
          </p:nvPr>
        </p:nvGraphicFramePr>
        <p:xfrm>
          <a:off x="498141" y="1360964"/>
          <a:ext cx="11430000" cy="55234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91" name="文档" r:id="rId5" imgW="4521746" imgH="2185079" progId="Word.Document.12">
                  <p:embed/>
                </p:oleObj>
              </mc:Choice>
              <mc:Fallback>
                <p:oleObj name="文档" r:id="rId5" imgW="4521746" imgH="218507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98141" y="1360964"/>
                        <a:ext cx="11430000" cy="55234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31072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阴影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5712" y="1511279"/>
            <a:ext cx="7280625" cy="339612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809976" y="4908623"/>
            <a:ext cx="8572049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lnSpc>
                <a:spcPct val="150000"/>
              </a:lnSpc>
            </a:pPr>
            <a:r>
              <a:rPr lang="zh-CN" altLang="en-US" sz="2400" smtClean="0">
                <a:solidFill>
                  <a:srgbClr val="55463D"/>
                </a:solidFill>
              </a:rPr>
              <a:t>更多精彩内容请登录</a:t>
            </a:r>
            <a:r>
              <a:rPr lang="zh-CN" altLang="en-US" sz="2800" b="1" smtClean="0">
                <a:solidFill>
                  <a:srgbClr val="55463D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志鸿优化网</a:t>
            </a:r>
            <a:endParaRPr lang="en-US" altLang="zh-CN" sz="2400" b="1" smtClean="0">
              <a:solidFill>
                <a:srgbClr val="55463D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ctr" fontAlgn="auto">
              <a:lnSpc>
                <a:spcPct val="150000"/>
              </a:lnSpc>
            </a:pPr>
            <a:r>
              <a:rPr lang="en-US" altLang="zh-CN" sz="2400" smtClean="0">
                <a:solidFill>
                  <a:srgbClr val="55463D"/>
                </a:solidFill>
              </a:rPr>
              <a:t>http</a:t>
            </a:r>
            <a:r>
              <a:rPr lang="en-US" altLang="zh-CN" sz="2400">
                <a:solidFill>
                  <a:srgbClr val="55463D"/>
                </a:solidFill>
              </a:rPr>
              <a:t>://www.zhyh.org</a:t>
            </a:r>
            <a:r>
              <a:rPr lang="en-US" altLang="zh-CN" sz="2400" smtClean="0">
                <a:solidFill>
                  <a:srgbClr val="55463D"/>
                </a:solidFill>
              </a:rPr>
              <a:t>/</a:t>
            </a:r>
            <a:endParaRPr lang="zh-CN" altLang="en-US" sz="2400">
              <a:solidFill>
                <a:srgbClr val="55463D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>
            <a:clrChange>
              <a:clrFrom>
                <a:srgbClr val="ECECEE"/>
              </a:clrFrom>
              <a:clrTo>
                <a:srgbClr val="ECECE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23290" y="4517181"/>
            <a:ext cx="2325712" cy="2253486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451123" y="2222090"/>
            <a:ext cx="499478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b="1">
                <a:solidFill>
                  <a:srgbClr val="55463D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本  课  结  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800" decel="100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204519"/>
  <p:tag name="MH_LIBRARY" val="GRAPHIC"/>
  <p:tag name="MH_ORDER" val="TextBox 3"/>
</p:tagLst>
</file>

<file path=ppt/theme/theme1.xml><?xml version="1.0" encoding="utf-8"?>
<a:theme xmlns:a="http://schemas.openxmlformats.org/drawingml/2006/main" name="1_Office 主题">
  <a:themeElements>
    <a:clrScheme name="模块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1" id="{721B1EAD-A6C0-47A7-B782-D5918D0D228F}" vid="{2963E896-880A-42B6-99FF-93DBD5586BD1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理科模板</Template>
  <TotalTime>163</TotalTime>
  <Words>2066</Words>
  <Application>Microsoft Office PowerPoint</Application>
  <PresentationFormat>宽屏</PresentationFormat>
  <Paragraphs>146</Paragraphs>
  <Slides>49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49</vt:i4>
      </vt:variant>
    </vt:vector>
  </HeadingPairs>
  <TitlesOfParts>
    <vt:vector size="69" baseType="lpstr">
      <vt:lpstr>NEU-BZ-S92</vt:lpstr>
      <vt:lpstr>Open Sans</vt:lpstr>
      <vt:lpstr>方正书宋_GBK</vt:lpstr>
      <vt:lpstr>方正姚体</vt:lpstr>
      <vt:lpstr>方正正中黑简体</vt:lpstr>
      <vt:lpstr>仿宋</vt:lpstr>
      <vt:lpstr>黑体</vt:lpstr>
      <vt:lpstr>华文细黑</vt:lpstr>
      <vt:lpstr>华文新魏</vt:lpstr>
      <vt:lpstr>楷体</vt:lpstr>
      <vt:lpstr>隶书</vt:lpstr>
      <vt:lpstr>思源黑体 CN Medium</vt:lpstr>
      <vt:lpstr>宋体</vt:lpstr>
      <vt:lpstr>微软雅黑</vt:lpstr>
      <vt:lpstr>Arial</vt:lpstr>
      <vt:lpstr>Calibri</vt:lpstr>
      <vt:lpstr>Cambria Math</vt:lpstr>
      <vt:lpstr>Times New Roman</vt:lpstr>
      <vt:lpstr>1_Office 主题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ITSK.com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SkyUser</dc:creator>
  <cp:lastModifiedBy>SkyUser</cp:lastModifiedBy>
  <cp:revision>33</cp:revision>
  <dcterms:created xsi:type="dcterms:W3CDTF">2021-08-30T08:30:26Z</dcterms:created>
  <dcterms:modified xsi:type="dcterms:W3CDTF">2025-08-09T09:24:18Z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2052-11.1.0.10000</vt:lpwstr>
  </property>
</Properties>
</file>