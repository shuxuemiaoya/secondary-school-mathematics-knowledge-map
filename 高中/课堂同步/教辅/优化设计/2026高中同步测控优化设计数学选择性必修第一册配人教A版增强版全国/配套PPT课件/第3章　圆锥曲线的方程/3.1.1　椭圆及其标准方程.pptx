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407" r:id="rId15"/>
    <p:sldId id="394" r:id="rId16"/>
    <p:sldId id="699" r:id="rId17"/>
    <p:sldId id="700" r:id="rId18"/>
    <p:sldId id="701" r:id="rId19"/>
    <p:sldId id="702" r:id="rId20"/>
    <p:sldId id="706" r:id="rId21"/>
    <p:sldId id="707" r:id="rId22"/>
    <p:sldId id="708" r:id="rId23"/>
    <p:sldId id="710" r:id="rId24"/>
    <p:sldId id="711" r:id="rId25"/>
    <p:sldId id="402" r:id="rId26"/>
    <p:sldId id="712" r:id="rId27"/>
    <p:sldId id="714" r:id="rId28"/>
    <p:sldId id="715" r:id="rId29"/>
    <p:sldId id="498" r:id="rId30"/>
    <p:sldId id="730" r:id="rId31"/>
    <p:sldId id="733" r:id="rId32"/>
    <p:sldId id="743" r:id="rId33"/>
    <p:sldId id="744" r:id="rId34"/>
    <p:sldId id="740" r:id="rId35"/>
    <p:sldId id="739" r:id="rId36"/>
    <p:sldId id="745" r:id="rId37"/>
    <p:sldId id="398" r:id="rId38"/>
    <p:sldId id="395" r:id="rId39"/>
    <p:sldId id="756" r:id="rId40"/>
    <p:sldId id="757" r:id="rId41"/>
    <p:sldId id="758" r:id="rId42"/>
    <p:sldId id="490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slide" Target="../slides/slide15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4.xml"/><Relationship Id="rId4" Type="http://schemas.openxmlformats.org/officeDocument/2006/relationships/slide" Target="../slides/slide2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148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783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417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051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3.docx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7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package" Target="../embeddings/Microsoft_Word___25.docx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e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1.png"/><Relationship Id="rId5" Type="http://schemas.openxmlformats.org/officeDocument/2006/relationships/image" Target="../media/image27.emf"/><Relationship Id="rId15" Type="http://schemas.openxmlformats.org/officeDocument/2006/relationships/package" Target="../embeddings/Microsoft_Word___260.docx"/><Relationship Id="rId10" Type="http://schemas.openxmlformats.org/officeDocument/2006/relationships/image" Target="../media/image28.emf"/><Relationship Id="rId4" Type="http://schemas.openxmlformats.org/officeDocument/2006/relationships/package" Target="../embeddings/Microsoft_Word___23.docx"/><Relationship Id="rId9" Type="http://schemas.openxmlformats.org/officeDocument/2006/relationships/package" Target="../embeddings/Microsoft_Word___250.docx"/><Relationship Id="rId14" Type="http://schemas.openxmlformats.org/officeDocument/2006/relationships/image" Target="../media/image2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6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8.docx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5.jpeg"/><Relationship Id="rId11" Type="http://schemas.openxmlformats.org/officeDocument/2006/relationships/package" Target="../embeddings/Microsoft_Word___29.docx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29.bin"/><Relationship Id="rId4" Type="http://schemas.openxmlformats.org/officeDocument/2006/relationships/package" Target="../embeddings/Microsoft_Word___27.docx"/><Relationship Id="rId9" Type="http://schemas.openxmlformats.org/officeDocument/2006/relationships/image" Target="../media/image3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0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1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35.docx"/><Relationship Id="rId4" Type="http://schemas.openxmlformats.org/officeDocument/2006/relationships/package" Target="../embeddings/Microsoft_Word___33.docx"/><Relationship Id="rId9" Type="http://schemas.openxmlformats.org/officeDocument/2006/relationships/oleObject" Target="../embeddings/oleObject35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6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7.emf"/><Relationship Id="rId5" Type="http://schemas.openxmlformats.org/officeDocument/2006/relationships/image" Target="../media/image45.emf"/><Relationship Id="rId10" Type="http://schemas.openxmlformats.org/officeDocument/2006/relationships/package" Target="../embeddings/Microsoft_Word___40.docx"/><Relationship Id="rId4" Type="http://schemas.openxmlformats.org/officeDocument/2006/relationships/package" Target="../embeddings/Microsoft_Word___38.docx"/><Relationship Id="rId9" Type="http://schemas.openxmlformats.org/officeDocument/2006/relationships/oleObject" Target="../embeddings/oleObject4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1.bin"/><Relationship Id="rId7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41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43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3.1.1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椭圆及其标准方程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233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经历从具体情境中抽象出椭圆的过程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掌握椭圆的定义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掌握椭圆的标准方程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掌握用定义和待定系数法求椭圆的标准方程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抽象、直观想象、逻辑推理与数学运算素养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9740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一、椭圆的定义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给你两枚图钉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一条无弹性定长的细绳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一张图板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一支铅笔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若将绳的两端系在同一枚图钉上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用笔尖挣紧细绳画图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则所得的图形是什么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若将细绳的两端分别固定在两枚图钉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两枚图钉分开一定距离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小于绳长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用笔尖挣紧细绳画图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则画出的图形又是什么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此时笔尖所在动点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与两枚图钉所在定点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满足的条件是什么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画出的图形是一个椭圆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满足的条件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绳长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X1TRAX145.eps" descr="id:214751709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00131" y="3987540"/>
            <a:ext cx="2739824" cy="170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272189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731146"/>
              </p:ext>
            </p:extLst>
          </p:nvPr>
        </p:nvGraphicFramePr>
        <p:xfrm>
          <a:off x="381000" y="1419422"/>
          <a:ext cx="11430000" cy="425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4" imgW="4521746" imgH="1684467" progId="Word.Document.12">
                  <p:embed/>
                </p:oleObj>
              </mc:Choice>
              <mc:Fallback>
                <p:oleObj name="文档" r:id="rId4" imgW="4521746" imgH="1684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419422"/>
                        <a:ext cx="11430000" cy="4257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074854" y="1510883"/>
            <a:ext cx="2851301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67252" y="2539583"/>
            <a:ext cx="665040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00591" y="3063974"/>
            <a:ext cx="720143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107713" y="3063974"/>
            <a:ext cx="708920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077994" y="3849430"/>
            <a:ext cx="2442863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68479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说法正确的是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两点的距离之和等于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的点的轨迹是椭圆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两点的距离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的点的轨迹是椭圆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两点的距离之和等于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的点的轨迹是椭圆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距离相等的点的轨迹是椭圆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两点的距离之和为常数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的点的轨迹是线段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两点的距离之和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故这样的轨迹不存在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根据椭圆的定义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知轨迹是椭圆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点的轨迹是线段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的垂直平分线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967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二、椭圆的标准方程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我们知道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直线和圆都有方程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那么根据椭圆的特征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我们怎样建立平面直角坐标系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才能使椭圆的方程形式简单呢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轴上为例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椭圆具有对称性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过两个焦点的直线是它的对称轴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故我们以经过椭圆两个焦点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的垂直平分线为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X1TRAX01.eps" descr="id:2147496516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928" y="3572928"/>
            <a:ext cx="4006145" cy="271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730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是椭圆上任意一点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左右两个焦点分别为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椭圆的焦距为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的距离之和等于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满足的几何条件是什么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M||MF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用坐标表示上述几何条件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会得到怎样的表达式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化简这个表达式会得到什么样的式子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863403"/>
              </p:ext>
            </p:extLst>
          </p:nvPr>
        </p:nvGraphicFramePr>
        <p:xfrm>
          <a:off x="51516" y="3743163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文档" r:id="rId4" imgW="4521746" imgH="794410" progId="Word.Document.12">
                  <p:embed/>
                </p:oleObj>
              </mc:Choice>
              <mc:Fallback>
                <p:oleObj name="文档" r:id="rId4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3743163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MX1TRAX02.eps" descr="id:2147496523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5025" y="1635569"/>
            <a:ext cx="3641950" cy="2493317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322073"/>
              </p:ext>
            </p:extLst>
          </p:nvPr>
        </p:nvGraphicFramePr>
        <p:xfrm>
          <a:off x="59028" y="623204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28" y="623204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242805"/>
            <a:ext cx="740298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|=|OF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|MO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|=b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344004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的标准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615575"/>
              </p:ext>
            </p:extLst>
          </p:nvPr>
        </p:nvGraphicFramePr>
        <p:xfrm>
          <a:off x="381000" y="1393664"/>
          <a:ext cx="11430000" cy="4289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文档" r:id="rId4" imgW="4521746" imgH="1697100" progId="Word.Document.12">
                  <p:embed/>
                </p:oleObj>
              </mc:Choice>
              <mc:Fallback>
                <p:oleObj name="文档" r:id="rId4" imgW="4521746" imgH="1697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393664"/>
                        <a:ext cx="11430000" cy="4289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892795" y="2137030"/>
            <a:ext cx="1381084" cy="69485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904492" y="2827404"/>
            <a:ext cx="13752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605836" y="2137030"/>
            <a:ext cx="1394895" cy="69485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617562" y="2827404"/>
            <a:ext cx="13890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923955" y="3030030"/>
            <a:ext cx="776246" cy="40937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129300" y="3030030"/>
            <a:ext cx="776246" cy="40937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83326" y="3593854"/>
            <a:ext cx="776246" cy="37215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404114" y="4116631"/>
            <a:ext cx="776246" cy="37215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151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椭圆的焦点坐标为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则椭圆的方程为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174753"/>
              </p:ext>
            </p:extLst>
          </p:nvPr>
        </p:nvGraphicFramePr>
        <p:xfrm>
          <a:off x="51516" y="1233488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文档" r:id="rId4" imgW="4521746" imgH="794410" progId="Word.Document.12">
                  <p:embed/>
                </p:oleObj>
              </mc:Choice>
              <mc:Fallback>
                <p:oleObj name="文档" r:id="rId4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1233488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173852"/>
              </p:ext>
            </p:extLst>
          </p:nvPr>
        </p:nvGraphicFramePr>
        <p:xfrm>
          <a:off x="51516" y="3228706"/>
          <a:ext cx="11430000" cy="35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文档" r:id="rId7" imgW="4521746" imgH="1390308" progId="Word.Document.12">
                  <p:embed/>
                </p:oleObj>
              </mc:Choice>
              <mc:Fallback>
                <p:oleObj name="文档" r:id="rId7" imgW="4521746" imgH="1390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516" y="3228706"/>
                        <a:ext cx="11430000" cy="3514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1075141" y="640099"/>
            <a:ext cx="444352" cy="6049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855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平面内与两个定点的距离的和等于常数的点的轨迹就是椭圆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在椭圆定义中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则点的轨迹为线段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到两定点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的距离之和为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的轨迹为椭圆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896390"/>
              </p:ext>
            </p:extLst>
          </p:nvPr>
        </p:nvGraphicFramePr>
        <p:xfrm>
          <a:off x="51516" y="3501386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文档" r:id="rId4" imgW="4521746" imgH="397386" progId="Word.Document.12">
                  <p:embed/>
                </p:oleObj>
              </mc:Choice>
              <mc:Fallback>
                <p:oleObj name="文档" r:id="rId4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3501386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41497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椭圆的两种标准方程中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虽然焦点位置不同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但都有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椭圆的两种标准方程可以写成统一形式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40592" y="1408537"/>
            <a:ext cx="47119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75310" y="2529465"/>
            <a:ext cx="428363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90896" y="3111906"/>
            <a:ext cx="47119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56551" y="3813723"/>
            <a:ext cx="47119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445142" y="4555728"/>
            <a:ext cx="428363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498569" y="5668438"/>
            <a:ext cx="428363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求椭圆的标准方程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709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求适合下列条件的椭圆的标准方程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两个焦点的坐标分别为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且椭圆经过点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(5,0);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501385"/>
              </p:ext>
            </p:extLst>
          </p:nvPr>
        </p:nvGraphicFramePr>
        <p:xfrm>
          <a:off x="51518" y="237370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8" y="237370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93152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求椭圆的标准方程关键是确定焦点的位置及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若不能确定焦点位置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则要讨论焦点在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轴上还是在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48421"/>
            <a:ext cx="5004896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椭圆的焦点在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940088"/>
              </p:ext>
            </p:extLst>
          </p:nvPr>
        </p:nvGraphicFramePr>
        <p:xfrm>
          <a:off x="51516" y="609958"/>
          <a:ext cx="11430000" cy="6025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4" imgW="4521746" imgH="2383592" progId="Word.Document.12">
                  <p:embed/>
                </p:oleObj>
              </mc:Choice>
              <mc:Fallback>
                <p:oleObj name="文档" r:id="rId4" imgW="4521746" imgH="2383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609958"/>
                        <a:ext cx="11430000" cy="6025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649248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当椭圆的焦点在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04016"/>
              </p:ext>
            </p:extLst>
          </p:nvPr>
        </p:nvGraphicFramePr>
        <p:xfrm>
          <a:off x="51516" y="1285114"/>
          <a:ext cx="11430000" cy="35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4521746" imgH="1390308" progId="Word.Document.12">
                  <p:embed/>
                </p:oleObj>
              </mc:Choice>
              <mc:Fallback>
                <p:oleObj name="文档" r:id="rId4" imgW="4521746" imgH="1390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1285114"/>
                        <a:ext cx="11430000" cy="3514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516" y="542636"/>
            <a:ext cx="11430000" cy="4613292"/>
            <a:chOff x="51516" y="1027424"/>
            <a:chExt cx="11430000" cy="46132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27424"/>
              <a:ext cx="475482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轴上时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7254915"/>
                </p:ext>
              </p:extLst>
            </p:nvPr>
          </p:nvGraphicFramePr>
          <p:xfrm>
            <a:off x="51516" y="1623608"/>
            <a:ext cx="11430000" cy="4017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name="文档" r:id="rId4" imgW="4510061" imgH="1626428" progId="Word.Document.12">
                    <p:embed/>
                  </p:oleObj>
                </mc:Choice>
                <mc:Fallback>
                  <p:oleObj name="文档" r:id="rId4" imgW="4510061" imgH="16264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516" y="1623608"/>
                          <a:ext cx="11430000" cy="40171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743008"/>
              </p:ext>
            </p:extLst>
          </p:nvPr>
        </p:nvGraphicFramePr>
        <p:xfrm>
          <a:off x="51516" y="182263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文档" r:id="rId4" imgW="4521746" imgH="1191796" progId="Word.Document.12">
                  <p:embed/>
                </p:oleObj>
              </mc:Choice>
              <mc:Fallback>
                <p:oleObj name="文档" r:id="rId4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182263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9498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利用待定系数法求椭圆标准方程的步骤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先确定焦点位置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设出方程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寻求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的等量关系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代入所设方程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当焦点位置不确定时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可设椭圆方程为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因为它包括焦点在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两类情况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所以可以避免分类讨论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从而简化了运算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196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求适合下列条件的椭圆的标准方程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中心在原点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焦点在坐标轴上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且经过两点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583200"/>
              </p:ext>
            </p:extLst>
          </p:nvPr>
        </p:nvGraphicFramePr>
        <p:xfrm>
          <a:off x="51516" y="1436808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1436808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1516" y="2865836"/>
            <a:ext cx="11759484" cy="3200162"/>
            <a:chOff x="51516" y="2969746"/>
            <a:chExt cx="11759484" cy="320016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96974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设椭圆方程为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因为椭圆过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1640243"/>
                </p:ext>
              </p:extLst>
            </p:nvPr>
          </p:nvGraphicFramePr>
          <p:xfrm>
            <a:off x="51516" y="4161811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9" name="文档" r:id="rId7" imgW="4510061" imgH="794654" progId="Word.Document.12">
                    <p:embed/>
                  </p:oleObj>
                </mc:Choice>
                <mc:Fallback>
                  <p:oleObj name="文档" r:id="rId7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516" y="4161811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395" y="330953"/>
            <a:ext cx="11430000" cy="5119875"/>
            <a:chOff x="64395" y="705029"/>
            <a:chExt cx="11430000" cy="511987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5029"/>
              <a:ext cx="613341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3939973"/>
                </p:ext>
              </p:extLst>
            </p:nvPr>
          </p:nvGraphicFramePr>
          <p:xfrm>
            <a:off x="64395" y="1305999"/>
            <a:ext cx="11430000" cy="4518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7" name="文档" r:id="rId4" imgW="4521746" imgH="1787694" progId="Word.Document.12">
                    <p:embed/>
                  </p:oleObj>
                </mc:Choice>
                <mc:Fallback>
                  <p:oleObj name="文档" r:id="rId4" imgW="4521746" imgH="17876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395" y="1305999"/>
                          <a:ext cx="11430000" cy="45189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027" y="741075"/>
            <a:ext cx="11430000" cy="4154006"/>
            <a:chOff x="59027" y="1246367"/>
            <a:chExt cx="11430000" cy="415400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6367"/>
              <a:ext cx="571342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2033047"/>
                </p:ext>
              </p:extLst>
            </p:nvPr>
          </p:nvGraphicFramePr>
          <p:xfrm>
            <a:off x="59027" y="1885974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" name="文档" r:id="rId4" imgW="4521746" imgH="1390308" progId="Word.Document.12">
                    <p:embed/>
                  </p:oleObj>
                </mc:Choice>
                <mc:Fallback>
                  <p:oleObj name="文档" r:id="rId4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027" y="1885974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85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516" y="417423"/>
            <a:ext cx="11430000" cy="5634550"/>
            <a:chOff x="51516" y="417423"/>
            <a:chExt cx="11430000" cy="563455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17423"/>
              <a:ext cx="577433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255584"/>
                </p:ext>
              </p:extLst>
            </p:nvPr>
          </p:nvGraphicFramePr>
          <p:xfrm>
            <a:off x="51516" y="1031272"/>
            <a:ext cx="11430000" cy="5020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5" name="文档" r:id="rId4" imgW="4521746" imgH="1986206" progId="Word.Document.12">
                    <p:embed/>
                  </p:oleObj>
                </mc:Choice>
                <mc:Fallback>
                  <p:oleObj name="文档" r:id="rId4" imgW="4521746" imgH="19862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516" y="1031272"/>
                          <a:ext cx="11430000" cy="50207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425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027" y="692150"/>
            <a:ext cx="11430000" cy="4133044"/>
            <a:chOff x="59027" y="1246367"/>
            <a:chExt cx="11430000" cy="413304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6367"/>
              <a:ext cx="847700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设椭圆的方程为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650896"/>
                </p:ext>
              </p:extLst>
            </p:nvPr>
          </p:nvGraphicFramePr>
          <p:xfrm>
            <a:off x="59027" y="1865012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9" name="文档" r:id="rId4" imgW="4521746" imgH="1390308" progId="Word.Document.12">
                    <p:embed/>
                  </p:oleObj>
                </mc:Choice>
                <mc:Fallback>
                  <p:oleObj name="文档" r:id="rId4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027" y="1865012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2059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椭圆的定义及其应用</a:t>
                </a:r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77014"/>
              </p:ext>
            </p:extLst>
          </p:nvPr>
        </p:nvGraphicFramePr>
        <p:xfrm>
          <a:off x="381000" y="1422028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422028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127442"/>
              </p:ext>
            </p:extLst>
          </p:nvPr>
        </p:nvGraphicFramePr>
        <p:xfrm>
          <a:off x="381000" y="305096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305096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028" y="3764"/>
            <a:ext cx="11751972" cy="6194087"/>
            <a:chOff x="59028" y="190802"/>
            <a:chExt cx="11751972" cy="619408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6379108"/>
                </p:ext>
              </p:extLst>
            </p:nvPr>
          </p:nvGraphicFramePr>
          <p:xfrm>
            <a:off x="59028" y="190802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0" name="文档" r:id="rId4" imgW="4521746" imgH="794410" progId="Word.Document.12">
                    <p:embed/>
                  </p:oleObj>
                </mc:Choice>
                <mc:Fallback>
                  <p:oleObj name="文档" r:id="rId4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028" y="190802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077556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由椭圆的定义得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将等式两边进行完全平方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75,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9951803"/>
                </p:ext>
              </p:extLst>
            </p:nvPr>
          </p:nvGraphicFramePr>
          <p:xfrm>
            <a:off x="59028" y="5380383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1" name="文档" r:id="rId7" imgW="4521746" imgH="397386" progId="Word.Document.12">
                    <p:embed/>
                  </p:oleObj>
                </mc:Choice>
                <mc:Fallback>
                  <p:oleObj name="文档" r:id="rId7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028" y="5380383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椭圆的定义具有双向作用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的轨迹是椭圆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反之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椭圆上任意一点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到两焦点的距离之和必为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椭圆中的焦点三角形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椭圆上一点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与椭圆的两个焦点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构成的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称为焦点三角形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解关于椭圆的焦点三角形的问题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通常要利用椭圆的定义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结合正弦定理、余弦定理等知识求解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962973"/>
              </p:ext>
            </p:extLst>
          </p:nvPr>
        </p:nvGraphicFramePr>
        <p:xfrm>
          <a:off x="385763" y="-66675"/>
          <a:ext cx="11403012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文档" r:id="rId4" imgW="4510061" imgH="596081" progId="Word.Document.12">
                  <p:embed/>
                </p:oleObj>
              </mc:Choice>
              <mc:Fallback>
                <p:oleObj name="文档" r:id="rId4" imgW="4510061" imgH="596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763" y="-66675"/>
                        <a:ext cx="11403012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9027" y="1441907"/>
            <a:ext cx="11751973" cy="5192154"/>
            <a:chOff x="59027" y="1441907"/>
            <a:chExt cx="11751973" cy="519215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44768418"/>
                    </p:ext>
                  </p:extLst>
                </p:nvPr>
              </p:nvGraphicFramePr>
              <p:xfrm>
                <a:off x="59027" y="1441907"/>
                <a:ext cx="11430000" cy="150630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22" name="文档" r:id="rId7" imgW="4521746" imgH="595898" progId="Word.Document.12">
                        <p:embed/>
                      </p:oleObj>
                    </mc:Choice>
                    <mc:Fallback>
                      <p:oleObj name="文档" r:id="rId7" imgW="4521746" imgH="595898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027" y="1441907"/>
                              <a:ext cx="11430000" cy="15063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44768418"/>
                    </p:ext>
                  </p:extLst>
                </p:nvPr>
              </p:nvGraphicFramePr>
              <p:xfrm>
                <a:off x="59027" y="1441907"/>
                <a:ext cx="11430000" cy="150630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498" name="文档" r:id="rId9" imgW="4521746" imgH="595898" progId="Word.Document.12">
                        <p:embed/>
                      </p:oleObj>
                    </mc:Choice>
                    <mc:Fallback>
                      <p:oleObj name="文档" r:id="rId9" imgW="4521746" imgH="595898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027" y="1441907"/>
                              <a:ext cx="11430000" cy="15063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>
                  <a:spLocks noChangeAspect="1"/>
                </p:cNvSpPr>
                <p:nvPr/>
              </p:nvSpPr>
              <p:spPr>
                <a:xfrm>
                  <a:off x="381000" y="2983436"/>
                  <a:ext cx="11430000" cy="1755673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indent="279400"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188085" algn="l"/>
                      <a:tab pos="2163445" algn="l"/>
                      <a:tab pos="3142615" algn="l"/>
                      <a:tab pos="4190365" algn="l"/>
                    </a:tabLst>
                  </a:pP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由余弦定理知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·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cos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30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effectLst/>
                      <a:latin typeface="宋体" panose="02010600030101010101" pitchFamily="2" charset="-122"/>
                      <a:ea typeface="方正书宋_GBK" panose="03000509000000000000" pitchFamily="65" charset="-122"/>
                      <a:cs typeface="Times New Roman" panose="02020603050405020304" pitchFamily="18" charset="0"/>
                    </a:rPr>
                    <a:t>°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=|F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NEU-BZ-S92"/>
                      <a:cs typeface="宋体" panose="02010600030101010101" pitchFamily="2" charset="-122"/>
                    </a:rPr>
                    <a:t>②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 indent="279400"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188085" algn="l"/>
                      <a:tab pos="2163445" algn="l"/>
                      <a:tab pos="3142615" algn="l"/>
                      <a:tab pos="4190365" algn="l"/>
                    </a:tabLst>
                  </a:pPr>
                  <a:r>
                    <a:rPr lang="zh-CN" altLang="zh-CN" sz="2800" dirty="0">
                      <a:solidFill>
                        <a:srgbClr val="000000"/>
                      </a:solidFill>
                      <a:latin typeface="NEU-BZ-S92"/>
                      <a:cs typeface="宋体" panose="02010600030101010101" pitchFamily="2" charset="-122"/>
                    </a:rPr>
                    <a:t>①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式两边平方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得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baseline="30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·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|=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NEU-BZ-S92"/>
                      <a:cs typeface="宋体" panose="02010600030101010101" pitchFamily="2" charset="-122"/>
                    </a:rPr>
                    <a:t>③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 indent="279400"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188085" algn="l"/>
                      <a:tab pos="2163445" algn="l"/>
                      <a:tab pos="3142615" algn="l"/>
                      <a:tab pos="4190365" algn="l"/>
                    </a:tabLst>
                  </a:pPr>
                  <a:r>
                    <a:rPr lang="zh-CN" altLang="zh-CN" sz="2800" dirty="0">
                      <a:solidFill>
                        <a:srgbClr val="000000"/>
                      </a:solidFill>
                      <a:latin typeface="NEU-BZ-S92"/>
                      <a:cs typeface="宋体" panose="02010600030101010101" pitchFamily="2" charset="-122"/>
                    </a:rPr>
                    <a:t>③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NEU-BZ-S92"/>
                      <a:cs typeface="宋体" panose="02010600030101010101" pitchFamily="2" charset="-122"/>
                    </a:rPr>
                    <a:t>②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得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rad>
                    </m:oMath>
                  </a14:m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·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|PF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|=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16,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2983436"/>
                  <a:ext cx="11430000" cy="1755673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t="-694" b="-90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对象 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7323458"/>
                    </p:ext>
                  </p:extLst>
                </p:nvPr>
              </p:nvGraphicFramePr>
              <p:xfrm>
                <a:off x="59027" y="4625964"/>
                <a:ext cx="11430000" cy="200809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23" name="文档" r:id="rId13" imgW="4521746" imgH="794410" progId="Word.Document.12">
                        <p:embed/>
                      </p:oleObj>
                    </mc:Choice>
                    <mc:Fallback>
                      <p:oleObj name="文档" r:id="rId13" imgW="4521746" imgH="794410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027" y="4625964"/>
                              <a:ext cx="11430000" cy="200809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" name="对象 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7323458"/>
                    </p:ext>
                  </p:extLst>
                </p:nvPr>
              </p:nvGraphicFramePr>
              <p:xfrm>
                <a:off x="59027" y="4625964"/>
                <a:ext cx="11430000" cy="200809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499" name="文档" r:id="rId15" imgW="4521746" imgH="794410" progId="Word.Document.12">
                        <p:embed/>
                      </p:oleObj>
                    </mc:Choice>
                    <mc:Fallback>
                      <p:oleObj name="文档" r:id="rId15" imgW="4521746" imgH="794410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027" y="4625964"/>
                              <a:ext cx="11430000" cy="200809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与椭圆有关的轨迹方程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2160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一动圆过定点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且与定圆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求动圆圆心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根据两圆内切的特点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|MA|+|MB|=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&gt;|AB|=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为焦点的椭圆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进而求出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即可得点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EMX1TRAX03.eps" descr="id:2147496587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0568" y="1726867"/>
            <a:ext cx="3310864" cy="31688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516" y="702541"/>
            <a:ext cx="11759484" cy="4279087"/>
            <a:chOff x="51516" y="1225585"/>
            <a:chExt cx="11759484" cy="427908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25585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|MA|=r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的方程化为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36,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|MB|=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-r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|MB|+|MA|=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&gt;|AB|=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的轨迹是以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为焦点的椭圆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6,2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028100"/>
                </p:ext>
              </p:extLst>
            </p:nvPr>
          </p:nvGraphicFramePr>
          <p:xfrm>
            <a:off x="51516" y="4500166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9" name="文档" r:id="rId4" imgW="4521746" imgH="397386" progId="Word.Document.12">
                    <p:embed/>
                  </p:oleObj>
                </mc:Choice>
                <mc:Fallback>
                  <p:oleObj name="文档" r:id="rId4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516" y="4500166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4613"/>
              </p:ext>
            </p:extLst>
          </p:nvPr>
        </p:nvGraphicFramePr>
        <p:xfrm>
          <a:off x="381000" y="97594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97594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延伸探究H.eps" descr="id:2147494559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587132"/>
            <a:ext cx="2016224" cy="367706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63679" y="2529112"/>
            <a:ext cx="11747321" cy="1627023"/>
            <a:chOff x="63679" y="2913579"/>
            <a:chExt cx="11747321" cy="162702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913579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的中点知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5040255"/>
                </p:ext>
              </p:extLst>
            </p:nvPr>
          </p:nvGraphicFramePr>
          <p:xfrm>
            <a:off x="63679" y="3536096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7" name="文档" r:id="rId8" imgW="4521746" imgH="397386" progId="Word.Document.12">
                    <p:embed/>
                  </p:oleObj>
                </mc:Choice>
                <mc:Fallback>
                  <p:oleObj name="文档" r:id="rId8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3679" y="3536096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490607"/>
              </p:ext>
            </p:extLst>
          </p:nvPr>
        </p:nvGraphicFramePr>
        <p:xfrm>
          <a:off x="63679" y="4053103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8" name="文档" r:id="rId11" imgW="4521746" imgH="397386" progId="Word.Document.12">
                  <p:embed/>
                </p:oleObj>
              </mc:Choice>
              <mc:Fallback>
                <p:oleObj name="文档" r:id="rId11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679" y="4053103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6191"/>
            <a:ext cx="8824852" cy="590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椭圆定义求动点轨迹方程的三个步骤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X1TRAX04.eps" descr="id:2147496608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2860" y="1178784"/>
            <a:ext cx="9446281" cy="430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7314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已知动圆与圆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试求动圆圆心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两定圆的圆心和半径分别为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动圆圆心为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则由题设有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|+|MO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10(10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&gt;|O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为焦点的椭圆上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538077"/>
              </p:ext>
            </p:extLst>
          </p:nvPr>
        </p:nvGraphicFramePr>
        <p:xfrm>
          <a:off x="51516" y="4370141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4" imgW="4521746" imgH="397386" progId="Word.Document.12">
                  <p:embed/>
                </p:oleObj>
              </mc:Choice>
              <mc:Fallback>
                <p:oleObj name="文档" r:id="rId4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16" y="4370141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010059" y="589759"/>
            <a:ext cx="617188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忽略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标准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中的条件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a&gt;b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而致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误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381000" y="311821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错误的原因是没有注意椭圆的标准方程中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方程并不表示椭圆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95943"/>
              </p:ext>
            </p:extLst>
          </p:nvPr>
        </p:nvGraphicFramePr>
        <p:xfrm>
          <a:off x="59028" y="527204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028" y="527204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886365"/>
              </p:ext>
            </p:extLst>
          </p:nvPr>
        </p:nvGraphicFramePr>
        <p:xfrm>
          <a:off x="59028" y="1125720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028" y="1125720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7995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标准方程中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分母都大于零且不相等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不仅要注意分母都大于零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还要注意分母相等时该方程就变成了圆的方程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587643"/>
              </p:ext>
            </p:extLst>
          </p:nvPr>
        </p:nvGraphicFramePr>
        <p:xfrm>
          <a:off x="71906" y="2220514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906" y="2220514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937672"/>
              </p:ext>
            </p:extLst>
          </p:nvPr>
        </p:nvGraphicFramePr>
        <p:xfrm>
          <a:off x="71906" y="3672373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906" y="3672373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00658"/>
              </p:ext>
            </p:extLst>
          </p:nvPr>
        </p:nvGraphicFramePr>
        <p:xfrm>
          <a:off x="458424" y="615373"/>
          <a:ext cx="11275153" cy="158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7" name="文档" r:id="rId10" imgW="4510061" imgH="634642" progId="Word.Document.12">
                  <p:embed/>
                </p:oleObj>
              </mc:Choice>
              <mc:Fallback>
                <p:oleObj name="文档" r:id="rId10" imgW="4510061" imgH="6346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615373"/>
                        <a:ext cx="11275153" cy="158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300432"/>
              </p:ext>
            </p:extLst>
          </p:nvPr>
        </p:nvGraphicFramePr>
        <p:xfrm>
          <a:off x="496910" y="70208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6910" y="70208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57651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	B.5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021557"/>
              </p:ext>
            </p:extLst>
          </p:nvPr>
        </p:nvGraphicFramePr>
        <p:xfrm>
          <a:off x="496910" y="325675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910" y="325675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17110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	B.(0,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	D.(0,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椭圆的焦点在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故焦点坐标为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679123"/>
            <a:ext cx="11430000" cy="1212640"/>
            <a:chOff x="381000" y="910501"/>
            <a:chExt cx="11430000" cy="12126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10501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其上任意一点到两焦点的距离之和为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焦距为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则此椭圆的标准方程为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448681"/>
                </p:ext>
              </p:extLst>
            </p:nvPr>
          </p:nvGraphicFramePr>
          <p:xfrm>
            <a:off x="662749" y="1529700"/>
            <a:ext cx="688975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3" name="文档" r:id="rId4" imgW="281442" imgH="200678" progId="Word.Document.12">
                    <p:embed/>
                  </p:oleObj>
                </mc:Choice>
                <mc:Fallback>
                  <p:oleObj name="文档" r:id="rId4" imgW="281442" imgH="20067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62749" y="1529700"/>
                          <a:ext cx="688975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608651"/>
              </p:ext>
            </p:extLst>
          </p:nvPr>
        </p:nvGraphicFramePr>
        <p:xfrm>
          <a:off x="498141" y="1914670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文档" r:id="rId7" imgW="4521746" imgH="993283" progId="Word.Document.12">
                  <p:embed/>
                </p:oleObj>
              </mc:Choice>
              <mc:Fallback>
                <p:oleObj name="文档" r:id="rId7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8141" y="1914670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886360"/>
              </p:ext>
            </p:extLst>
          </p:nvPr>
        </p:nvGraphicFramePr>
        <p:xfrm>
          <a:off x="498141" y="4226164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5" name="文档" r:id="rId10" imgW="4521746" imgH="397386" progId="Word.Document.12">
                  <p:embed/>
                </p:oleObj>
              </mc:Choice>
              <mc:Fallback>
                <p:oleObj name="文档" r:id="rId10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8141" y="4226164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891367"/>
              </p:ext>
            </p:extLst>
          </p:nvPr>
        </p:nvGraphicFramePr>
        <p:xfrm>
          <a:off x="498141" y="1835764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文档" r:id="rId4" imgW="4521746" imgH="794410" progId="Word.Document.12">
                  <p:embed/>
                </p:oleObj>
              </mc:Choice>
              <mc:Fallback>
                <p:oleObj name="文档" r:id="rId4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8141" y="1835764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05224"/>
            <a:ext cx="269817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57674"/>
              </p:ext>
            </p:extLst>
          </p:nvPr>
        </p:nvGraphicFramePr>
        <p:xfrm>
          <a:off x="479206" y="881797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206" y="881797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2292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是两个定点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|BC|=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的周长为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建立适当的平面直角坐标系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求这个三角形顶点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的中点为原点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|BC|=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|AB|+|BC|+|AC|=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|AB|+|AC|=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&gt;|BC|=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为焦点的椭圆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这个椭圆上的点与两个焦点的距离之和为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8438"/>
              </p:ext>
            </p:extLst>
          </p:nvPr>
        </p:nvGraphicFramePr>
        <p:xfrm>
          <a:off x="496909" y="5203181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文档" r:id="rId4" imgW="4521746" imgH="397386" progId="Word.Document.12">
                  <p:embed/>
                </p:oleObj>
              </mc:Choice>
              <mc:Fallback>
                <p:oleObj name="文档" r:id="rId4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6909" y="5203181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109</TotalTime>
  <Words>1850</Words>
  <Application>Microsoft Office PowerPoint</Application>
  <PresentationFormat>宽屏</PresentationFormat>
  <Paragraphs>133</Paragraphs>
  <Slides>42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31</cp:revision>
  <dcterms:created xsi:type="dcterms:W3CDTF">2021-08-30T08:30:26Z</dcterms:created>
  <dcterms:modified xsi:type="dcterms:W3CDTF">2025-08-09T09:15:16Z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