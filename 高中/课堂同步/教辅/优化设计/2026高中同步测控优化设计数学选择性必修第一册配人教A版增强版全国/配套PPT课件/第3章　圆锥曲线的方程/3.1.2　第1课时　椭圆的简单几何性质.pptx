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407" r:id="rId16"/>
    <p:sldId id="394" r:id="rId17"/>
    <p:sldId id="699" r:id="rId18"/>
    <p:sldId id="700" r:id="rId19"/>
    <p:sldId id="701" r:id="rId20"/>
    <p:sldId id="702" r:id="rId21"/>
    <p:sldId id="402" r:id="rId22"/>
    <p:sldId id="712" r:id="rId23"/>
    <p:sldId id="713" r:id="rId24"/>
    <p:sldId id="714" r:id="rId25"/>
    <p:sldId id="715" r:id="rId26"/>
    <p:sldId id="719" r:id="rId27"/>
    <p:sldId id="498" r:id="rId28"/>
    <p:sldId id="730" r:id="rId29"/>
    <p:sldId id="733" r:id="rId30"/>
    <p:sldId id="743" r:id="rId31"/>
    <p:sldId id="744" r:id="rId32"/>
    <p:sldId id="734" r:id="rId33"/>
    <p:sldId id="737" r:id="rId34"/>
    <p:sldId id="742" r:id="rId35"/>
    <p:sldId id="765" r:id="rId36"/>
    <p:sldId id="740" r:id="rId37"/>
    <p:sldId id="739" r:id="rId38"/>
    <p:sldId id="745" r:id="rId39"/>
    <p:sldId id="746" r:id="rId40"/>
    <p:sldId id="747" r:id="rId41"/>
    <p:sldId id="398" r:id="rId42"/>
    <p:sldId id="395" r:id="rId43"/>
    <p:sldId id="756" r:id="rId44"/>
    <p:sldId id="757" r:id="rId45"/>
    <p:sldId id="758" r:id="rId46"/>
    <p:sldId id="490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38.emf"/><Relationship Id="rId1" Type="http://schemas.openxmlformats.org/officeDocument/2006/relationships/image" Target="../media/image53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slide" Target="../slides/slide16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6.xml"/><Relationship Id="rId4" Type="http://schemas.openxmlformats.org/officeDocument/2006/relationships/slide" Target="../slides/slide27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148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4783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417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051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6.docx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8.docx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jpeg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package" Target="../embeddings/Microsoft_Word___10.docx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7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25.docx"/><Relationship Id="rId4" Type="http://schemas.openxmlformats.org/officeDocument/2006/relationships/image" Target="../media/image2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3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__29.docx"/><Relationship Id="rId4" Type="http://schemas.openxmlformats.org/officeDocument/2006/relationships/image" Target="../media/image3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9.emf"/><Relationship Id="rId5" Type="http://schemas.openxmlformats.org/officeDocument/2006/relationships/package" Target="../embeddings/Microsoft_Word___32.docx"/><Relationship Id="rId4" Type="http://schemas.openxmlformats.org/officeDocument/2006/relationships/image" Target="../media/image3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4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4.docx"/><Relationship Id="rId7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2.emf"/><Relationship Id="rId5" Type="http://schemas.openxmlformats.org/officeDocument/2006/relationships/package" Target="../embeddings/Microsoft_Word___35.docx"/><Relationship Id="rId4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44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6.emf"/><Relationship Id="rId5" Type="http://schemas.openxmlformats.org/officeDocument/2006/relationships/package" Target="../embeddings/Microsoft_Word___38.docx"/><Relationship Id="rId4" Type="http://schemas.openxmlformats.org/officeDocument/2006/relationships/image" Target="../media/image4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8.emf"/><Relationship Id="rId5" Type="http://schemas.openxmlformats.org/officeDocument/2006/relationships/package" Target="../embeddings/Microsoft_Word___40.docx"/><Relationship Id="rId4" Type="http://schemas.openxmlformats.org/officeDocument/2006/relationships/image" Target="../media/image47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49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1.emf"/><Relationship Id="rId5" Type="http://schemas.openxmlformats.org/officeDocument/2006/relationships/package" Target="../embeddings/Microsoft_Word___43.docx"/><Relationship Id="rId4" Type="http://schemas.openxmlformats.org/officeDocument/2006/relationships/image" Target="../media/image5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52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package" Target="../embeddings/Microsoft_Word___45.docx"/><Relationship Id="rId7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__46.docx"/><Relationship Id="rId4" Type="http://schemas.openxmlformats.org/officeDocument/2006/relationships/image" Target="../media/image53.emf"/><Relationship Id="rId9" Type="http://schemas.openxmlformats.org/officeDocument/2006/relationships/image" Target="../media/image55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package" Target="../embeddings/Microsoft_Word___48.docx"/><Relationship Id="rId7" Type="http://schemas.openxmlformats.org/officeDocument/2006/relationships/package" Target="../embeddings/Microsoft_Word___50.docx"/><Relationship Id="rId12" Type="http://schemas.openxmlformats.org/officeDocument/2006/relationships/image" Target="../media/image60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57.emf"/><Relationship Id="rId11" Type="http://schemas.openxmlformats.org/officeDocument/2006/relationships/package" Target="../embeddings/Microsoft_Word___52.docx"/><Relationship Id="rId5" Type="http://schemas.openxmlformats.org/officeDocument/2006/relationships/package" Target="../embeddings/Microsoft_Word___49.docx"/><Relationship Id="rId10" Type="http://schemas.openxmlformats.org/officeDocument/2006/relationships/image" Target="../media/image59.emf"/><Relationship Id="rId4" Type="http://schemas.openxmlformats.org/officeDocument/2006/relationships/image" Target="../media/image56.emf"/><Relationship Id="rId9" Type="http://schemas.openxmlformats.org/officeDocument/2006/relationships/package" Target="../embeddings/Microsoft_Word___51.docx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椭圆的简单几何性质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第三章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3.1.2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52723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掌握椭圆的简单几何性质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了解离心率对椭圆扁平程度的影响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掌握椭圆标准方程中的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以及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的几何意义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之间的相互关系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想象、数学抽象、逻辑推理与数学运算素养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762"/>
            <a:ext cx="11430000" cy="57304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一、椭圆的简单几何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152010"/>
              </p:ext>
            </p:extLst>
          </p:nvPr>
        </p:nvGraphicFramePr>
        <p:xfrm>
          <a:off x="381000" y="640195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3" imgW="4521746" imgH="794410" progId="Word.Document.12">
                  <p:embed/>
                </p:oleObj>
              </mc:Choice>
              <mc:Fallback>
                <p:oleObj name="文档" r:id="rId3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640195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3312" y="2544382"/>
            <a:ext cx="6625374" cy="374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通过观察图象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你发现椭圆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上的点的坐标的范围是怎样的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的标准方程中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方程有什么变化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方程又有什么变化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方程又有什么变化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这说明椭圆有什么性质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方程也不变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方程也不变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说明椭圆关于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也关于原点对称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轴分别有几个交点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交点坐标分别是什么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4),(0,4);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5),(0,5)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381000" y="46938"/>
            <a:ext cx="344004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的几何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052301"/>
              </p:ext>
            </p:extLst>
          </p:nvPr>
        </p:nvGraphicFramePr>
        <p:xfrm>
          <a:off x="381000" y="692150"/>
          <a:ext cx="11430000" cy="6929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文档" r:id="rId3" imgW="4521746" imgH="2741275" progId="Word.Document.12">
                  <p:embed/>
                </p:oleObj>
              </mc:Choice>
              <mc:Fallback>
                <p:oleObj name="文档" r:id="rId3" imgW="4521746" imgH="27412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692150"/>
                        <a:ext cx="11430000" cy="69293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445986" y="2400301"/>
            <a:ext cx="1381084" cy="76758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457683" y="3163411"/>
            <a:ext cx="137528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139422" y="2400301"/>
            <a:ext cx="1394895" cy="76758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7151148" y="3163411"/>
            <a:ext cx="13890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449201" y="3412219"/>
            <a:ext cx="3442444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145892" y="3412219"/>
            <a:ext cx="3442444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862832" y="3939575"/>
            <a:ext cx="1041209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83674" y="3939575"/>
            <a:ext cx="1041209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45986" y="4457020"/>
            <a:ext cx="4526314" cy="3796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138884" y="4457020"/>
            <a:ext cx="4526314" cy="3796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598068" y="4982408"/>
            <a:ext cx="349476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69589" y="4992799"/>
            <a:ext cx="349476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447292" y="5532107"/>
            <a:ext cx="2446358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145892" y="5532107"/>
            <a:ext cx="2446358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28845" y="6051073"/>
            <a:ext cx="2446358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1393"/>
            <a:ext cx="7655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的长轴的端点坐标是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525941"/>
              </p:ext>
            </p:extLst>
          </p:nvPr>
        </p:nvGraphicFramePr>
        <p:xfrm>
          <a:off x="64395" y="3201056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文档" r:id="rId3" imgW="4521746" imgH="397386" progId="Word.Document.12">
                  <p:embed/>
                </p:oleObj>
              </mc:Choice>
              <mc:Fallback>
                <p:oleObj name="文档" r:id="rId3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3201056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12287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5,5]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040559"/>
              </p:ext>
            </p:extLst>
          </p:nvPr>
        </p:nvGraphicFramePr>
        <p:xfrm>
          <a:off x="64395" y="1243879"/>
          <a:ext cx="11275153" cy="2181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文档" r:id="rId5" imgW="4510061" imgH="872498" progId="Word.Document.12">
                  <p:embed/>
                </p:oleObj>
              </mc:Choice>
              <mc:Fallback>
                <p:oleObj name="文档" r:id="rId5" imgW="4510061" imgH="8724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1243879"/>
                        <a:ext cx="11275153" cy="2181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81000" y="292956"/>
            <a:ext cx="11430000" cy="3008081"/>
            <a:chOff x="381000" y="147482"/>
            <a:chExt cx="11430000" cy="300808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47482"/>
              <a:ext cx="11430000" cy="57304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二、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离心率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7419047"/>
                </p:ext>
              </p:extLst>
            </p:nvPr>
          </p:nvGraphicFramePr>
          <p:xfrm>
            <a:off x="381000" y="644757"/>
            <a:ext cx="11430000" cy="2510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2" name="文档" r:id="rId3" imgW="4521746" imgH="993283" progId="Word.Document.12">
                    <p:embed/>
                  </p:oleObj>
                </mc:Choice>
                <mc:Fallback>
                  <p:oleObj name="文档" r:id="rId3" imgW="4521746" imgH="9932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644757"/>
                          <a:ext cx="11430000" cy="25108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726009"/>
              </p:ext>
            </p:extLst>
          </p:nvPr>
        </p:nvGraphicFramePr>
        <p:xfrm>
          <a:off x="64395" y="3384165"/>
          <a:ext cx="11430000" cy="241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文档" r:id="rId5" imgW="4521746" imgH="953581" progId="Word.Document.12">
                  <p:embed/>
                </p:oleObj>
              </mc:Choice>
              <mc:Fallback>
                <p:oleObj name="文档" r:id="rId5" imgW="4521746" imgH="953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3384165"/>
                        <a:ext cx="11430000" cy="2410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EMX1TRAX12.eps" descr="id:2147496701;FounderCES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9827" y="3301037"/>
            <a:ext cx="3326481" cy="24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093457"/>
              </p:ext>
            </p:extLst>
          </p:nvPr>
        </p:nvGraphicFramePr>
        <p:xfrm>
          <a:off x="381000" y="388963"/>
          <a:ext cx="11430000" cy="25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文档" r:id="rId3" imgW="4521746" imgH="993283" progId="Word.Document.12">
                  <p:embed/>
                </p:oleObj>
              </mc:Choice>
              <mc:Fallback>
                <p:oleObj name="文档" r:id="rId3" imgW="4521746" imgH="99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388963"/>
                        <a:ext cx="11430000" cy="2510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203045"/>
              </p:ext>
            </p:extLst>
          </p:nvPr>
        </p:nvGraphicFramePr>
        <p:xfrm>
          <a:off x="71907" y="3002801"/>
          <a:ext cx="11430000" cy="241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文档" r:id="rId5" imgW="4521746" imgH="953581" progId="Word.Document.12">
                  <p:embed/>
                </p:oleObj>
              </mc:Choice>
              <mc:Fallback>
                <p:oleObj name="文档" r:id="rId5" imgW="4521746" imgH="953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907" y="3002801"/>
                        <a:ext cx="11430000" cy="2410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EMX1TRAX13.eps" descr="id:2147496708;FounderCES"/>
          <p:cNvPicPr/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14794" y="2402033"/>
            <a:ext cx="3316831" cy="29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248867"/>
            <a:ext cx="11430000" cy="5693866"/>
            <a:chOff x="381000" y="383950"/>
            <a:chExt cx="11430000" cy="569386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83950"/>
              <a:ext cx="11430000" cy="569386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离心率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定义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椭圆的焦距与长轴长的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比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称为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椭圆的离心率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性质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 font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endParaRPr>
            </a:p>
            <a:p>
              <a:pPr indent="279400" font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endParaRPr>
            </a:p>
            <a:p>
              <a:pPr indent="279400" font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形象记忆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&lt;e&lt;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越趋向于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越扁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越趋向于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越圆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1287143"/>
                </p:ext>
              </p:extLst>
            </p:nvPr>
          </p:nvGraphicFramePr>
          <p:xfrm>
            <a:off x="5827284" y="819090"/>
            <a:ext cx="511674" cy="825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" name="文档" r:id="rId3" imgW="254012" imgH="397386" progId="Word.Document.12">
                    <p:embed/>
                  </p:oleObj>
                </mc:Choice>
                <mc:Fallback>
                  <p:oleObj name="文档" r:id="rId3" imgW="254012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27284" y="819090"/>
                          <a:ext cx="511674" cy="8252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NMX1TRAX155.eps" descr="id:2147517224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5299" y="2020733"/>
            <a:ext cx="7843435" cy="310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678729"/>
            <a:ext cx="11430000" cy="1432947"/>
            <a:chOff x="381000" y="1239657"/>
            <a:chExt cx="11430000" cy="143294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459964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经过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a&gt;b&gt;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的一个焦点和一个顶点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则该椭圆的离心率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e=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8303136"/>
                </p:ext>
              </p:extLst>
            </p:nvPr>
          </p:nvGraphicFramePr>
          <p:xfrm>
            <a:off x="5072135" y="1239657"/>
            <a:ext cx="2068512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1" name="文档" r:id="rId3" imgW="830743" imgH="397386" progId="Word.Document.12">
                    <p:embed/>
                  </p:oleObj>
                </mc:Choice>
                <mc:Fallback>
                  <p:oleObj name="文档" r:id="rId3" imgW="830743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72135" y="1239657"/>
                          <a:ext cx="2068512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64395" y="2129970"/>
            <a:ext cx="11746605" cy="1596719"/>
            <a:chOff x="64395" y="2659725"/>
            <a:chExt cx="11746605" cy="159671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659725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由题意知椭圆焦点在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966900"/>
                </p:ext>
              </p:extLst>
            </p:nvPr>
          </p:nvGraphicFramePr>
          <p:xfrm>
            <a:off x="64395" y="3251938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2" name="文档" r:id="rId5" imgW="4521746" imgH="397386" progId="Word.Document.12">
                    <p:embed/>
                  </p:oleObj>
                </mc:Choice>
                <mc:Fallback>
                  <p:oleObj name="文档" r:id="rId5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95" y="3251938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746878"/>
              </p:ext>
            </p:extLst>
          </p:nvPr>
        </p:nvGraphicFramePr>
        <p:xfrm>
          <a:off x="64395" y="3567263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文档" r:id="rId7" imgW="4521746" imgH="397386" progId="Word.Document.12">
                  <p:embed/>
                </p:oleObj>
              </mc:Choice>
              <mc:Fallback>
                <p:oleObj name="文档" r:id="rId7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395" y="3567263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885711"/>
              </p:ext>
            </p:extLst>
          </p:nvPr>
        </p:nvGraphicFramePr>
        <p:xfrm>
          <a:off x="51516" y="1836511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文档" r:id="rId3" imgW="4521746" imgH="397386" progId="Word.Document.12">
                  <p:embed/>
                </p:oleObj>
              </mc:Choice>
              <mc:Fallback>
                <p:oleObj name="文档" r:id="rId3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6" y="1836511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802380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椭圆上的点到焦点的距离的最小值为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a-c.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椭圆的离心率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越小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椭圆越扁平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若一个矩形的四个顶点都在椭圆上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则这四个顶点关于椭圆的中心对称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60192" y="2159610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597324" y="2871289"/>
            <a:ext cx="390364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50414" y="3449640"/>
            <a:ext cx="528367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23787" y="4540916"/>
            <a:ext cx="390364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由椭圆的方程研究其几何性质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75867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的离心率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试求椭圆的长轴长和短轴长、焦点坐标及顶点坐标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先将椭圆方程化为标准形式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然后求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、焦点坐标、顶点坐标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610587"/>
              </p:ext>
            </p:extLst>
          </p:nvPr>
        </p:nvGraphicFramePr>
        <p:xfrm>
          <a:off x="7751235" y="1685889"/>
          <a:ext cx="471121" cy="75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文档" r:id="rId3" imgW="255873" imgH="398985" progId="Word.Document.12">
                  <p:embed/>
                </p:oleObj>
              </mc:Choice>
              <mc:Fallback>
                <p:oleObj name="文档" r:id="rId3" imgW="255873" imgH="398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51235" y="1685889"/>
                        <a:ext cx="471121" cy="756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193079"/>
              </p:ext>
            </p:extLst>
          </p:nvPr>
        </p:nvGraphicFramePr>
        <p:xfrm>
          <a:off x="9389339" y="2808839"/>
          <a:ext cx="471121" cy="75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文档" r:id="rId5" imgW="255873" imgH="398985" progId="Word.Document.12">
                  <p:embed/>
                </p:oleObj>
              </mc:Choice>
              <mc:Fallback>
                <p:oleObj name="文档" r:id="rId5" imgW="255873" imgH="398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89339" y="2808839"/>
                        <a:ext cx="471121" cy="756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325289"/>
              </p:ext>
            </p:extLst>
          </p:nvPr>
        </p:nvGraphicFramePr>
        <p:xfrm>
          <a:off x="59028" y="44450"/>
          <a:ext cx="11430000" cy="652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文档" r:id="rId3" imgW="4521746" imgH="2582104" progId="Word.Document.12">
                  <p:embed/>
                </p:oleObj>
              </mc:Choice>
              <mc:Fallback>
                <p:oleObj name="文档" r:id="rId3" imgW="4521746" imgH="25821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8" y="44450"/>
                        <a:ext cx="11430000" cy="6527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标准方程研究几何性质的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将椭圆方程化为标准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形式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确定焦点位置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焦点位置不确定的要分类讨论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写出椭圆的几何性质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长轴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长、短轴长、焦距不是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而应是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1915944"/>
            <a:ext cx="11430000" cy="1380041"/>
            <a:chOff x="381000" y="2272603"/>
            <a:chExt cx="11430000" cy="138004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440004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已知椭圆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+my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的离心率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的值及椭圆的长轴长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701778"/>
                </p:ext>
              </p:extLst>
            </p:nvPr>
          </p:nvGraphicFramePr>
          <p:xfrm>
            <a:off x="7816319" y="2272603"/>
            <a:ext cx="791125" cy="825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1" name="文档" r:id="rId3" imgW="387075" imgH="397386" progId="Word.Document.12">
                    <p:embed/>
                  </p:oleObj>
                </mc:Choice>
                <mc:Fallback>
                  <p:oleObj name="文档" r:id="rId3" imgW="387075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816319" y="2272603"/>
                          <a:ext cx="791125" cy="8252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790952"/>
              </p:ext>
            </p:extLst>
          </p:nvPr>
        </p:nvGraphicFramePr>
        <p:xfrm>
          <a:off x="59027" y="86436"/>
          <a:ext cx="11430000" cy="652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文档" r:id="rId3" imgW="4521746" imgH="2582104" progId="Word.Document.12">
                  <p:embed/>
                </p:oleObj>
              </mc:Choice>
              <mc:Fallback>
                <p:oleObj name="文档" r:id="rId3" imgW="4521746" imgH="25821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7" y="86436"/>
                        <a:ext cx="11430000" cy="6527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由椭圆的几何性质求其标准方程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81270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求适合下列条件的椭圆的标准方程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长轴长是短轴长的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(5,0);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离心率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焦距为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焦点位置不确定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分两种情况利用待定系数法求解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76393"/>
              </p:ext>
            </p:extLst>
          </p:nvPr>
        </p:nvGraphicFramePr>
        <p:xfrm>
          <a:off x="2505273" y="2868855"/>
          <a:ext cx="549840" cy="75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文档" r:id="rId3" imgW="300531" imgH="397386" progId="Word.Document.12">
                  <p:embed/>
                </p:oleObj>
              </mc:Choice>
              <mc:Fallback>
                <p:oleObj name="文档" r:id="rId3" imgW="300531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5273" y="2868855"/>
                        <a:ext cx="549840" cy="750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649107"/>
              </p:ext>
            </p:extLst>
          </p:nvPr>
        </p:nvGraphicFramePr>
        <p:xfrm>
          <a:off x="46148" y="-103032"/>
          <a:ext cx="11430000" cy="7029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文档" r:id="rId3" imgW="4521746" imgH="2780977" progId="Word.Document.12">
                  <p:embed/>
                </p:oleObj>
              </mc:Choice>
              <mc:Fallback>
                <p:oleObj name="文档" r:id="rId3" imgW="4521746" imgH="27809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148" y="-103032"/>
                        <a:ext cx="11430000" cy="7029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661866"/>
              </p:ext>
            </p:extLst>
          </p:nvPr>
        </p:nvGraphicFramePr>
        <p:xfrm>
          <a:off x="64393" y="885609"/>
          <a:ext cx="11430000" cy="401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文档" r:id="rId3" imgW="4521746" imgH="1589181" progId="Word.Document.12">
                  <p:embed/>
                </p:oleObj>
              </mc:Choice>
              <mc:Fallback>
                <p:oleObj name="文档" r:id="rId3" imgW="4521746" imgH="15891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3" y="885609"/>
                        <a:ext cx="11430000" cy="4017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629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几何性质求椭圆标准方程的一般方法及步骤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基本方法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待定系数法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一般步骤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NMX1TRAX156.eps" descr="id:2147517266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2860" y="2032396"/>
            <a:ext cx="9446281" cy="38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6779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已知椭圆以坐标轴为对称轴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长轴长是短轴长的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并且过点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求椭圆的标准方程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969393"/>
              </p:ext>
            </p:extLst>
          </p:nvPr>
        </p:nvGraphicFramePr>
        <p:xfrm>
          <a:off x="41564" y="1483216"/>
          <a:ext cx="11430000" cy="410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文档" r:id="rId3" imgW="4510061" imgH="1619363" progId="Word.Document.12">
                  <p:embed/>
                </p:oleObj>
              </mc:Choice>
              <mc:Fallback>
                <p:oleObj name="文档" r:id="rId3" imgW="4510061" imgH="16193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1483216"/>
                        <a:ext cx="11430000" cy="4104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491336"/>
              </p:ext>
            </p:extLst>
          </p:nvPr>
        </p:nvGraphicFramePr>
        <p:xfrm>
          <a:off x="41564" y="1457653"/>
          <a:ext cx="11430000" cy="2804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文档" r:id="rId3" imgW="4510061" imgH="1106529" progId="Word.Document.12">
                  <p:embed/>
                </p:oleObj>
              </mc:Choice>
              <mc:Fallback>
                <p:oleObj name="文档" r:id="rId3" imgW="4510061" imgH="11065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1457653"/>
                        <a:ext cx="11430000" cy="2804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求椭圆的离心率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502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是椭圆的两个焦点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且与椭圆长轴垂直的直线交椭圆于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是正三角形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则该椭圆的离心率是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椭圆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为正三角形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328389"/>
              </p:ext>
            </p:extLst>
          </p:nvPr>
        </p:nvGraphicFramePr>
        <p:xfrm>
          <a:off x="60600" y="3005650"/>
          <a:ext cx="11430000" cy="25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文档" r:id="rId3" imgW="4521746" imgH="993283" progId="Word.Document.12">
                  <p:embed/>
                </p:oleObj>
              </mc:Choice>
              <mc:Fallback>
                <p:oleObj name="文档" r:id="rId3" imgW="4521746" imgH="99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600" y="3005650"/>
                        <a:ext cx="11430000" cy="2510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593982"/>
              </p:ext>
            </p:extLst>
          </p:nvPr>
        </p:nvGraphicFramePr>
        <p:xfrm>
          <a:off x="60600" y="5400417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00" y="5400417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EMX1TRAX16.eps" descr="id:2147496771;FounderCES"/>
          <p:cNvPicPr/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58318" y="3894945"/>
            <a:ext cx="2385994" cy="2325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066811"/>
              </p:ext>
            </p:extLst>
          </p:nvPr>
        </p:nvGraphicFramePr>
        <p:xfrm>
          <a:off x="381000" y="1660970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文档" r:id="rId3" imgW="4510061" imgH="794654" progId="Word.Document.12">
                  <p:embed/>
                </p:oleObj>
              </mc:Choice>
              <mc:Fallback>
                <p:oleObj name="文档" r:id="rId3" imgW="4510061" imgH="794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660970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423614"/>
              </p:ext>
            </p:extLst>
          </p:nvPr>
        </p:nvGraphicFramePr>
        <p:xfrm>
          <a:off x="59026" y="86435"/>
          <a:ext cx="11430000" cy="652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文档" r:id="rId3" imgW="4521746" imgH="2582104" progId="Word.Document.12">
                  <p:embed/>
                </p:oleObj>
              </mc:Choice>
              <mc:Fallback>
                <p:oleObj name="文档" r:id="rId3" imgW="4521746" imgH="25821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6" y="86435"/>
                        <a:ext cx="11430000" cy="6527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7528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中将条件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且与椭圆长轴垂直的直线交椭圆于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是正三角形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恰好在椭圆上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为正三角形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则椭圆的离心率是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1558552"/>
            <a:ext cx="2016224" cy="3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075054"/>
              </p:ext>
            </p:extLst>
          </p:nvPr>
        </p:nvGraphicFramePr>
        <p:xfrm>
          <a:off x="51516" y="4322072"/>
          <a:ext cx="11430000" cy="501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文档" r:id="rId3" imgW="4521746" imgH="198512" progId="Word.Document.12">
                  <p:embed/>
                </p:oleObj>
              </mc:Choice>
              <mc:Fallback>
                <p:oleObj name="文档" r:id="rId3" imgW="4521746" imgH="1985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6" y="4322072"/>
                        <a:ext cx="11430000" cy="501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51516" y="678729"/>
            <a:ext cx="11759484" cy="3746375"/>
            <a:chOff x="51516" y="1243535"/>
            <a:chExt cx="11759484" cy="374637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3535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为正三角形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为线段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337956"/>
                </p:ext>
              </p:extLst>
            </p:nvPr>
          </p:nvGraphicFramePr>
          <p:xfrm>
            <a:off x="51516" y="2981813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3" name="文档" r:id="rId5" imgW="4521746" imgH="794410" progId="Word.Document.12">
                    <p:embed/>
                  </p:oleObj>
                </mc:Choice>
                <mc:Fallback>
                  <p:oleObj name="文档" r:id="rId5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516" y="2981813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589850"/>
            <a:ext cx="11430000" cy="4779921"/>
            <a:chOff x="381000" y="705029"/>
            <a:chExt cx="11430000" cy="477992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5029"/>
              <a:ext cx="8706230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椭圆离心率的值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或取值范围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的两种方法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2192493"/>
                </p:ext>
              </p:extLst>
            </p:nvPr>
          </p:nvGraphicFramePr>
          <p:xfrm>
            <a:off x="381000" y="1320091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0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320091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212277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不等式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的值不可求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则可根据条件建立关于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的关系式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借助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+c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转化为关于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的齐次方程或不等式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再将方程或不等式两边同除以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的最高次幂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得到关于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的方程或不等式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即可求得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的值或范围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01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9027" y="480290"/>
            <a:ext cx="11751973" cy="4295889"/>
            <a:chOff x="59027" y="1029344"/>
            <a:chExt cx="11751973" cy="429588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6367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a&gt;b&gt;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的一个焦点为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该椭圆上有一点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满足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OAF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是等边三角形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为坐标原点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则椭圆的离心率是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8412459"/>
                </p:ext>
              </p:extLst>
            </p:nvPr>
          </p:nvGraphicFramePr>
          <p:xfrm>
            <a:off x="5167352" y="1029344"/>
            <a:ext cx="2068512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6" name="文档" r:id="rId3" imgW="830743" imgH="397386" progId="Word.Document.12">
                    <p:embed/>
                  </p:oleObj>
                </mc:Choice>
                <mc:Fallback>
                  <p:oleObj name="文档" r:id="rId3" imgW="830743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67352" y="1029344"/>
                          <a:ext cx="2068512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3981844"/>
                </p:ext>
              </p:extLst>
            </p:nvPr>
          </p:nvGraphicFramePr>
          <p:xfrm>
            <a:off x="59027" y="2980523"/>
            <a:ext cx="11430000" cy="1205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7" name="文档" r:id="rId5" imgW="4521746" imgH="476790" progId="Word.Document.12">
                    <p:embed/>
                  </p:oleObj>
                </mc:Choice>
                <mc:Fallback>
                  <p:oleObj name="文档" r:id="rId5" imgW="4521746" imgH="4767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9027" y="2980523"/>
                          <a:ext cx="11430000" cy="12052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17286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是椭圆的左焦点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分别是其在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轴正半轴和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轴正半轴上的顶点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是椭圆上的一点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则椭圆的离心率是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600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447306"/>
              </p:ext>
            </p:extLst>
          </p:nvPr>
        </p:nvGraphicFramePr>
        <p:xfrm>
          <a:off x="41564" y="490291"/>
          <a:ext cx="11275153" cy="475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文档" r:id="rId3" imgW="4510061" imgH="1903926" progId="Word.Document.12">
                  <p:embed/>
                </p:oleObj>
              </mc:Choice>
              <mc:Fallback>
                <p:oleObj name="文档" r:id="rId3" imgW="4510061" imgH="19039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490291"/>
                        <a:ext cx="11275153" cy="475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189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185623"/>
              </p:ext>
            </p:extLst>
          </p:nvPr>
        </p:nvGraphicFramePr>
        <p:xfrm>
          <a:off x="51516" y="221402"/>
          <a:ext cx="11430000" cy="502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文档" r:id="rId3" imgW="4521746" imgH="1986206" progId="Word.Document.12">
                  <p:embed/>
                </p:oleObj>
              </mc:Choice>
              <mc:Fallback>
                <p:oleObj name="文档" r:id="rId3" imgW="4521746" imgH="19862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6" y="221402"/>
                        <a:ext cx="11430000" cy="5020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206729"/>
              </p:ext>
            </p:extLst>
          </p:nvPr>
        </p:nvGraphicFramePr>
        <p:xfrm>
          <a:off x="51516" y="5114367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16" y="5114367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EMX1TRAX73.eps" descr="id:2147496806;FounderCES"/>
          <p:cNvPicPr/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73154" y="2031111"/>
            <a:ext cx="3290351" cy="304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2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9027" y="1038547"/>
            <a:ext cx="11430000" cy="4128248"/>
            <a:chOff x="59027" y="1246367"/>
            <a:chExt cx="11430000" cy="4128248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979074" y="1246367"/>
              <a:ext cx="4233851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忽视椭圆焦点的位置致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误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2987411"/>
                </p:ext>
              </p:extLst>
            </p:nvPr>
          </p:nvGraphicFramePr>
          <p:xfrm>
            <a:off x="59027" y="1860216"/>
            <a:ext cx="11430000" cy="3514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4" name="文档" r:id="rId3" imgW="4521746" imgH="1390308" progId="Word.Document.12">
                    <p:embed/>
                  </p:oleObj>
                </mc:Choice>
                <mc:Fallback>
                  <p:oleObj name="文档" r:id="rId3" imgW="4521746" imgH="13903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027" y="1860216"/>
                          <a:ext cx="11430000" cy="35143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4352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忽视对焦点所在位置的讨论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即漏掉了两种情况中的一种情况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从而导致答案不全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395" y="164380"/>
            <a:ext cx="11430000" cy="4615640"/>
            <a:chOff x="64395" y="237117"/>
            <a:chExt cx="11430000" cy="461564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37117"/>
              <a:ext cx="7236276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正解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当椭圆的焦点在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0489102"/>
                </p:ext>
              </p:extLst>
            </p:nvPr>
          </p:nvGraphicFramePr>
          <p:xfrm>
            <a:off x="64395" y="835649"/>
            <a:ext cx="11430000" cy="4017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0" name="文档" r:id="rId3" imgW="4521746" imgH="1589181" progId="Word.Document.12">
                    <p:embed/>
                  </p:oleObj>
                </mc:Choice>
                <mc:Fallback>
                  <p:oleObj name="文档" r:id="rId3" imgW="4521746" imgH="15891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835649"/>
                          <a:ext cx="11430000" cy="40171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744938"/>
              </p:ext>
            </p:extLst>
          </p:nvPr>
        </p:nvGraphicFramePr>
        <p:xfrm>
          <a:off x="64395" y="4487839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4487839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390265"/>
            <a:ext cx="10530447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不清楚椭圆的焦点位置时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必须分情况讨论焦点位置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8328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已知椭圆的中心在原点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对称轴是坐标轴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离心率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求此椭圆的标准方程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29463"/>
              </p:ext>
            </p:extLst>
          </p:nvPr>
        </p:nvGraphicFramePr>
        <p:xfrm>
          <a:off x="10595675" y="460608"/>
          <a:ext cx="767510" cy="82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name="文档" r:id="rId3" imgW="379892" imgH="397386" progId="Word.Document.12">
                  <p:embed/>
                </p:oleObj>
              </mc:Choice>
              <mc:Fallback>
                <p:oleObj name="文档" r:id="rId3" imgW="379892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95675" y="460608"/>
                        <a:ext cx="767510" cy="825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265743"/>
              </p:ext>
            </p:extLst>
          </p:nvPr>
        </p:nvGraphicFramePr>
        <p:xfrm>
          <a:off x="51516" y="1759452"/>
          <a:ext cx="11430000" cy="401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文档" r:id="rId5" imgW="4521746" imgH="1589181" progId="Word.Document.12">
                  <p:embed/>
                </p:oleObj>
              </mc:Choice>
              <mc:Fallback>
                <p:oleObj name="文档" r:id="rId5" imgW="4521746" imgH="15891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16" y="1759452"/>
                        <a:ext cx="11430000" cy="4017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093018"/>
              </p:ext>
            </p:extLst>
          </p:nvPr>
        </p:nvGraphicFramePr>
        <p:xfrm>
          <a:off x="64395" y="477363"/>
          <a:ext cx="11430000" cy="502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文档" r:id="rId3" imgW="4521746" imgH="1986206" progId="Word.Document.12">
                  <p:embed/>
                </p:oleObj>
              </mc:Choice>
              <mc:Fallback>
                <p:oleObj name="文档" r:id="rId3" imgW="4521746" imgH="19862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477363"/>
                        <a:ext cx="11430000" cy="5020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00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219996"/>
            <a:ext cx="11547141" cy="4255012"/>
            <a:chOff x="381000" y="323906"/>
            <a:chExt cx="11547141" cy="425501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6628667"/>
                </p:ext>
              </p:extLst>
            </p:nvPr>
          </p:nvGraphicFramePr>
          <p:xfrm>
            <a:off x="498141" y="323906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2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8141" y="323906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306245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621232"/>
              </p:ext>
            </p:extLst>
          </p:nvPr>
        </p:nvGraphicFramePr>
        <p:xfrm>
          <a:off x="498141" y="4449250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41" y="4449250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440877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395511"/>
              </p:ext>
            </p:extLst>
          </p:nvPr>
        </p:nvGraphicFramePr>
        <p:xfrm>
          <a:off x="496909" y="869365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文档" r:id="rId3" imgW="4521746" imgH="397386" progId="Word.Document.12">
                  <p:embed/>
                </p:oleObj>
              </mc:Choice>
              <mc:Fallback>
                <p:oleObj name="文档" r:id="rId3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09" y="869365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801221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A.8	B.7	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C.5	D.4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&lt;m&lt;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916"/>
            <a:ext cx="11430000" cy="116743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是椭圆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的离心率为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444478"/>
              </p:ext>
            </p:extLst>
          </p:nvPr>
        </p:nvGraphicFramePr>
        <p:xfrm>
          <a:off x="498141" y="1182196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2" name="文档" r:id="rId3" imgW="4521746" imgH="794410" progId="Word.Document.12">
                  <p:embed/>
                </p:oleObj>
              </mc:Choice>
              <mc:Fallback>
                <p:oleObj name="文档" r:id="rId3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1182196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81000" y="2983721"/>
            <a:ext cx="11547141" cy="3498179"/>
            <a:chOff x="381000" y="2983721"/>
            <a:chExt cx="11547141" cy="349817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174047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不妨设椭圆方程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a&gt;b&gt;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分别为椭圆的左、右焦点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∵∠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∠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1888837"/>
                </p:ext>
              </p:extLst>
            </p:nvPr>
          </p:nvGraphicFramePr>
          <p:xfrm>
            <a:off x="4183266" y="2983721"/>
            <a:ext cx="2068512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" name="文档" r:id="rId5" imgW="830743" imgH="397386" progId="Word.Document.12">
                    <p:embed/>
                  </p:oleObj>
                </mc:Choice>
                <mc:Fallback>
                  <p:oleObj name="文档" r:id="rId5" imgW="830743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83266" y="2983721"/>
                          <a:ext cx="2068512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9222551"/>
                </p:ext>
              </p:extLst>
            </p:nvPr>
          </p:nvGraphicFramePr>
          <p:xfrm>
            <a:off x="498141" y="4975598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4" name="文档" r:id="rId7" imgW="4521746" imgH="595898" progId="Word.Document.12">
                    <p:embed/>
                  </p:oleObj>
                </mc:Choice>
                <mc:Fallback>
                  <p:oleObj name="文档" r:id="rId7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8141" y="4975598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5380491" y="641682"/>
            <a:ext cx="534121" cy="6049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D </a:t>
            </a:r>
            <a:endParaRPr lang="zh-CN" altLang="en-US" sz="2800" dirty="0"/>
          </a:p>
        </p:txBody>
      </p:sp>
      <p:pic>
        <p:nvPicPr>
          <p:cNvPr id="9" name="EMX1TRAX75.eps" descr="id:2147496834;FounderCES"/>
          <p:cNvPicPr/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02520" y="750781"/>
            <a:ext cx="3356800" cy="228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23234"/>
              </p:ext>
            </p:extLst>
          </p:nvPr>
        </p:nvGraphicFramePr>
        <p:xfrm>
          <a:off x="498141" y="35797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0" name="文档" r:id="rId3" imgW="4521746" imgH="397386" progId="Word.Document.12">
                  <p:embed/>
                </p:oleObj>
              </mc:Choice>
              <mc:Fallback>
                <p:oleObj name="文档" r:id="rId3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35797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289204"/>
              </p:ext>
            </p:extLst>
          </p:nvPr>
        </p:nvGraphicFramePr>
        <p:xfrm>
          <a:off x="498141" y="885755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1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41" y="885755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671996"/>
              </p:ext>
            </p:extLst>
          </p:nvPr>
        </p:nvGraphicFramePr>
        <p:xfrm>
          <a:off x="498141" y="1748592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2" name="文档" r:id="rId7" imgW="4521746" imgH="397386" progId="Word.Document.12">
                  <p:embed/>
                </p:oleObj>
              </mc:Choice>
              <mc:Fallback>
                <p:oleObj name="文档" r:id="rId7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8141" y="1748592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933786"/>
              </p:ext>
            </p:extLst>
          </p:nvPr>
        </p:nvGraphicFramePr>
        <p:xfrm>
          <a:off x="498141" y="2611429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3" name="文档" r:id="rId9" imgW="4521746" imgH="595898" progId="Word.Document.12">
                  <p:embed/>
                </p:oleObj>
              </mc:Choice>
              <mc:Fallback>
                <p:oleObj name="文档" r:id="rId9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8141" y="2611429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490570"/>
              </p:ext>
            </p:extLst>
          </p:nvPr>
        </p:nvGraphicFramePr>
        <p:xfrm>
          <a:off x="498141" y="4166888"/>
          <a:ext cx="11430000" cy="25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4" name="文档" r:id="rId11" imgW="4521746" imgH="993283" progId="Word.Document.12">
                  <p:embed/>
                </p:oleObj>
              </mc:Choice>
              <mc:Fallback>
                <p:oleObj name="文档" r:id="rId11" imgW="4521746" imgH="99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8141" y="4166888"/>
                        <a:ext cx="11430000" cy="2510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217</TotalTime>
  <Words>1447</Words>
  <Application>Microsoft Office PowerPoint</Application>
  <PresentationFormat>宽屏</PresentationFormat>
  <Paragraphs>106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34</cp:revision>
  <dcterms:created xsi:type="dcterms:W3CDTF">2021-08-30T08:30:26Z</dcterms:created>
  <dcterms:modified xsi:type="dcterms:W3CDTF">2025-08-09T09:19:06Z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