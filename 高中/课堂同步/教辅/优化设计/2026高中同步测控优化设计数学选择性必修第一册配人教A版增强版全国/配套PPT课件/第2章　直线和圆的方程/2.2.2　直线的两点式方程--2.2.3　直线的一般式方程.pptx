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sldIdLst>
    <p:sldId id="677" r:id="rId2"/>
    <p:sldId id="488" r:id="rId3"/>
    <p:sldId id="494" r:id="rId4"/>
    <p:sldId id="392" r:id="rId5"/>
    <p:sldId id="686" r:id="rId6"/>
    <p:sldId id="687" r:id="rId7"/>
    <p:sldId id="688" r:id="rId8"/>
    <p:sldId id="689" r:id="rId9"/>
    <p:sldId id="690" r:id="rId10"/>
    <p:sldId id="691" r:id="rId11"/>
    <p:sldId id="692" r:id="rId12"/>
    <p:sldId id="693" r:id="rId13"/>
    <p:sldId id="694" r:id="rId14"/>
    <p:sldId id="695" r:id="rId15"/>
    <p:sldId id="696" r:id="rId16"/>
    <p:sldId id="407" r:id="rId17"/>
    <p:sldId id="394" r:id="rId18"/>
    <p:sldId id="699" r:id="rId19"/>
    <p:sldId id="700" r:id="rId20"/>
    <p:sldId id="402" r:id="rId21"/>
    <p:sldId id="712" r:id="rId22"/>
    <p:sldId id="713" r:id="rId23"/>
    <p:sldId id="498" r:id="rId24"/>
    <p:sldId id="730" r:id="rId25"/>
    <p:sldId id="733" r:id="rId26"/>
    <p:sldId id="743" r:id="rId27"/>
    <p:sldId id="740" r:id="rId28"/>
    <p:sldId id="739" r:id="rId29"/>
    <p:sldId id="745" r:id="rId30"/>
    <p:sldId id="766" r:id="rId31"/>
    <p:sldId id="746" r:id="rId32"/>
    <p:sldId id="747" r:id="rId33"/>
    <p:sldId id="741" r:id="rId34"/>
    <p:sldId id="738" r:id="rId35"/>
    <p:sldId id="751" r:id="rId36"/>
    <p:sldId id="398" r:id="rId37"/>
    <p:sldId id="395" r:id="rId38"/>
    <p:sldId id="765" r:id="rId39"/>
    <p:sldId id="756" r:id="rId40"/>
    <p:sldId id="757" r:id="rId41"/>
    <p:sldId id="490" r:id="rId4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102"/>
      </p:cViewPr>
      <p:guideLst>
        <p:guide orient="horz" pos="368"/>
        <p:guide pos="211"/>
        <p:guide orient="horz" pos="436"/>
        <p:guide orient="horz" pos="777"/>
        <p:guide orient="horz" pos="28"/>
        <p:guide pos="25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image" Target="../media/image31.emf"/><Relationship Id="rId4" Type="http://schemas.openxmlformats.org/officeDocument/2006/relationships/image" Target="../media/image34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2025-08-09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slide" Target="../slides/slide17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33.xml"/><Relationship Id="rId5" Type="http://schemas.openxmlformats.org/officeDocument/2006/relationships/slide" Target="../slides/slide27.xml"/><Relationship Id="rId4" Type="http://schemas.openxmlformats.org/officeDocument/2006/relationships/slide" Target="../slides/slide23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6736663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780300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886935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5" action="ppaction://hlinksldjump"/>
          </p:cNvPr>
          <p:cNvSpPr/>
          <p:nvPr userDrawn="1"/>
        </p:nvSpPr>
        <p:spPr>
          <a:xfrm>
            <a:off x="993569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探究四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6" action="ppaction://hlinksldjump"/>
          </p:cNvPr>
          <p:cNvSpPr/>
          <p:nvPr userDrawn="1"/>
        </p:nvSpPr>
        <p:spPr>
          <a:xfrm>
            <a:off x="1100203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易错辨析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3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8.emf"/><Relationship Id="rId5" Type="http://schemas.openxmlformats.org/officeDocument/2006/relationships/package" Target="../embeddings/Microsoft_Word___7.docx"/><Relationship Id="rId4" Type="http://schemas.openxmlformats.org/officeDocument/2006/relationships/image" Target="../media/image7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8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9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9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0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0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1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2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12.docx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5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16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17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18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0.emf"/><Relationship Id="rId5" Type="http://schemas.openxmlformats.org/officeDocument/2006/relationships/package" Target="../embeddings/Microsoft_Word___18.docx"/><Relationship Id="rId4" Type="http://schemas.openxmlformats.org/officeDocument/2006/relationships/image" Target="../media/image19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21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22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23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24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25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26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27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28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7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30.emf"/><Relationship Id="rId5" Type="http://schemas.openxmlformats.org/officeDocument/2006/relationships/package" Target="../embeddings/Microsoft_Word___28.docx"/><Relationship Id="rId4" Type="http://schemas.openxmlformats.org/officeDocument/2006/relationships/image" Target="../media/image29.e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package" Target="../embeddings/Microsoft_Word___29.docx"/><Relationship Id="rId7" Type="http://schemas.openxmlformats.org/officeDocument/2006/relationships/package" Target="../embeddings/Microsoft_Word___31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32.emf"/><Relationship Id="rId5" Type="http://schemas.openxmlformats.org/officeDocument/2006/relationships/package" Target="../embeddings/Microsoft_Word___30.docx"/><Relationship Id="rId10" Type="http://schemas.openxmlformats.org/officeDocument/2006/relationships/image" Target="../media/image34.emf"/><Relationship Id="rId4" Type="http://schemas.openxmlformats.org/officeDocument/2006/relationships/image" Target="../media/image31.emf"/><Relationship Id="rId9" Type="http://schemas.openxmlformats.org/officeDocument/2006/relationships/package" Target="../embeddings/Microsoft_Word___32.docx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3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35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3"/>
            <a:ext cx="12191365" cy="1478914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346286"/>
              <a:ext cx="8158783" cy="12004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2.2.2</a:t>
              </a:r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　直线的两点式</a:t>
              </a:r>
              <a:r>
                <a:rPr lang="zh-CN" altLang="en-US" sz="3600" b="1" dirty="0" smtClean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方程</a:t>
              </a:r>
              <a:endParaRPr lang="en-US" altLang="zh-CN" sz="3600" b="1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endParaRPr>
            </a:p>
            <a:p>
              <a:r>
                <a:rPr lang="en-US" altLang="zh-CN" sz="3600" b="1" dirty="0" smtClean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2.2.3</a:t>
              </a:r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　直线的一般式方程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第二章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  <a:p>
            <a:pPr algn="ctr"/>
            <a:r>
              <a:rPr lang="en-US" altLang="zh-CN" sz="3600" b="1" kern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2.2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1241124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根据确定直线位置的几何要素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探索直线的两点式及一般式方程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掌握直线方程的两点式、截距式和一般式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并会熟练应用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会选择适当的方程形式求直线方程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掌握一般式与其他形式之间的相互转化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提升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数学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抽象、逻辑推理和数学运算素养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3402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一、直线的两点式方程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我们知道两点确定一条直线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如果已知直线上两点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那么如何求经过这两点的直线的方程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9320377"/>
              </p:ext>
            </p:extLst>
          </p:nvPr>
        </p:nvGraphicFramePr>
        <p:xfrm>
          <a:off x="381000" y="2353731"/>
          <a:ext cx="11430000" cy="3008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文档" r:id="rId3" imgW="4520786" imgH="1190108" progId="Word.Document.12">
                  <p:embed/>
                </p:oleObj>
              </mc:Choice>
              <mc:Fallback>
                <p:oleObj name="文档" r:id="rId3" imgW="4520786" imgH="119010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2353731"/>
                        <a:ext cx="11430000" cy="3008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3404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从直线的两点式方程的形式上看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两点式方程适用于求什么样的直线的方程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两点式适用于求与两坐标轴不垂直的直线的方程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的两点式方程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986106"/>
              </p:ext>
            </p:extLst>
          </p:nvPr>
        </p:nvGraphicFramePr>
        <p:xfrm>
          <a:off x="381000" y="2968300"/>
          <a:ext cx="11430000" cy="36869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" name="文档" r:id="rId3" imgW="4520786" imgH="1458261" progId="Word.Document.12">
                  <p:embed/>
                </p:oleObj>
              </mc:Choice>
              <mc:Fallback>
                <p:oleObj name="文档" r:id="rId3" imgW="4520786" imgH="145826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2968300"/>
                        <a:ext cx="11430000" cy="36869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6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6274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没有两点式方程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垂直于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垂直于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过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(3,2),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(4,3)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的直线方程是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x+y-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x-y-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7301483"/>
              </p:ext>
            </p:extLst>
          </p:nvPr>
        </p:nvGraphicFramePr>
        <p:xfrm>
          <a:off x="60960" y="3891031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" y="3891031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4745369"/>
            <a:ext cx="1633781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93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88831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二、直线的截距式方程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轴的交点为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,0),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轴的交点为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如何求直线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9745696"/>
              </p:ext>
            </p:extLst>
          </p:nvPr>
        </p:nvGraphicFramePr>
        <p:xfrm>
          <a:off x="64008" y="2309669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008" y="2309669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227622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从直线的截距式方程的形式上看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截距式方程适用于求什么样的直线的方程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截距式适用于求与两坐标轴不垂直以及不过原点的直线的方程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10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882043"/>
            <a:ext cx="3699731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的截距式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方程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2286768"/>
              </p:ext>
            </p:extLst>
          </p:nvPr>
        </p:nvGraphicFramePr>
        <p:xfrm>
          <a:off x="381000" y="1629255"/>
          <a:ext cx="11430000" cy="36869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" name="文档" r:id="rId3" imgW="4520786" imgH="1458261" progId="Word.Document.12">
                  <p:embed/>
                </p:oleObj>
              </mc:Choice>
              <mc:Fallback>
                <p:oleObj name="文档" r:id="rId3" imgW="4520786" imgH="145826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1629255"/>
                        <a:ext cx="11430000" cy="36869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3768847" y="3200058"/>
            <a:ext cx="1405826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719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928027"/>
            <a:ext cx="7264809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(2,0),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两点的直线方程是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8480995"/>
              </p:ext>
            </p:extLst>
          </p:nvPr>
        </p:nvGraphicFramePr>
        <p:xfrm>
          <a:off x="76200" y="1519553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6" name="文档" r:id="rId3" imgW="4520786" imgH="793285" progId="Word.Document.12">
                  <p:embed/>
                </p:oleObj>
              </mc:Choice>
              <mc:Fallback>
                <p:oleObj name="文档" r:id="rId3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200" y="1519553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8648958"/>
              </p:ext>
            </p:extLst>
          </p:nvPr>
        </p:nvGraphicFramePr>
        <p:xfrm>
          <a:off x="76200" y="3321137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7" name="文档" r:id="rId5" imgW="4520786" imgH="396823" progId="Word.Document.12">
                  <p:embed/>
                </p:oleObj>
              </mc:Choice>
              <mc:Fallback>
                <p:oleObj name="文档" r:id="rId5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200" y="3321137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4239090"/>
            <a:ext cx="1612942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64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5680"/>
            <a:ext cx="11430000" cy="573042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三、直线的一般式</a:t>
            </a:r>
            <a:r>
              <a:rPr lang="zh-CN" altLang="zh-CN" sz="2800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方程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5548818"/>
              </p:ext>
            </p:extLst>
          </p:nvPr>
        </p:nvGraphicFramePr>
        <p:xfrm>
          <a:off x="381000" y="1912241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5" name="文档" r:id="rId3" imgW="4520786" imgH="793285" progId="Word.Document.12">
                  <p:embed/>
                </p:oleObj>
              </mc:Choice>
              <mc:Fallback>
                <p:oleObj name="文档" r:id="rId3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1912241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938703"/>
            <a:ext cx="6538970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它们都是关于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的二元一次方程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5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4995"/>
            <a:ext cx="11430000" cy="451328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平面直角坐标系中的任意一条直线都可以用一个关于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的二元一次方程表示吗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都可以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原因如下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任意一条直线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在其上任取一点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的斜率为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此时直线的倾斜角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≠90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这是关于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的二元一次方程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的斜率不存在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的倾斜角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直线的方程为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可以认为是关于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的二元一次方程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此时方程中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的系数为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都是二元一次方程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因此平面直角坐标系中的任意一条直线都可以用一个关于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的二元一次方程表示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6484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2137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任意一个关于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的二元一次方程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Ax+By+C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不同时为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都表示一条直线吗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8593571"/>
              </p:ext>
            </p:extLst>
          </p:nvPr>
        </p:nvGraphicFramePr>
        <p:xfrm>
          <a:off x="385763" y="1726333"/>
          <a:ext cx="11403012" cy="349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0" name="文档" r:id="rId3" imgW="4510061" imgH="1390734" progId="Word.Document.12">
                  <p:embed/>
                </p:oleObj>
              </mc:Choice>
              <mc:Fallback>
                <p:oleObj name="文档" r:id="rId3" imgW="4510061" imgH="139073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5763" y="1726333"/>
                        <a:ext cx="11403012" cy="349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3326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742243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我们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把关于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的二元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一次方程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err="1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Ax+By+C</a:t>
            </a:r>
            <a:r>
              <a:rPr lang="en-US" altLang="zh-CN" sz="2800" i="1" dirty="0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不同时为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叫做直线的一般式方程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简称一般式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做一做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斜率为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的直线的一般式方程为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688870" y="1843225"/>
            <a:ext cx="1961133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5700825" y="2280185"/>
            <a:ext cx="195289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898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87925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65398"/>
              </p:ext>
            </p:extLst>
          </p:nvPr>
        </p:nvGraphicFramePr>
        <p:xfrm>
          <a:off x="65596" y="1391524"/>
          <a:ext cx="11430000" cy="197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3" name="文档" r:id="rId3" imgW="4520786" imgH="793285" progId="Word.Document.12">
                  <p:embed/>
                </p:oleObj>
              </mc:Choice>
              <mc:Fallback>
                <p:oleObj name="文档" r:id="rId3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596" y="1391524"/>
                        <a:ext cx="11430000" cy="1978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223245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能用两点式写出的直线方程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也可以用点斜式方程写出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  √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直线的一般式方程可以表示平面内任意一条直线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  √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直线的其他形式的方程都可化为一般式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  √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(6)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关于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的二元一次方程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Ax+By+C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不同时为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一定表示一条直线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  √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647629" y="1635407"/>
            <a:ext cx="397907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948465" y="2649041"/>
            <a:ext cx="397907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706419" y="3323198"/>
            <a:ext cx="409964" cy="534137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912989" y="3857335"/>
            <a:ext cx="409964" cy="534137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501686" y="4401075"/>
            <a:ext cx="409964" cy="534137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11277" y="5516857"/>
            <a:ext cx="409964" cy="534137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827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直线的两点式方程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245680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三角形的三个顶点是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1,0),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(1,3),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求三角形边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所在直线的方程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已知直线上两个点的坐标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可以利用两点式方程求出直线的方程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5943753"/>
              </p:ext>
            </p:extLst>
          </p:nvPr>
        </p:nvGraphicFramePr>
        <p:xfrm>
          <a:off x="64008" y="2994776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7" name="文档" r:id="rId3" imgW="4520786" imgH="793285" progId="Word.Document.12">
                  <p:embed/>
                </p:oleObj>
              </mc:Choice>
              <mc:Fallback>
                <p:oleObj name="文档" r:id="rId3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008" y="2994776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857196"/>
            <a:ext cx="8496237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本题条件不变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上的中线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所在直线的方程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3" name="延伸探究H.eps" descr="id:2147494559;FounderCES"/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57688" y="405947"/>
            <a:ext cx="2016224" cy="367706"/>
          </a:xfrm>
          <a:prstGeom prst="rect">
            <a:avLst/>
          </a:prstGeom>
        </p:spPr>
      </p:pic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8110150"/>
              </p:ext>
            </p:extLst>
          </p:nvPr>
        </p:nvGraphicFramePr>
        <p:xfrm>
          <a:off x="62992" y="1448722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0" name="文档" r:id="rId4" imgW="4520786" imgH="793285" progId="Word.Document.12">
                  <p:embed/>
                </p:oleObj>
              </mc:Choice>
              <mc:Fallback>
                <p:oleObj name="文档" r:id="rId4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2992" y="1448722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3405634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两点横坐标相同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所在直线的方程为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两点式方程写出直线的方程时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要特别注意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当横坐标相等或纵坐标相等时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不能用两点式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2541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求经过下列两点的直线方程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(3,1),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(4,0);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(2,1),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(3,1);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(2,1),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0960" y="2938638"/>
            <a:ext cx="11750040" cy="2009371"/>
            <a:chOff x="60960" y="3295785"/>
            <a:chExt cx="11750040" cy="2009371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5141858"/>
                </p:ext>
              </p:extLst>
            </p:nvPr>
          </p:nvGraphicFramePr>
          <p:xfrm>
            <a:off x="60960" y="3295785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4" name="文档" r:id="rId3" imgW="4520786" imgH="396823" progId="Word.Document.12">
                    <p:embed/>
                  </p:oleObj>
                </mc:Choice>
                <mc:Fallback>
                  <p:oleObj name="文档" r:id="rId3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0960" y="3295785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4152789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两点的纵坐标相等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故直线垂直于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所求直线的方程为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两点的横坐标相等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故直线垂直于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所求直线的方程为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直线的截距式方程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704342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6,3),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且它在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轴上的截距是它在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轴上截距的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倍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轴上的截距为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轴上的截距为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因为截距可正、可负、可为零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所以应分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两种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情况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讨论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当直线在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轴上的截距为零时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直线过原点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可设直线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6,3),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7150738"/>
              </p:ext>
            </p:extLst>
          </p:nvPr>
        </p:nvGraphicFramePr>
        <p:xfrm>
          <a:off x="64008" y="4048554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7" name="文档" r:id="rId3" imgW="4520786" imgH="793285" progId="Word.Document.12">
                  <p:embed/>
                </p:oleObj>
              </mc:Choice>
              <mc:Fallback>
                <p:oleObj name="文档" r:id="rId3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008" y="4048554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76200" y="231866"/>
            <a:ext cx="11734800" cy="5713992"/>
            <a:chOff x="76200" y="398122"/>
            <a:chExt cx="11734800" cy="5713992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398122"/>
              <a:ext cx="5832046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②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当直线在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轴上的截距不为零时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02591105"/>
                </p:ext>
              </p:extLst>
            </p:nvPr>
          </p:nvGraphicFramePr>
          <p:xfrm>
            <a:off x="76200" y="928688"/>
            <a:ext cx="11430000" cy="30089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1" name="文档" r:id="rId3" imgW="4520786" imgH="1190108" progId="Word.Document.12">
                    <p:embed/>
                  </p:oleObj>
                </mc:Choice>
                <mc:Fallback>
                  <p:oleObj name="文档" r:id="rId3" imgW="4520786" imgH="119010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6200" y="928688"/>
                          <a:ext cx="11430000" cy="300897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3779168"/>
              <a:ext cx="11430000" cy="233294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综上所述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所求直线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的方程为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en-US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反思感悟</a:t>
              </a:r>
              <a:r>
                <a:rPr lang="en-US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题目中出现直线在两坐标轴上的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“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截距相等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”“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截距互为相反数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”“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在一坐标轴上的截距是另一坐标轴上截距的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倍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0)”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等条件时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若采用截距式求直线方程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则一定要注意考虑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“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零截距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”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的情况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731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29860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且在两坐标轴上的截距相等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的方程为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　　　　　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轴上的截距为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轴上的截距也为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过原点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此时直线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的方程为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509107"/>
              </p:ext>
            </p:extLst>
          </p:nvPr>
        </p:nvGraphicFramePr>
        <p:xfrm>
          <a:off x="51816" y="2417189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5" name="文档" r:id="rId3" imgW="4520786" imgH="793285" progId="Word.Document.12">
                  <p:embed/>
                </p:oleObj>
              </mc:Choice>
              <mc:Fallback>
                <p:oleObj name="文档" r:id="rId3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816" y="2417189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4265072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的方程为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x+y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综上可知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的方程为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2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25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charRg st="25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54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charRg st="54" end="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直线的一般式方程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799037"/>
            <a:ext cx="11430000" cy="2885534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根据下列条件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写出直线的方程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并把它化为一般式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斜率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且经过点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(5,3);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1,5),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轴、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轴上的截距分别是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根据条件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选择恰当的直线方程的形式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最后化成一般式方程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6291305"/>
              </p:ext>
            </p:extLst>
          </p:nvPr>
        </p:nvGraphicFramePr>
        <p:xfrm>
          <a:off x="2161776" y="1439383"/>
          <a:ext cx="66992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0" name="文档" r:id="rId3" imgW="271708" imgH="198592" progId="Word.Document.12">
                  <p:embed/>
                </p:oleObj>
              </mc:Choice>
              <mc:Fallback>
                <p:oleObj name="文档" r:id="rId3" imgW="271708" imgH="19859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61776" y="1439383"/>
                        <a:ext cx="669925" cy="501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4757024"/>
              </p:ext>
            </p:extLst>
          </p:nvPr>
        </p:nvGraphicFramePr>
        <p:xfrm>
          <a:off x="64119" y="3660187"/>
          <a:ext cx="11430000" cy="2507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1" name="文档" r:id="rId5" imgW="4520786" imgH="991877" progId="Word.Document.12">
                  <p:embed/>
                </p:oleObj>
              </mc:Choice>
              <mc:Fallback>
                <p:oleObj name="文档" r:id="rId5" imgW="4520786" imgH="9918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119" y="3660187"/>
                        <a:ext cx="11430000" cy="25077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903703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直线的点斜式、斜截式、两点式、截距式求解直线的方程时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一定要注意每种方程形式的适用范围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要注意对斜率是否存在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斜率是否为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截距是否为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进行分类讨论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最后将方程转化为一般式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4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60575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求经过点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(1,2),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且与直线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平行的直线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求经过点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(2,1),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且与直线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垂直的直线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方法一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由题意知直线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的斜率存在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的斜率为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0960" y="2327123"/>
            <a:ext cx="11750040" cy="4063752"/>
            <a:chOff x="60960" y="2327123"/>
            <a:chExt cx="11750040" cy="4063752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6921515"/>
                </p:ext>
              </p:extLst>
            </p:nvPr>
          </p:nvGraphicFramePr>
          <p:xfrm>
            <a:off x="60960" y="2327123"/>
            <a:ext cx="11430000" cy="25077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2" name="文档" r:id="rId3" imgW="4520786" imgH="991877" progId="Word.Document.12">
                    <p:embed/>
                  </p:oleObj>
                </mc:Choice>
                <mc:Fallback>
                  <p:oleObj name="文档" r:id="rId3" imgW="4520786" imgH="99187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0960" y="2327123"/>
                          <a:ext cx="11430000" cy="250778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4678355"/>
              <a:ext cx="11430000" cy="17125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方法二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设与直线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平行的直线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的方程为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y+m=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∵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经过点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(1,2),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3×1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4×2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+m=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解得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的方程为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64008" y="1045444"/>
            <a:ext cx="11746992" cy="3631951"/>
            <a:chOff x="64008" y="1555893"/>
            <a:chExt cx="11746992" cy="3631951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555893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由题意知直线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的斜率存在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的斜率为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∵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与直线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x+y-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垂直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33624871"/>
                </p:ext>
              </p:extLst>
            </p:nvPr>
          </p:nvGraphicFramePr>
          <p:xfrm>
            <a:off x="64008" y="2680060"/>
            <a:ext cx="11430000" cy="25077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6" name="文档" r:id="rId3" imgW="4520786" imgH="991877" progId="Word.Document.12">
                    <p:embed/>
                  </p:oleObj>
                </mc:Choice>
                <mc:Fallback>
                  <p:oleObj name="文档" r:id="rId3" imgW="4520786" imgH="99187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4008" y="2680060"/>
                          <a:ext cx="11430000" cy="250778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72806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" name="矩形 2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探究四</a:t>
                </a: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直线的平行与垂直问题</a:t>
                </a:r>
              </a:p>
            </p:txBody>
          </p:sp>
        </p:grpSp>
      </p:grpSp>
      <p:sp>
        <p:nvSpPr>
          <p:cNvPr id="7" name="矩形 6"/>
          <p:cNvSpPr>
            <a:spLocks noChangeAspect="1"/>
          </p:cNvSpPr>
          <p:nvPr/>
        </p:nvSpPr>
        <p:spPr>
          <a:xfrm>
            <a:off x="381000" y="704342"/>
            <a:ext cx="11430000" cy="395313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为何值时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互相垂直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方法一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显然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不平行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60962" y="4614928"/>
            <a:ext cx="11430000" cy="1530278"/>
            <a:chOff x="60962" y="4614928"/>
            <a:chExt cx="11430000" cy="1530278"/>
          </a:xfrm>
        </p:grpSpPr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4716931"/>
                </p:ext>
              </p:extLst>
            </p:nvPr>
          </p:nvGraphicFramePr>
          <p:xfrm>
            <a:off x="60962" y="4614928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69" name="文档" r:id="rId3" imgW="4520786" imgH="396823" progId="Word.Document.12">
                    <p:embed/>
                  </p:oleObj>
                </mc:Choice>
                <mc:Fallback>
                  <p:oleObj name="文档" r:id="rId3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0962" y="4614928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381000" y="5492720"/>
              <a:ext cx="5830442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解得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的值为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82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60960" y="1458722"/>
            <a:ext cx="11430000" cy="3664229"/>
            <a:chOff x="60960" y="1592834"/>
            <a:chExt cx="11430000" cy="3664229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592834"/>
              <a:ext cx="9145452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方法二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不平行于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en-US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02752356"/>
                </p:ext>
              </p:extLst>
            </p:nvPr>
          </p:nvGraphicFramePr>
          <p:xfrm>
            <a:off x="60960" y="2135592"/>
            <a:ext cx="11430000" cy="2005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3" name="文档" r:id="rId3" imgW="4520786" imgH="793285" progId="Word.Document.12">
                    <p:embed/>
                  </p:oleObj>
                </mc:Choice>
                <mc:Fallback>
                  <p:oleObj name="文档" r:id="rId3" imgW="4520786" imgH="7932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0960" y="2135592"/>
                          <a:ext cx="11430000" cy="200568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4104696"/>
              <a:ext cx="3180679" cy="11523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解得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 smtClean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的值为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en-US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8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64008" y="670538"/>
            <a:ext cx="11746992" cy="4131755"/>
            <a:chOff x="64008" y="545846"/>
            <a:chExt cx="11746992" cy="4131755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545846"/>
              <a:ext cx="11430000" cy="65248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-a=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与直线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显然垂直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r>
                <a:rPr lang="zh-CN" altLang="en-US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32485414"/>
                </p:ext>
              </p:extLst>
            </p:nvPr>
          </p:nvGraphicFramePr>
          <p:xfrm>
            <a:off x="64008" y="1161756"/>
            <a:ext cx="11430000" cy="30089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17" name="文档" r:id="rId3" imgW="4520786" imgH="1190108" progId="Word.Document.12">
                    <p:embed/>
                  </p:oleObj>
                </mc:Choice>
                <mc:Fallback>
                  <p:oleObj name="文档" r:id="rId3" imgW="4520786" imgH="119010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4008" y="1161756"/>
                          <a:ext cx="11430000" cy="300897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4085388"/>
              <a:ext cx="11430000" cy="59221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综上可知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2890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81000" y="51955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2800" dirty="0" smtClean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反思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感悟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一般式下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两直线位置关系的判定如下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设直线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的方程分别为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不同时为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不同时为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0686567"/>
              </p:ext>
            </p:extLst>
          </p:nvPr>
        </p:nvGraphicFramePr>
        <p:xfrm>
          <a:off x="31173" y="1816430"/>
          <a:ext cx="11430000" cy="2739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7" name="文档" r:id="rId3" imgW="4510061" imgH="1081013" progId="Word.Document.12">
                  <p:embed/>
                </p:oleObj>
              </mc:Choice>
              <mc:Fallback>
                <p:oleObj name="文档" r:id="rId3" imgW="4510061" imgH="108101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173" y="1816430"/>
                        <a:ext cx="11430000" cy="27396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spect="1"/>
          </p:cNvSpPr>
          <p:nvPr/>
        </p:nvSpPr>
        <p:spPr>
          <a:xfrm>
            <a:off x="381000" y="4556078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相交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与直线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Ax+By+C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平行的直线方程可设为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Ax+By+m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与直线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Ax+By+C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垂直的直线方程可设为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Bx-Ay+n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834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01534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的方程分别是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y+a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7459461"/>
              </p:ext>
            </p:extLst>
          </p:nvPr>
        </p:nvGraphicFramePr>
        <p:xfrm>
          <a:off x="51816" y="2497749"/>
          <a:ext cx="11430000" cy="3510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" name="文档" r:id="rId3" imgW="4520786" imgH="1388340" progId="Word.Document.12">
                  <p:embed/>
                </p:oleObj>
              </mc:Choice>
              <mc:Fallback>
                <p:oleObj name="文档" r:id="rId3" imgW="4520786" imgH="138834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816" y="2497749"/>
                        <a:ext cx="11430000" cy="3510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88318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2777707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经过点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3×1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+m=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的方程为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2161785"/>
              </p:ext>
            </p:extLst>
          </p:nvPr>
        </p:nvGraphicFramePr>
        <p:xfrm>
          <a:off x="51955" y="922533"/>
          <a:ext cx="11275153" cy="1983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6" name="文档" r:id="rId3" imgW="4510061" imgH="793212" progId="Word.Document.12">
                  <p:embed/>
                </p:oleObj>
              </mc:Choice>
              <mc:Fallback>
                <p:oleObj name="文档" r:id="rId3" imgW="4510061" imgH="7932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955" y="922533"/>
                        <a:ext cx="11275153" cy="19830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2002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易错辨析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81000" y="596392"/>
            <a:ext cx="11430000" cy="619374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因转化条件不等价而致误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【典例】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x+my+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错解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1×3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以上解题过程中都有哪些错误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出错的原因是什么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你如何改正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你如何防范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因存在斜率的两直线平行的等价条件为斜率相等且截距不等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所以上述解法忽略检验截距是否相等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正解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1×3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两条直线平行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两条直线重合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54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036647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防范措施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已知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重合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求出参数值后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需检验两条直线是否重合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85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1506894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则实数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的值为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3×2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重合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不符合题意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舍去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102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(2,4),(2,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的直线的方程是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x+y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	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x+y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(2,4),(2,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两点的横坐标相同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故直线垂直于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直线方程为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3791"/>
            <a:ext cx="11430000" cy="5922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(0,3),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两点的直线的截距式方程为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7077081"/>
              </p:ext>
            </p:extLst>
          </p:nvPr>
        </p:nvGraphicFramePr>
        <p:xfrm>
          <a:off x="478536" y="1308196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0" name="文档" r:id="rId3" imgW="4520786" imgH="793285" progId="Word.Document.12">
                  <p:embed/>
                </p:oleObj>
              </mc:Choice>
              <mc:Fallback>
                <p:oleObj name="文档" r:id="rId3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8536" y="1308196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8308117"/>
              </p:ext>
            </p:extLst>
          </p:nvPr>
        </p:nvGraphicFramePr>
        <p:xfrm>
          <a:off x="478536" y="3252916"/>
          <a:ext cx="11430000" cy="150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1" name="文档" r:id="rId5" imgW="4520786" imgH="595054" progId="Word.Document.12">
                  <p:embed/>
                </p:oleObj>
              </mc:Choice>
              <mc:Fallback>
                <p:oleObj name="文档" r:id="rId5" imgW="4520786" imgH="5950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8536" y="3252916"/>
                        <a:ext cx="11430000" cy="1504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4606110"/>
            <a:ext cx="1351652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034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09665"/>
            <a:ext cx="11430000" cy="5922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x-ay+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9651101"/>
              </p:ext>
            </p:extLst>
          </p:nvPr>
        </p:nvGraphicFramePr>
        <p:xfrm>
          <a:off x="478536" y="848267"/>
          <a:ext cx="11430000" cy="150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0" name="文档" r:id="rId3" imgW="4520786" imgH="595054" progId="Word.Document.12">
                  <p:embed/>
                </p:oleObj>
              </mc:Choice>
              <mc:Fallback>
                <p:oleObj name="文档" r:id="rId3" imgW="4520786" imgH="5950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8536" y="848267"/>
                        <a:ext cx="11430000" cy="1504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9083199"/>
              </p:ext>
            </p:extLst>
          </p:nvPr>
        </p:nvGraphicFramePr>
        <p:xfrm>
          <a:off x="478536" y="2399144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1" name="文档" r:id="rId5" imgW="4520786" imgH="396823" progId="Word.Document.12">
                  <p:embed/>
                </p:oleObj>
              </mc:Choice>
              <mc:Fallback>
                <p:oleObj name="文档" r:id="rId5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8536" y="2399144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81000" y="3424446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化为斜截式为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化为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截距式为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zh-CN" altLang="en-US" sz="2800" i="1" u="sng" dirty="0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9265737"/>
              </p:ext>
            </p:extLst>
          </p:nvPr>
        </p:nvGraphicFramePr>
        <p:xfrm>
          <a:off x="478536" y="4612702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2" name="文档" r:id="rId7" imgW="4520786" imgH="396823" progId="Word.Document.12">
                  <p:embed/>
                </p:oleObj>
              </mc:Choice>
              <mc:Fallback>
                <p:oleObj name="文档" r:id="rId7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8536" y="4612702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2186857"/>
              </p:ext>
            </p:extLst>
          </p:nvPr>
        </p:nvGraphicFramePr>
        <p:xfrm>
          <a:off x="478536" y="5467618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3" name="文档" r:id="rId9" imgW="4520786" imgH="396823" progId="Word.Document.12">
                  <p:embed/>
                </p:oleObj>
              </mc:Choice>
              <mc:Fallback>
                <p:oleObj name="文档" r:id="rId9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8536" y="5467618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2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50184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cs typeface="Cambria Math" panose="02040503050406030204" pitchFamily="18" charset="0"/>
              </a:rPr>
              <a:t>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的三个顶点坐标为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3,2),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所在直线的方程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上的中线所在直线的方程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所在直线经过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9997323"/>
              </p:ext>
            </p:extLst>
          </p:nvPr>
        </p:nvGraphicFramePr>
        <p:xfrm>
          <a:off x="478536" y="2345440"/>
          <a:ext cx="11430000" cy="451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7" name="文档" r:id="rId3" imgW="4520786" imgH="1785162" progId="Word.Document.12">
                  <p:embed/>
                </p:oleObj>
              </mc:Choice>
              <mc:Fallback>
                <p:oleObj name="文档" r:id="rId3" imgW="4520786" imgH="178516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8536" y="2345440"/>
                        <a:ext cx="11430000" cy="4513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111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51123" y="2222090"/>
            <a:ext cx="499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194</TotalTime>
  <Words>2184</Words>
  <Application>Microsoft Office PowerPoint</Application>
  <PresentationFormat>宽屏</PresentationFormat>
  <Paragraphs>152</Paragraphs>
  <Slides>41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62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1_Office 主题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SkyUser</cp:lastModifiedBy>
  <cp:revision>29</cp:revision>
  <dcterms:created xsi:type="dcterms:W3CDTF">2021-08-30T08:30:26Z</dcterms:created>
  <dcterms:modified xsi:type="dcterms:W3CDTF">2025-08-09T08:48:52Z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