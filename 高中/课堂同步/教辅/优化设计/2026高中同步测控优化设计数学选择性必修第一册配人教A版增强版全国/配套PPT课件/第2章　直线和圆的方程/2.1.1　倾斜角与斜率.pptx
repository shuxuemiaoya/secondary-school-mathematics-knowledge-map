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693" r:id="rId13"/>
    <p:sldId id="694" r:id="rId14"/>
    <p:sldId id="695" r:id="rId15"/>
    <p:sldId id="696" r:id="rId16"/>
    <p:sldId id="697" r:id="rId17"/>
    <p:sldId id="407" r:id="rId18"/>
    <p:sldId id="394" r:id="rId19"/>
    <p:sldId id="699" r:id="rId20"/>
    <p:sldId id="700" r:id="rId21"/>
    <p:sldId id="701" r:id="rId22"/>
    <p:sldId id="402" r:id="rId23"/>
    <p:sldId id="712" r:id="rId24"/>
    <p:sldId id="713" r:id="rId25"/>
    <p:sldId id="759" r:id="rId26"/>
    <p:sldId id="714" r:id="rId27"/>
    <p:sldId id="498" r:id="rId28"/>
    <p:sldId id="733" r:id="rId29"/>
    <p:sldId id="740" r:id="rId30"/>
    <p:sldId id="739" r:id="rId31"/>
    <p:sldId id="745" r:id="rId32"/>
    <p:sldId id="746" r:id="rId33"/>
    <p:sldId id="398" r:id="rId34"/>
    <p:sldId id="395" r:id="rId35"/>
    <p:sldId id="756" r:id="rId36"/>
    <p:sldId id="757" r:id="rId37"/>
    <p:sldId id="758" r:id="rId38"/>
    <p:sldId id="490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slide" Target="../slides/slide18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9.xml"/><Relationship Id="rId4" Type="http://schemas.openxmlformats.org/officeDocument/2006/relationships/slide" Target="../slides/slide27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88656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5291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1925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1108559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jpeg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jpeg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Word___5.docx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Word___7.docx"/><Relationship Id="rId4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Word___9.docx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emf"/><Relationship Id="rId5" Type="http://schemas.openxmlformats.org/officeDocument/2006/relationships/package" Target="../embeddings/Microsoft_Word___11.docx"/><Relationship Id="rId4" Type="http://schemas.openxmlformats.org/officeDocument/2006/relationships/image" Target="../media/image1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emf"/><Relationship Id="rId5" Type="http://schemas.openxmlformats.org/officeDocument/2006/relationships/package" Target="../embeddings/Microsoft_Word___13.docx"/><Relationship Id="rId4" Type="http://schemas.openxmlformats.org/officeDocument/2006/relationships/image" Target="../media/image17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7" Type="http://schemas.openxmlformats.org/officeDocument/2006/relationships/image" Target="../media/image25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4.emf"/><Relationship Id="rId5" Type="http://schemas.openxmlformats.org/officeDocument/2006/relationships/package" Target="../embeddings/Microsoft_Word___16.docx"/><Relationship Id="rId4" Type="http://schemas.openxmlformats.org/officeDocument/2006/relationships/image" Target="../media/image23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8.jpeg"/><Relationship Id="rId7" Type="http://schemas.openxmlformats.org/officeDocument/2006/relationships/image" Target="../media/image2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package" Target="../embeddings/Microsoft_Word___18.docx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17.docx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0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33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34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5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6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5" Type="http://schemas.openxmlformats.org/officeDocument/2006/relationships/package" Target="../embeddings/Microsoft_Word___27.docx"/><Relationship Id="rId4" Type="http://schemas.openxmlformats.org/officeDocument/2006/relationships/image" Target="../media/image22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package" Target="../embeddings/Microsoft_Word___28.docx"/><Relationship Id="rId7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9.emf"/><Relationship Id="rId5" Type="http://schemas.openxmlformats.org/officeDocument/2006/relationships/package" Target="../embeddings/Microsoft_Word___29.docx"/><Relationship Id="rId4" Type="http://schemas.openxmlformats.org/officeDocument/2006/relationships/image" Target="../media/image38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41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2.1.1</a:t>
              </a:r>
              <a:r>
                <a:rPr lang="zh-CN" altLang="en-US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倾斜角与斜率</a:t>
              </a:r>
              <a:endParaRPr lang="zh-CN" altLang="en-US" sz="36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第二章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2.1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8442"/>
            <a:ext cx="11430000" cy="34009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在平面直角坐标系中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结合具体图形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探索确定直线位置的几何要素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理解直线的倾斜角和斜率的概念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经历用代数方法刻画直线斜率的过程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掌握过两点的直线斜率的计算公式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掌握倾斜角与斜率之间的关系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体会数学抽象和直观想象的过程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加强逻辑思维与数学运算能力的培养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40760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一、直线的倾斜角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在平面直角坐标系中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P(2,2)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可以作多少条直线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这些直线区别在哪里呢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P(2,2)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可以作无数条直线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区别是它们的方向不同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WMX1TRAX01.eps" descr="id:2147491571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84738" y="2989000"/>
            <a:ext cx="3022525" cy="335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08369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如何表示题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中这些直线的方向呢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这些直线相对于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轴的倾斜程度不同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也就是它们与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轴所成的角不同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我们可以利用这样的角来表示这些直线的方向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4765"/>
            <a:ext cx="2981585" cy="59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直线的倾斜角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839163"/>
              </p:ext>
            </p:extLst>
          </p:nvPr>
        </p:nvGraphicFramePr>
        <p:xfrm>
          <a:off x="381000" y="673070"/>
          <a:ext cx="11430000" cy="6824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文档" r:id="rId3" imgW="4520786" imgH="2699189" progId="Word.Document.12">
                  <p:embed/>
                </p:oleObj>
              </mc:Choice>
              <mc:Fallback>
                <p:oleObj name="文档" r:id="rId3" imgW="4520786" imgH="26991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673070"/>
                        <a:ext cx="11430000" cy="6824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7323626" y="776730"/>
            <a:ext cx="230565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697435" y="797512"/>
            <a:ext cx="340946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687044" y="1811813"/>
            <a:ext cx="587092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40300"/>
            <a:ext cx="11430000" cy="62540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135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	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不存在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由题图可知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+90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=135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WMX1TRAX03.eps" descr="id:2147491594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91062" y="973178"/>
            <a:ext cx="3009876" cy="300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2717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二、直线的斜率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我们知道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两点确定一条直线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进而它的倾斜角也就确定了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在平面直角坐标系中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的倾斜角为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请用向量法回答下列问题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O(0,0),P(1,1),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则倾斜角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O,P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的坐标有什么关系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7065" y="2328451"/>
            <a:ext cx="11301965" cy="3565966"/>
            <a:chOff x="67065" y="3242851"/>
            <a:chExt cx="11301965" cy="3565966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3579275"/>
                </p:ext>
              </p:extLst>
            </p:nvPr>
          </p:nvGraphicFramePr>
          <p:xfrm>
            <a:off x="67065" y="3242851"/>
            <a:ext cx="11301965" cy="9920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7065" y="3242851"/>
                          <a:ext cx="11301965" cy="9920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" name="WMX1TRAX04.eps" descr="id:2147491601;FounderCES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626889" y="4134281"/>
              <a:ext cx="2938223" cy="26745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31733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类似地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(1,0),P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(-1,2),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那么倾斜角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的坐标有什么关系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81000" y="1190581"/>
            <a:ext cx="11430000" cy="5048346"/>
            <a:chOff x="381000" y="1356837"/>
            <a:chExt cx="11430000" cy="5048346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2975759"/>
                </p:ext>
              </p:extLst>
            </p:nvPr>
          </p:nvGraphicFramePr>
          <p:xfrm>
            <a:off x="381000" y="1356837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文档" r:id="rId3" imgW="4520786" imgH="793285" progId="Word.Document.12">
                    <p:embed/>
                  </p:oleObj>
                </mc:Choice>
                <mc:Fallback>
                  <p:oleObj name="文档" r:id="rId3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1356837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" name="WMX1TRAX05.eps" descr="id:2147491608;FounderCES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672283" y="3362517"/>
              <a:ext cx="4847435" cy="30426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52427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经过两点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那么倾斜角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的坐标有怎样的关系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81000" y="1209474"/>
            <a:ext cx="11430000" cy="5003376"/>
            <a:chOff x="381000" y="1354948"/>
            <a:chExt cx="11430000" cy="5003376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0108052"/>
                </p:ext>
              </p:extLst>
            </p:nvPr>
          </p:nvGraphicFramePr>
          <p:xfrm>
            <a:off x="381000" y="1354948"/>
            <a:ext cx="11430000" cy="2507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6" name="文档" r:id="rId3" imgW="4520786" imgH="991877" progId="Word.Document.12">
                    <p:embed/>
                  </p:oleObj>
                </mc:Choice>
                <mc:Fallback>
                  <p:oleObj name="文档" r:id="rId3" imgW="4520786" imgH="9918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1354948"/>
                          <a:ext cx="11430000" cy="250778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7234313"/>
                </p:ext>
              </p:extLst>
            </p:nvPr>
          </p:nvGraphicFramePr>
          <p:xfrm>
            <a:off x="381000" y="3850540"/>
            <a:ext cx="11430000" cy="2507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7" name="文档" r:id="rId5" imgW="4520786" imgH="991877" progId="Word.Document.12">
                    <p:embed/>
                  </p:oleObj>
                </mc:Choice>
                <mc:Fallback>
                  <p:oleObj name="文档" r:id="rId5" imgW="4520786" imgH="9918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1000" y="3850540"/>
                          <a:ext cx="11430000" cy="250778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424011"/>
              </p:ext>
            </p:extLst>
          </p:nvPr>
        </p:nvGraphicFramePr>
        <p:xfrm>
          <a:off x="381000" y="523240"/>
          <a:ext cx="11430000" cy="2507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" name="文档" r:id="rId3" imgW="4520786" imgH="991877" progId="Word.Document.12">
                  <p:embed/>
                </p:oleObj>
              </mc:Choice>
              <mc:Fallback>
                <p:oleObj name="文档" r:id="rId3" imgW="4520786" imgH="9918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523240"/>
                        <a:ext cx="11430000" cy="2507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29988"/>
              </p:ext>
            </p:extLst>
          </p:nvPr>
        </p:nvGraphicFramePr>
        <p:xfrm>
          <a:off x="381000" y="3059176"/>
          <a:ext cx="11430000" cy="2507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name="文档" r:id="rId5" imgW="4520786" imgH="991877" progId="Word.Document.12">
                  <p:embed/>
                </p:oleObj>
              </mc:Choice>
              <mc:Fallback>
                <p:oleObj name="文档" r:id="rId5" imgW="4520786" imgH="9918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000" y="3059176"/>
                        <a:ext cx="11430000" cy="2507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648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1070038"/>
            <a:ext cx="11430000" cy="3554060"/>
            <a:chOff x="381000" y="1675898"/>
            <a:chExt cx="11430000" cy="355406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7191786"/>
                </p:ext>
              </p:extLst>
            </p:nvPr>
          </p:nvGraphicFramePr>
          <p:xfrm>
            <a:off x="381000" y="1675898"/>
            <a:ext cx="11430000" cy="150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2" name="文档" r:id="rId3" imgW="4510061" imgH="596081" progId="Word.Document.12">
                    <p:embed/>
                  </p:oleObj>
                </mc:Choice>
                <mc:Fallback>
                  <p:oleObj name="文档" r:id="rId3" imgW="4510061" imgH="59608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1675898"/>
                          <a:ext cx="11430000" cy="1504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049910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我们把一条直线的倾斜角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</a:t>
              </a:r>
              <a:r>
                <a:rPr lang="zh-CN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正切值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叫做这条直线的斜率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斜率常用小写字母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表示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即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k=</a:t>
              </a:r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tan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4798572"/>
                </p:ext>
              </p:extLst>
            </p:nvPr>
          </p:nvGraphicFramePr>
          <p:xfrm>
            <a:off x="381000" y="4226661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3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1000" y="4226661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/>
          <p:nvPr/>
        </p:nvSpPr>
        <p:spPr>
          <a:xfrm>
            <a:off x="5613113" y="2532962"/>
            <a:ext cx="107355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5624775" y="2969922"/>
            <a:ext cx="10690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611361" y="3103027"/>
            <a:ext cx="73873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594832" y="3519205"/>
            <a:ext cx="7504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2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1073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在平面直角坐标系中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倾斜角和斜率分别从形和数两个角度刻画了直线相对于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轴的倾斜程度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它们的对应关系如表所示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769710"/>
              </p:ext>
            </p:extLst>
          </p:nvPr>
        </p:nvGraphicFramePr>
        <p:xfrm>
          <a:off x="381000" y="1426153"/>
          <a:ext cx="11430000" cy="4722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6" name="文档" r:id="rId3" imgW="4520786" imgH="1867699" progId="Word.Document.12">
                  <p:embed/>
                </p:oleObj>
              </mc:Choice>
              <mc:Fallback>
                <p:oleObj name="文档" r:id="rId3" imgW="4520786" imgH="18676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426153"/>
                        <a:ext cx="11430000" cy="4722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459993"/>
              </p:ext>
            </p:extLst>
          </p:nvPr>
        </p:nvGraphicFramePr>
        <p:xfrm>
          <a:off x="64008" y="5181576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008" y="5181576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6460092" y="3245997"/>
            <a:ext cx="103175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127083" y="4255351"/>
            <a:ext cx="103175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938360" y="4276133"/>
            <a:ext cx="104207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89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76200" y="1327696"/>
            <a:ext cx="11734800" cy="2745207"/>
            <a:chOff x="76200" y="1660208"/>
            <a:chExt cx="11734800" cy="274520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660208"/>
              <a:ext cx="11430000" cy="65248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.(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(3,5),P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(-1,-3),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则直线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的斜率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等于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4305364"/>
                </p:ext>
              </p:extLst>
            </p:nvPr>
          </p:nvGraphicFramePr>
          <p:xfrm>
            <a:off x="76200" y="2364844"/>
            <a:ext cx="11430000" cy="150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30" name="文档" r:id="rId3" imgW="4520786" imgH="595054" progId="Word.Document.12">
                    <p:embed/>
                  </p:oleObj>
                </mc:Choice>
                <mc:Fallback>
                  <p:oleObj name="文档" r:id="rId3" imgW="4520786" imgH="5950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6200" y="2364844"/>
                          <a:ext cx="11430000" cy="1504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752929"/>
              <a:ext cx="9118202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已知直线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的倾斜角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=60</a:t>
              </a:r>
              <a:r>
                <a:rPr lang="en-US" altLang="zh-CN" sz="2800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则其斜率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k=</a:t>
              </a:r>
              <a:r>
                <a:rPr lang="zh-CN" altLang="zh-CN" sz="2800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 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169370"/>
              </p:ext>
            </p:extLst>
          </p:nvPr>
        </p:nvGraphicFramePr>
        <p:xfrm>
          <a:off x="76200" y="4132062"/>
          <a:ext cx="11430000" cy="501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文档" r:id="rId5" imgW="4520786" imgH="198231" progId="Word.Document.12">
                  <p:embed/>
                </p:oleObj>
              </mc:Choice>
              <mc:Fallback>
                <p:oleObj name="文档" r:id="rId5" imgW="4520786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200" y="4132062"/>
                        <a:ext cx="11430000" cy="501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282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若直线的斜率存在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则必有倾斜角与之对应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若直线的倾斜角存在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则必有斜率与之对应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若两直线的倾斜角相等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则它们的斜率也一定相等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直线的斜率随倾斜角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的增大而增大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938046" y="2455895"/>
            <a:ext cx="403409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000391" y="3019234"/>
            <a:ext cx="468200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049873" y="3569952"/>
            <a:ext cx="468200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013255" y="4139270"/>
            <a:ext cx="468200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36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求直线的倾斜角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592060"/>
            <a:ext cx="11430000" cy="619374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绕坐标原点沿逆时针方向旋转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得到直线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+45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-135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&lt;135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+45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&lt;180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-135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其倾斜角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的交点为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向上的方向之间所成的角为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的倾斜角为</a:t>
            </a:r>
            <a:r>
              <a:rPr lang="zh-CN" altLang="zh-CN" sz="2800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不确定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需分情况讨论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画出图象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利用图象求解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6642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&lt;180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所以选项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未分类讨论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均不全面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故不正确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根据题意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画出大致图形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&lt;135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+45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&lt;180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-180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-135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70032" y="3064712"/>
            <a:ext cx="6451937" cy="33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07101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示意图如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由对顶角相等可得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+75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=90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altLang="zh-CN" sz="2800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(2)90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直线的倾斜角时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往往借助于图形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结合图形求倾斜角时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应注意倾斜角的范围以及平面几何知识的应用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4" name="WMX1TRAX16.eps" descr="id:2147491679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92928" y="1501019"/>
            <a:ext cx="4006145" cy="293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54582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轴正向与直线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向上的方向之间所成的角为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的倾斜角为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有如下两种情况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向上的方向与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正向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所成的角为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倾斜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altLang="zh-CN" sz="2800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向上的方向与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正向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所成的角为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倾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斜角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r>
              <a:rPr lang="en-US" altLang="zh-CN" sz="2800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69152" y="1855390"/>
            <a:ext cx="5879085" cy="331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求直线的斜率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548011"/>
            <a:ext cx="11430000" cy="288553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已知平面直角坐标系中三点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A(-1,1),B(1,1),C(2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AB,BC,AC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的斜率和倾斜角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上一动点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利用斜率公式求斜率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由斜率与倾斜角的关系求倾斜角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;(2)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结合图形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斜率的变化情况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确定其范围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212535"/>
              </p:ext>
            </p:extLst>
          </p:nvPr>
        </p:nvGraphicFramePr>
        <p:xfrm>
          <a:off x="9135600" y="1639717"/>
          <a:ext cx="6699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文档" r:id="rId3" imgW="271708" imgH="198592" progId="Word.Document.12">
                  <p:embed/>
                </p:oleObj>
              </mc:Choice>
              <mc:Fallback>
                <p:oleObj name="文档" r:id="rId3" imgW="271708" imgH="198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35600" y="1639717"/>
                        <a:ext cx="669925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73152" y="103740"/>
            <a:ext cx="11737848" cy="6174629"/>
            <a:chOff x="73152" y="114131"/>
            <a:chExt cx="11737848" cy="6174629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2128173"/>
                </p:ext>
              </p:extLst>
            </p:nvPr>
          </p:nvGraphicFramePr>
          <p:xfrm>
            <a:off x="73152" y="114131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2" name="文档" r:id="rId3" imgW="4520786" imgH="793285" progId="Word.Document.12">
                    <p:embed/>
                  </p:oleObj>
                </mc:Choice>
                <mc:Fallback>
                  <p:oleObj name="文档" r:id="rId3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3152" y="114131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2048460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由倾斜角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取值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范围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及正切函数的单调性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得直线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的倾斜角为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的倾斜角为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60</a:t>
              </a:r>
              <a:r>
                <a:rPr lang="en-US" altLang="zh-CN" sz="2800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的倾斜角为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°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当动点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移动到点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CD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的斜率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增大到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758855"/>
                </p:ext>
              </p:extLst>
            </p:nvPr>
          </p:nvGraphicFramePr>
          <p:xfrm>
            <a:off x="73152" y="4283080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3" name="文档" r:id="rId5" imgW="4520786" imgH="793285" progId="Word.Document.12">
                    <p:embed/>
                  </p:oleObj>
                </mc:Choice>
                <mc:Fallback>
                  <p:oleObj name="文档" r:id="rId5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3152" y="4283080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9" name="WMX1TRAX19.eps" descr="id:2147491714;FounderCES"/>
            <p:cNvPicPr/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439565" y="3032454"/>
              <a:ext cx="3432651" cy="291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200167"/>
            <a:ext cx="2016224" cy="367706"/>
          </a:xfrm>
          <a:prstGeom prst="rect">
            <a:avLst/>
          </a:prstGeom>
        </p:spPr>
      </p:pic>
      <p:sp>
        <p:nvSpPr>
          <p:cNvPr id="6" name="矩形 5"/>
          <p:cNvSpPr>
            <a:spLocks noChangeAspect="1"/>
          </p:cNvSpPr>
          <p:nvPr/>
        </p:nvSpPr>
        <p:spPr>
          <a:xfrm>
            <a:off x="381000" y="665970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本例条件中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点坐标改为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上一动点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9232895"/>
              </p:ext>
            </p:extLst>
          </p:nvPr>
        </p:nvGraphicFramePr>
        <p:xfrm>
          <a:off x="5186002" y="651001"/>
          <a:ext cx="103187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2" name="文档" r:id="rId4" imgW="455985" imgH="318051" progId="Word.Document.12">
                  <p:embed/>
                </p:oleObj>
              </mc:Choice>
              <mc:Fallback>
                <p:oleObj name="文档" r:id="rId4" imgW="455985" imgH="3180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86002" y="651001"/>
                        <a:ext cx="1031875" cy="730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81000" y="1848839"/>
            <a:ext cx="7994073" cy="2332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垂足为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向点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移动过程中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在增大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移动到点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向点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移动过程中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在增大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16008"/>
              </p:ext>
            </p:extLst>
          </p:nvPr>
        </p:nvGraphicFramePr>
        <p:xfrm>
          <a:off x="41564" y="4132861"/>
          <a:ext cx="11275153" cy="1604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name="文档" r:id="rId6" imgW="4510061" imgH="641851" progId="Word.Document.12">
                  <p:embed/>
                </p:oleObj>
              </mc:Choice>
              <mc:Fallback>
                <p:oleObj name="文档" r:id="rId6" imgW="4510061" imgH="6418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564" y="4132861"/>
                        <a:ext cx="11275153" cy="16046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23TA19.eps" descr="id:2147515361;FounderCES"/>
          <p:cNvPicPr/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78983" y="1878610"/>
            <a:ext cx="3190862" cy="281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81000" y="1897344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已知两定点坐标求过这两点的直线斜率时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可利用斜率公式求解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应用斜率公式时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应先判定两定点的横坐标是否相等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则直线垂直于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此时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斜率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若不相等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则代入斜率公式求解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25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03765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若经过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A(2,1),B(1,m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的倾斜角为锐角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&lt;1	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&gt;-1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-1&lt;m&lt;1	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m&lt;-1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A(4,-1),B(2,-3)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两点的直线的方向向量为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(1,k),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zh-CN" altLang="zh-CN" sz="2800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0285211"/>
              </p:ext>
            </p:extLst>
          </p:nvPr>
        </p:nvGraphicFramePr>
        <p:xfrm>
          <a:off x="76200" y="3148784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5" name="文档" r:id="rId3" imgW="4510061" imgH="794654" progId="Word.Document.12">
                  <p:embed/>
                </p:oleObj>
              </mc:Choice>
              <mc:Fallback>
                <p:oleObj name="文档" r:id="rId3" imgW="4510061" imgH="7946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" y="3148784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130080"/>
            <a:ext cx="2991525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2)1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斜率与倾斜角的应用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589335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的倾斜角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,5),P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三点在直线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已知直线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的倾斜角可以求出其斜率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三点在直线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的斜率均等于直线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从而可以解出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的斜率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都在直线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996148"/>
              </p:ext>
            </p:extLst>
          </p:nvPr>
        </p:nvGraphicFramePr>
        <p:xfrm>
          <a:off x="60962" y="3957931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2" y="3957931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>
            <a:spLocks noChangeAspect="1"/>
          </p:cNvSpPr>
          <p:nvPr/>
        </p:nvSpPr>
        <p:spPr>
          <a:xfrm>
            <a:off x="381000" y="4823328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斜率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反映倾斜角不等于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的直线相对于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轴的倾斜程度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直线上任意两点所确定的直线的方向不变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即在同一条直线上任意不同的两点所确定的斜率相等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这正是可以利用斜率证明三点共线的原因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896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A(2,1),B(-2,m),C(6,8)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三点在同一条直线上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的值为</a:t>
            </a:r>
            <a:r>
              <a:rPr lang="zh-CN" altLang="zh-CN" sz="2800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629968"/>
              </p:ext>
            </p:extLst>
          </p:nvPr>
        </p:nvGraphicFramePr>
        <p:xfrm>
          <a:off x="76200" y="1849135"/>
          <a:ext cx="11430000" cy="2507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" name="文档" r:id="rId3" imgW="4520786" imgH="991877" progId="Word.Document.12">
                  <p:embed/>
                </p:oleObj>
              </mc:Choice>
              <mc:Fallback>
                <p:oleObj name="文档" r:id="rId3" imgW="4520786" imgH="9918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" y="1849135"/>
                        <a:ext cx="11430000" cy="2507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295959"/>
            <a:ext cx="1673856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381000" y="702838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因忽略两点斜率公式的条件而致误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求经过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A(m,3),B(1,2)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两点的直线的斜率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并指出倾斜角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4008" y="2354398"/>
            <a:ext cx="11430000" cy="4101696"/>
            <a:chOff x="64008" y="2354398"/>
            <a:chExt cx="11430000" cy="4101696"/>
          </a:xfrm>
        </p:grpSpPr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0366683"/>
                </p:ext>
              </p:extLst>
            </p:nvPr>
          </p:nvGraphicFramePr>
          <p:xfrm>
            <a:off x="64008" y="2354398"/>
            <a:ext cx="11430000" cy="3510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5" name="文档" r:id="rId3" imgW="4520786" imgH="1388340" progId="Word.Document.12">
                    <p:embed/>
                  </p:oleObj>
                </mc:Choice>
                <mc:Fallback>
                  <p:oleObj name="文档" r:id="rId3" imgW="4520786" imgH="138834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008" y="2354398"/>
                          <a:ext cx="11430000" cy="35101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381000" y="5803608"/>
              <a:ext cx="8068234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所以直线的倾斜角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的取值范围是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90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&lt;180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°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6642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忽略了斜率不存在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的情况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未考虑斜率公式运用的条件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正</a:t>
            </a: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直线的斜率不存在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此时直线的倾斜角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=90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090781"/>
              </p:ext>
            </p:extLst>
          </p:nvPr>
        </p:nvGraphicFramePr>
        <p:xfrm>
          <a:off x="60960" y="2329315"/>
          <a:ext cx="11430000" cy="4012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name="文档" r:id="rId3" imgW="4520786" imgH="1586931" progId="Word.Document.12">
                  <p:embed/>
                </p:oleObj>
              </mc:Choice>
              <mc:Fallback>
                <p:oleObj name="文档" r:id="rId3" imgW="4520786" imgH="15869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" y="2329315"/>
                        <a:ext cx="11430000" cy="4012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81000" y="1506930"/>
            <a:ext cx="11430000" cy="2437911"/>
            <a:chOff x="381000" y="1969118"/>
            <a:chExt cx="11430000" cy="243791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074083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防范措施</a:t>
              </a:r>
              <a:r>
                <a:rPr lang="en-US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斜率公式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      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适用前提条件为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因此若点的坐标中含有未知数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在计算直线的斜率时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要保证斜率公式有意义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直线的倾斜角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的范围是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[0,</a:t>
              </a:r>
              <a:r>
                <a:rPr lang="en-US" altLang="zh-CN" sz="280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根据斜率求倾斜角时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注意结合正切函数在区间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[0,</a:t>
              </a:r>
              <a:r>
                <a:rPr lang="en-US" altLang="zh-CN" sz="280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上的图象求解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277107"/>
                </p:ext>
              </p:extLst>
            </p:nvPr>
          </p:nvGraphicFramePr>
          <p:xfrm>
            <a:off x="4236014" y="1969118"/>
            <a:ext cx="1052211" cy="82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3" name="文档" r:id="rId3" imgW="511027" imgH="396823" progId="Word.Document.12">
                    <p:embed/>
                  </p:oleObj>
                </mc:Choice>
                <mc:Fallback>
                  <p:oleObj name="文档" r:id="rId3" imgW="511027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236014" y="1969118"/>
                          <a:ext cx="1052211" cy="8265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628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868666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(4,2),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5426817"/>
              </p:ext>
            </p:extLst>
          </p:nvPr>
        </p:nvGraphicFramePr>
        <p:xfrm>
          <a:off x="41564" y="2554398"/>
          <a:ext cx="11275153" cy="813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文档" r:id="rId3" imgW="4510061" imgH="325238" progId="Word.Document.12">
                  <p:embed/>
                </p:oleObj>
              </mc:Choice>
              <mc:Fallback>
                <p:oleObj name="文档" r:id="rId3" imgW="4510061" imgH="3252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2554398"/>
                        <a:ext cx="11275153" cy="813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831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81864"/>
            <a:ext cx="11430000" cy="62540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下图中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能表示直线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的倾斜角的是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②④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结合直线倾斜角的概念可知选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i="1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WMX1TRAX20.eps" descr="id:2147491770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72860" y="916496"/>
            <a:ext cx="9446281" cy="29986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40661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在平面直角坐标系中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一条直线的斜率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则此直线的倾斜角为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 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°≤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&lt;180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=60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088352"/>
              </p:ext>
            </p:extLst>
          </p:nvPr>
        </p:nvGraphicFramePr>
        <p:xfrm>
          <a:off x="6794736" y="808069"/>
          <a:ext cx="6699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8" name="文档" r:id="rId3" imgW="271708" imgH="198592" progId="Word.Document.12">
                  <p:embed/>
                </p:oleObj>
              </mc:Choice>
              <mc:Fallback>
                <p:oleObj name="文档" r:id="rId3" imgW="271708" imgH="198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94736" y="808069"/>
                        <a:ext cx="669925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2477689"/>
              </p:ext>
            </p:extLst>
          </p:nvPr>
        </p:nvGraphicFramePr>
        <p:xfrm>
          <a:off x="3576048" y="2472580"/>
          <a:ext cx="6699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9" name="文档" r:id="rId5" imgW="271708" imgH="198592" progId="Word.Document.12">
                  <p:embed/>
                </p:oleObj>
              </mc:Choice>
              <mc:Fallback>
                <p:oleObj name="文档" r:id="rId5" imgW="271708" imgH="198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76048" y="2472580"/>
                        <a:ext cx="669925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382817"/>
              </p:ext>
            </p:extLst>
          </p:nvPr>
        </p:nvGraphicFramePr>
        <p:xfrm>
          <a:off x="481140" y="198089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4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1140" y="198089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720244"/>
              </p:ext>
            </p:extLst>
          </p:nvPr>
        </p:nvGraphicFramePr>
        <p:xfrm>
          <a:off x="481140" y="2052593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5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1140" y="2052593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2994930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A(4,y),B(2,-3)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两点的直线的倾斜角是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zh-CN" altLang="zh-CN" sz="2800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直线的倾斜角为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则其斜率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402802"/>
              </p:ext>
            </p:extLst>
          </p:nvPr>
        </p:nvGraphicFramePr>
        <p:xfrm>
          <a:off x="481140" y="4712166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6" name="文档" r:id="rId7" imgW="4520786" imgH="396823" progId="Word.Document.12">
                  <p:embed/>
                </p:oleObj>
              </mc:Choice>
              <mc:Fallback>
                <p:oleObj name="文档" r:id="rId7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1140" y="4712166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81000" y="5556066"/>
            <a:ext cx="1391728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0041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A(1,1),B(3,5),C(a,7),D(-1,b)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四点在同一条直线上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求此直线的斜率及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934068"/>
              </p:ext>
            </p:extLst>
          </p:nvPr>
        </p:nvGraphicFramePr>
        <p:xfrm>
          <a:off x="481140" y="1728830"/>
          <a:ext cx="11430000" cy="351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name="文档" r:id="rId3" imgW="4520786" imgH="1388340" progId="Word.Document.12">
                  <p:embed/>
                </p:oleObj>
              </mc:Choice>
              <mc:Fallback>
                <p:oleObj name="文档" r:id="rId3" imgW="4520786" imgH="13883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1140" y="1728830"/>
                        <a:ext cx="11430000" cy="3510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100</TotalTime>
  <Words>1675</Words>
  <Application>Microsoft Office PowerPoint</Application>
  <PresentationFormat>宽屏</PresentationFormat>
  <Paragraphs>149</Paragraphs>
  <Slides>38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60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1_Office 主题</vt:lpstr>
      <vt:lpstr>文档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31</cp:revision>
  <dcterms:created xsi:type="dcterms:W3CDTF">2021-08-30T08:30:26Z</dcterms:created>
  <dcterms:modified xsi:type="dcterms:W3CDTF">2025-08-09T08:35:34Z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