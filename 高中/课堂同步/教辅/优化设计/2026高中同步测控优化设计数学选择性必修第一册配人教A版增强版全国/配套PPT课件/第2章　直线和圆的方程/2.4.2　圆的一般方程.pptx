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677" r:id="rId2"/>
    <p:sldId id="488" r:id="rId3"/>
    <p:sldId id="494" r:id="rId4"/>
    <p:sldId id="392" r:id="rId5"/>
    <p:sldId id="686" r:id="rId6"/>
    <p:sldId id="687" r:id="rId7"/>
    <p:sldId id="688" r:id="rId8"/>
    <p:sldId id="689" r:id="rId9"/>
    <p:sldId id="767" r:id="rId10"/>
    <p:sldId id="407" r:id="rId11"/>
    <p:sldId id="394" r:id="rId12"/>
    <p:sldId id="699" r:id="rId13"/>
    <p:sldId id="765" r:id="rId14"/>
    <p:sldId id="700" r:id="rId15"/>
    <p:sldId id="702" r:id="rId16"/>
    <p:sldId id="402" r:id="rId17"/>
    <p:sldId id="712" r:id="rId18"/>
    <p:sldId id="713" r:id="rId19"/>
    <p:sldId id="714" r:id="rId20"/>
    <p:sldId id="715" r:id="rId21"/>
    <p:sldId id="498" r:id="rId22"/>
    <p:sldId id="766" r:id="rId23"/>
    <p:sldId id="730" r:id="rId24"/>
    <p:sldId id="733" r:id="rId25"/>
    <p:sldId id="743" r:id="rId26"/>
    <p:sldId id="744" r:id="rId27"/>
    <p:sldId id="740" r:id="rId28"/>
    <p:sldId id="739" r:id="rId29"/>
    <p:sldId id="745" r:id="rId30"/>
    <p:sldId id="398" r:id="rId31"/>
    <p:sldId id="395" r:id="rId32"/>
    <p:sldId id="756" r:id="rId33"/>
    <p:sldId id="757" r:id="rId34"/>
    <p:sldId id="758" r:id="rId35"/>
    <p:sldId id="759" r:id="rId36"/>
    <p:sldId id="490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8">
          <p15:clr>
            <a:srgbClr val="A4A3A4"/>
          </p15:clr>
        </p15:guide>
        <p15:guide id="2" pos="211" userDrawn="1">
          <p15:clr>
            <a:srgbClr val="A4A3A4"/>
          </p15:clr>
        </p15:guide>
        <p15:guide id="3" orient="horz" pos="436" userDrawn="1">
          <p15:clr>
            <a:srgbClr val="A4A3A4"/>
          </p15:clr>
        </p15:guide>
        <p15:guide id="4" orient="horz" pos="777" userDrawn="1">
          <p15:clr>
            <a:srgbClr val="A4A3A4"/>
          </p15:clr>
        </p15:guide>
        <p15:guide id="5" orient="horz" pos="28" userDrawn="1">
          <p15:clr>
            <a:srgbClr val="A4A3A4"/>
          </p15:clr>
        </p15:guide>
        <p15:guide id="6" pos="25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5B3E"/>
    <a:srgbClr val="7088DB"/>
    <a:srgbClr val="CF5B1B"/>
    <a:srgbClr val="38425D"/>
    <a:srgbClr val="4472C4"/>
    <a:srgbClr val="DFF0F5"/>
    <a:srgbClr val="4040C8"/>
    <a:srgbClr val="159470"/>
    <a:srgbClr val="157392"/>
    <a:srgbClr val="15937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92" d="100"/>
          <a:sy n="92" d="100"/>
        </p:scale>
        <p:origin x="498" y="84"/>
      </p:cViewPr>
      <p:guideLst>
        <p:guide orient="horz" pos="368"/>
        <p:guide pos="211"/>
        <p:guide orient="horz" pos="436"/>
        <p:guide orient="horz" pos="777"/>
        <p:guide orient="horz" pos="28"/>
        <p:guide pos="25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991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image" Target="../media/image18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4B3386-1164-4DE5-87D6-99DD641BC976}" type="datetimeFigureOut">
              <a:rPr lang="zh-CN" altLang="en-US" smtClean="0"/>
              <a:t>2025-08-09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BDB411-4171-48A7-B819-B87F89F6C7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44889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1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27.xml"/><Relationship Id="rId4" Type="http://schemas.openxmlformats.org/officeDocument/2006/relationships/slide" Target="../slides/slide2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6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>
            <a:hlinkClick r:id="rId2" action="ppaction://hlinksldjump"/>
          </p:cNvPr>
          <p:cNvSpPr/>
          <p:nvPr userDrawn="1"/>
        </p:nvSpPr>
        <p:spPr>
          <a:xfrm>
            <a:off x="7886567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探究一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8" name="圆角矩形 7">
            <a:hlinkClick r:id="rId3" action="ppaction://hlinksldjump"/>
          </p:cNvPr>
          <p:cNvSpPr/>
          <p:nvPr userDrawn="1"/>
        </p:nvSpPr>
        <p:spPr>
          <a:xfrm>
            <a:off x="8952911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探究二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9" name="圆角矩形 8">
            <a:hlinkClick r:id="rId4" action="ppaction://hlinksldjump"/>
          </p:cNvPr>
          <p:cNvSpPr/>
          <p:nvPr userDrawn="1"/>
        </p:nvSpPr>
        <p:spPr>
          <a:xfrm>
            <a:off x="10019255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探究三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圆角矩形 4">
            <a:hlinkClick r:id="rId5" action="ppaction://hlinksldjump"/>
          </p:cNvPr>
          <p:cNvSpPr/>
          <p:nvPr userDrawn="1"/>
        </p:nvSpPr>
        <p:spPr>
          <a:xfrm>
            <a:off x="11085599" y="6512560"/>
            <a:ext cx="984481" cy="274320"/>
          </a:xfrm>
          <a:prstGeom prst="roundRect">
            <a:avLst>
              <a:gd name="adj" fmla="val 50000"/>
            </a:avLst>
          </a:prstGeom>
          <a:solidFill>
            <a:srgbClr val="7F7F7F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zh-CN" altLang="en-US" sz="1400" dirty="0" smtClean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易错辨析</a:t>
            </a:r>
            <a:endParaRPr lang="zh-CN" altLang="en-US" sz="1400" dirty="0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0.xml"/><Relationship Id="rId2" Type="http://schemas.openxmlformats.org/officeDocument/2006/relationships/slide" Target="slide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3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package" Target="../embeddings/Microsoft_Word___1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2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3.docx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4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5.docx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6.docx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jpeg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7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8.docx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10.docx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emf"/><Relationship Id="rId3" Type="http://schemas.openxmlformats.org/officeDocument/2006/relationships/oleObject" Target="../embeddings/oleObject11.bin"/><Relationship Id="rId7" Type="http://schemas.openxmlformats.org/officeDocument/2006/relationships/package" Target="../embeddings/Microsoft_Word___12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oleObject" Target="../embeddings/oleObject12.bin"/><Relationship Id="rId5" Type="http://schemas.openxmlformats.org/officeDocument/2006/relationships/image" Target="../media/image13.emf"/><Relationship Id="rId4" Type="http://schemas.openxmlformats.org/officeDocument/2006/relationships/package" Target="../embeddings/Microsoft_Word___11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__13.docx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4.docx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5.docx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emf"/><Relationship Id="rId3" Type="http://schemas.openxmlformats.org/officeDocument/2006/relationships/oleObject" Target="../embeddings/oleObject16.bin"/><Relationship Id="rId7" Type="http://schemas.openxmlformats.org/officeDocument/2006/relationships/package" Target="../embeddings/Microsoft_Word___17.docx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17.bin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6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8.docx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6.vml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__19.docx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7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20.docx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300879" y="519978"/>
            <a:ext cx="4047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lang="zh-CN" altLang="en-US" sz="2400" b="1" spc="600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高中同步测控优化设计</a:t>
            </a:r>
            <a:endParaRPr lang="zh-CN" altLang="en-US" sz="2400" b="1" spc="600" dirty="0">
              <a:solidFill>
                <a:srgbClr val="757C82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2282351" y="1003843"/>
            <a:ext cx="4305485" cy="0"/>
          </a:xfrm>
          <a:prstGeom prst="line">
            <a:avLst/>
          </a:prstGeom>
          <a:ln>
            <a:solidFill>
              <a:schemeClr val="tx1"/>
            </a:solidFill>
            <a:prstDash val="lgDashDotDot"/>
            <a:headEnd type="diamond" w="med" len="med"/>
            <a:tailEnd type="diamond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2173232" y="1026313"/>
            <a:ext cx="441460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GAO ZHONG TONG </a:t>
            </a:r>
            <a:r>
              <a:rPr lang="en-US" altLang="zh-CN" sz="1600" b="1" dirty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</a:t>
            </a:r>
            <a:r>
              <a:rPr lang="en-US" altLang="zh-CN" sz="1600" b="1" dirty="0" smtClean="0">
                <a:solidFill>
                  <a:srgbClr val="757C82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U CE KONG YOU HUA SHE JI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635" y="2775585"/>
            <a:ext cx="12191365" cy="1478915"/>
            <a:chOff x="303375" y="3227146"/>
            <a:chExt cx="11560182" cy="1479076"/>
          </a:xfrm>
        </p:grpSpPr>
        <p:sp>
          <p:nvSpPr>
            <p:cNvPr id="6" name="矩形 5"/>
            <p:cNvSpPr/>
            <p:nvPr/>
          </p:nvSpPr>
          <p:spPr>
            <a:xfrm>
              <a:off x="303375" y="3227146"/>
              <a:ext cx="11560182" cy="1479076"/>
            </a:xfrm>
            <a:prstGeom prst="rect">
              <a:avLst/>
            </a:prstGeom>
            <a:solidFill>
              <a:srgbClr val="6B7278"/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w="114300" prst="hardEdg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3665034" y="3614538"/>
              <a:ext cx="8158783" cy="6452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2.4.2</a:t>
              </a:r>
              <a:r>
                <a:rPr lang="zh-CN" altLang="en-US" sz="3600" b="1" dirty="0">
                  <a:solidFill>
                    <a:schemeClr val="bg1"/>
                  </a:solidFill>
                  <a:latin typeface="华文细黑" panose="02010600040101010101" charset="-122"/>
                  <a:ea typeface="华文细黑" panose="02010600040101010101" charset="-122"/>
                </a:rPr>
                <a:t>　圆的一般方程</a:t>
              </a:r>
            </a:p>
          </p:txBody>
        </p:sp>
      </p:grpSp>
      <p:sp>
        <p:nvSpPr>
          <p:cNvPr id="8" name="矩形 7"/>
          <p:cNvSpPr/>
          <p:nvPr/>
        </p:nvSpPr>
        <p:spPr>
          <a:xfrm>
            <a:off x="1109345" y="2277745"/>
            <a:ext cx="2282825" cy="2407920"/>
          </a:xfrm>
          <a:prstGeom prst="rect">
            <a:avLst/>
          </a:prstGeom>
          <a:solidFill>
            <a:srgbClr val="748773"/>
          </a:solidFill>
          <a:ln w="12700" cap="flat" cmpd="sng" algn="ctr">
            <a:noFill/>
            <a:prstDash val="solid"/>
            <a:miter lim="800000"/>
          </a:ln>
          <a:effectLst>
            <a:outerShdw blurRad="317500" dist="127000" dir="2700000" algn="tl" rotWithShape="0">
              <a:prstClr val="black">
                <a:alpha val="25000"/>
              </a:prstClr>
            </a:outerShdw>
          </a:effectLst>
          <a:scene3d>
            <a:camera prst="orthographicFront"/>
            <a:lightRig rig="threePt" dir="t"/>
          </a:scene3d>
          <a:sp3d>
            <a:bevelT w="101600" prst="riblet"/>
          </a:sp3d>
        </p:spPr>
        <p:txBody>
          <a:bodyPr wrap="none" rtlCol="0" anchor="ctr"/>
          <a:lstStyle/>
          <a:p>
            <a:pPr algn="ctr"/>
            <a:r>
              <a:rPr lang="zh-CN" altLang="en-US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第二章</a:t>
            </a:r>
            <a:endParaRPr lang="en-US" altLang="zh-CN" sz="3600" b="1" kern="0" dirty="0" smtClean="0">
              <a:solidFill>
                <a:schemeClr val="bg1"/>
              </a:solidFill>
              <a:latin typeface="华文细黑" panose="02010600040101010101" charset="-122"/>
              <a:ea typeface="华文细黑" panose="02010600040101010101" charset="-122"/>
              <a:cs typeface="Open Sans" panose="020B0606030504020204" pitchFamily="34" charset="0"/>
            </a:endParaRPr>
          </a:p>
          <a:p>
            <a:pPr algn="ctr"/>
            <a:r>
              <a:rPr lang="en-US" altLang="zh-CN" sz="3600" b="1" kern="0" dirty="0" smtClean="0">
                <a:solidFill>
                  <a:schemeClr val="bg1"/>
                </a:solidFill>
                <a:latin typeface="华文细黑" panose="02010600040101010101" charset="-122"/>
                <a:ea typeface="华文细黑" panose="02010600040101010101" charset="-122"/>
                <a:cs typeface="Open Sans" panose="020B0606030504020204" pitchFamily="34" charset="0"/>
              </a:rPr>
              <a:t>2.4</a:t>
            </a:r>
          </a:p>
        </p:txBody>
      </p:sp>
      <p:pic>
        <p:nvPicPr>
          <p:cNvPr id="10" name="图片 9" descr="e37b0ec1d4924ecca897357d279cf88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01370" y="175260"/>
            <a:ext cx="1453515" cy="145351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001385" y="587446"/>
            <a:ext cx="1052723" cy="5870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b="1" dirty="0" smtClean="0">
                <a:solidFill>
                  <a:srgbClr val="757C8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394998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  <p:bldLst>
      <p:bldP spid="2" grpId="0"/>
      <p:bldP spid="4" grpId="0"/>
      <p:bldP spid="8" grpId="0" bldLvl="0" animBg="1"/>
      <p:bldP spid="11" grpId="0" bldLvl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/>
          <p:cNvSpPr txBox="1"/>
          <p:nvPr/>
        </p:nvSpPr>
        <p:spPr>
          <a:xfrm>
            <a:off x="1788494" y="1591871"/>
            <a:ext cx="942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4800" smtClean="0">
                <a:solidFill>
                  <a:srgbClr val="2C3814"/>
                </a:solidFill>
                <a:cs typeface="+mn-ea"/>
                <a:sym typeface="+mn-lt"/>
              </a:rPr>
              <a:t>内容索引</a:t>
            </a:r>
            <a:endParaRPr kumimoji="1" lang="zh-CN" altLang="en-US" sz="4800" dirty="0">
              <a:solidFill>
                <a:srgbClr val="2C3814"/>
              </a:solidFill>
              <a:cs typeface="+mn-ea"/>
              <a:sym typeface="+mn-lt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1378713" y="856615"/>
            <a:ext cx="1105802" cy="815646"/>
            <a:chOff x="-1604504" y="2147667"/>
            <a:chExt cx="3687215" cy="2719712"/>
          </a:xfrm>
        </p:grpSpPr>
        <p:cxnSp>
          <p:nvCxnSpPr>
            <p:cNvPr id="26" name="直接连接符 25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28" name="组合 27"/>
          <p:cNvGrpSpPr/>
          <p:nvPr/>
        </p:nvGrpSpPr>
        <p:grpSpPr>
          <a:xfrm flipH="1" flipV="1">
            <a:off x="1707083" y="4546456"/>
            <a:ext cx="1105803" cy="815646"/>
            <a:chOff x="-1604504" y="2147667"/>
            <a:chExt cx="3687215" cy="2719712"/>
          </a:xfrm>
        </p:grpSpPr>
        <p:cxnSp>
          <p:nvCxnSpPr>
            <p:cNvPr id="38" name="直接连接符 37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39" name="直接连接符 38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grpSp>
        <p:nvGrpSpPr>
          <p:cNvPr id="40" name="组合 39"/>
          <p:cNvGrpSpPr/>
          <p:nvPr/>
        </p:nvGrpSpPr>
        <p:grpSpPr>
          <a:xfrm>
            <a:off x="4764013" y="1194282"/>
            <a:ext cx="804581" cy="804581"/>
            <a:chOff x="3685832" y="623962"/>
            <a:chExt cx="739840" cy="739840"/>
          </a:xfrm>
        </p:grpSpPr>
        <p:sp>
          <p:nvSpPr>
            <p:cNvPr id="44" name="椭圆 43"/>
            <p:cNvSpPr/>
            <p:nvPr/>
          </p:nvSpPr>
          <p:spPr>
            <a:xfrm>
              <a:off x="3685832" y="623962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E93F3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5" name="TextBox 7"/>
            <p:cNvSpPr txBox="1"/>
            <p:nvPr/>
          </p:nvSpPr>
          <p:spPr>
            <a:xfrm>
              <a:off x="3786929" y="743838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01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4764013" y="2760859"/>
            <a:ext cx="804581" cy="804581"/>
            <a:chOff x="3685832" y="1673493"/>
            <a:chExt cx="739840" cy="739840"/>
          </a:xfrm>
        </p:grpSpPr>
        <p:sp>
          <p:nvSpPr>
            <p:cNvPr id="47" name="椭圆 46"/>
            <p:cNvSpPr/>
            <p:nvPr/>
          </p:nvSpPr>
          <p:spPr>
            <a:xfrm>
              <a:off x="3685832" y="1673493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2540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48" name="TextBox 10"/>
            <p:cNvSpPr txBox="1"/>
            <p:nvPr/>
          </p:nvSpPr>
          <p:spPr>
            <a:xfrm>
              <a:off x="3786931" y="1793369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02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764013" y="4327435"/>
            <a:ext cx="804581" cy="804581"/>
            <a:chOff x="3685832" y="2723024"/>
            <a:chExt cx="739840" cy="739840"/>
          </a:xfrm>
        </p:grpSpPr>
        <p:sp>
          <p:nvSpPr>
            <p:cNvPr id="50" name="椭圆 49"/>
            <p:cNvSpPr/>
            <p:nvPr/>
          </p:nvSpPr>
          <p:spPr>
            <a:xfrm>
              <a:off x="3685832" y="2723024"/>
              <a:ext cx="739840" cy="739840"/>
            </a:xfrm>
            <a:prstGeom prst="ellipse">
              <a:avLst/>
            </a:prstGeom>
            <a:gradFill flip="none" rotWithShape="1">
              <a:gsLst>
                <a:gs pos="0">
                  <a:srgbClr val="FFFFFF">
                    <a:lumMod val="95000"/>
                    <a:lumOff val="5000"/>
                  </a:srgbClr>
                </a:gs>
                <a:gs pos="0">
                  <a:srgbClr val="FFFFFF">
                    <a:lumMod val="75000"/>
                  </a:srgbClr>
                </a:gs>
                <a:gs pos="70000">
                  <a:srgbClr val="FAFAFA"/>
                </a:gs>
              </a:gsLst>
              <a:lin ang="8100000" scaled="1"/>
              <a:tileRect/>
            </a:gradFill>
            <a:ln w="19050" cap="flat" cmpd="sng" algn="ctr">
              <a:solidFill>
                <a:srgbClr val="FFFFFF"/>
              </a:solidFill>
              <a:prstDash val="solid"/>
            </a:ln>
            <a:effectLst>
              <a:outerShdw blurRad="254000" dist="190500" dir="8100000" algn="tr" rotWithShape="0">
                <a:prstClr val="black">
                  <a:alpha val="15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135" b="0" i="0" u="none" strike="noStrike" kern="0" cap="none" spc="0" normalizeH="0" baseline="0" noProof="0" dirty="0" smtClean="0">
                <a:ln>
                  <a:noFill/>
                </a:ln>
                <a:solidFill>
                  <a:srgbClr val="3574A0"/>
                </a:solidFill>
                <a:effectLst/>
                <a:uLnTx/>
                <a:uFillTx/>
                <a:latin typeface="Arial" panose="020B0604020202020204" pitchFamily="34" charset="0"/>
              </a:endParaRPr>
            </a:p>
          </p:txBody>
        </p:sp>
        <p:sp>
          <p:nvSpPr>
            <p:cNvPr id="51" name="TextBox 13"/>
            <p:cNvSpPr txBox="1"/>
            <p:nvPr/>
          </p:nvSpPr>
          <p:spPr>
            <a:xfrm>
              <a:off x="3786929" y="2842900"/>
              <a:ext cx="537648" cy="500090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3735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>
                      <a:lumMod val="65000"/>
                      <a:lumOff val="35000"/>
                    </a:srgbClr>
                  </a:solidFill>
                  <a:effectLst>
                    <a:innerShdw blurRad="63500" dist="50800" dir="18900000">
                      <a:prstClr val="black">
                        <a:alpha val="30000"/>
                      </a:prstClr>
                    </a:innerShdw>
                  </a:effectLst>
                  <a:uLnTx/>
                  <a:uFillTx/>
                  <a:latin typeface="Arial" panose="020B0604020202020204" pitchFamily="34" charset="0"/>
                </a:rPr>
                <a:t>03</a:t>
              </a:r>
              <a:endParaRPr kumimoji="0" lang="zh-CN" altLang="en-US" sz="3735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>
                    <a:lumMod val="65000"/>
                    <a:lumOff val="35000"/>
                  </a:srgbClr>
                </a:solidFill>
                <a:effectLst>
                  <a:innerShdw blurRad="63500" dist="50800" dir="18900000">
                    <a:prstClr val="black">
                      <a:alpha val="30000"/>
                    </a:prstClr>
                  </a:innerShdw>
                </a:effectLst>
                <a:uLnTx/>
                <a:uFillTx/>
                <a:latin typeface="Arial" panose="020B0604020202020204" pitchFamily="34" charset="0"/>
              </a:endParaRPr>
            </a:p>
          </p:txBody>
        </p:sp>
      </p:grpSp>
      <p:sp>
        <p:nvSpPr>
          <p:cNvPr id="52" name="矩形 51">
            <a:hlinkClick r:id="rId2" action="ppaction://hlinksldjump"/>
          </p:cNvPr>
          <p:cNvSpPr/>
          <p:nvPr/>
        </p:nvSpPr>
        <p:spPr>
          <a:xfrm>
            <a:off x="5678538" y="1286748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自主预习 新知导学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3" name="矩形 52">
            <a:hlinkClick r:id="rId3" action="ppaction://hlinksldjump"/>
          </p:cNvPr>
          <p:cNvSpPr/>
          <p:nvPr/>
        </p:nvSpPr>
        <p:spPr>
          <a:xfrm>
            <a:off x="5678538" y="2871606"/>
            <a:ext cx="2997835" cy="5016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合作探究 释疑解惑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  <p:sp>
        <p:nvSpPr>
          <p:cNvPr id="54" name="矩形 53">
            <a:hlinkClick r:id="rId4" action="ppaction://hlinksldjump"/>
          </p:cNvPr>
          <p:cNvSpPr/>
          <p:nvPr/>
        </p:nvSpPr>
        <p:spPr>
          <a:xfrm>
            <a:off x="5678538" y="4456463"/>
            <a:ext cx="1556836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219200"/>
            <a:r>
              <a:rPr lang="zh-CN" altLang="en-US" sz="2665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</a:rPr>
              <a:t>随堂练习</a:t>
            </a:r>
            <a:endParaRPr lang="zh-CN" altLang="en-US" sz="2665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17500" y="701716"/>
            <a:ext cx="11557000" cy="5689151"/>
          </a:xfrm>
          <a:prstGeom prst="rect">
            <a:avLst/>
          </a:prstGeom>
          <a:noFill/>
          <a:ln w="19050">
            <a:gradFill>
              <a:gsLst>
                <a:gs pos="100000">
                  <a:schemeClr val="accent1">
                    <a:lumMod val="5000"/>
                    <a:lumOff val="95000"/>
                  </a:schemeClr>
                </a:gs>
                <a:gs pos="57000">
                  <a:schemeClr val="tx1">
                    <a:lumMod val="50000"/>
                    <a:lumOff val="50000"/>
                  </a:schemeClr>
                </a:gs>
                <a:gs pos="29000">
                  <a:schemeClr val="tx1"/>
                </a:gs>
                <a:gs pos="100000">
                  <a:schemeClr val="bg1"/>
                </a:gs>
              </a:gsLst>
              <a:lin ang="5400000" scaled="1"/>
            </a:gra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9" name="文本框 8"/>
          <p:cNvSpPr txBox="1"/>
          <p:nvPr>
            <p:custDataLst>
              <p:tags r:id="rId1"/>
            </p:custDataLst>
          </p:nvPr>
        </p:nvSpPr>
        <p:spPr>
          <a:xfrm>
            <a:off x="4766695" y="446122"/>
            <a:ext cx="3253105" cy="49064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wrap="square" lIns="0" tIns="0" rIns="0" bIns="0" rtlCol="0" anchor="ctr" anchorCtr="0">
            <a:no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课标定</a:t>
            </a:r>
            <a:r>
              <a:rPr lang="zh-CN" altLang="en-US" sz="2800" kern="0" dirty="0" smtClea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位素养</a:t>
            </a:r>
            <a:r>
              <a:rPr lang="zh-CN" altLang="en-US" sz="2800" kern="0" dirty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阐释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81000" y="1245680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探索并掌握圆的一般方程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能进行圆的一般方程和标准方程的互化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会根据不同的条件利用待定系数法求圆的一般方程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初步掌握点的轨迹方程的求法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并能简单应用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</a:rPr>
              <a:t>5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提升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数学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抽象、直观想象、逻辑推理和数学运算素养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zh-CN" alt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自主预习 新知导学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34827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一、圆的一般方程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展开后可以得到一个什么样的式子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+b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-r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3502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6902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配方后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可以得到一个怎样的方程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这个方程是不是就一定表示圆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7636184"/>
              </p:ext>
            </p:extLst>
          </p:nvPr>
        </p:nvGraphicFramePr>
        <p:xfrm>
          <a:off x="381000" y="1850513"/>
          <a:ext cx="11430000" cy="35101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文档" r:id="rId4" imgW="4520786" imgH="1388340" progId="Word.Document.12">
                  <p:embed/>
                </p:oleObj>
              </mc:Choice>
              <mc:Fallback>
                <p:oleObj name="文档" r:id="rId4" imgW="4520786" imgH="138834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1850513"/>
                        <a:ext cx="11430000" cy="35101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6176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84050"/>
              </p:ext>
            </p:extLst>
          </p:nvPr>
        </p:nvGraphicFramePr>
        <p:xfrm>
          <a:off x="381000" y="766165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7" name="文档" r:id="rId4" imgW="4520786" imgH="595054" progId="Word.Document.12">
                  <p:embed/>
                </p:oleObj>
              </mc:Choice>
              <mc:Fallback>
                <p:oleObj name="文档" r:id="rId4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1000" y="766165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spect="1"/>
          </p:cNvSpPr>
          <p:nvPr/>
        </p:nvSpPr>
        <p:spPr>
          <a:xfrm>
            <a:off x="381000" y="218530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</a:t>
            </a:r>
            <a:endParaRPr lang="en-US" altLang="zh-CN" sz="28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	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4×5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33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50674"/>
            <a:ext cx="11430000" cy="62540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二、轨迹方程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的轨迹方程是指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满足的关系式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轨迹是指点在运动变化过程中形成的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图形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在解析几何中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我们常常把图形看作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点的轨迹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集合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求符合某种条件的动点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实质上就是利用题设中的几何条件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坐标化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将其转化为关于变量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之间的方程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已知定点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(2,2),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|MA|=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</a:t>
            </a:r>
            <a:r>
              <a:rPr lang="en-US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满足条件的点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为圆心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,1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为半径的圆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的轨迹方程是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585505" y="793739"/>
            <a:ext cx="2343428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" name="直接连接符 3"/>
          <p:cNvCxnSpPr/>
          <p:nvPr/>
        </p:nvCxnSpPr>
        <p:spPr>
          <a:xfrm>
            <a:off x="4597194" y="1230699"/>
            <a:ext cx="233358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844556" y="1334066"/>
            <a:ext cx="709751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856196" y="1771026"/>
            <a:ext cx="70676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1906442" y="1895175"/>
            <a:ext cx="2356262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1918180" y="2342526"/>
            <a:ext cx="234636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1988891" y="3007003"/>
            <a:ext cx="137048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2000588" y="3443963"/>
            <a:ext cx="136472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1031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smCheck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>
            <a:spLocks noChangeAspect="1"/>
          </p:cNvSpPr>
          <p:nvPr/>
        </p:nvSpPr>
        <p:spPr>
          <a:xfrm>
            <a:off x="381000" y="1243879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【思考辨析】</a:t>
            </a:r>
            <a:r>
              <a:rPr lang="zh-CN" altLang="zh-CN" sz="2800" dirty="0" smtClean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错误的画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“×”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利用圆的一般方程无法判断点与圆的位置关系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×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圆的标准方程与一般方程可以互相转化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利用待定系数法求圆的一般方程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需要三个独立的条件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dirty="0">
                <a:solidFill>
                  <a:srgbClr val="FF0000"/>
                </a:solidFill>
                <a:latin typeface="Cambria Math" panose="02040503050406030204" pitchFamily="18" charset="0"/>
                <a:cs typeface="Times New Roman" panose="02020603050405020304" pitchFamily="18" charset="0"/>
              </a:rPr>
              <a:t>  √ 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197920" y="2487460"/>
            <a:ext cx="50661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580974" y="3043196"/>
            <a:ext cx="506614" cy="441435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492329" y="3547563"/>
            <a:ext cx="418689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9717546" y="4079175"/>
            <a:ext cx="418689" cy="534137"/>
          </a:xfrm>
          <a:prstGeom prst="rect">
            <a:avLst/>
          </a:prstGeom>
          <a:pattFill prst="smCheck">
            <a:fgClr>
              <a:srgbClr val="E8F4E9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044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180083" y="2636520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735898" y="2665586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2969260" y="2585720"/>
            <a:ext cx="62528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方正姚体" panose="02010601030101010101" charset="-122"/>
                <a:sym typeface="+mn-ea"/>
              </a:rPr>
              <a:t>合作探究 释疑解惑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方正姚体" panose="02010601030101010101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36" name="矩形 35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38" name="矩形 37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探究一</a:t>
                </a:r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圆的一般方程的概念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705168"/>
            <a:ext cx="11430000" cy="56335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判断下列方程是否表示圆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写出圆心坐标和半径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利用圆的一般方程的特点解题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的系数不相等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该二元二次方程表示的不是圆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该二次方程中含有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该二元二次方程表示的不是圆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1816" y="1233488"/>
            <a:ext cx="11759184" cy="3133663"/>
            <a:chOff x="51816" y="1690005"/>
            <a:chExt cx="11759184" cy="313366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690005"/>
              <a:ext cx="11430000" cy="115236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(3)</a:t>
              </a: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∵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+E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&gt;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NEU-BZ-S92"/>
                  <a:cs typeface="宋体" panose="02010600030101010101" pitchFamily="2" charset="-122"/>
                </a:rPr>
                <a:t>∴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该二元二次方程表示的是圆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74321983"/>
                </p:ext>
              </p:extLst>
            </p:nvPr>
          </p:nvGraphicFramePr>
          <p:xfrm>
            <a:off x="51816" y="2817988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文档" r:id="rId4" imgW="4520786" imgH="793285" progId="Word.Document.12">
                    <p:embed/>
                  </p:oleObj>
                </mc:Choice>
                <mc:Fallback>
                  <p:oleObj name="文档" r:id="rId4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816" y="2817988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49963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81000" y="702541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(4)(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D=-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m+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20(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m-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它表示一个点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原方程表示圆心为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029673"/>
              </p:ext>
            </p:extLst>
          </p:nvPr>
        </p:nvGraphicFramePr>
        <p:xfrm>
          <a:off x="51816" y="2439445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文档" r:id="rId4" imgW="4520786" imgH="991877" progId="Word.Document.12">
                  <p:embed/>
                </p:oleObj>
              </mc:Choice>
              <mc:Fallback>
                <p:oleObj name="文档" r:id="rId4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1816" y="2439445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8352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判断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一个二元二次方程是否表示圆的步骤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先看这个方程是否具备圆的一般方程的特征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①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的系数相等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②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不含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当它具有圆的一般方程的特征时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再看它能否表示圆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此时有两种途径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一是看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是否大于零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二是直接配方变形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看右边是否为大于零的常数即可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4354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Confetti">
          <a:fgClr>
            <a:srgbClr val="E8F4E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2541"/>
            <a:ext cx="11430000" cy="395313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表示的曲线为圆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A=F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AF&lt;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zh-CN" sz="2800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由题意得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故选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2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探究二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求圆的一般方程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177279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(5,3),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外接圆的方程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欲求圆的方程可先将圆的方程设出来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将条件代入求得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方法一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设所求圆的方程为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48768" y="2944207"/>
            <a:ext cx="11430000" cy="2097310"/>
            <a:chOff x="48768" y="3207792"/>
            <a:chExt cx="11430000" cy="2097310"/>
          </a:xfrm>
        </p:grpSpPr>
        <p:graphicFrame>
          <p:nvGraphicFramePr>
            <p:cNvPr id="15" name="对象 1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39777929"/>
                </p:ext>
              </p:extLst>
            </p:nvPr>
          </p:nvGraphicFramePr>
          <p:xfrm>
            <a:off x="48768" y="3207792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6160" name="文档" r:id="rId4" imgW="4520786" imgH="595054" progId="Word.Document.12">
                    <p:embed/>
                  </p:oleObj>
                </mc:Choice>
                <mc:Fallback>
                  <p:oleObj name="文档" r:id="rId4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768" y="3207792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矩形 15"/>
            <p:cNvSpPr>
              <a:spLocks noChangeAspect="1"/>
            </p:cNvSpPr>
            <p:nvPr/>
          </p:nvSpPr>
          <p:spPr>
            <a:xfrm>
              <a:off x="381000" y="4652616"/>
              <a:ext cx="774442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外接圆的方程为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72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charRg st="72" end="10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48768" y="1243879"/>
            <a:ext cx="11430000" cy="2888615"/>
            <a:chOff x="48768" y="1914156"/>
            <a:chExt cx="11430000" cy="288861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1914156"/>
              <a:ext cx="7128875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设所求圆的方程为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=r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67876215"/>
                </p:ext>
              </p:extLst>
            </p:nvPr>
          </p:nvGraphicFramePr>
          <p:xfrm>
            <a:off x="48768" y="2578834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7184" name="文档" r:id="rId4" imgW="4520786" imgH="595054" progId="Word.Document.12">
                    <p:embed/>
                  </p:oleObj>
                </mc:Choice>
                <mc:Fallback>
                  <p:oleObj name="文档" r:id="rId4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768" y="2578834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150285"/>
              <a:ext cx="730680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dirty="0">
                  <a:solidFill>
                    <a:srgbClr val="000000"/>
                  </a:solidFill>
                  <a:latin typeface="Cambria Math" panose="02040503050406030204" pitchFamily="18" charset="0"/>
                  <a:cs typeface="Cambria Math" panose="02040503050406030204" pitchFamily="18" charset="0"/>
                </a:rPr>
                <a:t>△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外接圆的方程为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27313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6783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若本例改为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已知圆过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(2,2),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两点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且圆关于直线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y=x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对称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求圆的一般方程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设圆的方程为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188341"/>
              </p:ext>
            </p:extLst>
          </p:nvPr>
        </p:nvGraphicFramePr>
        <p:xfrm>
          <a:off x="48768" y="2480355"/>
          <a:ext cx="11430000" cy="300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8" name="文档" r:id="rId4" imgW="4520786" imgH="1190108" progId="Word.Document.12">
                  <p:embed/>
                </p:oleObj>
              </mc:Choice>
              <mc:Fallback>
                <p:oleObj name="文档" r:id="rId4" imgW="4520786" imgH="119010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768" y="2480355"/>
                        <a:ext cx="11430000" cy="300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延伸探究H.eps" descr="id:2147494559;FounderCES"/>
          <p:cNvPicPr/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7688" y="326977"/>
            <a:ext cx="2016224" cy="367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524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用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待定系数法求圆的方程时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一般方程和标准方程的选择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由已知条件易求得圆心坐标、半径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需利用圆心的坐标或半径列方程时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一般采用圆的标准方程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再用待定系数法求出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如果已知条件和圆心或半径都无直接关系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一般采用圆的一般方程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再用待定系数法求出参数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9178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81000" y="56642"/>
            <a:ext cx="11430000" cy="1196866"/>
            <a:chOff x="381000" y="56642"/>
            <a:chExt cx="11430000" cy="1196866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6642"/>
              <a:ext cx="11430000" cy="1196866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【变式训练</a:t>
              </a:r>
              <a:r>
                <a:rPr lang="en-US" altLang="zh-CN" sz="2800" b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】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已知圆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+Dx+Ey+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圆心在直线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x+y-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上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且圆心在第二象限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半径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为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     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求圆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的一般方程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60944229"/>
                </p:ext>
              </p:extLst>
            </p:nvPr>
          </p:nvGraphicFramePr>
          <p:xfrm>
            <a:off x="4038600" y="703843"/>
            <a:ext cx="673100" cy="533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46" name="文档" r:id="rId4" imgW="271708" imgH="211567" progId="Word.Document.12">
                    <p:embed/>
                  </p:oleObj>
                </mc:Choice>
                <mc:Fallback>
                  <p:oleObj name="文档" r:id="rId4" imgW="271708" imgH="21156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038600" y="703843"/>
                          <a:ext cx="673100" cy="5334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030509"/>
              </p:ext>
            </p:extLst>
          </p:nvPr>
        </p:nvGraphicFramePr>
        <p:xfrm>
          <a:off x="51816" y="1196912"/>
          <a:ext cx="11430000" cy="55167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7" name="文档" r:id="rId7" imgW="4520786" imgH="2181985" progId="Word.Document.12">
                  <p:embed/>
                </p:oleObj>
              </mc:Choice>
              <mc:Fallback>
                <p:oleObj name="文档" r:id="rId7" imgW="4520786" imgH="21819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1816" y="1196912"/>
                        <a:ext cx="11430000" cy="55167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49211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2" y="151371"/>
            <a:ext cx="11336478" cy="433754"/>
            <a:chOff x="381000" y="205656"/>
            <a:chExt cx="11336478" cy="433754"/>
          </a:xfrm>
        </p:grpSpPr>
        <p:sp>
          <p:nvSpPr>
            <p:cNvPr id="10" name="矩形 9"/>
            <p:cNvSpPr/>
            <p:nvPr/>
          </p:nvSpPr>
          <p:spPr>
            <a:xfrm>
              <a:off x="1999940" y="230648"/>
              <a:ext cx="192275" cy="401795"/>
            </a:xfrm>
            <a:prstGeom prst="rect">
              <a:avLst/>
            </a:prstGeom>
            <a:noFill/>
            <a:ln w="19050">
              <a:solidFill>
                <a:schemeClr val="accent4">
                  <a:lumMod val="7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800"/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381000" y="205656"/>
              <a:ext cx="11336478" cy="433754"/>
              <a:chOff x="3048000" y="2286000"/>
              <a:chExt cx="4813646" cy="457200"/>
            </a:xfrm>
          </p:grpSpPr>
          <p:sp>
            <p:nvSpPr>
              <p:cNvPr id="12" name="矩形 11"/>
              <p:cNvSpPr/>
              <p:nvPr/>
            </p:nvSpPr>
            <p:spPr>
              <a:xfrm>
                <a:off x="3048000" y="2286000"/>
                <a:ext cx="769070" cy="457200"/>
              </a:xfrm>
              <a:prstGeom prst="rect">
                <a:avLst/>
              </a:prstGeom>
              <a:solidFill>
                <a:srgbClr val="74877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 sz="2800" b="1" dirty="0" smtClean="0">
                    <a:solidFill>
                      <a:schemeClr val="bg1"/>
                    </a:solidFill>
                  </a:rPr>
                  <a:t>探究三</a:t>
                </a:r>
              </a:p>
            </p:txBody>
          </p:sp>
          <p:sp>
            <p:nvSpPr>
              <p:cNvPr id="13" name="矩形 12"/>
              <p:cNvSpPr/>
              <p:nvPr/>
            </p:nvSpPr>
            <p:spPr>
              <a:xfrm>
                <a:off x="3909004" y="2286000"/>
                <a:ext cx="3952642" cy="457200"/>
              </a:xfrm>
              <a:prstGeom prst="rect">
                <a:avLst/>
              </a:prstGeom>
              <a:gradFill flip="none" rotWithShape="1">
                <a:gsLst>
                  <a:gs pos="0">
                    <a:srgbClr val="DCDCDC">
                      <a:shade val="30000"/>
                      <a:satMod val="115000"/>
                    </a:srgbClr>
                  </a:gs>
                  <a:gs pos="51000">
                    <a:srgbClr val="DCDCDC">
                      <a:shade val="67500"/>
                      <a:satMod val="115000"/>
                    </a:srgbClr>
                  </a:gs>
                  <a:gs pos="73000">
                    <a:srgbClr val="DCDCDC">
                      <a:shade val="100000"/>
                      <a:satMod val="115000"/>
                      <a:alpha val="0"/>
                    </a:srgb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zh-CN" altLang="en-US" sz="2800" b="1" dirty="0">
                    <a:solidFill>
                      <a:schemeClr val="bg1"/>
                    </a:solidFill>
                  </a:rPr>
                  <a:t>求动点的轨迹方程</a:t>
                </a:r>
              </a:p>
            </p:txBody>
          </p:sp>
        </p:grpSp>
      </p:grpSp>
      <p:sp>
        <p:nvSpPr>
          <p:cNvPr id="2" name="矩形 1"/>
          <p:cNvSpPr>
            <a:spLocks noChangeAspect="1"/>
          </p:cNvSpPr>
          <p:nvPr/>
        </p:nvSpPr>
        <p:spPr>
          <a:xfrm>
            <a:off x="381000" y="1493754"/>
            <a:ext cx="11430000" cy="289310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【例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已知直角三角形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的斜边为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直角顶点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直角边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分析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只需寻求动点与定点之间的关系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然后化简方程即可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要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注意动点与定点间的约束条件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8770" y="189365"/>
            <a:ext cx="11762230" cy="5918542"/>
            <a:chOff x="48770" y="594614"/>
            <a:chExt cx="11762230" cy="591854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594614"/>
              <a:ext cx="11430000" cy="121264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解</a:t>
              </a:r>
              <a:r>
                <a:rPr lang="en-US" altLang="zh-CN" sz="2800" dirty="0">
                  <a:solidFill>
                    <a:srgbClr val="FF0000"/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Times New Roman" panose="02020603050405020304" pitchFamily="18" charset="0"/>
                </a:rPr>
                <a:t>: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方法一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三点不共线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68371483"/>
                </p:ext>
              </p:extLst>
            </p:nvPr>
          </p:nvGraphicFramePr>
          <p:xfrm>
            <a:off x="48770" y="1724104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55" name="文档" r:id="rId4" imgW="4520786" imgH="793285" progId="Word.Document.12">
                    <p:embed/>
                  </p:oleObj>
                </mc:Choice>
                <mc:Fallback>
                  <p:oleObj name="文档" r:id="rId4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8770" y="1724104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620056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直角顶点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的轨迹方程为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方法二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同方法一得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由勾股定理得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|AC|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+|BC|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=|AB|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16,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化简得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直角顶点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的轨迹方程为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2411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59981" y="199759"/>
            <a:ext cx="11751019" cy="5857435"/>
            <a:chOff x="59981" y="251714"/>
            <a:chExt cx="11751019" cy="5857435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81000" y="251714"/>
              <a:ext cx="11430000" cy="289310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方法三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的中点为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由中点坐标公式得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由直角三角形的性质知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|CD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|=   |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AB|=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由圆的定义知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的轨迹是以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(1,0)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为圆心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,2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为半径的圆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三点不共线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所以应除去与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轴的交点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所以直角顶点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的轨迹方程为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(2)</a:t>
              </a:r>
              <a:r>
                <a:rPr lang="zh-CN" altLang="zh-CN" sz="2800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设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 err="1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65965390"/>
                </p:ext>
              </p:extLst>
            </p:nvPr>
          </p:nvGraphicFramePr>
          <p:xfrm>
            <a:off x="1746844" y="763845"/>
            <a:ext cx="471121" cy="7561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2" name="文档" r:id="rId4" imgW="255873" imgH="398985" progId="Word.Document.12">
                    <p:embed/>
                  </p:oleObj>
                </mc:Choice>
                <mc:Fallback>
                  <p:oleObj name="文档" r:id="rId4" imgW="255873" imgH="3989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746844" y="763845"/>
                          <a:ext cx="471121" cy="75617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584718256"/>
                </p:ext>
              </p:extLst>
            </p:nvPr>
          </p:nvGraphicFramePr>
          <p:xfrm>
            <a:off x="59981" y="3029968"/>
            <a:ext cx="11430000" cy="10032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93" name="文档" r:id="rId7" imgW="4520786" imgH="396823" progId="Word.Document.12">
                    <p:embed/>
                  </p:oleObj>
                </mc:Choice>
                <mc:Fallback>
                  <p:oleObj name="文档" r:id="rId7" imgW="4520786" imgH="39682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8"/>
                        <a:stretch>
                          <a:fillRect/>
                        </a:stretch>
                      </p:blipFill>
                      <p:spPr>
                        <a:xfrm>
                          <a:off x="59981" y="3029968"/>
                          <a:ext cx="11430000" cy="10032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81000" y="3836476"/>
              <a:ext cx="11430000" cy="227267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由于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由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(1)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的轨迹方程为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</a:t>
              </a:r>
              <a:r>
                <a:rPr lang="en-US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),</a:t>
              </a: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 smtClean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baseline="-25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代入该方程得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latin typeface="NEU-BZ-S92"/>
                <a:ea typeface="方正书宋_GBK"/>
                <a:cs typeface="Times New Roman" panose="02020603050405020304" pitchFamily="18" charset="0"/>
              </a:endParaRPr>
            </a:p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的轨迹方程为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x-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2)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1(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y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≠0)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2448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5348"/>
            <a:ext cx="11430000" cy="401340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8067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求动点的轨迹方程的一般步骤为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建系、设点、列式、化简、证明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建系时可根据题目中的条件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建立适当的平面直角坐标系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简化运算是解题的关键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求解时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重视从不同视角诠释求动点轨迹方程的步骤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注意灵活运用图形的几何性质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8067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双动点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问题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若已知一动点在某条曲线上运动而求另一动点的轨迹方程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则通常用代入法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7997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308516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的距离是它到点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(8,0)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的距离的一半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51816" y="3104767"/>
            <a:ext cx="11430000" cy="2512549"/>
            <a:chOff x="51816" y="3291805"/>
            <a:chExt cx="11430000" cy="2512549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12403372"/>
                </p:ext>
              </p:extLst>
            </p:nvPr>
          </p:nvGraphicFramePr>
          <p:xfrm>
            <a:off x="51816" y="3291805"/>
            <a:ext cx="11430000" cy="20056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3" name="文档" r:id="rId4" imgW="4520786" imgH="793285" progId="Word.Document.12">
                    <p:embed/>
                  </p:oleObj>
                </mc:Choice>
                <mc:Fallback>
                  <p:oleObj name="文档" r:id="rId4" imgW="4520786" imgH="793285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1816" y="3291805"/>
                          <a:ext cx="11430000" cy="200568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5212141"/>
              <a:ext cx="8146782" cy="5922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indent="279400"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化简得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即动点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的轨迹方程为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16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28069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上运动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的轨迹是以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为圆心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为半径的圆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7034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381000" y="50021"/>
            <a:ext cx="2362200" cy="6406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【</a:t>
            </a:r>
            <a:r>
              <a:rPr lang="zh-CN" altLang="en-US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易错辨析</a:t>
            </a:r>
            <a:r>
              <a:rPr lang="zh-CN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】</a:t>
            </a:r>
            <a:r>
              <a:rPr lang="en-US" altLang="zh-CN" sz="3200" b="1" dirty="0" smtClean="0">
                <a:solidFill>
                  <a:srgbClr val="E88651">
                    <a:lumMod val="75000"/>
                  </a:srgbClr>
                </a:solidFill>
                <a:latin typeface="黑体" panose="02010609060101010101" pitchFamily="49" charset="-122"/>
                <a:ea typeface="方正姚体" panose="02010601030101010101"/>
                <a:cs typeface="方正姚体" panose="02010601030101010101" charset="-122"/>
              </a:rPr>
              <a:t> </a:t>
            </a:r>
            <a:endParaRPr lang="zh-CN" altLang="zh-CN" sz="3200" b="1" dirty="0">
              <a:solidFill>
                <a:srgbClr val="E88651">
                  <a:lumMod val="75000"/>
                </a:srgbClr>
              </a:solidFill>
              <a:latin typeface="黑体" panose="02010609060101010101" pitchFamily="49" charset="-122"/>
              <a:ea typeface="方正姚体" panose="02010601030101010101"/>
              <a:cs typeface="方正姚体" panose="02010601030101010101" charset="-122"/>
            </a:endParaRPr>
          </a:p>
        </p:txBody>
      </p:sp>
      <p:sp>
        <p:nvSpPr>
          <p:cNvPr id="8" name="矩形 7"/>
          <p:cNvSpPr>
            <a:spLocks noChangeAspect="1"/>
          </p:cNvSpPr>
          <p:nvPr/>
        </p:nvSpPr>
        <p:spPr>
          <a:xfrm>
            <a:off x="381000" y="1246232"/>
            <a:ext cx="11430000" cy="3453253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忽略了二元二次方程表示圆的条件而致误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【典例】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的外部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错解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,2)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在圆的外部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3×2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解得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故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+∞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828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66420"/>
            <a:ext cx="11430000" cy="2332946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以上解题过程中都有哪些错误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出错的原因是什么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你如何改正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你如何防范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 smtClean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提示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上述解法的错误在于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忘记判断二元二次方程表示圆的条件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正解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在圆的外部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695798"/>
              </p:ext>
            </p:extLst>
          </p:nvPr>
        </p:nvGraphicFramePr>
        <p:xfrm>
          <a:off x="36576" y="2511558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5" name="文档" r:id="rId4" imgW="4520786" imgH="793285" progId="Word.Document.12">
                  <p:embed/>
                </p:oleObj>
              </mc:Choice>
              <mc:Fallback>
                <p:oleObj name="文档" r:id="rId4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6576" y="2511558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395318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en-US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防范措施</a:t>
            </a:r>
            <a:r>
              <a:rPr lang="en-US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对于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二元二次方程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只有在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的前提下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它才表示圆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故求解本题在判定出点与圆的位置关系后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仿宋" panose="02010609060101010101" pitchFamily="49" charset="-122"/>
                <a:cs typeface="Times New Roman" panose="02020603050405020304" pitchFamily="18" charset="0"/>
              </a:rPr>
              <a:t>要验证所求参数的范围是否满足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+E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F&gt;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7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592213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279400"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【变式训练】</a:t>
            </a:r>
            <a:r>
              <a:rPr lang="zh-CN" altLang="zh-CN" sz="2800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(1,1)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-ax-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的内部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087617"/>
              </p:ext>
            </p:extLst>
          </p:nvPr>
        </p:nvGraphicFramePr>
        <p:xfrm>
          <a:off x="64008" y="1953857"/>
          <a:ext cx="11430000" cy="2507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49" name="文档" r:id="rId4" imgW="4520786" imgH="991877" progId="Word.Document.12">
                  <p:embed/>
                </p:oleObj>
              </mc:Choice>
              <mc:Fallback>
                <p:oleObj name="文档" r:id="rId4" imgW="4520786" imgH="9918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4008" y="1953857"/>
                        <a:ext cx="11430000" cy="25077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890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2617835" y="2558415"/>
            <a:ext cx="1105802" cy="815646"/>
            <a:chOff x="-1604504" y="2147667"/>
            <a:chExt cx="3687215" cy="2719712"/>
          </a:xfrm>
        </p:grpSpPr>
        <p:cxnSp>
          <p:nvCxnSpPr>
            <p:cNvPr id="7" name="直接连接符 6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  <p:cxnSp>
          <p:nvCxnSpPr>
            <p:cNvPr id="8" name="直接连接符 7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chemeClr val="tx2">
                  <a:lumMod val="50000"/>
                </a:schemeClr>
              </a:solidFill>
              <a:prstDash val="solid"/>
            </a:ln>
            <a:effectLst/>
          </p:spPr>
        </p:cxnSp>
      </p:grpSp>
      <p:grpSp>
        <p:nvGrpSpPr>
          <p:cNvPr id="9" name="组合 8"/>
          <p:cNvGrpSpPr/>
          <p:nvPr/>
        </p:nvGrpSpPr>
        <p:grpSpPr>
          <a:xfrm flipH="1" flipV="1">
            <a:off x="8334801" y="2587481"/>
            <a:ext cx="1105803" cy="815646"/>
            <a:chOff x="-1604504" y="2147667"/>
            <a:chExt cx="3687215" cy="2719712"/>
          </a:xfrm>
        </p:grpSpPr>
        <p:cxnSp>
          <p:nvCxnSpPr>
            <p:cNvPr id="10" name="直接连接符 9"/>
            <p:cNvCxnSpPr/>
            <p:nvPr/>
          </p:nvCxnSpPr>
          <p:spPr>
            <a:xfrm flipH="1">
              <a:off x="-1604504" y="2687623"/>
              <a:ext cx="2592288" cy="2179756"/>
            </a:xfrm>
            <a:prstGeom prst="line">
              <a:avLst/>
            </a:prstGeom>
            <a:noFill/>
            <a:ln w="762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  <p:cxnSp>
          <p:nvCxnSpPr>
            <p:cNvPr id="11" name="直接连接符 10"/>
            <p:cNvCxnSpPr/>
            <p:nvPr/>
          </p:nvCxnSpPr>
          <p:spPr>
            <a:xfrm flipH="1">
              <a:off x="-509577" y="2147667"/>
              <a:ext cx="2592288" cy="2179756"/>
            </a:xfrm>
            <a:prstGeom prst="line">
              <a:avLst/>
            </a:prstGeom>
            <a:noFill/>
            <a:ln w="12700" cap="flat" cmpd="sng" algn="ctr">
              <a:solidFill>
                <a:sysClr val="windowText" lastClr="000000">
                  <a:lumMod val="85000"/>
                  <a:lumOff val="15000"/>
                </a:sysClr>
              </a:solidFill>
              <a:prstDash val="solid"/>
            </a:ln>
            <a:effectLst/>
          </p:spPr>
        </p:cxnSp>
      </p:grpSp>
      <p:sp>
        <p:nvSpPr>
          <p:cNvPr id="12" name="文本框 11"/>
          <p:cNvSpPr txBox="1"/>
          <p:nvPr/>
        </p:nvSpPr>
        <p:spPr>
          <a:xfrm>
            <a:off x="3612492" y="2507615"/>
            <a:ext cx="45878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 smtClean="0">
                <a:solidFill>
                  <a:srgbClr val="4D4D4D"/>
                </a:solidFill>
                <a:latin typeface="方正姚体" panose="02010601030101010101" charset="-122"/>
                <a:ea typeface="方正姚体" panose="02010601030101010101" charset="-122"/>
                <a:cs typeface="隶书" panose="02010509060101010101" pitchFamily="49" charset="-122"/>
                <a:sym typeface="+mn-ea"/>
              </a:rPr>
              <a:t>随堂练习</a:t>
            </a:r>
            <a:endParaRPr lang="zh-CN" altLang="en-US" sz="5400" b="1" dirty="0">
              <a:solidFill>
                <a:srgbClr val="4D4D4D"/>
              </a:solidFill>
              <a:latin typeface="方正姚体" panose="02010601030101010101" charset="-122"/>
              <a:ea typeface="方正姚体" panose="02010601030101010101" charset="-122"/>
              <a:cs typeface="隶书" panose="02010509060101010101" pitchFamily="49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1243879"/>
            <a:ext cx="11430000" cy="339298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则圆心坐标和半径分别是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1),3	B.(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2,1),3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1),3	D.(2,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1),9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圆的方程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可化为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故其圆心坐标为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半径为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5348"/>
            <a:ext cx="11035393" cy="59221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若关于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-x+y+m=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表示圆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则实数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的取值范围是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5461088"/>
              </p:ext>
            </p:extLst>
          </p:nvPr>
        </p:nvGraphicFramePr>
        <p:xfrm>
          <a:off x="478536" y="1357834"/>
          <a:ext cx="11430000" cy="2005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2" name="文档" r:id="rId4" imgW="4520786" imgH="793285" progId="Word.Document.12">
                  <p:embed/>
                </p:oleObj>
              </mc:Choice>
              <mc:Fallback>
                <p:oleObj name="文档" r:id="rId4" imgW="4520786" imgH="79328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536" y="1357834"/>
                        <a:ext cx="11430000" cy="20056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4942572"/>
              </p:ext>
            </p:extLst>
          </p:nvPr>
        </p:nvGraphicFramePr>
        <p:xfrm>
          <a:off x="478536" y="3290362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83" name="文档" r:id="rId7" imgW="4520786" imgH="396823" progId="Word.Document.12">
                  <p:embed/>
                </p:oleObj>
              </mc:Choice>
              <mc:Fallback>
                <p:oleObj name="文档" r:id="rId7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78536" y="3290362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81000" y="4220507"/>
            <a:ext cx="1331839" cy="6524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2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590041"/>
            <a:ext cx="11430000" cy="28328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</a:t>
            </a:r>
            <a:r>
              <a:rPr lang="en-US" altLang="zh-CN" sz="28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</a:t>
            </a:r>
            <a:r>
              <a:rPr lang="en-US" altLang="zh-CN" sz="2800" dirty="0" err="1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的斜边的两端点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的坐标分别为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3,0)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(7,0),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则直角顶点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zh-CN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　　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B.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	</a:t>
            </a:r>
            <a:r>
              <a:rPr lang="en-US" altLang="zh-CN" sz="28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D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解析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线段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的中点坐标为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(2,0),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sz="2800" dirty="0">
                <a:solidFill>
                  <a:srgbClr val="000000"/>
                </a:solidFill>
                <a:latin typeface="Cambria Math" panose="02040503050406030204" pitchFamily="18" charset="0"/>
                <a:cs typeface="Cambria Math" panose="02040503050406030204" pitchFamily="18" charset="0"/>
              </a:rPr>
              <a:t>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为直角三角形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为直角顶点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8800865"/>
              </p:ext>
            </p:extLst>
          </p:nvPr>
        </p:nvGraphicFramePr>
        <p:xfrm>
          <a:off x="478536" y="3398484"/>
          <a:ext cx="11430000" cy="10032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文档" r:id="rId4" imgW="4520786" imgH="396823" progId="Word.Document.12">
                  <p:embed/>
                </p:oleObj>
              </mc:Choice>
              <mc:Fallback>
                <p:oleObj name="文档" r:id="rId4" imgW="4520786" imgH="39682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78536" y="3398484"/>
                        <a:ext cx="11430000" cy="10032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4365205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又因为点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不共线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2)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≠0)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1115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4528"/>
            <a:ext cx="11430000" cy="115236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上的动点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是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为原点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的中点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则动点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的轨迹方程是</a:t>
            </a:r>
            <a:r>
              <a:rPr lang="zh-CN" altLang="zh-CN" sz="2800" i="1" u="sng" dirty="0">
                <a:solidFill>
                  <a:srgbClr val="FF0000"/>
                </a:solidFill>
                <a:uFill>
                  <a:solidFill>
                    <a:srgbClr val="000000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　　　　　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altLang="zh-CN" sz="2800" i="1" dirty="0">
                <a:solidFill>
                  <a:srgbClr val="000000"/>
                </a:solidFill>
                <a:latin typeface="宋体" panose="02010600030101010101" pitchFamily="2" charset="-122"/>
                <a:ea typeface="方正书宋_GBK"/>
                <a:cs typeface="Times New Roman" panose="02020603050405020304" pitchFamily="18" charset="0"/>
              </a:rPr>
              <a:t> 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7170223"/>
              </p:ext>
            </p:extLst>
          </p:nvPr>
        </p:nvGraphicFramePr>
        <p:xfrm>
          <a:off x="481140" y="1844703"/>
          <a:ext cx="11430000" cy="150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0" name="文档" r:id="rId4" imgW="4520786" imgH="595054" progId="Word.Document.12">
                  <p:embed/>
                </p:oleObj>
              </mc:Choice>
              <mc:Fallback>
                <p:oleObj name="文档" r:id="rId4" imgW="4520786" imgH="5950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81140" y="1844703"/>
                        <a:ext cx="11430000" cy="1504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81000" y="3274015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∵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-25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NEU-BZ-S92"/>
                <a:cs typeface="宋体" panose="02010600030101010101" pitchFamily="2" charset="-122"/>
              </a:rPr>
              <a:t>∴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答案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670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81000" y="703340"/>
            <a:ext cx="11430000" cy="171252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已知圆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过点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(1,0),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(0,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1),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求圆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的方程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en-US" altLang="zh-CN" sz="2800" dirty="0">
                <a:solidFill>
                  <a:srgbClr val="FF0000"/>
                </a:solidFill>
                <a:latin typeface="Arial" panose="020B0604020202020204" pitchFamily="34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的方程为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+y</a:t>
            </a:r>
            <a:r>
              <a:rPr lang="en-US" altLang="zh-CN" sz="2800" baseline="30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+Dx+Ey+F=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CN" altLang="zh-CN" sz="2800" dirty="0">
              <a:solidFill>
                <a:srgbClr val="000000"/>
              </a:solidFill>
              <a:latin typeface="NEU-BZ-S92"/>
              <a:ea typeface="方正书宋_GBK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altLang="zh-CN" sz="28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zh-CN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三点坐标依次代入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endParaRPr lang="zh-CN" altLang="zh-CN" sz="2800" dirty="0">
              <a:solidFill>
                <a:srgbClr val="000000"/>
              </a:solidFill>
              <a:effectLst/>
              <a:latin typeface="NEU-BZ-S92"/>
              <a:ea typeface="方正书宋_GBK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81000" y="2428052"/>
            <a:ext cx="11527536" cy="2156974"/>
            <a:chOff x="381000" y="3134640"/>
            <a:chExt cx="11527536" cy="2156974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40674767"/>
                </p:ext>
              </p:extLst>
            </p:nvPr>
          </p:nvGraphicFramePr>
          <p:xfrm>
            <a:off x="478536" y="3134640"/>
            <a:ext cx="11430000" cy="15044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8444" name="文档" r:id="rId4" imgW="4520786" imgH="595054" progId="Word.Document.12">
                    <p:embed/>
                  </p:oleObj>
                </mc:Choice>
                <mc:Fallback>
                  <p:oleObj name="文档" r:id="rId4" imgW="4520786" imgH="59505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78536" y="3134640"/>
                          <a:ext cx="11430000" cy="150448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81000" y="4639128"/>
              <a:ext cx="5107488" cy="65248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圆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r>
                <a:rPr lang="zh-CN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的方程为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+y</a:t>
              </a:r>
              <a:r>
                <a:rPr lang="en-US" altLang="zh-CN" sz="2800" baseline="300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zh-CN" sz="2800" i="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-x+y=</a:t>
              </a:r>
              <a:r>
                <a: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r>
                <a:rPr lang="en-US" altLang="zh-CN" sz="2800" i="1" dirty="0" smtClean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 </a:t>
              </a:r>
              <a:endParaRPr lang="zh-CN" altLang="zh-CN" sz="2800" dirty="0">
                <a:solidFill>
                  <a:srgbClr val="000000"/>
                </a:solidFill>
                <a:effectLst/>
                <a:latin typeface="NEU-BZ-S92"/>
                <a:ea typeface="方正书宋_GBK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31072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阴影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5712" y="1511279"/>
            <a:ext cx="7280625" cy="339612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809976" y="4908623"/>
            <a:ext cx="8572049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lnSpc>
                <a:spcPct val="150000"/>
              </a:lnSpc>
            </a:pPr>
            <a:r>
              <a:rPr lang="zh-CN" altLang="en-US" sz="2400" smtClean="0">
                <a:solidFill>
                  <a:srgbClr val="55463D"/>
                </a:solidFill>
              </a:rPr>
              <a:t>更多精彩内容请登录</a:t>
            </a:r>
            <a:r>
              <a:rPr lang="zh-CN" altLang="en-US" sz="2800" b="1" smtClean="0">
                <a:solidFill>
                  <a:srgbClr val="55463D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志鸿优化网</a:t>
            </a:r>
            <a:endParaRPr lang="en-US" altLang="zh-CN" sz="2400" b="1" smtClean="0">
              <a:solidFill>
                <a:srgbClr val="55463D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 fontAlgn="auto">
              <a:lnSpc>
                <a:spcPct val="150000"/>
              </a:lnSpc>
            </a:pPr>
            <a:r>
              <a:rPr lang="en-US" altLang="zh-CN" sz="2400" smtClean="0">
                <a:solidFill>
                  <a:srgbClr val="55463D"/>
                </a:solidFill>
              </a:rPr>
              <a:t>http</a:t>
            </a:r>
            <a:r>
              <a:rPr lang="en-US" altLang="zh-CN" sz="2400">
                <a:solidFill>
                  <a:srgbClr val="55463D"/>
                </a:solidFill>
              </a:rPr>
              <a:t>://www.zhyh.org</a:t>
            </a:r>
            <a:r>
              <a:rPr lang="en-US" altLang="zh-CN" sz="2400" smtClean="0">
                <a:solidFill>
                  <a:srgbClr val="55463D"/>
                </a:solidFill>
              </a:rPr>
              <a:t>/</a:t>
            </a:r>
            <a:endParaRPr lang="zh-CN" altLang="en-US" sz="2400">
              <a:solidFill>
                <a:srgbClr val="55463D"/>
              </a:solidFill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clrChange>
              <a:clrFrom>
                <a:srgbClr val="ECECEE"/>
              </a:clrFrom>
              <a:clrTo>
                <a:srgbClr val="ECECE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3290" y="4517181"/>
            <a:ext cx="2325712" cy="2253486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451123" y="2222090"/>
            <a:ext cx="49947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000" b="1">
                <a:solidFill>
                  <a:srgbClr val="55463D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本  课  结  束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 decel="100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8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1022204519"/>
  <p:tag name="MH_LIBRARY" val="GRAPHIC"/>
  <p:tag name="MH_ORDER" val="TextBox 3"/>
</p:tagLst>
</file>

<file path=ppt/theme/theme1.xml><?xml version="1.0" encoding="utf-8"?>
<a:theme xmlns:a="http://schemas.openxmlformats.org/drawingml/2006/main" name="1_Office 主题">
  <a:themeElements>
    <a:clrScheme name="模块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1" id="{721B1EAD-A6C0-47A7-B782-D5918D0D228F}" vid="{2963E896-880A-42B6-99FF-93DBD5586BD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理科模板</Template>
  <TotalTime>285</TotalTime>
  <Words>1851</Words>
  <Application>Microsoft Office PowerPoint</Application>
  <PresentationFormat>宽屏</PresentationFormat>
  <Paragraphs>154</Paragraphs>
  <Slides>36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56" baseType="lpstr">
      <vt:lpstr>NEU-BZ-S92</vt:lpstr>
      <vt:lpstr>Open Sans</vt:lpstr>
      <vt:lpstr>方正书宋_GBK</vt:lpstr>
      <vt:lpstr>方正姚体</vt:lpstr>
      <vt:lpstr>方正正中黑简体</vt:lpstr>
      <vt:lpstr>仿宋</vt:lpstr>
      <vt:lpstr>黑体</vt:lpstr>
      <vt:lpstr>华文细黑</vt:lpstr>
      <vt:lpstr>华文新魏</vt:lpstr>
      <vt:lpstr>楷体</vt:lpstr>
      <vt:lpstr>隶书</vt:lpstr>
      <vt:lpstr>思源黑体 CN Medium</vt:lpstr>
      <vt:lpstr>宋体</vt:lpstr>
      <vt:lpstr>微软雅黑</vt:lpstr>
      <vt:lpstr>Arial</vt:lpstr>
      <vt:lpstr>Calibri</vt:lpstr>
      <vt:lpstr>Cambria Math</vt:lpstr>
      <vt:lpstr>Times New Roman</vt:lpstr>
      <vt:lpstr>1_Office 主题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ITSK.com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SkyUser</dc:creator>
  <cp:lastModifiedBy>SkyUser</cp:lastModifiedBy>
  <cp:revision>30</cp:revision>
  <dcterms:created xsi:type="dcterms:W3CDTF">2021-08-30T08:30:26Z</dcterms:created>
  <dcterms:modified xsi:type="dcterms:W3CDTF">2025-08-09T09:03:10Z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2052-11.1.0.10000</vt:lpwstr>
  </property>
</Properties>
</file>