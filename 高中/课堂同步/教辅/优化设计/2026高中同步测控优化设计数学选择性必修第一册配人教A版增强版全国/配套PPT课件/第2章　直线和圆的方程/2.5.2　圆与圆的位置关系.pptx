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docx" ContentType="application/vnd.openxmlformats-officedocument.wordprocessingml.document"/>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677" r:id="rId2"/>
    <p:sldId id="488" r:id="rId3"/>
    <p:sldId id="494" r:id="rId4"/>
    <p:sldId id="392" r:id="rId5"/>
    <p:sldId id="686" r:id="rId6"/>
    <p:sldId id="687" r:id="rId7"/>
    <p:sldId id="688" r:id="rId8"/>
    <p:sldId id="689" r:id="rId9"/>
    <p:sldId id="690" r:id="rId10"/>
    <p:sldId id="691" r:id="rId11"/>
    <p:sldId id="692" r:id="rId12"/>
    <p:sldId id="693" r:id="rId13"/>
    <p:sldId id="407" r:id="rId14"/>
    <p:sldId id="394" r:id="rId15"/>
    <p:sldId id="699" r:id="rId16"/>
    <p:sldId id="700" r:id="rId17"/>
    <p:sldId id="701" r:id="rId18"/>
    <p:sldId id="402" r:id="rId19"/>
    <p:sldId id="712" r:id="rId20"/>
    <p:sldId id="713" r:id="rId21"/>
    <p:sldId id="714" r:id="rId22"/>
    <p:sldId id="715" r:id="rId23"/>
    <p:sldId id="719" r:id="rId24"/>
    <p:sldId id="720" r:id="rId25"/>
    <p:sldId id="498" r:id="rId26"/>
    <p:sldId id="730" r:id="rId27"/>
    <p:sldId id="733" r:id="rId28"/>
    <p:sldId id="743" r:id="rId29"/>
    <p:sldId id="740" r:id="rId30"/>
    <p:sldId id="739" r:id="rId31"/>
    <p:sldId id="745" r:id="rId32"/>
    <p:sldId id="746" r:id="rId33"/>
    <p:sldId id="398" r:id="rId34"/>
    <p:sldId id="395" r:id="rId35"/>
    <p:sldId id="756" r:id="rId36"/>
    <p:sldId id="757" r:id="rId37"/>
    <p:sldId id="758" r:id="rId38"/>
    <p:sldId id="490"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8">
          <p15:clr>
            <a:srgbClr val="A4A3A4"/>
          </p15:clr>
        </p15:guide>
        <p15:guide id="2" pos="211" userDrawn="1">
          <p15:clr>
            <a:srgbClr val="A4A3A4"/>
          </p15:clr>
        </p15:guide>
        <p15:guide id="3" orient="horz" pos="436" userDrawn="1">
          <p15:clr>
            <a:srgbClr val="A4A3A4"/>
          </p15:clr>
        </p15:guide>
        <p15:guide id="4" orient="horz" pos="777" userDrawn="1">
          <p15:clr>
            <a:srgbClr val="A4A3A4"/>
          </p15:clr>
        </p15:guide>
        <p15:guide id="5" orient="horz" pos="28" userDrawn="1">
          <p15:clr>
            <a:srgbClr val="A4A3A4"/>
          </p15:clr>
        </p15:guide>
        <p15:guide id="6" pos="2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5B3E"/>
    <a:srgbClr val="7088DB"/>
    <a:srgbClr val="CF5B1B"/>
    <a:srgbClr val="38425D"/>
    <a:srgbClr val="4472C4"/>
    <a:srgbClr val="DFF0F5"/>
    <a:srgbClr val="4040C8"/>
    <a:srgbClr val="159470"/>
    <a:srgbClr val="157392"/>
    <a:srgbClr val="1593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92" d="100"/>
          <a:sy n="92" d="100"/>
        </p:scale>
        <p:origin x="498" y="84"/>
      </p:cViewPr>
      <p:guideLst>
        <p:guide orient="horz" pos="368"/>
        <p:guide pos="211"/>
        <p:guide orient="horz" pos="436"/>
        <p:guide orient="horz" pos="777"/>
        <p:guide orient="horz" pos="28"/>
        <p:guide pos="257"/>
      </p:guideLst>
    </p:cSldViewPr>
  </p:slideViewPr>
  <p:notesTextViewPr>
    <p:cViewPr>
      <p:scale>
        <a:sx n="1" d="1"/>
        <a:sy n="1" d="1"/>
      </p:scale>
      <p:origin x="0" y="0"/>
    </p:cViewPr>
  </p:notesTextViewPr>
  <p:sorterViewPr>
    <p:cViewPr>
      <p:scale>
        <a:sx n="100" d="100"/>
        <a:sy n="100" d="100"/>
      </p:scale>
      <p:origin x="0" y="-99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image" Target="../media/image8.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image" Target="../media/image14.e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image" Target="../media/image16.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image" Target="../media/image26.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8.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9.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image" Target="../media/image3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B3386-1164-4DE5-87D6-99DD641BC976}" type="datetimeFigureOut">
              <a:rPr lang="zh-CN" altLang="en-US" smtClean="0"/>
              <a:t>2024-07-17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DB411-4171-48A7-B819-B87F89F6C7EE}" type="slidenum">
              <a:rPr lang="zh-CN" altLang="en-US" smtClean="0"/>
              <a:t>‹#›</a:t>
            </a:fld>
            <a:endParaRPr lang="zh-CN" altLang="en-US"/>
          </a:p>
        </p:txBody>
      </p:sp>
    </p:spTree>
    <p:extLst>
      <p:ext uri="{BB962C8B-B14F-4D97-AF65-F5344CB8AC3E}">
        <p14:creationId xmlns:p14="http://schemas.microsoft.com/office/powerpoint/2010/main" val="1254488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slide" Target="../slides/slide14.xml"/><Relationship Id="rId1" Type="http://schemas.openxmlformats.org/officeDocument/2006/relationships/slideMaster" Target="../slideMasters/slideMaster1.xml"/><Relationship Id="rId5" Type="http://schemas.openxmlformats.org/officeDocument/2006/relationships/slide" Target="../slides/slide29.xml"/><Relationship Id="rId4" Type="http://schemas.openxmlformats.org/officeDocument/2006/relationships/slide" Target="../slides/slide2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6_标题幻灯片">
    <p:spTree>
      <p:nvGrpSpPr>
        <p:cNvPr id="1" name=""/>
        <p:cNvGrpSpPr/>
        <p:nvPr/>
      </p:nvGrpSpPr>
      <p:grpSpPr>
        <a:xfrm>
          <a:off x="0" y="0"/>
          <a:ext cx="0" cy="0"/>
          <a:chOff x="0" y="0"/>
          <a:chExt cx="0" cy="0"/>
        </a:xfrm>
      </p:grpSpPr>
      <p:sp>
        <p:nvSpPr>
          <p:cNvPr id="7" name="圆角矩形 6">
            <a:hlinkClick r:id="rId2" action="ppaction://hlinksldjump"/>
          </p:cNvPr>
          <p:cNvSpPr/>
          <p:nvPr userDrawn="1"/>
        </p:nvSpPr>
        <p:spPr>
          <a:xfrm>
            <a:off x="7883227"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n>
                  <a:solidFill>
                    <a:schemeClr val="bg1"/>
                  </a:solidFill>
                </a:ln>
                <a:solidFill>
                  <a:schemeClr val="bg1"/>
                </a:solidFill>
              </a:rPr>
              <a:t>探究一</a:t>
            </a:r>
            <a:endParaRPr lang="zh-CN" altLang="en-US" sz="1400" dirty="0">
              <a:ln>
                <a:solidFill>
                  <a:schemeClr val="bg1"/>
                </a:solidFill>
              </a:ln>
              <a:solidFill>
                <a:schemeClr val="bg1"/>
              </a:solidFill>
            </a:endParaRPr>
          </a:p>
        </p:txBody>
      </p:sp>
      <p:sp>
        <p:nvSpPr>
          <p:cNvPr id="8" name="圆角矩形 7">
            <a:hlinkClick r:id="rId3" action="ppaction://hlinksldjump"/>
          </p:cNvPr>
          <p:cNvSpPr/>
          <p:nvPr userDrawn="1"/>
        </p:nvSpPr>
        <p:spPr>
          <a:xfrm>
            <a:off x="8949571"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探究二</a:t>
            </a:r>
            <a:endParaRPr lang="zh-CN" altLang="en-US" sz="1400" dirty="0">
              <a:ln>
                <a:solidFill>
                  <a:schemeClr val="bg1"/>
                </a:solidFill>
              </a:ln>
              <a:solidFill>
                <a:schemeClr val="bg1"/>
              </a:solidFill>
            </a:endParaRPr>
          </a:p>
        </p:txBody>
      </p:sp>
      <p:sp>
        <p:nvSpPr>
          <p:cNvPr id="9" name="圆角矩形 8">
            <a:hlinkClick r:id="rId4" action="ppaction://hlinksldjump"/>
          </p:cNvPr>
          <p:cNvSpPr/>
          <p:nvPr userDrawn="1"/>
        </p:nvSpPr>
        <p:spPr>
          <a:xfrm>
            <a:off x="10015915"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探究三</a:t>
            </a:r>
            <a:endParaRPr lang="zh-CN" altLang="en-US" sz="1400" dirty="0">
              <a:ln>
                <a:solidFill>
                  <a:schemeClr val="bg1"/>
                </a:solidFill>
              </a:ln>
              <a:solidFill>
                <a:schemeClr val="bg1"/>
              </a:solidFill>
            </a:endParaRPr>
          </a:p>
        </p:txBody>
      </p:sp>
      <p:sp>
        <p:nvSpPr>
          <p:cNvPr id="5" name="圆角矩形 4">
            <a:hlinkClick r:id="rId5" action="ppaction://hlinksldjump"/>
          </p:cNvPr>
          <p:cNvSpPr/>
          <p:nvPr userDrawn="1"/>
        </p:nvSpPr>
        <p:spPr>
          <a:xfrm>
            <a:off x="11082259" y="6512560"/>
            <a:ext cx="984481" cy="274320"/>
          </a:xfrm>
          <a:prstGeom prst="roundRect">
            <a:avLst>
              <a:gd name="adj" fmla="val 50000"/>
            </a:avLst>
          </a:prstGeom>
          <a:solidFill>
            <a:srgbClr val="7F7F7F"/>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1400" dirty="0" smtClean="0">
                <a:ln>
                  <a:solidFill>
                    <a:schemeClr val="bg1"/>
                  </a:solidFill>
                </a:ln>
                <a:solidFill>
                  <a:schemeClr val="bg1"/>
                </a:solidFill>
              </a:rPr>
              <a:t>易错辨析</a:t>
            </a:r>
            <a:endParaRPr lang="zh-CN" altLang="en-US" sz="1400" dirty="0">
              <a:ln>
                <a:solidFill>
                  <a:schemeClr val="bg1"/>
                </a:solidFill>
              </a:ln>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61" r:id="rId3"/>
  </p:sldLayoutIdLst>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slide" Target="slide4.xml"/><Relationship Id="rId1" Type="http://schemas.openxmlformats.org/officeDocument/2006/relationships/slideLayout" Target="../slideLayouts/slideLayout1.xml"/><Relationship Id="rId4" Type="http://schemas.openxmlformats.org/officeDocument/2006/relationships/slide" Target="slide3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package" Target="../embeddings/Microsoft_Word___1.docx"/><Relationship Id="rId2" Type="http://schemas.openxmlformats.org/officeDocument/2006/relationships/slideLayout" Target="../slideLayouts/slideLayout3.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Word___2.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5.emf"/><Relationship Id="rId5" Type="http://schemas.openxmlformats.org/officeDocument/2006/relationships/package" Target="../embeddings/Microsoft_Word___3.docx"/><Relationship Id="rId4" Type="http://schemas.openxmlformats.org/officeDocument/2006/relationships/image" Target="../media/image4.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Word___4.docx"/><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7.emf"/><Relationship Id="rId5" Type="http://schemas.openxmlformats.org/officeDocument/2006/relationships/package" Target="../embeddings/Microsoft_Word___5.docx"/><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Word___6.docx"/><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9.emf"/><Relationship Id="rId5" Type="http://schemas.openxmlformats.org/officeDocument/2006/relationships/package" Target="../embeddings/Microsoft_Word___7.docx"/><Relationship Id="rId4" Type="http://schemas.openxmlformats.org/officeDocument/2006/relationships/image" Target="../media/image8.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package" Target="../embeddings/Microsoft_Word___8.docx"/><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0.emf"/></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1.emf"/><Relationship Id="rId4" Type="http://schemas.openxmlformats.org/officeDocument/2006/relationships/package" Target="../embeddings/Microsoft_Word___9.docx"/></Relationships>
</file>

<file path=ppt/slides/_rels/slide17.xml.rels><?xml version="1.0" encoding="UTF-8" standalone="yes"?>
<Relationships xmlns="http://schemas.openxmlformats.org/package/2006/relationships"><Relationship Id="rId3" Type="http://schemas.openxmlformats.org/officeDocument/2006/relationships/package" Target="../embeddings/Microsoft_Word___10.docx"/><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13.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package" Target="../embeddings/Microsoft_Word___11.docx"/><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5.emf"/><Relationship Id="rId5" Type="http://schemas.openxmlformats.org/officeDocument/2006/relationships/package" Target="../embeddings/Microsoft_Word___12.docx"/><Relationship Id="rId4" Type="http://schemas.openxmlformats.org/officeDocument/2006/relationships/image" Target="../media/image14.emf"/></Relationships>
</file>

<file path=ppt/slides/_rels/slide20.xml.rels><?xml version="1.0" encoding="UTF-8" standalone="yes"?>
<Relationships xmlns="http://schemas.openxmlformats.org/package/2006/relationships"><Relationship Id="rId3" Type="http://schemas.openxmlformats.org/officeDocument/2006/relationships/package" Target="../embeddings/Microsoft_Word___13.docx"/><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17.emf"/><Relationship Id="rId5" Type="http://schemas.openxmlformats.org/officeDocument/2006/relationships/package" Target="../embeddings/Microsoft_Word___14.docx"/><Relationship Id="rId4" Type="http://schemas.openxmlformats.org/officeDocument/2006/relationships/image" Target="../media/image16.emf"/></Relationships>
</file>

<file path=ppt/slides/_rels/slide21.xml.rels><?xml version="1.0" encoding="UTF-8" standalone="yes"?>
<Relationships xmlns="http://schemas.openxmlformats.org/package/2006/relationships"><Relationship Id="rId3" Type="http://schemas.openxmlformats.org/officeDocument/2006/relationships/package" Target="../embeddings/Microsoft_Word___15.docx"/><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18.emf"/></Relationships>
</file>

<file path=ppt/slides/_rels/slide22.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package" Target="../embeddings/Microsoft_Word___16.docx"/><Relationship Id="rId7" Type="http://schemas.openxmlformats.org/officeDocument/2006/relationships/image" Target="../media/image20.e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package" Target="../embeddings/Microsoft_Word___17.docx"/><Relationship Id="rId5" Type="http://schemas.openxmlformats.org/officeDocument/2006/relationships/image" Target="../media/image12.jpeg"/><Relationship Id="rId4" Type="http://schemas.openxmlformats.org/officeDocument/2006/relationships/image" Target="../media/image19.emf"/></Relationships>
</file>

<file path=ppt/slides/_rels/slide23.xml.rels><?xml version="1.0" encoding="UTF-8" standalone="yes"?>
<Relationships xmlns="http://schemas.openxmlformats.org/package/2006/relationships"><Relationship Id="rId3" Type="http://schemas.openxmlformats.org/officeDocument/2006/relationships/package" Target="../embeddings/Microsoft_Word___18.docx"/><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2.emf"/></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Word___19.docx"/><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3" Type="http://schemas.openxmlformats.org/officeDocument/2006/relationships/package" Target="../embeddings/Microsoft_Word___20.docx"/><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24.emf"/></Relationships>
</file>

<file path=ppt/slides/_rels/slide26.xml.rels><?xml version="1.0" encoding="UTF-8" standalone="yes"?>
<Relationships xmlns="http://schemas.openxmlformats.org/package/2006/relationships"><Relationship Id="rId3" Type="http://schemas.openxmlformats.org/officeDocument/2006/relationships/package" Target="../embeddings/Microsoft_Word___21.docx"/><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25.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package" Target="../embeddings/Microsoft_Word___22.docx"/><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27.emf"/><Relationship Id="rId5" Type="http://schemas.openxmlformats.org/officeDocument/2006/relationships/package" Target="../embeddings/Microsoft_Word___23.docx"/><Relationship Id="rId4" Type="http://schemas.openxmlformats.org/officeDocument/2006/relationships/image" Target="../media/image26.emf"/></Relationships>
</file>

<file path=ppt/slides/_rels/slide29.xml.rels><?xml version="1.0" encoding="UTF-8" standalone="yes"?>
<Relationships xmlns="http://schemas.openxmlformats.org/package/2006/relationships"><Relationship Id="rId3" Type="http://schemas.openxmlformats.org/officeDocument/2006/relationships/package" Target="../embeddings/Microsoft_Word___24.docx"/><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8.emf"/></Relationships>
</file>

<file path=ppt/slides/_rels/slide30.xml.rels><?xml version="1.0" encoding="UTF-8" standalone="yes"?>
<Relationships xmlns="http://schemas.openxmlformats.org/package/2006/relationships"><Relationship Id="rId3" Type="http://schemas.openxmlformats.org/officeDocument/2006/relationships/package" Target="../embeddings/Microsoft_Word___25.docx"/><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9.emf"/></Relationships>
</file>

<file path=ppt/slides/_rels/slide31.xml.rels><?xml version="1.0" encoding="UTF-8" standalone="yes"?>
<Relationships xmlns="http://schemas.openxmlformats.org/package/2006/relationships"><Relationship Id="rId3" Type="http://schemas.openxmlformats.org/officeDocument/2006/relationships/package" Target="../embeddings/Microsoft_Word___26.docx"/><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30.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package" Target="../embeddings/Microsoft_Word___27.docx"/><Relationship Id="rId2" Type="http://schemas.openxmlformats.org/officeDocument/2006/relationships/slideLayout" Target="../slideLayouts/slideLayout1.xml"/><Relationship Id="rId1" Type="http://schemas.openxmlformats.org/officeDocument/2006/relationships/vmlDrawing" Target="../drawings/vmlDrawing20.vml"/><Relationship Id="rId5" Type="http://schemas.openxmlformats.org/officeDocument/2006/relationships/package" Target="../embeddings/Microsoft_Word___28.docx"/><Relationship Id="rId4" Type="http://schemas.openxmlformats.org/officeDocument/2006/relationships/image" Target="../media/image31.e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Word___29.docx"/><Relationship Id="rId2" Type="http://schemas.openxmlformats.org/officeDocument/2006/relationships/slideLayout" Target="../slideLayouts/slideLayout1.xml"/><Relationship Id="rId1" Type="http://schemas.openxmlformats.org/officeDocument/2006/relationships/vmlDrawing" Target="../drawings/vmlDrawing21.vml"/><Relationship Id="rId4" Type="http://schemas.openxmlformats.org/officeDocument/2006/relationships/image" Target="../media/image32.emf"/></Relationships>
</file>

<file path=ppt/slides/_rels/slide37.xml.rels><?xml version="1.0" encoding="UTF-8" standalone="yes"?>
<Relationships xmlns="http://schemas.openxmlformats.org/package/2006/relationships"><Relationship Id="rId3" Type="http://schemas.openxmlformats.org/officeDocument/2006/relationships/package" Target="../embeddings/Microsoft_Word___30.docx"/><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image" Target="../media/image19.emf"/><Relationship Id="rId5" Type="http://schemas.openxmlformats.org/officeDocument/2006/relationships/package" Target="../embeddings/Microsoft_Word___31.docx"/><Relationship Id="rId4" Type="http://schemas.openxmlformats.org/officeDocument/2006/relationships/image" Target="../media/image33.emf"/></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00879" y="519978"/>
            <a:ext cx="4047903" cy="461665"/>
          </a:xfrm>
          <a:prstGeom prst="rect">
            <a:avLst/>
          </a:prstGeom>
        </p:spPr>
        <p:txBody>
          <a:bodyPr wrap="none">
            <a:spAutoFit/>
          </a:bodyPr>
          <a:lstStyle/>
          <a:p>
            <a:pPr algn="dist"/>
            <a:r>
              <a:rPr lang="zh-CN" altLang="en-US" sz="2400" b="1" spc="600" dirty="0" smtClean="0">
                <a:solidFill>
                  <a:srgbClr val="757C82"/>
                </a:solidFill>
                <a:latin typeface="黑体" panose="02010609060101010101" pitchFamily="49" charset="-122"/>
                <a:ea typeface="黑体" panose="02010609060101010101" pitchFamily="49" charset="-122"/>
              </a:rPr>
              <a:t>高中同步测控优化设计</a:t>
            </a:r>
            <a:endParaRPr lang="zh-CN" altLang="en-US" sz="2400" b="1" spc="600" dirty="0">
              <a:solidFill>
                <a:srgbClr val="757C82"/>
              </a:solidFill>
              <a:latin typeface="黑体" panose="02010609060101010101" pitchFamily="49" charset="-122"/>
              <a:ea typeface="黑体" panose="02010609060101010101" pitchFamily="49" charset="-122"/>
            </a:endParaRPr>
          </a:p>
        </p:txBody>
      </p:sp>
      <p:cxnSp>
        <p:nvCxnSpPr>
          <p:cNvPr id="3" name="直接连接符 2"/>
          <p:cNvCxnSpPr/>
          <p:nvPr/>
        </p:nvCxnSpPr>
        <p:spPr>
          <a:xfrm>
            <a:off x="2282351" y="1003843"/>
            <a:ext cx="4305485" cy="0"/>
          </a:xfrm>
          <a:prstGeom prst="line">
            <a:avLst/>
          </a:prstGeom>
          <a:ln>
            <a:solidFill>
              <a:schemeClr val="tx1"/>
            </a:solidFill>
            <a:prstDash val="lgDashDotDot"/>
            <a:headEnd type="diamond" w="med" len="med"/>
            <a:tailEnd type="diamond" w="med" len="med"/>
          </a:ln>
          <a:effectLst/>
        </p:spPr>
        <p:style>
          <a:lnRef idx="1">
            <a:schemeClr val="accent1"/>
          </a:lnRef>
          <a:fillRef idx="0">
            <a:schemeClr val="accent1"/>
          </a:fillRef>
          <a:effectRef idx="0">
            <a:schemeClr val="accent1"/>
          </a:effectRef>
          <a:fontRef idx="minor">
            <a:schemeClr val="tx1"/>
          </a:fontRef>
        </p:style>
      </p:cxnSp>
      <p:sp>
        <p:nvSpPr>
          <p:cNvPr id="4" name="矩形 3"/>
          <p:cNvSpPr/>
          <p:nvPr/>
        </p:nvSpPr>
        <p:spPr>
          <a:xfrm>
            <a:off x="2173232" y="1026313"/>
            <a:ext cx="4414604" cy="338554"/>
          </a:xfrm>
          <a:prstGeom prst="rect">
            <a:avLst/>
          </a:prstGeom>
        </p:spPr>
        <p:txBody>
          <a:bodyPr wrap="square">
            <a:spAutoFit/>
          </a:bodyPr>
          <a:lstStyle/>
          <a:p>
            <a:pPr algn="ctr"/>
            <a:r>
              <a:rPr lang="en-US" altLang="zh-CN" sz="1600" b="1" dirty="0" smtClean="0">
                <a:solidFill>
                  <a:srgbClr val="757C82"/>
                </a:solidFill>
                <a:latin typeface="黑体" panose="02010609060101010101" pitchFamily="49" charset="-122"/>
                <a:ea typeface="黑体" panose="02010609060101010101" pitchFamily="49" charset="-122"/>
              </a:rPr>
              <a:t>GAO ZHONG TONG </a:t>
            </a:r>
            <a:r>
              <a:rPr lang="en-US" altLang="zh-CN" sz="1600" b="1" dirty="0">
                <a:solidFill>
                  <a:srgbClr val="757C82"/>
                </a:solidFill>
                <a:latin typeface="黑体" panose="02010609060101010101" pitchFamily="49" charset="-122"/>
                <a:ea typeface="黑体" panose="02010609060101010101" pitchFamily="49" charset="-122"/>
              </a:rPr>
              <a:t>B</a:t>
            </a:r>
            <a:r>
              <a:rPr lang="en-US" altLang="zh-CN" sz="1600" b="1" dirty="0" smtClean="0">
                <a:solidFill>
                  <a:srgbClr val="757C82"/>
                </a:solidFill>
                <a:latin typeface="黑体" panose="02010609060101010101" pitchFamily="49" charset="-122"/>
                <a:ea typeface="黑体" panose="02010609060101010101" pitchFamily="49" charset="-122"/>
              </a:rPr>
              <a:t>U CE KONG YOU HUA SHE JI</a:t>
            </a:r>
          </a:p>
        </p:txBody>
      </p:sp>
      <p:grpSp>
        <p:nvGrpSpPr>
          <p:cNvPr id="5" name="组合 4"/>
          <p:cNvGrpSpPr/>
          <p:nvPr/>
        </p:nvGrpSpPr>
        <p:grpSpPr>
          <a:xfrm>
            <a:off x="635" y="2775585"/>
            <a:ext cx="12191365" cy="1478915"/>
            <a:chOff x="303375" y="3227146"/>
            <a:chExt cx="11560182" cy="1479076"/>
          </a:xfrm>
        </p:grpSpPr>
        <p:sp>
          <p:nvSpPr>
            <p:cNvPr id="6" name="矩形 5"/>
            <p:cNvSpPr/>
            <p:nvPr/>
          </p:nvSpPr>
          <p:spPr>
            <a:xfrm>
              <a:off x="303375" y="3227146"/>
              <a:ext cx="11560182" cy="1479076"/>
            </a:xfrm>
            <a:prstGeom prst="rect">
              <a:avLst/>
            </a:prstGeom>
            <a:solidFill>
              <a:srgbClr val="6B7278"/>
            </a:solidFill>
            <a:ln>
              <a:noFill/>
            </a:ln>
            <a:scene3d>
              <a:camera prst="orthographicFront"/>
              <a:lightRig rig="threePt" dir="t"/>
            </a:scene3d>
            <a:sp3d>
              <a:bevelT w="114300" prst="hardEdg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665034" y="3614538"/>
              <a:ext cx="8158783" cy="645230"/>
            </a:xfrm>
            <a:prstGeom prst="rect">
              <a:avLst/>
            </a:prstGeom>
          </p:spPr>
          <p:txBody>
            <a:bodyPr wrap="square">
              <a:spAutoFit/>
            </a:bodyPr>
            <a:lstStyle/>
            <a:p>
              <a:r>
                <a:rPr lang="en-US" altLang="zh-CN" sz="3600" b="1" dirty="0">
                  <a:solidFill>
                    <a:schemeClr val="bg1"/>
                  </a:solidFill>
                  <a:latin typeface="华文细黑" panose="02010600040101010101" charset="-122"/>
                  <a:ea typeface="华文细黑" panose="02010600040101010101" charset="-122"/>
                </a:rPr>
                <a:t>2.5.2</a:t>
              </a:r>
              <a:r>
                <a:rPr lang="zh-CN" altLang="en-US" sz="3600" b="1" dirty="0">
                  <a:solidFill>
                    <a:schemeClr val="bg1"/>
                  </a:solidFill>
                  <a:latin typeface="华文细黑" panose="02010600040101010101" charset="-122"/>
                  <a:ea typeface="华文细黑" panose="02010600040101010101" charset="-122"/>
                </a:rPr>
                <a:t>　圆与圆的位置关系</a:t>
              </a:r>
            </a:p>
          </p:txBody>
        </p:sp>
      </p:grpSp>
      <p:sp>
        <p:nvSpPr>
          <p:cNvPr id="8" name="矩形 7"/>
          <p:cNvSpPr/>
          <p:nvPr/>
        </p:nvSpPr>
        <p:spPr>
          <a:xfrm>
            <a:off x="1109345" y="2277745"/>
            <a:ext cx="2282825" cy="2407920"/>
          </a:xfrm>
          <a:prstGeom prst="rect">
            <a:avLst/>
          </a:prstGeom>
          <a:solidFill>
            <a:srgbClr val="748773"/>
          </a:solidFill>
          <a:ln w="12700" cap="flat" cmpd="sng" algn="ctr">
            <a:noFill/>
            <a:prstDash val="solid"/>
            <a:miter lim="800000"/>
          </a:ln>
          <a:effectLst>
            <a:outerShdw blurRad="317500" dist="127000" dir="2700000" algn="tl" rotWithShape="0">
              <a:prstClr val="black">
                <a:alpha val="25000"/>
              </a:prstClr>
            </a:outerShdw>
          </a:effectLst>
          <a:scene3d>
            <a:camera prst="orthographicFront"/>
            <a:lightRig rig="threePt" dir="t"/>
          </a:scene3d>
          <a:sp3d>
            <a:bevelT w="101600" prst="riblet"/>
          </a:sp3d>
        </p:spPr>
        <p:txBody>
          <a:bodyPr wrap="none" rtlCol="0" anchor="ctr"/>
          <a:lstStyle/>
          <a:p>
            <a:pPr algn="ctr"/>
            <a:r>
              <a:rPr lang="zh-CN" altLang="en-US"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第二章</a:t>
            </a:r>
            <a:endPar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endParaRPr>
          </a:p>
          <a:p>
            <a:pPr algn="ctr"/>
            <a:r>
              <a:rPr lang="en-US" altLang="zh-CN" sz="3600" b="1" kern="0" dirty="0" smtClean="0">
                <a:solidFill>
                  <a:schemeClr val="bg1"/>
                </a:solidFill>
                <a:latin typeface="华文细黑" panose="02010600040101010101" charset="-122"/>
                <a:ea typeface="华文细黑" panose="02010600040101010101" charset="-122"/>
                <a:cs typeface="Open Sans" panose="020B0606030504020204" pitchFamily="34" charset="0"/>
              </a:rPr>
              <a:t>2.5</a:t>
            </a:r>
          </a:p>
        </p:txBody>
      </p:sp>
      <p:pic>
        <p:nvPicPr>
          <p:cNvPr id="10" name="图片 9" descr="e37b0ec1d4924ecca897357d279cf88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0"/>
                    </a14:imgEffect>
                  </a14:imgLayer>
                </a14:imgProps>
              </a:ext>
            </a:extLst>
          </a:blip>
          <a:stretch>
            <a:fillRect/>
          </a:stretch>
        </p:blipFill>
        <p:spPr>
          <a:xfrm>
            <a:off x="801370" y="175260"/>
            <a:ext cx="1453515" cy="1453515"/>
          </a:xfrm>
          <a:prstGeom prst="rect">
            <a:avLst/>
          </a:prstGeom>
        </p:spPr>
      </p:pic>
      <p:sp>
        <p:nvSpPr>
          <p:cNvPr id="11" name="矩形 10"/>
          <p:cNvSpPr/>
          <p:nvPr/>
        </p:nvSpPr>
        <p:spPr>
          <a:xfrm>
            <a:off x="1001385" y="587446"/>
            <a:ext cx="1052723" cy="5870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smtClean="0">
                <a:solidFill>
                  <a:srgbClr val="757C82"/>
                </a:solidFill>
                <a:latin typeface="Times New Roman" panose="02020603050405020304" pitchFamily="18" charset="0"/>
                <a:cs typeface="Times New Roman" panose="02020603050405020304" pitchFamily="18" charset="0"/>
              </a:rPr>
              <a:t>2025</a:t>
            </a:r>
            <a:endParaRPr lang="en-US" altLang="zh-CN" sz="2800" b="1" dirty="0" smtClean="0">
              <a:solidFill>
                <a:srgbClr val="757C8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9843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bldLst>
      <p:bldP spid="2" grpId="0"/>
      <p:bldP spid="4" grpId="0"/>
      <p:bldP spid="8" grpId="0" bldLvl="0" animBg="1"/>
      <p:bldP spid="11"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1788494" y="1591871"/>
            <a:ext cx="942982" cy="3046988"/>
          </a:xfrm>
          <a:prstGeom prst="rect">
            <a:avLst/>
          </a:prstGeom>
          <a:noFill/>
        </p:spPr>
        <p:txBody>
          <a:bodyPr wrap="square" rtlCol="0">
            <a:spAutoFit/>
          </a:bodyPr>
          <a:lstStyle/>
          <a:p>
            <a:r>
              <a:rPr kumimoji="1" lang="zh-CN" altLang="en-US" sz="4800" smtClean="0">
                <a:solidFill>
                  <a:srgbClr val="2C3814"/>
                </a:solidFill>
                <a:cs typeface="+mn-ea"/>
                <a:sym typeface="+mn-lt"/>
              </a:rPr>
              <a:t>内容索引</a:t>
            </a:r>
            <a:endParaRPr kumimoji="1" lang="zh-CN" altLang="en-US" sz="4800" dirty="0">
              <a:solidFill>
                <a:srgbClr val="2C3814"/>
              </a:solidFill>
              <a:cs typeface="+mn-ea"/>
              <a:sym typeface="+mn-lt"/>
            </a:endParaRPr>
          </a:p>
        </p:txBody>
      </p:sp>
      <p:grpSp>
        <p:nvGrpSpPr>
          <p:cNvPr id="25" name="组合 24"/>
          <p:cNvGrpSpPr/>
          <p:nvPr/>
        </p:nvGrpSpPr>
        <p:grpSpPr>
          <a:xfrm>
            <a:off x="1378713" y="856615"/>
            <a:ext cx="1105802" cy="815646"/>
            <a:chOff x="-1604504" y="2147667"/>
            <a:chExt cx="3687215" cy="2719712"/>
          </a:xfrm>
        </p:grpSpPr>
        <p:cxnSp>
          <p:nvCxnSpPr>
            <p:cNvPr id="26" name="直接连接符 25"/>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27" name="直接连接符 26"/>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28" name="组合 27"/>
          <p:cNvGrpSpPr/>
          <p:nvPr/>
        </p:nvGrpSpPr>
        <p:grpSpPr>
          <a:xfrm flipH="1" flipV="1">
            <a:off x="1707083" y="4546456"/>
            <a:ext cx="1105803" cy="815646"/>
            <a:chOff x="-1604504" y="2147667"/>
            <a:chExt cx="3687215" cy="2719712"/>
          </a:xfrm>
        </p:grpSpPr>
        <p:cxnSp>
          <p:nvCxnSpPr>
            <p:cNvPr id="38" name="直接连接符 37"/>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39" name="直接连接符 38"/>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grpSp>
        <p:nvGrpSpPr>
          <p:cNvPr id="40" name="组合 39"/>
          <p:cNvGrpSpPr/>
          <p:nvPr/>
        </p:nvGrpSpPr>
        <p:grpSpPr>
          <a:xfrm>
            <a:off x="4764013" y="1194282"/>
            <a:ext cx="804581" cy="804581"/>
            <a:chOff x="3685832" y="623962"/>
            <a:chExt cx="739840" cy="739840"/>
          </a:xfrm>
        </p:grpSpPr>
        <p:sp>
          <p:nvSpPr>
            <p:cNvPr id="44" name="椭圆 43"/>
            <p:cNvSpPr/>
            <p:nvPr/>
          </p:nvSpPr>
          <p:spPr>
            <a:xfrm>
              <a:off x="3685832" y="623962"/>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E93F30"/>
                </a:solidFill>
                <a:effectLst/>
                <a:uLnTx/>
                <a:uFillTx/>
                <a:latin typeface="Arial" panose="020B0604020202020204" pitchFamily="34" charset="0"/>
              </a:endParaRPr>
            </a:p>
          </p:txBody>
        </p:sp>
        <p:sp>
          <p:nvSpPr>
            <p:cNvPr id="45" name="TextBox 7"/>
            <p:cNvSpPr txBox="1"/>
            <p:nvPr/>
          </p:nvSpPr>
          <p:spPr>
            <a:xfrm>
              <a:off x="3786929" y="743838"/>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01</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6" name="组合 45"/>
          <p:cNvGrpSpPr/>
          <p:nvPr/>
        </p:nvGrpSpPr>
        <p:grpSpPr>
          <a:xfrm>
            <a:off x="4764013" y="2760859"/>
            <a:ext cx="804581" cy="804581"/>
            <a:chOff x="3685832" y="1673493"/>
            <a:chExt cx="739840" cy="739840"/>
          </a:xfrm>
        </p:grpSpPr>
        <p:sp>
          <p:nvSpPr>
            <p:cNvPr id="47" name="椭圆 46"/>
            <p:cNvSpPr/>
            <p:nvPr/>
          </p:nvSpPr>
          <p:spPr>
            <a:xfrm>
              <a:off x="3685832" y="1673493"/>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2540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48" name="TextBox 10"/>
            <p:cNvSpPr txBox="1"/>
            <p:nvPr/>
          </p:nvSpPr>
          <p:spPr>
            <a:xfrm>
              <a:off x="3786931" y="1793369"/>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02</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grpSp>
        <p:nvGrpSpPr>
          <p:cNvPr id="49" name="组合 48"/>
          <p:cNvGrpSpPr/>
          <p:nvPr/>
        </p:nvGrpSpPr>
        <p:grpSpPr>
          <a:xfrm>
            <a:off x="4764013" y="4327435"/>
            <a:ext cx="804581" cy="804581"/>
            <a:chOff x="3685832" y="2723024"/>
            <a:chExt cx="739840" cy="739840"/>
          </a:xfrm>
        </p:grpSpPr>
        <p:sp>
          <p:nvSpPr>
            <p:cNvPr id="50" name="椭圆 49"/>
            <p:cNvSpPr/>
            <p:nvPr/>
          </p:nvSpPr>
          <p:spPr>
            <a:xfrm>
              <a:off x="3685832" y="2723024"/>
              <a:ext cx="739840" cy="739840"/>
            </a:xfrm>
            <a:prstGeom prst="ellipse">
              <a:avLst/>
            </a:prstGeom>
            <a:gradFill flip="none" rotWithShape="1">
              <a:gsLst>
                <a:gs pos="0">
                  <a:srgbClr val="FFFFFF">
                    <a:lumMod val="95000"/>
                    <a:lumOff val="5000"/>
                  </a:srgbClr>
                </a:gs>
                <a:gs pos="0">
                  <a:srgbClr val="FFFFFF">
                    <a:lumMod val="75000"/>
                  </a:srgbClr>
                </a:gs>
                <a:gs pos="70000">
                  <a:srgbClr val="FAFAFA"/>
                </a:gs>
              </a:gsLst>
              <a:lin ang="8100000" scaled="1"/>
              <a:tileRect/>
            </a:gradFill>
            <a:ln w="19050" cap="flat" cmpd="sng" algn="ctr">
              <a:solidFill>
                <a:srgbClr val="FFFFFF"/>
              </a:solidFill>
              <a:prstDash val="solid"/>
            </a:ln>
            <a:effectLst>
              <a:outerShdw blurRad="254000" dist="190500" dir="8100000" algn="tr" rotWithShape="0">
                <a:prstClr val="black">
                  <a:alpha val="15000"/>
                </a:prstClr>
              </a:outerShdw>
            </a:effectLst>
          </p:spPr>
          <p:txBody>
            <a:bodyPr rtlCol="0" anchor="ctr"/>
            <a:lstStyle/>
            <a:p>
              <a:pPr marL="0" marR="0" lvl="0" indent="0" algn="ctr" defTabSz="1219200" eaLnBrk="1" fontAlgn="auto" latinLnBrk="0" hangingPunct="1">
                <a:lnSpc>
                  <a:spcPct val="100000"/>
                </a:lnSpc>
                <a:spcBef>
                  <a:spcPts val="0"/>
                </a:spcBef>
                <a:spcAft>
                  <a:spcPts val="0"/>
                </a:spcAft>
                <a:buClrTx/>
                <a:buSzTx/>
                <a:buFontTx/>
                <a:buNone/>
                <a:defRPr/>
              </a:pPr>
              <a:endParaRPr kumimoji="0" lang="zh-CN" altLang="en-US" sz="2135" b="0" i="0" u="none" strike="noStrike" kern="0" cap="none" spc="0" normalizeH="0" baseline="0" noProof="0" dirty="0" smtClean="0">
                <a:ln>
                  <a:noFill/>
                </a:ln>
                <a:solidFill>
                  <a:srgbClr val="3574A0"/>
                </a:solidFill>
                <a:effectLst/>
                <a:uLnTx/>
                <a:uFillTx/>
                <a:latin typeface="Arial" panose="020B0604020202020204" pitchFamily="34" charset="0"/>
              </a:endParaRPr>
            </a:p>
          </p:txBody>
        </p:sp>
        <p:sp>
          <p:nvSpPr>
            <p:cNvPr id="51" name="TextBox 13"/>
            <p:cNvSpPr txBox="1"/>
            <p:nvPr/>
          </p:nvSpPr>
          <p:spPr>
            <a:xfrm>
              <a:off x="3786929" y="2842900"/>
              <a:ext cx="537648" cy="500090"/>
            </a:xfrm>
            <a:prstGeom prst="rect">
              <a:avLst/>
            </a:prstGeom>
            <a:noFill/>
          </p:spPr>
          <p:txBody>
            <a:bodyPr wrap="none" rtlCol="0" anchor="ctr">
              <a:spAutoFit/>
            </a:bodyPr>
            <a:lstStyle/>
            <a:p>
              <a:pPr marL="0" marR="0" lvl="0" indent="0" algn="ctr" defTabSz="1219200" eaLnBrk="1" fontAlgn="auto" latinLnBrk="0" hangingPunct="1">
                <a:lnSpc>
                  <a:spcPct val="100000"/>
                </a:lnSpc>
                <a:spcBef>
                  <a:spcPts val="0"/>
                </a:spcBef>
                <a:spcAft>
                  <a:spcPts val="0"/>
                </a:spcAft>
                <a:buClrTx/>
                <a:buSzTx/>
                <a:buFontTx/>
                <a:buNone/>
                <a:defRPr/>
              </a:pPr>
              <a:r>
                <a:rPr kumimoji="0" lang="en-US" altLang="zh-CN"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rPr>
                <a:t>03</a:t>
              </a:r>
              <a:endParaRPr kumimoji="0" lang="zh-CN" altLang="en-US" sz="3735" b="0" i="0" u="none" strike="noStrike" kern="0" cap="none" spc="0" normalizeH="0" baseline="0" noProof="0" dirty="0" smtClean="0">
                <a:ln>
                  <a:noFill/>
                </a:ln>
                <a:solidFill>
                  <a:srgbClr val="000000">
                    <a:lumMod val="65000"/>
                    <a:lumOff val="35000"/>
                  </a:srgbClr>
                </a:solidFill>
                <a:effectLst>
                  <a:innerShdw blurRad="63500" dist="50800" dir="18900000">
                    <a:prstClr val="black">
                      <a:alpha val="30000"/>
                    </a:prstClr>
                  </a:innerShdw>
                </a:effectLst>
                <a:uLnTx/>
                <a:uFillTx/>
                <a:latin typeface="Arial" panose="020B0604020202020204" pitchFamily="34" charset="0"/>
              </a:endParaRPr>
            </a:p>
          </p:txBody>
        </p:sp>
      </p:grpSp>
      <p:sp>
        <p:nvSpPr>
          <p:cNvPr id="52" name="矩形 51">
            <a:hlinkClick r:id="rId2" action="ppaction://hlinksldjump"/>
          </p:cNvPr>
          <p:cNvSpPr/>
          <p:nvPr/>
        </p:nvSpPr>
        <p:spPr>
          <a:xfrm>
            <a:off x="5678538" y="1286748"/>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自主预习 新知导学</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3" name="矩形 52">
            <a:hlinkClick r:id="rId3" action="ppaction://hlinksldjump"/>
          </p:cNvPr>
          <p:cNvSpPr/>
          <p:nvPr/>
        </p:nvSpPr>
        <p:spPr>
          <a:xfrm>
            <a:off x="5678538" y="2871606"/>
            <a:ext cx="2997835" cy="501650"/>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合作探究 释疑解惑</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
        <p:nvSpPr>
          <p:cNvPr id="54" name="矩形 53">
            <a:hlinkClick r:id="rId4" action="ppaction://hlinksldjump"/>
          </p:cNvPr>
          <p:cNvSpPr/>
          <p:nvPr/>
        </p:nvSpPr>
        <p:spPr>
          <a:xfrm>
            <a:off x="5678538" y="4456463"/>
            <a:ext cx="1556836" cy="502445"/>
          </a:xfrm>
          <a:prstGeom prst="rect">
            <a:avLst/>
          </a:prstGeom>
        </p:spPr>
        <p:txBody>
          <a:bodyPr wrap="none">
            <a:spAutoFit/>
          </a:bodyPr>
          <a:lstStyle/>
          <a:p>
            <a:pPr defTabSz="1219200"/>
            <a:r>
              <a:rPr lang="zh-CN" altLang="en-US" sz="2665" b="1" dirty="0" smtClean="0">
                <a:solidFill>
                  <a:srgbClr val="4D4D4D"/>
                </a:solidFill>
                <a:latin typeface="方正姚体" panose="02010601030101010101" charset="-122"/>
                <a:ea typeface="方正姚体" panose="02010601030101010101" charset="-122"/>
                <a:cs typeface="方正姚体" panose="02010601030101010101" charset="-122"/>
              </a:rPr>
              <a:t>随堂练习</a:t>
            </a:r>
            <a:endParaRPr lang="zh-CN" altLang="en-US" sz="2665" b="1" dirty="0">
              <a:solidFill>
                <a:srgbClr val="4D4D4D"/>
              </a:solidFill>
              <a:latin typeface="方正姚体" panose="02010601030101010101" charset="-122"/>
              <a:ea typeface="方正姚体" panose="02010601030101010101" charset="-122"/>
              <a:cs typeface="方正姚体" panose="02010601030101010101"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17500" y="701716"/>
            <a:ext cx="11557000" cy="5689151"/>
          </a:xfrm>
          <a:prstGeom prst="rect">
            <a:avLst/>
          </a:prstGeom>
          <a:noFill/>
          <a:ln w="19050">
            <a:gradFill>
              <a:gsLst>
                <a:gs pos="100000">
                  <a:schemeClr val="accent1">
                    <a:lumMod val="5000"/>
                    <a:lumOff val="95000"/>
                  </a:schemeClr>
                </a:gs>
                <a:gs pos="57000">
                  <a:schemeClr val="tx1">
                    <a:lumMod val="50000"/>
                    <a:lumOff val="50000"/>
                  </a:schemeClr>
                </a:gs>
                <a:gs pos="29000">
                  <a:schemeClr val="tx1"/>
                </a:gs>
                <a:gs pos="100000">
                  <a:schemeClr val="bg1"/>
                </a:gs>
              </a:gsLst>
              <a:lin ang="5400000" scaled="1"/>
            </a:gra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
        <p:nvSpPr>
          <p:cNvPr id="9" name="文本框 8"/>
          <p:cNvSpPr txBox="1"/>
          <p:nvPr>
            <p:custDataLst>
              <p:tags r:id="rId1"/>
            </p:custDataLst>
          </p:nvPr>
        </p:nvSpPr>
        <p:spPr>
          <a:xfrm>
            <a:off x="4766695" y="446122"/>
            <a:ext cx="3253105" cy="490640"/>
          </a:xfrm>
          <a:prstGeom prst="roundRect">
            <a:avLst>
              <a:gd name="adj" fmla="val 50000"/>
            </a:avLst>
          </a:prstGeom>
          <a:solidFill>
            <a:schemeClr val="bg2">
              <a:lumMod val="50000"/>
            </a:schemeClr>
          </a:solidFill>
        </p:spPr>
        <p:txBody>
          <a:bodyPr wrap="square" lIns="0" tIns="0" rIns="0" bIns="0" rtlCol="0" anchor="ctr" anchorCtr="0">
            <a:noAutofit/>
          </a:bodyPr>
          <a:lstStyle/>
          <a:p>
            <a:pPr lvl="0" algn="ctr" fontAlgn="base">
              <a:spcBef>
                <a:spcPct val="0"/>
              </a:spcBef>
              <a:spcAft>
                <a:spcPct val="0"/>
              </a:spcAft>
              <a:defRPr/>
            </a:pP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课标定</a:t>
            </a:r>
            <a:r>
              <a:rPr lang="zh-CN" altLang="en-US" sz="2800" kern="0" dirty="0" smtClean="0">
                <a:solidFill>
                  <a:srgbClr val="FFFFFF"/>
                </a:solidFill>
                <a:latin typeface="Arial" panose="020B0604020202020204" pitchFamily="34" charset="0"/>
                <a:ea typeface="微软雅黑" panose="020B0503020204020204" pitchFamily="34" charset="-122"/>
                <a:sym typeface="Arial" panose="020B0604020202020204" pitchFamily="34" charset="0"/>
              </a:rPr>
              <a:t>位素养</a:t>
            </a:r>
            <a:r>
              <a:rPr lang="zh-CN" altLang="en-US" sz="2800" kern="0" dirty="0">
                <a:solidFill>
                  <a:srgbClr val="FFFFFF"/>
                </a:solidFill>
                <a:latin typeface="Arial" panose="020B0604020202020204" pitchFamily="34" charset="0"/>
                <a:ea typeface="微软雅黑" panose="020B0503020204020204" pitchFamily="34" charset="-122"/>
                <a:sym typeface="Arial" panose="020B0604020202020204" pitchFamily="34" charset="0"/>
              </a:rPr>
              <a:t>阐释</a:t>
            </a:r>
          </a:p>
        </p:txBody>
      </p:sp>
      <p:sp>
        <p:nvSpPr>
          <p:cNvPr id="3" name="矩形 2"/>
          <p:cNvSpPr>
            <a:spLocks noChangeAspect="1"/>
          </p:cNvSpPr>
          <p:nvPr/>
        </p:nvSpPr>
        <p:spPr>
          <a:xfrm>
            <a:off x="381000" y="1242460"/>
            <a:ext cx="11430000" cy="2332946"/>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掌握圆与圆的位置关系及判定方法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能根据给定圆的方程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判断圆与圆的位置关系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能应用圆与圆的位置关系解决相关问题</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pPr>
            <a:r>
              <a:rPr lang="en-US" altLang="zh-CN" sz="2800" dirty="0">
                <a:solidFill>
                  <a:srgbClr val="000000"/>
                </a:solidFill>
                <a:latin typeface="Times New Roman" panose="02020603050405020304" pitchFamily="18" charset="0"/>
              </a:rPr>
              <a:t>4</a:t>
            </a:r>
            <a:r>
              <a:rPr lang="en-US" altLang="zh-CN" sz="2800" i="1" dirty="0" smtClean="0">
                <a:solidFill>
                  <a:srgbClr val="000000"/>
                </a:solidFill>
                <a:latin typeface="Times New Roman" panose="02020603050405020304" pitchFamily="18" charset="0"/>
              </a:rPr>
              <a:t>.</a:t>
            </a:r>
            <a:r>
              <a:rPr lang="zh-CN" altLang="en-US"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提升</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直观</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想象、逻辑推理和数学运算素养</a:t>
            </a:r>
            <a:r>
              <a:rPr lang="en-US" altLang="zh-CN" sz="2800" i="1" dirty="0">
                <a:solidFill>
                  <a:srgbClr val="000000"/>
                </a:solidFill>
                <a:latin typeface="Times New Roman" panose="02020603050405020304" pitchFamily="18" charset="0"/>
              </a:rPr>
              <a:t>.</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自主预习 新知导学</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47786"/>
            <a:ext cx="11430000" cy="177279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ea typeface="方正正中黑简体"/>
                <a:cs typeface="Times New Roman" panose="02020603050405020304" pitchFamily="18" charset="0"/>
              </a:rPr>
              <a:t>圆与圆的位置关系的判定方法</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cs typeface="Times New Roman" panose="02020603050405020304" pitchFamily="18" charset="0"/>
              </a:rPr>
              <a:t>对于</a:t>
            </a:r>
            <a:r>
              <a:rPr lang="zh-CN" altLang="zh-CN" sz="2800" dirty="0">
                <a:solidFill>
                  <a:srgbClr val="000000"/>
                </a:solidFill>
                <a:latin typeface="Times New Roman" panose="02020603050405020304" pitchFamily="18" charset="0"/>
                <a:cs typeface="Times New Roman" panose="02020603050405020304" pitchFamily="18" charset="0"/>
              </a:rPr>
              <a:t>圆与圆的位置关系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是在将两圆放在同一平面内运动状态下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通过观察、分析、比较、判断得到平面上两圆位置关系有五种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如图所示</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EMX1TRAX50.eps" descr="id:2147493342;FounderCES"/>
          <p:cNvPicPr>
            <a:picLocks noChangeAspect="1"/>
          </p:cNvPicPr>
          <p:nvPr/>
        </p:nvPicPr>
        <p:blipFill>
          <a:blip r:embed="rId2">
            <a:clrChange>
              <a:clrFrom>
                <a:srgbClr val="FFFFFF"/>
              </a:clrFrom>
              <a:clrTo>
                <a:srgbClr val="FFFFFF">
                  <a:alpha val="0"/>
                </a:srgbClr>
              </a:clrTo>
            </a:clrChange>
          </a:blip>
          <a:stretch>
            <a:fillRect/>
          </a:stretch>
        </p:blipFill>
        <p:spPr>
          <a:xfrm>
            <a:off x="2091128" y="1970468"/>
            <a:ext cx="8009744" cy="4251626"/>
          </a:xfrm>
          <a:prstGeom prst="rect">
            <a:avLst/>
          </a:prstGeom>
        </p:spPr>
      </p:pic>
    </p:spTree>
    <p:extLst>
      <p:ext uri="{BB962C8B-B14F-4D97-AF65-F5344CB8AC3E}">
        <p14:creationId xmlns:p14="http://schemas.microsoft.com/office/powerpoint/2010/main" val="3093502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386771"/>
            <a:ext cx="11430000" cy="5133713"/>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两圆的半径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分别为多少</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两圆的圆心距为多少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与两半径有何关系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两圆有何位置关系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(4,0),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外离</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两圆的圆心距为多少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与半径有何关系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两圆有何位置关系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(3,0),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外切</a:t>
            </a:r>
            <a:r>
              <a:rPr lang="en-US" altLang="zh-CN" sz="2800" i="1"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两圆的圆心距为多少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与半径有何关系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两圆有何位置关系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(2,0),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8061762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wipe(dow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arn(inVertical)">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barn(inVertical)">
                                      <p:cBhvr>
                                        <p:cTn id="17" dur="500"/>
                                        <p:tgtEl>
                                          <p:spTgt spid="3">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barn(inVertical)">
                                      <p:cBhvr>
                                        <p:cTn id="2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3" name="矩形 2"/>
          <p:cNvSpPr>
            <a:spLocks noChangeAspect="1"/>
          </p:cNvSpPr>
          <p:nvPr/>
        </p:nvSpPr>
        <p:spPr>
          <a:xfrm>
            <a:off x="381000" y="1693455"/>
            <a:ext cx="11430000" cy="2272673"/>
          </a:xfrm>
          <a:prstGeom prst="rect">
            <a:avLst/>
          </a:prstGeom>
        </p:spPr>
        <p:txBody>
          <a:bodyPr>
            <a:spAutoFit/>
          </a:bodyPr>
          <a:lstStyle/>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两圆的圆心距为多少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与半径有何关系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两圆有何位置关系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cs typeface="Times New Roman" panose="02020603050405020304" pitchFamily="18" charset="0"/>
              </a:rPr>
              <a:t>若</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两圆的圆心距为多少</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与半径有何关系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两圆有何位置关系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029335" algn="l"/>
                <a:tab pos="1850390" algn="l"/>
                <a:tab pos="2538095" algn="l"/>
                <a:tab pos="3221990"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(0,0),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内含</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1549333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barn(inVertical)">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54588"/>
            <a:ext cx="11430000" cy="339298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如何利用两圆的半径和圆心距的大小关系即</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几何法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来判定圆与圆的位置关系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设圆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的圆心距为</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两圆的半径分别为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d&gt;r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外离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 &lt;</a:t>
            </a:r>
            <a:r>
              <a:rPr lang="en-US" altLang="zh-CN" sz="2800" i="1" dirty="0">
                <a:solidFill>
                  <a:srgbClr val="000000"/>
                </a:solidFill>
                <a:latin typeface="Times New Roman" panose="02020603050405020304" pitchFamily="18" charset="0"/>
                <a:cs typeface="Times New Roman" panose="02020603050405020304" pitchFamily="18" charset="0"/>
              </a:rPr>
              <a:t>d&lt;r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内切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内含</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601279301"/>
              </p:ext>
            </p:extLst>
          </p:nvPr>
        </p:nvGraphicFramePr>
        <p:xfrm>
          <a:off x="381000" y="3495537"/>
          <a:ext cx="11430000" cy="1805204"/>
        </p:xfrm>
        <a:graphic>
          <a:graphicData uri="http://schemas.openxmlformats.org/presentationml/2006/ole">
            <mc:AlternateContent xmlns:mc="http://schemas.openxmlformats.org/markup-compatibility/2006">
              <mc:Choice xmlns:v="urn:schemas-microsoft-com:vml" Requires="v">
                <p:oleObj spid="_x0000_s1044" name="文档" r:id="rId3" imgW="4520786" imgH="713993" progId="Word.Document.12">
                  <p:embed/>
                </p:oleObj>
              </mc:Choice>
              <mc:Fallback>
                <p:oleObj name="文档" r:id="rId3" imgW="4520786" imgH="713993" progId="Word.Document.12">
                  <p:embed/>
                  <p:pic>
                    <p:nvPicPr>
                      <p:cNvPr id="0" name=""/>
                      <p:cNvPicPr/>
                      <p:nvPr/>
                    </p:nvPicPr>
                    <p:blipFill>
                      <a:blip r:embed="rId4"/>
                      <a:stretch>
                        <a:fillRect/>
                      </a:stretch>
                    </p:blipFill>
                    <p:spPr>
                      <a:xfrm>
                        <a:off x="381000" y="3495537"/>
                        <a:ext cx="11430000" cy="1805204"/>
                      </a:xfrm>
                      <a:prstGeom prst="rect">
                        <a:avLst/>
                      </a:prstGeom>
                    </p:spPr>
                  </p:pic>
                </p:oleObj>
              </mc:Fallback>
            </mc:AlternateContent>
          </a:graphicData>
        </a:graphic>
      </p:graphicFrame>
      <p:sp>
        <p:nvSpPr>
          <p:cNvPr id="4" name="矩形 3"/>
          <p:cNvSpPr>
            <a:spLocks noChangeAspect="1"/>
          </p:cNvSpPr>
          <p:nvPr/>
        </p:nvSpPr>
        <p:spPr>
          <a:xfrm>
            <a:off x="381000" y="5263163"/>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联立两圆的方程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消去</a:t>
            </a:r>
            <a:r>
              <a:rPr lang="en-US" altLang="zh-CN" sz="2800" i="1" dirty="0">
                <a:solidFill>
                  <a:srgbClr val="000000"/>
                </a:solidFill>
                <a:latin typeface="Times New Roman" panose="02020603050405020304" pitchFamily="18" charset="0"/>
                <a:cs typeface="Times New Roman" panose="02020603050405020304" pitchFamily="18" charset="0"/>
              </a:rPr>
              <a:t>y</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后得到一个关于</a:t>
            </a:r>
            <a:r>
              <a:rPr lang="en-US" altLang="zh-CN" sz="2800" i="1" dirty="0">
                <a:solidFill>
                  <a:srgbClr val="000000"/>
                </a:solidFill>
                <a:latin typeface="Times New Roman" panose="02020603050405020304" pitchFamily="18" charset="0"/>
                <a:cs typeface="Times New Roman" panose="02020603050405020304" pitchFamily="18" charset="0"/>
              </a:rPr>
              <a:t>x</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的一元二次方程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当判别式</a:t>
            </a:r>
            <a:r>
              <a:rPr lang="en-US" altLang="zh-CN" sz="2800" i="1" dirty="0">
                <a:solidFill>
                  <a:srgbClr val="000000"/>
                </a:solidFill>
                <a:latin typeface="Times New Roman" panose="02020603050405020304" pitchFamily="18" charset="0"/>
                <a:cs typeface="Times New Roman" panose="02020603050405020304" pitchFamily="18" charset="0"/>
              </a:rPr>
              <a:t>Δ&gt;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Δ=</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圆外切</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或内切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Δ&lt;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两圆外离或内含</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281031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Effect transition="in" filter="wipe(down)">
                                      <p:cBhvr>
                                        <p:cTn id="15"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312643"/>
            <a:ext cx="11430000" cy="1212640"/>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zh-CN" altLang="zh-CN" sz="2800" dirty="0" smtClean="0">
                <a:solidFill>
                  <a:srgbClr val="000000"/>
                </a:solidFill>
                <a:latin typeface="Times New Roman" panose="02020603050405020304" pitchFamily="18" charset="0"/>
                <a:cs typeface="Times New Roman" panose="02020603050405020304" pitchFamily="18" charset="0"/>
              </a:rPr>
              <a:t>圆</a:t>
            </a:r>
            <a:r>
              <a:rPr lang="zh-CN" altLang="zh-CN" sz="2800" dirty="0">
                <a:solidFill>
                  <a:srgbClr val="000000"/>
                </a:solidFill>
                <a:latin typeface="Times New Roman" panose="02020603050405020304" pitchFamily="18" charset="0"/>
                <a:cs typeface="Times New Roman" panose="02020603050405020304" pitchFamily="18" charset="0"/>
              </a:rPr>
              <a:t>与圆的位置关系的判定</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几何法</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90544372"/>
              </p:ext>
            </p:extLst>
          </p:nvPr>
        </p:nvGraphicFramePr>
        <p:xfrm>
          <a:off x="381000" y="1551153"/>
          <a:ext cx="11430000" cy="1504488"/>
        </p:xfrm>
        <a:graphic>
          <a:graphicData uri="http://schemas.openxmlformats.org/presentationml/2006/ole">
            <mc:AlternateContent xmlns:mc="http://schemas.openxmlformats.org/markup-compatibility/2006">
              <mc:Choice xmlns:v="urn:schemas-microsoft-com:vml" Requires="v">
                <p:oleObj spid="_x0000_s2084"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381000" y="1551153"/>
                        <a:ext cx="11430000" cy="150448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900744465"/>
              </p:ext>
            </p:extLst>
          </p:nvPr>
        </p:nvGraphicFramePr>
        <p:xfrm>
          <a:off x="381000" y="3125717"/>
          <a:ext cx="11430000" cy="3719757"/>
        </p:xfrm>
        <a:graphic>
          <a:graphicData uri="http://schemas.openxmlformats.org/presentationml/2006/ole">
            <mc:AlternateContent xmlns:mc="http://schemas.openxmlformats.org/markup-compatibility/2006">
              <mc:Choice xmlns:v="urn:schemas-microsoft-com:vml" Requires="v">
                <p:oleObj spid="_x0000_s2085" name="文档" r:id="rId5" imgW="4520786" imgH="1471236" progId="Word.Document.12">
                  <p:embed/>
                </p:oleObj>
              </mc:Choice>
              <mc:Fallback>
                <p:oleObj name="文档" r:id="rId5" imgW="4520786" imgH="1471236" progId="Word.Document.12">
                  <p:embed/>
                  <p:pic>
                    <p:nvPicPr>
                      <p:cNvPr id="0" name=""/>
                      <p:cNvPicPr/>
                      <p:nvPr/>
                    </p:nvPicPr>
                    <p:blipFill>
                      <a:blip r:embed="rId6"/>
                      <a:stretch>
                        <a:fillRect/>
                      </a:stretch>
                    </p:blipFill>
                    <p:spPr>
                      <a:xfrm>
                        <a:off x="381000" y="3125717"/>
                        <a:ext cx="11430000" cy="3719757"/>
                      </a:xfrm>
                      <a:prstGeom prst="rect">
                        <a:avLst/>
                      </a:prstGeom>
                    </p:spPr>
                  </p:pic>
                </p:oleObj>
              </mc:Fallback>
            </mc:AlternateContent>
          </a:graphicData>
        </a:graphic>
      </p:graphicFrame>
      <p:sp>
        <p:nvSpPr>
          <p:cNvPr id="5" name="矩形 4"/>
          <p:cNvSpPr/>
          <p:nvPr/>
        </p:nvSpPr>
        <p:spPr>
          <a:xfrm>
            <a:off x="2220601" y="4975204"/>
            <a:ext cx="1239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779237" y="4975204"/>
            <a:ext cx="1239571"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092972" y="4975204"/>
            <a:ext cx="84664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132063" y="4975204"/>
            <a:ext cx="133405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721871" y="4975204"/>
            <a:ext cx="133405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0587197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701529113"/>
              </p:ext>
            </p:extLst>
          </p:nvPr>
        </p:nvGraphicFramePr>
        <p:xfrm>
          <a:off x="381000" y="1019691"/>
          <a:ext cx="11430000" cy="1203772"/>
        </p:xfrm>
        <a:graphic>
          <a:graphicData uri="http://schemas.openxmlformats.org/presentationml/2006/ole">
            <mc:AlternateContent xmlns:mc="http://schemas.openxmlformats.org/markup-compatibility/2006">
              <mc:Choice xmlns:v="urn:schemas-microsoft-com:vml" Requires="v">
                <p:oleObj spid="_x0000_s3108" name="文档" r:id="rId3" imgW="4520786" imgH="476115" progId="Word.Document.12">
                  <p:embed/>
                </p:oleObj>
              </mc:Choice>
              <mc:Fallback>
                <p:oleObj name="文档" r:id="rId3" imgW="4520786" imgH="476115" progId="Word.Document.12">
                  <p:embed/>
                  <p:pic>
                    <p:nvPicPr>
                      <p:cNvPr id="0" name=""/>
                      <p:cNvPicPr/>
                      <p:nvPr/>
                    </p:nvPicPr>
                    <p:blipFill>
                      <a:blip r:embed="rId4"/>
                      <a:stretch>
                        <a:fillRect/>
                      </a:stretch>
                    </p:blipFill>
                    <p:spPr>
                      <a:xfrm>
                        <a:off x="381000" y="1019691"/>
                        <a:ext cx="11430000" cy="1203772"/>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87689930"/>
              </p:ext>
            </p:extLst>
          </p:nvPr>
        </p:nvGraphicFramePr>
        <p:xfrm>
          <a:off x="381000" y="2342665"/>
          <a:ext cx="11430000" cy="2716462"/>
        </p:xfrm>
        <a:graphic>
          <a:graphicData uri="http://schemas.openxmlformats.org/presentationml/2006/ole">
            <mc:AlternateContent xmlns:mc="http://schemas.openxmlformats.org/markup-compatibility/2006">
              <mc:Choice xmlns:v="urn:schemas-microsoft-com:vml" Requires="v">
                <p:oleObj spid="_x0000_s3109" name="文档" r:id="rId5" imgW="4520786" imgH="1074413" progId="Word.Document.12">
                  <p:embed/>
                </p:oleObj>
              </mc:Choice>
              <mc:Fallback>
                <p:oleObj name="文档" r:id="rId5" imgW="4520786" imgH="1074413" progId="Word.Document.12">
                  <p:embed/>
                  <p:pic>
                    <p:nvPicPr>
                      <p:cNvPr id="0" name=""/>
                      <p:cNvPicPr/>
                      <p:nvPr/>
                    </p:nvPicPr>
                    <p:blipFill>
                      <a:blip r:embed="rId6"/>
                      <a:stretch>
                        <a:fillRect/>
                      </a:stretch>
                    </p:blipFill>
                    <p:spPr>
                      <a:xfrm>
                        <a:off x="381000" y="2342665"/>
                        <a:ext cx="11430000" cy="2716462"/>
                      </a:xfrm>
                      <a:prstGeom prst="rect">
                        <a:avLst/>
                      </a:prstGeom>
                    </p:spPr>
                  </p:pic>
                </p:oleObj>
              </mc:Fallback>
            </mc:AlternateContent>
          </a:graphicData>
        </a:graphic>
      </p:graphicFrame>
      <p:sp>
        <p:nvSpPr>
          <p:cNvPr id="5" name="矩形 4"/>
          <p:cNvSpPr/>
          <p:nvPr/>
        </p:nvSpPr>
        <p:spPr>
          <a:xfrm>
            <a:off x="4329955" y="3489852"/>
            <a:ext cx="844717"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5898982" y="3489852"/>
            <a:ext cx="668073"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6967719" y="3489852"/>
            <a:ext cx="668073"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p:cNvSpPr/>
          <p:nvPr/>
        </p:nvSpPr>
        <p:spPr>
          <a:xfrm>
            <a:off x="8815427" y="3489852"/>
            <a:ext cx="681502"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9889334" y="3489852"/>
            <a:ext cx="681502" cy="40130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9336486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7"/>
                                        </p:tgtEl>
                                      </p:cBhvr>
                                    </p:animEffect>
                                    <p:set>
                                      <p:cBhvr>
                                        <p:cTn id="12" dur="1" fill="hold">
                                          <p:stCondLst>
                                            <p:cond delay="499"/>
                                          </p:stCondLst>
                                        </p:cTn>
                                        <p:tgtEl>
                                          <p:spTgt spid="7"/>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8"/>
                                        </p:tgtEl>
                                      </p:cBhvr>
                                    </p:animEffect>
                                    <p:set>
                                      <p:cBhvr>
                                        <p:cTn id="17" dur="1" fill="hold">
                                          <p:stCondLst>
                                            <p:cond delay="499"/>
                                          </p:stCondLst>
                                        </p:cTn>
                                        <p:tgtEl>
                                          <p:spTgt spid="8"/>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9"/>
                                        </p:tgtEl>
                                      </p:cBhvr>
                                    </p:animEffect>
                                    <p:set>
                                      <p:cBhvr>
                                        <p:cTn id="22" dur="1" fill="hold">
                                          <p:stCondLst>
                                            <p:cond delay="499"/>
                                          </p:stCondLst>
                                        </p:cTn>
                                        <p:tgtEl>
                                          <p:spTgt spid="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2" presetClass="exit" presetSubtype="4" fill="hold" grpId="0" nodeType="clickEffect">
                                  <p:stCondLst>
                                    <p:cond delay="0"/>
                                  </p:stCondLst>
                                  <p:childTnLst>
                                    <p:animEffect transition="out" filter="wipe(down)">
                                      <p:cBhvr>
                                        <p:cTn id="26" dur="500"/>
                                        <p:tgtEl>
                                          <p:spTgt spid="10"/>
                                        </p:tgtEl>
                                      </p:cBhvr>
                                    </p:animEffect>
                                    <p:set>
                                      <p:cBhvr>
                                        <p:cTn id="27"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703547"/>
            <a:ext cx="11430000" cy="2332946"/>
          </a:xfrm>
          <a:prstGeom prst="rect">
            <a:avLst/>
          </a:prstGeom>
        </p:spPr>
        <p:txBody>
          <a:bodyPr>
            <a:spAutoFit/>
          </a:bodyPr>
          <a:lstStyle/>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内切</a:t>
            </a:r>
            <a:r>
              <a:rPr lang="en-US" altLang="zh-CN" sz="2800" dirty="0">
                <a:solidFill>
                  <a:srgbClr val="000000"/>
                </a:solidFill>
                <a:latin typeface="Times New Roman" panose="02020603050405020304" pitchFamily="18" charset="0"/>
                <a:cs typeface="Times New Roman" panose="02020603050405020304" pitchFamily="18" charset="0"/>
              </a:rPr>
              <a:t>	B.</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	D.</a:t>
            </a:r>
            <a:r>
              <a:rPr lang="zh-CN" altLang="zh-CN" sz="2800" dirty="0">
                <a:solidFill>
                  <a:srgbClr val="000000"/>
                </a:solidFill>
                <a:latin typeface="Times New Roman" panose="02020603050405020304" pitchFamily="18" charset="0"/>
                <a:cs typeface="Times New Roman" panose="02020603050405020304" pitchFamily="18" charset="0"/>
              </a:rPr>
              <a:t>外离</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和圆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则实数</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001766789"/>
              </p:ext>
            </p:extLst>
          </p:nvPr>
        </p:nvGraphicFramePr>
        <p:xfrm>
          <a:off x="75156" y="3026106"/>
          <a:ext cx="11430000" cy="1003297"/>
        </p:xfrm>
        <a:graphic>
          <a:graphicData uri="http://schemas.openxmlformats.org/presentationml/2006/ole">
            <mc:AlternateContent xmlns:mc="http://schemas.openxmlformats.org/markup-compatibility/2006">
              <mc:Choice xmlns:v="urn:schemas-microsoft-com:vml" Requires="v">
                <p:oleObj spid="_x0000_s4132"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75156" y="3026106"/>
                        <a:ext cx="11430000" cy="100329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89067736"/>
              </p:ext>
            </p:extLst>
          </p:nvPr>
        </p:nvGraphicFramePr>
        <p:xfrm>
          <a:off x="75156" y="4112815"/>
          <a:ext cx="11430000" cy="501192"/>
        </p:xfrm>
        <a:graphic>
          <a:graphicData uri="http://schemas.openxmlformats.org/presentationml/2006/ole">
            <mc:AlternateContent xmlns:mc="http://schemas.openxmlformats.org/markup-compatibility/2006">
              <mc:Choice xmlns:v="urn:schemas-microsoft-com:vml" Requires="v">
                <p:oleObj spid="_x0000_s4133" name="文档" r:id="rId5" imgW="4520786" imgH="198231" progId="Word.Document.12">
                  <p:embed/>
                </p:oleObj>
              </mc:Choice>
              <mc:Fallback>
                <p:oleObj name="文档" r:id="rId5" imgW="4520786" imgH="198231" progId="Word.Document.12">
                  <p:embed/>
                  <p:pic>
                    <p:nvPicPr>
                      <p:cNvPr id="0" name=""/>
                      <p:cNvPicPr/>
                      <p:nvPr/>
                    </p:nvPicPr>
                    <p:blipFill>
                      <a:blip r:embed="rId6"/>
                      <a:stretch>
                        <a:fillRect/>
                      </a:stretch>
                    </p:blipFill>
                    <p:spPr>
                      <a:xfrm>
                        <a:off x="75156" y="4112815"/>
                        <a:ext cx="11430000" cy="501192"/>
                      </a:xfrm>
                      <a:prstGeom prst="rect">
                        <a:avLst/>
                      </a:prstGeom>
                    </p:spPr>
                  </p:pic>
                </p:oleObj>
              </mc:Fallback>
            </mc:AlternateContent>
          </a:graphicData>
        </a:graphic>
      </p:graphicFrame>
    </p:spTree>
    <p:extLst>
      <p:ext uri="{BB962C8B-B14F-4D97-AF65-F5344CB8AC3E}">
        <p14:creationId xmlns:p14="http://schemas.microsoft.com/office/powerpoint/2010/main" val="189150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pattFill prst="smCheck">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5890"/>
            <a:ext cx="11430000" cy="339298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【思考辨析】</a:t>
            </a:r>
            <a:r>
              <a:rPr lang="zh-CN" altLang="zh-CN" sz="2800" dirty="0">
                <a:solidFill>
                  <a:srgbClr val="000000"/>
                </a:solidFill>
                <a:latin typeface="NEU-BZ-S92"/>
                <a:ea typeface="Arial" panose="020B0604020202020204" pitchFamily="34" charset="0"/>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判断下列说法是否正确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正确的在后面的括号内画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Cambria Math" panose="02040503050406030204" pitchFamily="18" charset="0"/>
                <a:ea typeface="NEU-BZ-S9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错误的画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若两圆有公共点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则两圆相交</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若两圆没有公共点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则两圆相离</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若两圆外切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则两圆有且只有一个公共点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反之也成立</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Times New Roman" panose="020206030504050203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若两圆有公共点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宋体" panose="02010600030101010101" pitchFamily="2" charset="-122"/>
                <a:ea typeface="方正书宋_GBK"/>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FF0000"/>
                </a:solidFill>
                <a:latin typeface="Cambria Math" panose="02040503050406030204" pitchFamily="18" charset="0"/>
                <a:cs typeface="Times New Roman" panose="02020603050405020304" pitchFamily="18" charset="0"/>
              </a:rPr>
              <a:t>  √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
        <p:nvSpPr>
          <p:cNvPr id="3" name="矩形 2"/>
          <p:cNvSpPr/>
          <p:nvPr/>
        </p:nvSpPr>
        <p:spPr>
          <a:xfrm>
            <a:off x="5847030" y="2480163"/>
            <a:ext cx="47064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6157623" y="3019200"/>
            <a:ext cx="388962"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a:off x="9473457" y="3591990"/>
            <a:ext cx="470644" cy="441435"/>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864205" y="4122118"/>
            <a:ext cx="388962" cy="485579"/>
          </a:xfrm>
          <a:prstGeom prst="rect">
            <a:avLst/>
          </a:prstGeom>
          <a:pattFill prst="smCheck">
            <a:fgClr>
              <a:srgbClr val="E8F4E9"/>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864845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xit" presetSubtype="4" fill="hold" grpId="0" nodeType="clickEffect">
                                  <p:stCondLst>
                                    <p:cond delay="0"/>
                                  </p:stCondLst>
                                  <p:childTnLst>
                                    <p:animEffect transition="out" filter="wipe(down)">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xit" presetSubtype="4" fill="hold" grpId="0" nodeType="clickEffect">
                                  <p:stCondLst>
                                    <p:cond delay="0"/>
                                  </p:stCondLst>
                                  <p:childTnLst>
                                    <p:animEffect transition="out" filter="wipe(down)">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22" presetClass="exit" presetSubtype="4" fill="hold" grpId="0" nodeType="clickEffect">
                                  <p:stCondLst>
                                    <p:cond delay="0"/>
                                  </p:stCondLst>
                                  <p:childTnLst>
                                    <p:animEffect transition="out" filter="wipe(down)">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22" presetClass="exit" presetSubtype="4" fill="hold" grpId="0" nodeType="clickEffect">
                                  <p:stCondLst>
                                    <p:cond delay="0"/>
                                  </p:stCondLst>
                                  <p:childTnLst>
                                    <p:animEffect transition="out" filter="wipe(down)">
                                      <p:cBhvr>
                                        <p:cTn id="21" dur="500"/>
                                        <p:tgtEl>
                                          <p:spTgt spid="7"/>
                                        </p:tgtEl>
                                      </p:cBhvr>
                                    </p:animEffect>
                                    <p:set>
                                      <p:cBhvr>
                                        <p:cTn id="22"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180083" y="2636520"/>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735898" y="2665586"/>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2969260" y="2585720"/>
            <a:ext cx="6252845" cy="922020"/>
          </a:xfrm>
          <a:prstGeom prst="rect">
            <a:avLst/>
          </a:prstGeom>
          <a:noFill/>
        </p:spPr>
        <p:txBody>
          <a:bodyPr wrap="square" rtlCol="0">
            <a:spAutoFit/>
          </a:bodyPr>
          <a:lstStyle/>
          <a:p>
            <a:r>
              <a:rPr lang="zh-CN" altLang="en-US" sz="5400" b="1" dirty="0" smtClean="0">
                <a:solidFill>
                  <a:srgbClr val="4D4D4D"/>
                </a:solidFill>
                <a:latin typeface="方正姚体" panose="02010601030101010101" charset="-122"/>
                <a:ea typeface="方正姚体" panose="02010601030101010101" charset="-122"/>
                <a:cs typeface="方正姚体" panose="02010601030101010101" charset="-122"/>
                <a:sym typeface="+mn-ea"/>
              </a:rPr>
              <a:t>合作探究 释疑解惑</a:t>
            </a:r>
            <a:endParaRPr lang="zh-CN" altLang="en-US" sz="5400" b="1" dirty="0">
              <a:solidFill>
                <a:srgbClr val="4D4D4D"/>
              </a:solidFill>
              <a:latin typeface="方正姚体" panose="02010601030101010101" charset="-122"/>
              <a:ea typeface="方正姚体" panose="02010601030101010101" charset="-122"/>
              <a:cs typeface="方正姚体" panose="02010601030101010101"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35" name="组合 34"/>
          <p:cNvGrpSpPr/>
          <p:nvPr/>
        </p:nvGrpSpPr>
        <p:grpSpPr>
          <a:xfrm>
            <a:off x="2" y="151371"/>
            <a:ext cx="11336478" cy="433754"/>
            <a:chOff x="381000" y="205656"/>
            <a:chExt cx="11336478" cy="433754"/>
          </a:xfrm>
        </p:grpSpPr>
        <p:sp>
          <p:nvSpPr>
            <p:cNvPr id="36" name="矩形 35"/>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37" name="组合 36"/>
            <p:cNvGrpSpPr/>
            <p:nvPr/>
          </p:nvGrpSpPr>
          <p:grpSpPr>
            <a:xfrm>
              <a:off x="381000" y="205656"/>
              <a:ext cx="11336478" cy="433754"/>
              <a:chOff x="3048000" y="2286000"/>
              <a:chExt cx="4813646" cy="457200"/>
            </a:xfrm>
          </p:grpSpPr>
          <p:sp>
            <p:nvSpPr>
              <p:cNvPr id="38" name="矩形 37"/>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探究一</a:t>
                </a:r>
              </a:p>
            </p:txBody>
          </p:sp>
          <p:sp>
            <p:nvSpPr>
              <p:cNvPr id="39" name="矩形 38"/>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圆与圆的位置关系的判定</a:t>
                </a:r>
              </a:p>
            </p:txBody>
          </p:sp>
        </p:grpSp>
      </p:grpSp>
      <p:sp>
        <p:nvSpPr>
          <p:cNvPr id="2" name="矩形 1"/>
          <p:cNvSpPr>
            <a:spLocks noChangeAspect="1"/>
          </p:cNvSpPr>
          <p:nvPr/>
        </p:nvSpPr>
        <p:spPr>
          <a:xfrm>
            <a:off x="381000" y="1779145"/>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求当</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为何值时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cs typeface="Times New Roman" panose="02020603050405020304" pitchFamily="18" charset="0"/>
              </a:rPr>
              <a:t>相离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先将圆的方程配方化成标准方程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再求出圆心距</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然后与两半径的和或差比较大小</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最后求出</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的值</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grpSp>
        <p:nvGrpSpPr>
          <p:cNvPr id="5" name="组合 4"/>
          <p:cNvGrpSpPr/>
          <p:nvPr/>
        </p:nvGrpSpPr>
        <p:grpSpPr>
          <a:xfrm>
            <a:off x="62630" y="351358"/>
            <a:ext cx="11748370" cy="4987955"/>
            <a:chOff x="62630" y="600742"/>
            <a:chExt cx="11748370" cy="4987955"/>
          </a:xfrm>
        </p:grpSpPr>
        <p:sp>
          <p:nvSpPr>
            <p:cNvPr id="2" name="矩形 1"/>
            <p:cNvSpPr>
              <a:spLocks noChangeAspect="1"/>
            </p:cNvSpPr>
            <p:nvPr/>
          </p:nvSpPr>
          <p:spPr>
            <a:xfrm>
              <a:off x="381000" y="600742"/>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的方程化成标准方程为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的方程化成标准方程为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798852221"/>
                </p:ext>
              </p:extLst>
            </p:nvPr>
          </p:nvGraphicFramePr>
          <p:xfrm>
            <a:off x="62630" y="1778161"/>
            <a:ext cx="11430000" cy="1003297"/>
          </p:xfrm>
          <a:graphic>
            <a:graphicData uri="http://schemas.openxmlformats.org/presentationml/2006/ole">
              <mc:AlternateContent xmlns:mc="http://schemas.openxmlformats.org/markup-compatibility/2006">
                <mc:Choice xmlns:v="urn:schemas-microsoft-com:vml" Requires="v">
                  <p:oleObj spid="_x0000_s5138"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62630" y="1778161"/>
                          <a:ext cx="11430000" cy="1003297"/>
                        </a:xfrm>
                        <a:prstGeom prst="rect">
                          <a:avLst/>
                        </a:prstGeom>
                      </p:spPr>
                    </p:pic>
                  </p:oleObj>
                </mc:Fallback>
              </mc:AlternateContent>
            </a:graphicData>
          </a:graphic>
        </p:graphicFrame>
        <p:sp>
          <p:nvSpPr>
            <p:cNvPr id="4" name="矩形 3"/>
            <p:cNvSpPr>
              <a:spLocks noChangeAspect="1"/>
            </p:cNvSpPr>
            <p:nvPr/>
          </p:nvSpPr>
          <p:spPr>
            <a:xfrm>
              <a:off x="381000" y="2755870"/>
              <a:ext cx="11430000" cy="283282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两圆外切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两圆内切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&lt;a&lt;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|&gt;r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两圆外离</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&lt;a&lt;</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两圆内含</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849963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667098"/>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内切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表示一个圆</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pic>
        <p:nvPicPr>
          <p:cNvPr id="3" name="延伸探究H.eps" descr="id:2147494559;FounderCES"/>
          <p:cNvPicPr/>
          <p:nvPr/>
        </p:nvPicPr>
        <p:blipFill>
          <a:blip r:embed="rId3">
            <a:clrChange>
              <a:clrFrom>
                <a:srgbClr val="FFFFFF"/>
              </a:clrFrom>
              <a:clrTo>
                <a:srgbClr val="FFFFFF">
                  <a:alpha val="0"/>
                </a:srgbClr>
              </a:clrTo>
            </a:clrChange>
          </a:blip>
          <a:stretch>
            <a:fillRect/>
          </a:stretch>
        </p:blipFill>
        <p:spPr>
          <a:xfrm>
            <a:off x="4757688" y="226371"/>
            <a:ext cx="2016224" cy="367706"/>
          </a:xfrm>
          <a:prstGeom prst="rect">
            <a:avLst/>
          </a:prstGeom>
        </p:spPr>
      </p:pic>
      <p:graphicFrame>
        <p:nvGraphicFramePr>
          <p:cNvPr id="4" name="对象 3"/>
          <p:cNvGraphicFramePr>
            <a:graphicFrameLocks noChangeAspect="1"/>
          </p:cNvGraphicFramePr>
          <p:nvPr>
            <p:extLst>
              <p:ext uri="{D42A27DB-BD31-4B8C-83A1-F6EECF244321}">
                <p14:modId xmlns:p14="http://schemas.microsoft.com/office/powerpoint/2010/main" val="452955987"/>
              </p:ext>
            </p:extLst>
          </p:nvPr>
        </p:nvGraphicFramePr>
        <p:xfrm>
          <a:off x="50800" y="1879960"/>
          <a:ext cx="11430000" cy="1504488"/>
        </p:xfrm>
        <a:graphic>
          <a:graphicData uri="http://schemas.openxmlformats.org/presentationml/2006/ole">
            <mc:AlternateContent xmlns:mc="http://schemas.openxmlformats.org/markup-compatibility/2006">
              <mc:Choice xmlns:v="urn:schemas-microsoft-com:vml" Requires="v">
                <p:oleObj spid="_x0000_s6161" name="文档" r:id="rId4" imgW="4520786" imgH="595054" progId="Word.Document.12">
                  <p:embed/>
                </p:oleObj>
              </mc:Choice>
              <mc:Fallback>
                <p:oleObj name="文档" r:id="rId4" imgW="4520786" imgH="595054" progId="Word.Document.12">
                  <p:embed/>
                  <p:pic>
                    <p:nvPicPr>
                      <p:cNvPr id="0" name=""/>
                      <p:cNvPicPr/>
                      <p:nvPr/>
                    </p:nvPicPr>
                    <p:blipFill>
                      <a:blip r:embed="rId5"/>
                      <a:stretch>
                        <a:fillRect/>
                      </a:stretch>
                    </p:blipFill>
                    <p:spPr>
                      <a:xfrm>
                        <a:off x="50800" y="1879960"/>
                        <a:ext cx="11430000" cy="1504488"/>
                      </a:xfrm>
                      <a:prstGeom prst="rect">
                        <a:avLst/>
                      </a:prstGeom>
                    </p:spPr>
                  </p:pic>
                </p:oleObj>
              </mc:Fallback>
            </mc:AlternateContent>
          </a:graphicData>
        </a:graphic>
      </p:graphicFrame>
      <p:sp>
        <p:nvSpPr>
          <p:cNvPr id="5" name="矩形 4"/>
          <p:cNvSpPr>
            <a:spLocks noChangeAspect="1"/>
          </p:cNvSpPr>
          <p:nvPr/>
        </p:nvSpPr>
        <p:spPr>
          <a:xfrm>
            <a:off x="381000" y="3359396"/>
            <a:ext cx="11430000" cy="289310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121</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判断</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两圆位置关系的方法有两种</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一是代数法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看方程组的解的个数</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但</a:t>
            </a:r>
            <a:r>
              <a:rPr lang="zh-CN" altLang="zh-CN"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往往</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运算</a:t>
            </a:r>
            <a:r>
              <a:rPr lang="zh-CN" altLang="en-US" sz="280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比较</a:t>
            </a:r>
            <a:r>
              <a:rPr lang="zh-CN" altLang="zh-CN" sz="280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繁琐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二是几何法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看两圆的圆心距</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两圆内切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d&gt;r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两圆外离</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d&lt;|r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两圆内含</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 &lt;</a:t>
            </a:r>
            <a:r>
              <a:rPr lang="en-US" altLang="zh-CN" sz="2800" i="1" dirty="0">
                <a:solidFill>
                  <a:srgbClr val="000000"/>
                </a:solidFill>
                <a:latin typeface="Times New Roman" panose="02020603050405020304" pitchFamily="18" charset="0"/>
                <a:cs typeface="Times New Roman" panose="02020603050405020304" pitchFamily="18" charset="0"/>
              </a:rPr>
              <a:t>d&lt;r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643540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down)">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wipe(down)">
                                      <p:cBhvr>
                                        <p:cTn id="2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pattFill prst="lgConfetti">
          <a:fgClr>
            <a:srgbClr val="E8F4E9"/>
          </a:fgClr>
          <a:bgClr>
            <a:schemeClr val="bg1"/>
          </a:bgClr>
        </a:pattFill>
        <a:effectLst/>
      </p:bgPr>
    </p:bg>
    <p:spTree>
      <p:nvGrpSpPr>
        <p:cNvPr id="1" name=""/>
        <p:cNvGrpSpPr/>
        <p:nvPr/>
      </p:nvGrpSpPr>
      <p:grpSpPr>
        <a:xfrm>
          <a:off x="0" y="0"/>
          <a:ext cx="0" cy="0"/>
          <a:chOff x="0" y="0"/>
          <a:chExt cx="0" cy="0"/>
        </a:xfrm>
      </p:grpSpPr>
      <p:sp>
        <p:nvSpPr>
          <p:cNvPr id="2" name="矩形 1"/>
          <p:cNvSpPr>
            <a:spLocks noChangeAspect="1"/>
          </p:cNvSpPr>
          <p:nvPr/>
        </p:nvSpPr>
        <p:spPr>
          <a:xfrm>
            <a:off x="381000" y="1246014"/>
            <a:ext cx="11430000" cy="40058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的公切线有</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B.2</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C.3</a:t>
            </a:r>
            <a:r>
              <a:rPr lang="zh-CN" altLang="zh-CN" sz="2800" dirty="0">
                <a:solidFill>
                  <a:srgbClr val="000000"/>
                </a:solidFill>
                <a:latin typeface="Times New Roman" panose="02020603050405020304" pitchFamily="18" charset="0"/>
                <a:cs typeface="Times New Roman" panose="02020603050405020304" pitchFamily="18" charset="0"/>
              </a:rPr>
              <a:t>条</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D.4</a:t>
            </a:r>
            <a:r>
              <a:rPr lang="zh-CN" altLang="zh-CN" sz="2800" dirty="0">
                <a:solidFill>
                  <a:srgbClr val="000000"/>
                </a:solidFill>
                <a:latin typeface="Times New Roman" panose="02020603050405020304" pitchFamily="18" charset="0"/>
                <a:cs typeface="Times New Roman" panose="02020603050405020304" pitchFamily="18" charset="0"/>
              </a:rPr>
              <a:t>条</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(2,1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圆的圆心距</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由于</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|&lt;r</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故两圆相交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因而公切线有</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条</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B</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03458839"/>
              </p:ext>
            </p:extLst>
          </p:nvPr>
        </p:nvGraphicFramePr>
        <p:xfrm>
          <a:off x="3975970" y="3539994"/>
          <a:ext cx="825500" cy="508000"/>
        </p:xfrm>
        <a:graphic>
          <a:graphicData uri="http://schemas.openxmlformats.org/presentationml/2006/ole">
            <mc:AlternateContent xmlns:mc="http://schemas.openxmlformats.org/markup-compatibility/2006">
              <mc:Choice xmlns:v="urn:schemas-microsoft-com:vml" Requires="v">
                <p:oleObj spid="_x0000_s7185" name="文档" r:id="rId3" imgW="335766" imgH="201475" progId="Word.Document.12">
                  <p:embed/>
                </p:oleObj>
              </mc:Choice>
              <mc:Fallback>
                <p:oleObj name="文档" r:id="rId3" imgW="335766" imgH="201475" progId="Word.Document.12">
                  <p:embed/>
                  <p:pic>
                    <p:nvPicPr>
                      <p:cNvPr id="0" name=""/>
                      <p:cNvPicPr/>
                      <p:nvPr/>
                    </p:nvPicPr>
                    <p:blipFill>
                      <a:blip r:embed="rId4"/>
                      <a:stretch>
                        <a:fillRect/>
                      </a:stretch>
                    </p:blipFill>
                    <p:spPr>
                      <a:xfrm>
                        <a:off x="3975970" y="3539994"/>
                        <a:ext cx="825500" cy="508000"/>
                      </a:xfrm>
                      <a:prstGeom prst="rect">
                        <a:avLst/>
                      </a:prstGeom>
                    </p:spPr>
                  </p:pic>
                </p:oleObj>
              </mc:Fallback>
            </mc:AlternateContent>
          </a:graphicData>
        </a:graphic>
      </p:graphicFrame>
    </p:spTree>
    <p:extLst>
      <p:ext uri="{BB962C8B-B14F-4D97-AF65-F5344CB8AC3E}">
        <p14:creationId xmlns:p14="http://schemas.microsoft.com/office/powerpoint/2010/main" val="43930006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3" end="3"/>
                                            </p:txEl>
                                          </p:spTgt>
                                        </p:tgtEl>
                                        <p:attrNameLst>
                                          <p:attrName>style.visibility</p:attrName>
                                        </p:attrNameLst>
                                      </p:cBhvr>
                                      <p:to>
                                        <p:strVal val="visible"/>
                                      </p:to>
                                    </p:set>
                                    <p:animEffect transition="in" filter="wipe(down)">
                                      <p:cBhvr>
                                        <p:cTn id="10" dur="500"/>
                                        <p:tgtEl>
                                          <p:spTgt spid="2">
                                            <p:txEl>
                                              <p:pRg st="3" end="3"/>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Effect transition="in" filter="wipe(down)">
                                      <p:cBhvr>
                                        <p:cTn id="13" dur="500"/>
                                        <p:tgtEl>
                                          <p:spTgt spid="2">
                                            <p:txEl>
                                              <p:pRg st="4" end="4"/>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3"/>
                                        </p:tgtEl>
                                        <p:attrNameLst>
                                          <p:attrName>style.visibility</p:attrName>
                                        </p:attrNameLst>
                                      </p:cBhvr>
                                      <p:to>
                                        <p:strVal val="visible"/>
                                      </p:to>
                                    </p:set>
                                    <p:animEffect transition="in" filter="wipe(down)">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wipe(down)">
                                      <p:cBhvr>
                                        <p:cTn id="21"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探究二</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两圆相交问题</a:t>
                </a:r>
              </a:p>
            </p:txBody>
          </p:sp>
        </p:grpSp>
      </p:grpSp>
      <p:sp>
        <p:nvSpPr>
          <p:cNvPr id="2" name="矩形 1"/>
          <p:cNvSpPr>
            <a:spLocks noChangeAspect="1"/>
          </p:cNvSpPr>
          <p:nvPr/>
        </p:nvSpPr>
        <p:spPr>
          <a:xfrm>
            <a:off x="381000" y="1246014"/>
            <a:ext cx="11430000" cy="395313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【例</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和圆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28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求两圆公共弦所在直线的方程及弦长</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求经过两圆交点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且圆心在直线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上的圆的方程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两圆方程相减求出公共弦所在直线方程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再根据半径、弦心距、半弦长的关系求出弦长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可求出两圆的交点坐标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结合圆心在直线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上求出圆心坐标与半径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也可利用圆系方程求解</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2630" y="232905"/>
            <a:ext cx="11748370" cy="5982323"/>
            <a:chOff x="62630" y="232905"/>
            <a:chExt cx="11748370" cy="5982323"/>
          </a:xfrm>
        </p:grpSpPr>
        <p:sp>
          <p:nvSpPr>
            <p:cNvPr id="2" name="矩形 1"/>
            <p:cNvSpPr>
              <a:spLocks noChangeAspect="1"/>
            </p:cNvSpPr>
            <p:nvPr/>
          </p:nvSpPr>
          <p:spPr>
            <a:xfrm>
              <a:off x="381000" y="232905"/>
              <a:ext cx="5984331"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设两圆交点为</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smtClean="0">
                  <a:solidFill>
                    <a:srgbClr val="000000"/>
                  </a:solidFill>
                  <a:latin typeface="Times New Roman" panose="02020603050405020304" pitchFamily="18" charset="0"/>
                  <a:cs typeface="Times New Roman" panose="02020603050405020304" pitchFamily="18" charset="0"/>
                </a:rPr>
                <a:t>), </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09642003"/>
                </p:ext>
              </p:extLst>
            </p:nvPr>
          </p:nvGraphicFramePr>
          <p:xfrm>
            <a:off x="62630" y="724436"/>
            <a:ext cx="11430000" cy="1504488"/>
          </p:xfrm>
          <a:graphic>
            <a:graphicData uri="http://schemas.openxmlformats.org/presentationml/2006/ole">
              <mc:AlternateContent xmlns:mc="http://schemas.openxmlformats.org/markup-compatibility/2006">
                <mc:Choice xmlns:v="urn:schemas-microsoft-com:vml" Requires="v">
                  <p:oleObj spid="_x0000_s8222" name="文档" r:id="rId3" imgW="4520786" imgH="595054" progId="Word.Document.12">
                    <p:embed/>
                  </p:oleObj>
                </mc:Choice>
                <mc:Fallback>
                  <p:oleObj name="文档" r:id="rId3" imgW="4520786" imgH="595054" progId="Word.Document.12">
                    <p:embed/>
                    <p:pic>
                      <p:nvPicPr>
                        <p:cNvPr id="0" name=""/>
                        <p:cNvPicPr/>
                        <p:nvPr/>
                      </p:nvPicPr>
                      <p:blipFill>
                        <a:blip r:embed="rId4"/>
                        <a:stretch>
                          <a:fillRect/>
                        </a:stretch>
                      </p:blipFill>
                      <p:spPr>
                        <a:xfrm>
                          <a:off x="62630" y="724436"/>
                          <a:ext cx="11430000" cy="1504488"/>
                        </a:xfrm>
                        <a:prstGeom prst="rect">
                          <a:avLst/>
                        </a:prstGeom>
                      </p:spPr>
                    </p:pic>
                  </p:oleObj>
                </mc:Fallback>
              </mc:AlternateContent>
            </a:graphicData>
          </a:graphic>
        </p:graphicFrame>
        <p:sp>
          <p:nvSpPr>
            <p:cNvPr id="4" name="矩形 3"/>
            <p:cNvSpPr>
              <a:spLocks noChangeAspect="1"/>
            </p:cNvSpPr>
            <p:nvPr/>
          </p:nvSpPr>
          <p:spPr>
            <a:xfrm>
              <a:off x="381000" y="2011678"/>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②</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两点坐标都满足此直线方程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即为两圆公共弦所在直线的方程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1342781477"/>
                </p:ext>
              </p:extLst>
            </p:nvPr>
          </p:nvGraphicFramePr>
          <p:xfrm>
            <a:off x="75156" y="3707444"/>
            <a:ext cx="11430000" cy="2507784"/>
          </p:xfrm>
          <a:graphic>
            <a:graphicData uri="http://schemas.openxmlformats.org/presentationml/2006/ole">
              <mc:AlternateContent xmlns:mc="http://schemas.openxmlformats.org/markup-compatibility/2006">
                <mc:Choice xmlns:v="urn:schemas-microsoft-com:vml" Requires="v">
                  <p:oleObj spid="_x0000_s8223" name="文档" r:id="rId5" imgW="4520786" imgH="991877" progId="Word.Document.12">
                    <p:embed/>
                  </p:oleObj>
                </mc:Choice>
                <mc:Fallback>
                  <p:oleObj name="文档" r:id="rId5" imgW="4520786" imgH="991877" progId="Word.Document.12">
                    <p:embed/>
                    <p:pic>
                      <p:nvPicPr>
                        <p:cNvPr id="0" name=""/>
                        <p:cNvPicPr/>
                        <p:nvPr/>
                      </p:nvPicPr>
                      <p:blipFill>
                        <a:blip r:embed="rId6"/>
                        <a:stretch>
                          <a:fillRect/>
                        </a:stretch>
                      </p:blipFill>
                      <p:spPr>
                        <a:xfrm>
                          <a:off x="75156" y="3707444"/>
                          <a:ext cx="11430000" cy="2507784"/>
                        </a:xfrm>
                        <a:prstGeom prst="rect">
                          <a:avLst/>
                        </a:prstGeom>
                      </p:spPr>
                    </p:pic>
                  </p:oleObj>
                </mc:Fallback>
              </mc:AlternateContent>
            </a:graphicData>
          </a:graphic>
        </p:graphicFrame>
      </p:grpSp>
    </p:spTree>
    <p:extLst>
      <p:ext uri="{BB962C8B-B14F-4D97-AF65-F5344CB8AC3E}">
        <p14:creationId xmlns:p14="http://schemas.microsoft.com/office/powerpoint/2010/main" val="1527313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75156" y="58108"/>
            <a:ext cx="11735844" cy="6715563"/>
            <a:chOff x="75156" y="58108"/>
            <a:chExt cx="11735844" cy="6715563"/>
          </a:xfrm>
        </p:grpSpPr>
        <p:graphicFrame>
          <p:nvGraphicFramePr>
            <p:cNvPr id="2" name="对象 1"/>
            <p:cNvGraphicFramePr>
              <a:graphicFrameLocks noChangeAspect="1"/>
            </p:cNvGraphicFramePr>
            <p:nvPr>
              <p:extLst>
                <p:ext uri="{D42A27DB-BD31-4B8C-83A1-F6EECF244321}">
                  <p14:modId xmlns:p14="http://schemas.microsoft.com/office/powerpoint/2010/main" val="1948473050"/>
                </p:ext>
              </p:extLst>
            </p:nvPr>
          </p:nvGraphicFramePr>
          <p:xfrm>
            <a:off x="75156" y="58108"/>
            <a:ext cx="11430000" cy="1003297"/>
          </p:xfrm>
          <a:graphic>
            <a:graphicData uri="http://schemas.openxmlformats.org/presentationml/2006/ole">
              <mc:AlternateContent xmlns:mc="http://schemas.openxmlformats.org/markup-compatibility/2006">
                <mc:Choice xmlns:v="urn:schemas-microsoft-com:vml" Requires="v">
                  <p:oleObj spid="_x0000_s924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75156" y="58108"/>
                          <a:ext cx="11430000" cy="1003297"/>
                        </a:xfrm>
                        <a:prstGeom prst="rect">
                          <a:avLst/>
                        </a:prstGeom>
                      </p:spPr>
                    </p:pic>
                  </p:oleObj>
                </mc:Fallback>
              </mc:AlternateContent>
            </a:graphicData>
          </a:graphic>
        </p:graphicFrame>
        <p:sp>
          <p:nvSpPr>
            <p:cNvPr id="3" name="矩形 2"/>
            <p:cNvSpPr>
              <a:spLocks noChangeAspect="1"/>
            </p:cNvSpPr>
            <p:nvPr/>
          </p:nvSpPr>
          <p:spPr>
            <a:xfrm>
              <a:off x="381000" y="1048879"/>
              <a:ext cx="11430000" cy="171252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得两圆的交点</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设所求圆的圆心为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由于圆心在直线</a:t>
              </a:r>
              <a:r>
                <a:rPr lang="en-US" altLang="zh-CN" sz="2800" i="1" dirty="0">
                  <a:solidFill>
                    <a:srgbClr val="000000"/>
                  </a:solidFill>
                  <a:latin typeface="Times New Roman" panose="02020603050405020304" pitchFamily="18" charset="0"/>
                  <a:cs typeface="Times New Roman" panose="02020603050405020304" pitchFamily="18" charset="0"/>
                </a:rPr>
                <a:t>x-y-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上</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en-US" altLang="zh-CN" sz="2800" i="1" dirty="0">
                  <a:solidFill>
                    <a:srgbClr val="000000"/>
                  </a:solidFill>
                  <a:latin typeface="Times New Roman" panose="02020603050405020304" pitchFamily="18" charset="0"/>
                  <a:cs typeface="Times New Roman" panose="02020603050405020304" pitchFamily="18" charset="0"/>
                </a:rPr>
                <a:t>b=a-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由圆心到</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两点的距离相等</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79821267"/>
                </p:ext>
              </p:extLst>
            </p:nvPr>
          </p:nvGraphicFramePr>
          <p:xfrm>
            <a:off x="75156" y="2761399"/>
            <a:ext cx="11430000" cy="4012272"/>
          </p:xfrm>
          <a:graphic>
            <a:graphicData uri="http://schemas.openxmlformats.org/presentationml/2006/ole">
              <mc:AlternateContent xmlns:mc="http://schemas.openxmlformats.org/markup-compatibility/2006">
                <mc:Choice xmlns:v="urn:schemas-microsoft-com:vml" Requires="v">
                  <p:oleObj spid="_x0000_s9247" name="文档" r:id="rId5" imgW="4520786" imgH="1586931" progId="Word.Document.12">
                    <p:embed/>
                  </p:oleObj>
                </mc:Choice>
                <mc:Fallback>
                  <p:oleObj name="文档" r:id="rId5" imgW="4520786" imgH="1586931" progId="Word.Document.12">
                    <p:embed/>
                    <p:pic>
                      <p:nvPicPr>
                        <p:cNvPr id="0" name=""/>
                        <p:cNvPicPr/>
                        <p:nvPr/>
                      </p:nvPicPr>
                      <p:blipFill>
                        <a:blip r:embed="rId6"/>
                        <a:stretch>
                          <a:fillRect/>
                        </a:stretch>
                      </p:blipFill>
                      <p:spPr>
                        <a:xfrm>
                          <a:off x="75156" y="2761399"/>
                          <a:ext cx="11430000" cy="4012272"/>
                        </a:xfrm>
                        <a:prstGeom prst="rect">
                          <a:avLst/>
                        </a:prstGeom>
                      </p:spPr>
                    </p:pic>
                  </p:oleObj>
                </mc:Fallback>
              </mc:AlternateContent>
            </a:graphicData>
          </a:graphic>
        </p:graphicFrame>
      </p:grpSp>
    </p:spTree>
    <p:extLst>
      <p:ext uri="{BB962C8B-B14F-4D97-AF65-F5344CB8AC3E}">
        <p14:creationId xmlns:p14="http://schemas.microsoft.com/office/powerpoint/2010/main" val="4145240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5324" y="1246014"/>
            <a:ext cx="11755676" cy="3710255"/>
            <a:chOff x="55324" y="1246014"/>
            <a:chExt cx="11755676" cy="3710255"/>
          </a:xfrm>
        </p:grpSpPr>
        <p:sp>
          <p:nvSpPr>
            <p:cNvPr id="2" name="矩形 1"/>
            <p:cNvSpPr>
              <a:spLocks noChangeAspect="1"/>
            </p:cNvSpPr>
            <p:nvPr/>
          </p:nvSpPr>
          <p:spPr>
            <a:xfrm>
              <a:off x="381000" y="124601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方法二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由题意可设经过两圆交点的圆的方程</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为</a:t>
              </a:r>
              <a:endParaRPr lang="en-US"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6</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dirty="0" smtClean="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x</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6</a:t>
              </a:r>
              <a:r>
                <a:rPr lang="en-US" altLang="zh-CN" sz="2800" i="1" dirty="0" smtClean="0">
                  <a:solidFill>
                    <a:srgbClr val="000000"/>
                  </a:solidFill>
                  <a:latin typeface="Times New Roman" panose="02020603050405020304" pitchFamily="18" charset="0"/>
                  <a:cs typeface="Times New Roman" panose="02020603050405020304" pitchFamily="18" charset="0"/>
                </a:rPr>
                <a:t>y-</a:t>
              </a:r>
              <a:r>
                <a:rPr lang="en-US" altLang="zh-CN" sz="2800" dirty="0" smtClean="0">
                  <a:solidFill>
                    <a:srgbClr val="000000"/>
                  </a:solidFill>
                  <a:latin typeface="Times New Roman" panose="02020603050405020304" pitchFamily="18" charset="0"/>
                  <a:cs typeface="Times New Roman" panose="02020603050405020304" pitchFamily="18" charset="0"/>
                </a:rPr>
                <a:t>28)</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ea typeface="Microsoft Yi Baiti" panose="03000500000000000000" pitchFamily="66" charset="0"/>
                  <a:cs typeface="Times New Roman" panose="02020603050405020304" pitchFamily="18" charset="0"/>
                </a:rPr>
                <a:t>λ</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190390983"/>
                </p:ext>
              </p:extLst>
            </p:nvPr>
          </p:nvGraphicFramePr>
          <p:xfrm>
            <a:off x="55324" y="2448485"/>
            <a:ext cx="11430000" cy="2507784"/>
          </p:xfrm>
          <a:graphic>
            <a:graphicData uri="http://schemas.openxmlformats.org/presentationml/2006/ole">
              <mc:AlternateContent xmlns:mc="http://schemas.openxmlformats.org/markup-compatibility/2006">
                <mc:Choice xmlns:v="urn:schemas-microsoft-com:vml" Requires="v">
                  <p:oleObj spid="_x0000_s10256"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55324" y="2448485"/>
                          <a:ext cx="11430000" cy="2507784"/>
                        </a:xfrm>
                        <a:prstGeom prst="rect">
                          <a:avLst/>
                        </a:prstGeom>
                      </p:spPr>
                    </p:pic>
                  </p:oleObj>
                </mc:Fallback>
              </mc:AlternateContent>
            </a:graphicData>
          </a:graphic>
        </p:graphicFrame>
      </p:grpSp>
    </p:spTree>
    <p:extLst>
      <p:ext uri="{BB962C8B-B14F-4D97-AF65-F5344CB8AC3E}">
        <p14:creationId xmlns:p14="http://schemas.microsoft.com/office/powerpoint/2010/main" val="283917889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381000" y="786425"/>
            <a:ext cx="11430000" cy="1057770"/>
            <a:chOff x="381000" y="1243629"/>
            <a:chExt cx="11430000" cy="1057770"/>
          </a:xfrm>
        </p:grpSpPr>
        <p:sp>
          <p:nvSpPr>
            <p:cNvPr id="2" name="矩形 1"/>
            <p:cNvSpPr>
              <a:spLocks noChangeAspect="1"/>
            </p:cNvSpPr>
            <p:nvPr/>
          </p:nvSpPr>
          <p:spPr>
            <a:xfrm>
              <a:off x="381000" y="1648913"/>
              <a:ext cx="11430000" cy="65248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若圆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a&gt;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的公共弦的长为</a:t>
              </a:r>
              <a:r>
                <a:rPr lang="en-US" altLang="zh-CN" sz="2800" dirty="0" smtClean="0">
                  <a:solidFill>
                    <a:srgbClr val="000000"/>
                  </a:solidFill>
                  <a:latin typeface="Times New Roman" panose="02020603050405020304" pitchFamily="18" charset="0"/>
                  <a:cs typeface="Times New Roman" panose="02020603050405020304" pitchFamily="18" charset="0"/>
                </a:rPr>
                <a:t>2      ,</a:t>
              </a:r>
              <a:r>
                <a:rPr lang="zh-CN" altLang="zh-CN" sz="2800" dirty="0">
                  <a:solidFill>
                    <a:srgbClr val="000000"/>
                  </a:solidFill>
                  <a:latin typeface="Times New Roman" panose="02020603050405020304" pitchFamily="18" charset="0"/>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96387128"/>
                </p:ext>
              </p:extLst>
            </p:nvPr>
          </p:nvGraphicFramePr>
          <p:xfrm>
            <a:off x="9074807" y="1728531"/>
            <a:ext cx="669925" cy="501650"/>
          </p:xfrm>
          <a:graphic>
            <a:graphicData uri="http://schemas.openxmlformats.org/presentationml/2006/ole">
              <mc:AlternateContent xmlns:mc="http://schemas.openxmlformats.org/markup-compatibility/2006">
                <mc:Choice xmlns:v="urn:schemas-microsoft-com:vml" Requires="v">
                  <p:oleObj spid="_x0000_s11296" name="文档" r:id="rId3" imgW="271708" imgH="198592" progId="Word.Document.12">
                    <p:embed/>
                  </p:oleObj>
                </mc:Choice>
                <mc:Fallback>
                  <p:oleObj name="文档" r:id="rId3" imgW="271708" imgH="198592" progId="Word.Document.12">
                    <p:embed/>
                    <p:pic>
                      <p:nvPicPr>
                        <p:cNvPr id="0" name=""/>
                        <p:cNvPicPr/>
                        <p:nvPr/>
                      </p:nvPicPr>
                      <p:blipFill>
                        <a:blip r:embed="rId4"/>
                        <a:stretch>
                          <a:fillRect/>
                        </a:stretch>
                      </p:blipFill>
                      <p:spPr>
                        <a:xfrm>
                          <a:off x="9074807" y="1728531"/>
                          <a:ext cx="669925" cy="501650"/>
                        </a:xfrm>
                        <a:prstGeom prst="rect">
                          <a:avLst/>
                        </a:prstGeom>
                      </p:spPr>
                    </p:pic>
                  </p:oleObj>
                </mc:Fallback>
              </mc:AlternateContent>
            </a:graphicData>
          </a:graphic>
        </p:graphicFrame>
        <p:pic>
          <p:nvPicPr>
            <p:cNvPr id="4" name="延伸探究H.eps" descr="id:2147494559;FounderCES"/>
            <p:cNvPicPr/>
            <p:nvPr/>
          </p:nvPicPr>
          <p:blipFill>
            <a:blip r:embed="rId5">
              <a:clrChange>
                <a:clrFrom>
                  <a:srgbClr val="FFFFFF"/>
                </a:clrFrom>
                <a:clrTo>
                  <a:srgbClr val="FFFFFF">
                    <a:alpha val="0"/>
                  </a:srgbClr>
                </a:clrTo>
              </a:clrChange>
            </a:blip>
            <a:stretch>
              <a:fillRect/>
            </a:stretch>
          </p:blipFill>
          <p:spPr>
            <a:xfrm>
              <a:off x="4757688" y="1243629"/>
              <a:ext cx="2016224" cy="367706"/>
            </a:xfrm>
            <a:prstGeom prst="rect">
              <a:avLst/>
            </a:prstGeom>
          </p:spPr>
        </p:pic>
      </p:grpSp>
      <p:sp>
        <p:nvSpPr>
          <p:cNvPr id="7" name="矩形 6"/>
          <p:cNvSpPr>
            <a:spLocks noChangeAspect="1"/>
          </p:cNvSpPr>
          <p:nvPr/>
        </p:nvSpPr>
        <p:spPr>
          <a:xfrm>
            <a:off x="381000" y="3730974"/>
            <a:ext cx="1553630" cy="652486"/>
          </a:xfrm>
          <a:prstGeom prst="rect">
            <a:avLst/>
          </a:prstGeom>
        </p:spPr>
        <p:txBody>
          <a:bodyPr wrap="none">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 </a:t>
            </a:r>
            <a:endParaRPr lang="zh-CN" altLang="zh-CN" sz="2800" dirty="0">
              <a:solidFill>
                <a:srgbClr val="000000"/>
              </a:solidFill>
              <a:effectLst/>
              <a:latin typeface="NEU-BZ-S92"/>
              <a:ea typeface="方正书宋_GBK"/>
              <a:cs typeface="Times New Roman" panose="02020603050405020304" pitchFamily="18" charset="0"/>
            </a:endParaRPr>
          </a:p>
        </p:txBody>
      </p:sp>
      <p:grpSp>
        <p:nvGrpSpPr>
          <p:cNvPr id="9" name="组合 8"/>
          <p:cNvGrpSpPr/>
          <p:nvPr/>
        </p:nvGrpSpPr>
        <p:grpSpPr>
          <a:xfrm>
            <a:off x="62630" y="1828153"/>
            <a:ext cx="11467578" cy="2605411"/>
            <a:chOff x="62630" y="2260305"/>
            <a:chExt cx="11467578" cy="2605411"/>
          </a:xfrm>
        </p:grpSpPr>
        <p:graphicFrame>
          <p:nvGraphicFramePr>
            <p:cNvPr id="6" name="对象 5"/>
            <p:cNvGraphicFramePr>
              <a:graphicFrameLocks noChangeAspect="1"/>
            </p:cNvGraphicFramePr>
            <p:nvPr>
              <p:extLst>
                <p:ext uri="{D42A27DB-BD31-4B8C-83A1-F6EECF244321}">
                  <p14:modId xmlns:p14="http://schemas.microsoft.com/office/powerpoint/2010/main" val="1632719555"/>
                </p:ext>
              </p:extLst>
            </p:nvPr>
          </p:nvGraphicFramePr>
          <p:xfrm>
            <a:off x="62630" y="2260305"/>
            <a:ext cx="11430000" cy="2005680"/>
          </p:xfrm>
          <a:graphic>
            <a:graphicData uri="http://schemas.openxmlformats.org/presentationml/2006/ole">
              <mc:AlternateContent xmlns:mc="http://schemas.openxmlformats.org/markup-compatibility/2006">
                <mc:Choice xmlns:v="urn:schemas-microsoft-com:vml" Requires="v">
                  <p:oleObj spid="_x0000_s11297" name="文档" r:id="rId6" imgW="4520786" imgH="793285" progId="Word.Document.12">
                    <p:embed/>
                  </p:oleObj>
                </mc:Choice>
                <mc:Fallback>
                  <p:oleObj name="文档" r:id="rId6" imgW="4520786" imgH="793285" progId="Word.Document.12">
                    <p:embed/>
                    <p:pic>
                      <p:nvPicPr>
                        <p:cNvPr id="0" name=""/>
                        <p:cNvPicPr/>
                        <p:nvPr/>
                      </p:nvPicPr>
                      <p:blipFill>
                        <a:blip r:embed="rId7"/>
                        <a:stretch>
                          <a:fillRect/>
                        </a:stretch>
                      </p:blipFill>
                      <p:spPr>
                        <a:xfrm>
                          <a:off x="62630" y="2260305"/>
                          <a:ext cx="11430000" cy="2005680"/>
                        </a:xfrm>
                        <a:prstGeom prst="rect">
                          <a:avLst/>
                        </a:prstGeom>
                      </p:spPr>
                    </p:pic>
                  </p:oleObj>
                </mc:Fallback>
              </mc:AlternateContent>
            </a:graphicData>
          </a:graphic>
        </p:graphicFrame>
        <p:pic>
          <p:nvPicPr>
            <p:cNvPr id="8" name="EMX1TRAX56.eps" descr="id:2147493407;FounderCES"/>
            <p:cNvPicPr>
              <a:picLocks noChangeAspect="1"/>
            </p:cNvPicPr>
            <p:nvPr/>
          </p:nvPicPr>
          <p:blipFill>
            <a:blip r:embed="rId8">
              <a:clrChange>
                <a:clrFrom>
                  <a:srgbClr val="FFFFFF"/>
                </a:clrFrom>
                <a:clrTo>
                  <a:srgbClr val="FFFFFF">
                    <a:alpha val="0"/>
                  </a:srgbClr>
                </a:clrTo>
              </a:clrChange>
            </a:blip>
            <a:stretch>
              <a:fillRect/>
            </a:stretch>
          </p:blipFill>
          <p:spPr>
            <a:xfrm>
              <a:off x="9042706" y="2415000"/>
              <a:ext cx="2487502" cy="2450716"/>
            </a:xfrm>
            <a:prstGeom prst="rect">
              <a:avLst/>
            </a:prstGeom>
          </p:spPr>
        </p:pic>
      </p:grpSp>
    </p:spTree>
    <p:extLst>
      <p:ext uri="{BB962C8B-B14F-4D97-AF65-F5344CB8AC3E}">
        <p14:creationId xmlns:p14="http://schemas.microsoft.com/office/powerpoint/2010/main" val="17492114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6951"/>
            <a:ext cx="11430000" cy="3453253"/>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求两圆的公共弦所在直线的方程的方法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将两圆方程相减即得两圆公共弦所在直线方程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但必须注意只有当两圆方程中二次项系数相同时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才能如此求解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否则应先调整系数</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求两圆公共弦长的方法</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一是联立两圆方程求出交点坐标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再用两点间的距离公式求解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二是先求出两圆公共弦所在的直线方程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仿宋" panose="02010609060101010101" pitchFamily="49" charset="-122"/>
                <a:cs typeface="Times New Roman" panose="02020603050405020304" pitchFamily="18" charset="0"/>
              </a:rPr>
              <a:t>再利用半径长、弦心距和弦长的一半满足勾股定理求解</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249235677"/>
              </p:ext>
            </p:extLst>
          </p:nvPr>
        </p:nvGraphicFramePr>
        <p:xfrm>
          <a:off x="406052" y="3725439"/>
          <a:ext cx="11430000" cy="1805204"/>
        </p:xfrm>
        <a:graphic>
          <a:graphicData uri="http://schemas.openxmlformats.org/presentationml/2006/ole">
            <mc:AlternateContent xmlns:mc="http://schemas.openxmlformats.org/markup-compatibility/2006">
              <mc:Choice xmlns:v="urn:schemas-microsoft-com:vml" Requires="v">
                <p:oleObj spid="_x0000_s12305" name="文档" r:id="rId3" imgW="4520786" imgH="713993" progId="Word.Document.12">
                  <p:embed/>
                </p:oleObj>
              </mc:Choice>
              <mc:Fallback>
                <p:oleObj name="文档" r:id="rId3" imgW="4520786" imgH="713993" progId="Word.Document.12">
                  <p:embed/>
                  <p:pic>
                    <p:nvPicPr>
                      <p:cNvPr id="0" name=""/>
                      <p:cNvPicPr/>
                      <p:nvPr/>
                    </p:nvPicPr>
                    <p:blipFill>
                      <a:blip r:embed="rId4"/>
                      <a:stretch>
                        <a:fillRect/>
                      </a:stretch>
                    </p:blipFill>
                    <p:spPr>
                      <a:xfrm>
                        <a:off x="406052" y="3725439"/>
                        <a:ext cx="11430000" cy="1805204"/>
                      </a:xfrm>
                      <a:prstGeom prst="rect">
                        <a:avLst/>
                      </a:prstGeom>
                    </p:spPr>
                  </p:pic>
                </p:oleObj>
              </mc:Fallback>
            </mc:AlternateContent>
          </a:graphicData>
        </a:graphic>
      </p:graphicFrame>
    </p:spTree>
    <p:extLst>
      <p:ext uri="{BB962C8B-B14F-4D97-AF65-F5344CB8AC3E}">
        <p14:creationId xmlns:p14="http://schemas.microsoft.com/office/powerpoint/2010/main" val="424909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1637"/>
            <a:ext cx="11430000" cy="4013406"/>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11</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相交于</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两点</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求</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所在直线的方程和公共弦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cs typeface="Times New Roman" panose="02020603050405020304" pitchFamily="18" charset="0"/>
              </a:rPr>
              <a:t>的长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的方程减去圆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得方程</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则两圆交点的坐标都满足方程</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panose="03000509000000000000" pitchFamily="65" charset="-122"/>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故</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两圆公共弦</a:t>
            </a:r>
            <a:r>
              <a:rPr lang="en-US" altLang="zh-CN" sz="2800" i="1" dirty="0">
                <a:solidFill>
                  <a:srgbClr val="000000"/>
                </a:solidFill>
                <a:latin typeface="Times New Roman" panose="02020603050405020304" pitchFamily="18" charset="0"/>
                <a:cs typeface="Times New Roman" panose="02020603050405020304" pitchFamily="18" charset="0"/>
              </a:rPr>
              <a:t>AB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所在直线的方程是</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的方程化成标准方程为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dirty="0" smtClean="0">
                <a:solidFill>
                  <a:srgbClr val="000000"/>
                </a:solidFill>
                <a:latin typeface="Times New Roman" panose="02020603050405020304" pitchFamily="18" charset="0"/>
                <a:cs typeface="Times New Roman" panose="02020603050405020304" pitchFamily="18" charset="0"/>
              </a:rPr>
              <a:t>,</a:t>
            </a:r>
            <a:endParaRPr lang="zh-CN" altLang="zh-CN" sz="2800" dirty="0" smtClean="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圆心为</a:t>
            </a:r>
            <a:r>
              <a:rPr lang="en-US" altLang="zh-CN" sz="2800" i="1" dirty="0" smtClean="0">
                <a:solidFill>
                  <a:srgbClr val="000000"/>
                </a:solidFill>
                <a:latin typeface="Times New Roman" panose="02020603050405020304" pitchFamily="18" charset="0"/>
                <a:cs typeface="Times New Roman" panose="02020603050405020304" pitchFamily="18" charset="0"/>
              </a:rPr>
              <a:t>C</a:t>
            </a:r>
            <a:r>
              <a:rPr lang="en-US" altLang="zh-CN" sz="2800" baseline="-25000" dirty="0" smtClean="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1,3),</a:t>
            </a:r>
            <a:r>
              <a:rPr lang="zh-CN" altLang="zh-CN" sz="2800" dirty="0" smtClean="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a:t>
            </a:r>
            <a:r>
              <a:rPr lang="en-US" altLang="zh-CN" sz="2800" i="1" dirty="0" smtClean="0">
                <a:solidFill>
                  <a:srgbClr val="000000"/>
                </a:solidFill>
                <a:latin typeface="Times New Roman" panose="02020603050405020304" pitchFamily="18" charset="0"/>
                <a:cs typeface="Times New Roman" panose="02020603050405020304" pitchFamily="18" charset="0"/>
              </a:rPr>
              <a:t>r=</a:t>
            </a:r>
            <a:r>
              <a:rPr lang="en-US" altLang="zh-CN" sz="2800" dirty="0" smtClean="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326890405"/>
              </p:ext>
            </p:extLst>
          </p:nvPr>
        </p:nvGraphicFramePr>
        <p:xfrm>
          <a:off x="62630" y="3836498"/>
          <a:ext cx="11430000" cy="3008976"/>
        </p:xfrm>
        <a:graphic>
          <a:graphicData uri="http://schemas.openxmlformats.org/presentationml/2006/ole">
            <mc:AlternateContent xmlns:mc="http://schemas.openxmlformats.org/markup-compatibility/2006">
              <mc:Choice xmlns:v="urn:schemas-microsoft-com:vml" Requires="v">
                <p:oleObj spid="_x0000_s13328"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62630" y="3836498"/>
                        <a:ext cx="11430000" cy="3008976"/>
                      </a:xfrm>
                      <a:prstGeom prst="rect">
                        <a:avLst/>
                      </a:prstGeom>
                    </p:spPr>
                  </p:pic>
                </p:oleObj>
              </mc:Fallback>
            </mc:AlternateContent>
          </a:graphicData>
        </a:graphic>
      </p:graphicFrame>
    </p:spTree>
    <p:extLst>
      <p:ext uri="{BB962C8B-B14F-4D97-AF65-F5344CB8AC3E}">
        <p14:creationId xmlns:p14="http://schemas.microsoft.com/office/powerpoint/2010/main" val="31611119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wipe(down)">
                                      <p:cBhvr>
                                        <p:cTn id="10" dur="500"/>
                                        <p:tgtEl>
                                          <p:spTgt spid="2">
                                            <p:txEl>
                                              <p:pRg st="1" end="1"/>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00"/>
                                        <p:tgtEl>
                                          <p:spTgt spid="2">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2">
                                            <p:txEl>
                                              <p:pRg st="4" end="4"/>
                                            </p:txEl>
                                          </p:spTgt>
                                        </p:tgtEl>
                                        <p:attrNameLst>
                                          <p:attrName>style.visibility</p:attrName>
                                        </p:attrNameLst>
                                      </p:cBhvr>
                                      <p:to>
                                        <p:strVal val="visible"/>
                                      </p:to>
                                    </p:set>
                                    <p:animEffect transition="in" filter="wipe(down)">
                                      <p:cBhvr>
                                        <p:cTn id="16" dur="500"/>
                                        <p:tgtEl>
                                          <p:spTgt spid="2">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down)">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p:cNvGrpSpPr/>
          <p:nvPr/>
        </p:nvGrpSpPr>
        <p:grpSpPr>
          <a:xfrm>
            <a:off x="2" y="151371"/>
            <a:ext cx="11336478" cy="433754"/>
            <a:chOff x="381000" y="205656"/>
            <a:chExt cx="11336478" cy="433754"/>
          </a:xfrm>
        </p:grpSpPr>
        <p:sp>
          <p:nvSpPr>
            <p:cNvPr id="10" name="矩形 9"/>
            <p:cNvSpPr/>
            <p:nvPr/>
          </p:nvSpPr>
          <p:spPr>
            <a:xfrm>
              <a:off x="1999940" y="230648"/>
              <a:ext cx="192275" cy="401795"/>
            </a:xfrm>
            <a:prstGeom prst="rect">
              <a:avLst/>
            </a:prstGeom>
            <a:noFill/>
            <a:ln w="19050">
              <a:solidFill>
                <a:schemeClr val="accent4">
                  <a:lumMod val="7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grpSp>
          <p:nvGrpSpPr>
            <p:cNvPr id="11" name="组合 10"/>
            <p:cNvGrpSpPr/>
            <p:nvPr/>
          </p:nvGrpSpPr>
          <p:grpSpPr>
            <a:xfrm>
              <a:off x="381000" y="205656"/>
              <a:ext cx="11336478" cy="433754"/>
              <a:chOff x="3048000" y="2286000"/>
              <a:chExt cx="4813646" cy="457200"/>
            </a:xfrm>
          </p:grpSpPr>
          <p:sp>
            <p:nvSpPr>
              <p:cNvPr id="12" name="矩形 11"/>
              <p:cNvSpPr/>
              <p:nvPr/>
            </p:nvSpPr>
            <p:spPr>
              <a:xfrm>
                <a:off x="3048000" y="2286000"/>
                <a:ext cx="769070" cy="457200"/>
              </a:xfrm>
              <a:prstGeom prst="rect">
                <a:avLst/>
              </a:prstGeom>
              <a:solidFill>
                <a:srgbClr val="7487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dirty="0" smtClean="0">
                    <a:solidFill>
                      <a:schemeClr val="bg1"/>
                    </a:solidFill>
                  </a:rPr>
                  <a:t>探究三</a:t>
                </a:r>
              </a:p>
            </p:txBody>
          </p:sp>
          <p:sp>
            <p:nvSpPr>
              <p:cNvPr id="13" name="矩形 12"/>
              <p:cNvSpPr/>
              <p:nvPr/>
            </p:nvSpPr>
            <p:spPr>
              <a:xfrm>
                <a:off x="3909004" y="2286000"/>
                <a:ext cx="3952642" cy="457200"/>
              </a:xfrm>
              <a:prstGeom prst="rect">
                <a:avLst/>
              </a:prstGeom>
              <a:gradFill flip="none" rotWithShape="1">
                <a:gsLst>
                  <a:gs pos="0">
                    <a:srgbClr val="DCDCDC">
                      <a:shade val="30000"/>
                      <a:satMod val="115000"/>
                    </a:srgbClr>
                  </a:gs>
                  <a:gs pos="51000">
                    <a:srgbClr val="DCDCDC">
                      <a:shade val="67500"/>
                      <a:satMod val="115000"/>
                    </a:srgbClr>
                  </a:gs>
                  <a:gs pos="73000">
                    <a:srgbClr val="DCDCDC">
                      <a:shade val="100000"/>
                      <a:satMod val="115000"/>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800" b="1" dirty="0">
                    <a:solidFill>
                      <a:schemeClr val="bg1"/>
                    </a:solidFill>
                  </a:rPr>
                  <a:t>两圆相切问题</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966782961"/>
              </p:ext>
            </p:extLst>
          </p:nvPr>
        </p:nvGraphicFramePr>
        <p:xfrm>
          <a:off x="381000" y="2095065"/>
          <a:ext cx="11430000" cy="1203772"/>
        </p:xfrm>
        <a:graphic>
          <a:graphicData uri="http://schemas.openxmlformats.org/presentationml/2006/ole">
            <mc:AlternateContent xmlns:mc="http://schemas.openxmlformats.org/markup-compatibility/2006">
              <mc:Choice xmlns:v="urn:schemas-microsoft-com:vml" Requires="v">
                <p:oleObj spid="_x0000_s14350" name="文档" r:id="rId3" imgW="4520786" imgH="476836" progId="Word.Document.12">
                  <p:embed/>
                </p:oleObj>
              </mc:Choice>
              <mc:Fallback>
                <p:oleObj name="文档" r:id="rId3" imgW="4520786" imgH="476836" progId="Word.Document.12">
                  <p:embed/>
                  <p:pic>
                    <p:nvPicPr>
                      <p:cNvPr id="0" name=""/>
                      <p:cNvPicPr/>
                      <p:nvPr/>
                    </p:nvPicPr>
                    <p:blipFill>
                      <a:blip r:embed="rId4"/>
                      <a:stretch>
                        <a:fillRect/>
                      </a:stretch>
                    </p:blipFill>
                    <p:spPr>
                      <a:xfrm>
                        <a:off x="381000" y="2095065"/>
                        <a:ext cx="11430000" cy="1203772"/>
                      </a:xfrm>
                      <a:prstGeom prst="rect">
                        <a:avLst/>
                      </a:prstGeom>
                    </p:spPr>
                  </p:pic>
                </p:oleObj>
              </mc:Fallback>
            </mc:AlternateContent>
          </a:graphicData>
        </a:graphic>
      </p:graphicFrame>
      <p:sp>
        <p:nvSpPr>
          <p:cNvPr id="4" name="矩形 3"/>
          <p:cNvSpPr>
            <a:spLocks noChangeAspect="1"/>
          </p:cNvSpPr>
          <p:nvPr/>
        </p:nvSpPr>
        <p:spPr>
          <a:xfrm>
            <a:off x="381000" y="3323889"/>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分析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要求圆的方程</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需求出圆心坐标及半径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可利用直线与圆相切、圆与圆外切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建立关于</a:t>
            </a:r>
            <a:r>
              <a:rPr lang="en-US" altLang="zh-CN" sz="2800" i="1" dirty="0" err="1">
                <a:solidFill>
                  <a:srgbClr val="000000"/>
                </a:solidFill>
                <a:latin typeface="Times New Roman" panose="02020603050405020304" pitchFamily="18" charset="0"/>
                <a:cs typeface="Times New Roman" panose="02020603050405020304" pitchFamily="18" charset="0"/>
              </a:rPr>
              <a:t>a</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b</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r</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的方程组求解</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50106" y="788810"/>
            <a:ext cx="11760894" cy="4209090"/>
            <a:chOff x="50106" y="1246014"/>
            <a:chExt cx="11760894" cy="4209090"/>
          </a:xfrm>
        </p:grpSpPr>
        <p:sp>
          <p:nvSpPr>
            <p:cNvPr id="2" name="矩形 1"/>
            <p:cNvSpPr>
              <a:spLocks noChangeAspect="1"/>
            </p:cNvSpPr>
            <p:nvPr/>
          </p:nvSpPr>
          <p:spPr>
            <a:xfrm>
              <a:off x="381000" y="1246014"/>
              <a:ext cx="11430000" cy="12126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smtClean="0">
                  <a:solidFill>
                    <a:srgbClr val="FF0000"/>
                  </a:solidFill>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的方程可化为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设所求圆的方程为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r&gt;</a:t>
              </a:r>
              <a:r>
                <a:rPr lang="en-US" altLang="zh-CN" sz="2800" dirty="0">
                  <a:solidFill>
                    <a:srgbClr val="000000"/>
                  </a:solidFill>
                  <a:latin typeface="Times New Roman" panose="02020603050405020304" pitchFamily="18" charset="0"/>
                  <a:cs typeface="Times New Roman" panose="02020603050405020304" pitchFamily="18" charset="0"/>
                </a:rPr>
                <a:t>0),</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866661334"/>
                </p:ext>
              </p:extLst>
            </p:nvPr>
          </p:nvGraphicFramePr>
          <p:xfrm>
            <a:off x="50106" y="2446128"/>
            <a:ext cx="11430000" cy="3008976"/>
          </p:xfrm>
          <a:graphic>
            <a:graphicData uri="http://schemas.openxmlformats.org/presentationml/2006/ole">
              <mc:AlternateContent xmlns:mc="http://schemas.openxmlformats.org/markup-compatibility/2006">
                <mc:Choice xmlns:v="urn:schemas-microsoft-com:vml" Requires="v">
                  <p:oleObj spid="_x0000_s15374" name="文档" r:id="rId3" imgW="4520786" imgH="1190108" progId="Word.Document.12">
                    <p:embed/>
                  </p:oleObj>
                </mc:Choice>
                <mc:Fallback>
                  <p:oleObj name="文档" r:id="rId3" imgW="4520786" imgH="1190108" progId="Word.Document.12">
                    <p:embed/>
                    <p:pic>
                      <p:nvPicPr>
                        <p:cNvPr id="0" name=""/>
                        <p:cNvPicPr/>
                        <p:nvPr/>
                      </p:nvPicPr>
                      <p:blipFill>
                        <a:blip r:embed="rId4"/>
                        <a:stretch>
                          <a:fillRect/>
                        </a:stretch>
                      </p:blipFill>
                      <p:spPr>
                        <a:xfrm>
                          <a:off x="50106" y="2446128"/>
                          <a:ext cx="11430000" cy="3008976"/>
                        </a:xfrm>
                        <a:prstGeom prst="rect">
                          <a:avLst/>
                        </a:prstGeom>
                      </p:spPr>
                    </p:pic>
                  </p:oleObj>
                </mc:Fallback>
              </mc:AlternateContent>
            </a:graphicData>
          </a:graphic>
        </p:graphicFrame>
      </p:grpSp>
    </p:spTree>
    <p:extLst>
      <p:ext uri="{BB962C8B-B14F-4D97-AF65-F5344CB8AC3E}">
        <p14:creationId xmlns:p14="http://schemas.microsoft.com/office/powerpoint/2010/main" val="35824488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1243879"/>
            <a:ext cx="11430000" cy="2893100"/>
          </a:xfrm>
          <a:prstGeom prst="rect">
            <a:avLst/>
          </a:prstGeom>
        </p:spPr>
        <p:txBody>
          <a:bodyPr>
            <a:spAutoFit/>
          </a:bodyPr>
          <a:lstStyle/>
          <a:p>
            <a:pPr indent="28067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反思感悟</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en-US" altLang="zh-CN" sz="2800" b="1" dirty="0" smtClean="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圆与圆的位置关系主要是通过圆心距与两半径长的和或两半径长的差的绝对值的大小关系来判断</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80670">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直线与圆相切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即圆心到直线的距离等于半径</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另结合圆的性质</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圆心与切点的连线与切线垂直</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充分利用圆的有关几何性质解题可以化繁为简</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提高运算效率</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5879975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334302"/>
            <a:ext cx="11430000" cy="2272673"/>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en-US" altLang="zh-CN" sz="2800" b="1"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cs typeface="Times New Roman" panose="02020603050405020304" pitchFamily="18" charset="0"/>
              </a:rPr>
              <a:t>外切于点</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(4,3),</a:t>
            </a:r>
            <a:r>
              <a:rPr lang="zh-CN" altLang="zh-CN" sz="2800" dirty="0">
                <a:solidFill>
                  <a:srgbClr val="000000"/>
                </a:solidFill>
                <a:latin typeface="Times New Roman" panose="02020603050405020304" pitchFamily="18" charset="0"/>
                <a:cs typeface="Times New Roman" panose="02020603050405020304" pitchFamily="18" charset="0"/>
              </a:rPr>
              <a:t>且半径为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的圆的方程是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设所求圆的圆心为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m</a:t>
            </a:r>
            <a:r>
              <a:rPr lang="en-US" altLang="zh-CN" sz="2800" dirty="0" err="1">
                <a:solidFill>
                  <a:srgbClr val="000000"/>
                </a:solidFill>
                <a:latin typeface="Times New Roman" panose="02020603050405020304" pitchFamily="18" charset="0"/>
                <a:cs typeface="Times New Roman" panose="02020603050405020304" pitchFamily="18" charset="0"/>
              </a:rPr>
              <a:t>,</a:t>
            </a:r>
            <a:r>
              <a:rPr lang="en-US" altLang="zh-CN" sz="2800" i="1" dirty="0" err="1">
                <a:solidFill>
                  <a:srgbClr val="000000"/>
                </a:solidFill>
                <a:latin typeface="Times New Roman" panose="02020603050405020304" pitchFamily="18" charset="0"/>
                <a:cs typeface="Times New Roman" panose="02020603050405020304" pitchFamily="18" charset="0"/>
              </a:rPr>
              <a:t>n</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P</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三点共线</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且</a:t>
            </a:r>
            <a:r>
              <a:rPr lang="en-US" altLang="zh-CN" sz="2800" i="1" dirty="0">
                <a:solidFill>
                  <a:srgbClr val="000000"/>
                </a:solidFill>
                <a:latin typeface="Times New Roman" panose="02020603050405020304" pitchFamily="18" charset="0"/>
                <a:cs typeface="Times New Roman" panose="02020603050405020304" pitchFamily="18" charset="0"/>
              </a:rPr>
              <a:t>|OC|=</a:t>
            </a:r>
            <a:r>
              <a:rPr lang="en-US" altLang="zh-CN" sz="2800" dirty="0">
                <a:solidFill>
                  <a:srgbClr val="000000"/>
                </a:solidFill>
                <a:latin typeface="Times New Roman" panose="02020603050405020304" pitchFamily="18" charset="0"/>
                <a:cs typeface="Times New Roman" panose="02020603050405020304" pitchFamily="18" charset="0"/>
              </a:rPr>
              <a:t>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的坐标位于第一象限</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由两直角三角形相似</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478273312"/>
              </p:ext>
            </p:extLst>
          </p:nvPr>
        </p:nvGraphicFramePr>
        <p:xfrm>
          <a:off x="55324" y="2594449"/>
          <a:ext cx="11430000" cy="2005680"/>
        </p:xfrm>
        <a:graphic>
          <a:graphicData uri="http://schemas.openxmlformats.org/presentationml/2006/ole">
            <mc:AlternateContent xmlns:mc="http://schemas.openxmlformats.org/markup-compatibility/2006">
              <mc:Choice xmlns:v="urn:schemas-microsoft-com:vml" Requires="v">
                <p:oleObj spid="_x0000_s16410" name="文档" r:id="rId3" imgW="4520786" imgH="793285" progId="Word.Document.12">
                  <p:embed/>
                </p:oleObj>
              </mc:Choice>
              <mc:Fallback>
                <p:oleObj name="文档" r:id="rId3" imgW="4520786" imgH="793285" progId="Word.Document.12">
                  <p:embed/>
                  <p:pic>
                    <p:nvPicPr>
                      <p:cNvPr id="0" name=""/>
                      <p:cNvPicPr/>
                      <p:nvPr/>
                    </p:nvPicPr>
                    <p:blipFill>
                      <a:blip r:embed="rId4"/>
                      <a:stretch>
                        <a:fillRect/>
                      </a:stretch>
                    </p:blipFill>
                    <p:spPr>
                      <a:xfrm>
                        <a:off x="55324" y="2594449"/>
                        <a:ext cx="11430000" cy="200568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011611587"/>
              </p:ext>
            </p:extLst>
          </p:nvPr>
        </p:nvGraphicFramePr>
        <p:xfrm>
          <a:off x="55324" y="4540837"/>
          <a:ext cx="11430000" cy="1003297"/>
        </p:xfrm>
        <a:graphic>
          <a:graphicData uri="http://schemas.openxmlformats.org/presentationml/2006/ole">
            <mc:AlternateContent xmlns:mc="http://schemas.openxmlformats.org/markup-compatibility/2006">
              <mc:Choice xmlns:v="urn:schemas-microsoft-com:vml" Requires="v">
                <p:oleObj spid="_x0000_s16411" name="文档" r:id="rId5" imgW="4520786" imgH="396823" progId="Word.Document.12">
                  <p:embed/>
                </p:oleObj>
              </mc:Choice>
              <mc:Fallback>
                <p:oleObj name="文档" r:id="rId5" imgW="4520786" imgH="396823" progId="Word.Document.12">
                  <p:embed/>
                  <p:pic>
                    <p:nvPicPr>
                      <p:cNvPr id="0" name=""/>
                      <p:cNvPicPr/>
                      <p:nvPr/>
                    </p:nvPicPr>
                    <p:blipFill>
                      <a:blip r:embed="rId6"/>
                      <a:stretch>
                        <a:fillRect/>
                      </a:stretch>
                    </p:blipFill>
                    <p:spPr>
                      <a:xfrm>
                        <a:off x="55324" y="4540837"/>
                        <a:ext cx="11430000" cy="1003297"/>
                      </a:xfrm>
                      <a:prstGeom prst="rect">
                        <a:avLst/>
                      </a:prstGeom>
                    </p:spPr>
                  </p:pic>
                </p:oleObj>
              </mc:Fallback>
            </mc:AlternateContent>
          </a:graphicData>
        </a:graphic>
      </p:graphicFrame>
    </p:spTree>
    <p:extLst>
      <p:ext uri="{BB962C8B-B14F-4D97-AF65-F5344CB8AC3E}">
        <p14:creationId xmlns:p14="http://schemas.microsoft.com/office/powerpoint/2010/main" val="7280695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2" end="2"/>
                                            </p:txEl>
                                          </p:spTgt>
                                        </p:tgtEl>
                                        <p:attrNameLst>
                                          <p:attrName>style.visibility</p:attrName>
                                        </p:attrNameLst>
                                      </p:cBhvr>
                                      <p:to>
                                        <p:strVal val="visible"/>
                                      </p:to>
                                    </p:set>
                                    <p:animEffect transition="in" filter="wipe(down)">
                                      <p:cBhvr>
                                        <p:cTn id="10" dur="500"/>
                                        <p:tgtEl>
                                          <p:spTgt spid="2">
                                            <p:txEl>
                                              <p:pRg st="2" end="2"/>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wipe(down)">
                                      <p:cBhvr>
                                        <p:cTn id="13" dur="5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down)">
                                      <p:cBhvr>
                                        <p:cTn id="18"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a:spLocks noChangeAspect="1"/>
          </p:cNvSpPr>
          <p:nvPr/>
        </p:nvSpPr>
        <p:spPr>
          <a:xfrm>
            <a:off x="381000" y="50021"/>
            <a:ext cx="2362200" cy="640625"/>
          </a:xfrm>
          <a:prstGeom prst="rect">
            <a:avLst/>
          </a:prstGeom>
        </p:spPr>
        <p:txBody>
          <a:bodyPr wrap="square">
            <a:spAutoFit/>
          </a:bodyPr>
          <a:lstStyle/>
          <a:p>
            <a:pPr>
              <a:lnSpc>
                <a:spcPct val="130000"/>
              </a:lnSpc>
              <a:tabLst>
                <a:tab pos="1188085" algn="l"/>
                <a:tab pos="2163445" algn="l"/>
                <a:tab pos="3142615" algn="l"/>
                <a:tab pos="4190365" algn="l"/>
              </a:tabLst>
            </a:pPr>
            <a:r>
              <a:rPr lang="zh-CN"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zh-CN" altLang="en-US"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易错辨析</a:t>
            </a:r>
            <a:r>
              <a:rPr lang="zh-CN"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a:t>
            </a:r>
            <a:r>
              <a:rPr lang="en-US" altLang="zh-CN" sz="3200" b="1" smtClean="0">
                <a:solidFill>
                  <a:srgbClr val="E88651">
                    <a:lumMod val="75000"/>
                  </a:srgbClr>
                </a:solidFill>
                <a:latin typeface="黑体" panose="02010609060101010101" pitchFamily="49" charset="-122"/>
                <a:ea typeface="方正姚体" panose="02010601030101010101"/>
                <a:cs typeface="方正姚体" panose="02010601030101010101" charset="-122"/>
              </a:rPr>
              <a:t> </a:t>
            </a:r>
            <a:endParaRPr lang="zh-CN" altLang="zh-CN" sz="3200" b="1" dirty="0">
              <a:solidFill>
                <a:srgbClr val="E88651">
                  <a:lumMod val="75000"/>
                </a:srgbClr>
              </a:solidFill>
              <a:latin typeface="黑体" panose="02010609060101010101" pitchFamily="49" charset="-122"/>
              <a:ea typeface="方正姚体" panose="02010601030101010101"/>
              <a:cs typeface="方正姚体" panose="02010601030101010101" charset="-122"/>
            </a:endParaRPr>
          </a:p>
        </p:txBody>
      </p:sp>
      <p:grpSp>
        <p:nvGrpSpPr>
          <p:cNvPr id="10" name="组合 9"/>
          <p:cNvGrpSpPr/>
          <p:nvPr/>
        </p:nvGrpSpPr>
        <p:grpSpPr>
          <a:xfrm>
            <a:off x="62630" y="951672"/>
            <a:ext cx="11748370" cy="4644199"/>
            <a:chOff x="62630" y="951672"/>
            <a:chExt cx="11748370" cy="4644199"/>
          </a:xfrm>
        </p:grpSpPr>
        <p:sp>
          <p:nvSpPr>
            <p:cNvPr id="8" name="矩形 7"/>
            <p:cNvSpPr>
              <a:spLocks noChangeAspect="1"/>
            </p:cNvSpPr>
            <p:nvPr/>
          </p:nvSpPr>
          <p:spPr>
            <a:xfrm>
              <a:off x="381000" y="951672"/>
              <a:ext cx="11430000" cy="3392980"/>
            </a:xfrm>
            <a:prstGeom prst="rect">
              <a:avLst/>
            </a:prstGeom>
          </p:spPr>
          <p:txBody>
            <a:bodyPr>
              <a:spAutoFit/>
            </a:bodyPr>
            <a:lstStyle/>
            <a:p>
              <a:pPr algn="ctr">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两圆的位置关系考虑不全面致误</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【典例】</a:t>
              </a:r>
              <a:r>
                <a:rPr lang="zh-CN" altLang="zh-CN" sz="2800" dirty="0">
                  <a:solidFill>
                    <a:srgbClr val="000000"/>
                  </a:solidFill>
                  <a:effectLst/>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求半径为</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且和直线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相切的圆的方程</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错解</a:t>
              </a:r>
              <a:r>
                <a:rPr lang="en-US" altLang="zh-CN" sz="2800" dirty="0">
                  <a:solidFill>
                    <a:srgbClr val="00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由题意知</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所求圆的圆心为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故可设所求圆的方程为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的圆心</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smtClean="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9" name="对象 8"/>
            <p:cNvGraphicFramePr>
              <a:graphicFrameLocks noChangeAspect="1"/>
            </p:cNvGraphicFramePr>
            <p:nvPr>
              <p:extLst>
                <p:ext uri="{D42A27DB-BD31-4B8C-83A1-F6EECF244321}">
                  <p14:modId xmlns:p14="http://schemas.microsoft.com/office/powerpoint/2010/main" val="3956285697"/>
                </p:ext>
              </p:extLst>
            </p:nvPr>
          </p:nvGraphicFramePr>
          <p:xfrm>
            <a:off x="62630" y="4392099"/>
            <a:ext cx="11430000" cy="1203772"/>
          </p:xfrm>
          <a:graphic>
            <a:graphicData uri="http://schemas.openxmlformats.org/presentationml/2006/ole">
              <mc:AlternateContent xmlns:mc="http://schemas.openxmlformats.org/markup-compatibility/2006">
                <mc:Choice xmlns:v="urn:schemas-microsoft-com:vml" Requires="v">
                  <p:oleObj spid="_x0000_s17421" name="文档" r:id="rId3" imgW="4520786" imgH="476115" progId="Word.Document.12">
                    <p:embed/>
                  </p:oleObj>
                </mc:Choice>
                <mc:Fallback>
                  <p:oleObj name="文档" r:id="rId3" imgW="4520786" imgH="476115" progId="Word.Document.12">
                    <p:embed/>
                    <p:pic>
                      <p:nvPicPr>
                        <p:cNvPr id="0" name=""/>
                        <p:cNvPicPr/>
                        <p:nvPr/>
                      </p:nvPicPr>
                      <p:blipFill>
                        <a:blip r:embed="rId4"/>
                        <a:stretch>
                          <a:fillRect/>
                        </a:stretch>
                      </p:blipFill>
                      <p:spPr>
                        <a:xfrm>
                          <a:off x="62630" y="4392099"/>
                          <a:ext cx="11430000" cy="1203772"/>
                        </a:xfrm>
                        <a:prstGeom prst="rect">
                          <a:avLst/>
                        </a:prstGeom>
                      </p:spPr>
                    </p:pic>
                  </p:oleObj>
                </mc:Fallback>
              </mc:AlternateContent>
            </a:graphicData>
          </a:graphic>
        </p:graphicFrame>
      </p:grpSp>
    </p:spTree>
    <p:extLst>
      <p:ext uri="{BB962C8B-B14F-4D97-AF65-F5344CB8AC3E}">
        <p14:creationId xmlns:p14="http://schemas.microsoft.com/office/powerpoint/2010/main" val="1878284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68172"/>
            <a:ext cx="11430000" cy="5073440"/>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以上解题过程中都有哪些错误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出错的原因是什么</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你如何改正</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你如何防范</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提示</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两圆相切分为内切和外切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与直线相切圆有两个位置</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不要遗漏</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正解</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设所求圆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y-b</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与直线</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且半径为</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则圆心</a:t>
            </a:r>
            <a:r>
              <a:rPr lang="en-US" altLang="zh-CN" sz="2800" i="1" dirty="0">
                <a:solidFill>
                  <a:srgbClr val="000000"/>
                </a:solidFill>
                <a:latin typeface="Times New Roman" panose="02020603050405020304" pitchFamily="18" charset="0"/>
                <a:cs typeface="Times New Roman" panose="02020603050405020304" pitchFamily="18" charset="0"/>
              </a:rPr>
              <a:t>C</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的圆心</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的坐标为</a:t>
            </a:r>
            <a:r>
              <a:rPr lang="en-US" altLang="zh-CN" sz="2800" dirty="0">
                <a:solidFill>
                  <a:srgbClr val="000000"/>
                </a:solidFill>
                <a:latin typeface="Times New Roman" panose="02020603050405020304" pitchFamily="18" charset="0"/>
                <a:cs typeface="Times New Roman" panose="02020603050405020304" pitchFamily="18" charset="0"/>
              </a:rPr>
              <a:t>(2,1),</a:t>
            </a:r>
            <a:r>
              <a:rPr lang="zh-CN" altLang="zh-CN" sz="2800" dirty="0">
                <a:solidFill>
                  <a:srgbClr val="000000"/>
                </a:solidFill>
                <a:latin typeface="Times New Roman" panose="02020603050405020304" pitchFamily="18" charset="0"/>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cs typeface="Times New Roman" panose="02020603050405020304" pitchFamily="18" charset="0"/>
              </a:rPr>
              <a:t>由两圆相切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得</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①</a:t>
            </a:r>
            <a:r>
              <a:rPr lang="zh-CN" altLang="zh-CN" sz="2800" dirty="0">
                <a:solidFill>
                  <a:srgbClr val="000000"/>
                </a:solidFill>
                <a:latin typeface="Times New Roman" panose="02020603050405020304" pitchFamily="18" charset="0"/>
                <a:cs typeface="Times New Roman" panose="02020603050405020304" pitchFamily="18" charset="0"/>
              </a:rPr>
              <a:t>当圆心为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无解</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1990686669"/>
              </p:ext>
            </p:extLst>
          </p:nvPr>
        </p:nvGraphicFramePr>
        <p:xfrm>
          <a:off x="55323" y="5166664"/>
          <a:ext cx="11430000" cy="1203772"/>
        </p:xfrm>
        <a:graphic>
          <a:graphicData uri="http://schemas.openxmlformats.org/presentationml/2006/ole">
            <mc:AlternateContent xmlns:mc="http://schemas.openxmlformats.org/markup-compatibility/2006">
              <mc:Choice xmlns:v="urn:schemas-microsoft-com:vml" Requires="v">
                <p:oleObj spid="_x0000_s18445" name="文档" r:id="rId3" imgW="4520786" imgH="476115" progId="Word.Document.12">
                  <p:embed/>
                </p:oleObj>
              </mc:Choice>
              <mc:Fallback>
                <p:oleObj name="文档" r:id="rId3" imgW="4520786" imgH="476115" progId="Word.Document.12">
                  <p:embed/>
                  <p:pic>
                    <p:nvPicPr>
                      <p:cNvPr id="0" name=""/>
                      <p:cNvPicPr/>
                      <p:nvPr/>
                    </p:nvPicPr>
                    <p:blipFill>
                      <a:blip r:embed="rId4"/>
                      <a:stretch>
                        <a:fillRect/>
                      </a:stretch>
                    </p:blipFill>
                    <p:spPr>
                      <a:xfrm>
                        <a:off x="55323" y="5166664"/>
                        <a:ext cx="11430000" cy="1203772"/>
                      </a:xfrm>
                      <a:prstGeom prst="rect">
                        <a:avLst/>
                      </a:prstGeom>
                    </p:spPr>
                  </p:pic>
                </p:oleObj>
              </mc:Fallback>
            </mc:AlternateContent>
          </a:graphicData>
        </a:graphic>
      </p:graphicFrame>
    </p:spTree>
    <p:extLst>
      <p:ext uri="{BB962C8B-B14F-4D97-AF65-F5344CB8AC3E}">
        <p14:creationId xmlns:p14="http://schemas.microsoft.com/office/powerpoint/2010/main" val="263878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wipe(down)">
                                      <p:cBhvr>
                                        <p:cTn id="12" dur="500"/>
                                        <p:tgtEl>
                                          <p:spTgt spid="2">
                                            <p:txEl>
                                              <p:pRg st="2" end="2"/>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wipe(down)">
                                      <p:cBhvr>
                                        <p:cTn id="15" dur="500"/>
                                        <p:tgtEl>
                                          <p:spTgt spid="2">
                                            <p:txEl>
                                              <p:pRg st="3" end="3"/>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par>
                                <p:cTn id="19" presetID="22" presetClass="entr" presetSubtype="4" fill="hold" nodeType="with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wipe(down)">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81000" y="506992"/>
            <a:ext cx="11442526" cy="5340661"/>
            <a:chOff x="381000" y="469414"/>
            <a:chExt cx="11442526" cy="5340661"/>
          </a:xfrm>
        </p:grpSpPr>
        <p:sp>
          <p:nvSpPr>
            <p:cNvPr id="2" name="矩形 1"/>
            <p:cNvSpPr>
              <a:spLocks noChangeAspect="1"/>
            </p:cNvSpPr>
            <p:nvPr/>
          </p:nvSpPr>
          <p:spPr>
            <a:xfrm>
              <a:off x="381000" y="469414"/>
              <a:ext cx="11430000" cy="115236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②</a:t>
              </a:r>
              <a:r>
                <a:rPr lang="zh-CN" altLang="zh-CN" sz="2800" dirty="0">
                  <a:solidFill>
                    <a:srgbClr val="000000"/>
                  </a:solidFill>
                  <a:latin typeface="Times New Roman" panose="02020603050405020304" pitchFamily="18" charset="0"/>
                  <a:cs typeface="Times New Roman" panose="02020603050405020304" pitchFamily="18" charset="0"/>
                </a:rPr>
                <a:t>当圆心为</a:t>
              </a:r>
              <a:r>
                <a:rPr lang="en-US" altLang="zh-CN" sz="2800" i="1" dirty="0">
                  <a:solidFill>
                    <a:srgbClr val="000000"/>
                  </a:solidFill>
                  <a:latin typeface="Times New Roman" panose="02020603050405020304" pitchFamily="18" charset="0"/>
                  <a:cs typeface="Times New Roman" panose="02020603050405020304" pitchFamily="18" charset="0"/>
                </a:rPr>
                <a:t>C</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时</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|CA|</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4</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dirty="0" smtClean="0">
                  <a:solidFill>
                    <a:srgbClr val="000000"/>
                  </a:solidFill>
                  <a:latin typeface="Times New Roman" panose="02020603050405020304" pitchFamily="18" charset="0"/>
                  <a:cs typeface="Times New Roman" panose="02020603050405020304" pitchFamily="18" charset="0"/>
                </a:rPr>
                <a:t>1</a:t>
              </a:r>
              <a:r>
                <a:rPr lang="en-US" altLang="zh-CN" sz="2800" baseline="30000" dirty="0" smtClean="0">
                  <a:solidFill>
                    <a:srgbClr val="000000"/>
                  </a:solidFill>
                  <a:latin typeface="Times New Roman" panose="02020603050405020304" pitchFamily="18" charset="0"/>
                  <a:cs typeface="Times New Roman" panose="02020603050405020304" pitchFamily="18" charset="0"/>
                </a:rPr>
                <a:t>2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无解</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273653679"/>
                </p:ext>
              </p:extLst>
            </p:nvPr>
          </p:nvGraphicFramePr>
          <p:xfrm>
            <a:off x="393526" y="1669754"/>
            <a:ext cx="11430000" cy="2407547"/>
          </p:xfrm>
          <a:graphic>
            <a:graphicData uri="http://schemas.openxmlformats.org/presentationml/2006/ole">
              <mc:AlternateContent xmlns:mc="http://schemas.openxmlformats.org/markup-compatibility/2006">
                <mc:Choice xmlns:v="urn:schemas-microsoft-com:vml" Requires="v">
                  <p:oleObj spid="_x0000_s19469" name="文档" r:id="rId3" imgW="4520786" imgH="952231" progId="Word.Document.12">
                    <p:embed/>
                  </p:oleObj>
                </mc:Choice>
                <mc:Fallback>
                  <p:oleObj name="文档" r:id="rId3" imgW="4520786" imgH="952231" progId="Word.Document.12">
                    <p:embed/>
                    <p:pic>
                      <p:nvPicPr>
                        <p:cNvPr id="0" name=""/>
                        <p:cNvPicPr/>
                        <p:nvPr/>
                      </p:nvPicPr>
                      <p:blipFill>
                        <a:blip r:embed="rId4"/>
                        <a:stretch>
                          <a:fillRect/>
                        </a:stretch>
                      </p:blipFill>
                      <p:spPr>
                        <a:xfrm>
                          <a:off x="393526" y="1669754"/>
                          <a:ext cx="11430000" cy="2407547"/>
                        </a:xfrm>
                        <a:prstGeom prst="rect">
                          <a:avLst/>
                        </a:prstGeom>
                      </p:spPr>
                    </p:pic>
                  </p:oleObj>
                </mc:Fallback>
              </mc:AlternateContent>
            </a:graphicData>
          </a:graphic>
        </p:graphicFrame>
        <p:sp>
          <p:nvSpPr>
            <p:cNvPr id="6" name="矩形 5"/>
            <p:cNvSpPr>
              <a:spLocks noChangeAspect="1"/>
            </p:cNvSpPr>
            <p:nvPr/>
          </p:nvSpPr>
          <p:spPr>
            <a:xfrm>
              <a:off x="381000" y="4097555"/>
              <a:ext cx="11430000" cy="1712520"/>
            </a:xfrm>
            <a:prstGeom prst="rect">
              <a:avLst/>
            </a:prstGeom>
          </p:spPr>
          <p:txBody>
            <a:bodyPr>
              <a:spAutoFit/>
            </a:bodyPr>
            <a:lstStyle/>
            <a:p>
              <a:pPr indent="279400">
                <a:lnSpc>
                  <a:spcPct val="130000"/>
                </a:lnSpc>
                <a:tabLst>
                  <a:tab pos="1188085" algn="l"/>
                  <a:tab pos="2163445" algn="l"/>
                  <a:tab pos="3142615" algn="l"/>
                  <a:tab pos="4190365" algn="l"/>
                </a:tabLst>
              </a:pPr>
              <a:r>
                <a:rPr lang="zh-CN" altLang="en-US"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防范措施</a:t>
              </a:r>
              <a:r>
                <a:rPr lang="en-US"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 </a:t>
              </a:r>
              <a:r>
                <a:rPr lang="zh-CN" altLang="zh-CN" sz="2800" dirty="0" smtClean="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两</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圆相切包括外切与内切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当两圆外切时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圆心距等于两半径之和</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当两圆内切时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圆心距等于两半径差的绝对值</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当题目中没有说明是内切还是外切时</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要分两种情况进行讨论</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解决两圆相切问题</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仿宋" panose="02010609060101010101" pitchFamily="49" charset="-122"/>
                  <a:cs typeface="Times New Roman" panose="02020603050405020304" pitchFamily="18" charset="0"/>
                </a:rPr>
                <a:t>常用几何法</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pSp>
    </p:spTree>
    <p:extLst>
      <p:ext uri="{BB962C8B-B14F-4D97-AF65-F5344CB8AC3E}">
        <p14:creationId xmlns:p14="http://schemas.microsoft.com/office/powerpoint/2010/main" val="26628909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7784"/>
            <a:ext cx="11430000" cy="4513287"/>
          </a:xfrm>
          <a:prstGeom prst="rect">
            <a:avLst/>
          </a:prstGeom>
        </p:spPr>
        <p:txBody>
          <a:bodyPr>
            <a:spAutoFit/>
          </a:bodyPr>
          <a:lstStyle/>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Arial" panose="020B0604020202020204" pitchFamily="34" charset="0"/>
                <a:ea typeface="黑体" panose="02010609060101010101" pitchFamily="49" charset="-122"/>
                <a:cs typeface="Times New Roman" panose="02020603050405020304" pitchFamily="18" charset="0"/>
              </a:rPr>
              <a:t>【变式训练】</a:t>
            </a:r>
            <a:r>
              <a:rPr lang="zh-CN" altLang="zh-CN" sz="2800" dirty="0">
                <a:solidFill>
                  <a:srgbClr val="000000"/>
                </a:solidFill>
                <a:latin typeface="NEU-BZ-S92"/>
                <a:ea typeface="Arial" panose="020B0604020202020204" pitchFamily="34" charset="0"/>
                <a:cs typeface="Times New Roman" panose="02020603050405020304" pitchFamily="18" charset="0"/>
              </a:rPr>
              <a:t> </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圆心距为</a:t>
            </a:r>
            <a:r>
              <a:rPr lang="en-US" altLang="zh-CN" sz="2800" dirty="0">
                <a:solidFill>
                  <a:srgbClr val="000000"/>
                </a:solidFill>
                <a:latin typeface="Times New Roman" panose="02020603050405020304" pitchFamily="18" charset="0"/>
                <a:cs typeface="Times New Roman" panose="02020603050405020304" pitchFamily="18" charset="0"/>
              </a:rPr>
              <a:t>10 cm,</a:t>
            </a:r>
            <a:r>
              <a:rPr lang="zh-CN" altLang="zh-CN" sz="2800" dirty="0">
                <a:solidFill>
                  <a:srgbClr val="000000"/>
                </a:solidFill>
                <a:latin typeface="Times New Roman" panose="02020603050405020304" pitchFamily="18" charset="0"/>
                <a:cs typeface="Times New Roman" panose="02020603050405020304" pitchFamily="18" charset="0"/>
              </a:rPr>
              <a:t>其中圆</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的半径为</a:t>
            </a:r>
            <a:r>
              <a:rPr lang="en-US" altLang="zh-CN" sz="2800" dirty="0">
                <a:solidFill>
                  <a:srgbClr val="000000"/>
                </a:solidFill>
                <a:latin typeface="Times New Roman" panose="02020603050405020304" pitchFamily="18" charset="0"/>
                <a:cs typeface="Times New Roman" panose="02020603050405020304" pitchFamily="18" charset="0"/>
              </a:rPr>
              <a:t>4 cm,</a:t>
            </a:r>
            <a:r>
              <a:rPr lang="zh-CN" altLang="zh-CN" sz="2800" dirty="0">
                <a:solidFill>
                  <a:srgbClr val="000000"/>
                </a:solidFill>
                <a:latin typeface="Times New Roman" panose="02020603050405020304" pitchFamily="18" charset="0"/>
                <a:cs typeface="Times New Roman" panose="02020603050405020304" pitchFamily="18" charset="0"/>
              </a:rPr>
              <a:t>则圆</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cs typeface="Times New Roman" panose="02020603050405020304" pitchFamily="18" charset="0"/>
              </a:rPr>
              <a:t>的半径为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A.6 cm</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14 cm	B.10 cm</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C.14 cm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无解</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设圆</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的半径为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cm,</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B</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相切包括内切与外切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+r</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10</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14</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indent="279400">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48831894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4" end="4"/>
                                            </p:txEl>
                                          </p:spTgt>
                                        </p:tgtEl>
                                        <p:attrNameLst>
                                          <p:attrName>style.visibility</p:attrName>
                                        </p:attrNameLst>
                                      </p:cBhvr>
                                      <p:to>
                                        <p:strVal val="visible"/>
                                      </p:to>
                                    </p:set>
                                    <p:animEffect transition="in" filter="wipe(down)">
                                      <p:cBhvr>
                                        <p:cTn id="10" dur="500"/>
                                        <p:tgtEl>
                                          <p:spTgt spid="2">
                                            <p:txEl>
                                              <p:pRg st="4" end="4"/>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5" end="5"/>
                                            </p:txEl>
                                          </p:spTgt>
                                        </p:tgtEl>
                                        <p:attrNameLst>
                                          <p:attrName>style.visibility</p:attrName>
                                        </p:attrNameLst>
                                      </p:cBhvr>
                                      <p:to>
                                        <p:strVal val="visible"/>
                                      </p:to>
                                    </p:set>
                                    <p:animEffect transition="in" filter="wipe(down)">
                                      <p:cBhvr>
                                        <p:cTn id="13" dur="500"/>
                                        <p:tgtEl>
                                          <p:spTgt spid="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6" end="6"/>
                                            </p:txEl>
                                          </p:spTgt>
                                        </p:tgtEl>
                                        <p:attrNameLst>
                                          <p:attrName>style.visibility</p:attrName>
                                        </p:attrNameLst>
                                      </p:cBhvr>
                                      <p:to>
                                        <p:strVal val="visible"/>
                                      </p:to>
                                    </p:set>
                                    <p:animEffect transition="in" filter="wipe(down)">
                                      <p:cBhvr>
                                        <p:cTn id="18" dur="500"/>
                                        <p:tgtEl>
                                          <p:spTgt spid="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617835" y="2558415"/>
            <a:ext cx="1105802" cy="815646"/>
            <a:chOff x="-1604504" y="2147667"/>
            <a:chExt cx="3687215" cy="2719712"/>
          </a:xfrm>
        </p:grpSpPr>
        <p:cxnSp>
          <p:nvCxnSpPr>
            <p:cNvPr id="7" name="直接连接符 6"/>
            <p:cNvCxnSpPr/>
            <p:nvPr/>
          </p:nvCxnSpPr>
          <p:spPr>
            <a:xfrm flipH="1">
              <a:off x="-1604504" y="2687623"/>
              <a:ext cx="2592288" cy="2179756"/>
            </a:xfrm>
            <a:prstGeom prst="line">
              <a:avLst/>
            </a:prstGeom>
            <a:noFill/>
            <a:ln w="76200" cap="flat" cmpd="sng" algn="ctr">
              <a:solidFill>
                <a:schemeClr val="tx2">
                  <a:lumMod val="50000"/>
                </a:schemeClr>
              </a:solidFill>
              <a:prstDash val="solid"/>
            </a:ln>
            <a:effectLst/>
          </p:spPr>
        </p:cxnSp>
        <p:cxnSp>
          <p:nvCxnSpPr>
            <p:cNvPr id="8" name="直接连接符 7"/>
            <p:cNvCxnSpPr/>
            <p:nvPr/>
          </p:nvCxnSpPr>
          <p:spPr>
            <a:xfrm flipH="1">
              <a:off x="-509577" y="2147667"/>
              <a:ext cx="2592288" cy="2179756"/>
            </a:xfrm>
            <a:prstGeom prst="line">
              <a:avLst/>
            </a:prstGeom>
            <a:noFill/>
            <a:ln w="12700" cap="flat" cmpd="sng" algn="ctr">
              <a:solidFill>
                <a:schemeClr val="tx2">
                  <a:lumMod val="50000"/>
                </a:schemeClr>
              </a:solidFill>
              <a:prstDash val="solid"/>
            </a:ln>
            <a:effectLst/>
          </p:spPr>
        </p:cxnSp>
      </p:grpSp>
      <p:grpSp>
        <p:nvGrpSpPr>
          <p:cNvPr id="9" name="组合 8"/>
          <p:cNvGrpSpPr/>
          <p:nvPr/>
        </p:nvGrpSpPr>
        <p:grpSpPr>
          <a:xfrm flipH="1" flipV="1">
            <a:off x="8334801" y="2587481"/>
            <a:ext cx="1105803" cy="815646"/>
            <a:chOff x="-1604504" y="2147667"/>
            <a:chExt cx="3687215" cy="2719712"/>
          </a:xfrm>
        </p:grpSpPr>
        <p:cxnSp>
          <p:nvCxnSpPr>
            <p:cNvPr id="10" name="直接连接符 9"/>
            <p:cNvCxnSpPr/>
            <p:nvPr/>
          </p:nvCxnSpPr>
          <p:spPr>
            <a:xfrm flipH="1">
              <a:off x="-1604504" y="2687623"/>
              <a:ext cx="2592288" cy="2179756"/>
            </a:xfrm>
            <a:prstGeom prst="line">
              <a:avLst/>
            </a:prstGeom>
            <a:noFill/>
            <a:ln w="76200" cap="flat" cmpd="sng" algn="ctr">
              <a:solidFill>
                <a:sysClr val="windowText" lastClr="000000">
                  <a:lumMod val="85000"/>
                  <a:lumOff val="15000"/>
                </a:sysClr>
              </a:solidFill>
              <a:prstDash val="solid"/>
            </a:ln>
            <a:effectLst/>
          </p:spPr>
        </p:cxnSp>
        <p:cxnSp>
          <p:nvCxnSpPr>
            <p:cNvPr id="11" name="直接连接符 10"/>
            <p:cNvCxnSpPr/>
            <p:nvPr/>
          </p:nvCxnSpPr>
          <p:spPr>
            <a:xfrm flipH="1">
              <a:off x="-509577" y="2147667"/>
              <a:ext cx="2592288" cy="2179756"/>
            </a:xfrm>
            <a:prstGeom prst="line">
              <a:avLst/>
            </a:prstGeom>
            <a:noFill/>
            <a:ln w="12700" cap="flat" cmpd="sng" algn="ctr">
              <a:solidFill>
                <a:sysClr val="windowText" lastClr="000000">
                  <a:lumMod val="85000"/>
                  <a:lumOff val="15000"/>
                </a:sysClr>
              </a:solidFill>
              <a:prstDash val="solid"/>
            </a:ln>
            <a:effectLst/>
          </p:spPr>
        </p:cxnSp>
      </p:grpSp>
      <p:sp>
        <p:nvSpPr>
          <p:cNvPr id="12" name="文本框 11"/>
          <p:cNvSpPr txBox="1"/>
          <p:nvPr/>
        </p:nvSpPr>
        <p:spPr>
          <a:xfrm>
            <a:off x="3612492" y="2507615"/>
            <a:ext cx="4587875" cy="922020"/>
          </a:xfrm>
          <a:prstGeom prst="rect">
            <a:avLst/>
          </a:prstGeom>
          <a:noFill/>
        </p:spPr>
        <p:txBody>
          <a:bodyPr wrap="square" rtlCol="0">
            <a:spAutoFit/>
          </a:bodyPr>
          <a:lstStyle/>
          <a:p>
            <a:pPr algn="ctr"/>
            <a:r>
              <a:rPr lang="zh-CN" altLang="en-US" sz="5400" b="1" dirty="0" smtClean="0">
                <a:solidFill>
                  <a:srgbClr val="4D4D4D"/>
                </a:solidFill>
                <a:latin typeface="方正姚体" panose="02010601030101010101" charset="-122"/>
                <a:ea typeface="方正姚体" panose="02010601030101010101" charset="-122"/>
                <a:cs typeface="隶书" panose="02010509060101010101" pitchFamily="49" charset="-122"/>
                <a:sym typeface="+mn-ea"/>
              </a:rPr>
              <a:t>随堂练习</a:t>
            </a:r>
            <a:endParaRPr lang="zh-CN" altLang="en-US" sz="5400" b="1" dirty="0">
              <a:solidFill>
                <a:srgbClr val="4D4D4D"/>
              </a:solidFill>
              <a:latin typeface="方正姚体" panose="02010601030101010101" charset="-122"/>
              <a:ea typeface="方正姚体" panose="02010601030101010101" charset="-122"/>
              <a:cs typeface="隶书" panose="02010509060101010101" pitchFamily="49" charset="-122"/>
              <a:sym typeface="+mn-ea"/>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56976"/>
            <a:ext cx="11430000" cy="687258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1</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latin typeface="Times New Roman" panose="02020603050405020304" pitchFamily="18" charset="0"/>
                <a:cs typeface="Times New Roman" panose="02020603050405020304" pitchFamily="18" charset="0"/>
              </a:rPr>
              <a:t>的位置关系是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zh-CN" altLang="zh-CN" sz="2800" dirty="0">
                <a:solidFill>
                  <a:srgbClr val="000000"/>
                </a:solidFill>
                <a:latin typeface="Times New Roman" panose="02020603050405020304" pitchFamily="18" charset="0"/>
                <a:cs typeface="Times New Roman" panose="02020603050405020304" pitchFamily="18" charset="0"/>
              </a:rPr>
              <a:t>外离</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B</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相交</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内切</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的圆心为</a:t>
            </a:r>
            <a:r>
              <a:rPr lang="en-US" altLang="zh-CN" sz="2800" dirty="0">
                <a:solidFill>
                  <a:srgbClr val="000000"/>
                </a:solidFill>
                <a:latin typeface="Times New Roman" panose="02020603050405020304" pitchFamily="18" charset="0"/>
                <a:cs typeface="Times New Roman" panose="02020603050405020304" pitchFamily="18" charset="0"/>
              </a:rPr>
              <a:t>(1,0),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0</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的圆心为</a:t>
            </a:r>
            <a:r>
              <a:rPr lang="en-US" altLang="zh-CN" sz="2800" dirty="0">
                <a:solidFill>
                  <a:srgbClr val="000000"/>
                </a:solidFill>
                <a:latin typeface="Times New Roman" panose="02020603050405020304" pitchFamily="18" charset="0"/>
                <a:cs typeface="Times New Roman" panose="02020603050405020304" pitchFamily="18" charset="0"/>
              </a:rPr>
              <a:t>(0,</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圆心距</a:t>
            </a:r>
            <a:r>
              <a:rPr lang="zh-CN"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为</a:t>
            </a:r>
            <a:r>
              <a:rPr lang="en-US" altLang="zh-CN" sz="2800" dirty="0" smtClean="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i="1" dirty="0" smtClean="0">
                <a:solidFill>
                  <a:srgbClr val="000000"/>
                </a:solidFill>
                <a:latin typeface="Times New Roman" panose="02020603050405020304" pitchFamily="18" charset="0"/>
                <a:cs typeface="Times New Roman" panose="02020603050405020304" pitchFamily="18" charset="0"/>
              </a:rPr>
              <a:t>&lt;      &lt;</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两圆相交</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两圆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外切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则正实数</a:t>
            </a:r>
            <a:r>
              <a:rPr lang="en-US" altLang="zh-CN" sz="2800" i="1" dirty="0">
                <a:solidFill>
                  <a:srgbClr val="000000"/>
                </a:solidFill>
                <a:latin typeface="Times New Roman" panose="02020603050405020304" pitchFamily="18" charset="0"/>
                <a:cs typeface="Times New Roman" panose="02020603050405020304" pitchFamily="18" charset="0"/>
              </a:rPr>
              <a:t>r</a:t>
            </a:r>
            <a:r>
              <a:rPr lang="zh-CN" altLang="zh-CN" sz="2800" dirty="0">
                <a:solidFill>
                  <a:srgbClr val="000000"/>
                </a:solidFill>
                <a:latin typeface="Times New Roman" panose="02020603050405020304" pitchFamily="18" charset="0"/>
                <a:cs typeface="Times New Roman" panose="02020603050405020304" pitchFamily="18" charset="0"/>
              </a:rPr>
              <a:t>的值为</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A.1	</a:t>
            </a:r>
            <a:r>
              <a:rPr lang="en-US" altLang="zh-CN" sz="2800" dirty="0" smtClean="0">
                <a:solidFill>
                  <a:srgbClr val="000000"/>
                </a:solidFill>
                <a:latin typeface="Times New Roman" panose="02020603050405020304" pitchFamily="18" charset="0"/>
                <a:cs typeface="Times New Roman" panose="02020603050405020304" pitchFamily="18" charset="0"/>
              </a:rPr>
              <a:t>	B.2</a:t>
            </a:r>
            <a:r>
              <a:rPr lang="en-US" altLang="zh-CN" sz="2800" dirty="0">
                <a:solidFill>
                  <a:srgbClr val="000000"/>
                </a:solidFill>
                <a:latin typeface="Times New Roman" panose="02020603050405020304" pitchFamily="18" charset="0"/>
                <a:cs typeface="Times New Roman" panose="02020603050405020304" pitchFamily="18" charset="0"/>
              </a:rPr>
              <a:t>	</a:t>
            </a:r>
            <a:endParaRPr lang="en-US" altLang="zh-CN" sz="2800" dirty="0" smtClean="0">
              <a:solidFill>
                <a:srgbClr val="000000"/>
              </a:solidFill>
              <a:latin typeface="Times New Roman" panose="02020603050405020304" pitchFamily="18" charset="0"/>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smtClean="0">
                <a:solidFill>
                  <a:srgbClr val="000000"/>
                </a:solidFill>
                <a:latin typeface="Times New Roman" panose="02020603050405020304" pitchFamily="18" charset="0"/>
                <a:cs typeface="Times New Roman" panose="02020603050405020304" pitchFamily="18" charset="0"/>
              </a:rPr>
              <a:t>C.3</a:t>
            </a:r>
            <a:r>
              <a:rPr lang="en-US" altLang="zh-CN" sz="2800" dirty="0">
                <a:solidFill>
                  <a:srgbClr val="000000"/>
                </a:solidFill>
                <a:latin typeface="Times New Roman" panose="02020603050405020304" pitchFamily="18" charset="0"/>
                <a:cs typeface="Times New Roman" panose="02020603050405020304" pitchFamily="18" charset="0"/>
              </a:rPr>
              <a:t>	</a:t>
            </a:r>
            <a:r>
              <a:rPr lang="en-US" altLang="zh-CN" sz="2800" dirty="0" smtClean="0">
                <a:solidFill>
                  <a:srgbClr val="000000"/>
                </a:solidFill>
                <a:latin typeface="Times New Roman" panose="02020603050405020304" pitchFamily="18" charset="0"/>
                <a:cs typeface="Times New Roman" panose="02020603050405020304" pitchFamily="18" charset="0"/>
              </a:rPr>
              <a:t>	D.4</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显然两圆心的距离</a:t>
            </a:r>
            <a:r>
              <a:rPr lang="en-US" altLang="zh-CN" sz="2800" i="1" dirty="0">
                <a:solidFill>
                  <a:srgbClr val="000000"/>
                </a:solidFill>
                <a:latin typeface="Times New Roman" panose="02020603050405020304" pitchFamily="18" charset="0"/>
                <a:cs typeface="Times New Roman" panose="02020603050405020304" pitchFamily="18" charset="0"/>
              </a:rPr>
              <a:t>d=</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两圆外切</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NEU-BZ-S92"/>
                <a:cs typeface="宋体" panose="02010600030101010101" pitchFamily="2" charset="-122"/>
              </a:rPr>
              <a:t>∴</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C</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2538787750"/>
              </p:ext>
            </p:extLst>
          </p:nvPr>
        </p:nvGraphicFramePr>
        <p:xfrm>
          <a:off x="2739386" y="2354024"/>
          <a:ext cx="673100" cy="533400"/>
        </p:xfrm>
        <a:graphic>
          <a:graphicData uri="http://schemas.openxmlformats.org/presentationml/2006/ole">
            <mc:AlternateContent xmlns:mc="http://schemas.openxmlformats.org/markup-compatibility/2006">
              <mc:Choice xmlns:v="urn:schemas-microsoft-com:vml" Requires="v">
                <p:oleObj spid="_x0000_s20504" name="文档" r:id="rId3" imgW="271708" imgH="211206" progId="Word.Document.12">
                  <p:embed/>
                </p:oleObj>
              </mc:Choice>
              <mc:Fallback>
                <p:oleObj name="文档" r:id="rId3" imgW="271708" imgH="211206" progId="Word.Document.12">
                  <p:embed/>
                  <p:pic>
                    <p:nvPicPr>
                      <p:cNvPr id="0" name=""/>
                      <p:cNvPicPr/>
                      <p:nvPr/>
                    </p:nvPicPr>
                    <p:blipFill>
                      <a:blip r:embed="rId4"/>
                      <a:stretch>
                        <a:fillRect/>
                      </a:stretch>
                    </p:blipFill>
                    <p:spPr>
                      <a:xfrm>
                        <a:off x="2739386" y="2354024"/>
                        <a:ext cx="673100" cy="53340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71396519"/>
              </p:ext>
            </p:extLst>
          </p:nvPr>
        </p:nvGraphicFramePr>
        <p:xfrm>
          <a:off x="4405348" y="2354024"/>
          <a:ext cx="673100" cy="533400"/>
        </p:xfrm>
        <a:graphic>
          <a:graphicData uri="http://schemas.openxmlformats.org/presentationml/2006/ole">
            <mc:AlternateContent xmlns:mc="http://schemas.openxmlformats.org/markup-compatibility/2006">
              <mc:Choice xmlns:v="urn:schemas-microsoft-com:vml" Requires="v">
                <p:oleObj spid="_x0000_s20505" name="文档" r:id="rId5" imgW="271708" imgH="211206" progId="Word.Document.12">
                  <p:embed/>
                </p:oleObj>
              </mc:Choice>
              <mc:Fallback>
                <p:oleObj name="文档" r:id="rId5" imgW="271708" imgH="211206" progId="Word.Document.12">
                  <p:embed/>
                  <p:pic>
                    <p:nvPicPr>
                      <p:cNvPr id="0" name=""/>
                      <p:cNvPicPr/>
                      <p:nvPr/>
                    </p:nvPicPr>
                    <p:blipFill>
                      <a:blip r:embed="rId4"/>
                      <a:stretch>
                        <a:fillRect/>
                      </a:stretch>
                    </p:blipFill>
                    <p:spPr>
                      <a:xfrm>
                        <a:off x="4405348" y="2354024"/>
                        <a:ext cx="673100" cy="533400"/>
                      </a:xfrm>
                      <a:prstGeom prst="rect">
                        <a:avLst/>
                      </a:prstGeom>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ipe(down)">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4" end="4"/>
                                            </p:txEl>
                                          </p:spTgt>
                                        </p:tgtEl>
                                        <p:attrNameLst>
                                          <p:attrName>style.visibility</p:attrName>
                                        </p:attrNameLst>
                                      </p:cBhvr>
                                      <p:to>
                                        <p:strVal val="visible"/>
                                      </p:to>
                                    </p:set>
                                    <p:animEffect transition="in" filter="wipe(down)">
                                      <p:cBhvr>
                                        <p:cTn id="18" dur="500"/>
                                        <p:tgtEl>
                                          <p:spTgt spid="2">
                                            <p:txEl>
                                              <p:pRg st="4" end="4"/>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animEffect transition="in" filter="wipe(down)">
                                      <p:cBhvr>
                                        <p:cTn id="23" dur="500"/>
                                        <p:tgtEl>
                                          <p:spTgt spid="2">
                                            <p:txEl>
                                              <p:pRg st="8" end="8"/>
                                            </p:txEl>
                                          </p:spTgt>
                                        </p:tgtEl>
                                      </p:cBhvr>
                                    </p:animEffect>
                                  </p:childTnLst>
                                </p:cTn>
                              </p:par>
                              <p:par>
                                <p:cTn id="24" presetID="22" presetClass="entr" presetSubtype="4" fill="hold" nodeType="withEffect">
                                  <p:stCondLst>
                                    <p:cond delay="0"/>
                                  </p:stCondLst>
                                  <p:childTnLst>
                                    <p:set>
                                      <p:cBhvr>
                                        <p:cTn id="25" dur="1" fill="hold">
                                          <p:stCondLst>
                                            <p:cond delay="0"/>
                                          </p:stCondLst>
                                        </p:cTn>
                                        <p:tgtEl>
                                          <p:spTgt spid="2">
                                            <p:txEl>
                                              <p:pRg st="9" end="9"/>
                                            </p:txEl>
                                          </p:spTgt>
                                        </p:tgtEl>
                                        <p:attrNameLst>
                                          <p:attrName>style.visibility</p:attrName>
                                        </p:attrNameLst>
                                      </p:cBhvr>
                                      <p:to>
                                        <p:strVal val="visible"/>
                                      </p:to>
                                    </p:set>
                                    <p:animEffect transition="in" filter="wipe(down)">
                                      <p:cBhvr>
                                        <p:cTn id="26" dur="500"/>
                                        <p:tgtEl>
                                          <p:spTgt spid="2">
                                            <p:txEl>
                                              <p:pRg st="9" end="9"/>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nodeType="clickEffect">
                                  <p:stCondLst>
                                    <p:cond delay="0"/>
                                  </p:stCondLst>
                                  <p:childTnLst>
                                    <p:set>
                                      <p:cBhvr>
                                        <p:cTn id="30" dur="1" fill="hold">
                                          <p:stCondLst>
                                            <p:cond delay="0"/>
                                          </p:stCondLst>
                                        </p:cTn>
                                        <p:tgtEl>
                                          <p:spTgt spid="2">
                                            <p:txEl>
                                              <p:pRg st="10" end="10"/>
                                            </p:txEl>
                                          </p:spTgt>
                                        </p:tgtEl>
                                        <p:attrNameLst>
                                          <p:attrName>style.visibility</p:attrName>
                                        </p:attrNameLst>
                                      </p:cBhvr>
                                      <p:to>
                                        <p:strVal val="visible"/>
                                      </p:to>
                                    </p:set>
                                    <p:animEffect transition="in" filter="wipe(down)">
                                      <p:cBhvr>
                                        <p:cTn id="31"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289705"/>
            <a:ext cx="11430000" cy="5633593"/>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已知半径为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的动圆与圆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zh-CN" altLang="zh-CN" sz="2800" dirty="0">
                <a:solidFill>
                  <a:srgbClr val="000000"/>
                </a:solidFill>
                <a:latin typeface="Times New Roman" panose="02020603050405020304" pitchFamily="18" charset="0"/>
                <a:cs typeface="Times New Roman" panose="02020603050405020304" pitchFamily="18" charset="0"/>
              </a:rPr>
              <a:t>相切</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则动圆圆心的轨迹方程是</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i="1" dirty="0">
                <a:solidFill>
                  <a:srgbClr val="000000"/>
                </a:solidFill>
                <a:latin typeface="Times New Roman" panose="02020603050405020304" pitchFamily="18" charset="0"/>
                <a:cs typeface="Times New Roman" panose="02020603050405020304" pitchFamily="18" charset="0"/>
              </a:rPr>
              <a:t>　　</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A.(</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B.(</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17</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15</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C.(</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D.(</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半径为</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的动圆与圆</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相切</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动圆圆心到定圆圆心</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7)</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的距离为</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dirty="0" smtClean="0">
                <a:solidFill>
                  <a:srgbClr val="000000"/>
                </a:solidFill>
                <a:latin typeface="Times New Roman" panose="02020603050405020304" pitchFamily="18" charset="0"/>
                <a:cs typeface="Times New Roman" panose="02020603050405020304" pitchFamily="18" charset="0"/>
              </a:rPr>
              <a:t>,</a:t>
            </a:r>
          </a:p>
          <a:p>
            <a:pPr>
              <a:lnSpc>
                <a:spcPct val="130000"/>
              </a:lnSpc>
              <a:spcAft>
                <a:spcPts val="0"/>
              </a:spcAft>
              <a:tabLst>
                <a:tab pos="1188085" algn="l"/>
                <a:tab pos="2163445" algn="l"/>
                <a:tab pos="3142615" algn="l"/>
                <a:tab pos="4190365" algn="l"/>
              </a:tabLst>
            </a:pPr>
            <a:r>
              <a:rPr lang="zh-CN" altLang="zh-CN" sz="2800" dirty="0" smtClean="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动圆圆心的轨迹方程为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25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5)</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7)</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D</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238252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Effect transition="in" filter="wipe(down)">
                                      <p:cBhvr>
                                        <p:cTn id="7" dur="500"/>
                                        <p:tgtEl>
                                          <p:spTgt spid="2">
                                            <p:txEl>
                                              <p:pRg st="5" end="5"/>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2">
                                            <p:txEl>
                                              <p:pRg st="6" end="6"/>
                                            </p:txEl>
                                          </p:spTgt>
                                        </p:tgtEl>
                                        <p:attrNameLst>
                                          <p:attrName>style.visibility</p:attrName>
                                        </p:attrNameLst>
                                      </p:cBhvr>
                                      <p:to>
                                        <p:strVal val="visible"/>
                                      </p:to>
                                    </p:set>
                                    <p:animEffect transition="in" filter="wipe(down)">
                                      <p:cBhvr>
                                        <p:cTn id="10" dur="500"/>
                                        <p:tgtEl>
                                          <p:spTgt spid="2">
                                            <p:txEl>
                                              <p:pRg st="6" end="6"/>
                                            </p:txEl>
                                          </p:spTgt>
                                        </p:tgtEl>
                                      </p:cBhvr>
                                    </p:animEffect>
                                  </p:childTnLst>
                                </p:cTn>
                              </p:par>
                              <p:par>
                                <p:cTn id="11" presetID="22" presetClass="entr" presetSubtype="4" fill="hold" nodeType="withEffect">
                                  <p:stCondLst>
                                    <p:cond delay="0"/>
                                  </p:stCondLst>
                                  <p:childTnLst>
                                    <p:set>
                                      <p:cBhvr>
                                        <p:cTn id="12" dur="1" fill="hold">
                                          <p:stCondLst>
                                            <p:cond delay="0"/>
                                          </p:stCondLst>
                                        </p:cTn>
                                        <p:tgtEl>
                                          <p:spTgt spid="2">
                                            <p:txEl>
                                              <p:pRg st="7" end="7"/>
                                            </p:txEl>
                                          </p:spTgt>
                                        </p:tgtEl>
                                        <p:attrNameLst>
                                          <p:attrName>style.visibility</p:attrName>
                                        </p:attrNameLst>
                                      </p:cBhvr>
                                      <p:to>
                                        <p:strVal val="visible"/>
                                      </p:to>
                                    </p:set>
                                    <p:animEffect transition="in" filter="wipe(down)">
                                      <p:cBhvr>
                                        <p:cTn id="13" dur="500"/>
                                        <p:tgtEl>
                                          <p:spTgt spid="2">
                                            <p:txEl>
                                              <p:pRg st="7" end="7"/>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2">
                                            <p:txEl>
                                              <p:pRg st="8" end="8"/>
                                            </p:txEl>
                                          </p:spTgt>
                                        </p:tgtEl>
                                        <p:attrNameLst>
                                          <p:attrName>style.visibility</p:attrName>
                                        </p:attrNameLst>
                                      </p:cBhvr>
                                      <p:to>
                                        <p:strVal val="visible"/>
                                      </p:to>
                                    </p:set>
                                    <p:animEffect transition="in" filter="wipe(down)">
                                      <p:cBhvr>
                                        <p:cTn id="18"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5682"/>
            <a:ext cx="11430000" cy="1152367"/>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4</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以</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为圆心</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且与圆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64</a:t>
            </a:r>
            <a:r>
              <a:rPr lang="zh-CN" altLang="zh-CN" sz="2800" dirty="0">
                <a:solidFill>
                  <a:srgbClr val="000000"/>
                </a:solidFill>
                <a:latin typeface="Times New Roman" panose="02020603050405020304" pitchFamily="18" charset="0"/>
                <a:cs typeface="Times New Roman" panose="02020603050405020304" pitchFamily="18" charset="0"/>
              </a:rPr>
              <a:t>内切的圆的方程是</a:t>
            </a:r>
            <a:r>
              <a:rPr lang="zh-CN" altLang="zh-CN" sz="2800" i="1" u="sng" dirty="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u="sng" dirty="0" smtClean="0">
                <a:solidFill>
                  <a:srgbClr val="FF0000"/>
                </a:solidFill>
                <a:uFill>
                  <a:solidFill>
                    <a:srgbClr val="000000"/>
                  </a:solidFill>
                </a:uFill>
                <a:latin typeface="Times New Roman" panose="02020603050405020304" pitchFamily="18" charset="0"/>
                <a:cs typeface="Times New Roman" panose="02020603050405020304" pitchFamily="18" charset="0"/>
              </a:rPr>
              <a:t>                     </a:t>
            </a:r>
            <a:r>
              <a:rPr lang="en-US" altLang="zh-CN" sz="2800" i="1" dirty="0" smtClean="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宋体" panose="02010600030101010101" pitchFamily="2" charset="-122"/>
                <a:ea typeface="方正书宋_GBK"/>
                <a:cs typeface="Times New Roman" panose="02020603050405020304" pitchFamily="18" charset="0"/>
              </a:rPr>
              <a:t> </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解析</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64</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的圆心为</a:t>
            </a:r>
            <a:r>
              <a:rPr lang="en-US" altLang="zh-CN" sz="2800" dirty="0">
                <a:solidFill>
                  <a:srgbClr val="000000"/>
                </a:solidFill>
                <a:latin typeface="Times New Roman" panose="02020603050405020304" pitchFamily="18" charset="0"/>
                <a:cs typeface="Times New Roman" panose="02020603050405020304" pitchFamily="18" charset="0"/>
              </a:rPr>
              <a:t>(0,0),</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半径</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8,</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923023073"/>
              </p:ext>
            </p:extLst>
          </p:nvPr>
        </p:nvGraphicFramePr>
        <p:xfrm>
          <a:off x="493734" y="1920679"/>
          <a:ext cx="11430000" cy="1003297"/>
        </p:xfrm>
        <a:graphic>
          <a:graphicData uri="http://schemas.openxmlformats.org/presentationml/2006/ole">
            <mc:AlternateContent xmlns:mc="http://schemas.openxmlformats.org/markup-compatibility/2006">
              <mc:Choice xmlns:v="urn:schemas-microsoft-com:vml" Requires="v">
                <p:oleObj spid="_x0000_s21516" name="文档" r:id="rId3" imgW="4520786" imgH="396823" progId="Word.Document.12">
                  <p:embed/>
                </p:oleObj>
              </mc:Choice>
              <mc:Fallback>
                <p:oleObj name="文档" r:id="rId3" imgW="4520786" imgH="396823" progId="Word.Document.12">
                  <p:embed/>
                  <p:pic>
                    <p:nvPicPr>
                      <p:cNvPr id="0" name=""/>
                      <p:cNvPicPr/>
                      <p:nvPr/>
                    </p:nvPicPr>
                    <p:blipFill>
                      <a:blip r:embed="rId4"/>
                      <a:stretch>
                        <a:fillRect/>
                      </a:stretch>
                    </p:blipFill>
                    <p:spPr>
                      <a:xfrm>
                        <a:off x="493734" y="1920679"/>
                        <a:ext cx="11430000" cy="1003297"/>
                      </a:xfrm>
                      <a:prstGeom prst="rect">
                        <a:avLst/>
                      </a:prstGeom>
                    </p:spPr>
                  </p:pic>
                </p:oleObj>
              </mc:Fallback>
            </mc:AlternateContent>
          </a:graphicData>
        </a:graphic>
      </p:graphicFrame>
      <p:sp>
        <p:nvSpPr>
          <p:cNvPr id="4" name="矩形 3"/>
          <p:cNvSpPr>
            <a:spLocks noChangeAspect="1"/>
          </p:cNvSpPr>
          <p:nvPr/>
        </p:nvSpPr>
        <p:spPr>
          <a:xfrm>
            <a:off x="381000" y="2923976"/>
            <a:ext cx="11430000" cy="171252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设所求圆的半径为</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则</a:t>
            </a:r>
            <a:r>
              <a:rPr lang="en-US" altLang="zh-CN" sz="2800" i="1" dirty="0">
                <a:solidFill>
                  <a:srgbClr val="000000"/>
                </a:solidFill>
                <a:latin typeface="Times New Roman" panose="02020603050405020304" pitchFamily="18" charset="0"/>
                <a:cs typeface="Times New Roman" panose="02020603050405020304" pitchFamily="18" charset="0"/>
              </a:rPr>
              <a:t>|r-r'|=d</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即</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8</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5,</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解得</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3</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i="1" dirty="0">
                <a:solidFill>
                  <a:srgbClr val="000000"/>
                </a:solidFill>
                <a:latin typeface="Times New Roman" panose="02020603050405020304" pitchFamily="18" charset="0"/>
                <a:cs typeface="Times New Roman" panose="02020603050405020304" pitchFamily="18" charset="0"/>
              </a:rPr>
              <a:t>r=</a:t>
            </a:r>
            <a:r>
              <a:rPr lang="en-US" altLang="zh-CN" sz="2800" dirty="0">
                <a:solidFill>
                  <a:srgbClr val="000000"/>
                </a:solidFill>
                <a:latin typeface="Times New Roman" panose="02020603050405020304" pitchFamily="18" charset="0"/>
                <a:cs typeface="Times New Roman" panose="02020603050405020304" pitchFamily="18" charset="0"/>
              </a:rPr>
              <a:t>13</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000000"/>
                </a:solidFill>
                <a:latin typeface="NEU-BZ-S92"/>
                <a:cs typeface="宋体" panose="02010600030101010101" pitchFamily="2" charset="-122"/>
              </a:rPr>
              <a:t>∴</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圆的方程为</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答案</a:t>
            </a:r>
            <a:r>
              <a:rPr lang="en-US" altLang="zh-CN" sz="2800" dirty="0">
                <a:solidFill>
                  <a:srgbClr val="FF0000"/>
                </a:solidFill>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zh-CN" altLang="zh-CN" sz="2800" dirty="0">
                <a:solidFill>
                  <a:srgbClr val="000000"/>
                </a:solidFill>
                <a:latin typeface="Times New Roman" panose="02020603050405020304" pitchFamily="18" charset="0"/>
                <a:cs typeface="Times New Roman" panose="02020603050405020304" pitchFamily="18" charset="0"/>
              </a:rPr>
              <a:t>或</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3)</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dirty="0">
                <a:solidFill>
                  <a:srgbClr val="000000"/>
                </a:solidFill>
                <a:latin typeface="Times New Roman" panose="02020603050405020304" pitchFamily="18" charset="0"/>
                <a:cs typeface="Times New Roman" panose="02020603050405020304" pitchFamily="18" charset="0"/>
              </a:rPr>
              <a:t>4)</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169</a:t>
            </a:r>
            <a:endParaRPr lang="zh-CN" altLang="zh-CN" sz="2800" dirty="0">
              <a:solidFill>
                <a:srgbClr val="000000"/>
              </a:solidFill>
              <a:effectLst/>
              <a:latin typeface="NEU-BZ-S92"/>
              <a:ea typeface="方正书宋_GBK"/>
              <a:cs typeface="Times New Roman" panose="02020603050405020304" pitchFamily="18" charset="0"/>
            </a:endParaRPr>
          </a:p>
        </p:txBody>
      </p:sp>
    </p:spTree>
    <p:extLst>
      <p:ext uri="{BB962C8B-B14F-4D97-AF65-F5344CB8AC3E}">
        <p14:creationId xmlns:p14="http://schemas.microsoft.com/office/powerpoint/2010/main" val="366111513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down)">
                                      <p:cBhvr>
                                        <p:cTn id="7" dur="500"/>
                                        <p:tgtEl>
                                          <p:spTgt spid="2">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par>
                                <p:cTn id="11" presetID="22" presetClass="entr" presetSubtype="4" fill="hold" nodeType="with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wipe(down)">
                                      <p:cBhvr>
                                        <p:cTn id="13" dur="500"/>
                                        <p:tgtEl>
                                          <p:spTgt spid="4">
                                            <p:txEl>
                                              <p:pRg st="0" end="0"/>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4">
                                            <p:txEl>
                                              <p:pRg st="1" end="1"/>
                                            </p:txEl>
                                          </p:spTgt>
                                        </p:tgtEl>
                                        <p:attrNameLst>
                                          <p:attrName>style.visibility</p:attrName>
                                        </p:attrNameLst>
                                      </p:cBhvr>
                                      <p:to>
                                        <p:strVal val="visible"/>
                                      </p:to>
                                    </p:set>
                                    <p:animEffect transition="in" filter="wipe(down)">
                                      <p:cBhvr>
                                        <p:cTn id="16" dur="5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wipe(down)">
                                      <p:cBhvr>
                                        <p:cTn id="21"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ChangeAspect="1"/>
          </p:cNvSpPr>
          <p:nvPr/>
        </p:nvSpPr>
        <p:spPr>
          <a:xfrm>
            <a:off x="381000" y="703167"/>
            <a:ext cx="11430000" cy="2325380"/>
          </a:xfrm>
          <a:prstGeom prst="rect">
            <a:avLst/>
          </a:prstGeom>
        </p:spPr>
        <p:txBody>
          <a:bodyPr>
            <a:spAutoFit/>
          </a:bodyPr>
          <a:lstStyle/>
          <a:p>
            <a:pPr>
              <a:lnSpc>
                <a:spcPct val="130000"/>
              </a:lnSpc>
              <a:spcAft>
                <a:spcPts val="0"/>
              </a:spcAft>
              <a:tabLst>
                <a:tab pos="1188085" algn="l"/>
                <a:tab pos="2163445" algn="l"/>
                <a:tab pos="3142615" algn="l"/>
                <a:tab pos="4190365" algn="l"/>
              </a:tabLst>
            </a:pPr>
            <a:r>
              <a:rPr lang="en-US" altLang="zh-CN" sz="2800" b="1" dirty="0">
                <a:solidFill>
                  <a:srgbClr val="000000"/>
                </a:solidFill>
                <a:latin typeface="Times New Roman" panose="02020603050405020304" pitchFamily="18" charset="0"/>
                <a:cs typeface="Times New Roman" panose="02020603050405020304" pitchFamily="18" charset="0"/>
              </a:rPr>
              <a:t>5</a:t>
            </a:r>
            <a:r>
              <a:rPr lang="en-US" altLang="zh-CN" sz="2800" i="1"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latin typeface="Times New Roman" panose="02020603050405020304" pitchFamily="18" charset="0"/>
                <a:cs typeface="Times New Roman" panose="02020603050405020304" pitchFamily="18" charset="0"/>
              </a:rPr>
              <a:t>已知圆</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1</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dirty="0">
                <a:solidFill>
                  <a:srgbClr val="000000"/>
                </a:solidFill>
                <a:latin typeface="Times New Roman" panose="02020603050405020304" pitchFamily="18" charset="0"/>
                <a:cs typeface="Times New Roman" panose="02020603050405020304" pitchFamily="18" charset="0"/>
              </a:rPr>
              <a:t>1)</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+y</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4</a:t>
            </a:r>
            <a:r>
              <a:rPr lang="zh-CN" altLang="zh-CN" sz="2800" dirty="0">
                <a:solidFill>
                  <a:srgbClr val="000000"/>
                </a:solidFill>
                <a:latin typeface="Times New Roman" panose="02020603050405020304" pitchFamily="18" charset="0"/>
                <a:cs typeface="Times New Roman" panose="02020603050405020304" pitchFamily="18" charset="0"/>
              </a:rPr>
              <a:t>和圆</a:t>
            </a:r>
            <a:r>
              <a:rPr lang="en-US" altLang="zh-CN" sz="2800" i="1" dirty="0">
                <a:solidFill>
                  <a:srgbClr val="000000"/>
                </a:solidFill>
                <a:latin typeface="Times New Roman" panose="02020603050405020304" pitchFamily="18" charset="0"/>
                <a:cs typeface="Times New Roman" panose="02020603050405020304" pitchFamily="18" charset="0"/>
              </a:rPr>
              <a:t>O</a:t>
            </a:r>
            <a:r>
              <a:rPr lang="en-US" altLang="zh-CN" sz="2800" baseline="-25000" dirty="0">
                <a:solidFill>
                  <a:srgbClr val="000000"/>
                </a:solidFill>
                <a:latin typeface="Times New Roman" panose="02020603050405020304" pitchFamily="18" charset="0"/>
                <a:cs typeface="Times New Roman" panose="02020603050405020304" pitchFamily="18" charset="0"/>
              </a:rPr>
              <a:t>2</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a:solidFill>
                  <a:srgbClr val="000000"/>
                </a:solidFill>
                <a:latin typeface="Times New Roman" panose="02020603050405020304" pitchFamily="18" charset="0"/>
                <a:cs typeface="Times New Roman" panose="02020603050405020304" pitchFamily="18" charset="0"/>
              </a:rPr>
              <a:t>x</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a:t>
            </a:r>
            <a:r>
              <a:rPr lang="en-US" altLang="zh-CN" sz="2800" i="1" dirty="0" smtClean="0">
                <a:solidFill>
                  <a:srgbClr val="000000"/>
                </a:solidFill>
                <a:latin typeface="Times New Roman" panose="02020603050405020304" pitchFamily="18" charset="0"/>
                <a:cs typeface="Times New Roman" panose="02020603050405020304" pitchFamily="18" charset="0"/>
              </a:rPr>
              <a:t>y-      </a:t>
            </a:r>
            <a:r>
              <a:rPr lang="en-US" altLang="zh-CN" sz="2800" dirty="0" smtClean="0">
                <a:solidFill>
                  <a:srgbClr val="000000"/>
                </a:solidFill>
                <a:latin typeface="Times New Roman" panose="02020603050405020304" pitchFamily="18" charset="0"/>
                <a:cs typeface="Times New Roman" panose="02020603050405020304" pitchFamily="18" charset="0"/>
              </a:rPr>
              <a:t>)</a:t>
            </a:r>
            <a:r>
              <a:rPr lang="en-US" altLang="zh-CN" sz="2800" baseline="30000" dirty="0">
                <a:solidFill>
                  <a:srgbClr val="000000"/>
                </a:solidFill>
                <a:latin typeface="Times New Roman" panose="02020603050405020304" pitchFamily="18" charset="0"/>
                <a:cs typeface="Times New Roman" panose="02020603050405020304" pitchFamily="18" charset="0"/>
              </a:rPr>
              <a:t>2</a:t>
            </a:r>
            <a:r>
              <a:rPr lang="en-US" altLang="zh-CN" sz="2800" i="1" dirty="0">
                <a:solidFill>
                  <a:srgbClr val="000000"/>
                </a:solidFill>
                <a:latin typeface="Times New Roman" panose="02020603050405020304" pitchFamily="18" charset="0"/>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9</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latin typeface="Times New Roman" panose="02020603050405020304" pitchFamily="18" charset="0"/>
                <a:cs typeface="Times New Roman" panose="02020603050405020304" pitchFamily="18" charset="0"/>
              </a:rPr>
              <a:t>求两圆公共弦所在直线的方程</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en-US" altLang="zh-CN" sz="2800" dirty="0">
                <a:solidFill>
                  <a:srgbClr val="000000"/>
                </a:solidFill>
                <a:latin typeface="Times New Roman" panose="02020603050405020304" pitchFamily="18" charset="0"/>
                <a:cs typeface="Times New Roman" panose="02020603050405020304" pitchFamily="18" charset="0"/>
              </a:rPr>
              <a:t>(2)</a:t>
            </a:r>
            <a:r>
              <a:rPr lang="zh-CN" altLang="zh-CN" sz="2800" dirty="0">
                <a:solidFill>
                  <a:srgbClr val="000000"/>
                </a:solidFill>
                <a:latin typeface="Times New Roman" panose="02020603050405020304" pitchFamily="18" charset="0"/>
                <a:cs typeface="Times New Roman" panose="02020603050405020304" pitchFamily="18" charset="0"/>
              </a:rPr>
              <a:t>求两圆的公共弦长</a:t>
            </a:r>
            <a:r>
              <a:rPr lang="en-US" altLang="zh-CN" sz="2800" i="1"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a:p>
            <a:pPr>
              <a:lnSpc>
                <a:spcPct val="130000"/>
              </a:lnSpc>
              <a:spcAft>
                <a:spcPts val="0"/>
              </a:spcAft>
              <a:tabLst>
                <a:tab pos="1188085" algn="l"/>
                <a:tab pos="2163445" algn="l"/>
                <a:tab pos="3142615" algn="l"/>
                <a:tab pos="4190365" algn="l"/>
              </a:tabLst>
            </a:pPr>
            <a:r>
              <a:rPr lang="zh-CN"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解</a:t>
            </a:r>
            <a:r>
              <a:rPr lang="en-US" altLang="zh-CN" sz="2800" dirty="0">
                <a:solidFill>
                  <a:srgbClr val="FF0000"/>
                </a:solidFill>
                <a:effectLst/>
                <a:latin typeface="Arial" panose="020B0604020202020204" pitchFamily="34" charset="0"/>
                <a:ea typeface="黑体" panose="02010609060101010101" pitchFamily="49" charset="-122"/>
                <a:cs typeface="Times New Roman" panose="02020603050405020304" pitchFamily="18" charset="0"/>
              </a:rPr>
              <a:t>:</a:t>
            </a:r>
            <a:r>
              <a:rPr lang="en-US" altLang="zh-CN" sz="2800" dirty="0">
                <a:solidFill>
                  <a:srgbClr val="000000"/>
                </a:solidFill>
                <a:latin typeface="Times New Roman" panose="02020603050405020304" pitchFamily="18" charset="0"/>
                <a:cs typeface="Times New Roman" panose="02020603050405020304" pitchFamily="18" charset="0"/>
              </a:rPr>
              <a:t>(1)</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由题意知两圆相交</a:t>
            </a:r>
            <a:r>
              <a:rPr lang="en-US" altLang="zh-CN" sz="2800" dirty="0">
                <a:solidFill>
                  <a:srgbClr val="000000"/>
                </a:solidFill>
                <a:latin typeface="Times New Roman" panose="02020603050405020304" pitchFamily="18" charset="0"/>
                <a:cs typeface="Times New Roman" panose="02020603050405020304" pitchFamily="18" charset="0"/>
              </a:rPr>
              <a:t>,</a:t>
            </a:r>
            <a:r>
              <a:rPr lang="zh-CN" altLang="zh-CN" sz="2800" dirty="0">
                <a:solidFill>
                  <a:srgbClr val="000000"/>
                </a:solidFill>
                <a:effectLst/>
                <a:latin typeface="Times New Roman" panose="02020603050405020304" pitchFamily="18" charset="0"/>
                <a:ea typeface="楷体" panose="02010609060101010101" pitchFamily="49" charset="-122"/>
                <a:cs typeface="Times New Roman" panose="02020603050405020304" pitchFamily="18" charset="0"/>
              </a:rPr>
              <a:t>将两圆的方程相减</a:t>
            </a:r>
            <a:r>
              <a:rPr lang="en-US" altLang="zh-CN" sz="2800" dirty="0">
                <a:solidFill>
                  <a:srgbClr val="000000"/>
                </a:solidFill>
                <a:latin typeface="Times New Roman" panose="02020603050405020304" pitchFamily="18" charset="0"/>
                <a:cs typeface="Times New Roman" panose="02020603050405020304" pitchFamily="18" charset="0"/>
              </a:rPr>
              <a:t>,</a:t>
            </a:r>
            <a:endParaRPr lang="zh-CN" altLang="zh-CN" sz="2800" dirty="0">
              <a:solidFill>
                <a:srgbClr val="000000"/>
              </a:solidFill>
              <a:effectLst/>
              <a:latin typeface="NEU-BZ-S92"/>
              <a:ea typeface="方正书宋_GBK"/>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993389145"/>
              </p:ext>
            </p:extLst>
          </p:nvPr>
        </p:nvGraphicFramePr>
        <p:xfrm>
          <a:off x="493735" y="3041073"/>
          <a:ext cx="11430000" cy="2507784"/>
        </p:xfrm>
        <a:graphic>
          <a:graphicData uri="http://schemas.openxmlformats.org/presentationml/2006/ole">
            <mc:AlternateContent xmlns:mc="http://schemas.openxmlformats.org/markup-compatibility/2006">
              <mc:Choice xmlns:v="urn:schemas-microsoft-com:vml" Requires="v">
                <p:oleObj spid="_x0000_s22550" name="文档" r:id="rId3" imgW="4520786" imgH="991877" progId="Word.Document.12">
                  <p:embed/>
                </p:oleObj>
              </mc:Choice>
              <mc:Fallback>
                <p:oleObj name="文档" r:id="rId3" imgW="4520786" imgH="991877" progId="Word.Document.12">
                  <p:embed/>
                  <p:pic>
                    <p:nvPicPr>
                      <p:cNvPr id="0" name=""/>
                      <p:cNvPicPr/>
                      <p:nvPr/>
                    </p:nvPicPr>
                    <p:blipFill>
                      <a:blip r:embed="rId4"/>
                      <a:stretch>
                        <a:fillRect/>
                      </a:stretch>
                    </p:blipFill>
                    <p:spPr>
                      <a:xfrm>
                        <a:off x="493735" y="3041073"/>
                        <a:ext cx="11430000" cy="250778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963487880"/>
              </p:ext>
            </p:extLst>
          </p:nvPr>
        </p:nvGraphicFramePr>
        <p:xfrm>
          <a:off x="6045896" y="819596"/>
          <a:ext cx="669925" cy="501650"/>
        </p:xfrm>
        <a:graphic>
          <a:graphicData uri="http://schemas.openxmlformats.org/presentationml/2006/ole">
            <mc:AlternateContent xmlns:mc="http://schemas.openxmlformats.org/markup-compatibility/2006">
              <mc:Choice xmlns:v="urn:schemas-microsoft-com:vml" Requires="v">
                <p:oleObj spid="_x0000_s22551" name="文档" r:id="rId5" imgW="271708" imgH="198592" progId="Word.Document.12">
                  <p:embed/>
                </p:oleObj>
              </mc:Choice>
              <mc:Fallback>
                <p:oleObj name="文档" r:id="rId5" imgW="271708" imgH="198592" progId="Word.Document.12">
                  <p:embed/>
                  <p:pic>
                    <p:nvPicPr>
                      <p:cNvPr id="0" name=""/>
                      <p:cNvPicPr/>
                      <p:nvPr/>
                    </p:nvPicPr>
                    <p:blipFill>
                      <a:blip r:embed="rId6"/>
                      <a:stretch>
                        <a:fillRect/>
                      </a:stretch>
                    </p:blipFill>
                    <p:spPr>
                      <a:xfrm>
                        <a:off x="6045896" y="819596"/>
                        <a:ext cx="669925" cy="501650"/>
                      </a:xfrm>
                      <a:prstGeom prst="rect">
                        <a:avLst/>
                      </a:prstGeom>
                    </p:spPr>
                  </p:pic>
                </p:oleObj>
              </mc:Fallback>
            </mc:AlternateContent>
          </a:graphicData>
        </a:graphic>
      </p:graphicFrame>
    </p:spTree>
    <p:extLst>
      <p:ext uri="{BB962C8B-B14F-4D97-AF65-F5344CB8AC3E}">
        <p14:creationId xmlns:p14="http://schemas.microsoft.com/office/powerpoint/2010/main" val="32256709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wipe(down)">
                                      <p:cBhvr>
                                        <p:cTn id="7" dur="500"/>
                                        <p:tgtEl>
                                          <p:spTgt spid="2">
                                            <p:txEl>
                                              <p:pRg st="3" end="3"/>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wipe(down)">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descr="阴影"/>
          <p:cNvPicPr>
            <a:picLocks noChangeAspect="1"/>
          </p:cNvPicPr>
          <p:nvPr/>
        </p:nvPicPr>
        <p:blipFill>
          <a:blip r:embed="rId2"/>
          <a:stretch>
            <a:fillRect/>
          </a:stretch>
        </p:blipFill>
        <p:spPr>
          <a:xfrm>
            <a:off x="2325712" y="1511279"/>
            <a:ext cx="7280625" cy="3396125"/>
          </a:xfrm>
          <a:prstGeom prst="rect">
            <a:avLst/>
          </a:prstGeom>
        </p:spPr>
      </p:pic>
      <p:sp>
        <p:nvSpPr>
          <p:cNvPr id="9" name="文本框 8"/>
          <p:cNvSpPr txBox="1"/>
          <p:nvPr/>
        </p:nvSpPr>
        <p:spPr>
          <a:xfrm>
            <a:off x="1809976" y="4908623"/>
            <a:ext cx="8572049" cy="1292662"/>
          </a:xfrm>
          <a:prstGeom prst="rect">
            <a:avLst/>
          </a:prstGeom>
          <a:noFill/>
        </p:spPr>
        <p:txBody>
          <a:bodyPr wrap="square" rtlCol="0">
            <a:spAutoFit/>
          </a:bodyPr>
          <a:lstStyle/>
          <a:p>
            <a:pPr algn="ctr" fontAlgn="auto">
              <a:lnSpc>
                <a:spcPct val="150000"/>
              </a:lnSpc>
            </a:pPr>
            <a:r>
              <a:rPr lang="zh-CN" altLang="en-US" sz="2400" smtClean="0">
                <a:solidFill>
                  <a:srgbClr val="55463D"/>
                </a:solidFill>
              </a:rPr>
              <a:t>更多精彩内容请登录</a:t>
            </a:r>
            <a:r>
              <a:rPr lang="zh-CN" altLang="en-US" sz="2800" b="1" smtClean="0">
                <a:solidFill>
                  <a:srgbClr val="55463D"/>
                </a:solidFill>
                <a:latin typeface="华文新魏" panose="02010800040101010101" pitchFamily="2" charset="-122"/>
                <a:ea typeface="华文新魏" panose="02010800040101010101" pitchFamily="2" charset="-122"/>
              </a:rPr>
              <a:t>志鸿优化网</a:t>
            </a:r>
            <a:endParaRPr lang="en-US" altLang="zh-CN" sz="2400" b="1" smtClean="0">
              <a:solidFill>
                <a:srgbClr val="55463D"/>
              </a:solidFill>
              <a:latin typeface="华文新魏" panose="02010800040101010101" pitchFamily="2" charset="-122"/>
              <a:ea typeface="华文新魏" panose="02010800040101010101" pitchFamily="2" charset="-122"/>
            </a:endParaRPr>
          </a:p>
          <a:p>
            <a:pPr algn="ctr" fontAlgn="auto">
              <a:lnSpc>
                <a:spcPct val="150000"/>
              </a:lnSpc>
            </a:pPr>
            <a:r>
              <a:rPr lang="en-US" altLang="zh-CN" sz="2400" smtClean="0">
                <a:solidFill>
                  <a:srgbClr val="55463D"/>
                </a:solidFill>
              </a:rPr>
              <a:t>http</a:t>
            </a:r>
            <a:r>
              <a:rPr lang="en-US" altLang="zh-CN" sz="2400">
                <a:solidFill>
                  <a:srgbClr val="55463D"/>
                </a:solidFill>
              </a:rPr>
              <a:t>://www.zhyh.org</a:t>
            </a:r>
            <a:r>
              <a:rPr lang="en-US" altLang="zh-CN" sz="2400" smtClean="0">
                <a:solidFill>
                  <a:srgbClr val="55463D"/>
                </a:solidFill>
              </a:rPr>
              <a:t>/</a:t>
            </a:r>
            <a:endParaRPr lang="zh-CN" altLang="en-US" sz="2400">
              <a:solidFill>
                <a:srgbClr val="55463D"/>
              </a:solidFill>
            </a:endParaRPr>
          </a:p>
        </p:txBody>
      </p:sp>
      <p:pic>
        <p:nvPicPr>
          <p:cNvPr id="11" name="图片 10"/>
          <p:cNvPicPr>
            <a:picLocks noChangeAspect="1"/>
          </p:cNvPicPr>
          <p:nvPr/>
        </p:nvPicPr>
        <p:blipFill>
          <a:blip r:embed="rId3">
            <a:clrChange>
              <a:clrFrom>
                <a:srgbClr val="ECECEE"/>
              </a:clrFrom>
              <a:clrTo>
                <a:srgbClr val="ECECEE">
                  <a:alpha val="0"/>
                </a:srgbClr>
              </a:clrTo>
            </a:clrChange>
          </a:blip>
          <a:stretch>
            <a:fillRect/>
          </a:stretch>
        </p:blipFill>
        <p:spPr>
          <a:xfrm>
            <a:off x="123290" y="4517181"/>
            <a:ext cx="2325712" cy="2253486"/>
          </a:xfrm>
          <a:prstGeom prst="rect">
            <a:avLst/>
          </a:prstGeom>
        </p:spPr>
      </p:pic>
      <p:sp>
        <p:nvSpPr>
          <p:cNvPr id="12" name="文本框 11"/>
          <p:cNvSpPr txBox="1"/>
          <p:nvPr/>
        </p:nvSpPr>
        <p:spPr>
          <a:xfrm>
            <a:off x="3451123" y="2222090"/>
            <a:ext cx="4994787" cy="1015663"/>
          </a:xfrm>
          <a:prstGeom prst="rect">
            <a:avLst/>
          </a:prstGeom>
          <a:noFill/>
        </p:spPr>
        <p:txBody>
          <a:bodyPr wrap="square" rtlCol="0">
            <a:spAutoFit/>
          </a:bodyPr>
          <a:lstStyle/>
          <a:p>
            <a:r>
              <a:rPr lang="zh-CN" altLang="en-US" sz="6000" b="1">
                <a:solidFill>
                  <a:srgbClr val="55463D"/>
                </a:solidFill>
                <a:latin typeface="思源黑体 CN Medium" panose="020B0600000000000000" pitchFamily="34" charset="-122"/>
                <a:ea typeface="思源黑体 CN Medium" panose="020B0600000000000000" pitchFamily="34" charset="-122"/>
              </a:rPr>
              <a:t>本  课  结  束</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5"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randombar(vertical)">
                                      <p:cBhvr>
                                        <p:cTn id="7" dur="500"/>
                                        <p:tgtEl>
                                          <p:spTgt spid="9"/>
                                        </p:tgtEl>
                                      </p:cBhvr>
                                    </p:animEffect>
                                  </p:childTnLst>
                                </p:cTn>
                              </p:par>
                              <p:par>
                                <p:cTn id="8" presetID="3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800" decel="100000"/>
                                        <p:tgtEl>
                                          <p:spTgt spid="11"/>
                                        </p:tgtEl>
                                      </p:cBhvr>
                                    </p:animEffect>
                                    <p:anim calcmode="lin" valueType="num">
                                      <p:cBhvr>
                                        <p:cTn id="11" dur="800" decel="100000" fill="hold"/>
                                        <p:tgtEl>
                                          <p:spTgt spid="11"/>
                                        </p:tgtEl>
                                        <p:attrNameLst>
                                          <p:attrName>style.rotation</p:attrName>
                                        </p:attrNameLst>
                                      </p:cBhvr>
                                      <p:tavLst>
                                        <p:tav tm="0">
                                          <p:val>
                                            <p:fltVal val="-90"/>
                                          </p:val>
                                        </p:tav>
                                        <p:tav tm="100000">
                                          <p:val>
                                            <p:fltVal val="0"/>
                                          </p:val>
                                        </p:tav>
                                      </p:tavLst>
                                    </p:anim>
                                    <p:anim calcmode="lin" valueType="num">
                                      <p:cBhvr>
                                        <p:cTn id="12" dur="800" decel="100000" fill="hold"/>
                                        <p:tgtEl>
                                          <p:spTgt spid="11"/>
                                        </p:tgtEl>
                                        <p:attrNameLst>
                                          <p:attrName>ppt_x</p:attrName>
                                        </p:attrNameLst>
                                      </p:cBhvr>
                                      <p:tavLst>
                                        <p:tav tm="0">
                                          <p:val>
                                            <p:strVal val="#ppt_x+0.4"/>
                                          </p:val>
                                        </p:tav>
                                        <p:tav tm="100000">
                                          <p:val>
                                            <p:strVal val="#ppt_x-0.05"/>
                                          </p:val>
                                        </p:tav>
                                      </p:tavLst>
                                    </p:anim>
                                    <p:anim calcmode="lin" valueType="num">
                                      <p:cBhvr>
                                        <p:cTn id="13" dur="800" decel="100000" fill="hold"/>
                                        <p:tgtEl>
                                          <p:spTgt spid="11"/>
                                        </p:tgtEl>
                                        <p:attrNameLst>
                                          <p:attrName>ppt_y</p:attrName>
                                        </p:attrNameLst>
                                      </p:cBhvr>
                                      <p:tavLst>
                                        <p:tav tm="0">
                                          <p:val>
                                            <p:strVal val="#ppt_y-0.4"/>
                                          </p:val>
                                        </p:tav>
                                        <p:tav tm="100000">
                                          <p:val>
                                            <p:strVal val="#ppt_y+0.1"/>
                                          </p:val>
                                        </p:tav>
                                      </p:tavLst>
                                    </p:anim>
                                    <p:anim calcmode="lin" valueType="num">
                                      <p:cBhvr>
                                        <p:cTn id="14" dur="200" accel="100000" fill="hold">
                                          <p:stCondLst>
                                            <p:cond delay="800"/>
                                          </p:stCondLst>
                                        </p:cTn>
                                        <p:tgtEl>
                                          <p:spTgt spid="11"/>
                                        </p:tgtEl>
                                        <p:attrNameLst>
                                          <p:attrName>ppt_x</p:attrName>
                                        </p:attrNameLst>
                                      </p:cBhvr>
                                      <p:tavLst>
                                        <p:tav tm="0">
                                          <p:val>
                                            <p:strVal val="#ppt_x-0.05"/>
                                          </p:val>
                                        </p:tav>
                                        <p:tav tm="100000">
                                          <p:val>
                                            <p:strVal val="#ppt_x"/>
                                          </p:val>
                                        </p:tav>
                                      </p:tavLst>
                                    </p:anim>
                                    <p:anim calcmode="lin" valueType="num">
                                      <p:cBhvr>
                                        <p:cTn id="15" dur="200" accel="100000" fill="hold">
                                          <p:stCondLst>
                                            <p:cond delay="800"/>
                                          </p:stCondLst>
                                        </p:cTn>
                                        <p:tgtEl>
                                          <p:spTgt spid="11"/>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61022204519"/>
  <p:tag name="MH_LIBRARY" val="GRAPHIC"/>
  <p:tag name="MH_ORDER" val="TextBox 3"/>
</p:tagLst>
</file>

<file path=ppt/theme/theme1.xml><?xml version="1.0" encoding="utf-8"?>
<a:theme xmlns:a="http://schemas.openxmlformats.org/drawingml/2006/main" name="1_Office 主题">
  <a:themeElements>
    <a:clrScheme name="模块">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1" id="{721B1EAD-A6C0-47A7-B782-D5918D0D228F}" vid="{2963E896-880A-42B6-99FF-93DBD5586BD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理科模板</Template>
  <TotalTime>350</TotalTime>
  <Words>2223</Words>
  <Application>Microsoft Office PowerPoint</Application>
  <PresentationFormat>宽屏</PresentationFormat>
  <Paragraphs>158</Paragraphs>
  <Slides>38</Slides>
  <Notes>0</Notes>
  <HiddenSlides>0</HiddenSlides>
  <MMClips>0</MMClips>
  <ScaleCrop>false</ScaleCrop>
  <HeadingPairs>
    <vt:vector size="8" baseType="variant">
      <vt:variant>
        <vt:lpstr>已用的字体</vt:lpstr>
      </vt:variant>
      <vt:variant>
        <vt:i4>19</vt:i4>
      </vt:variant>
      <vt:variant>
        <vt:lpstr>主题</vt:lpstr>
      </vt:variant>
      <vt:variant>
        <vt:i4>1</vt:i4>
      </vt:variant>
      <vt:variant>
        <vt:lpstr>嵌入 OLE 服务器</vt:lpstr>
      </vt:variant>
      <vt:variant>
        <vt:i4>1</vt:i4>
      </vt:variant>
      <vt:variant>
        <vt:lpstr>幻灯片标题</vt:lpstr>
      </vt:variant>
      <vt:variant>
        <vt:i4>38</vt:i4>
      </vt:variant>
    </vt:vector>
  </HeadingPairs>
  <TitlesOfParts>
    <vt:vector size="59" baseType="lpstr">
      <vt:lpstr>NEU-BZ-S92</vt:lpstr>
      <vt:lpstr>Open Sans</vt:lpstr>
      <vt:lpstr>方正书宋_GBK</vt:lpstr>
      <vt:lpstr>方正姚体</vt:lpstr>
      <vt:lpstr>方正正中黑简体</vt:lpstr>
      <vt:lpstr>仿宋</vt:lpstr>
      <vt:lpstr>黑体</vt:lpstr>
      <vt:lpstr>华文细黑</vt:lpstr>
      <vt:lpstr>华文新魏</vt:lpstr>
      <vt:lpstr>楷体</vt:lpstr>
      <vt:lpstr>隶书</vt:lpstr>
      <vt:lpstr>思源黑体 CN Medium</vt:lpstr>
      <vt:lpstr>宋体</vt:lpstr>
      <vt:lpstr>微软雅黑</vt:lpstr>
      <vt:lpstr>Arial</vt:lpstr>
      <vt:lpstr>Calibri</vt:lpstr>
      <vt:lpstr>Cambria Math</vt:lpstr>
      <vt:lpstr>Microsoft Yi Baiti</vt:lpstr>
      <vt:lpstr>Times New Roman</vt:lpstr>
      <vt:lpstr>1_Office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ITSK.com</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SkyUser</dc:creator>
  <cp:lastModifiedBy>SkyUser</cp:lastModifiedBy>
  <cp:revision>30</cp:revision>
  <dcterms:created xsi:type="dcterms:W3CDTF">2021-08-30T08:30:26Z</dcterms:created>
  <dcterms:modified xsi:type="dcterms:W3CDTF">2024-07-17T02:56:40Z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2052-11.1.0.10000</vt:lpwstr>
  </property>
</Properties>
</file>