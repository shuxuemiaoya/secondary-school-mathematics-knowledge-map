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677" r:id="rId2"/>
    <p:sldId id="488" r:id="rId3"/>
    <p:sldId id="494" r:id="rId4"/>
    <p:sldId id="392" r:id="rId5"/>
    <p:sldId id="686" r:id="rId6"/>
    <p:sldId id="687" r:id="rId7"/>
    <p:sldId id="688" r:id="rId8"/>
    <p:sldId id="689" r:id="rId9"/>
    <p:sldId id="690" r:id="rId10"/>
    <p:sldId id="691" r:id="rId11"/>
    <p:sldId id="692" r:id="rId12"/>
    <p:sldId id="407" r:id="rId13"/>
    <p:sldId id="394" r:id="rId14"/>
    <p:sldId id="699" r:id="rId15"/>
    <p:sldId id="700" r:id="rId16"/>
    <p:sldId id="402" r:id="rId17"/>
    <p:sldId id="712" r:id="rId18"/>
    <p:sldId id="713" r:id="rId19"/>
    <p:sldId id="714" r:id="rId20"/>
    <p:sldId id="715" r:id="rId21"/>
    <p:sldId id="719" r:id="rId22"/>
    <p:sldId id="720" r:id="rId23"/>
    <p:sldId id="498" r:id="rId24"/>
    <p:sldId id="730" r:id="rId25"/>
    <p:sldId id="733" r:id="rId26"/>
    <p:sldId id="743" r:id="rId27"/>
    <p:sldId id="740" r:id="rId28"/>
    <p:sldId id="739" r:id="rId29"/>
    <p:sldId id="745" r:id="rId30"/>
    <p:sldId id="746" r:id="rId31"/>
    <p:sldId id="398" r:id="rId32"/>
    <p:sldId id="395" r:id="rId33"/>
    <p:sldId id="756" r:id="rId34"/>
    <p:sldId id="757" r:id="rId35"/>
    <p:sldId id="758" r:id="rId36"/>
    <p:sldId id="759" r:id="rId37"/>
    <p:sldId id="490"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99" userDrawn="1">
          <p15:clr>
            <a:srgbClr val="A4A3A4"/>
          </p15:clr>
        </p15:guide>
        <p15:guide id="5" orient="horz" pos="28" userDrawn="1">
          <p15:clr>
            <a:srgbClr val="A4A3A4"/>
          </p15:clr>
        </p15:guide>
        <p15:guide id="6" pos="257" userDrawn="1">
          <p15:clr>
            <a:srgbClr val="A4A3A4"/>
          </p15:clr>
        </p15:guide>
        <p15:guide id="7" orient="horz" pos="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436"/>
        <p:guide orient="horz" pos="799"/>
        <p:guide orient="horz" pos="28"/>
        <p:guide pos="257"/>
        <p:guide orient="horz" pos="73"/>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image" Target="../media/image4.emf"/><Relationship Id="rId4"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3.xml"/><Relationship Id="rId1" Type="http://schemas.openxmlformats.org/officeDocument/2006/relationships/slideMaster" Target="../slideMasters/slideMaster1.xml"/><Relationship Id="rId5" Type="http://schemas.openxmlformats.org/officeDocument/2006/relationships/slide" Target="../slides/slide27.xml"/><Relationship Id="rId4" Type="http://schemas.openxmlformats.org/officeDocument/2006/relationships/slide" Target="../slides/slide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8656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5291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1925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8559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思想方法</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__2.docx"/><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package" Target="../embeddings/Microsoft_Word___3.docx"/><Relationship Id="rId7"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5.emf"/><Relationship Id="rId5" Type="http://schemas.openxmlformats.org/officeDocument/2006/relationships/package" Target="../embeddings/Microsoft_Word___4.docx"/><Relationship Id="rId10" Type="http://schemas.openxmlformats.org/officeDocument/2006/relationships/image" Target="../media/image7.emf"/><Relationship Id="rId4" Type="http://schemas.openxmlformats.org/officeDocument/2006/relationships/image" Target="../media/image4.emf"/><Relationship Id="rId9" Type="http://schemas.openxmlformats.org/officeDocument/2006/relationships/package" Target="../embeddings/Microsoft_Word___6.docx"/></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10.emf"/><Relationship Id="rId5" Type="http://schemas.openxmlformats.org/officeDocument/2006/relationships/package" Target="../embeddings/Microsoft_Word___9.docx"/><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11.docx"/><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12.docx"/><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4.emf"/><Relationship Id="rId5" Type="http://schemas.openxmlformats.org/officeDocument/2006/relationships/package" Target="../embeddings/Microsoft_Word___13.docx"/><Relationship Id="rId4" Type="http://schemas.openxmlformats.org/officeDocument/2006/relationships/image" Target="../media/image1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9.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1.emf"/><Relationship Id="rId5" Type="http://schemas.openxmlformats.org/officeDocument/2006/relationships/package" Target="../embeddings/Microsoft_Word___17.docx"/><Relationship Id="rId4" Type="http://schemas.openxmlformats.org/officeDocument/2006/relationships/image" Target="../media/image20.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2.emf"/></Relationships>
</file>

<file path=ppt/slides/_rels/slide2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6.jpeg"/><Relationship Id="rId4" Type="http://schemas.openxmlformats.org/officeDocument/2006/relationships/image" Target="../media/image25.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1.xml"/><Relationship Id="rId1" Type="http://schemas.openxmlformats.org/officeDocument/2006/relationships/vmlDrawing" Target="../drawings/vmlDrawing14.vml"/><Relationship Id="rId4" Type="http://schemas.openxmlformats.org/officeDocument/2006/relationships/image" Target="../media/image27.emf"/></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1.xml"/><Relationship Id="rId1" Type="http://schemas.openxmlformats.org/officeDocument/2006/relationships/vmlDrawing" Target="../drawings/vmlDrawing15.vml"/><Relationship Id="rId4" Type="http://schemas.openxmlformats.org/officeDocument/2006/relationships/image" Target="../media/image28.emf"/></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1.xml"/><Relationship Id="rId1" Type="http://schemas.openxmlformats.org/officeDocument/2006/relationships/vmlDrawing" Target="../drawings/vmlDrawing16.vml"/><Relationship Id="rId6" Type="http://schemas.openxmlformats.org/officeDocument/2006/relationships/image" Target="../media/image30.emf"/><Relationship Id="rId5" Type="http://schemas.openxmlformats.org/officeDocument/2006/relationships/package" Target="../embeddings/Microsoft_Word___23.docx"/><Relationship Id="rId4" Type="http://schemas.openxmlformats.org/officeDocument/2006/relationships/image" Target="../media/image29.emf"/></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1.xml"/><Relationship Id="rId1" Type="http://schemas.openxmlformats.org/officeDocument/2006/relationships/vmlDrawing" Target="../drawings/vmlDrawing17.vml"/><Relationship Id="rId4" Type="http://schemas.openxmlformats.org/officeDocument/2006/relationships/image" Target="../media/image31.emf"/></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3"/>
            <a:ext cx="12191365" cy="1478914"/>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346286"/>
              <a:ext cx="8158783" cy="1200460"/>
            </a:xfrm>
            <a:prstGeom prst="rect">
              <a:avLst/>
            </a:prstGeom>
          </p:spPr>
          <p:txBody>
            <a:bodyPr wrap="square">
              <a:spAutoFit/>
            </a:bodyPr>
            <a:lstStyle/>
            <a:p>
              <a:r>
                <a:rPr lang="en-US" altLang="zh-CN" sz="3600" b="1" dirty="0">
                  <a:solidFill>
                    <a:schemeClr val="bg1"/>
                  </a:solidFill>
                  <a:latin typeface="华文细黑" panose="02010600040101010101" charset="-122"/>
                  <a:ea typeface="华文细黑" panose="02010600040101010101" charset="-122"/>
                </a:rPr>
                <a:t>2.3.1</a:t>
              </a:r>
              <a:r>
                <a:rPr lang="zh-CN" altLang="en-US" sz="3600" b="1" dirty="0">
                  <a:solidFill>
                    <a:schemeClr val="bg1"/>
                  </a:solidFill>
                  <a:latin typeface="华文细黑" panose="02010600040101010101" charset="-122"/>
                  <a:ea typeface="华文细黑" panose="02010600040101010101" charset="-122"/>
                </a:rPr>
                <a:t>　两条直线的交点</a:t>
              </a:r>
              <a:r>
                <a:rPr lang="zh-CN" altLang="en-US" sz="3600" b="1" dirty="0" smtClean="0">
                  <a:solidFill>
                    <a:schemeClr val="bg1"/>
                  </a:solidFill>
                  <a:latin typeface="华文细黑" panose="02010600040101010101" charset="-122"/>
                  <a:ea typeface="华文细黑" panose="02010600040101010101" charset="-122"/>
                </a:rPr>
                <a:t>坐标</a:t>
              </a:r>
              <a:endParaRPr lang="en-US" altLang="zh-CN" sz="3600" b="1" dirty="0">
                <a:solidFill>
                  <a:schemeClr val="bg1"/>
                </a:solidFill>
                <a:latin typeface="华文细黑" panose="02010600040101010101" charset="-122"/>
                <a:ea typeface="华文细黑" panose="02010600040101010101" charset="-122"/>
              </a:endParaRPr>
            </a:p>
            <a:p>
              <a:r>
                <a:rPr lang="en-US" altLang="zh-CN" sz="3600" b="1" dirty="0" smtClean="0">
                  <a:solidFill>
                    <a:schemeClr val="bg1"/>
                  </a:solidFill>
                  <a:latin typeface="华文细黑" panose="02010600040101010101" charset="-122"/>
                  <a:ea typeface="华文细黑" panose="02010600040101010101" charset="-122"/>
                </a:rPr>
                <a:t>2.3.2</a:t>
              </a:r>
              <a:r>
                <a:rPr lang="zh-CN" altLang="en-US" sz="3600" b="1" dirty="0">
                  <a:solidFill>
                    <a:schemeClr val="bg1"/>
                  </a:solidFill>
                  <a:latin typeface="华文细黑" panose="02010600040101010101" charset="-122"/>
                  <a:ea typeface="华文细黑" panose="02010600040101010101" charset="-122"/>
                </a:rPr>
                <a:t>　两点间的距离公式</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第二章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2.3</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5680"/>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能用解方程组的方法求两条直线的交点坐标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会根据方程组解的个数判定两条直线的位置关系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探索并掌握平面上两点间的距离公式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并能灵活应用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了解坐标法的解题步骤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5</a:t>
            </a:r>
            <a:r>
              <a:rPr lang="en-US" altLang="zh-CN" sz="2800" i="1" dirty="0" smtClean="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数学</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抽象、逻辑推理和数学运算素养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6392"/>
            <a:ext cx="11430000" cy="457356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一、两条直线的交点坐标</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上的点的坐标与其方程</a:t>
            </a:r>
            <a:r>
              <a:rPr lang="en-US" altLang="zh-CN" sz="2800" i="1" dirty="0" err="1">
                <a:solidFill>
                  <a:srgbClr val="000000"/>
                </a:solidFill>
                <a:latin typeface="Times New Roman" panose="02020603050405020304" pitchFamily="18" charset="0"/>
                <a:cs typeface="Times New Roman" panose="02020603050405020304" pitchFamily="18" charset="0"/>
              </a:rPr>
              <a:t>Ax+By+C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不同时为</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的解有什么样的关系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上每一个点的坐标都满足直线方程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也就是说直线上的点的坐标是其方程的解</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反之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的方程的每一个解都表示直线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上的点的坐标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已知两条直线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如何用代数方法求它们的交点坐标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两条直线的方程组成方程组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方程组的解就是这两条直线的交点坐标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wipe(down)">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72178"/>
            <a:ext cx="11430000" cy="345325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由两条直线的方程组成的方程组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若方程组有唯一解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说明两条直线是什么位置关系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若无解或有无数组解呢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若方程组有唯一解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则两条直线相交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此解就是交点的坐标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若方程组无解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则两条直线平行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若方程组有无数组解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则两条直线重合</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不同时为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不同时为</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的位置关系如表所示</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718403333"/>
              </p:ext>
            </p:extLst>
          </p:nvPr>
        </p:nvGraphicFramePr>
        <p:xfrm>
          <a:off x="381000" y="3628610"/>
          <a:ext cx="11430000" cy="3217656"/>
        </p:xfrm>
        <a:graphic>
          <a:graphicData uri="http://schemas.openxmlformats.org/presentationml/2006/ole">
            <mc:AlternateContent xmlns:mc="http://schemas.openxmlformats.org/markup-compatibility/2006">
              <mc:Choice xmlns:v="urn:schemas-microsoft-com:vml" Requires="v">
                <p:oleObj spid="_x0000_s1045" name="文档" r:id="rId3" imgW="4520786" imgH="1272645" progId="Word.Document.12">
                  <p:embed/>
                </p:oleObj>
              </mc:Choice>
              <mc:Fallback>
                <p:oleObj name="文档" r:id="rId3" imgW="4520786" imgH="1272645" progId="Word.Document.12">
                  <p:embed/>
                  <p:pic>
                    <p:nvPicPr>
                      <p:cNvPr id="0" name=""/>
                      <p:cNvPicPr/>
                      <p:nvPr/>
                    </p:nvPicPr>
                    <p:blipFill>
                      <a:blip r:embed="rId4"/>
                      <a:stretch>
                        <a:fillRect/>
                      </a:stretch>
                    </p:blipFill>
                    <p:spPr>
                      <a:xfrm>
                        <a:off x="381000" y="3628610"/>
                        <a:ext cx="11430000" cy="3217656"/>
                      </a:xfrm>
                      <a:prstGeom prst="rect">
                        <a:avLst/>
                      </a:prstGeom>
                    </p:spPr>
                  </p:pic>
                </p:oleObj>
              </mc:Fallback>
            </mc:AlternateContent>
          </a:graphicData>
        </a:graphic>
      </p:graphicFrame>
      <p:sp>
        <p:nvSpPr>
          <p:cNvPr id="5" name="矩形 4"/>
          <p:cNvSpPr/>
          <p:nvPr/>
        </p:nvSpPr>
        <p:spPr>
          <a:xfrm>
            <a:off x="6200318" y="5317308"/>
            <a:ext cx="896672"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039509" y="5317308"/>
            <a:ext cx="896672"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0304726" y="5317308"/>
            <a:ext cx="896672"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4" name="矩形 3"/>
          <p:cNvSpPr>
            <a:spLocks noChangeAspect="1"/>
          </p:cNvSpPr>
          <p:nvPr/>
        </p:nvSpPr>
        <p:spPr>
          <a:xfrm>
            <a:off x="381000" y="1277476"/>
            <a:ext cx="11430000" cy="177279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的交点坐标为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	B.(1,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C.(1,1)	D.(</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692262149"/>
              </p:ext>
            </p:extLst>
          </p:nvPr>
        </p:nvGraphicFramePr>
        <p:xfrm>
          <a:off x="36576" y="3026572"/>
          <a:ext cx="11430000" cy="1003297"/>
        </p:xfrm>
        <a:graphic>
          <a:graphicData uri="http://schemas.openxmlformats.org/presentationml/2006/ole">
            <mc:AlternateContent xmlns:mc="http://schemas.openxmlformats.org/markup-compatibility/2006">
              <mc:Choice xmlns:v="urn:schemas-microsoft-com:vml" Requires="v">
                <p:oleObj spid="_x0000_s2069"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36576" y="3026572"/>
                        <a:ext cx="11430000" cy="1003297"/>
                      </a:xfrm>
                      <a:prstGeom prst="rect">
                        <a:avLst/>
                      </a:prstGeom>
                    </p:spPr>
                  </p:pic>
                </p:oleObj>
              </mc:Fallback>
            </mc:AlternateContent>
          </a:graphicData>
        </a:graphic>
      </p:graphicFrame>
      <p:sp>
        <p:nvSpPr>
          <p:cNvPr id="6" name="矩形 5"/>
          <p:cNvSpPr>
            <a:spLocks noChangeAspect="1"/>
          </p:cNvSpPr>
          <p:nvPr/>
        </p:nvSpPr>
        <p:spPr>
          <a:xfrm>
            <a:off x="381000" y="4005485"/>
            <a:ext cx="1613968"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076630"/>
            <a:ext cx="11430000" cy="573042"/>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二、两点间的距离</a:t>
            </a:r>
            <a:r>
              <a:rPr lang="zh-CN" altLang="zh-CN" sz="2800" dirty="0" smtClean="0">
                <a:solidFill>
                  <a:srgbClr val="000000"/>
                </a:solidFill>
                <a:latin typeface="NEU-BZ-S92"/>
                <a:ea typeface="方正正中黑简体"/>
                <a:cs typeface="Times New Roman" panose="02020603050405020304" pitchFamily="18" charset="0"/>
              </a:rPr>
              <a:t>公式</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96474894"/>
              </p:ext>
            </p:extLst>
          </p:nvPr>
        </p:nvGraphicFramePr>
        <p:xfrm>
          <a:off x="64008" y="1727587"/>
          <a:ext cx="11430000" cy="501192"/>
        </p:xfrm>
        <a:graphic>
          <a:graphicData uri="http://schemas.openxmlformats.org/presentationml/2006/ole">
            <mc:AlternateContent xmlns:mc="http://schemas.openxmlformats.org/markup-compatibility/2006">
              <mc:Choice xmlns:v="urn:schemas-microsoft-com:vml" Requires="v">
                <p:oleObj spid="_x0000_s3150" name="文档" r:id="rId3" imgW="4520786" imgH="198231" progId="Word.Document.12">
                  <p:embed/>
                </p:oleObj>
              </mc:Choice>
              <mc:Fallback>
                <p:oleObj name="文档" r:id="rId3" imgW="4520786" imgH="198231" progId="Word.Document.12">
                  <p:embed/>
                  <p:pic>
                    <p:nvPicPr>
                      <p:cNvPr id="0" name=""/>
                      <p:cNvPicPr/>
                      <p:nvPr/>
                    </p:nvPicPr>
                    <p:blipFill>
                      <a:blip r:embed="rId4"/>
                      <a:stretch>
                        <a:fillRect/>
                      </a:stretch>
                    </p:blipFill>
                    <p:spPr>
                      <a:xfrm>
                        <a:off x="64008" y="1727587"/>
                        <a:ext cx="11430000" cy="50119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433219684"/>
              </p:ext>
            </p:extLst>
          </p:nvPr>
        </p:nvGraphicFramePr>
        <p:xfrm>
          <a:off x="64008" y="2311254"/>
          <a:ext cx="11430000" cy="501192"/>
        </p:xfrm>
        <a:graphic>
          <a:graphicData uri="http://schemas.openxmlformats.org/presentationml/2006/ole">
            <mc:AlternateContent xmlns:mc="http://schemas.openxmlformats.org/markup-compatibility/2006">
              <mc:Choice xmlns:v="urn:schemas-microsoft-com:vml" Requires="v">
                <p:oleObj spid="_x0000_s3151" name="文档" r:id="rId5" imgW="4520786" imgH="198231" progId="Word.Document.12">
                  <p:embed/>
                </p:oleObj>
              </mc:Choice>
              <mc:Fallback>
                <p:oleObj name="文档" r:id="rId5" imgW="4520786" imgH="198231" progId="Word.Document.12">
                  <p:embed/>
                  <p:pic>
                    <p:nvPicPr>
                      <p:cNvPr id="0" name=""/>
                      <p:cNvPicPr/>
                      <p:nvPr/>
                    </p:nvPicPr>
                    <p:blipFill>
                      <a:blip r:embed="rId6"/>
                      <a:stretch>
                        <a:fillRect/>
                      </a:stretch>
                    </p:blipFill>
                    <p:spPr>
                      <a:xfrm>
                        <a:off x="64008" y="2311254"/>
                        <a:ext cx="11430000" cy="50119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984198471"/>
              </p:ext>
            </p:extLst>
          </p:nvPr>
        </p:nvGraphicFramePr>
        <p:xfrm>
          <a:off x="64008" y="2919305"/>
          <a:ext cx="11430000" cy="501192"/>
        </p:xfrm>
        <a:graphic>
          <a:graphicData uri="http://schemas.openxmlformats.org/presentationml/2006/ole">
            <mc:AlternateContent xmlns:mc="http://schemas.openxmlformats.org/markup-compatibility/2006">
              <mc:Choice xmlns:v="urn:schemas-microsoft-com:vml" Requires="v">
                <p:oleObj spid="_x0000_s3152" name="文档" r:id="rId7" imgW="4520786" imgH="198231" progId="Word.Document.12">
                  <p:embed/>
                </p:oleObj>
              </mc:Choice>
              <mc:Fallback>
                <p:oleObj name="文档" r:id="rId7" imgW="4520786" imgH="198231" progId="Word.Document.12">
                  <p:embed/>
                  <p:pic>
                    <p:nvPicPr>
                      <p:cNvPr id="0" name=""/>
                      <p:cNvPicPr/>
                      <p:nvPr/>
                    </p:nvPicPr>
                    <p:blipFill>
                      <a:blip r:embed="rId8"/>
                      <a:stretch>
                        <a:fillRect/>
                      </a:stretch>
                    </p:blipFill>
                    <p:spPr>
                      <a:xfrm>
                        <a:off x="64008" y="2919305"/>
                        <a:ext cx="11430000" cy="50119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88101629"/>
              </p:ext>
            </p:extLst>
          </p:nvPr>
        </p:nvGraphicFramePr>
        <p:xfrm>
          <a:off x="64008" y="3469265"/>
          <a:ext cx="11430000" cy="1003297"/>
        </p:xfrm>
        <a:graphic>
          <a:graphicData uri="http://schemas.openxmlformats.org/presentationml/2006/ole">
            <mc:AlternateContent xmlns:mc="http://schemas.openxmlformats.org/markup-compatibility/2006">
              <mc:Choice xmlns:v="urn:schemas-microsoft-com:vml" Requires="v">
                <p:oleObj spid="_x0000_s3153" name="文档" r:id="rId9" imgW="4520786" imgH="396823" progId="Word.Document.12">
                  <p:embed/>
                </p:oleObj>
              </mc:Choice>
              <mc:Fallback>
                <p:oleObj name="文档" r:id="rId9" imgW="4520786" imgH="396823" progId="Word.Document.12">
                  <p:embed/>
                  <p:pic>
                    <p:nvPicPr>
                      <p:cNvPr id="0" name=""/>
                      <p:cNvPicPr/>
                      <p:nvPr/>
                    </p:nvPicPr>
                    <p:blipFill>
                      <a:blip r:embed="rId10"/>
                      <a:stretch>
                        <a:fillRect/>
                      </a:stretch>
                    </p:blipFill>
                    <p:spPr>
                      <a:xfrm>
                        <a:off x="64008" y="3469265"/>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363877040"/>
              </p:ext>
            </p:extLst>
          </p:nvPr>
        </p:nvGraphicFramePr>
        <p:xfrm>
          <a:off x="55563" y="851185"/>
          <a:ext cx="11401425" cy="2997200"/>
        </p:xfrm>
        <a:graphic>
          <a:graphicData uri="http://schemas.openxmlformats.org/presentationml/2006/ole">
            <mc:AlternateContent xmlns:mc="http://schemas.openxmlformats.org/markup-compatibility/2006">
              <mc:Choice xmlns:v="urn:schemas-microsoft-com:vml" Requires="v">
                <p:oleObj spid="_x0000_s4117" name="文档" r:id="rId3" imgW="4510061" imgH="1191801" progId="Word.Document.12">
                  <p:embed/>
                </p:oleObj>
              </mc:Choice>
              <mc:Fallback>
                <p:oleObj name="文档" r:id="rId3" imgW="4510061" imgH="1191801" progId="Word.Document.12">
                  <p:embed/>
                  <p:pic>
                    <p:nvPicPr>
                      <p:cNvPr id="0" name=""/>
                      <p:cNvPicPr/>
                      <p:nvPr/>
                    </p:nvPicPr>
                    <p:blipFill>
                      <a:blip r:embed="rId4"/>
                      <a:stretch>
                        <a:fillRect/>
                      </a:stretch>
                    </p:blipFill>
                    <p:spPr>
                      <a:xfrm>
                        <a:off x="55563" y="851185"/>
                        <a:ext cx="11401425" cy="2997200"/>
                      </a:xfrm>
                      <a:prstGeom prst="rect">
                        <a:avLst/>
                      </a:prstGeom>
                    </p:spPr>
                  </p:pic>
                </p:oleObj>
              </mc:Fallback>
            </mc:AlternateContent>
          </a:graphicData>
        </a:graphic>
      </p:graphicFrame>
      <p:sp>
        <p:nvSpPr>
          <p:cNvPr id="3" name="矩形 2"/>
          <p:cNvSpPr>
            <a:spLocks noChangeAspect="1"/>
          </p:cNvSpPr>
          <p:nvPr/>
        </p:nvSpPr>
        <p:spPr>
          <a:xfrm>
            <a:off x="381000" y="3664500"/>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|x</a:t>
            </a:r>
            <a:r>
              <a:rPr lang="en-US" altLang="zh-CN" sz="2800" baseline="-25000" dirty="0">
                <a:solidFill>
                  <a:srgbClr val="FF0000"/>
                </a:solidFill>
                <a:uFill>
                  <a:solidFill>
                    <a:srgbClr val="000000"/>
                  </a:solidFill>
                </a:uFill>
                <a:latin typeface="Times New Roman" panose="02020603050405020304" pitchFamily="18" charset="0"/>
                <a:cs typeface="Times New Roman" panose="02020603050405020304" pitchFamily="18" charset="0"/>
              </a:rPr>
              <a:t>2</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-x</a:t>
            </a:r>
            <a:r>
              <a:rPr lang="en-US" altLang="zh-CN" sz="2800" baseline="-25000" dirty="0">
                <a:solidFill>
                  <a:srgbClr val="FF0000"/>
                </a:solidFill>
                <a:uFill>
                  <a:solidFill>
                    <a:srgbClr val="000000"/>
                  </a:solidFill>
                </a:uFill>
                <a:latin typeface="Times New Roman" panose="02020603050405020304" pitchFamily="18" charset="0"/>
                <a:cs typeface="Times New Roman" panose="02020603050405020304" pitchFamily="18" charset="0"/>
              </a:rPr>
              <a:t>1</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|y</a:t>
            </a:r>
            <a:r>
              <a:rPr lang="en-US" altLang="zh-CN" sz="2800" baseline="-25000" dirty="0">
                <a:solidFill>
                  <a:srgbClr val="FF0000"/>
                </a:solidFill>
                <a:uFill>
                  <a:solidFill>
                    <a:srgbClr val="000000"/>
                  </a:solidFill>
                </a:uFill>
                <a:latin typeface="Times New Roman" panose="02020603050405020304" pitchFamily="18" charset="0"/>
                <a:cs typeface="Times New Roman" panose="02020603050405020304" pitchFamily="18" charset="0"/>
              </a:rPr>
              <a:t>2</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-y</a:t>
            </a:r>
            <a:r>
              <a:rPr lang="en-US" altLang="zh-CN" sz="2800" baseline="-25000" dirty="0">
                <a:solidFill>
                  <a:srgbClr val="FF0000"/>
                </a:solidFill>
                <a:uFill>
                  <a:solidFill>
                    <a:srgbClr val="000000"/>
                  </a:solidFill>
                </a:uFill>
                <a:latin typeface="Times New Roman" panose="02020603050405020304" pitchFamily="18" charset="0"/>
                <a:cs typeface="Times New Roman" panose="02020603050405020304" pitchFamily="18" charset="0"/>
              </a:rPr>
              <a:t>1</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4" name="矩形 3"/>
          <p:cNvSpPr/>
          <p:nvPr/>
        </p:nvSpPr>
        <p:spPr>
          <a:xfrm>
            <a:off x="5805465" y="3781432"/>
            <a:ext cx="83432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5817105" y="4218392"/>
            <a:ext cx="830821"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5805465" y="4328085"/>
            <a:ext cx="83432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5817105" y="4765045"/>
            <a:ext cx="830821"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81144"/>
            <a:ext cx="6993902"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已知</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Times New Roman" panose="02020603050405020304" pitchFamily="18" charset="0"/>
                <a:cs typeface="Times New Roman" panose="02020603050405020304" pitchFamily="18" charset="0"/>
              </a:rPr>
              <a:t>等于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599683577"/>
              </p:ext>
            </p:extLst>
          </p:nvPr>
        </p:nvGraphicFramePr>
        <p:xfrm>
          <a:off x="64008" y="1958014"/>
          <a:ext cx="11430000" cy="1003297"/>
        </p:xfrm>
        <a:graphic>
          <a:graphicData uri="http://schemas.openxmlformats.org/presentationml/2006/ole">
            <mc:AlternateContent xmlns:mc="http://schemas.openxmlformats.org/markup-compatibility/2006">
              <mc:Choice xmlns:v="urn:schemas-microsoft-com:vml" Requires="v">
                <p:oleObj spid="_x0000_s5160"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4008" y="1958014"/>
                        <a:ext cx="11430000" cy="100329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562816503"/>
              </p:ext>
            </p:extLst>
          </p:nvPr>
        </p:nvGraphicFramePr>
        <p:xfrm>
          <a:off x="64008" y="2985695"/>
          <a:ext cx="11430000" cy="1003297"/>
        </p:xfrm>
        <a:graphic>
          <a:graphicData uri="http://schemas.openxmlformats.org/presentationml/2006/ole">
            <mc:AlternateContent xmlns:mc="http://schemas.openxmlformats.org/markup-compatibility/2006">
              <mc:Choice xmlns:v="urn:schemas-microsoft-com:vml" Requires="v">
                <p:oleObj spid="_x0000_s5161"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64008" y="2985695"/>
                        <a:ext cx="11430000" cy="1003297"/>
                      </a:xfrm>
                      <a:prstGeom prst="rect">
                        <a:avLst/>
                      </a:prstGeom>
                    </p:spPr>
                  </p:pic>
                </p:oleObj>
              </mc:Fallback>
            </mc:AlternateContent>
          </a:graphicData>
        </a:graphic>
      </p:graphicFrame>
      <p:sp>
        <p:nvSpPr>
          <p:cNvPr id="5" name="矩形 4"/>
          <p:cNvSpPr>
            <a:spLocks noChangeAspect="1"/>
          </p:cNvSpPr>
          <p:nvPr/>
        </p:nvSpPr>
        <p:spPr>
          <a:xfrm>
            <a:off x="381000" y="3952416"/>
            <a:ext cx="1613968"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7346"/>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若由两条直线的方程组成的方程组有解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则两条直线相交</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若两条直线的斜率都存在且不相等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则两条直线相交</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若两条直线的斜率一个存在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另一个不存在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则两条直线相交</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026016199"/>
              </p:ext>
            </p:extLst>
          </p:nvPr>
        </p:nvGraphicFramePr>
        <p:xfrm>
          <a:off x="48768" y="3448372"/>
          <a:ext cx="11430000" cy="1003297"/>
        </p:xfrm>
        <a:graphic>
          <a:graphicData uri="http://schemas.openxmlformats.org/presentationml/2006/ole">
            <mc:AlternateContent xmlns:mc="http://schemas.openxmlformats.org/markup-compatibility/2006">
              <mc:Choice xmlns:v="urn:schemas-microsoft-com:vml" Requires="v">
                <p:oleObj spid="_x0000_s6165"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8768" y="3448372"/>
                        <a:ext cx="11430000" cy="1003297"/>
                      </a:xfrm>
                      <a:prstGeom prst="rect">
                        <a:avLst/>
                      </a:prstGeom>
                    </p:spPr>
                  </p:pic>
                </p:oleObj>
              </mc:Fallback>
            </mc:AlternateContent>
          </a:graphicData>
        </a:graphic>
      </p:graphicFrame>
      <p:sp>
        <p:nvSpPr>
          <p:cNvPr id="4" name="矩形 3"/>
          <p:cNvSpPr>
            <a:spLocks noChangeAspect="1"/>
          </p:cNvSpPr>
          <p:nvPr/>
        </p:nvSpPr>
        <p:spPr>
          <a:xfrm>
            <a:off x="381000" y="4351398"/>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5" name="矩形 4"/>
          <p:cNvSpPr/>
          <p:nvPr/>
        </p:nvSpPr>
        <p:spPr>
          <a:xfrm>
            <a:off x="10102035" y="1944605"/>
            <a:ext cx="53324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361351" y="2439811"/>
            <a:ext cx="406103"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0523829" y="2996047"/>
            <a:ext cx="406103"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361351" y="3663835"/>
            <a:ext cx="593753"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103893" y="4482842"/>
            <a:ext cx="53324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两直线的交点问题</a:t>
                </a:r>
              </a:p>
            </p:txBody>
          </p:sp>
        </p:grpSp>
      </p:grpSp>
      <p:sp>
        <p:nvSpPr>
          <p:cNvPr id="2" name="矩形 1"/>
          <p:cNvSpPr>
            <a:spLocks noChangeAspect="1"/>
          </p:cNvSpPr>
          <p:nvPr/>
        </p:nvSpPr>
        <p:spPr>
          <a:xfrm>
            <a:off x="381000" y="1589837"/>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判断下列各对直线的位置关系</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求出交点的坐标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7,</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	l</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dirty="0" smtClean="0">
                <a:solidFill>
                  <a:srgbClr val="000000"/>
                </a:solidFill>
                <a:latin typeface="Times New Roman" panose="02020603050405020304" pitchFamily="18" charset="0"/>
                <a:cs typeface="Times New Roman" panose="02020603050405020304" pitchFamily="18" charset="0"/>
              </a:rPr>
              <a:t>7</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	</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l</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dirty="0" smtClean="0">
                <a:solidFill>
                  <a:srgbClr val="000000"/>
                </a:solidFill>
                <a:latin typeface="Times New Roman" panose="02020603050405020304" pitchFamily="18" charset="0"/>
                <a:cs typeface="Times New Roman" panose="02020603050405020304" pitchFamily="18" charset="0"/>
              </a:rPr>
              <a:t>12</a:t>
            </a: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dirty="0" smtClean="0">
                <a:solidFill>
                  <a:srgbClr val="000000"/>
                </a:solidFill>
                <a:latin typeface="Times New Roman" panose="02020603050405020304" pitchFamily="18" charset="0"/>
                <a:cs typeface="Times New Roman" panose="02020603050405020304" pitchFamily="18" charset="0"/>
              </a:rPr>
              <a:t>8</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	</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l</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通过联立方程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解方程组确定解的个数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判定直线的位置关系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52720493"/>
              </p:ext>
            </p:extLst>
          </p:nvPr>
        </p:nvGraphicFramePr>
        <p:xfrm>
          <a:off x="60960" y="455084"/>
          <a:ext cx="11430000" cy="3510170"/>
        </p:xfrm>
        <a:graphic>
          <a:graphicData uri="http://schemas.openxmlformats.org/presentationml/2006/ole">
            <mc:AlternateContent xmlns:mc="http://schemas.openxmlformats.org/markup-compatibility/2006">
              <mc:Choice xmlns:v="urn:schemas-microsoft-com:vml" Requires="v">
                <p:oleObj spid="_x0000_s7188"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60960" y="455084"/>
                        <a:ext cx="11430000" cy="3510170"/>
                      </a:xfrm>
                      <a:prstGeom prst="rect">
                        <a:avLst/>
                      </a:prstGeom>
                    </p:spPr>
                  </p:pic>
                </p:oleObj>
              </mc:Fallback>
            </mc:AlternateContent>
          </a:graphicData>
        </a:graphic>
      </p:graphicFrame>
      <p:sp>
        <p:nvSpPr>
          <p:cNvPr id="3" name="矩形 2"/>
          <p:cNvSpPr>
            <a:spLocks noChangeAspect="1"/>
          </p:cNvSpPr>
          <p:nvPr/>
        </p:nvSpPr>
        <p:spPr>
          <a:xfrm>
            <a:off x="381000" y="398963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方程组</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有唯一解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说明两条直线相交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方程组无解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说明两条直线平行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方程组有无数组解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说明两条直线重合</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74752"/>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若三条直线</a:t>
            </a:r>
            <a:r>
              <a:rPr lang="en-US" altLang="zh-CN" sz="2800" i="1" dirty="0" err="1">
                <a:solidFill>
                  <a:srgbClr val="000000"/>
                </a:solidFill>
                <a:latin typeface="Times New Roman" panose="02020603050405020304" pitchFamily="18" charset="0"/>
                <a:cs typeface="Times New Roman" panose="02020603050405020304" pitchFamily="18" charset="0"/>
              </a:rPr>
              <a:t>x+ky</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相交于一点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的值是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81970034"/>
              </p:ext>
            </p:extLst>
          </p:nvPr>
        </p:nvGraphicFramePr>
        <p:xfrm>
          <a:off x="60960" y="1414927"/>
          <a:ext cx="11430000" cy="1504488"/>
        </p:xfrm>
        <a:graphic>
          <a:graphicData uri="http://schemas.openxmlformats.org/presentationml/2006/ole">
            <mc:AlternateContent xmlns:mc="http://schemas.openxmlformats.org/markup-compatibility/2006">
              <mc:Choice xmlns:v="urn:schemas-microsoft-com:vml" Requires="v">
                <p:oleObj spid="_x0000_s8228"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60960" y="1414927"/>
                        <a:ext cx="11430000" cy="150448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63767128"/>
              </p:ext>
            </p:extLst>
          </p:nvPr>
        </p:nvGraphicFramePr>
        <p:xfrm>
          <a:off x="60960" y="2931607"/>
          <a:ext cx="11430000" cy="2507784"/>
        </p:xfrm>
        <a:graphic>
          <a:graphicData uri="http://schemas.openxmlformats.org/presentationml/2006/ole">
            <mc:AlternateContent xmlns:mc="http://schemas.openxmlformats.org/markup-compatibility/2006">
              <mc:Choice xmlns:v="urn:schemas-microsoft-com:vml" Requires="v">
                <p:oleObj spid="_x0000_s8229" name="文档" r:id="rId5" imgW="4520786" imgH="991877" progId="Word.Document.12">
                  <p:embed/>
                </p:oleObj>
              </mc:Choice>
              <mc:Fallback>
                <p:oleObj name="文档" r:id="rId5" imgW="4520786" imgH="991877" progId="Word.Document.12">
                  <p:embed/>
                  <p:pic>
                    <p:nvPicPr>
                      <p:cNvPr id="0" name=""/>
                      <p:cNvPicPr/>
                      <p:nvPr/>
                    </p:nvPicPr>
                    <p:blipFill>
                      <a:blip r:embed="rId6"/>
                      <a:stretch>
                        <a:fillRect/>
                      </a:stretch>
                    </p:blipFill>
                    <p:spPr>
                      <a:xfrm>
                        <a:off x="60960" y="2931607"/>
                        <a:ext cx="11430000" cy="2507784"/>
                      </a:xfrm>
                      <a:prstGeom prst="rect">
                        <a:avLst/>
                      </a:prstGeom>
                    </p:spPr>
                  </p:pic>
                </p:oleObj>
              </mc:Fallback>
            </mc:AlternateContent>
          </a:graphicData>
        </a:graphic>
      </p:graphicFrame>
      <p:sp>
        <p:nvSpPr>
          <p:cNvPr id="5" name="矩形 4"/>
          <p:cNvSpPr>
            <a:spLocks noChangeAspect="1"/>
          </p:cNvSpPr>
          <p:nvPr/>
        </p:nvSpPr>
        <p:spPr>
          <a:xfrm>
            <a:off x="381000" y="5309839"/>
            <a:ext cx="161294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直线系方程</a:t>
                </a:r>
              </a:p>
            </p:txBody>
          </p:sp>
        </p:grpSp>
      </p:grpSp>
      <p:sp>
        <p:nvSpPr>
          <p:cNvPr id="2" name="矩形 1"/>
          <p:cNvSpPr>
            <a:spLocks noChangeAspect="1"/>
          </p:cNvSpPr>
          <p:nvPr/>
        </p:nvSpPr>
        <p:spPr>
          <a:xfrm>
            <a:off x="381000" y="702541"/>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求经过点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和两条直线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的交点的直线方程</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不论</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取何实数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都经过一个定点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并求这个定点的坐标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求出交点坐标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应用两点式写出直线方程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设所求直线方程为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代入求出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即得所求直线方程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取特殊值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得到两条直线的方程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定点即为两条直线的交点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将方程整理为关于</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由方程的解为全体实数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求出定点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charRg st="114" end="200"/>
                                            </p:txEl>
                                          </p:spTgt>
                                        </p:tgtEl>
                                        <p:attrNameLst>
                                          <p:attrName>style.visibility</p:attrName>
                                        </p:attrNameLst>
                                      </p:cBhvr>
                                      <p:to>
                                        <p:strVal val="visible"/>
                                      </p:to>
                                    </p:set>
                                    <p:animEffect transition="in" filter="randombar(horizontal)">
                                      <p:cBhvr>
                                        <p:cTn id="7" dur="500"/>
                                        <p:tgtEl>
                                          <p:spTgt spid="2">
                                            <p:txEl>
                                              <p:charRg st="114" end="20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charRg st="200" end="270"/>
                                            </p:txEl>
                                          </p:spTgt>
                                        </p:tgtEl>
                                        <p:attrNameLst>
                                          <p:attrName>style.visibility</p:attrName>
                                        </p:attrNameLst>
                                      </p:cBhvr>
                                      <p:to>
                                        <p:strVal val="visible"/>
                                      </p:to>
                                    </p:set>
                                    <p:animEffect transition="in" filter="randombar(horizontal)">
                                      <p:cBhvr>
                                        <p:cTn id="10" dur="500"/>
                                        <p:tgtEl>
                                          <p:spTgt spid="2">
                                            <p:txEl>
                                              <p:charRg st="200" end="27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矩形 5"/>
              <p:cNvSpPr>
                <a:spLocks noChangeAspect="1"/>
              </p:cNvSpPr>
              <p:nvPr/>
            </p:nvSpPr>
            <p:spPr>
              <a:xfrm>
                <a:off x="381000" y="370500"/>
                <a:ext cx="11430000" cy="4565289"/>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解方程组</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solidFill>
                                    <a:srgbClr val="000000"/>
                                  </a:solidFill>
                                  <a:latin typeface="Cambria Math" panose="02040503050406030204" pitchFamily="18" charset="0"/>
                                  <a:cs typeface="Times New Roman" panose="02020603050405020304" pitchFamily="18" charset="0"/>
                                </a:rPr>
                                <m:t>𝑥</m:t>
                              </m:r>
                              <m:r>
                                <a:rPr lang="en-US" altLang="zh-CN" sz="2800">
                                  <a:solidFill>
                                    <a:srgbClr val="000000"/>
                                  </a:solidFill>
                                  <a:latin typeface="Cambria Math" panose="02040503050406030204" pitchFamily="18" charset="0"/>
                                  <a:cs typeface="Times New Roman" panose="02020603050405020304" pitchFamily="18" charset="0"/>
                                </a:rPr>
                                <m:t>+2</m:t>
                              </m:r>
                              <m:r>
                                <a:rPr lang="en-US" altLang="zh-CN" sz="2800" i="1">
                                  <a:solidFill>
                                    <a:srgbClr val="000000"/>
                                  </a:solidFill>
                                  <a:latin typeface="Cambria Math" panose="02040503050406030204" pitchFamily="18" charset="0"/>
                                  <a:cs typeface="Times New Roman" panose="02020603050405020304" pitchFamily="18" charset="0"/>
                                </a:rPr>
                                <m:t>𝑦</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2=0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
                                <a:rPr lang="en-US" altLang="zh-CN" sz="2800">
                                  <a:solidFill>
                                    <a:srgbClr val="000000"/>
                                  </a:solidFill>
                                  <a:latin typeface="Cambria Math" panose="02040503050406030204" pitchFamily="18" charset="0"/>
                                  <a:cs typeface="Times New Roman" panose="02020603050405020304" pitchFamily="18" charset="0"/>
                                </a:rPr>
                                <m:t>3</m:t>
                              </m:r>
                              <m:r>
                                <a:rPr lang="en-US" altLang="zh-CN" sz="2800" i="1">
                                  <a:solidFill>
                                    <a:srgbClr val="000000"/>
                                  </a:solidFill>
                                  <a:latin typeface="Cambria Math" panose="02040503050406030204" pitchFamily="18" charset="0"/>
                                  <a:cs typeface="Times New Roman" panose="02020603050405020304" pitchFamily="18" charset="0"/>
                                </a:rPr>
                                <m:t>𝑥</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2</m:t>
                              </m:r>
                              <m:r>
                                <a:rPr lang="en-US" altLang="zh-CN" sz="2800" i="1">
                                  <a:solidFill>
                                    <a:srgbClr val="000000"/>
                                  </a:solidFill>
                                  <a:latin typeface="Cambria Math" panose="02040503050406030204" pitchFamily="18" charset="0"/>
                                  <a:cs typeface="Times New Roman" panose="02020603050405020304" pitchFamily="18" charset="0"/>
                                </a:rPr>
                                <m:t>𝑦</m:t>
                              </m:r>
                              <m:r>
                                <a:rPr lang="en-US" altLang="zh-CN" sz="2800">
                                  <a:solidFill>
                                    <a:srgbClr val="000000"/>
                                  </a:solidFill>
                                  <a:latin typeface="Cambria Math" panose="02040503050406030204" pitchFamily="18" charset="0"/>
                                  <a:cs typeface="Times New Roman" panose="02020603050405020304" pitchFamily="18" charset="0"/>
                                </a:rPr>
                                <m:t>+2=0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的交点坐标为</a:t>
                </a:r>
                <a:r>
                  <a:rPr lang="en-US" altLang="zh-CN" sz="2800" dirty="0">
                    <a:solidFill>
                      <a:srgbClr val="000000"/>
                    </a:solidFill>
                    <a:latin typeface="Times New Roman" panose="02020603050405020304" pitchFamily="18" charset="0"/>
                    <a:cs typeface="Times New Roman" panose="02020603050405020304" pitchFamily="18" charset="0"/>
                  </a:rPr>
                  <a:t>(0,1</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直线经过点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(1,0),(0,1),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由两点式可得所求直线的方程为</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不经过点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设所求的直线方程为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R</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在直线上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m:t>
                        </m:r>
                      </m:den>
                    </m:f>
                  </m:oMath>
                </a14:m>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所求直线的方程为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m:t>
                        </m:r>
                      </m:den>
                    </m:f>
                  </m:oMath>
                </a14:m>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381000" y="370500"/>
                <a:ext cx="11430000" cy="4565289"/>
              </a:xfrm>
              <a:prstGeom prst="rect">
                <a:avLst/>
              </a:prstGeom>
              <a:blipFill rotWithShape="0">
                <a:blip r:embed="rId2"/>
                <a:stretch>
                  <a:fillRect b="-6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矩形 4"/>
              <p:cNvSpPr>
                <a:spLocks noChangeAspect="1"/>
              </p:cNvSpPr>
              <p:nvPr/>
            </p:nvSpPr>
            <p:spPr>
              <a:xfrm>
                <a:off x="381000" y="223871"/>
                <a:ext cx="11430000" cy="5710602"/>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NEU-BZ-S92"/>
                    <a:cs typeface="宋体" panose="02010600030101010101" pitchFamily="2" charset="-122"/>
                  </a:rPr>
                  <a:t>①</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NEU-BZ-S92"/>
                    <a:cs typeface="宋体" panose="02010600030101010101" pitchFamily="2" charset="-122"/>
                  </a:rPr>
                  <a:t>②</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将</a:t>
                </a:r>
                <a:r>
                  <a:rPr lang="zh-CN" altLang="zh-CN" sz="2800" dirty="0">
                    <a:solidFill>
                      <a:srgbClr val="000000"/>
                    </a:solidFill>
                    <a:latin typeface="NEU-BZ-S92"/>
                    <a:cs typeface="宋体" panose="02010600030101010101" pitchFamily="2" charset="-122"/>
                  </a:rPr>
                  <a:t>①②</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联立得</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solidFill>
                                    <a:srgbClr val="000000"/>
                                  </a:solidFill>
                                  <a:latin typeface="Cambria Math" panose="02040503050406030204" pitchFamily="18" charset="0"/>
                                  <a:cs typeface="Times New Roman" panose="02020603050405020304" pitchFamily="18" charset="0"/>
                                </a:rPr>
                                <m:t>𝑥</m:t>
                              </m:r>
                              <m:r>
                                <a:rPr lang="en-US" altLang="zh-CN" sz="2800">
                                  <a:solidFill>
                                    <a:srgbClr val="000000"/>
                                  </a:solidFill>
                                  <a:latin typeface="Cambria Math" panose="020405030504060302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𝑦</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
                                <a:rPr lang="en-US" altLang="zh-CN" sz="2800">
                                  <a:solidFill>
                                    <a:srgbClr val="000000"/>
                                  </a:solidFill>
                                  <a:latin typeface="Cambria Math" panose="02040503050406030204" pitchFamily="18" charset="0"/>
                                  <a:cs typeface="Times New Roman" panose="02020603050405020304" pitchFamily="18" charset="0"/>
                                </a:rPr>
                                <m:t>4</m:t>
                              </m:r>
                              <m:r>
                                <a:rPr lang="en-US" altLang="zh-CN" sz="2800" i="1">
                                  <a:solidFill>
                                    <a:srgbClr val="000000"/>
                                  </a:solidFill>
                                  <a:latin typeface="Cambria Math" panose="02040503050406030204" pitchFamily="18" charset="0"/>
                                  <a:cs typeface="Times New Roman" panose="02020603050405020304" pitchFamily="18" charset="0"/>
                                </a:rPr>
                                <m:t>𝑥</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𝑦</m:t>
                              </m:r>
                              <m:r>
                                <a:rPr lang="en-US" altLang="zh-CN" sz="2800">
                                  <a:solidFill>
                                    <a:srgbClr val="000000"/>
                                  </a:solidFill>
                                  <a:latin typeface="Cambria Math" panose="02040503050406030204" pitchFamily="18" charset="0"/>
                                  <a:cs typeface="Times New Roman" panose="02020603050405020304" pitchFamily="18" charset="0"/>
                                </a:rPr>
                                <m:t>+2=0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解得</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solidFill>
                                    <a:srgbClr val="000000"/>
                                  </a:solidFill>
                                  <a:latin typeface="Cambria Math" panose="02040503050406030204" pitchFamily="18" charset="0"/>
                                  <a:cs typeface="Times New Roman" panose="02020603050405020304" pitchFamily="18" charset="0"/>
                                </a:rPr>
                                <m:t>𝑥</m:t>
                              </m:r>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m:t>
                                  </m:r>
                                </m:den>
                              </m:f>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
                                <a:rPr lang="en-US" altLang="zh-CN" sz="2800" i="1">
                                  <a:solidFill>
                                    <a:srgbClr val="000000"/>
                                  </a:solidFill>
                                  <a:latin typeface="Cambria Math" panose="02040503050406030204" pitchFamily="18" charset="0"/>
                                  <a:cs typeface="Times New Roman" panose="02020603050405020304" pitchFamily="18" charset="0"/>
                                </a:rPr>
                                <m:t>𝑦</m:t>
                              </m:r>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6</m:t>
                                  </m:r>
                                </m:num>
                                <m:den>
                                  <m:r>
                                    <a:rPr lang="en-US" altLang="zh-CN" sz="2800">
                                      <a:solidFill>
                                        <a:srgbClr val="000000"/>
                                      </a:solidFill>
                                      <a:latin typeface="Cambria Math" panose="02040503050406030204" pitchFamily="18" charset="0"/>
                                      <a:cs typeface="Times New Roman" panose="02020603050405020304" pitchFamily="18" charset="0"/>
                                    </a:rPr>
                                    <m:t>5</m:t>
                                  </m:r>
                                </m:den>
                              </m:f>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把</a:t>
                </a:r>
                <a:r>
                  <a:rPr lang="en-US" altLang="zh-CN" sz="2800" i="1" dirty="0">
                    <a:solidFill>
                      <a:srgbClr val="000000"/>
                    </a:solidFill>
                    <a:latin typeface="Times New Roman" panose="02020603050405020304" pitchFamily="18" charset="0"/>
                    <a:cs typeface="Times New Roman" panose="02020603050405020304" pitchFamily="18" charset="0"/>
                  </a:rPr>
                  <a:t>x=-</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6</m:t>
                        </m:r>
                      </m:num>
                      <m:den>
                        <m:r>
                          <a:rPr lang="en-US" altLang="zh-CN" sz="2800">
                            <a:solidFill>
                              <a:srgbClr val="000000"/>
                            </a:solidFill>
                            <a:latin typeface="Cambria Math" panose="02040503050406030204" pitchFamily="18" charset="0"/>
                            <a:cs typeface="Times New Roman" panose="02020603050405020304" pitchFamily="18" charset="0"/>
                          </a:rPr>
                          <m:t>5</m:t>
                        </m:r>
                      </m:den>
                    </m:f>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代入直线方程</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的左边</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m:t>
                            </m:r>
                          </m:den>
                        </m:f>
                      </m:e>
                    </m:d>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6</m:t>
                        </m:r>
                      </m:num>
                      <m:den>
                        <m:r>
                          <a:rPr lang="en-US" altLang="zh-CN" sz="2800">
                            <a:solidFill>
                              <a:srgbClr val="000000"/>
                            </a:solidFill>
                            <a:latin typeface="Cambria Math" panose="02040503050406030204" pitchFamily="18" charset="0"/>
                            <a:cs typeface="Times New Roman" panose="02020603050405020304" pitchFamily="18" charset="0"/>
                          </a:rPr>
                          <m:t>5</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不论</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为何实数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恒过定点</a:t>
                </a: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m:t>
                            </m:r>
                          </m:den>
                        </m:f>
                        <m:r>
                          <m:rPr>
                            <m:nor/>
                          </m:rPr>
                          <a:rPr lang="en-US" altLang="zh-CN" sz="2800">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6</m:t>
                            </m:r>
                          </m:num>
                          <m:den>
                            <m:r>
                              <a:rPr lang="en-US" altLang="zh-CN" sz="2800">
                                <a:solidFill>
                                  <a:srgbClr val="000000"/>
                                </a:solidFill>
                                <a:latin typeface="Cambria Math" panose="02040503050406030204" pitchFamily="18" charset="0"/>
                                <a:cs typeface="Times New Roman" panose="02020603050405020304" pitchFamily="18" charset="0"/>
                              </a:rPr>
                              <m:t>5</m:t>
                            </m:r>
                          </m:den>
                        </m:f>
                      </m:e>
                    </m:d>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381000" y="223871"/>
                <a:ext cx="11430000" cy="5710602"/>
              </a:xfrm>
              <a:prstGeom prst="rect">
                <a:avLst/>
              </a:prstGeom>
              <a:blipFill rotWithShape="0">
                <a:blip r:embed="rId2"/>
                <a:stretch>
                  <a:fillRect t="-320" b="-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3454799"/>
            <a:ext cx="11430000" cy="2272673"/>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经过</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两条直线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交点的直线方程可写为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它不能表示直线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反之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当直线的方程写为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直线一定经过直线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的交点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矩形 5"/>
              <p:cNvSpPr>
                <a:spLocks noChangeAspect="1"/>
              </p:cNvSpPr>
              <p:nvPr/>
            </p:nvSpPr>
            <p:spPr>
              <a:xfrm>
                <a:off x="381000" y="246930"/>
                <a:ext cx="11430000" cy="3197478"/>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方程可化为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1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的任意性可知</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solidFill>
                                    <a:srgbClr val="000000"/>
                                  </a:solidFill>
                                  <a:latin typeface="Cambria Math" panose="02040503050406030204" pitchFamily="18" charset="0"/>
                                  <a:cs typeface="Times New Roman" panose="02020603050405020304" pitchFamily="18" charset="0"/>
                                </a:rPr>
                                <m:t>𝑥</m:t>
                              </m:r>
                              <m:r>
                                <a:rPr lang="en-US" altLang="zh-CN" sz="2800">
                                  <a:solidFill>
                                    <a:srgbClr val="000000"/>
                                  </a:solidFill>
                                  <a:latin typeface="Cambria Math" panose="020405030504060302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𝑦</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
                                <a:rPr lang="en-US" altLang="zh-CN" sz="2800">
                                  <a:solidFill>
                                    <a:srgbClr val="000000"/>
                                  </a:solidFill>
                                  <a:latin typeface="Cambria Math" panose="02040503050406030204" pitchFamily="18" charset="0"/>
                                  <a:cs typeface="Times New Roman" panose="02020603050405020304" pitchFamily="18" charset="0"/>
                                </a:rPr>
                                <m:t>3</m:t>
                              </m:r>
                              <m:r>
                                <a:rPr lang="en-US" altLang="zh-CN" sz="2800" i="1">
                                  <a:solidFill>
                                    <a:srgbClr val="000000"/>
                                  </a:solidFill>
                                  <a:latin typeface="Cambria Math" panose="02040503050406030204" pitchFamily="18" charset="0"/>
                                  <a:cs typeface="Times New Roman" panose="02020603050405020304" pitchFamily="18" charset="0"/>
                                </a:rPr>
                                <m:t>𝑥</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2</m:t>
                              </m:r>
                              <m:r>
                                <a:rPr lang="en-US" altLang="zh-CN" sz="2800" i="1">
                                  <a:solidFill>
                                    <a:srgbClr val="000000"/>
                                  </a:solidFill>
                                  <a:latin typeface="Cambria Math" panose="02040503050406030204" pitchFamily="18" charset="0"/>
                                  <a:cs typeface="Times New Roman" panose="02020603050405020304" pitchFamily="18" charset="0"/>
                                </a:rPr>
                                <m:t>𝑦</m:t>
                              </m:r>
                              <m:r>
                                <a:rPr lang="en-US" altLang="zh-CN" sz="2800">
                                  <a:solidFill>
                                    <a:srgbClr val="000000"/>
                                  </a:solidFill>
                                  <a:latin typeface="Cambria Math" panose="02040503050406030204" pitchFamily="18" charset="0"/>
                                  <a:cs typeface="Times New Roman" panose="02020603050405020304" pitchFamily="18" charset="0"/>
                                </a:rPr>
                                <m:t>+3=0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解得</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solidFill>
                                    <a:srgbClr val="000000"/>
                                  </a:solidFill>
                                  <a:latin typeface="Cambria Math" panose="02040503050406030204" pitchFamily="18" charset="0"/>
                                  <a:cs typeface="Times New Roman" panose="02020603050405020304" pitchFamily="18" charset="0"/>
                                </a:rPr>
                                <m:t>𝑥</m:t>
                              </m:r>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m:t>
                                  </m:r>
                                </m:den>
                              </m:f>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
                                <a:rPr lang="en-US" altLang="zh-CN" sz="2800" i="1">
                                  <a:solidFill>
                                    <a:srgbClr val="000000"/>
                                  </a:solidFill>
                                  <a:latin typeface="Cambria Math" panose="02040503050406030204" pitchFamily="18" charset="0"/>
                                  <a:cs typeface="Times New Roman" panose="02020603050405020304" pitchFamily="18" charset="0"/>
                                </a:rPr>
                                <m:t>𝑦</m:t>
                              </m:r>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6</m:t>
                                  </m:r>
                                </m:num>
                                <m:den>
                                  <m:r>
                                    <a:rPr lang="en-US" altLang="zh-CN" sz="2800">
                                      <a:solidFill>
                                        <a:srgbClr val="000000"/>
                                      </a:solidFill>
                                      <a:latin typeface="Cambria Math" panose="02040503050406030204" pitchFamily="18" charset="0"/>
                                      <a:cs typeface="Times New Roman" panose="02020603050405020304" pitchFamily="18" charset="0"/>
                                    </a:rPr>
                                    <m:t>5</m:t>
                                  </m:r>
                                </m:den>
                              </m:f>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不论</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为何实数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直线恒过定点</a:t>
                </a: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m:t>
                            </m:r>
                          </m:den>
                        </m:f>
                        <m:r>
                          <m:rPr>
                            <m:nor/>
                          </m:rPr>
                          <a:rPr lang="en-US" altLang="zh-CN" sz="2800">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6</m:t>
                            </m:r>
                          </m:num>
                          <m:den>
                            <m:r>
                              <a:rPr lang="en-US" altLang="zh-CN" sz="2800">
                                <a:solidFill>
                                  <a:srgbClr val="000000"/>
                                </a:solidFill>
                                <a:latin typeface="Cambria Math" panose="02040503050406030204" pitchFamily="18" charset="0"/>
                                <a:cs typeface="Times New Roman" panose="02020603050405020304" pitchFamily="18" charset="0"/>
                              </a:rPr>
                              <m:t>5</m:t>
                            </m:r>
                          </m:den>
                        </m:f>
                      </m:e>
                    </m:d>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381000" y="246930"/>
                <a:ext cx="11430000" cy="3197478"/>
              </a:xfrm>
              <a:prstGeom prst="rect">
                <a:avLst/>
              </a:prstGeom>
              <a:blipFill rotWithShape="0">
                <a:blip r:embed="rId2"/>
                <a:stretch>
                  <a:fillRect t="-573" b="-11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78804"/>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经过直线</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和直线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且与直线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垂直的直线方程为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不论</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为何实数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y=m-</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恒过一定点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则此定点坐标为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0960" y="497767"/>
            <a:ext cx="11750040" cy="4692203"/>
            <a:chOff x="60960" y="923798"/>
            <a:chExt cx="11750040" cy="4692203"/>
          </a:xfrm>
        </p:grpSpPr>
        <p:graphicFrame>
          <p:nvGraphicFramePr>
            <p:cNvPr id="2" name="对象 1"/>
            <p:cNvGraphicFramePr>
              <a:graphicFrameLocks noChangeAspect="1"/>
            </p:cNvGraphicFramePr>
            <p:nvPr>
              <p:extLst>
                <p:ext uri="{D42A27DB-BD31-4B8C-83A1-F6EECF244321}">
                  <p14:modId xmlns:p14="http://schemas.microsoft.com/office/powerpoint/2010/main" val="3653533705"/>
                </p:ext>
              </p:extLst>
            </p:nvPr>
          </p:nvGraphicFramePr>
          <p:xfrm>
            <a:off x="60960" y="923798"/>
            <a:ext cx="11430000" cy="2005680"/>
          </p:xfrm>
          <a:graphic>
            <a:graphicData uri="http://schemas.openxmlformats.org/presentationml/2006/ole">
              <mc:AlternateContent xmlns:mc="http://schemas.openxmlformats.org/markup-compatibility/2006">
                <mc:Choice xmlns:v="urn:schemas-microsoft-com:vml" Requires="v">
                  <p:oleObj spid="_x0000_s12306"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60960" y="923798"/>
                          <a:ext cx="11430000" cy="2005680"/>
                        </a:xfrm>
                        <a:prstGeom prst="rect">
                          <a:avLst/>
                        </a:prstGeom>
                      </p:spPr>
                    </p:pic>
                  </p:oleObj>
                </mc:Fallback>
              </mc:AlternateContent>
            </a:graphicData>
          </a:graphic>
        </p:graphicFrame>
        <p:sp>
          <p:nvSpPr>
            <p:cNvPr id="3" name="矩形 2"/>
            <p:cNvSpPr>
              <a:spLocks noChangeAspect="1"/>
            </p:cNvSpPr>
            <p:nvPr/>
          </p:nvSpPr>
          <p:spPr>
            <a:xfrm>
              <a:off x="381000" y="2783174"/>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由点斜式得</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由题意可设所求的直线方程为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由题意得</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故所求的直线方程为</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78804"/>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y=m-</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可化为</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625733799"/>
              </p:ext>
            </p:extLst>
          </p:nvPr>
        </p:nvGraphicFramePr>
        <p:xfrm>
          <a:off x="64008" y="1906906"/>
          <a:ext cx="11430000" cy="1003297"/>
        </p:xfrm>
        <a:graphic>
          <a:graphicData uri="http://schemas.openxmlformats.org/presentationml/2006/ole">
            <mc:AlternateContent xmlns:mc="http://schemas.openxmlformats.org/markup-compatibility/2006">
              <mc:Choice xmlns:v="urn:schemas-microsoft-com:vml" Requires="v">
                <p:oleObj spid="_x0000_s13330"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4008" y="1906906"/>
                        <a:ext cx="11430000" cy="1003297"/>
                      </a:xfrm>
                      <a:prstGeom prst="rect">
                        <a:avLst/>
                      </a:prstGeom>
                    </p:spPr>
                  </p:pic>
                </p:oleObj>
              </mc:Fallback>
            </mc:AlternateContent>
          </a:graphicData>
        </a:graphic>
      </p:graphicFrame>
      <p:sp>
        <p:nvSpPr>
          <p:cNvPr id="4" name="矩形 3"/>
          <p:cNvSpPr>
            <a:spLocks noChangeAspect="1"/>
          </p:cNvSpPr>
          <p:nvPr/>
        </p:nvSpPr>
        <p:spPr>
          <a:xfrm>
            <a:off x="381000" y="2910203"/>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则此定点坐标为</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两点间距离公式的应用</a:t>
                </a:r>
              </a:p>
            </p:txBody>
          </p:sp>
        </p:grpSp>
      </p:grpSp>
      <p:sp>
        <p:nvSpPr>
          <p:cNvPr id="2" name="矩形 1"/>
          <p:cNvSpPr>
            <a:spLocks noChangeAspect="1"/>
          </p:cNvSpPr>
          <p:nvPr/>
        </p:nvSpPr>
        <p:spPr>
          <a:xfrm>
            <a:off x="381000" y="1282192"/>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在直线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上求一点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两点的距离相等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解答本题有</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两种</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在直线上和</a:t>
            </a:r>
            <a:r>
              <a:rPr lang="en-US" altLang="zh-CN" sz="2800" i="1" dirty="0">
                <a:solidFill>
                  <a:srgbClr val="000000"/>
                </a:solidFill>
                <a:latin typeface="Times New Roman" panose="02020603050405020304" pitchFamily="18" charset="0"/>
                <a:cs typeface="Times New Roman" panose="02020603050405020304" pitchFamily="18" charset="0"/>
              </a:rPr>
              <a:t>|PA|=|PB</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两点间距离公式建立关于</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解方程组得点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dirty="0">
                <a:solidFill>
                  <a:srgbClr val="000000"/>
                </a:solidFill>
                <a:latin typeface="Times New Roman" panose="02020603050405020304" pitchFamily="18" charset="0"/>
                <a:cs typeface="Times New Roman" panose="02020603050405020304" pitchFamily="18" charset="0"/>
              </a:rPr>
              <a:t>|PA|=|PB|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在线段</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的垂直平分线上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再解由两条直线的方程组成的方程组得交点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4008" y="56642"/>
            <a:ext cx="11746992" cy="6691630"/>
            <a:chOff x="64008" y="56642"/>
            <a:chExt cx="11746992" cy="6691630"/>
          </a:xfrm>
        </p:grpSpPr>
        <p:sp>
          <p:nvSpPr>
            <p:cNvPr id="2" name="矩形 1"/>
            <p:cNvSpPr>
              <a:spLocks noChangeAspect="1"/>
            </p:cNvSpPr>
            <p:nvPr/>
          </p:nvSpPr>
          <p:spPr>
            <a:xfrm>
              <a:off x="381000" y="56642"/>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上和点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两点的距离相等建立方程组</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398559919"/>
                </p:ext>
              </p:extLst>
            </p:nvPr>
          </p:nvGraphicFramePr>
          <p:xfrm>
            <a:off x="64008" y="1198414"/>
            <a:ext cx="11430000" cy="2507784"/>
          </p:xfrm>
          <a:graphic>
            <a:graphicData uri="http://schemas.openxmlformats.org/presentationml/2006/ole">
              <mc:AlternateContent xmlns:mc="http://schemas.openxmlformats.org/markup-compatibility/2006">
                <mc:Choice xmlns:v="urn:schemas-microsoft-com:vml" Requires="v">
                  <p:oleObj spid="_x0000_s14368"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64008" y="1198414"/>
                          <a:ext cx="11430000" cy="2507784"/>
                        </a:xfrm>
                        <a:prstGeom prst="rect">
                          <a:avLst/>
                        </a:prstGeom>
                      </p:spPr>
                    </p:pic>
                  </p:oleObj>
                </mc:Fallback>
              </mc:AlternateContent>
            </a:graphicData>
          </a:graphic>
        </p:graphicFrame>
        <p:sp>
          <p:nvSpPr>
            <p:cNvPr id="4" name="矩形 3"/>
            <p:cNvSpPr>
              <a:spLocks noChangeAspect="1"/>
            </p:cNvSpPr>
            <p:nvPr/>
          </p:nvSpPr>
          <p:spPr>
            <a:xfrm>
              <a:off x="381000" y="3633046"/>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dirty="0" smtClean="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两点连线所得线段的垂直平分线方程为</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NEU-BZ-S92"/>
                  <a:cs typeface="宋体" panose="02010600030101010101" pitchFamily="2" charset="-122"/>
                </a:rPr>
                <a:t>①</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已知</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NEU-BZ-S92"/>
                  <a:cs typeface="宋体" panose="02010600030101010101" pitchFamily="2" charset="-122"/>
                </a:rPr>
                <a:t>②</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078418886"/>
                </p:ext>
              </p:extLst>
            </p:nvPr>
          </p:nvGraphicFramePr>
          <p:xfrm>
            <a:off x="64008" y="5248030"/>
            <a:ext cx="11430000" cy="1003297"/>
          </p:xfrm>
          <a:graphic>
            <a:graphicData uri="http://schemas.openxmlformats.org/presentationml/2006/ole">
              <mc:AlternateContent xmlns:mc="http://schemas.openxmlformats.org/markup-compatibility/2006">
                <mc:Choice xmlns:v="urn:schemas-microsoft-com:vml" Requires="v">
                  <p:oleObj spid="_x0000_s14369"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64008" y="5248030"/>
                          <a:ext cx="11430000" cy="1003297"/>
                        </a:xfrm>
                        <a:prstGeom prst="rect">
                          <a:avLst/>
                        </a:prstGeom>
                      </p:spPr>
                    </p:pic>
                  </p:oleObj>
                </mc:Fallback>
              </mc:AlternateContent>
            </a:graphicData>
          </a:graphic>
        </p:graphicFrame>
        <p:sp>
          <p:nvSpPr>
            <p:cNvPr id="6" name="矩形 5"/>
            <p:cNvSpPr>
              <a:spLocks noChangeAspect="1"/>
            </p:cNvSpPr>
            <p:nvPr/>
          </p:nvSpPr>
          <p:spPr>
            <a:xfrm>
              <a:off x="381000" y="6095786"/>
              <a:ext cx="4068743"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的坐标为</a:t>
              </a:r>
              <a:r>
                <a:rPr lang="en-US" altLang="zh-CN" sz="2800" dirty="0">
                  <a:solidFill>
                    <a:srgbClr val="000000"/>
                  </a:solidFill>
                  <a:latin typeface="Times New Roman" panose="02020603050405020304" pitchFamily="18" charset="0"/>
                  <a:cs typeface="Times New Roman" panose="02020603050405020304" pitchFamily="18" charset="0"/>
                </a:rPr>
                <a:t>(0,1</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45981"/>
            <a:ext cx="11430000" cy="1772793"/>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坐标平面内两点间的距离公式可以求平面上任意两个已知点间的距离</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反过来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已知两点间的距离也可以根据条件求其中一个点的坐标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3263"/>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(4,12),</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轴上的一点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与点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的距离等于</a:t>
            </a:r>
            <a:r>
              <a:rPr lang="en-US" altLang="zh-CN" sz="2800" dirty="0">
                <a:solidFill>
                  <a:srgbClr val="000000"/>
                </a:solidFill>
                <a:latin typeface="Times New Roman" panose="02020603050405020304" pitchFamily="18" charset="0"/>
                <a:cs typeface="Times New Roman" panose="02020603050405020304" pitchFamily="18" charset="0"/>
              </a:rPr>
              <a:t>13,</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的坐标为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71124044"/>
              </p:ext>
            </p:extLst>
          </p:nvPr>
        </p:nvGraphicFramePr>
        <p:xfrm>
          <a:off x="60960" y="1843438"/>
          <a:ext cx="11430000" cy="1003297"/>
        </p:xfrm>
        <a:graphic>
          <a:graphicData uri="http://schemas.openxmlformats.org/presentationml/2006/ole">
            <mc:AlternateContent xmlns:mc="http://schemas.openxmlformats.org/markup-compatibility/2006">
              <mc:Choice xmlns:v="urn:schemas-microsoft-com:vml" Requires="v">
                <p:oleObj spid="_x0000_s15376"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0960" y="1843438"/>
                        <a:ext cx="11430000" cy="1003297"/>
                      </a:xfrm>
                      <a:prstGeom prst="rect">
                        <a:avLst/>
                      </a:prstGeom>
                    </p:spPr>
                  </p:pic>
                </p:oleObj>
              </mc:Fallback>
            </mc:AlternateContent>
          </a:graphicData>
        </a:graphic>
      </p:graphicFrame>
      <p:sp>
        <p:nvSpPr>
          <p:cNvPr id="4" name="矩形 3"/>
          <p:cNvSpPr>
            <a:spLocks noChangeAspect="1"/>
          </p:cNvSpPr>
          <p:nvPr/>
        </p:nvSpPr>
        <p:spPr>
          <a:xfrm>
            <a:off x="381000" y="2799768"/>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(9,0)</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down)">
                                      <p:cBhvr>
                                        <p:cTn id="10" dur="500"/>
                                        <p:tgtEl>
                                          <p:spTgt spid="4">
                                            <p:txEl>
                                              <p:pRg st="0" end="0"/>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wipe(down)">
                                      <p:cBhvr>
                                        <p:cTn id="13" dur="500"/>
                                        <p:tgtEl>
                                          <p:spTgt spid="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wipe(down)">
                                      <p:cBhvr>
                                        <p:cTn id="18"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思想方法</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8" name="矩形 7"/>
          <p:cNvSpPr>
            <a:spLocks noChangeAspect="1"/>
          </p:cNvSpPr>
          <p:nvPr/>
        </p:nvSpPr>
        <p:spPr>
          <a:xfrm>
            <a:off x="381000" y="703132"/>
            <a:ext cx="11430000" cy="569386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是边</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上异于点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的任意一点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审题视角</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建立适当的平面直角坐标系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设出各顶点的坐标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应用两点间的距离公式证明</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9" name="WMX1TRAX50.eps" descr="id:2147492369;FounderCES"/>
          <p:cNvPicPr>
            <a:picLocks noChangeAspect="1"/>
          </p:cNvPicPr>
          <p:nvPr/>
        </p:nvPicPr>
        <p:blipFill>
          <a:blip r:embed="rId2">
            <a:clrChange>
              <a:clrFrom>
                <a:srgbClr val="FFFFFF"/>
              </a:clrFrom>
              <a:clrTo>
                <a:srgbClr val="FFFFFF">
                  <a:alpha val="0"/>
                </a:srgbClr>
              </a:clrTo>
            </a:clrChange>
          </a:blip>
          <a:stretch>
            <a:fillRect/>
          </a:stretch>
        </p:blipFill>
        <p:spPr>
          <a:xfrm>
            <a:off x="4275025" y="2037929"/>
            <a:ext cx="3641950" cy="2889839"/>
          </a:xfrm>
          <a:prstGeom prst="rect">
            <a:avLst/>
          </a:prstGeom>
        </p:spPr>
      </p:pic>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animEffect transition="in" filter="wipe(down)">
                                      <p:cBhvr>
                                        <p:cTn id="7"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61439"/>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以边</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a:t>
            </a:r>
            <a:r>
              <a:rPr lang="zh-CN" altLang="zh-CN" sz="2800" dirty="0" smtClean="0">
                <a:solidFill>
                  <a:srgbClr val="000000"/>
                </a:solidFill>
                <a:latin typeface="Times New Roman" panose="02020603050405020304" pitchFamily="18" charset="0"/>
                <a:cs typeface="Times New Roman" panose="02020603050405020304" pitchFamily="18" charset="0"/>
              </a:rPr>
              <a:t>中点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smtClean="0">
                <a:solidFill>
                  <a:srgbClr val="000000"/>
                </a:solidFill>
                <a:latin typeface="Times New Roman" panose="02020603050405020304" pitchFamily="18" charset="0"/>
                <a:cs typeface="Times New Roman" panose="02020603050405020304" pitchFamily="18" charset="0"/>
              </a:rPr>
              <a:t>为原点</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边</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建立平面直角坐标系如图所示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-b&lt;m&lt;b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由题意知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由两点间的距离公式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i="1" dirty="0" err="1">
                <a:solidFill>
                  <a:srgbClr val="000000"/>
                </a:solidFill>
                <a:latin typeface="Times New Roman" panose="02020603050405020304" pitchFamily="18" charset="0"/>
                <a:cs typeface="Times New Roman" panose="02020603050405020304" pitchFamily="18" charset="0"/>
              </a:rPr>
              <a:t>m+b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WMX1TRAX51.eps" descr="id:2147492376;FounderCES"/>
          <p:cNvPicPr/>
          <p:nvPr/>
        </p:nvPicPr>
        <p:blipFill>
          <a:blip r:embed="rId2">
            <a:clrChange>
              <a:clrFrom>
                <a:srgbClr val="FFFFFF"/>
              </a:clrFrom>
              <a:clrTo>
                <a:srgbClr val="FFFFFF">
                  <a:alpha val="0"/>
                </a:srgbClr>
              </a:clrTo>
            </a:clrChange>
          </a:blip>
          <a:stretch>
            <a:fillRect/>
          </a:stretch>
        </p:blipFill>
        <p:spPr>
          <a:xfrm>
            <a:off x="8707295" y="2197668"/>
            <a:ext cx="3154274" cy="2580069"/>
          </a:xfrm>
          <a:prstGeom prst="rect">
            <a:avLst/>
          </a:prstGeom>
        </p:spPr>
      </p:pic>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1989"/>
            <a:ext cx="11430000" cy="625402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方法点睛</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解决平面几何问题时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关键要结合图形的特征</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建立适当的平面直角坐标系</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坐标系建立的是否合适</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会直接影响问题能否方便解决</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建系的原则主要有两点</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让尽可能多的点落在坐标轴上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这样便于运算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若条件中有互相垂直的两条直线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则考虑将它们作为两坐标轴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若图形为中心对称图形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则考虑将中心作为原点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若图形为轴对称图形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则考虑将对称轴作为坐标轴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解决平面几何问题的基本步骤</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第一步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用坐标表示有关的量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第二步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进行有关代数运算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第三步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把代数运算的结果</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翻译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成几何结论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25563"/>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已知在等腰梯形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对角线为</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BD.</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|AC|=|BD|.</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为坐标原点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边</a:t>
            </a:r>
            <a:r>
              <a:rPr lang="en-US" altLang="zh-CN" sz="2800" i="1" dirty="0">
                <a:solidFill>
                  <a:srgbClr val="000000"/>
                </a:solidFill>
                <a:latin typeface="Times New Roman" panose="02020603050405020304" pitchFamily="18" charset="0"/>
                <a:cs typeface="Times New Roman" panose="02020603050405020304" pitchFamily="18" charset="0"/>
              </a:rPr>
              <a:t>OB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建立平面直角坐标系如图所示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的坐标是</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5" name="组合 4"/>
          <p:cNvGrpSpPr/>
          <p:nvPr/>
        </p:nvGrpSpPr>
        <p:grpSpPr>
          <a:xfrm>
            <a:off x="48768" y="1193733"/>
            <a:ext cx="11430000" cy="4106913"/>
            <a:chOff x="48768" y="1474290"/>
            <a:chExt cx="11430000" cy="4106913"/>
          </a:xfrm>
        </p:grpSpPr>
        <p:graphicFrame>
          <p:nvGraphicFramePr>
            <p:cNvPr id="3" name="对象 2"/>
            <p:cNvGraphicFramePr>
              <a:graphicFrameLocks noChangeAspect="1"/>
            </p:cNvGraphicFramePr>
            <p:nvPr>
              <p:extLst>
                <p:ext uri="{D42A27DB-BD31-4B8C-83A1-F6EECF244321}">
                  <p14:modId xmlns:p14="http://schemas.microsoft.com/office/powerpoint/2010/main" val="3606490288"/>
                </p:ext>
              </p:extLst>
            </p:nvPr>
          </p:nvGraphicFramePr>
          <p:xfrm>
            <a:off x="48768" y="3575523"/>
            <a:ext cx="11430000" cy="2005680"/>
          </p:xfrm>
          <a:graphic>
            <a:graphicData uri="http://schemas.openxmlformats.org/presentationml/2006/ole">
              <mc:AlternateContent xmlns:mc="http://schemas.openxmlformats.org/markup-compatibility/2006">
                <mc:Choice xmlns:v="urn:schemas-microsoft-com:vml" Requires="v">
                  <p:oleObj spid="_x0000_s16399"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8768" y="3575523"/>
                          <a:ext cx="11430000" cy="2005680"/>
                        </a:xfrm>
                        <a:prstGeom prst="rect">
                          <a:avLst/>
                        </a:prstGeom>
                      </p:spPr>
                    </p:pic>
                  </p:oleObj>
                </mc:Fallback>
              </mc:AlternateContent>
            </a:graphicData>
          </a:graphic>
        </p:graphicFrame>
        <p:pic>
          <p:nvPicPr>
            <p:cNvPr id="4" name="WMX1TRAX52.eps" descr="id:2147492390;FounderCES"/>
            <p:cNvPicPr/>
            <p:nvPr/>
          </p:nvPicPr>
          <p:blipFill>
            <a:blip r:embed="rId5">
              <a:clrChange>
                <a:clrFrom>
                  <a:srgbClr val="FFFFFF"/>
                </a:clrFrom>
                <a:clrTo>
                  <a:srgbClr val="FFFFFF">
                    <a:alpha val="0"/>
                  </a:srgbClr>
                </a:clrTo>
              </a:clrChange>
            </a:blip>
            <a:stretch>
              <a:fillRect/>
            </a:stretch>
          </p:blipFill>
          <p:spPr>
            <a:xfrm>
              <a:off x="8359905" y="1474290"/>
              <a:ext cx="2911599" cy="2113425"/>
            </a:xfrm>
            <a:prstGeom prst="rect">
              <a:avLst/>
            </a:prstGeom>
          </p:spPr>
        </p:pic>
      </p:grpSp>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wipe(down)">
                                      <p:cBhvr>
                                        <p:cTn id="10" dur="500"/>
                                        <p:tgtEl>
                                          <p:spTgt spid="2">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wipe(down)">
                                      <p:cBhvr>
                                        <p:cTn id="13" dur="500"/>
                                        <p:tgtEl>
                                          <p:spTgt spid="2">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的交点坐标是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A.(2,2)	B.(2,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2,2)	D.(</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294811194"/>
              </p:ext>
            </p:extLst>
          </p:nvPr>
        </p:nvGraphicFramePr>
        <p:xfrm>
          <a:off x="481140" y="2427253"/>
          <a:ext cx="11430000" cy="1003297"/>
        </p:xfrm>
        <a:graphic>
          <a:graphicData uri="http://schemas.openxmlformats.org/presentationml/2006/ole">
            <mc:AlternateContent xmlns:mc="http://schemas.openxmlformats.org/markup-compatibility/2006">
              <mc:Choice xmlns:v="urn:schemas-microsoft-com:vml" Requires="v">
                <p:oleObj spid="_x0000_s17422"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81140" y="2427253"/>
                        <a:ext cx="11430000" cy="1003297"/>
                      </a:xfrm>
                      <a:prstGeom prst="rect">
                        <a:avLst/>
                      </a:prstGeom>
                    </p:spPr>
                  </p:pic>
                </p:oleObj>
              </mc:Fallback>
            </mc:AlternateContent>
          </a:graphicData>
        </a:graphic>
      </p:graphicFrame>
      <p:sp>
        <p:nvSpPr>
          <p:cNvPr id="4" name="矩形 3"/>
          <p:cNvSpPr>
            <a:spLocks noChangeAspect="1"/>
          </p:cNvSpPr>
          <p:nvPr/>
        </p:nvSpPr>
        <p:spPr>
          <a:xfrm>
            <a:off x="381000" y="3430550"/>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所以交点坐标为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down)">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wipe(down)">
                                      <p:cBhvr>
                                        <p:cTn id="15"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5985"/>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经过直线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且经过原点的直线的方程为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A.19</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	B.9</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19</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C.19</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	D.3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19</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78140227"/>
              </p:ext>
            </p:extLst>
          </p:nvPr>
        </p:nvGraphicFramePr>
        <p:xfrm>
          <a:off x="481140" y="2251048"/>
          <a:ext cx="11430000" cy="3510170"/>
        </p:xfrm>
        <a:graphic>
          <a:graphicData uri="http://schemas.openxmlformats.org/presentationml/2006/ole">
            <mc:AlternateContent xmlns:mc="http://schemas.openxmlformats.org/markup-compatibility/2006">
              <mc:Choice xmlns:v="urn:schemas-microsoft-com:vml" Requires="v">
                <p:oleObj spid="_x0000_s18446"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481140" y="2251048"/>
                        <a:ext cx="11430000" cy="3510170"/>
                      </a:xfrm>
                      <a:prstGeom prst="rect">
                        <a:avLst/>
                      </a:prstGeom>
                    </p:spPr>
                  </p:pic>
                </p:oleObj>
              </mc:Fallback>
            </mc:AlternateContent>
          </a:graphicData>
        </a:graphic>
      </p:graphicFrame>
      <p:sp>
        <p:nvSpPr>
          <p:cNvPr id="4" name="矩形 3"/>
          <p:cNvSpPr>
            <a:spLocks noChangeAspect="1"/>
          </p:cNvSpPr>
          <p:nvPr/>
        </p:nvSpPr>
        <p:spPr>
          <a:xfrm>
            <a:off x="381000" y="5666927"/>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9553"/>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则实数</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的值为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A.1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C.1</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5</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385547462"/>
              </p:ext>
            </p:extLst>
          </p:nvPr>
        </p:nvGraphicFramePr>
        <p:xfrm>
          <a:off x="481140" y="1771777"/>
          <a:ext cx="11430000" cy="1003297"/>
        </p:xfrm>
        <a:graphic>
          <a:graphicData uri="http://schemas.openxmlformats.org/presentationml/2006/ole">
            <mc:AlternateContent xmlns:mc="http://schemas.openxmlformats.org/markup-compatibility/2006">
              <mc:Choice xmlns:v="urn:schemas-microsoft-com:vml" Requires="v">
                <p:oleObj spid="_x0000_s19482"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81140" y="1771777"/>
                        <a:ext cx="11430000" cy="1003297"/>
                      </a:xfrm>
                      <a:prstGeom prst="rect">
                        <a:avLst/>
                      </a:prstGeom>
                    </p:spPr>
                  </p:pic>
                </p:oleObj>
              </mc:Fallback>
            </mc:AlternateContent>
          </a:graphicData>
        </a:graphic>
      </p:graphicFrame>
      <p:sp>
        <p:nvSpPr>
          <p:cNvPr id="4" name="矩形 3"/>
          <p:cNvSpPr>
            <a:spLocks noChangeAspect="1"/>
          </p:cNvSpPr>
          <p:nvPr/>
        </p:nvSpPr>
        <p:spPr>
          <a:xfrm>
            <a:off x="381000" y="2737811"/>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不论</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为何实数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恒过一定点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则此定点的坐标为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的方程可化为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575786890"/>
              </p:ext>
            </p:extLst>
          </p:nvPr>
        </p:nvGraphicFramePr>
        <p:xfrm>
          <a:off x="481140" y="5034181"/>
          <a:ext cx="11430000" cy="1003297"/>
        </p:xfrm>
        <a:graphic>
          <a:graphicData uri="http://schemas.openxmlformats.org/presentationml/2006/ole">
            <mc:AlternateContent xmlns:mc="http://schemas.openxmlformats.org/markup-compatibility/2006">
              <mc:Choice xmlns:v="urn:schemas-microsoft-com:vml" Requires="v">
                <p:oleObj spid="_x0000_s19483"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81140" y="5034181"/>
                        <a:ext cx="11430000" cy="1003297"/>
                      </a:xfrm>
                      <a:prstGeom prst="rect">
                        <a:avLst/>
                      </a:prstGeom>
                    </p:spPr>
                  </p:pic>
                </p:oleObj>
              </mc:Fallback>
            </mc:AlternateContent>
          </a:graphicData>
        </a:graphic>
      </p:graphicFrame>
      <p:sp>
        <p:nvSpPr>
          <p:cNvPr id="7" name="矩形 6"/>
          <p:cNvSpPr>
            <a:spLocks noChangeAspect="1"/>
          </p:cNvSpPr>
          <p:nvPr/>
        </p:nvSpPr>
        <p:spPr>
          <a:xfrm>
            <a:off x="381000" y="5963639"/>
            <a:ext cx="1781257"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(3,4</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down)">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down)">
                                      <p:cBhvr>
                                        <p:cTn id="15" dur="500"/>
                                        <p:tgtEl>
                                          <p:spTgt spid="4">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wipe(down)">
                                      <p:cBhvr>
                                        <p:cTn id="2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26226"/>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三个顶点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(1,7),</a:t>
            </a:r>
            <a:r>
              <a:rPr lang="zh-CN" altLang="zh-CN" sz="2800" dirty="0">
                <a:solidFill>
                  <a:srgbClr val="000000"/>
                </a:solidFill>
                <a:latin typeface="Times New Roman" panose="02020603050405020304" pitchFamily="18" charset="0"/>
                <a:cs typeface="Times New Roman" panose="02020603050405020304" pitchFamily="18" charset="0"/>
              </a:rPr>
              <a:t>试判断</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的形状</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由两点间的距离公式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nvGrpSpPr>
          <p:cNvPr id="7" name="组合 6"/>
          <p:cNvGrpSpPr/>
          <p:nvPr/>
        </p:nvGrpSpPr>
        <p:grpSpPr>
          <a:xfrm>
            <a:off x="381000" y="1525314"/>
            <a:ext cx="11530140" cy="4161343"/>
            <a:chOff x="381000" y="1795480"/>
            <a:chExt cx="11530140" cy="4161343"/>
          </a:xfrm>
        </p:grpSpPr>
        <p:graphicFrame>
          <p:nvGraphicFramePr>
            <p:cNvPr id="8" name="对象 7"/>
            <p:cNvGraphicFramePr>
              <a:graphicFrameLocks noChangeAspect="1"/>
            </p:cNvGraphicFramePr>
            <p:nvPr>
              <p:extLst>
                <p:ext uri="{D42A27DB-BD31-4B8C-83A1-F6EECF244321}">
                  <p14:modId xmlns:p14="http://schemas.microsoft.com/office/powerpoint/2010/main" val="2538204"/>
                </p:ext>
              </p:extLst>
            </p:nvPr>
          </p:nvGraphicFramePr>
          <p:xfrm>
            <a:off x="481140" y="1795480"/>
            <a:ext cx="11430000" cy="3008976"/>
          </p:xfrm>
          <a:graphic>
            <a:graphicData uri="http://schemas.openxmlformats.org/presentationml/2006/ole">
              <mc:AlternateContent xmlns:mc="http://schemas.openxmlformats.org/markup-compatibility/2006">
                <mc:Choice xmlns:v="urn:schemas-microsoft-com:vml" Requires="v">
                  <p:oleObj spid="_x0000_s20494"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481140" y="1795480"/>
                          <a:ext cx="11430000" cy="3008976"/>
                        </a:xfrm>
                        <a:prstGeom prst="rect">
                          <a:avLst/>
                        </a:prstGeom>
                      </p:spPr>
                    </p:pic>
                  </p:oleObj>
                </mc:Fallback>
              </mc:AlternateContent>
            </a:graphicData>
          </a:graphic>
        </p:graphicFrame>
        <p:sp>
          <p:nvSpPr>
            <p:cNvPr id="9" name="矩形 8"/>
            <p:cNvSpPr>
              <a:spLocks noChangeAspect="1"/>
            </p:cNvSpPr>
            <p:nvPr/>
          </p:nvSpPr>
          <p:spPr>
            <a:xfrm>
              <a:off x="381000" y="4804456"/>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|AB|=|AC|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是等腰直角三角形</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charRg st="47" end="66"/>
                                            </p:txEl>
                                          </p:spTgt>
                                        </p:tgtEl>
                                        <p:attrNameLst>
                                          <p:attrName>style.visibility</p:attrName>
                                        </p:attrNameLst>
                                      </p:cBhvr>
                                      <p:to>
                                        <p:strVal val="visible"/>
                                      </p:to>
                                    </p:set>
                                    <p:animEffect transition="in" filter="randombar(horizontal)">
                                      <p:cBhvr>
                                        <p:cTn id="7" dur="500"/>
                                        <p:tgtEl>
                                          <p:spTgt spid="2">
                                            <p:txEl>
                                              <p:charRg st="47" end="66"/>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矩形 4"/>
              <p:cNvSpPr>
                <a:spLocks noChangeAspect="1"/>
              </p:cNvSpPr>
              <p:nvPr/>
            </p:nvSpPr>
            <p:spPr>
              <a:xfrm>
                <a:off x="381000" y="53542"/>
                <a:ext cx="11430000" cy="63393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边</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所在直线的斜率</a:t>
                </a:r>
                <a:r>
                  <a:rPr lang="en-US" altLang="zh-CN" sz="2800" i="1" dirty="0" err="1">
                    <a:solidFill>
                      <a:srgbClr val="000000"/>
                    </a:solidFill>
                    <a:latin typeface="Times New Roman" panose="02020603050405020304" pitchFamily="18" charset="0"/>
                    <a:cs typeface="Times New Roman" panose="02020603050405020304" pitchFamily="18" charset="0"/>
                  </a:rPr>
                  <a:t>k</a:t>
                </a:r>
                <a:r>
                  <a:rPr lang="en-US" altLang="zh-CN" sz="2800" i="1" baseline="-25000" dirty="0" err="1">
                    <a:solidFill>
                      <a:srgbClr val="000000"/>
                    </a:solidFill>
                    <a:latin typeface="Times New Roman" panose="02020603050405020304" pitchFamily="18" charset="0"/>
                    <a:cs typeface="Times New Roman" panose="02020603050405020304" pitchFamily="18" charset="0"/>
                  </a:rPr>
                  <a:t>AC</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7</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1</m:t>
                        </m:r>
                        <m:r>
                          <m:rPr>
                            <m:nor/>
                          </m:rPr>
                          <a:rPr lang="en-US" altLang="zh-CN" sz="2800" i="1">
                            <a:solidFill>
                              <a:srgbClr val="000000"/>
                            </a:solidFill>
                            <a:latin typeface="Times New Roman" panose="020206030504050203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3</m:t>
                        </m:r>
                        <m:r>
                          <m:rPr>
                            <m:nor/>
                          </m:rPr>
                          <a:rPr lang="en-US" altLang="zh-CN" sz="2800">
                            <a:solidFill>
                              <a:srgbClr val="000000"/>
                            </a:solidFill>
                            <a:latin typeface="Times New Roman" panose="02020603050405020304" pitchFamily="18" charset="0"/>
                            <a:cs typeface="Times New Roman" panose="02020603050405020304" pitchFamily="18" charset="0"/>
                          </a:rPr>
                          <m:t>)</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3</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边</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所在直线的斜率</a:t>
                </a:r>
                <a:r>
                  <a:rPr lang="en-US" altLang="zh-CN" sz="2800" i="1" dirty="0" err="1">
                    <a:solidFill>
                      <a:srgbClr val="000000"/>
                    </a:solidFill>
                    <a:latin typeface="Times New Roman" panose="02020603050405020304" pitchFamily="18" charset="0"/>
                    <a:cs typeface="Times New Roman" panose="02020603050405020304" pitchFamily="18" charset="0"/>
                  </a:rPr>
                  <a:t>k</a:t>
                </a:r>
                <a:r>
                  <a:rPr lang="en-US" altLang="zh-CN" sz="2800" i="1" baseline="-25000" dirty="0" err="1">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3</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r>
                          <m:rPr>
                            <m:nor/>
                          </m:rPr>
                          <a:rPr lang="en-US" altLang="zh-CN" sz="2800" i="1">
                            <a:solidFill>
                              <a:srgbClr val="000000"/>
                            </a:solidFill>
                            <a:latin typeface="Times New Roman" panose="020206030504050203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3</m:t>
                        </m:r>
                        <m:r>
                          <m:rPr>
                            <m:nor/>
                          </m:rPr>
                          <a:rPr lang="en-US" altLang="zh-CN" sz="2800">
                            <a:solidFill>
                              <a:srgbClr val="000000"/>
                            </a:solidFill>
                            <a:latin typeface="Times New Roman" panose="02020603050405020304" pitchFamily="18" charset="0"/>
                            <a:cs typeface="Times New Roman" panose="02020603050405020304" pitchFamily="18" charset="0"/>
                          </a:rPr>
                          <m:t>)</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2</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k</a:t>
                </a:r>
                <a:r>
                  <a:rPr lang="en-US" altLang="zh-CN" sz="2800" i="1" baseline="-25000" dirty="0" err="1">
                    <a:solidFill>
                      <a:srgbClr val="000000"/>
                    </a:solidFill>
                    <a:latin typeface="Times New Roman" panose="02020603050405020304" pitchFamily="18" charset="0"/>
                    <a:cs typeface="Times New Roman" panose="02020603050405020304" pitchFamily="18" charset="0"/>
                  </a:rPr>
                  <a:t>AC</a:t>
                </a:r>
                <a:r>
                  <a:rPr lang="en-US" altLang="zh-CN" sz="2800" i="1" dirty="0" err="1">
                    <a:solidFill>
                      <a:srgbClr val="000000"/>
                    </a:solidFill>
                    <a:latin typeface="Times New Roman" panose="02020603050405020304" pitchFamily="18" charset="0"/>
                    <a:cs typeface="Times New Roman" panose="02020603050405020304" pitchFamily="18" charset="0"/>
                  </a:rPr>
                  <a:t>k</a:t>
                </a:r>
                <a:r>
                  <a:rPr lang="en-US" altLang="zh-CN" sz="2800" i="1" baseline="-25000" dirty="0" err="1">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由两点间的距离公式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dirty="0">
                    <a:solidFill>
                      <a:srgbClr val="000000"/>
                    </a:solidFill>
                    <a:latin typeface="Times New Roman" panose="02020603050405020304" pitchFamily="18" charset="0"/>
                    <a:cs typeface="Times New Roman" panose="02020603050405020304" pitchFamily="18" charset="0"/>
                  </a:rPr>
                  <a:t>|AC|=</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1+3</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7</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r>
                      <a:rPr lang="en-US" altLang="zh-CN" sz="2800" i="1">
                        <a:solidFill>
                          <a:srgbClr val="000000"/>
                        </a:solidFill>
                        <a:latin typeface="Cambria Math" panose="02040503050406030204" pitchFamily="18" charset="0"/>
                        <a:cs typeface="Times New Roman" panose="02020603050405020304" pitchFamily="18" charset="0"/>
                      </a:rPr>
                      <m:t>=</m:t>
                    </m:r>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52</m:t>
                        </m:r>
                      </m:e>
                    </m:rad>
                  </m:oMath>
                </a14:m>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dirty="0">
                    <a:solidFill>
                      <a:srgbClr val="000000"/>
                    </a:solidFill>
                    <a:latin typeface="Times New Roman" panose="02020603050405020304" pitchFamily="18" charset="0"/>
                    <a:cs typeface="Times New Roman" panose="02020603050405020304" pitchFamily="18" charset="0"/>
                  </a:rPr>
                  <a:t>|AB|=</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3+3</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3</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r>
                      <a:rPr lang="en-US" altLang="zh-CN" sz="2800" i="1">
                        <a:solidFill>
                          <a:srgbClr val="000000"/>
                        </a:solidFill>
                        <a:latin typeface="Cambria Math" panose="02040503050406030204" pitchFamily="18" charset="0"/>
                        <a:cs typeface="Times New Roman" panose="02020603050405020304" pitchFamily="18" charset="0"/>
                      </a:rPr>
                      <m:t>=</m:t>
                    </m:r>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52</m:t>
                        </m:r>
                      </m:e>
                    </m:rad>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|AC|=|AB|.</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是等腰直角三角形</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381000" y="53542"/>
                <a:ext cx="11430000" cy="6339300"/>
              </a:xfrm>
              <a:prstGeom prst="rect">
                <a:avLst/>
              </a:prstGeom>
              <a:blipFill rotWithShape="0">
                <a:blip r:embed="rId2"/>
                <a:stretch>
                  <a:fillRect l="-1120" b="-18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219</TotalTime>
  <Words>1944</Words>
  <Application>Microsoft Office PowerPoint</Application>
  <PresentationFormat>宽屏</PresentationFormat>
  <Paragraphs>162</Paragraphs>
  <Slides>37</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58"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30</cp:revision>
  <dcterms:created xsi:type="dcterms:W3CDTF">2021-08-30T08:30:26Z</dcterms:created>
  <dcterms:modified xsi:type="dcterms:W3CDTF">2025-08-09T08:53:56Z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