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9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407" r:id="rId9"/>
    <p:sldId id="394" r:id="rId10"/>
    <p:sldId id="765" r:id="rId11"/>
    <p:sldId id="699" r:id="rId12"/>
    <p:sldId id="700" r:id="rId13"/>
    <p:sldId id="701" r:id="rId14"/>
    <p:sldId id="402" r:id="rId15"/>
    <p:sldId id="712" r:id="rId16"/>
    <p:sldId id="713" r:id="rId17"/>
    <p:sldId id="714" r:id="rId18"/>
    <p:sldId id="715" r:id="rId19"/>
    <p:sldId id="719" r:id="rId20"/>
    <p:sldId id="498" r:id="rId21"/>
    <p:sldId id="730" r:id="rId22"/>
    <p:sldId id="733" r:id="rId23"/>
    <p:sldId id="743" r:id="rId24"/>
    <p:sldId id="740" r:id="rId25"/>
    <p:sldId id="739" r:id="rId26"/>
    <p:sldId id="745" r:id="rId27"/>
    <p:sldId id="741" r:id="rId28"/>
    <p:sldId id="738" r:id="rId29"/>
    <p:sldId id="751" r:id="rId30"/>
    <p:sldId id="752" r:id="rId31"/>
    <p:sldId id="398" r:id="rId32"/>
    <p:sldId id="395" r:id="rId33"/>
    <p:sldId id="756" r:id="rId34"/>
    <p:sldId id="757" r:id="rId35"/>
    <p:sldId id="758" r:id="rId36"/>
    <p:sldId id="759" r:id="rId37"/>
    <p:sldId id="490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2.emf"/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4.xml"/><Relationship Id="rId2" Type="http://schemas.openxmlformats.org/officeDocument/2006/relationships/slide" Target="../slides/slide9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7.xml"/><Relationship Id="rId5" Type="http://schemas.openxmlformats.org/officeDocument/2006/relationships/slide" Target="../slides/slide24.xml"/><Relationship Id="rId4" Type="http://schemas.openxmlformats.org/officeDocument/2006/relationships/slide" Target="../slides/slide2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6736663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780300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886935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993569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探究四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圆角矩形 5">
            <a:hlinkClick r:id="rId6" action="ppaction://hlinksldjump"/>
          </p:cNvPr>
          <p:cNvSpPr/>
          <p:nvPr userDrawn="1"/>
        </p:nvSpPr>
        <p:spPr>
          <a:xfrm>
            <a:off x="1100203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3.docx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4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10.docx"/><Relationship Id="rId13" Type="http://schemas.openxmlformats.org/officeDocument/2006/relationships/image" Target="../media/image17.jpeg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jpeg"/><Relationship Id="rId11" Type="http://schemas.openxmlformats.org/officeDocument/2006/relationships/package" Target="../embeddings/Microsoft_Word___11.docx"/><Relationship Id="rId5" Type="http://schemas.openxmlformats.org/officeDocument/2006/relationships/image" Target="../media/image9.emf"/><Relationship Id="rId10" Type="http://schemas.openxmlformats.org/officeDocument/2006/relationships/oleObject" Target="../embeddings/oleObject11.bin"/><Relationship Id="rId4" Type="http://schemas.openxmlformats.org/officeDocument/2006/relationships/package" Target="../embeddings/Microsoft_Word___9.docx"/><Relationship Id="rId9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2.bin"/><Relationship Id="rId7" Type="http://schemas.openxmlformats.org/officeDocument/2006/relationships/package" Target="../embeddings/Microsoft_Word___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3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2.docx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4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5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6.docx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3.emf"/><Relationship Id="rId4" Type="http://schemas.openxmlformats.org/officeDocument/2006/relationships/package" Target="../embeddings/Microsoft_Word___17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8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6.emf"/><Relationship Id="rId4" Type="http://schemas.openxmlformats.org/officeDocument/2006/relationships/package" Target="../embeddings/Microsoft_Word___20.docx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7.emf"/><Relationship Id="rId4" Type="http://schemas.openxmlformats.org/officeDocument/2006/relationships/package" Target="../embeddings/Microsoft_Word___21.docx"/><Relationship Id="rId9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image" Target="../media/image31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12" Type="http://schemas.openxmlformats.org/officeDocument/2006/relationships/package" Target="../embeddings/Microsoft_Word___26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11" Type="http://schemas.openxmlformats.org/officeDocument/2006/relationships/oleObject" Target="../embeddings/oleObject26.bin"/><Relationship Id="rId5" Type="http://schemas.openxmlformats.org/officeDocument/2006/relationships/image" Target="../media/image30.emf"/><Relationship Id="rId10" Type="http://schemas.openxmlformats.org/officeDocument/2006/relationships/package" Target="../embeddings/Microsoft_Word___25.docx"/><Relationship Id="rId4" Type="http://schemas.openxmlformats.org/officeDocument/2006/relationships/package" Target="../embeddings/Microsoft_Word___23.docx"/><Relationship Id="rId9" Type="http://schemas.openxmlformats.org/officeDocument/2006/relationships/oleObject" Target="../embeddings/oleObject25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oleObject" Target="../embeddings/oleObject27.bin"/><Relationship Id="rId7" Type="http://schemas.openxmlformats.org/officeDocument/2006/relationships/package" Target="../embeddings/Microsoft_Word___28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8.bin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7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29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__31.docx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emf"/><Relationship Id="rId3" Type="http://schemas.openxmlformats.org/officeDocument/2006/relationships/oleObject" Target="../embeddings/oleObject32.bin"/><Relationship Id="rId7" Type="http://schemas.openxmlformats.org/officeDocument/2006/relationships/package" Target="../embeddings/Microsoft_Word___33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39.emf"/><Relationship Id="rId5" Type="http://schemas.openxmlformats.org/officeDocument/2006/relationships/image" Target="../media/image37.emf"/><Relationship Id="rId10" Type="http://schemas.openxmlformats.org/officeDocument/2006/relationships/package" Target="../embeddings/Microsoft_Word___34.docx"/><Relationship Id="rId4" Type="http://schemas.openxmlformats.org/officeDocument/2006/relationships/package" Target="../embeddings/Microsoft_Word___32.docx"/><Relationship Id="rId9" Type="http://schemas.openxmlformats.org/officeDocument/2006/relationships/oleObject" Target="../embeddings/oleObject3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41.jpeg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35.docx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第</a:t>
              </a:r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课时　直线与圆的方程的应用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2.5.1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1218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能正确理解直线与圆的方程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能用直线和圆的方程解决一些简单的数学问题与实际问题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体会坐标法解决平面几何问题的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三步曲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想象、逻辑推理和数学运算素养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5680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直线与圆的方程的应用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坐标法解决平面几何问题的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三步曲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第一步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建立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适当的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坐标和方程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表示问题中的几何元素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如点、直线、圆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把平面几何问题转化为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代数问题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第二步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通过代数运算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代数问题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第三步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代数运算的结果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翻译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成几何结论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37641" y="2425115"/>
            <a:ext cx="104972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2649450" y="2862075"/>
            <a:ext cx="104531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611827" y="2425115"/>
            <a:ext cx="178956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623747" y="2862075"/>
            <a:ext cx="178204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051947" y="2985425"/>
            <a:ext cx="140808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063982" y="3422385"/>
            <a:ext cx="14021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859465" y="3546534"/>
            <a:ext cx="1408085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4871500" y="3983494"/>
            <a:ext cx="14021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2283036" y="4097252"/>
            <a:ext cx="247964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2295173" y="4534212"/>
            <a:ext cx="246923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4282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辆卡车宽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要经过一个半径为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米的半圆形隧道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双车道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不得违章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则这辆卡车的平顶车篷篷顶距离地面的高度不得超过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D.4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米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根据题意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画出示意图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60960" y="3042160"/>
            <a:ext cx="11430000" cy="2771106"/>
            <a:chOff x="60960" y="3395728"/>
            <a:chExt cx="11430000" cy="2771106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2393386"/>
                </p:ext>
              </p:extLst>
            </p:nvPr>
          </p:nvGraphicFramePr>
          <p:xfrm>
            <a:off x="60960" y="3395728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3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0960" y="3395728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4" name="EMX1TRAX37.eps" descr="id:2147493145;FounderCES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591062" y="4310159"/>
              <a:ext cx="3009876" cy="1856675"/>
            </a:xfrm>
            <a:prstGeom prst="rect">
              <a:avLst/>
            </a:prstGeom>
          </p:spPr>
        </p:pic>
      </p:grpSp>
      <p:sp>
        <p:nvSpPr>
          <p:cNvPr id="5" name="矩形 4"/>
          <p:cNvSpPr>
            <a:spLocks noChangeAspect="1"/>
          </p:cNvSpPr>
          <p:nvPr/>
        </p:nvSpPr>
        <p:spPr>
          <a:xfrm>
            <a:off x="381000" y="5642578"/>
            <a:ext cx="1612942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9902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利用坐标法解决几何问题时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可以随意建立坐标系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在实际问题中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应注意变量的取值范围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用坐标法解决几何问题时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把平面几何问题转化为代数问题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直接解决代数问题就是所求的几何问题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用坐标法解决平面几何问题共有三步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求解</a:t>
            </a:r>
            <a:r>
              <a:rPr lang="zh-CN" altLang="en-US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还原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016256" y="1941292"/>
            <a:ext cx="53298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243338" y="2474851"/>
            <a:ext cx="400442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389828" y="3614229"/>
            <a:ext cx="532989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0082850" y="4125501"/>
            <a:ext cx="400442" cy="485579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直线与圆的方程的实际应用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47646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已知台风中心从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时的速度向东北方向移动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离台风中心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千米内的地区为危险区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城市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的正东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千米处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城市处于危险区内的时间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将实际应用问题转化为直线与圆相交求弦长问题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1816" y="49553"/>
            <a:ext cx="11759184" cy="6575759"/>
            <a:chOff x="51816" y="49553"/>
            <a:chExt cx="11759184" cy="6575759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49553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为原点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所在直线为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轴建立平面直角坐标系如图所示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射线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∠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xAy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的角平分线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则台风中心沿射线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方向移动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2400801"/>
                </p:ext>
              </p:extLst>
            </p:nvPr>
          </p:nvGraphicFramePr>
          <p:xfrm>
            <a:off x="51816" y="1250001"/>
            <a:ext cx="11430000" cy="30089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7" name="文档" r:id="rId4" imgW="4520786" imgH="1190108" progId="Word.Document.12">
                    <p:embed/>
                  </p:oleObj>
                </mc:Choice>
                <mc:Fallback>
                  <p:oleObj name="文档" r:id="rId4" imgW="4520786" imgH="119010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816" y="1250001"/>
                          <a:ext cx="11430000" cy="300897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10" name="EMX1TRAX38.eps" descr="id:2147493166;FounderCES"/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640086" y="4196000"/>
              <a:ext cx="3009877" cy="2429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76755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63361"/>
            <a:ext cx="11430000" cy="6655388"/>
            <a:chOff x="381000" y="63361"/>
            <a:chExt cx="11430000" cy="665538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63361"/>
              <a:ext cx="8925520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80670">
                <a:lnSpc>
                  <a:spcPct val="130000"/>
                </a:lnSpc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反思感悟</a:t>
              </a:r>
              <a:r>
                <a:rPr lang="en-US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sz="2800" b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解决直线与圆的方程的实际应用题的步骤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pic>
          <p:nvPicPr>
            <p:cNvPr id="3" name="EMX1TRAX39.eps" descr="id:2147493180;FounderCES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476109" y="714177"/>
              <a:ext cx="7239783" cy="3675610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446076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8067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建立适当的直角坐标系应遵循的三个原则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若曲线是轴对称图形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则可选它的对称轴为坐标轴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常选特殊点作为直角坐标系的原点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仿宋" panose="02010609060101010101" pitchFamily="49" charset="-122"/>
                  <a:cs typeface="Times New Roman" panose="02020603050405020304" pitchFamily="18" charset="0"/>
                </a:rPr>
                <a:t>尽量使更多的已知点位于坐标轴上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32871"/>
            <a:ext cx="11430000" cy="569386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有一种大型商品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两地均有出售且价格相同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某地居民从两地之一购得商品运回来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每千米的运费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地的两倍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两地相距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 km,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顾客选择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地购买这种商品的运费和价格的总费用较低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那么不同地点的居民应如何选择购买此商品的地点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的中点为原点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所在直线为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平面直角坐标系如图所示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在坐标平面内任取一点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地运货到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地的运费为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地运货到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地的运费为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km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pic>
        <p:nvPicPr>
          <p:cNvPr id="5" name="EMX1TRAX40.eps" descr="id:2147493187;FounderCES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90199" y="2689989"/>
            <a:ext cx="4006145" cy="323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8768" y="419745"/>
            <a:ext cx="11762232" cy="4894264"/>
            <a:chOff x="48768" y="251714"/>
            <a:chExt cx="11762232" cy="4894264"/>
          </a:xfrm>
        </p:grpSpPr>
        <p:grpSp>
          <p:nvGrpSpPr>
            <p:cNvPr id="4" name="组合 3"/>
            <p:cNvGrpSpPr/>
            <p:nvPr/>
          </p:nvGrpSpPr>
          <p:grpSpPr>
            <a:xfrm>
              <a:off x="48768" y="251714"/>
              <a:ext cx="11762232" cy="3158047"/>
              <a:chOff x="48768" y="251714"/>
              <a:chExt cx="11762232" cy="3158047"/>
            </a:xfrm>
          </p:grpSpPr>
          <p:sp>
            <p:nvSpPr>
              <p:cNvPr id="2" name="矩形 1"/>
              <p:cNvSpPr>
                <a:spLocks noChangeAspect="1"/>
              </p:cNvSpPr>
              <p:nvPr/>
            </p:nvSpPr>
            <p:spPr>
              <a:xfrm>
                <a:off x="381000" y="251714"/>
                <a:ext cx="11430000" cy="1152367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indent="279400">
                  <a:lnSpc>
                    <a:spcPct val="13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sz="2800" dirty="0" smtClean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若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地居民去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地购买此商品的总费用较低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地居民去</a:t>
                </a:r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地购买的运费较低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endPara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方正书宋_GBK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3" name="对象 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6727468"/>
                  </p:ext>
                </p:extLst>
              </p:nvPr>
            </p:nvGraphicFramePr>
            <p:xfrm>
              <a:off x="48768" y="1404081"/>
              <a:ext cx="11430000" cy="20056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90" name="文档" r:id="rId4" imgW="4520786" imgH="793285" progId="Word.Document.12">
                      <p:embed/>
                    </p:oleObj>
                  </mc:Choice>
                  <mc:Fallback>
                    <p:oleObj name="文档" r:id="rId4" imgW="4520786" imgH="793285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8768" y="1404081"/>
                            <a:ext cx="11430000" cy="200568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81000" y="3373185"/>
              <a:ext cx="11430000" cy="17727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en-US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可得到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内的居民应选择去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地购物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总费用较低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同理可推得圆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外的居民应选择去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地购物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总费用较低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上的居民可任意选择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两地之一购物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9300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与圆有关的最值问题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135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已知实数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最大值和最小值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的最大值和最小值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的最大值和最小值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本题可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8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y-x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转化成与直线斜率、截距有关的问题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可看成是点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间的距离的平方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然后结合图形求解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8812764"/>
              </p:ext>
            </p:extLst>
          </p:nvPr>
        </p:nvGraphicFramePr>
        <p:xfrm>
          <a:off x="1814617" y="1124957"/>
          <a:ext cx="450010" cy="82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文档" r:id="rId4" imgW="222764" imgH="396823" progId="Word.Document.12">
                  <p:embed/>
                </p:oleObj>
              </mc:Choice>
              <mc:Fallback>
                <p:oleObj name="文档" r:id="rId4" imgW="222764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14617" y="1124957"/>
                        <a:ext cx="450010" cy="82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11086"/>
              </p:ext>
            </p:extLst>
          </p:nvPr>
        </p:nvGraphicFramePr>
        <p:xfrm>
          <a:off x="2948473" y="3392669"/>
          <a:ext cx="450010" cy="82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9" name="文档" r:id="rId7" imgW="222764" imgH="396823" progId="Word.Document.12">
                  <p:embed/>
                </p:oleObj>
              </mc:Choice>
              <mc:Fallback>
                <p:oleObj name="文档" r:id="rId7" imgW="222764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48473" y="3392669"/>
                        <a:ext cx="450010" cy="82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48768" y="366012"/>
            <a:ext cx="11490960" cy="5178748"/>
            <a:chOff x="48768" y="594614"/>
            <a:chExt cx="11490960" cy="517874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81000" y="594614"/>
              <a:ext cx="6763390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可化为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5291519"/>
                </p:ext>
              </p:extLst>
            </p:nvPr>
          </p:nvGraphicFramePr>
          <p:xfrm>
            <a:off x="48768" y="1259899"/>
            <a:ext cx="11430000" cy="45134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7" name="文档" r:id="rId4" imgW="4520786" imgH="1785162" progId="Word.Document.12">
                    <p:embed/>
                  </p:oleObj>
                </mc:Choice>
                <mc:Fallback>
                  <p:oleObj name="文档" r:id="rId4" imgW="4520786" imgH="178516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68" y="1259899"/>
                          <a:ext cx="11430000" cy="451346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7" name="EMX1TRAX42.eps" descr="id:2147493201;FounderCES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32" y="2640965"/>
              <a:ext cx="2523696" cy="28088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8768" y="56642"/>
            <a:ext cx="11762232" cy="6579130"/>
            <a:chOff x="48768" y="56642"/>
            <a:chExt cx="11762232" cy="657913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6642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y-x=b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表示经过圆上一点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斜率为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轴上的截距为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当直线与圆相切时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取得最大、最小值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6375036"/>
                </p:ext>
              </p:extLst>
            </p:nvPr>
          </p:nvGraphicFramePr>
          <p:xfrm>
            <a:off x="48768" y="1666638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6" name="文档" r:id="rId4" imgW="4520786" imgH="595054" progId="Word.Document.12">
                    <p:embed/>
                  </p:oleObj>
                </mc:Choice>
                <mc:Fallback>
                  <p:oleObj name="文档" r:id="rId4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68" y="1666638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166138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表示圆上一点与原点的距离的平方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由平面几何知识知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在原点和圆心的连线与圆的两个交点处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圆上的点与原点的距离取得最大值和最小值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5867394"/>
                </p:ext>
              </p:extLst>
            </p:nvPr>
          </p:nvGraphicFramePr>
          <p:xfrm>
            <a:off x="48768" y="4630092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77" name="文档" r:id="rId7" imgW="4520786" imgH="793285" progId="Word.Document.12">
                    <p:embed/>
                  </p:oleObj>
                </mc:Choice>
                <mc:Fallback>
                  <p:oleObj name="文档" r:id="rId7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8768" y="4630092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3076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本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实数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满足的方程改为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6”,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最大值与最小值分别为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u="sng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en-US" altLang="zh-CN" sz="2800" i="1" dirty="0" smtClean="0">
              <a:solidFill>
                <a:srgbClr val="000000"/>
              </a:solidFill>
              <a:effectLst/>
              <a:latin typeface="宋体" panose="02010600030101010101" pitchFamily="2" charset="-12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的轨迹就是已知圆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4458030"/>
              </p:ext>
            </p:extLst>
          </p:nvPr>
        </p:nvGraphicFramePr>
        <p:xfrm>
          <a:off x="8898169" y="425727"/>
          <a:ext cx="450010" cy="82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文档" r:id="rId4" imgW="222764" imgH="396823" progId="Word.Document.12">
                  <p:embed/>
                </p:oleObj>
              </mc:Choice>
              <mc:Fallback>
                <p:oleObj name="文档" r:id="rId4" imgW="222764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98169" y="425727"/>
                        <a:ext cx="450010" cy="826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延伸探究H.eps" descr="id:2147494559;FounderCES"/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156943"/>
            <a:ext cx="2016224" cy="367706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015031"/>
              </p:ext>
            </p:extLst>
          </p:nvPr>
        </p:nvGraphicFramePr>
        <p:xfrm>
          <a:off x="50800" y="2203404"/>
          <a:ext cx="11430000" cy="401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文档" r:id="rId8" imgW="4520786" imgH="1586931" progId="Word.Document.12">
                  <p:embed/>
                </p:oleObj>
              </mc:Choice>
              <mc:Fallback>
                <p:oleObj name="文档" r:id="rId8" imgW="4520786" imgH="15869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0800" y="2203404"/>
                        <a:ext cx="11430000" cy="401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1499500"/>
              </p:ext>
            </p:extLst>
          </p:nvPr>
        </p:nvGraphicFramePr>
        <p:xfrm>
          <a:off x="50800" y="6105948"/>
          <a:ext cx="11430000" cy="50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文档" r:id="rId11" imgW="4520786" imgH="198231" progId="Word.Document.12">
                  <p:embed/>
                </p:oleObj>
              </mc:Choice>
              <mc:Fallback>
                <p:oleObj name="文档" r:id="rId11" imgW="452078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0800" y="6105948"/>
                        <a:ext cx="11430000" cy="50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EMX1TRAX41.eps" descr="id:2147493215;FounderCES"/>
          <p:cNvPicPr/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44801" y="3166723"/>
            <a:ext cx="3164934" cy="287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4928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与圆上的点的坐标有关的最值问题时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要根据式子的结构特征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寻找其几何意义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进而转化成与圆的性质有关的问题解决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其中构造斜率、截距、距离是最常用的方法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041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上的点到直线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的最大距离与最小距离的差是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圆的方程化为标准方程是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689640"/>
              </p:ext>
            </p:extLst>
          </p:nvPr>
        </p:nvGraphicFramePr>
        <p:xfrm>
          <a:off x="48768" y="2314753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文档" r:id="rId4" imgW="4520786" imgH="991877" progId="Word.Document.12">
                  <p:embed/>
                </p:oleObj>
              </mc:Choice>
              <mc:Fallback>
                <p:oleObj name="文档" r:id="rId4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68" y="2314753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5524635"/>
              </p:ext>
            </p:extLst>
          </p:nvPr>
        </p:nvGraphicFramePr>
        <p:xfrm>
          <a:off x="48768" y="4910175"/>
          <a:ext cx="11430000" cy="50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文档" r:id="rId7" imgW="4520786" imgH="198231" progId="Word.Document.12">
                  <p:embed/>
                </p:oleObj>
              </mc:Choice>
              <mc:Fallback>
                <p:oleObj name="文档" r:id="rId7" imgW="452078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68" y="4910175"/>
                        <a:ext cx="11430000" cy="50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90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过直线与圆的交点的圆系方程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746933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求过直线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且面积最小的圆的方程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本题求面积最小的圆即求以两交点间的距离为直径的圆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可由过圆与直线交点的圆系方程求解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8111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设过圆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与直线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的交点的圆系方程为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整理得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2(1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要使圆的面积最小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只需半径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3243570"/>
              </p:ext>
            </p:extLst>
          </p:nvPr>
        </p:nvGraphicFramePr>
        <p:xfrm>
          <a:off x="51816" y="2382016"/>
          <a:ext cx="11430000" cy="40122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1" name="文档" r:id="rId4" imgW="4520786" imgH="1586931" progId="Word.Document.12">
                  <p:embed/>
                </p:oleObj>
              </mc:Choice>
              <mc:Fallback>
                <p:oleObj name="文档" r:id="rId4" imgW="4520786" imgH="15869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816" y="2382016"/>
                        <a:ext cx="11430000" cy="40122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解答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此类问题一般有如下两种方法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联立方程组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求出交点坐标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再根据交点坐标求方程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设圆系方程确定参数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过直线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Ax+By+C=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F&gt;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的交点的圆系方程可设为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+Dx+Ey+F+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Ax+By+C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注意系数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一定要写在直线方程之前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227267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一圆过圆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且圆心在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则这个圆的方程是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设所求圆的方程为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2317483"/>
              </p:ext>
            </p:extLst>
          </p:nvPr>
        </p:nvGraphicFramePr>
        <p:xfrm>
          <a:off x="60960" y="2938638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5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0960" y="2938638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737670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故圆的方程为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" name="矩形 2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5" name="矩形 4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探究四</a:t>
                </a: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由直线与圆的位置关系求圆的方程</a:t>
                </a:r>
              </a:p>
            </p:txBody>
          </p:sp>
        </p:grpSp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81000" y="1831211"/>
            <a:ext cx="11430000" cy="232717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设圆上的点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的对称点仍在圆上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被圆截得的弦长为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由对称点在圆上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可得圆心与直线的关系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再由弦长得到方程组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即可求解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464450"/>
              </p:ext>
            </p:extLst>
          </p:nvPr>
        </p:nvGraphicFramePr>
        <p:xfrm>
          <a:off x="4404360" y="2473591"/>
          <a:ext cx="6731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8" name="文档" r:id="rId4" imgW="271708" imgH="211567" progId="Word.Document.12">
                  <p:embed/>
                </p:oleObj>
              </mc:Choice>
              <mc:Fallback>
                <p:oleObj name="文档" r:id="rId4" imgW="271708" imgH="2115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04360" y="2473591"/>
                        <a:ext cx="673100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077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266262"/>
              </p:ext>
            </p:extLst>
          </p:nvPr>
        </p:nvGraphicFramePr>
        <p:xfrm>
          <a:off x="51816" y="1905482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3" name="文档" r:id="rId4" imgW="4520786" imgH="1190108" progId="Word.Document.12">
                  <p:embed/>
                </p:oleObj>
              </mc:Choice>
              <mc:Fallback>
                <p:oleObj name="文档" r:id="rId4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816" y="1905482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877882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故所求圆的方程为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</a:t>
            </a: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圆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上的点关于直线的对称点仍在圆上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说明直线一定经过圆心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423785"/>
            <a:ext cx="11430000" cy="23848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轴相切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圆心在直线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被圆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截得的弦长为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2      ,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设圆心坐标为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轴相切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882946"/>
              </p:ext>
            </p:extLst>
          </p:nvPr>
        </p:nvGraphicFramePr>
        <p:xfrm>
          <a:off x="3305741" y="1049146"/>
          <a:ext cx="6731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文档" r:id="rId4" imgW="271708" imgH="216613" progId="Word.Document.12">
                  <p:embed/>
                </p:oleObj>
              </mc:Choice>
              <mc:Fallback>
                <p:oleObj name="文档" r:id="rId4" imgW="271708" imgH="2166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05741" y="1049146"/>
                        <a:ext cx="6731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486758"/>
              </p:ext>
            </p:extLst>
          </p:nvPr>
        </p:nvGraphicFramePr>
        <p:xfrm>
          <a:off x="48768" y="2683579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9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768" y="2683579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3546977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由半径、弦心距、半弦长的关系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±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81000" y="948338"/>
            <a:ext cx="11430000" cy="4090780"/>
            <a:chOff x="381000" y="1239286"/>
            <a:chExt cx="11430000" cy="409078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260929" y="1239286"/>
              <a:ext cx="5670142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忽略方程中未知量的取值范围致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误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45633868"/>
                </p:ext>
              </p:extLst>
            </p:nvPr>
          </p:nvGraphicFramePr>
          <p:xfrm>
            <a:off x="381000" y="1819896"/>
            <a:ext cx="11430000" cy="3510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0" name="文档" r:id="rId4" imgW="4510061" imgH="1390734" progId="Word.Document.12">
                    <p:embed/>
                  </p:oleObj>
                </mc:Choice>
                <mc:Fallback>
                  <p:oleObj name="文档" r:id="rId4" imgW="4510061" imgH="13907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1000" y="1819896"/>
                          <a:ext cx="11430000" cy="35101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249546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031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以上解题过程中都有哪些错误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182326"/>
              </p:ext>
            </p:extLst>
          </p:nvPr>
        </p:nvGraphicFramePr>
        <p:xfrm>
          <a:off x="48768" y="95787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68" y="95787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81000" y="1759620"/>
            <a:ext cx="7468711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本题因忽略方程中未知量的取值范围而致误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0017085"/>
              </p:ext>
            </p:extLst>
          </p:nvPr>
        </p:nvGraphicFramePr>
        <p:xfrm>
          <a:off x="382588" y="2445422"/>
          <a:ext cx="11430000" cy="4041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7" name="文档" r:id="rId7" imgW="4510061" imgH="1600480" progId="Word.Document.12">
                  <p:embed/>
                </p:oleObj>
              </mc:Choice>
              <mc:Fallback>
                <p:oleObj name="文档" r:id="rId7" imgW="4510061" imgH="1600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2588" y="2445422"/>
                        <a:ext cx="11430000" cy="40417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EMX1TRAX43.eps" descr="id:2147493264;FounderCES"/>
          <p:cNvPicPr/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206345" y="2670671"/>
            <a:ext cx="2604655" cy="22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85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216396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有关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直线与圆的位置关系问题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要看清运动中的不变量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例如本例中直线的平行关系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并注意方程中变量的取值范围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7102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81000" y="582072"/>
            <a:ext cx="11430000" cy="1398262"/>
            <a:chOff x="381000" y="1060058"/>
            <a:chExt cx="11430000" cy="139826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45680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上例中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改为直线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y=x+b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与曲线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      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有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且仅有一个公共点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则实数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的取值范围为</a:t>
              </a:r>
              <a:r>
                <a:rPr lang="zh-CN" altLang="zh-CN" sz="2800" i="1" u="sng" dirty="0">
                  <a:solidFill>
                    <a:srgbClr val="FF0000"/>
                  </a:solidFill>
                  <a:uFill>
                    <a:solidFill>
                      <a:srgbClr val="000000"/>
                    </a:solidFill>
                  </a:u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　　　　　　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en-US" altLang="zh-CN" sz="2800" i="1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 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61298290"/>
                </p:ext>
              </p:extLst>
            </p:nvPr>
          </p:nvGraphicFramePr>
          <p:xfrm>
            <a:off x="8490268" y="1060058"/>
            <a:ext cx="1495425" cy="10001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0" name="文档" r:id="rId4" imgW="599197" imgH="396823" progId="Word.Document.12">
                    <p:embed/>
                  </p:oleObj>
                </mc:Choice>
                <mc:Fallback>
                  <p:oleObj name="文档" r:id="rId4" imgW="599197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490268" y="1060058"/>
                          <a:ext cx="1495425" cy="100012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组合 8"/>
          <p:cNvGrpSpPr/>
          <p:nvPr/>
        </p:nvGrpSpPr>
        <p:grpSpPr>
          <a:xfrm>
            <a:off x="381000" y="1950268"/>
            <a:ext cx="11430000" cy="2332946"/>
            <a:chOff x="381000" y="2433662"/>
            <a:chExt cx="11430000" cy="2332946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2433662"/>
              <a:ext cx="11430000" cy="233294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由例题图知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当直线与半圆相切时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符合题意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当直线经过点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b=-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直线记为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当直线在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之间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包含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与半圆有且仅有一个公共点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dirty="0">
                  <a:solidFill>
                    <a:srgbClr val="000000"/>
                  </a:solidFill>
                  <a:effectLst/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≤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b&lt;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      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7579493"/>
                </p:ext>
              </p:extLst>
            </p:nvPr>
          </p:nvGraphicFramePr>
          <p:xfrm>
            <a:off x="7050024" y="2521204"/>
            <a:ext cx="673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1" name="文档" r:id="rId7" imgW="271708" imgH="211567" progId="Word.Document.12">
                    <p:embed/>
                  </p:oleObj>
                </mc:Choice>
                <mc:Fallback>
                  <p:oleObj name="文档" r:id="rId7" imgW="271708" imgH="21156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050024" y="2521204"/>
                          <a:ext cx="6731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29279061"/>
                </p:ext>
              </p:extLst>
            </p:nvPr>
          </p:nvGraphicFramePr>
          <p:xfrm>
            <a:off x="3489960" y="4191894"/>
            <a:ext cx="673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32" name="文档" r:id="rId10" imgW="271708" imgH="211567" progId="Word.Document.12">
                    <p:embed/>
                  </p:oleObj>
                </mc:Choice>
                <mc:Fallback>
                  <p:oleObj name="文档" r:id="rId10" imgW="271708" imgH="21156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489960" y="4191894"/>
                          <a:ext cx="6731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962121"/>
              </p:ext>
            </p:extLst>
          </p:nvPr>
        </p:nvGraphicFramePr>
        <p:xfrm>
          <a:off x="64008" y="4321988"/>
          <a:ext cx="11430000" cy="50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33" name="文档" r:id="rId12" imgW="4520786" imgH="198231" progId="Word.Document.12">
                  <p:embed/>
                </p:oleObj>
              </mc:Choice>
              <mc:Fallback>
                <p:oleObj name="文档" r:id="rId12" imgW="452078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4008" y="4321988"/>
                        <a:ext cx="11430000" cy="50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3407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90389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将直线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x+y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绕点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沿逆时针方向旋转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°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的值是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9187832"/>
              </p:ext>
            </p:extLst>
          </p:nvPr>
        </p:nvGraphicFramePr>
        <p:xfrm>
          <a:off x="478536" y="133056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536" y="133056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381000" y="3238708"/>
            <a:ext cx="11527536" cy="2630473"/>
            <a:chOff x="381000" y="3238708"/>
            <a:chExt cx="11527536" cy="2630473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3238708"/>
              <a:ext cx="11430000" cy="171252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解析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将直线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x+y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绕点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沿逆时针方向旋转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90</a:t>
              </a:r>
              <a:r>
                <a:rPr lang="en-US" altLang="zh-CN" sz="2800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/>
                  <a:cs typeface="Times New Roman" panose="02020603050405020304" pitchFamily="18" charset="0"/>
                </a:rPr>
                <a:t>°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后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所得直线的方程为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圆的圆心坐标为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(0,1),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旋转后的直线与圆相切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29439516"/>
                </p:ext>
              </p:extLst>
            </p:nvPr>
          </p:nvGraphicFramePr>
          <p:xfrm>
            <a:off x="478536" y="4865884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33" name="文档" r:id="rId7" imgW="4520786" imgH="396823" progId="Word.Document.12">
                    <p:embed/>
                  </p:oleObj>
                </mc:Choice>
                <mc:Fallback>
                  <p:oleObj name="文档" r:id="rId7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78536" y="4865884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81000" y="5744781"/>
            <a:ext cx="1330814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81000" y="672930"/>
            <a:ext cx="11527536" cy="1665921"/>
            <a:chOff x="381000" y="1233488"/>
            <a:chExt cx="11527536" cy="166592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233488"/>
              <a:ext cx="11430000" cy="59221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y=x-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上的点到圆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的最近距离为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　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89171439"/>
                </p:ext>
              </p:extLst>
            </p:nvPr>
          </p:nvGraphicFramePr>
          <p:xfrm>
            <a:off x="478536" y="1896112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56" name="文档" r:id="rId4" imgW="4520786" imgH="396823" progId="Word.Document.12">
                    <p:embed/>
                  </p:oleObj>
                </mc:Choice>
                <mc:Fallback>
                  <p:oleObj name="文档" r:id="rId4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8536" y="1896112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5052968"/>
              </p:ext>
            </p:extLst>
          </p:nvPr>
        </p:nvGraphicFramePr>
        <p:xfrm>
          <a:off x="478536" y="2470222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7" name="文档" r:id="rId7" imgW="4520786" imgH="793285" progId="Word.Document.12">
                  <p:embed/>
                </p:oleObj>
              </mc:Choice>
              <mc:Fallback>
                <p:oleObj name="文档" r:id="rId7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536" y="2470222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521929"/>
            <a:ext cx="1330814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913168"/>
            <a:ext cx="11430000" cy="121264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圆心在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轴正半轴上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相切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的方程为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u="sng" dirty="0" smtClean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156706"/>
              </p:ext>
            </p:extLst>
          </p:nvPr>
        </p:nvGraphicFramePr>
        <p:xfrm>
          <a:off x="481140" y="2009291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69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140" y="2009291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2897522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348976"/>
              </p:ext>
            </p:extLst>
          </p:nvPr>
        </p:nvGraphicFramePr>
        <p:xfrm>
          <a:off x="481140" y="315858"/>
          <a:ext cx="11301965" cy="1487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4" name="文档" r:id="rId4" imgW="4520786" imgH="595054" progId="Word.Document.12">
                  <p:embed/>
                </p:oleObj>
              </mc:Choice>
              <mc:Fallback>
                <p:oleObj name="文档" r:id="rId4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140" y="315858"/>
                        <a:ext cx="11301965" cy="1487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3964549"/>
              </p:ext>
            </p:extLst>
          </p:nvPr>
        </p:nvGraphicFramePr>
        <p:xfrm>
          <a:off x="481140" y="1871667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5" name="文档" r:id="rId7" imgW="4520786" imgH="1190108" progId="Word.Document.12">
                  <p:embed/>
                </p:oleObj>
              </mc:Choice>
              <mc:Fallback>
                <p:oleObj name="文档" r:id="rId7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1140" y="1871667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092457"/>
              </p:ext>
            </p:extLst>
          </p:nvPr>
        </p:nvGraphicFramePr>
        <p:xfrm>
          <a:off x="481140" y="4964265"/>
          <a:ext cx="11430000" cy="501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6" name="文档" r:id="rId10" imgW="4520786" imgH="198231" progId="Word.Document.12">
                  <p:embed/>
                </p:oleObj>
              </mc:Choice>
              <mc:Fallback>
                <p:oleObj name="文档" r:id="rId10" imgW="4520786" imgH="19823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1140" y="4964265"/>
                        <a:ext cx="11430000" cy="501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82156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已知隧道的截面是一个半径为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的半圆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车辆只能在道路中心线一侧行驶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一辆宽为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 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、高为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的货车能不能驶入这个隧道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假设货车的最大宽度为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那么要正常驶入该隧道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货车的最大高度为多少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以隧道截面半圆的圆心为坐标原点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半圆直径所在直线为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轴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建立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平面直角坐标系如图所示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则半圆方程为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78536" y="2946963"/>
            <a:ext cx="11430000" cy="3510170"/>
            <a:chOff x="478536" y="2946963"/>
            <a:chExt cx="11430000" cy="3510170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1167996"/>
                </p:ext>
              </p:extLst>
            </p:nvPr>
          </p:nvGraphicFramePr>
          <p:xfrm>
            <a:off x="478536" y="2946963"/>
            <a:ext cx="11430000" cy="3510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17" name="文档" r:id="rId4" imgW="4510061" imgH="1390734" progId="Word.Document.12">
                    <p:embed/>
                  </p:oleObj>
                </mc:Choice>
                <mc:Fallback>
                  <p:oleObj name="文档" r:id="rId4" imgW="4510061" imgH="139073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8536" y="2946963"/>
                          <a:ext cx="11430000" cy="35101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" name="EMX1TRAX45.eps" descr="id:2147493285;FounderCES"/>
            <p:cNvPicPr/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855075" y="4486465"/>
              <a:ext cx="2619376" cy="19340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360</TotalTime>
  <Words>1960</Words>
  <Application>Microsoft Office PowerPoint</Application>
  <PresentationFormat>宽屏</PresentationFormat>
  <Paragraphs>129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8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33</cp:revision>
  <dcterms:created xsi:type="dcterms:W3CDTF">2021-08-30T08:30:26Z</dcterms:created>
  <dcterms:modified xsi:type="dcterms:W3CDTF">2025-08-09T09:06:41Z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