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677" r:id="rId2"/>
    <p:sldId id="488" r:id="rId3"/>
    <p:sldId id="494" r:id="rId4"/>
    <p:sldId id="392" r:id="rId5"/>
    <p:sldId id="686" r:id="rId6"/>
    <p:sldId id="687" r:id="rId7"/>
    <p:sldId id="688" r:id="rId8"/>
    <p:sldId id="689" r:id="rId9"/>
    <p:sldId id="690" r:id="rId10"/>
    <p:sldId id="407" r:id="rId11"/>
    <p:sldId id="394" r:id="rId12"/>
    <p:sldId id="699" r:id="rId13"/>
    <p:sldId id="700" r:id="rId14"/>
    <p:sldId id="701" r:id="rId15"/>
    <p:sldId id="402" r:id="rId16"/>
    <p:sldId id="712" r:id="rId17"/>
    <p:sldId id="713" r:id="rId18"/>
    <p:sldId id="714" r:id="rId19"/>
    <p:sldId id="715" r:id="rId20"/>
    <p:sldId id="498" r:id="rId21"/>
    <p:sldId id="730" r:id="rId22"/>
    <p:sldId id="733" r:id="rId23"/>
    <p:sldId id="743" r:id="rId24"/>
    <p:sldId id="744" r:id="rId25"/>
    <p:sldId id="734" r:id="rId26"/>
    <p:sldId id="765" r:id="rId27"/>
    <p:sldId id="740" r:id="rId28"/>
    <p:sldId id="739" r:id="rId29"/>
    <p:sldId id="745" r:id="rId30"/>
    <p:sldId id="746" r:id="rId31"/>
    <p:sldId id="747" r:id="rId32"/>
    <p:sldId id="398" r:id="rId33"/>
    <p:sldId id="395" r:id="rId34"/>
    <p:sldId id="756" r:id="rId35"/>
    <p:sldId id="757" r:id="rId36"/>
    <p:sldId id="758" r:id="rId37"/>
    <p:sldId id="759" r:id="rId38"/>
    <p:sldId id="490"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102"/>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3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1.xml"/><Relationship Id="rId1" Type="http://schemas.openxmlformats.org/officeDocument/2006/relationships/slideMaster" Target="../slideMasters/slideMaster1.xml"/><Relationship Id="rId5" Type="http://schemas.openxmlformats.org/officeDocument/2006/relationships/slide" Target="../slides/slide27.xml"/><Relationship Id="rId4" Type="http://schemas.openxmlformats.org/officeDocument/2006/relationships/slide" Target="../slides/slide2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491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126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760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394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4.emf"/><Relationship Id="rId4" Type="http://schemas.openxmlformats.org/officeDocument/2006/relationships/package" Target="../embeddings/Microsoft_Word___11.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package" Target="../embeddings/Microsoft_Word___13.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9.emf"/><Relationship Id="rId4" Type="http://schemas.openxmlformats.org/officeDocument/2006/relationships/package" Target="../embeddings/Microsoft_Word___14.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0.emf"/><Relationship Id="rId4" Type="http://schemas.openxmlformats.org/officeDocument/2006/relationships/package" Target="../embeddings/Microsoft_Word___15.docx"/></Relationships>
</file>

<file path=ppt/slides/_rels/slide27.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6.bin"/><Relationship Id="rId7"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17.bin"/><Relationship Id="rId5" Type="http://schemas.openxmlformats.org/officeDocument/2006/relationships/image" Target="../media/image21.emf"/><Relationship Id="rId4" Type="http://schemas.openxmlformats.org/officeDocument/2006/relationships/package" Target="../embeddings/Microsoft_Word___16.docx"/><Relationship Id="rId9"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4.emf"/><Relationship Id="rId4" Type="http://schemas.openxmlformats.org/officeDocument/2006/relationships/package" Target="../embeddings/Microsoft_Word___18.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20.bin"/><Relationship Id="rId5" Type="http://schemas.openxmlformats.org/officeDocument/2006/relationships/image" Target="../media/image25.emf"/><Relationship Id="rId4" Type="http://schemas.openxmlformats.org/officeDocument/2006/relationships/package" Target="../embeddings/Microsoft_Word___19.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26.emf"/><Relationship Id="rId4" Type="http://schemas.openxmlformats.org/officeDocument/2006/relationships/package" Target="../embeddings/Microsoft_Word___21.docx"/></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20.vml"/><Relationship Id="rId5" Type="http://schemas.openxmlformats.org/officeDocument/2006/relationships/image" Target="../media/image27.emf"/><Relationship Id="rId4" Type="http://schemas.openxmlformats.org/officeDocument/2006/relationships/package" Target="../embeddings/Microsoft_Word___22.docx"/></Relationships>
</file>

<file path=ppt/slides/_rels/slide34.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oleObject" Target="../embeddings/oleObject23.bin"/><Relationship Id="rId7" Type="http://schemas.openxmlformats.org/officeDocument/2006/relationships/package" Target="../embeddings/Microsoft_Word___24.docx"/><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oleObject" Target="../embeddings/oleObject24.bin"/><Relationship Id="rId5" Type="http://schemas.openxmlformats.org/officeDocument/2006/relationships/image" Target="../media/image28.emf"/><Relationship Id="rId4" Type="http://schemas.openxmlformats.org/officeDocument/2006/relationships/package" Target="../embeddings/Microsoft_Word___23.docx"/></Relationships>
</file>

<file path=ppt/slides/_rels/slide35.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oleObject" Target="../embeddings/oleObject26.bin"/><Relationship Id="rId5" Type="http://schemas.openxmlformats.org/officeDocument/2006/relationships/image" Target="../media/image30.emf"/><Relationship Id="rId4" Type="http://schemas.openxmlformats.org/officeDocument/2006/relationships/package" Target="../embeddings/Microsoft_Word___25.docx"/></Relationships>
</file>

<file path=ppt/slides/_rels/slide36.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27.bin"/><Relationship Id="rId7" Type="http://schemas.openxmlformats.org/officeDocument/2006/relationships/package" Target="../embeddings/Microsoft_Word___28.docx"/><Relationship Id="rId2" Type="http://schemas.openxmlformats.org/officeDocument/2006/relationships/slideLayout" Target="../slideLayouts/slideLayout1.xml"/><Relationship Id="rId1" Type="http://schemas.openxmlformats.org/officeDocument/2006/relationships/vmlDrawing" Target="../drawings/vmlDrawing23.vml"/><Relationship Id="rId6" Type="http://schemas.openxmlformats.org/officeDocument/2006/relationships/oleObject" Target="../embeddings/oleObject28.bin"/><Relationship Id="rId5" Type="http://schemas.openxmlformats.org/officeDocument/2006/relationships/image" Target="../media/image32.emf"/><Relationship Id="rId4" Type="http://schemas.openxmlformats.org/officeDocument/2006/relationships/package" Target="../embeddings/Microsoft_Word___27.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vmlDrawing" Target="../drawings/vmlDrawing24.vml"/><Relationship Id="rId5" Type="http://schemas.openxmlformats.org/officeDocument/2006/relationships/image" Target="../media/image33.emf"/><Relationship Id="rId4" Type="http://schemas.openxmlformats.org/officeDocument/2006/relationships/package" Target="../embeddings/Microsoft_Word___29.docx"/></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1</a:t>
              </a:r>
              <a:r>
                <a:rPr lang="zh-CN" altLang="en-US" sz="3600" b="1">
                  <a:solidFill>
                    <a:schemeClr val="bg1"/>
                  </a:solidFill>
                  <a:latin typeface="华文细黑" panose="02010600040101010101" charset="-122"/>
                  <a:ea typeface="华文细黑" panose="02010600040101010101" charset="-122"/>
                </a:rPr>
                <a:t>课时　直线与圆的位置关系</a:t>
              </a:r>
              <a:endParaRPr lang="zh-CN" altLang="en-US" sz="3600" b="1" dirty="0">
                <a:solidFill>
                  <a:schemeClr val="bg1"/>
                </a:solidFill>
                <a:latin typeface="华文细黑" panose="02010600040101010101" charset="-122"/>
                <a:ea typeface="华文细黑" panose="02010600040101010101" charset="-122"/>
              </a:endParaRP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第二章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2.5.1</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5324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理解直线与圆的三种位置关系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能根据给定直线、圆的方程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判断直线与圆的位置关系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能解决有关直线与圆的位置关系的问题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直观</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想象、逻辑推理和数学运算素养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68257"/>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直线与圆的位置关系的判定方法</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大海</a:t>
            </a:r>
            <a:r>
              <a:rPr lang="zh-CN" altLang="zh-CN" sz="2800" dirty="0">
                <a:solidFill>
                  <a:srgbClr val="000000"/>
                </a:solidFill>
                <a:latin typeface="Times New Roman" panose="02020603050405020304" pitchFamily="18" charset="0"/>
                <a:cs typeface="Times New Roman" panose="02020603050405020304" pitchFamily="18" charset="0"/>
              </a:rPr>
              <a:t>上初升的红日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在冉冉升起的过程中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展现出迷人的风采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同时也体现了直线与圆的三种位置关系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相交、相切、相离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怎样用几何法即用圆心到直线的距离</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zh-CN" altLang="en-US" sz="2800" dirty="0">
                <a:solidFill>
                  <a:srgbClr val="000000"/>
                </a:solidFill>
                <a:latin typeface="Times New Roman" panose="02020603050405020304" pitchFamily="18" charset="0"/>
                <a:cs typeface="Times New Roman" panose="02020603050405020304" pitchFamily="18" charset="0"/>
              </a:rPr>
              <a:t>与</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圆</a:t>
            </a:r>
            <a:r>
              <a:rPr lang="zh-CN" altLang="zh-CN" sz="2800" dirty="0">
                <a:solidFill>
                  <a:srgbClr val="000000"/>
                </a:solidFill>
                <a:latin typeface="Times New Roman" panose="02020603050405020304" pitchFamily="18" charset="0"/>
                <a:cs typeface="Times New Roman" panose="02020603050405020304" pitchFamily="18" charset="0"/>
              </a:rPr>
              <a:t>的半径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zh-CN" altLang="zh-CN" sz="2800" dirty="0">
                <a:solidFill>
                  <a:srgbClr val="000000"/>
                </a:solidFill>
                <a:latin typeface="Times New Roman" panose="02020603050405020304" pitchFamily="18" charset="0"/>
                <a:cs typeface="Times New Roman" panose="02020603050405020304" pitchFamily="18" charset="0"/>
              </a:rPr>
              <a:t>的大小关系来判断直线与圆的</a:t>
            </a:r>
            <a:r>
              <a:rPr lang="zh-CN" altLang="zh-CN" sz="2800" dirty="0" smtClean="0">
                <a:solidFill>
                  <a:srgbClr val="000000"/>
                </a:solidFill>
                <a:latin typeface="Times New Roman" panose="02020603050405020304" pitchFamily="18" charset="0"/>
                <a:cs typeface="Times New Roman" panose="02020603050405020304" pitchFamily="18" charset="0"/>
              </a:rPr>
              <a:t>位置</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利用圆心到直线的距离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与圆的半径</a:t>
            </a:r>
            <a:r>
              <a:rPr lang="en-US" altLang="zh-CN" sz="2800" i="1" dirty="0" smtClean="0">
                <a:solidFill>
                  <a:srgbClr val="000000"/>
                </a:solidFill>
                <a:latin typeface="Times New Roman" panose="02020603050405020304" pitchFamily="18" charset="0"/>
                <a:cs typeface="Times New Roman" panose="02020603050405020304" pitchFamily="18" charset="0"/>
              </a:rPr>
              <a:t>r</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大小关系</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判断</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位置关系如下</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d&gt;r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则直线与圆相离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d=r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则直线与圆相切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d&lt;r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则直线与圆相交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WMX1TRAX76.eps" descr="id:2147492995;FounderCES"/>
          <p:cNvPicPr/>
          <p:nvPr/>
        </p:nvPicPr>
        <p:blipFill>
          <a:blip r:embed="rId2">
            <a:clrChange>
              <a:clrFrom>
                <a:srgbClr val="FFFFFF"/>
              </a:clrFrom>
              <a:clrTo>
                <a:srgbClr val="FFFFFF">
                  <a:alpha val="0"/>
                </a:srgbClr>
              </a:clrTo>
            </a:clrChange>
          </a:blip>
          <a:stretch>
            <a:fillRect/>
          </a:stretch>
        </p:blipFill>
        <p:spPr>
          <a:xfrm>
            <a:off x="7498401" y="2126203"/>
            <a:ext cx="4201369" cy="2625152"/>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arn(inVertical)">
                                      <p:cBhvr>
                                        <p:cTn id="7" dur="500"/>
                                        <p:tgtEl>
                                          <p:spTgt spid="2">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barn(inVertical)">
                                      <p:cBhvr>
                                        <p:cTn id="10" dur="500"/>
                                        <p:tgtEl>
                                          <p:spTgt spid="2">
                                            <p:txEl>
                                              <p:pRg st="6" end="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barn(inVertical)">
                                      <p:cBhvr>
                                        <p:cTn id="13"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030564"/>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en-US" altLang="zh-CN" sz="2800" i="1" dirty="0" smtClean="0">
                <a:solidFill>
                  <a:srgbClr val="000000"/>
                </a:solidFill>
                <a:latin typeface="Times New Roman" panose="02020603050405020304" pitchFamily="18" charset="0"/>
                <a:cs typeface="Times New Roman" panose="02020603050405020304" pitchFamily="18" charset="0"/>
              </a:rPr>
              <a:t>l</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Ax+By+C=</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如何用直线和圆的方程判断它们之间的位置关系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5" name="组合 4"/>
          <p:cNvGrpSpPr/>
          <p:nvPr/>
        </p:nvGrpSpPr>
        <p:grpSpPr>
          <a:xfrm>
            <a:off x="59722" y="2238818"/>
            <a:ext cx="11751278" cy="2196290"/>
            <a:chOff x="59722" y="2737586"/>
            <a:chExt cx="11751278" cy="2196290"/>
          </a:xfrm>
        </p:grpSpPr>
        <p:graphicFrame>
          <p:nvGraphicFramePr>
            <p:cNvPr id="3" name="对象 2"/>
            <p:cNvGraphicFramePr>
              <a:graphicFrameLocks noChangeAspect="1"/>
            </p:cNvGraphicFramePr>
            <p:nvPr>
              <p:extLst>
                <p:ext uri="{D42A27DB-BD31-4B8C-83A1-F6EECF244321}">
                  <p14:modId xmlns:p14="http://schemas.microsoft.com/office/powerpoint/2010/main" val="823348788"/>
                </p:ext>
              </p:extLst>
            </p:nvPr>
          </p:nvGraphicFramePr>
          <p:xfrm>
            <a:off x="59722" y="2737586"/>
            <a:ext cx="11430000" cy="1003297"/>
          </p:xfrm>
          <a:graphic>
            <a:graphicData uri="http://schemas.openxmlformats.org/presentationml/2006/ole">
              <mc:AlternateContent xmlns:mc="http://schemas.openxmlformats.org/markup-compatibility/2006">
                <mc:Choice xmlns:v="urn:schemas-microsoft-com:vml" Requires="v">
                  <p:oleObj spid="_x0000_s1041"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59722" y="2737586"/>
                          <a:ext cx="11430000" cy="1003297"/>
                        </a:xfrm>
                        <a:prstGeom prst="rect">
                          <a:avLst/>
                        </a:prstGeom>
                      </p:spPr>
                    </p:pic>
                  </p:oleObj>
                </mc:Fallback>
              </mc:AlternateContent>
            </a:graphicData>
          </a:graphic>
        </p:graphicFrame>
        <p:sp>
          <p:nvSpPr>
            <p:cNvPr id="4" name="矩形 3"/>
            <p:cNvSpPr>
              <a:spLocks noChangeAspect="1"/>
            </p:cNvSpPr>
            <p:nvPr/>
          </p:nvSpPr>
          <p:spPr>
            <a:xfrm>
              <a:off x="381000" y="378150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当方程组无解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当方程组有一组解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当方程组有两组解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6639"/>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en-US" altLang="zh-CN" sz="2800" i="1" dirty="0" err="1">
                <a:solidFill>
                  <a:srgbClr val="000000"/>
                </a:solidFill>
                <a:latin typeface="Times New Roman" panose="02020603050405020304" pitchFamily="18" charset="0"/>
                <a:cs typeface="Times New Roman" panose="02020603050405020304" pitchFamily="18" charset="0"/>
              </a:rPr>
              <a:t>Ax+By+C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不同时为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的位置关系及判断</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82263962"/>
              </p:ext>
            </p:extLst>
          </p:nvPr>
        </p:nvGraphicFramePr>
        <p:xfrm>
          <a:off x="381000" y="1262010"/>
          <a:ext cx="11430000" cy="6259436"/>
        </p:xfrm>
        <a:graphic>
          <a:graphicData uri="http://schemas.openxmlformats.org/presentationml/2006/ole">
            <mc:AlternateContent xmlns:mc="http://schemas.openxmlformats.org/markup-compatibility/2006">
              <mc:Choice xmlns:v="urn:schemas-microsoft-com:vml" Requires="v">
                <p:oleObj spid="_x0000_s2064" name="文档" r:id="rId4" imgW="4520786" imgH="2475728" progId="Word.Document.12">
                  <p:embed/>
                </p:oleObj>
              </mc:Choice>
              <mc:Fallback>
                <p:oleObj name="文档" r:id="rId4" imgW="4520786" imgH="2475728" progId="Word.Document.12">
                  <p:embed/>
                  <p:pic>
                    <p:nvPicPr>
                      <p:cNvPr id="0" name=""/>
                      <p:cNvPicPr/>
                      <p:nvPr/>
                    </p:nvPicPr>
                    <p:blipFill>
                      <a:blip r:embed="rId5"/>
                      <a:stretch>
                        <a:fillRect/>
                      </a:stretch>
                    </p:blipFill>
                    <p:spPr>
                      <a:xfrm>
                        <a:off x="381000" y="1262010"/>
                        <a:ext cx="11430000" cy="6259436"/>
                      </a:xfrm>
                      <a:prstGeom prst="rect">
                        <a:avLst/>
                      </a:prstGeom>
                    </p:spPr>
                  </p:pic>
                </p:oleObj>
              </mc:Fallback>
            </mc:AlternateContent>
          </a:graphicData>
        </a:graphic>
      </p:graphicFrame>
      <p:sp>
        <p:nvSpPr>
          <p:cNvPr id="4" name="矩形 3"/>
          <p:cNvSpPr/>
          <p:nvPr/>
        </p:nvSpPr>
        <p:spPr>
          <a:xfrm>
            <a:off x="5416125" y="1894462"/>
            <a:ext cx="320957"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428735" y="1894462"/>
            <a:ext cx="327409"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562572" y="1894462"/>
            <a:ext cx="327409"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633172" y="2871207"/>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704840" y="2881598"/>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821770" y="2881598"/>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664345" y="4933327"/>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717129" y="4933327"/>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821769" y="4933327"/>
            <a:ext cx="28964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9689"/>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相交但直线不经过圆心</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直线经过圆心</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相离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过原点作圆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的切线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切线方程为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03240313"/>
              </p:ext>
            </p:extLst>
          </p:nvPr>
        </p:nvGraphicFramePr>
        <p:xfrm>
          <a:off x="49428" y="2258611"/>
          <a:ext cx="11430000" cy="1003297"/>
        </p:xfrm>
        <a:graphic>
          <a:graphicData uri="http://schemas.openxmlformats.org/presentationml/2006/ole">
            <mc:AlternateContent xmlns:mc="http://schemas.openxmlformats.org/markup-compatibility/2006">
              <mc:Choice xmlns:v="urn:schemas-microsoft-com:vml" Requires="v">
                <p:oleObj spid="_x0000_s3088"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9428" y="2258611"/>
                        <a:ext cx="11430000" cy="1003297"/>
                      </a:xfrm>
                      <a:prstGeom prst="rect">
                        <a:avLst/>
                      </a:prstGeom>
                    </p:spPr>
                  </p:pic>
                </p:oleObj>
              </mc:Fallback>
            </mc:AlternateContent>
          </a:graphicData>
        </a:graphic>
      </p:graphicFrame>
      <p:sp>
        <p:nvSpPr>
          <p:cNvPr id="4" name="矩形 3"/>
          <p:cNvSpPr>
            <a:spLocks noChangeAspect="1"/>
          </p:cNvSpPr>
          <p:nvPr/>
        </p:nvSpPr>
        <p:spPr>
          <a:xfrm>
            <a:off x="381000" y="3187766"/>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不经过圆心</a:t>
            </a:r>
            <a:r>
              <a:rPr lang="en-US" altLang="zh-CN" sz="2800" dirty="0">
                <a:solidFill>
                  <a:srgbClr val="000000"/>
                </a:solidFill>
                <a:latin typeface="Times New Roman" panose="02020603050405020304" pitchFamily="18" charset="0"/>
                <a:cs typeface="Times New Roman" panose="02020603050405020304" pitchFamily="18" charset="0"/>
              </a:rPr>
              <a:t>(0,0),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直线与圆相交但不经过圆心</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圆的方程可化为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轴都相切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所求切线方程为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(1)B</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down)">
                                      <p:cBhvr>
                                        <p:cTn id="13" dur="500"/>
                                        <p:tgtEl>
                                          <p:spTgt spid="4">
                                            <p:txEl>
                                              <p:pRg st="1" end="1"/>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wipe(down)">
                                      <p:cBhvr>
                                        <p:cTn id="16" dur="500"/>
                                        <p:tgtEl>
                                          <p:spTgt spid="4">
                                            <p:txEl>
                                              <p:pRg st="2" end="2"/>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down)">
                                      <p:cBhvr>
                                        <p:cTn id="19" dur="500"/>
                                        <p:tgtEl>
                                          <p:spTgt spid="4">
                                            <p:txEl>
                                              <p:pRg st="3" end="3"/>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down)">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9902"/>
            <a:ext cx="11430000" cy="395313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判断直线与圆的位置关系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只能用圆心到直线的距离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与圆的半径的大小关系判断</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过圆外一点作圆的切线有两条</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当直线与圆相离时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可求圆上的点到直线的最大距离和最小距离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若直线与圆有公共点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则直线与圆相交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2916792" y="2496923"/>
            <a:ext cx="48103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085609" y="3011682"/>
            <a:ext cx="39755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1156372" y="3556210"/>
            <a:ext cx="39755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260192" y="4169645"/>
            <a:ext cx="48103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直线与圆的位置关系的判断</a:t>
                </a:r>
              </a:p>
            </p:txBody>
          </p:sp>
        </p:grpSp>
      </p:grpSp>
      <p:sp>
        <p:nvSpPr>
          <p:cNvPr id="2" name="矩形 1"/>
          <p:cNvSpPr>
            <a:spLocks noChangeAspect="1"/>
          </p:cNvSpPr>
          <p:nvPr/>
        </p:nvSpPr>
        <p:spPr>
          <a:xfrm>
            <a:off x="381000" y="1245845"/>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已知直线方程</a:t>
            </a:r>
            <a:r>
              <a:rPr lang="en-US" altLang="zh-CN" sz="2800" i="1" dirty="0">
                <a:solidFill>
                  <a:srgbClr val="000000"/>
                </a:solidFill>
                <a:latin typeface="Times New Roman" panose="02020603050405020304" pitchFamily="18" charset="0"/>
                <a:cs typeface="Times New Roman" panose="02020603050405020304" pitchFamily="18" charset="0"/>
              </a:rPr>
              <a:t>mx-y-m-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圆的方程</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直线与圆</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有两个公共点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没有公共点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直线与圆有两个公共点</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直线与圆只有一个公共点</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直线与圆没有公共点</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将直线方程</a:t>
            </a:r>
            <a:r>
              <a:rPr lang="en-US" altLang="zh-CN" sz="2800" i="1" dirty="0">
                <a:solidFill>
                  <a:srgbClr val="000000"/>
                </a:solidFill>
                <a:latin typeface="Times New Roman" panose="02020603050405020304" pitchFamily="18" charset="0"/>
                <a:cs typeface="Times New Roman" panose="02020603050405020304" pitchFamily="18" charset="0"/>
              </a:rPr>
              <a:t>y=mx-m-</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代入圆的方程</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化</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简整理得</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5959925"/>
              </p:ext>
            </p:extLst>
          </p:nvPr>
        </p:nvGraphicFramePr>
        <p:xfrm>
          <a:off x="381000" y="1854908"/>
          <a:ext cx="11430000" cy="3008976"/>
        </p:xfrm>
        <a:graphic>
          <a:graphicData uri="http://schemas.openxmlformats.org/presentationml/2006/ole">
            <mc:AlternateContent xmlns:mc="http://schemas.openxmlformats.org/markup-compatibility/2006">
              <mc:Choice xmlns:v="urn:schemas-microsoft-com:vml" Requires="v">
                <p:oleObj spid="_x0000_s4111" name="文档" r:id="rId4" imgW="4520786" imgH="1190108" progId="Word.Document.12">
                  <p:embed/>
                </p:oleObj>
              </mc:Choice>
              <mc:Fallback>
                <p:oleObj name="文档" r:id="rId4" imgW="4520786" imgH="1190108" progId="Word.Document.12">
                  <p:embed/>
                  <p:pic>
                    <p:nvPicPr>
                      <p:cNvPr id="0" name=""/>
                      <p:cNvPicPr/>
                      <p:nvPr/>
                    </p:nvPicPr>
                    <p:blipFill>
                      <a:blip r:embed="rId5"/>
                      <a:stretch>
                        <a:fillRect/>
                      </a:stretch>
                    </p:blipFill>
                    <p:spPr>
                      <a:xfrm>
                        <a:off x="381000" y="1854908"/>
                        <a:ext cx="11430000" cy="3008976"/>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43481"/>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圆的方程可化为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09100129"/>
              </p:ext>
            </p:extLst>
          </p:nvPr>
        </p:nvGraphicFramePr>
        <p:xfrm>
          <a:off x="381000" y="716978"/>
          <a:ext cx="11430000" cy="3008976"/>
        </p:xfrm>
        <a:graphic>
          <a:graphicData uri="http://schemas.openxmlformats.org/presentationml/2006/ole">
            <mc:AlternateContent xmlns:mc="http://schemas.openxmlformats.org/markup-compatibility/2006">
              <mc:Choice xmlns:v="urn:schemas-microsoft-com:vml" Requires="v">
                <p:oleObj spid="_x0000_s5136" name="文档" r:id="rId4" imgW="4520786" imgH="1190108" progId="Word.Document.12">
                  <p:embed/>
                </p:oleObj>
              </mc:Choice>
              <mc:Fallback>
                <p:oleObj name="文档" r:id="rId4" imgW="4520786" imgH="1190108" progId="Word.Document.12">
                  <p:embed/>
                  <p:pic>
                    <p:nvPicPr>
                      <p:cNvPr id="0" name=""/>
                      <p:cNvPicPr/>
                      <p:nvPr/>
                    </p:nvPicPr>
                    <p:blipFill>
                      <a:blip r:embed="rId5"/>
                      <a:stretch>
                        <a:fillRect/>
                      </a:stretch>
                    </p:blipFill>
                    <p:spPr>
                      <a:xfrm>
                        <a:off x="381000" y="716978"/>
                        <a:ext cx="11430000" cy="3008976"/>
                      </a:xfrm>
                      <a:prstGeom prst="rect">
                        <a:avLst/>
                      </a:prstGeom>
                    </p:spPr>
                  </p:pic>
                </p:oleObj>
              </mc:Fallback>
            </mc:AlternateContent>
          </a:graphicData>
        </a:graphic>
      </p:graphicFrame>
      <p:sp>
        <p:nvSpPr>
          <p:cNvPr id="4" name="矩形 3"/>
          <p:cNvSpPr>
            <a:spLocks noChangeAspect="1"/>
          </p:cNvSpPr>
          <p:nvPr/>
        </p:nvSpPr>
        <p:spPr>
          <a:xfrm>
            <a:off x="381000" y="3611752"/>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与圆的位置关系反映在三个方面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一是圆心到直线的距离与半径的大小关系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二是直线与圆的公共点的个数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三是两方程组成的方程组解的个数</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若给出图形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可根据公共点的个数判断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若给出直线与圆的方程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可选择用几何法或代数法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几何法计算量小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代数法可一同求出交点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解题时可根据已知条件选择合适的解题方法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6557"/>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	B.</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相离</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不确定</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恒过定点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在圆内</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down)">
                                      <p:cBhvr>
                                        <p:cTn id="13" dur="500"/>
                                        <p:tgtEl>
                                          <p:spTgt spid="2">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wipe(down)">
                                      <p:cBhvr>
                                        <p:cTn id="16" dur="500"/>
                                        <p:tgtEl>
                                          <p:spTgt spid="2">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Effect transition="in" filter="wipe(down)">
                                      <p:cBhvr>
                                        <p:cTn id="21"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直线与圆相切</a:t>
                </a:r>
              </a:p>
            </p:txBody>
          </p:sp>
        </p:grpSp>
      </p:grpSp>
      <p:sp>
        <p:nvSpPr>
          <p:cNvPr id="2" name="矩形 1"/>
          <p:cNvSpPr>
            <a:spLocks noChangeAspect="1"/>
          </p:cNvSpPr>
          <p:nvPr/>
        </p:nvSpPr>
        <p:spPr>
          <a:xfrm>
            <a:off x="380999" y="593294"/>
            <a:ext cx="11617411" cy="2893100"/>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(2,3),</a:t>
            </a:r>
            <a:r>
              <a:rPr lang="zh-CN" altLang="zh-CN" sz="2800" dirty="0">
                <a:solidFill>
                  <a:srgbClr val="000000"/>
                </a:solidFill>
                <a:latin typeface="Times New Roman" panose="02020603050405020304" pitchFamily="18" charset="0"/>
                <a:cs typeface="Times New Roman" panose="02020603050405020304" pitchFamily="18" charset="0"/>
              </a:rPr>
              <a:t>且与圆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可以利用几何法和代数法两种思路求切线方程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在圆外</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5" name="组合 4"/>
          <p:cNvGrpSpPr/>
          <p:nvPr/>
        </p:nvGrpSpPr>
        <p:grpSpPr>
          <a:xfrm>
            <a:off x="49428" y="3436966"/>
            <a:ext cx="11761572" cy="2976188"/>
            <a:chOff x="49428" y="3436966"/>
            <a:chExt cx="11761572" cy="2976188"/>
          </a:xfrm>
        </p:grpSpPr>
        <p:graphicFrame>
          <p:nvGraphicFramePr>
            <p:cNvPr id="3" name="对象 2"/>
            <p:cNvGraphicFramePr>
              <a:graphicFrameLocks noChangeAspect="1"/>
            </p:cNvGraphicFramePr>
            <p:nvPr>
              <p:extLst>
                <p:ext uri="{D42A27DB-BD31-4B8C-83A1-F6EECF244321}">
                  <p14:modId xmlns:p14="http://schemas.microsoft.com/office/powerpoint/2010/main" val="3717428470"/>
                </p:ext>
              </p:extLst>
            </p:nvPr>
          </p:nvGraphicFramePr>
          <p:xfrm>
            <a:off x="49428" y="3436966"/>
            <a:ext cx="11430000" cy="2005680"/>
          </p:xfrm>
          <a:graphic>
            <a:graphicData uri="http://schemas.openxmlformats.org/presentationml/2006/ole">
              <mc:AlternateContent xmlns:mc="http://schemas.openxmlformats.org/markup-compatibility/2006">
                <mc:Choice xmlns:v="urn:schemas-microsoft-com:vml" Requires="v">
                  <p:oleObj spid="_x0000_s6158"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49428" y="3436966"/>
                          <a:ext cx="11430000" cy="2005680"/>
                        </a:xfrm>
                        <a:prstGeom prst="rect">
                          <a:avLst/>
                        </a:prstGeom>
                      </p:spPr>
                    </p:pic>
                  </p:oleObj>
                </mc:Fallback>
              </mc:AlternateContent>
            </a:graphicData>
          </a:graphic>
        </p:graphicFrame>
        <p:sp>
          <p:nvSpPr>
            <p:cNvPr id="4" name="矩形 3"/>
            <p:cNvSpPr>
              <a:spLocks noChangeAspect="1"/>
            </p:cNvSpPr>
            <p:nvPr/>
          </p:nvSpPr>
          <p:spPr>
            <a:xfrm>
              <a:off x="381000" y="526078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经验证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符合题意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9723" y="673334"/>
            <a:ext cx="11751277" cy="4714496"/>
            <a:chOff x="59723" y="704507"/>
            <a:chExt cx="11751277" cy="4714496"/>
          </a:xfrm>
        </p:grpSpPr>
        <p:sp>
          <p:nvSpPr>
            <p:cNvPr id="2" name="矩形 1"/>
            <p:cNvSpPr>
              <a:spLocks noChangeAspect="1"/>
            </p:cNvSpPr>
            <p:nvPr/>
          </p:nvSpPr>
          <p:spPr>
            <a:xfrm>
              <a:off x="381000" y="704507"/>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与圆的方程联立消去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整理</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71264462"/>
                </p:ext>
              </p:extLst>
            </p:nvPr>
          </p:nvGraphicFramePr>
          <p:xfrm>
            <a:off x="59723" y="2379956"/>
            <a:ext cx="11430000" cy="2005680"/>
          </p:xfrm>
          <a:graphic>
            <a:graphicData uri="http://schemas.openxmlformats.org/presentationml/2006/ole">
              <mc:AlternateContent xmlns:mc="http://schemas.openxmlformats.org/markup-compatibility/2006">
                <mc:Choice xmlns:v="urn:schemas-microsoft-com:vml" Requires="v">
                  <p:oleObj spid="_x0000_s7182"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59723" y="2379956"/>
                          <a:ext cx="11430000" cy="2005680"/>
                        </a:xfrm>
                        <a:prstGeom prst="rect">
                          <a:avLst/>
                        </a:prstGeom>
                      </p:spPr>
                    </p:pic>
                  </p:oleObj>
                </mc:Fallback>
              </mc:AlternateContent>
            </a:graphicData>
          </a:graphic>
        </p:graphicFrame>
        <p:sp>
          <p:nvSpPr>
            <p:cNvPr id="4" name="矩形 3"/>
            <p:cNvSpPr>
              <a:spLocks noChangeAspect="1"/>
            </p:cNvSpPr>
            <p:nvPr/>
          </p:nvSpPr>
          <p:spPr>
            <a:xfrm>
              <a:off x="381000" y="426663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经验证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符合题意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16055"/>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若本例点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的坐标改为</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其他条件不变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的圆的切线有一条</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过圆心与点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的直线平行于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切线方程为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2">
            <a:clrChange>
              <a:clrFrom>
                <a:srgbClr val="FFFFFF"/>
              </a:clrFrom>
              <a:clrTo>
                <a:srgbClr val="FFFFFF">
                  <a:alpha val="0"/>
                </a:srgbClr>
              </a:clrTo>
            </a:clrChange>
          </a:blip>
          <a:stretch>
            <a:fillRect/>
          </a:stretch>
        </p:blipFill>
        <p:spPr>
          <a:xfrm>
            <a:off x="4757688" y="834609"/>
            <a:ext cx="2016224" cy="367706"/>
          </a:xfrm>
          <a:prstGeom prst="rect">
            <a:avLst/>
          </a:prstGeom>
        </p:spPr>
      </p:pic>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down)">
                                      <p:cBhvr>
                                        <p:cTn id="16" dur="500"/>
                                        <p:tgtEl>
                                          <p:spTgt spid="2">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wipe(down)">
                                      <p:cBhvr>
                                        <p:cTn id="1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0706"/>
            <a:ext cx="11430000" cy="569386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的切线方程的两种求解</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几何法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设出切线的方程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利用圆心到直线的距离等于半径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求出未知量的值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此种方法需要注意斜率不存在的情况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要单独验证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若符合题意则直接写出切线方程</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求圆的切线方程或与切线有关的问题常用此方法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代数法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设出直线的方程后与圆的方程联立消元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求未知量的值</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若消元后的方程是一元一次方程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则说明要求的两条切线中有一条直线的斜率不存在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可直接写出切线的方程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提醒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过一点求圆的切线方程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一定要判断该点是在圆上还是在圆外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在圆上只有一条切线方程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在圆外有两条切线方程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807"/>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y=b</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12	B.2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	D.2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引圆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的切线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则切线长为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易知圆心坐标为</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直线与圆相切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21088534"/>
              </p:ext>
            </p:extLst>
          </p:nvPr>
        </p:nvGraphicFramePr>
        <p:xfrm>
          <a:off x="59723" y="3425073"/>
          <a:ext cx="11430000" cy="2507784"/>
        </p:xfrm>
        <a:graphic>
          <a:graphicData uri="http://schemas.openxmlformats.org/presentationml/2006/ole">
            <mc:AlternateContent xmlns:mc="http://schemas.openxmlformats.org/markup-compatibility/2006">
              <mc:Choice xmlns:v="urn:schemas-microsoft-com:vml" Requires="v">
                <p:oleObj spid="_x0000_s8206" name="文档" r:id="rId4" imgW="4520786" imgH="991877" progId="Word.Document.12">
                  <p:embed/>
                </p:oleObj>
              </mc:Choice>
              <mc:Fallback>
                <p:oleObj name="文档" r:id="rId4" imgW="4520786" imgH="991877" progId="Word.Document.12">
                  <p:embed/>
                  <p:pic>
                    <p:nvPicPr>
                      <p:cNvPr id="0" name=""/>
                      <p:cNvPicPr/>
                      <p:nvPr/>
                    </p:nvPicPr>
                    <p:blipFill>
                      <a:blip r:embed="rId5"/>
                      <a:stretch>
                        <a:fillRect/>
                      </a:stretch>
                    </p:blipFill>
                    <p:spPr>
                      <a:xfrm>
                        <a:off x="59723" y="3425073"/>
                        <a:ext cx="11430000" cy="2507784"/>
                      </a:xfrm>
                      <a:prstGeom prst="rect">
                        <a:avLst/>
                      </a:prstGeom>
                    </p:spPr>
                  </p:pic>
                </p:oleObj>
              </mc:Fallback>
            </mc:AlternateContent>
          </a:graphicData>
        </a:graphic>
      </p:graphicFrame>
      <p:sp>
        <p:nvSpPr>
          <p:cNvPr id="4" name="矩形 3"/>
          <p:cNvSpPr>
            <a:spLocks noChangeAspect="1"/>
          </p:cNvSpPr>
          <p:nvPr/>
        </p:nvSpPr>
        <p:spPr>
          <a:xfrm>
            <a:off x="381000" y="5969928"/>
            <a:ext cx="301236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(1)D</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2)2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wipe(down)">
                                      <p:cBhvr>
                                        <p:cTn id="10" dur="500"/>
                                        <p:tgtEl>
                                          <p:spTgt spid="2">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down)">
                                      <p:cBhvr>
                                        <p:cTn id="1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直线与圆相交</a:t>
                </a:r>
              </a:p>
            </p:txBody>
          </p:sp>
        </p:grpSp>
      </p:grpSp>
      <p:sp>
        <p:nvSpPr>
          <p:cNvPr id="4" name="矩形 3"/>
          <p:cNvSpPr>
            <a:spLocks noChangeAspect="1"/>
          </p:cNvSpPr>
          <p:nvPr/>
        </p:nvSpPr>
        <p:spPr>
          <a:xfrm>
            <a:off x="381000" y="1013010"/>
            <a:ext cx="11430000" cy="400763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判断直线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交于不同的两点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smtClean="0">
                <a:solidFill>
                  <a:srgbClr val="000000"/>
                </a:solidFill>
                <a:latin typeface="Times New Roman" panose="02020603050405020304" pitchFamily="18" charset="0"/>
                <a:cs typeface="Times New Roman" panose="02020603050405020304" pitchFamily="18" charset="0"/>
              </a:rPr>
              <a:t>3      ,</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利用圆心到直线的距离与半径的大小关系判断或利用直线的定点与圆的位置关系判断</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利用半径、弦的一半和弦心距的关系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求出圆心到直线的距离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再由此求</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即得</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103823790"/>
              </p:ext>
            </p:extLst>
          </p:nvPr>
        </p:nvGraphicFramePr>
        <p:xfrm>
          <a:off x="7677988" y="2211400"/>
          <a:ext cx="673100" cy="533400"/>
        </p:xfrm>
        <a:graphic>
          <a:graphicData uri="http://schemas.openxmlformats.org/presentationml/2006/ole">
            <mc:AlternateContent xmlns:mc="http://schemas.openxmlformats.org/markup-compatibility/2006">
              <mc:Choice xmlns:v="urn:schemas-microsoft-com:vml" Requires="v">
                <p:oleObj spid="_x0000_s9229" name="文档" r:id="rId4" imgW="271708" imgH="211567" progId="Word.Document.12">
                  <p:embed/>
                </p:oleObj>
              </mc:Choice>
              <mc:Fallback>
                <p:oleObj name="文档" r:id="rId4" imgW="271708" imgH="211567" progId="Word.Document.12">
                  <p:embed/>
                  <p:pic>
                    <p:nvPicPr>
                      <p:cNvPr id="0" name=""/>
                      <p:cNvPicPr/>
                      <p:nvPr/>
                    </p:nvPicPr>
                    <p:blipFill>
                      <a:blip r:embed="rId5"/>
                      <a:stretch>
                        <a:fillRect/>
                      </a:stretch>
                    </p:blipFill>
                    <p:spPr>
                      <a:xfrm>
                        <a:off x="7677988" y="2211400"/>
                        <a:ext cx="673100" cy="5334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barn(inVertical)">
                                      <p:cBhvr>
                                        <p:cTn id="7" dur="500"/>
                                        <p:tgtEl>
                                          <p:spTgt spid="4">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barn(inVertical)">
                                      <p:cBhvr>
                                        <p:cTn id="1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26779893"/>
              </p:ext>
            </p:extLst>
          </p:nvPr>
        </p:nvGraphicFramePr>
        <p:xfrm>
          <a:off x="83128" y="390763"/>
          <a:ext cx="11275153" cy="2776785"/>
        </p:xfrm>
        <a:graphic>
          <a:graphicData uri="http://schemas.openxmlformats.org/presentationml/2006/ole">
            <mc:AlternateContent xmlns:mc="http://schemas.openxmlformats.org/markup-compatibility/2006">
              <mc:Choice xmlns:v="urn:schemas-microsoft-com:vml" Requires="v">
                <p:oleObj spid="_x0000_s10259" name="文档" r:id="rId4" imgW="4510061" imgH="1110714" progId="Word.Document.12">
                  <p:embed/>
                </p:oleObj>
              </mc:Choice>
              <mc:Fallback>
                <p:oleObj name="文档" r:id="rId4" imgW="4510061" imgH="1110714" progId="Word.Document.12">
                  <p:embed/>
                  <p:pic>
                    <p:nvPicPr>
                      <p:cNvPr id="0" name=""/>
                      <p:cNvPicPr/>
                      <p:nvPr/>
                    </p:nvPicPr>
                    <p:blipFill>
                      <a:blip r:embed="rId5"/>
                      <a:stretch>
                        <a:fillRect/>
                      </a:stretch>
                    </p:blipFill>
                    <p:spPr>
                      <a:xfrm>
                        <a:off x="83128" y="390763"/>
                        <a:ext cx="11275153" cy="2776785"/>
                      </a:xfrm>
                      <a:prstGeom prst="rect">
                        <a:avLst/>
                      </a:prstGeom>
                    </p:spPr>
                  </p:pic>
                </p:oleObj>
              </mc:Fallback>
            </mc:AlternateContent>
          </a:graphicData>
        </a:graphic>
      </p:graphicFrame>
      <p:sp>
        <p:nvSpPr>
          <p:cNvPr id="3" name="矩形 2"/>
          <p:cNvSpPr>
            <a:spLocks noChangeAspect="1"/>
          </p:cNvSpPr>
          <p:nvPr/>
        </p:nvSpPr>
        <p:spPr>
          <a:xfrm>
            <a:off x="381000" y="3136375"/>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mx-y+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恒过定点</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定点</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在圆内</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4935967" cy="652486"/>
          </a:xfrm>
          <a:prstGeom prst="rect">
            <a:avLst/>
          </a:prstGeom>
        </p:spPr>
        <p:txBody>
          <a:bodyPr wrap="none">
            <a:spAutoFit/>
          </a:bodyPr>
          <a:lstStyle/>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设圆心到直线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280095377"/>
              </p:ext>
            </p:extLst>
          </p:nvPr>
        </p:nvGraphicFramePr>
        <p:xfrm>
          <a:off x="51955" y="1901667"/>
          <a:ext cx="11430000" cy="1741425"/>
        </p:xfrm>
        <a:graphic>
          <a:graphicData uri="http://schemas.openxmlformats.org/presentationml/2006/ole">
            <mc:AlternateContent xmlns:mc="http://schemas.openxmlformats.org/markup-compatibility/2006">
              <mc:Choice xmlns:v="urn:schemas-microsoft-com:vml" Requires="v">
                <p:oleObj spid="_x0000_s11277" name="文档" r:id="rId4" imgW="4510061" imgH="687133" progId="Word.Document.12">
                  <p:embed/>
                </p:oleObj>
              </mc:Choice>
              <mc:Fallback>
                <p:oleObj name="文档" r:id="rId4" imgW="4510061" imgH="687133" progId="Word.Document.12">
                  <p:embed/>
                  <p:pic>
                    <p:nvPicPr>
                      <p:cNvPr id="0" name=""/>
                      <p:cNvPicPr/>
                      <p:nvPr/>
                    </p:nvPicPr>
                    <p:blipFill>
                      <a:blip r:embed="rId5"/>
                      <a:stretch>
                        <a:fillRect/>
                      </a:stretch>
                    </p:blipFill>
                    <p:spPr>
                      <a:xfrm>
                        <a:off x="51955" y="1901667"/>
                        <a:ext cx="11430000" cy="1741425"/>
                      </a:xfrm>
                      <a:prstGeom prst="rect">
                        <a:avLst/>
                      </a:prstGeom>
                    </p:spPr>
                  </p:pic>
                </p:oleObj>
              </mc:Fallback>
            </mc:AlternateContent>
          </a:graphicData>
        </a:graphic>
      </p:graphicFrame>
      <p:sp>
        <p:nvSpPr>
          <p:cNvPr id="7" name="矩形 6"/>
          <p:cNvSpPr>
            <a:spLocks noChangeAspect="1"/>
          </p:cNvSpPr>
          <p:nvPr/>
        </p:nvSpPr>
        <p:spPr>
          <a:xfrm>
            <a:off x="381000" y="3653483"/>
            <a:ext cx="7507183" cy="652486"/>
          </a:xfrm>
          <a:prstGeom prst="rect">
            <a:avLst/>
          </a:prstGeom>
        </p:spPr>
        <p:txBody>
          <a:bodyPr wrap="none">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所以所求直线为</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121837"/>
            <a:ext cx="11430000" cy="6186932"/>
            <a:chOff x="381000" y="121837"/>
            <a:chExt cx="11430000" cy="6186932"/>
          </a:xfrm>
        </p:grpSpPr>
        <p:sp>
          <p:nvSpPr>
            <p:cNvPr id="2" name="矩形 1"/>
            <p:cNvSpPr>
              <a:spLocks noChangeAspect="1"/>
            </p:cNvSpPr>
            <p:nvPr/>
          </p:nvSpPr>
          <p:spPr>
            <a:xfrm>
              <a:off x="381000" y="121837"/>
              <a:ext cx="7577715" cy="592213"/>
            </a:xfrm>
            <a:prstGeom prst="rect">
              <a:avLst/>
            </a:prstGeom>
          </p:spPr>
          <p:txBody>
            <a:bodyPr wrap="none">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直线与圆相交时弦长的两种方法</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36681709"/>
                </p:ext>
              </p:extLst>
            </p:nvPr>
          </p:nvGraphicFramePr>
          <p:xfrm>
            <a:off x="381000" y="798780"/>
            <a:ext cx="11430000" cy="2005680"/>
          </p:xfrm>
          <a:graphic>
            <a:graphicData uri="http://schemas.openxmlformats.org/presentationml/2006/ole">
              <mc:AlternateContent xmlns:mc="http://schemas.openxmlformats.org/markup-compatibility/2006">
                <mc:Choice xmlns:v="urn:schemas-microsoft-com:vml" Requires="v">
                  <p:oleObj spid="_x0000_s12302" name="文档" r:id="rId4" imgW="4510061" imgH="794654" progId="Word.Document.12">
                    <p:embed/>
                  </p:oleObj>
                </mc:Choice>
                <mc:Fallback>
                  <p:oleObj name="文档" r:id="rId4" imgW="4510061" imgH="794654" progId="Word.Document.12">
                    <p:embed/>
                    <p:pic>
                      <p:nvPicPr>
                        <p:cNvPr id="0" name=""/>
                        <p:cNvPicPr/>
                        <p:nvPr/>
                      </p:nvPicPr>
                      <p:blipFill>
                        <a:blip r:embed="rId5"/>
                        <a:stretch>
                          <a:fillRect/>
                        </a:stretch>
                      </p:blipFill>
                      <p:spPr>
                        <a:xfrm>
                          <a:off x="381000" y="798780"/>
                          <a:ext cx="11430000" cy="2005680"/>
                        </a:xfrm>
                        <a:prstGeom prst="rect">
                          <a:avLst/>
                        </a:prstGeom>
                      </p:spPr>
                    </p:pic>
                  </p:oleObj>
                </mc:Fallback>
              </mc:AlternateContent>
            </a:graphicData>
          </a:graphic>
        </p:graphicFrame>
        <p:pic>
          <p:nvPicPr>
            <p:cNvPr id="4" name="图片 3"/>
            <p:cNvPicPr>
              <a:picLocks noChangeAspect="1"/>
            </p:cNvPicPr>
            <p:nvPr/>
          </p:nvPicPr>
          <p:blipFill>
            <a:blip r:embed="rId6">
              <a:clrChange>
                <a:clrFrom>
                  <a:srgbClr val="FFFFFF"/>
                </a:clrFrom>
                <a:clrTo>
                  <a:srgbClr val="FFFFFF">
                    <a:alpha val="0"/>
                  </a:srgbClr>
                </a:clrTo>
              </a:clrChange>
            </a:blip>
            <a:stretch>
              <a:fillRect/>
            </a:stretch>
          </p:blipFill>
          <p:spPr>
            <a:xfrm>
              <a:off x="4012582" y="2825242"/>
              <a:ext cx="4166836" cy="3483527"/>
            </a:xfrm>
            <a:prstGeom prst="rect">
              <a:avLst/>
            </a:prstGeom>
          </p:spPr>
        </p:pic>
      </p:gr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1000" y="193765"/>
            <a:ext cx="11430000" cy="6062699"/>
            <a:chOff x="381000" y="193765"/>
            <a:chExt cx="11430000" cy="6062699"/>
          </a:xfrm>
        </p:grpSpPr>
        <p:graphicFrame>
          <p:nvGraphicFramePr>
            <p:cNvPr id="5" name="对象 4"/>
            <p:cNvGraphicFramePr>
              <a:graphicFrameLocks noChangeAspect="1"/>
            </p:cNvGraphicFramePr>
            <p:nvPr>
              <p:extLst>
                <p:ext uri="{D42A27DB-BD31-4B8C-83A1-F6EECF244321}">
                  <p14:modId xmlns:p14="http://schemas.microsoft.com/office/powerpoint/2010/main" val="3438092170"/>
                </p:ext>
              </p:extLst>
            </p:nvPr>
          </p:nvGraphicFramePr>
          <p:xfrm>
            <a:off x="381000" y="193765"/>
            <a:ext cx="11430000" cy="2808500"/>
          </p:xfrm>
          <a:graphic>
            <a:graphicData uri="http://schemas.openxmlformats.org/presentationml/2006/ole">
              <mc:AlternateContent xmlns:mc="http://schemas.openxmlformats.org/markup-compatibility/2006">
                <mc:Choice xmlns:v="urn:schemas-microsoft-com:vml" Requires="v">
                  <p:oleObj spid="_x0000_s13325" name="文档" r:id="rId4" imgW="4520786" imgH="1110816" progId="Word.Document.12">
                    <p:embed/>
                  </p:oleObj>
                </mc:Choice>
                <mc:Fallback>
                  <p:oleObj name="文档" r:id="rId4" imgW="4520786" imgH="1110816" progId="Word.Document.12">
                    <p:embed/>
                    <p:pic>
                      <p:nvPicPr>
                        <p:cNvPr id="0" name=""/>
                        <p:cNvPicPr/>
                        <p:nvPr/>
                      </p:nvPicPr>
                      <p:blipFill>
                        <a:blip r:embed="rId5"/>
                        <a:stretch>
                          <a:fillRect/>
                        </a:stretch>
                      </p:blipFill>
                      <p:spPr>
                        <a:xfrm>
                          <a:off x="381000" y="193765"/>
                          <a:ext cx="11430000" cy="2808500"/>
                        </a:xfrm>
                        <a:prstGeom prst="rect">
                          <a:avLst/>
                        </a:prstGeom>
                      </p:spPr>
                    </p:pic>
                  </p:oleObj>
                </mc:Fallback>
              </mc:AlternateContent>
            </a:graphicData>
          </a:graphic>
        </p:graphicFrame>
        <p:pic>
          <p:nvPicPr>
            <p:cNvPr id="2" name="图片 1"/>
            <p:cNvPicPr>
              <a:picLocks noChangeAspect="1"/>
            </p:cNvPicPr>
            <p:nvPr/>
          </p:nvPicPr>
          <p:blipFill>
            <a:blip r:embed="rId6">
              <a:clrChange>
                <a:clrFrom>
                  <a:srgbClr val="FFFFFF"/>
                </a:clrFrom>
                <a:clrTo>
                  <a:srgbClr val="FFFFFF">
                    <a:alpha val="0"/>
                  </a:srgbClr>
                </a:clrTo>
              </a:clrChange>
            </a:blip>
            <a:stretch>
              <a:fillRect/>
            </a:stretch>
          </p:blipFill>
          <p:spPr>
            <a:xfrm>
              <a:off x="4201984" y="3043829"/>
              <a:ext cx="3788033" cy="3212635"/>
            </a:xfrm>
            <a:prstGeom prst="rect">
              <a:avLst/>
            </a:prstGeom>
          </p:spPr>
        </p:pic>
      </p:gr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1875497"/>
            <a:ext cx="11430000" cy="1212640"/>
            <a:chOff x="381000" y="2552871"/>
            <a:chExt cx="11430000" cy="1212640"/>
          </a:xfrm>
        </p:grpSpPr>
        <p:sp>
          <p:nvSpPr>
            <p:cNvPr id="2" name="矩形 1"/>
            <p:cNvSpPr>
              <a:spLocks noChangeAspect="1"/>
            </p:cNvSpPr>
            <p:nvPr/>
          </p:nvSpPr>
          <p:spPr>
            <a:xfrm>
              <a:off x="381000" y="2552871"/>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若过点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的直线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被圆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所截得的弦长为</a:t>
              </a:r>
              <a:r>
                <a:rPr lang="en-US" altLang="zh-CN" sz="2800" dirty="0" smtClean="0">
                  <a:solidFill>
                    <a:srgbClr val="000000"/>
                  </a:solidFill>
                  <a:latin typeface="Times New Roman" panose="02020603050405020304" pitchFamily="18" charset="0"/>
                  <a:cs typeface="Times New Roman" panose="02020603050405020304" pitchFamily="18" charset="0"/>
                </a:rPr>
                <a:t>4      ,</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593363619"/>
                </p:ext>
              </p:extLst>
            </p:nvPr>
          </p:nvGraphicFramePr>
          <p:xfrm>
            <a:off x="1284165" y="3196152"/>
            <a:ext cx="673100" cy="533400"/>
          </p:xfrm>
          <a:graphic>
            <a:graphicData uri="http://schemas.openxmlformats.org/presentationml/2006/ole">
              <mc:AlternateContent xmlns:mc="http://schemas.openxmlformats.org/markup-compatibility/2006">
                <mc:Choice xmlns:v="urn:schemas-microsoft-com:vml" Requires="v">
                  <p:oleObj spid="_x0000_s14348" name="文档" r:id="rId4" imgW="271708" imgH="211206" progId="Word.Document.12">
                    <p:embed/>
                  </p:oleObj>
                </mc:Choice>
                <mc:Fallback>
                  <p:oleObj name="文档" r:id="rId4" imgW="271708" imgH="211206" progId="Word.Document.12">
                    <p:embed/>
                    <p:pic>
                      <p:nvPicPr>
                        <p:cNvPr id="0" name=""/>
                        <p:cNvPicPr/>
                        <p:nvPr/>
                      </p:nvPicPr>
                      <p:blipFill>
                        <a:blip r:embed="rId5"/>
                        <a:stretch>
                          <a:fillRect/>
                        </a:stretch>
                      </p:blipFill>
                      <p:spPr>
                        <a:xfrm>
                          <a:off x="1284165" y="3196152"/>
                          <a:ext cx="673100" cy="533400"/>
                        </a:xfrm>
                        <a:prstGeom prst="rect">
                          <a:avLst/>
                        </a:prstGeom>
                      </p:spPr>
                    </p:pic>
                  </p:oleObj>
                </mc:Fallback>
              </mc:AlternateContent>
            </a:graphicData>
          </a:graphic>
        </p:graphicFrame>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807"/>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将圆的方程写成标准形式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则圆心坐标为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的斜率不存在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圆心到该直线的距离为</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又圆的半径为</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所以弦长为</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不符合题意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舍去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的斜率存在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25023296"/>
              </p:ext>
            </p:extLst>
          </p:nvPr>
        </p:nvGraphicFramePr>
        <p:xfrm>
          <a:off x="59724" y="2761628"/>
          <a:ext cx="11430000" cy="3008976"/>
        </p:xfrm>
        <a:graphic>
          <a:graphicData uri="http://schemas.openxmlformats.org/presentationml/2006/ole">
            <mc:AlternateContent xmlns:mc="http://schemas.openxmlformats.org/markup-compatibility/2006">
              <mc:Choice xmlns:v="urn:schemas-microsoft-com:vml" Requires="v">
                <p:oleObj spid="_x0000_s15372" name="文档" r:id="rId4" imgW="4520786" imgH="1190108" progId="Word.Document.12">
                  <p:embed/>
                </p:oleObj>
              </mc:Choice>
              <mc:Fallback>
                <p:oleObj name="文档" r:id="rId4" imgW="4520786" imgH="1190108" progId="Word.Document.12">
                  <p:embed/>
                  <p:pic>
                    <p:nvPicPr>
                      <p:cNvPr id="0" name=""/>
                      <p:cNvPicPr/>
                      <p:nvPr/>
                    </p:nvPicPr>
                    <p:blipFill>
                      <a:blip r:embed="rId5"/>
                      <a:stretch>
                        <a:fillRect/>
                      </a:stretch>
                    </p:blipFill>
                    <p:spPr>
                      <a:xfrm>
                        <a:off x="59724" y="2761628"/>
                        <a:ext cx="11430000" cy="3008976"/>
                      </a:xfrm>
                      <a:prstGeom prst="rect">
                        <a:avLst/>
                      </a:prstGeom>
                    </p:spPr>
                  </p:pic>
                </p:oleObj>
              </mc:Fallback>
            </mc:AlternateContent>
          </a:graphicData>
        </a:graphic>
      </p:graphicFrame>
      <p:sp>
        <p:nvSpPr>
          <p:cNvPr id="4" name="矩形 3"/>
          <p:cNvSpPr>
            <a:spLocks noChangeAspect="1"/>
          </p:cNvSpPr>
          <p:nvPr/>
        </p:nvSpPr>
        <p:spPr>
          <a:xfrm>
            <a:off x="381000" y="556635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9739491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12" name="组合 11"/>
          <p:cNvGrpSpPr/>
          <p:nvPr/>
        </p:nvGrpSpPr>
        <p:grpSpPr>
          <a:xfrm>
            <a:off x="59723" y="707770"/>
            <a:ext cx="11751277" cy="5341256"/>
            <a:chOff x="59723" y="707770"/>
            <a:chExt cx="11751277" cy="5341256"/>
          </a:xfrm>
        </p:grpSpPr>
        <p:sp>
          <p:nvSpPr>
            <p:cNvPr id="8" name="矩形 7"/>
            <p:cNvSpPr>
              <a:spLocks noChangeAspect="1"/>
            </p:cNvSpPr>
            <p:nvPr/>
          </p:nvSpPr>
          <p:spPr>
            <a:xfrm>
              <a:off x="381000" y="707770"/>
              <a:ext cx="11430000" cy="2325380"/>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忽略直线斜率不存在的情况致误</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(2,3)</a:t>
              </a:r>
              <a:r>
                <a:rPr lang="zh-CN" altLang="zh-CN" sz="2800" dirty="0">
                  <a:solidFill>
                    <a:srgbClr val="000000"/>
                  </a:solidFill>
                  <a:latin typeface="Times New Roman" panose="02020603050405020304" pitchFamily="18" charset="0"/>
                  <a:cs typeface="Times New Roman" panose="02020603050405020304" pitchFamily="18" charset="0"/>
                </a:rPr>
                <a:t>且与圆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740442353"/>
                </p:ext>
              </p:extLst>
            </p:nvPr>
          </p:nvGraphicFramePr>
          <p:xfrm>
            <a:off x="2235257" y="1895174"/>
            <a:ext cx="669925" cy="501650"/>
          </p:xfrm>
          <a:graphic>
            <a:graphicData uri="http://schemas.openxmlformats.org/presentationml/2006/ole">
              <mc:AlternateContent xmlns:mc="http://schemas.openxmlformats.org/markup-compatibility/2006">
                <mc:Choice xmlns:v="urn:schemas-microsoft-com:vml" Requires="v">
                  <p:oleObj spid="_x0000_s16404" name="文档" r:id="rId4" imgW="271708" imgH="198592" progId="Word.Document.12">
                    <p:embed/>
                  </p:oleObj>
                </mc:Choice>
                <mc:Fallback>
                  <p:oleObj name="文档" r:id="rId4" imgW="271708" imgH="198592" progId="Word.Document.12">
                    <p:embed/>
                    <p:pic>
                      <p:nvPicPr>
                        <p:cNvPr id="0" name=""/>
                        <p:cNvPicPr/>
                        <p:nvPr/>
                      </p:nvPicPr>
                      <p:blipFill>
                        <a:blip r:embed="rId5"/>
                        <a:stretch>
                          <a:fillRect/>
                        </a:stretch>
                      </p:blipFill>
                      <p:spPr>
                        <a:xfrm>
                          <a:off x="2235257" y="1895174"/>
                          <a:ext cx="669925" cy="50165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45651659"/>
                </p:ext>
              </p:extLst>
            </p:nvPr>
          </p:nvGraphicFramePr>
          <p:xfrm>
            <a:off x="59723" y="3040050"/>
            <a:ext cx="11430000" cy="3008976"/>
          </p:xfrm>
          <a:graphic>
            <a:graphicData uri="http://schemas.openxmlformats.org/presentationml/2006/ole">
              <mc:AlternateContent xmlns:mc="http://schemas.openxmlformats.org/markup-compatibility/2006">
                <mc:Choice xmlns:v="urn:schemas-microsoft-com:vml" Requires="v">
                  <p:oleObj spid="_x0000_s16405" name="文档" r:id="rId7" imgW="4520786" imgH="1190108" progId="Word.Document.12">
                    <p:embed/>
                  </p:oleObj>
                </mc:Choice>
                <mc:Fallback>
                  <p:oleObj name="文档" r:id="rId7" imgW="4520786" imgH="1190108" progId="Word.Document.12">
                    <p:embed/>
                    <p:pic>
                      <p:nvPicPr>
                        <p:cNvPr id="0" name=""/>
                        <p:cNvPicPr/>
                        <p:nvPr/>
                      </p:nvPicPr>
                      <p:blipFill>
                        <a:blip r:embed="rId8"/>
                        <a:stretch>
                          <a:fillRect/>
                        </a:stretch>
                      </p:blipFill>
                      <p:spPr>
                        <a:xfrm>
                          <a:off x="59723" y="3040050"/>
                          <a:ext cx="11430000" cy="3008976"/>
                        </a:xfrm>
                        <a:prstGeom prst="rect">
                          <a:avLst/>
                        </a:prstGeom>
                      </p:spPr>
                    </p:pic>
                  </p:oleObj>
                </mc:Fallback>
              </mc:AlternateContent>
            </a:graphicData>
          </a:graphic>
        </p:graphicFrame>
        <p:pic>
          <p:nvPicPr>
            <p:cNvPr id="11" name="WMX1TRAX79.eps" descr="id:2147493095;FounderCES"/>
            <p:cNvPicPr/>
            <p:nvPr/>
          </p:nvPicPr>
          <p:blipFill>
            <a:blip r:embed="rId9">
              <a:clrChange>
                <a:clrFrom>
                  <a:srgbClr val="FFFFFF"/>
                </a:clrFrom>
                <a:clrTo>
                  <a:srgbClr val="FFFFFF">
                    <a:alpha val="0"/>
                  </a:srgbClr>
                </a:clrTo>
              </a:clrChange>
            </a:blip>
            <a:stretch>
              <a:fillRect/>
            </a:stretch>
          </p:blipFill>
          <p:spPr>
            <a:xfrm>
              <a:off x="9025873" y="3707858"/>
              <a:ext cx="2256842" cy="2291742"/>
            </a:xfrm>
            <a:prstGeom prst="rect">
              <a:avLst/>
            </a:prstGeom>
          </p:spPr>
        </p:pic>
      </p:gr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8241"/>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以上解题过程中都有哪些错误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错解忽略了直线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的斜率不存在的情况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的斜率存在时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如错解中的图所示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MC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交</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grpSp>
        <p:nvGrpSpPr>
          <p:cNvPr id="6" name="组合 5"/>
          <p:cNvGrpSpPr/>
          <p:nvPr/>
        </p:nvGrpSpPr>
        <p:grpSpPr>
          <a:xfrm>
            <a:off x="49428" y="3549570"/>
            <a:ext cx="11761572" cy="2524010"/>
            <a:chOff x="49428" y="3591134"/>
            <a:chExt cx="11761572" cy="2524010"/>
          </a:xfrm>
        </p:grpSpPr>
        <p:graphicFrame>
          <p:nvGraphicFramePr>
            <p:cNvPr id="4" name="对象 3"/>
            <p:cNvGraphicFramePr>
              <a:graphicFrameLocks noChangeAspect="1"/>
            </p:cNvGraphicFramePr>
            <p:nvPr>
              <p:extLst>
                <p:ext uri="{D42A27DB-BD31-4B8C-83A1-F6EECF244321}">
                  <p14:modId xmlns:p14="http://schemas.microsoft.com/office/powerpoint/2010/main" val="2806458722"/>
                </p:ext>
              </p:extLst>
            </p:nvPr>
          </p:nvGraphicFramePr>
          <p:xfrm>
            <a:off x="49428" y="3591134"/>
            <a:ext cx="11430000" cy="2005680"/>
          </p:xfrm>
          <a:graphic>
            <a:graphicData uri="http://schemas.openxmlformats.org/presentationml/2006/ole">
              <mc:AlternateContent xmlns:mc="http://schemas.openxmlformats.org/markup-compatibility/2006">
                <mc:Choice xmlns:v="urn:schemas-microsoft-com:vml" Requires="v">
                  <p:oleObj spid="_x0000_s17419"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49428" y="3591134"/>
                          <a:ext cx="11430000" cy="2005680"/>
                        </a:xfrm>
                        <a:prstGeom prst="rect">
                          <a:avLst/>
                        </a:prstGeom>
                      </p:spPr>
                    </p:pic>
                  </p:oleObj>
                </mc:Fallback>
              </mc:AlternateContent>
            </a:graphicData>
          </a:graphic>
        </p:graphicFrame>
        <p:sp>
          <p:nvSpPr>
            <p:cNvPr id="5" name="矩形 4"/>
            <p:cNvSpPr>
              <a:spLocks noChangeAspect="1"/>
            </p:cNvSpPr>
            <p:nvPr/>
          </p:nvSpPr>
          <p:spPr>
            <a:xfrm>
              <a:off x="381000" y="5522931"/>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的斜率不存在时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cs typeface="Times New Roman" panose="02020603050405020304" pitchFamily="18" charset="0"/>
              </a:rPr>
              <a:t>到此直线的距离也是</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符合题意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综上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点斜式</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方程并不能表示直线斜率不存在的情况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故在求直线方程时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若设点斜式方程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根据条件求得斜率后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应注意验证斜率不存在的情况是否满足题意</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本题错解就是忽略了直线斜率不存在的情况而出错的</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288553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且与圆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相切的直线的方程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画出圆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的大致图象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图略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知切线的斜率存在</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切线方程为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49428" y="3476862"/>
            <a:ext cx="11430000" cy="1547175"/>
            <a:chOff x="49428" y="3826591"/>
            <a:chExt cx="11430000" cy="1547175"/>
          </a:xfrm>
        </p:grpSpPr>
        <p:graphicFrame>
          <p:nvGraphicFramePr>
            <p:cNvPr id="3" name="对象 2"/>
            <p:cNvGraphicFramePr>
              <a:graphicFrameLocks noChangeAspect="1"/>
            </p:cNvGraphicFramePr>
            <p:nvPr>
              <p:extLst>
                <p:ext uri="{D42A27DB-BD31-4B8C-83A1-F6EECF244321}">
                  <p14:modId xmlns:p14="http://schemas.microsoft.com/office/powerpoint/2010/main" val="1720892170"/>
                </p:ext>
              </p:extLst>
            </p:nvPr>
          </p:nvGraphicFramePr>
          <p:xfrm>
            <a:off x="49428" y="3826591"/>
            <a:ext cx="11430000" cy="1003297"/>
          </p:xfrm>
          <a:graphic>
            <a:graphicData uri="http://schemas.openxmlformats.org/presentationml/2006/ole">
              <mc:AlternateContent xmlns:mc="http://schemas.openxmlformats.org/markup-compatibility/2006">
                <mc:Choice xmlns:v="urn:schemas-microsoft-com:vml" Requires="v">
                  <p:oleObj spid="_x0000_s18452"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9428" y="3826591"/>
                          <a:ext cx="11430000" cy="1003297"/>
                        </a:xfrm>
                        <a:prstGeom prst="rect">
                          <a:avLst/>
                        </a:prstGeom>
                      </p:spPr>
                    </p:pic>
                  </p:oleObj>
                </mc:Fallback>
              </mc:AlternateContent>
            </a:graphicData>
          </a:graphic>
        </p:graphicFrame>
        <p:sp>
          <p:nvSpPr>
            <p:cNvPr id="4" name="矩形 3"/>
            <p:cNvSpPr>
              <a:spLocks noChangeAspect="1"/>
            </p:cNvSpPr>
            <p:nvPr/>
          </p:nvSpPr>
          <p:spPr>
            <a:xfrm>
              <a:off x="381000" y="4721280"/>
              <a:ext cx="663675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故所求的切线方程为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graphicFrame>
        <p:nvGraphicFramePr>
          <p:cNvPr id="5" name="对象 4"/>
          <p:cNvGraphicFramePr>
            <a:graphicFrameLocks noChangeAspect="1"/>
          </p:cNvGraphicFramePr>
          <p:nvPr>
            <p:extLst>
              <p:ext uri="{D42A27DB-BD31-4B8C-83A1-F6EECF244321}">
                <p14:modId xmlns:p14="http://schemas.microsoft.com/office/powerpoint/2010/main" val="1109550208"/>
              </p:ext>
            </p:extLst>
          </p:nvPr>
        </p:nvGraphicFramePr>
        <p:xfrm>
          <a:off x="8339496" y="1894483"/>
          <a:ext cx="669925" cy="501650"/>
        </p:xfrm>
        <a:graphic>
          <a:graphicData uri="http://schemas.openxmlformats.org/presentationml/2006/ole">
            <mc:AlternateContent xmlns:mc="http://schemas.openxmlformats.org/markup-compatibility/2006">
              <mc:Choice xmlns:v="urn:schemas-microsoft-com:vml" Requires="v">
                <p:oleObj spid="_x0000_s18453" name="文档" r:id="rId7" imgW="271708" imgH="198592" progId="Word.Document.12">
                  <p:embed/>
                </p:oleObj>
              </mc:Choice>
              <mc:Fallback>
                <p:oleObj name="文档" r:id="rId7" imgW="271708" imgH="198592" progId="Word.Document.12">
                  <p:embed/>
                  <p:pic>
                    <p:nvPicPr>
                      <p:cNvPr id="0" name=""/>
                      <p:cNvPicPr/>
                      <p:nvPr/>
                    </p:nvPicPr>
                    <p:blipFill>
                      <a:blip r:embed="rId8"/>
                      <a:stretch>
                        <a:fillRect/>
                      </a:stretch>
                    </p:blipFill>
                    <p:spPr>
                      <a:xfrm>
                        <a:off x="8339496" y="1894483"/>
                        <a:ext cx="669925" cy="501650"/>
                      </a:xfrm>
                      <a:prstGeom prst="rect">
                        <a:avLst/>
                      </a:prstGeom>
                    </p:spPr>
                  </p:pic>
                </p:oleObj>
              </mc:Fallback>
            </mc:AlternateContent>
          </a:graphicData>
        </a:graphic>
      </p:graphicFrame>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9428" y="287447"/>
            <a:ext cx="11761572" cy="5319248"/>
            <a:chOff x="49428" y="430955"/>
            <a:chExt cx="11761572" cy="5319248"/>
          </a:xfrm>
        </p:grpSpPr>
        <p:sp>
          <p:nvSpPr>
            <p:cNvPr id="2" name="矩形 1"/>
            <p:cNvSpPr>
              <a:spLocks noChangeAspect="1"/>
            </p:cNvSpPr>
            <p:nvPr/>
          </p:nvSpPr>
          <p:spPr>
            <a:xfrm>
              <a:off x="381000" y="430955"/>
              <a:ext cx="7120860"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垂直于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21259472"/>
                </p:ext>
              </p:extLst>
            </p:nvPr>
          </p:nvGraphicFramePr>
          <p:xfrm>
            <a:off x="49428" y="1100023"/>
            <a:ext cx="11430000" cy="3510170"/>
          </p:xfrm>
          <a:graphic>
            <a:graphicData uri="http://schemas.openxmlformats.org/presentationml/2006/ole">
              <mc:AlternateContent xmlns:mc="http://schemas.openxmlformats.org/markup-compatibility/2006">
                <mc:Choice xmlns:v="urn:schemas-microsoft-com:vml" Requires="v">
                  <p:oleObj spid="_x0000_s19467" name="文档" r:id="rId4" imgW="4520786" imgH="1388340" progId="Word.Document.12">
                    <p:embed/>
                  </p:oleObj>
                </mc:Choice>
                <mc:Fallback>
                  <p:oleObj name="文档" r:id="rId4" imgW="4520786" imgH="1388340" progId="Word.Document.12">
                    <p:embed/>
                    <p:pic>
                      <p:nvPicPr>
                        <p:cNvPr id="0" name=""/>
                        <p:cNvPicPr/>
                        <p:nvPr/>
                      </p:nvPicPr>
                      <p:blipFill>
                        <a:blip r:embed="rId5"/>
                        <a:stretch>
                          <a:fillRect/>
                        </a:stretch>
                      </p:blipFill>
                      <p:spPr>
                        <a:xfrm>
                          <a:off x="49428" y="1100023"/>
                          <a:ext cx="11430000" cy="3510170"/>
                        </a:xfrm>
                        <a:prstGeom prst="rect">
                          <a:avLst/>
                        </a:prstGeom>
                      </p:spPr>
                    </p:pic>
                  </p:oleObj>
                </mc:Fallback>
              </mc:AlternateContent>
            </a:graphicData>
          </a:graphic>
        </p:graphicFrame>
        <p:sp>
          <p:nvSpPr>
            <p:cNvPr id="4" name="矩形 3"/>
            <p:cNvSpPr>
              <a:spLocks noChangeAspect="1"/>
            </p:cNvSpPr>
            <p:nvPr/>
          </p:nvSpPr>
          <p:spPr>
            <a:xfrm>
              <a:off x="381000" y="459783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综上所述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6689"/>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相切</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相交且过圆心</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相离</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圆的方程可化为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31372142"/>
              </p:ext>
            </p:extLst>
          </p:nvPr>
        </p:nvGraphicFramePr>
        <p:xfrm>
          <a:off x="482130" y="3519362"/>
          <a:ext cx="11430000" cy="1003297"/>
        </p:xfrm>
        <a:graphic>
          <a:graphicData uri="http://schemas.openxmlformats.org/presentationml/2006/ole">
            <mc:AlternateContent xmlns:mc="http://schemas.openxmlformats.org/markup-compatibility/2006">
              <mc:Choice xmlns:v="urn:schemas-microsoft-com:vml" Requires="v">
                <p:oleObj spid="_x0000_s20491"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82130" y="3519362"/>
                        <a:ext cx="11430000" cy="1003297"/>
                      </a:xfrm>
                      <a:prstGeom prst="rect">
                        <a:avLst/>
                      </a:prstGeom>
                    </p:spPr>
                  </p:pic>
                </p:oleObj>
              </mc:Fallback>
            </mc:AlternateContent>
          </a:graphicData>
        </a:graphic>
      </p:graphicFrame>
      <p:sp>
        <p:nvSpPr>
          <p:cNvPr id="4" name="矩形 3"/>
          <p:cNvSpPr>
            <a:spLocks noChangeAspect="1"/>
          </p:cNvSpPr>
          <p:nvPr/>
        </p:nvSpPr>
        <p:spPr>
          <a:xfrm>
            <a:off x="381000" y="4384137"/>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down)">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42321925"/>
              </p:ext>
            </p:extLst>
          </p:nvPr>
        </p:nvGraphicFramePr>
        <p:xfrm>
          <a:off x="492209" y="229265"/>
          <a:ext cx="11430000" cy="2206158"/>
        </p:xfrm>
        <a:graphic>
          <a:graphicData uri="http://schemas.openxmlformats.org/presentationml/2006/ole">
            <mc:AlternateContent xmlns:mc="http://schemas.openxmlformats.org/markup-compatibility/2006">
              <mc:Choice xmlns:v="urn:schemas-microsoft-com:vml" Requires="v">
                <p:oleObj spid="_x0000_s21524" name="文档" r:id="rId4" imgW="4520786" imgH="872578" progId="Word.Document.12">
                  <p:embed/>
                </p:oleObj>
              </mc:Choice>
              <mc:Fallback>
                <p:oleObj name="文档" r:id="rId4" imgW="4520786" imgH="872578" progId="Word.Document.12">
                  <p:embed/>
                  <p:pic>
                    <p:nvPicPr>
                      <p:cNvPr id="0" name=""/>
                      <p:cNvPicPr/>
                      <p:nvPr/>
                    </p:nvPicPr>
                    <p:blipFill>
                      <a:blip r:embed="rId5"/>
                      <a:stretch>
                        <a:fillRect/>
                      </a:stretch>
                    </p:blipFill>
                    <p:spPr>
                      <a:xfrm>
                        <a:off x="492209" y="229265"/>
                        <a:ext cx="11430000" cy="220615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37613108"/>
              </p:ext>
            </p:extLst>
          </p:nvPr>
        </p:nvGraphicFramePr>
        <p:xfrm>
          <a:off x="492125" y="2281216"/>
          <a:ext cx="11430000" cy="3309938"/>
        </p:xfrm>
        <a:graphic>
          <a:graphicData uri="http://schemas.openxmlformats.org/presentationml/2006/ole">
            <mc:AlternateContent xmlns:mc="http://schemas.openxmlformats.org/markup-compatibility/2006">
              <mc:Choice xmlns:v="urn:schemas-microsoft-com:vml" Requires="v">
                <p:oleObj spid="_x0000_s21525" name="文档" r:id="rId7" imgW="4520786" imgH="1309047" progId="Word.Document.12">
                  <p:embed/>
                </p:oleObj>
              </mc:Choice>
              <mc:Fallback>
                <p:oleObj name="文档" r:id="rId7" imgW="4520786" imgH="1309047" progId="Word.Document.12">
                  <p:embed/>
                  <p:pic>
                    <p:nvPicPr>
                      <p:cNvPr id="0" name=""/>
                      <p:cNvPicPr/>
                      <p:nvPr/>
                    </p:nvPicPr>
                    <p:blipFill>
                      <a:blip r:embed="rId8"/>
                      <a:stretch>
                        <a:fillRect/>
                      </a:stretch>
                    </p:blipFill>
                    <p:spPr>
                      <a:xfrm>
                        <a:off x="492125" y="2281216"/>
                        <a:ext cx="11430000" cy="3309938"/>
                      </a:xfrm>
                      <a:prstGeom prst="rect">
                        <a:avLst/>
                      </a:prstGeom>
                    </p:spPr>
                  </p:pic>
                </p:oleObj>
              </mc:Fallback>
            </mc:AlternateContent>
          </a:graphicData>
        </a:graphic>
      </p:graphicFrame>
      <p:sp>
        <p:nvSpPr>
          <p:cNvPr id="5" name="矩形 4"/>
          <p:cNvSpPr>
            <a:spLocks noChangeAspect="1"/>
          </p:cNvSpPr>
          <p:nvPr/>
        </p:nvSpPr>
        <p:spPr>
          <a:xfrm>
            <a:off x="381000" y="5603511"/>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5491"/>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被圆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所截得的弦长等于</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61179262"/>
              </p:ext>
            </p:extLst>
          </p:nvPr>
        </p:nvGraphicFramePr>
        <p:xfrm>
          <a:off x="492210" y="1922691"/>
          <a:ext cx="11430000" cy="2005680"/>
        </p:xfrm>
        <a:graphic>
          <a:graphicData uri="http://schemas.openxmlformats.org/presentationml/2006/ole">
            <mc:AlternateContent xmlns:mc="http://schemas.openxmlformats.org/markup-compatibility/2006">
              <mc:Choice xmlns:v="urn:schemas-microsoft-com:vml" Requires="v">
                <p:oleObj spid="_x0000_s22550"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492210" y="1922691"/>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99383231"/>
              </p:ext>
            </p:extLst>
          </p:nvPr>
        </p:nvGraphicFramePr>
        <p:xfrm>
          <a:off x="492210" y="4007771"/>
          <a:ext cx="11430000" cy="501192"/>
        </p:xfrm>
        <a:graphic>
          <a:graphicData uri="http://schemas.openxmlformats.org/presentationml/2006/ole">
            <mc:AlternateContent xmlns:mc="http://schemas.openxmlformats.org/markup-compatibility/2006">
              <mc:Choice xmlns:v="urn:schemas-microsoft-com:vml" Requires="v">
                <p:oleObj spid="_x0000_s22551" name="文档" r:id="rId7" imgW="4520786" imgH="198231" progId="Word.Document.12">
                  <p:embed/>
                </p:oleObj>
              </mc:Choice>
              <mc:Fallback>
                <p:oleObj name="文档" r:id="rId7" imgW="4520786" imgH="198231" progId="Word.Document.12">
                  <p:embed/>
                  <p:pic>
                    <p:nvPicPr>
                      <p:cNvPr id="0" name=""/>
                      <p:cNvPicPr/>
                      <p:nvPr/>
                    </p:nvPicPr>
                    <p:blipFill>
                      <a:blip r:embed="rId8"/>
                      <a:stretch>
                        <a:fillRect/>
                      </a:stretch>
                    </p:blipFill>
                    <p:spPr>
                      <a:xfrm>
                        <a:off x="492210" y="4007771"/>
                        <a:ext cx="11430000" cy="501192"/>
                      </a:xfrm>
                      <a:prstGeom prst="rect">
                        <a:avLst/>
                      </a:prstGeom>
                    </p:spPr>
                  </p:pic>
                </p:oleObj>
              </mc:Fallback>
            </mc:AlternateContent>
          </a:graphicData>
        </a:graphic>
      </p:graphicFrame>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947097520"/>
              </p:ext>
            </p:extLst>
          </p:nvPr>
        </p:nvGraphicFramePr>
        <p:xfrm>
          <a:off x="492211" y="1960687"/>
          <a:ext cx="11430000" cy="1504488"/>
        </p:xfrm>
        <a:graphic>
          <a:graphicData uri="http://schemas.openxmlformats.org/presentationml/2006/ole">
            <mc:AlternateContent xmlns:mc="http://schemas.openxmlformats.org/markup-compatibility/2006">
              <mc:Choice xmlns:v="urn:schemas-microsoft-com:vml" Requires="v">
                <p:oleObj spid="_x0000_s23574" name="文档" r:id="rId4" imgW="4520786" imgH="595054" progId="Word.Document.12">
                  <p:embed/>
                </p:oleObj>
              </mc:Choice>
              <mc:Fallback>
                <p:oleObj name="文档" r:id="rId4" imgW="4520786" imgH="595054" progId="Word.Document.12">
                  <p:embed/>
                  <p:pic>
                    <p:nvPicPr>
                      <p:cNvPr id="0" name=""/>
                      <p:cNvPicPr/>
                      <p:nvPr/>
                    </p:nvPicPr>
                    <p:blipFill>
                      <a:blip r:embed="rId5"/>
                      <a:stretch>
                        <a:fillRect/>
                      </a:stretch>
                    </p:blipFill>
                    <p:spPr>
                      <a:xfrm>
                        <a:off x="492211" y="1960687"/>
                        <a:ext cx="11430000" cy="1504488"/>
                      </a:xfrm>
                      <a:prstGeom prst="rect">
                        <a:avLst/>
                      </a:prstGeom>
                    </p:spPr>
                  </p:pic>
                </p:oleObj>
              </mc:Fallback>
            </mc:AlternateContent>
          </a:graphicData>
        </a:graphic>
      </p:graphicFrame>
      <p:sp>
        <p:nvSpPr>
          <p:cNvPr id="4" name="矩形 3"/>
          <p:cNvSpPr>
            <a:spLocks noChangeAspect="1"/>
          </p:cNvSpPr>
          <p:nvPr/>
        </p:nvSpPr>
        <p:spPr>
          <a:xfrm>
            <a:off x="381000" y="3351275"/>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381000" y="784991"/>
            <a:ext cx="11430000" cy="1212640"/>
            <a:chOff x="381000" y="1418842"/>
            <a:chExt cx="11430000" cy="1212640"/>
          </a:xfrm>
        </p:grpSpPr>
        <p:sp>
          <p:nvSpPr>
            <p:cNvPr id="2" name="矩形 1"/>
            <p:cNvSpPr>
              <a:spLocks noChangeAspect="1"/>
            </p:cNvSpPr>
            <p:nvPr/>
          </p:nvSpPr>
          <p:spPr>
            <a:xfrm>
              <a:off x="381000" y="1418842"/>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圆心坐标为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的圆截直线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所得的弦长为</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则此圆的标准方程为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662961773"/>
                </p:ext>
              </p:extLst>
            </p:nvPr>
          </p:nvGraphicFramePr>
          <p:xfrm>
            <a:off x="8476642" y="1491762"/>
            <a:ext cx="673100" cy="533400"/>
          </p:xfrm>
          <a:graphic>
            <a:graphicData uri="http://schemas.openxmlformats.org/presentationml/2006/ole">
              <mc:AlternateContent xmlns:mc="http://schemas.openxmlformats.org/markup-compatibility/2006">
                <mc:Choice xmlns:v="urn:schemas-microsoft-com:vml" Requires="v">
                  <p:oleObj spid="_x0000_s23575" name="文档" r:id="rId7" imgW="271708" imgH="211567" progId="Word.Document.12">
                    <p:embed/>
                  </p:oleObj>
                </mc:Choice>
                <mc:Fallback>
                  <p:oleObj name="文档" r:id="rId7" imgW="271708" imgH="211567" progId="Word.Document.12">
                    <p:embed/>
                    <p:pic>
                      <p:nvPicPr>
                        <p:cNvPr id="0" name=""/>
                        <p:cNvPicPr/>
                        <p:nvPr/>
                      </p:nvPicPr>
                      <p:blipFill>
                        <a:blip r:embed="rId8"/>
                        <a:stretch>
                          <a:fillRect/>
                        </a:stretch>
                      </p:blipFill>
                      <p:spPr>
                        <a:xfrm>
                          <a:off x="8476642" y="1491762"/>
                          <a:ext cx="673100" cy="533400"/>
                        </a:xfrm>
                        <a:prstGeom prst="rect">
                          <a:avLst/>
                        </a:prstGeom>
                      </p:spPr>
                    </p:pic>
                  </p:oleObj>
                </mc:Fallback>
              </mc:AlternateContent>
            </a:graphicData>
          </a:graphic>
        </p:graphicFrame>
      </p:gr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down)">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407"/>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dirty="0">
                <a:solidFill>
                  <a:srgbClr val="000000"/>
                </a:solidFill>
                <a:latin typeface="Times New Roman" panose="02020603050405020304" pitchFamily="18" charset="0"/>
                <a:cs typeface="Times New Roman" panose="02020603050405020304" pitchFamily="18" charset="0"/>
              </a:rPr>
              <a:t>当</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相离、相切、相交</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由圆的方程</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知圆心为</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(0,0),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圆的半径</a:t>
            </a:r>
            <a:r>
              <a:rPr lang="en-US" altLang="zh-CN" sz="2800" i="1" dirty="0">
                <a:solidFill>
                  <a:srgbClr val="000000"/>
                </a:solidFill>
                <a:latin typeface="Times New Roman" panose="02020603050405020304" pitchFamily="18" charset="0"/>
                <a:cs typeface="Times New Roman" panose="02020603050405020304" pitchFamily="18" charset="0"/>
              </a:rPr>
              <a:t>r=a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6827644"/>
              </p:ext>
            </p:extLst>
          </p:nvPr>
        </p:nvGraphicFramePr>
        <p:xfrm>
          <a:off x="492210" y="1171703"/>
          <a:ext cx="11430000" cy="5516760"/>
        </p:xfrm>
        <a:graphic>
          <a:graphicData uri="http://schemas.openxmlformats.org/presentationml/2006/ole">
            <mc:AlternateContent xmlns:mc="http://schemas.openxmlformats.org/markup-compatibility/2006">
              <mc:Choice xmlns:v="urn:schemas-microsoft-com:vml" Requires="v">
                <p:oleObj spid="_x0000_s24587" name="文档" r:id="rId4" imgW="4520786" imgH="2181985" progId="Word.Document.12">
                  <p:embed/>
                </p:oleObj>
              </mc:Choice>
              <mc:Fallback>
                <p:oleObj name="文档" r:id="rId4" imgW="4520786" imgH="2181985" progId="Word.Document.12">
                  <p:embed/>
                  <p:pic>
                    <p:nvPicPr>
                      <p:cNvPr id="0" name=""/>
                      <p:cNvPicPr/>
                      <p:nvPr/>
                    </p:nvPicPr>
                    <p:blipFill>
                      <a:blip r:embed="rId5"/>
                      <a:stretch>
                        <a:fillRect/>
                      </a:stretch>
                    </p:blipFill>
                    <p:spPr>
                      <a:xfrm>
                        <a:off x="492210" y="1171703"/>
                        <a:ext cx="11430000" cy="5516760"/>
                      </a:xfrm>
                      <a:prstGeom prst="rect">
                        <a:avLst/>
                      </a:prstGeom>
                    </p:spPr>
                  </p:pic>
                </p:oleObj>
              </mc:Fallback>
            </mc:AlternateContent>
          </a:graphicData>
        </a:graphic>
      </p:graphicFrame>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338</TotalTime>
  <Words>2137</Words>
  <Application>Microsoft Office PowerPoint</Application>
  <PresentationFormat>宽屏</PresentationFormat>
  <Paragraphs>157</Paragraphs>
  <Slides>38</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8"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29</cp:revision>
  <dcterms:created xsi:type="dcterms:W3CDTF">2021-08-30T08:30:26Z</dcterms:created>
  <dcterms:modified xsi:type="dcterms:W3CDTF">2025-08-09T09:05:21Z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