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677" r:id="rId2"/>
    <p:sldId id="488" r:id="rId3"/>
    <p:sldId id="494" r:id="rId4"/>
    <p:sldId id="392" r:id="rId5"/>
    <p:sldId id="686" r:id="rId6"/>
    <p:sldId id="687" r:id="rId7"/>
    <p:sldId id="691" r:id="rId8"/>
    <p:sldId id="692" r:id="rId9"/>
    <p:sldId id="693" r:id="rId10"/>
    <p:sldId id="694" r:id="rId11"/>
    <p:sldId id="695" r:id="rId12"/>
    <p:sldId id="407" r:id="rId13"/>
    <p:sldId id="394" r:id="rId14"/>
    <p:sldId id="699" r:id="rId15"/>
    <p:sldId id="700" r:id="rId16"/>
    <p:sldId id="701" r:id="rId17"/>
    <p:sldId id="702" r:id="rId18"/>
    <p:sldId id="402" r:id="rId19"/>
    <p:sldId id="712" r:id="rId20"/>
    <p:sldId id="713" r:id="rId21"/>
    <p:sldId id="714" r:id="rId22"/>
    <p:sldId id="498" r:id="rId23"/>
    <p:sldId id="730" r:id="rId24"/>
    <p:sldId id="733" r:id="rId25"/>
    <p:sldId id="743" r:id="rId26"/>
    <p:sldId id="744" r:id="rId27"/>
    <p:sldId id="734" r:id="rId28"/>
    <p:sldId id="740" r:id="rId29"/>
    <p:sldId id="739" r:id="rId30"/>
    <p:sldId id="745" r:id="rId31"/>
    <p:sldId id="746" r:id="rId32"/>
    <p:sldId id="398" r:id="rId33"/>
    <p:sldId id="395" r:id="rId34"/>
    <p:sldId id="756" r:id="rId35"/>
    <p:sldId id="757" r:id="rId36"/>
    <p:sldId id="758" r:id="rId37"/>
    <p:sldId id="49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1" userDrawn="1">
          <p15:clr>
            <a:srgbClr val="A4A3A4"/>
          </p15:clr>
        </p15:guide>
        <p15:guide id="3" orient="horz" pos="436" userDrawn="1">
          <p15:clr>
            <a:srgbClr val="A4A3A4"/>
          </p15:clr>
        </p15:guide>
        <p15:guide id="4" orient="horz" pos="368"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494" autoAdjust="0"/>
  </p:normalViewPr>
  <p:slideViewPr>
    <p:cSldViewPr snapToGrid="0">
      <p:cViewPr varScale="1">
        <p:scale>
          <a:sx n="92" d="100"/>
          <a:sy n="92" d="100"/>
        </p:scale>
        <p:origin x="498" y="84"/>
      </p:cViewPr>
      <p:guideLst>
        <p:guide pos="211"/>
        <p:guide orient="horz" pos="436"/>
        <p:guide orient="horz" pos="368"/>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28.xml"/><Relationship Id="rId4" Type="http://schemas.openxmlformats.org/officeDocument/2006/relationships/slide" Target="../slides/slide2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491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126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760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394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思想方法</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1.docx"/><Relationship Id="rId7" Type="http://schemas.openxmlformats.org/officeDocument/2006/relationships/image" Target="../media/image5.jpe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package" Target="../embeddings/Microsoft_Word___2.docx"/><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package" Target="../embeddings/Microsoft_Word___3.docx"/><Relationship Id="rId7"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package" Target="../embeddings/Microsoft_Word___4.docx"/><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package" Target="../embeddings/Microsoft_Word___8.docx"/><Relationship Id="rId7"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2.emf"/><Relationship Id="rId5" Type="http://schemas.openxmlformats.org/officeDocument/2006/relationships/package" Target="../embeddings/Microsoft_Word___9.docx"/><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5.emf"/><Relationship Id="rId5" Type="http://schemas.openxmlformats.org/officeDocument/2006/relationships/package" Target="../embeddings/Microsoft_Word___12.docx"/><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7.emf"/><Relationship Id="rId5" Type="http://schemas.openxmlformats.org/officeDocument/2006/relationships/package" Target="../embeddings/Microsoft_Word___14.docx"/><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19.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package" Target="../embeddings/Microsoft_Word___16.docx"/><Relationship Id="rId5" Type="http://schemas.openxmlformats.org/officeDocument/2006/relationships/image" Target="../media/image18.emf"/><Relationship Id="rId4" Type="http://schemas.openxmlformats.org/officeDocument/2006/relationships/package" Target="../embeddings/Microsoft_Word___15.docx"/></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2.emf"/><Relationship Id="rId5" Type="http://schemas.openxmlformats.org/officeDocument/2006/relationships/package" Target="../embeddings/Microsoft_Word___18.docx"/><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5.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7.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2.jpeg"/><Relationship Id="rId4" Type="http://schemas.openxmlformats.org/officeDocument/2006/relationships/image" Target="../media/image3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4.emf"/><Relationship Id="rId5" Type="http://schemas.openxmlformats.org/officeDocument/2006/relationships/package" Target="../embeddings/Microsoft_Word___27.docx"/><Relationship Id="rId4" Type="http://schemas.openxmlformats.org/officeDocument/2006/relationships/image" Target="../media/image3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36.emf"/><Relationship Id="rId5" Type="http://schemas.openxmlformats.org/officeDocument/2006/relationships/package" Target="../embeddings/Microsoft_Word___29.docx"/><Relationship Id="rId4" Type="http://schemas.openxmlformats.org/officeDocument/2006/relationships/image" Target="../media/image35.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image" Target="../media/image38.emf"/><Relationship Id="rId5" Type="http://schemas.openxmlformats.org/officeDocument/2006/relationships/package" Target="../embeddings/Microsoft_Word___31.docx"/><Relationship Id="rId4" Type="http://schemas.openxmlformats.org/officeDocument/2006/relationships/image" Target="../media/image37.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40.emf"/><Relationship Id="rId5" Type="http://schemas.openxmlformats.org/officeDocument/2006/relationships/package" Target="../embeddings/Microsoft_Word___33.docx"/><Relationship Id="rId4" Type="http://schemas.openxmlformats.org/officeDocument/2006/relationships/image" Target="../media/image39.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1.xml"/><Relationship Id="rId1" Type="http://schemas.openxmlformats.org/officeDocument/2006/relationships/vmlDrawing" Target="../drawings/vmlDrawing21.vml"/><Relationship Id="rId4" Type="http://schemas.openxmlformats.org/officeDocument/2006/relationships/image" Target="../media/image41.emf"/></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3"/>
            <a:ext cx="12191365" cy="1478914"/>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342658"/>
              <a:ext cx="8158783" cy="120046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2.3.3</a:t>
              </a:r>
              <a:r>
                <a:rPr lang="zh-CN" altLang="en-US" sz="3600" b="1" dirty="0">
                  <a:solidFill>
                    <a:schemeClr val="bg1"/>
                  </a:solidFill>
                  <a:latin typeface="华文细黑" panose="02010600040101010101" charset="-122"/>
                  <a:ea typeface="华文细黑" panose="02010600040101010101" charset="-122"/>
                </a:rPr>
                <a:t>　点到直线的距离</a:t>
              </a:r>
              <a:r>
                <a:rPr lang="zh-CN" altLang="en-US" sz="3600" b="1" dirty="0" smtClean="0">
                  <a:solidFill>
                    <a:schemeClr val="bg1"/>
                  </a:solidFill>
                  <a:latin typeface="华文细黑" panose="02010600040101010101" charset="-122"/>
                  <a:ea typeface="华文细黑" panose="02010600040101010101" charset="-122"/>
                </a:rPr>
                <a:t>公式</a:t>
              </a:r>
              <a:endParaRPr lang="en-US" altLang="zh-CN" sz="3600" b="1" dirty="0">
                <a:solidFill>
                  <a:schemeClr val="bg1"/>
                </a:solidFill>
                <a:latin typeface="华文细黑" panose="02010600040101010101" charset="-122"/>
                <a:ea typeface="华文细黑" panose="02010600040101010101" charset="-122"/>
              </a:endParaRPr>
            </a:p>
            <a:p>
              <a:r>
                <a:rPr lang="en-US" altLang="zh-CN" sz="3600" b="1" dirty="0" smtClean="0">
                  <a:solidFill>
                    <a:schemeClr val="bg1"/>
                  </a:solidFill>
                  <a:latin typeface="华文细黑" panose="02010600040101010101" charset="-122"/>
                  <a:ea typeface="华文细黑" panose="02010600040101010101" charset="-122"/>
                </a:rPr>
                <a:t>2.3.4</a:t>
              </a:r>
              <a:r>
                <a:rPr lang="zh-CN" altLang="en-US" sz="3600" b="1" dirty="0">
                  <a:solidFill>
                    <a:schemeClr val="bg1"/>
                  </a:solidFill>
                  <a:latin typeface="华文细黑" panose="02010600040101010101" charset="-122"/>
                  <a:ea typeface="华文细黑" panose="02010600040101010101" charset="-122"/>
                </a:rPr>
                <a:t>　两条平行直线间的距离</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第二章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2.3</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584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探索并掌握平面上点到直线的距离公式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掌握两条平行直线间的距离公式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会求点到直线的距离和两条平行直线间的距离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逻辑推理</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84524"/>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一、点到直线的距离公式</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平面上点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的距离是指什么</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就是从点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的垂线段</a:t>
            </a:r>
            <a:r>
              <a:rPr lang="en-US" altLang="zh-CN" sz="2800" i="1" dirty="0">
                <a:solidFill>
                  <a:srgbClr val="000000"/>
                </a:solidFill>
                <a:latin typeface="Times New Roman" panose="02020603050405020304" pitchFamily="18" charset="0"/>
                <a:cs typeface="Times New Roman" panose="02020603050405020304" pitchFamily="18" charset="0"/>
              </a:rPr>
              <a:t>PQ</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的长度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是垂足</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WMX1TRAX56.eps" descr="id:2147492440;FounderCES"/>
          <p:cNvPicPr>
            <a:picLocks noChangeAspect="1"/>
          </p:cNvPicPr>
          <p:nvPr/>
        </p:nvPicPr>
        <p:blipFill>
          <a:blip r:embed="rId2">
            <a:clrChange>
              <a:clrFrom>
                <a:srgbClr val="FFFFFF"/>
              </a:clrFrom>
              <a:clrTo>
                <a:srgbClr val="FFFFFF">
                  <a:alpha val="0"/>
                </a:srgbClr>
              </a:clrTo>
            </a:clrChange>
          </a:blip>
          <a:stretch>
            <a:fillRect/>
          </a:stretch>
        </p:blipFill>
        <p:spPr>
          <a:xfrm>
            <a:off x="4275025" y="1565246"/>
            <a:ext cx="3641950" cy="2689140"/>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wipe(down)">
                                      <p:cBhvr>
                                        <p:cTn id="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139260"/>
            <a:ext cx="11430000" cy="1212640"/>
          </a:xfrm>
          <a:prstGeom prst="rect">
            <a:avLst/>
          </a:prstGeom>
        </p:spPr>
        <p:txBody>
          <a:bodyPr>
            <a:spAutoFit/>
          </a:bodyPr>
          <a:lstStyle/>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取直线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如何利用向量垂直求垂足</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a:t>
            </a:r>
            <a:r>
              <a:rPr lang="zh-CN" altLang="zh-CN" sz="2800" dirty="0" smtClean="0">
                <a:solidFill>
                  <a:srgbClr val="000000"/>
                </a:solidFill>
                <a:latin typeface="Times New Roman" panose="02020603050405020304" pitchFamily="18" charset="0"/>
                <a:cs typeface="Times New Roman" panose="02020603050405020304" pitchFamily="18" charset="0"/>
              </a:rPr>
              <a:t>求</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140653004"/>
              </p:ext>
            </p:extLst>
          </p:nvPr>
        </p:nvGraphicFramePr>
        <p:xfrm>
          <a:off x="6246235" y="754496"/>
          <a:ext cx="990600" cy="484187"/>
        </p:xfrm>
        <a:graphic>
          <a:graphicData uri="http://schemas.openxmlformats.org/presentationml/2006/ole">
            <mc:AlternateContent xmlns:mc="http://schemas.openxmlformats.org/markup-compatibility/2006">
              <mc:Choice xmlns:v="urn:schemas-microsoft-com:vml" Requires="v">
                <p:oleObj spid="_x0000_s1047" name="文档" r:id="rId3" imgW="401386" imgH="191549" progId="Word.Document.12">
                  <p:embed/>
                </p:oleObj>
              </mc:Choice>
              <mc:Fallback>
                <p:oleObj name="文档" r:id="rId3" imgW="401386" imgH="191549" progId="Word.Document.12">
                  <p:embed/>
                  <p:pic>
                    <p:nvPicPr>
                      <p:cNvPr id="0" name=""/>
                      <p:cNvPicPr/>
                      <p:nvPr/>
                    </p:nvPicPr>
                    <p:blipFill>
                      <a:blip r:embed="rId4"/>
                      <a:stretch>
                        <a:fillRect/>
                      </a:stretch>
                    </p:blipFill>
                    <p:spPr>
                      <a:xfrm>
                        <a:off x="6246235" y="754496"/>
                        <a:ext cx="990600" cy="48418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083729866"/>
              </p:ext>
            </p:extLst>
          </p:nvPr>
        </p:nvGraphicFramePr>
        <p:xfrm>
          <a:off x="41564" y="1351266"/>
          <a:ext cx="11430000" cy="4908232"/>
        </p:xfrm>
        <a:graphic>
          <a:graphicData uri="http://schemas.openxmlformats.org/presentationml/2006/ole">
            <mc:AlternateContent xmlns:mc="http://schemas.openxmlformats.org/markup-compatibility/2006">
              <mc:Choice xmlns:v="urn:schemas-microsoft-com:vml" Requires="v">
                <p:oleObj spid="_x0000_s1048" name="文档" r:id="rId5" imgW="4510061" imgH="1936695" progId="Word.Document.12">
                  <p:embed/>
                </p:oleObj>
              </mc:Choice>
              <mc:Fallback>
                <p:oleObj name="文档" r:id="rId5" imgW="4510061" imgH="1936695" progId="Word.Document.12">
                  <p:embed/>
                  <p:pic>
                    <p:nvPicPr>
                      <p:cNvPr id="0" name=""/>
                      <p:cNvPicPr/>
                      <p:nvPr/>
                    </p:nvPicPr>
                    <p:blipFill>
                      <a:blip r:embed="rId6"/>
                      <a:stretch>
                        <a:fillRect/>
                      </a:stretch>
                    </p:blipFill>
                    <p:spPr>
                      <a:xfrm>
                        <a:off x="41564" y="1351266"/>
                        <a:ext cx="11430000" cy="4908232"/>
                      </a:xfrm>
                      <a:prstGeom prst="rect">
                        <a:avLst/>
                      </a:prstGeom>
                    </p:spPr>
                  </p:pic>
                </p:oleObj>
              </mc:Fallback>
            </mc:AlternateContent>
          </a:graphicData>
        </a:graphic>
      </p:graphicFrame>
      <p:pic>
        <p:nvPicPr>
          <p:cNvPr id="8" name="NMX1TRAX123.eps" descr="id:2147516153;FounderCES"/>
          <p:cNvPicPr/>
          <p:nvPr/>
        </p:nvPicPr>
        <p:blipFill>
          <a:blip r:embed="rId7">
            <a:clrChange>
              <a:clrFrom>
                <a:srgbClr val="FFFFFF"/>
              </a:clrFrom>
              <a:clrTo>
                <a:srgbClr val="FFFFFF">
                  <a:alpha val="0"/>
                </a:srgbClr>
              </a:clrTo>
            </a:clrChange>
          </a:blip>
          <a:stretch>
            <a:fillRect/>
          </a:stretch>
        </p:blipFill>
        <p:spPr>
          <a:xfrm>
            <a:off x="8887663" y="2092093"/>
            <a:ext cx="2944119" cy="2334433"/>
          </a:xfrm>
          <a:prstGeom prst="rect">
            <a:avLst/>
          </a:prstGeom>
        </p:spPr>
      </p:pic>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8" name="组合 7"/>
          <p:cNvGrpSpPr/>
          <p:nvPr/>
        </p:nvGrpSpPr>
        <p:grpSpPr>
          <a:xfrm>
            <a:off x="59724" y="153474"/>
            <a:ext cx="11775990" cy="4830057"/>
            <a:chOff x="59724" y="153474"/>
            <a:chExt cx="11775990" cy="4830057"/>
          </a:xfrm>
        </p:grpSpPr>
        <p:sp>
          <p:nvSpPr>
            <p:cNvPr id="2" name="矩形 1"/>
            <p:cNvSpPr>
              <a:spLocks noChangeAspect="1"/>
            </p:cNvSpPr>
            <p:nvPr/>
          </p:nvSpPr>
          <p:spPr>
            <a:xfrm>
              <a:off x="381000" y="153474"/>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点</a:t>
              </a:r>
              <a:r>
                <a:rPr lang="zh-CN" altLang="zh-CN" sz="2800" dirty="0">
                  <a:solidFill>
                    <a:srgbClr val="000000"/>
                  </a:solidFill>
                  <a:latin typeface="Times New Roman" panose="02020603050405020304" pitchFamily="18" charset="0"/>
                  <a:cs typeface="Times New Roman" panose="02020603050405020304" pitchFamily="18" charset="0"/>
                </a:rPr>
                <a:t>到直线的距离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概念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过一点向直线作垂线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则该点与</a:t>
              </a:r>
              <a:r>
                <a:rPr lang="zh-CN"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垂足</a:t>
              </a:r>
              <a:r>
                <a:rPr lang="zh-CN" altLang="zh-CN" sz="2800" dirty="0">
                  <a:solidFill>
                    <a:srgbClr val="000000"/>
                  </a:solidFill>
                  <a:latin typeface="Times New Roman" panose="02020603050405020304" pitchFamily="18" charset="0"/>
                  <a:cs typeface="Times New Roman" panose="02020603050405020304" pitchFamily="18" charset="0"/>
                </a:rPr>
                <a:t>之间的距离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就是该点到直线的距离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77108894"/>
                </p:ext>
              </p:extLst>
            </p:nvPr>
          </p:nvGraphicFramePr>
          <p:xfrm>
            <a:off x="405714" y="1896738"/>
            <a:ext cx="11430000" cy="1504488"/>
          </p:xfrm>
          <a:graphic>
            <a:graphicData uri="http://schemas.openxmlformats.org/presentationml/2006/ole">
              <mc:AlternateContent xmlns:mc="http://schemas.openxmlformats.org/markup-compatibility/2006">
                <mc:Choice xmlns:v="urn:schemas-microsoft-com:vml" Requires="v">
                  <p:oleObj spid="_x0000_s5167"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05714" y="1896738"/>
                          <a:ext cx="11430000" cy="1504488"/>
                        </a:xfrm>
                        <a:prstGeom prst="rect">
                          <a:avLst/>
                        </a:prstGeom>
                      </p:spPr>
                    </p:pic>
                  </p:oleObj>
                </mc:Fallback>
              </mc:AlternateContent>
            </a:graphicData>
          </a:graphic>
        </p:graphicFrame>
        <p:sp>
          <p:nvSpPr>
            <p:cNvPr id="4" name="矩形 3"/>
            <p:cNvSpPr>
              <a:spLocks noChangeAspect="1"/>
            </p:cNvSpPr>
            <p:nvPr/>
          </p:nvSpPr>
          <p:spPr>
            <a:xfrm>
              <a:off x="381000" y="3315391"/>
              <a:ext cx="10398681" cy="592213"/>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在平面直角坐标系中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原点</a:t>
              </a:r>
              <a:r>
                <a:rPr lang="en-US" altLang="zh-CN" sz="2800" dirty="0">
                  <a:solidFill>
                    <a:srgbClr val="000000"/>
                  </a:solidFill>
                  <a:latin typeface="Times New Roman" panose="02020603050405020304" pitchFamily="18" charset="0"/>
                  <a:cs typeface="Times New Roman" panose="02020603050405020304" pitchFamily="18" charset="0"/>
                </a:rPr>
                <a:t>(0,0)</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245240239"/>
                </p:ext>
              </p:extLst>
            </p:nvPr>
          </p:nvGraphicFramePr>
          <p:xfrm>
            <a:off x="59724" y="3980234"/>
            <a:ext cx="11430000" cy="1003297"/>
          </p:xfrm>
          <a:graphic>
            <a:graphicData uri="http://schemas.openxmlformats.org/presentationml/2006/ole">
              <mc:AlternateContent xmlns:mc="http://schemas.openxmlformats.org/markup-compatibility/2006">
                <mc:Choice xmlns:v="urn:schemas-microsoft-com:vml" Requires="v">
                  <p:oleObj spid="_x0000_s5168"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59724" y="3980234"/>
                          <a:ext cx="11430000" cy="1003297"/>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1922643601"/>
              </p:ext>
            </p:extLst>
          </p:nvPr>
        </p:nvGraphicFramePr>
        <p:xfrm>
          <a:off x="47367" y="4915625"/>
          <a:ext cx="11430000" cy="1003297"/>
        </p:xfrm>
        <a:graphic>
          <a:graphicData uri="http://schemas.openxmlformats.org/presentationml/2006/ole">
            <mc:AlternateContent xmlns:mc="http://schemas.openxmlformats.org/markup-compatibility/2006">
              <mc:Choice xmlns:v="urn:schemas-microsoft-com:vml" Requires="v">
                <p:oleObj spid="_x0000_s5169"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47367" y="4915625"/>
                        <a:ext cx="11430000" cy="1003297"/>
                      </a:xfrm>
                      <a:prstGeom prst="rect">
                        <a:avLst/>
                      </a:prstGeom>
                    </p:spPr>
                  </p:pic>
                </p:oleObj>
              </mc:Fallback>
            </mc:AlternateContent>
          </a:graphicData>
        </a:graphic>
      </p:graphicFrame>
      <p:sp>
        <p:nvSpPr>
          <p:cNvPr id="7" name="矩形 6"/>
          <p:cNvSpPr>
            <a:spLocks noChangeAspect="1"/>
          </p:cNvSpPr>
          <p:nvPr/>
        </p:nvSpPr>
        <p:spPr>
          <a:xfrm>
            <a:off x="381000" y="5768231"/>
            <a:ext cx="163378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9" name="矩形 8"/>
          <p:cNvSpPr/>
          <p:nvPr/>
        </p:nvSpPr>
        <p:spPr>
          <a:xfrm>
            <a:off x="6688693" y="777281"/>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6700333" y="1214241"/>
            <a:ext cx="70676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3822"/>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二、两条平行直线间的距离</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两条平行直线间的距离是指什么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两条平行直线间的距离是指夹在这两条平行直线间的公垂线段的长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上有</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三点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的距离分别是多少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有什么规律吗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78543570"/>
              </p:ext>
            </p:extLst>
          </p:nvPr>
        </p:nvGraphicFramePr>
        <p:xfrm>
          <a:off x="61785" y="4067047"/>
          <a:ext cx="11430000" cy="1003297"/>
        </p:xfrm>
        <a:graphic>
          <a:graphicData uri="http://schemas.openxmlformats.org/presentationml/2006/ole">
            <mc:AlternateContent xmlns:mc="http://schemas.openxmlformats.org/markup-compatibility/2006">
              <mc:Choice xmlns:v="urn:schemas-microsoft-com:vml" Requires="v">
                <p:oleObj spid="_x0000_s6159"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1785" y="4067047"/>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590206"/>
            <a:ext cx="11430000" cy="227267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如何推导出</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间的距离公式呢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上任取一点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的距离就是这两条平行直线间的距离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68646003"/>
              </p:ext>
            </p:extLst>
          </p:nvPr>
        </p:nvGraphicFramePr>
        <p:xfrm>
          <a:off x="72079" y="2912307"/>
          <a:ext cx="11430000" cy="2507784"/>
        </p:xfrm>
        <a:graphic>
          <a:graphicData uri="http://schemas.openxmlformats.org/presentationml/2006/ole">
            <mc:AlternateContent xmlns:mc="http://schemas.openxmlformats.org/markup-compatibility/2006">
              <mc:Choice xmlns:v="urn:schemas-microsoft-com:vml" Requires="v">
                <p:oleObj spid="_x0000_s7183"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72079" y="2912307"/>
                        <a:ext cx="11430000" cy="2507784"/>
                      </a:xfrm>
                      <a:prstGeom prst="rect">
                        <a:avLst/>
                      </a:prstGeom>
                    </p:spPr>
                  </p:pic>
                </p:oleObj>
              </mc:Fallback>
            </mc:AlternateContent>
          </a:graphicData>
        </a:graphic>
      </p:graphicFrame>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6585"/>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两</a:t>
            </a:r>
            <a:r>
              <a:rPr lang="zh-CN" altLang="zh-CN" sz="2800" dirty="0">
                <a:solidFill>
                  <a:srgbClr val="000000"/>
                </a:solidFill>
                <a:latin typeface="Times New Roman" panose="02020603050405020304" pitchFamily="18" charset="0"/>
                <a:cs typeface="Times New Roman" panose="02020603050405020304" pitchFamily="18" charset="0"/>
              </a:rPr>
              <a:t>条平行直线间的距离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概念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两条平行直线间的距离是指夹在这两条平行直线间的</a:t>
            </a:r>
            <a:r>
              <a:rPr lang="zh-CN" altLang="zh-CN" sz="2800" dirty="0">
                <a:solidFill>
                  <a:srgbClr val="FF0000"/>
                </a:solidFill>
                <a:latin typeface="Times New Roman" panose="02020603050405020304" pitchFamily="18" charset="0"/>
                <a:cs typeface="Times New Roman" panose="02020603050405020304" pitchFamily="18" charset="0"/>
              </a:rPr>
              <a:t>公垂线段</a:t>
            </a:r>
            <a:r>
              <a:rPr lang="zh-CN" altLang="zh-CN" sz="2800" dirty="0">
                <a:solidFill>
                  <a:srgbClr val="000000"/>
                </a:solidFill>
                <a:latin typeface="Times New Roman" panose="02020603050405020304" pitchFamily="18" charset="0"/>
                <a:cs typeface="Times New Roman" panose="02020603050405020304" pitchFamily="18" charset="0"/>
              </a:rPr>
              <a:t>的长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两条平行直线间的距离转化为</a:t>
            </a:r>
            <a:r>
              <a:rPr lang="zh-CN" altLang="zh-CN" sz="2800" dirty="0">
                <a:solidFill>
                  <a:srgbClr val="FF0000"/>
                </a:solidFill>
                <a:latin typeface="Times New Roman" panose="02020603050405020304" pitchFamily="18" charset="0"/>
                <a:cs typeface="Times New Roman" panose="02020603050405020304" pitchFamily="18" charset="0"/>
              </a:rPr>
              <a:t>点到直线</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65097060"/>
              </p:ext>
            </p:extLst>
          </p:nvPr>
        </p:nvGraphicFramePr>
        <p:xfrm>
          <a:off x="393357" y="2391010"/>
          <a:ext cx="11430000" cy="1504488"/>
        </p:xfrm>
        <a:graphic>
          <a:graphicData uri="http://schemas.openxmlformats.org/presentationml/2006/ole">
            <mc:AlternateContent xmlns:mc="http://schemas.openxmlformats.org/markup-compatibility/2006">
              <mc:Choice xmlns:v="urn:schemas-microsoft-com:vml" Requires="v">
                <p:oleObj spid="_x0000_s8233"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93357" y="2391010"/>
                        <a:ext cx="11430000" cy="1504488"/>
                      </a:xfrm>
                      <a:prstGeom prst="rect">
                        <a:avLst/>
                      </a:prstGeom>
                    </p:spPr>
                  </p:pic>
                </p:oleObj>
              </mc:Fallback>
            </mc:AlternateContent>
          </a:graphicData>
        </a:graphic>
      </p:graphicFrame>
      <p:sp>
        <p:nvSpPr>
          <p:cNvPr id="4" name="矩形 3"/>
          <p:cNvSpPr>
            <a:spLocks noChangeAspect="1"/>
          </p:cNvSpPr>
          <p:nvPr/>
        </p:nvSpPr>
        <p:spPr>
          <a:xfrm>
            <a:off x="381000" y="3833713"/>
            <a:ext cx="11430000" cy="65248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两</a:t>
            </a:r>
            <a:r>
              <a:rPr lang="zh-CN" altLang="zh-CN" sz="2800" dirty="0">
                <a:solidFill>
                  <a:srgbClr val="000000"/>
                </a:solidFill>
                <a:latin typeface="Times New Roman" panose="02020603050405020304" pitchFamily="18" charset="0"/>
                <a:cs typeface="Times New Roman" panose="02020603050405020304" pitchFamily="18" charset="0"/>
              </a:rPr>
              <a:t>条平行直线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间的距离为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27024750"/>
              </p:ext>
            </p:extLst>
          </p:nvPr>
        </p:nvGraphicFramePr>
        <p:xfrm>
          <a:off x="59723" y="4450640"/>
          <a:ext cx="11430000" cy="1003297"/>
        </p:xfrm>
        <a:graphic>
          <a:graphicData uri="http://schemas.openxmlformats.org/presentationml/2006/ole">
            <mc:AlternateContent xmlns:mc="http://schemas.openxmlformats.org/markup-compatibility/2006">
              <mc:Choice xmlns:v="urn:schemas-microsoft-com:vml" Requires="v">
                <p:oleObj spid="_x0000_s8234"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59723" y="4450640"/>
                        <a:ext cx="11430000" cy="100329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45942768"/>
              </p:ext>
            </p:extLst>
          </p:nvPr>
        </p:nvGraphicFramePr>
        <p:xfrm>
          <a:off x="59723" y="5167356"/>
          <a:ext cx="11430000" cy="1003297"/>
        </p:xfrm>
        <a:graphic>
          <a:graphicData uri="http://schemas.openxmlformats.org/presentationml/2006/ole">
            <mc:AlternateContent xmlns:mc="http://schemas.openxmlformats.org/markup-compatibility/2006">
              <mc:Choice xmlns:v="urn:schemas-microsoft-com:vml" Requires="v">
                <p:oleObj spid="_x0000_s8235"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59723" y="5167356"/>
                        <a:ext cx="11430000" cy="1003297"/>
                      </a:xfrm>
                      <a:prstGeom prst="rect">
                        <a:avLst/>
                      </a:prstGeom>
                    </p:spPr>
                  </p:pic>
                </p:oleObj>
              </mc:Fallback>
            </mc:AlternateContent>
          </a:graphicData>
        </a:graphic>
      </p:graphicFrame>
      <p:sp>
        <p:nvSpPr>
          <p:cNvPr id="7" name="矩形 6"/>
          <p:cNvSpPr>
            <a:spLocks noChangeAspect="1"/>
          </p:cNvSpPr>
          <p:nvPr/>
        </p:nvSpPr>
        <p:spPr>
          <a:xfrm>
            <a:off x="381000" y="6043613"/>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8" name="矩形 7"/>
          <p:cNvSpPr/>
          <p:nvPr/>
        </p:nvSpPr>
        <p:spPr>
          <a:xfrm>
            <a:off x="10159256" y="692150"/>
            <a:ext cx="148895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0170896" y="1129110"/>
            <a:ext cx="1482697"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6585896" y="1811935"/>
            <a:ext cx="144516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597444" y="2248895"/>
            <a:ext cx="143909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40822"/>
            <a:ext cx="11430000" cy="50734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上时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Ax+By+C=</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的距离公式仍然适用</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当两条直线平行时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一条直线上任一点到另一条直线的距离都相等</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在应用两条平行直线间的距离公式时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两个直线方程中</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的系数对应成比例即可</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轴的距离是</a:t>
            </a:r>
            <a:r>
              <a:rPr lang="en-US" altLang="zh-CN" sz="2800" i="1" dirty="0">
                <a:solidFill>
                  <a:srgbClr val="000000"/>
                </a:solidFill>
                <a:latin typeface="Times New Roman" panose="02020603050405020304" pitchFamily="18" charset="0"/>
                <a:cs typeface="Times New Roman" panose="02020603050405020304" pitchFamily="18" charset="0"/>
              </a:rPr>
              <a:t>d=y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2179039" y="2101704"/>
            <a:ext cx="397908"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108775" y="3203141"/>
            <a:ext cx="397908"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585812" y="4335751"/>
            <a:ext cx="458724"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928984" y="4897510"/>
            <a:ext cx="458724"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bg1"/>
                    </a:solidFill>
                  </a:rPr>
                  <a:t>点</a:t>
                </a:r>
                <a:r>
                  <a:rPr lang="zh-CN" altLang="en-US" sz="2800" b="1" dirty="0">
                    <a:solidFill>
                      <a:schemeClr val="bg1"/>
                    </a:solidFill>
                  </a:rPr>
                  <a:t>到直线的距离</a:t>
                </a:r>
              </a:p>
            </p:txBody>
          </p:sp>
        </p:grpSp>
      </p:grpSp>
      <p:sp>
        <p:nvSpPr>
          <p:cNvPr id="2" name="矩形 1"/>
          <p:cNvSpPr>
            <a:spLocks noChangeAspect="1"/>
          </p:cNvSpPr>
          <p:nvPr/>
        </p:nvSpPr>
        <p:spPr>
          <a:xfrm>
            <a:off x="381000" y="1839455"/>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到下列直线的距离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可用点到直线的距离公式求解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2800" dirty="0">
                <a:solidFill>
                  <a:srgbClr val="000000"/>
                </a:solidFill>
                <a:latin typeface="Times New Roman" panose="02020603050405020304" pitchFamily="18" charset="0"/>
                <a:cs typeface="Times New Roman" panose="02020603050405020304" pitchFamily="18" charset="0"/>
              </a:rPr>
              <a:t>(2)(3)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除了公式法求距离外还可以用数形结合法求解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72080" y="677719"/>
            <a:ext cx="11738920" cy="4130467"/>
            <a:chOff x="72080" y="1251475"/>
            <a:chExt cx="11738920" cy="4130467"/>
          </a:xfrm>
        </p:grpSpPr>
        <p:sp>
          <p:nvSpPr>
            <p:cNvPr id="2" name="矩形 1"/>
            <p:cNvSpPr>
              <a:spLocks noChangeAspect="1"/>
            </p:cNvSpPr>
            <p:nvPr/>
          </p:nvSpPr>
          <p:spPr>
            <a:xfrm>
              <a:off x="381000" y="1251475"/>
              <a:ext cx="511550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由点到直线的距离公式</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10198929"/>
                </p:ext>
              </p:extLst>
            </p:nvPr>
          </p:nvGraphicFramePr>
          <p:xfrm>
            <a:off x="72080" y="1863692"/>
            <a:ext cx="11430000" cy="2507784"/>
          </p:xfrm>
          <a:graphic>
            <a:graphicData uri="http://schemas.openxmlformats.org/presentationml/2006/ole">
              <mc:AlternateContent xmlns:mc="http://schemas.openxmlformats.org/markup-compatibility/2006">
                <mc:Choice xmlns:v="urn:schemas-microsoft-com:vml" Requires="v">
                  <p:oleObj spid="_x0000_s9244"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72080" y="1863692"/>
                          <a:ext cx="11430000" cy="2507784"/>
                        </a:xfrm>
                        <a:prstGeom prst="rect">
                          <a:avLst/>
                        </a:prstGeom>
                      </p:spPr>
                    </p:pic>
                  </p:oleObj>
                </mc:Fallback>
              </mc:AlternateContent>
            </a:graphicData>
          </a:graphic>
        </p:graphicFrame>
        <p:sp>
          <p:nvSpPr>
            <p:cNvPr id="4" name="矩形 3"/>
            <p:cNvSpPr>
              <a:spLocks noChangeAspect="1"/>
            </p:cNvSpPr>
            <p:nvPr/>
          </p:nvSpPr>
          <p:spPr>
            <a:xfrm>
              <a:off x="381000" y="422957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轴平行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由图</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45775990"/>
                </p:ext>
              </p:extLst>
            </p:nvPr>
          </p:nvGraphicFramePr>
          <p:xfrm>
            <a:off x="7420340" y="1863692"/>
            <a:ext cx="3789363" cy="3307398"/>
          </p:xfrm>
          <a:graphic>
            <a:graphicData uri="http://schemas.openxmlformats.org/presentationml/2006/ole">
              <mc:AlternateContent xmlns:mc="http://schemas.openxmlformats.org/markup-compatibility/2006">
                <mc:Choice xmlns:v="urn:schemas-microsoft-com:vml" Requires="v">
                  <p:oleObj spid="_x0000_s9245" name="文档" r:id="rId5" imgW="1373654" imgH="1191910" progId="Word.Document.12">
                    <p:embed/>
                  </p:oleObj>
                </mc:Choice>
                <mc:Fallback>
                  <p:oleObj name="文档" r:id="rId5" imgW="1373654" imgH="1191910" progId="Word.Document.12">
                    <p:embed/>
                    <p:pic>
                      <p:nvPicPr>
                        <p:cNvPr id="0" name=""/>
                        <p:cNvPicPr/>
                        <p:nvPr/>
                      </p:nvPicPr>
                      <p:blipFill>
                        <a:blip r:embed="rId6"/>
                        <a:stretch>
                          <a:fillRect/>
                        </a:stretch>
                      </p:blipFill>
                      <p:spPr>
                        <a:xfrm>
                          <a:off x="7420340" y="1863692"/>
                          <a:ext cx="3789363" cy="3307398"/>
                        </a:xfrm>
                        <a:prstGeom prst="rect">
                          <a:avLst/>
                        </a:prstGeom>
                      </p:spPr>
                    </p:pic>
                  </p:oleObj>
                </mc:Fallback>
              </mc:AlternateContent>
            </a:graphicData>
          </a:graphic>
        </p:graphicFrame>
      </p:gr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61785" y="262748"/>
            <a:ext cx="11749215" cy="5181822"/>
            <a:chOff x="61785" y="593294"/>
            <a:chExt cx="11749215" cy="5181822"/>
          </a:xfrm>
        </p:grpSpPr>
        <p:graphicFrame>
          <p:nvGraphicFramePr>
            <p:cNvPr id="2" name="对象 1"/>
            <p:cNvGraphicFramePr>
              <a:graphicFrameLocks noChangeAspect="1"/>
            </p:cNvGraphicFramePr>
            <p:nvPr>
              <p:extLst>
                <p:ext uri="{D42A27DB-BD31-4B8C-83A1-F6EECF244321}">
                  <p14:modId xmlns:p14="http://schemas.microsoft.com/office/powerpoint/2010/main" val="4088073406"/>
                </p:ext>
              </p:extLst>
            </p:nvPr>
          </p:nvGraphicFramePr>
          <p:xfrm>
            <a:off x="61785" y="593294"/>
            <a:ext cx="11430000" cy="1003297"/>
          </p:xfrm>
          <a:graphic>
            <a:graphicData uri="http://schemas.openxmlformats.org/presentationml/2006/ole">
              <mc:AlternateContent xmlns:mc="http://schemas.openxmlformats.org/markup-compatibility/2006">
                <mc:Choice xmlns:v="urn:schemas-microsoft-com:vml" Requires="v">
                  <p:oleObj spid="_x0000_s1026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1785" y="593294"/>
                          <a:ext cx="11430000" cy="1003297"/>
                        </a:xfrm>
                        <a:prstGeom prst="rect">
                          <a:avLst/>
                        </a:prstGeom>
                      </p:spPr>
                    </p:pic>
                  </p:oleObj>
                </mc:Fallback>
              </mc:AlternateContent>
            </a:graphicData>
          </a:graphic>
        </p:graphicFrame>
        <p:sp>
          <p:nvSpPr>
            <p:cNvPr id="3" name="矩形 2"/>
            <p:cNvSpPr>
              <a:spLocks noChangeAspect="1"/>
            </p:cNvSpPr>
            <p:nvPr/>
          </p:nvSpPr>
          <p:spPr>
            <a:xfrm>
              <a:off x="381000" y="149773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轴平行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由图</a:t>
              </a: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5711253"/>
                </p:ext>
              </p:extLst>
            </p:nvPr>
          </p:nvGraphicFramePr>
          <p:xfrm>
            <a:off x="381000" y="2766140"/>
            <a:ext cx="11430000" cy="3008976"/>
          </p:xfrm>
          <a:graphic>
            <a:graphicData uri="http://schemas.openxmlformats.org/presentationml/2006/ole">
              <mc:AlternateContent xmlns:mc="http://schemas.openxmlformats.org/markup-compatibility/2006">
                <mc:Choice xmlns:v="urn:schemas-microsoft-com:vml" Requires="v">
                  <p:oleObj spid="_x0000_s10269" name="文档" r:id="rId5" imgW="4520786" imgH="1190108" progId="Word.Document.12">
                    <p:embed/>
                  </p:oleObj>
                </mc:Choice>
                <mc:Fallback>
                  <p:oleObj name="文档" r:id="rId5" imgW="4520786" imgH="1190108" progId="Word.Document.12">
                    <p:embed/>
                    <p:pic>
                      <p:nvPicPr>
                        <p:cNvPr id="0" name=""/>
                        <p:cNvPicPr/>
                        <p:nvPr/>
                      </p:nvPicPr>
                      <p:blipFill>
                        <a:blip r:embed="rId6"/>
                        <a:stretch>
                          <a:fillRect/>
                        </a:stretch>
                      </p:blipFill>
                      <p:spPr>
                        <a:xfrm>
                          <a:off x="381000" y="2766140"/>
                          <a:ext cx="11430000" cy="3008976"/>
                        </a:xfrm>
                        <a:prstGeom prst="rect">
                          <a:avLst/>
                        </a:prstGeom>
                      </p:spPr>
                    </p:pic>
                  </p:oleObj>
                </mc:Fallback>
              </mc:AlternateContent>
            </a:graphicData>
          </a:graphic>
        </p:graphicFrame>
      </p:gr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53628"/>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348851"/>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755310809"/>
              </p:ext>
            </p:extLst>
          </p:nvPr>
        </p:nvGraphicFramePr>
        <p:xfrm>
          <a:off x="49428" y="1407626"/>
          <a:ext cx="11430000" cy="1504488"/>
        </p:xfrm>
        <a:graphic>
          <a:graphicData uri="http://schemas.openxmlformats.org/presentationml/2006/ole">
            <mc:AlternateContent xmlns:mc="http://schemas.openxmlformats.org/markup-compatibility/2006">
              <mc:Choice xmlns:v="urn:schemas-microsoft-com:vml" Requires="v">
                <p:oleObj spid="_x0000_s11290" name="文档" r:id="rId4" imgW="4520786" imgH="595054" progId="Word.Document.12">
                  <p:embed/>
                </p:oleObj>
              </mc:Choice>
              <mc:Fallback>
                <p:oleObj name="文档" r:id="rId4" imgW="4520786" imgH="595054" progId="Word.Document.12">
                  <p:embed/>
                  <p:pic>
                    <p:nvPicPr>
                      <p:cNvPr id="0" name=""/>
                      <p:cNvPicPr/>
                      <p:nvPr/>
                    </p:nvPicPr>
                    <p:blipFill>
                      <a:blip r:embed="rId5"/>
                      <a:stretch>
                        <a:fillRect/>
                      </a:stretch>
                    </p:blipFill>
                    <p:spPr>
                      <a:xfrm>
                        <a:off x="49428" y="1407626"/>
                        <a:ext cx="11430000" cy="150448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6249539"/>
              </p:ext>
            </p:extLst>
          </p:nvPr>
        </p:nvGraphicFramePr>
        <p:xfrm>
          <a:off x="49428" y="2986256"/>
          <a:ext cx="11430000" cy="501192"/>
        </p:xfrm>
        <a:graphic>
          <a:graphicData uri="http://schemas.openxmlformats.org/presentationml/2006/ole">
            <mc:AlternateContent xmlns:mc="http://schemas.openxmlformats.org/markup-compatibility/2006">
              <mc:Choice xmlns:v="urn:schemas-microsoft-com:vml" Requires="v">
                <p:oleObj spid="_x0000_s11291" name="文档" r:id="rId6" imgW="4520786" imgH="198231" progId="Word.Document.12">
                  <p:embed/>
                </p:oleObj>
              </mc:Choice>
              <mc:Fallback>
                <p:oleObj name="文档" r:id="rId6" imgW="4520786" imgH="198231" progId="Word.Document.12">
                  <p:embed/>
                  <p:pic>
                    <p:nvPicPr>
                      <p:cNvPr id="0" name=""/>
                      <p:cNvPicPr/>
                      <p:nvPr/>
                    </p:nvPicPr>
                    <p:blipFill>
                      <a:blip r:embed="rId7"/>
                      <a:stretch>
                        <a:fillRect/>
                      </a:stretch>
                    </p:blipFill>
                    <p:spPr>
                      <a:xfrm>
                        <a:off x="49428" y="2986256"/>
                        <a:ext cx="11430000" cy="501192"/>
                      </a:xfrm>
                      <a:prstGeom prst="rect">
                        <a:avLst/>
                      </a:prstGeom>
                    </p:spPr>
                  </p:pic>
                </p:oleObj>
              </mc:Fallback>
            </mc:AlternateContent>
          </a:graphicData>
        </a:graphic>
      </p:graphicFrame>
      <p:sp>
        <p:nvSpPr>
          <p:cNvPr id="6" name="矩形 5"/>
          <p:cNvSpPr>
            <a:spLocks noChangeAspect="1"/>
          </p:cNvSpPr>
          <p:nvPr/>
        </p:nvSpPr>
        <p:spPr>
          <a:xfrm>
            <a:off x="381000" y="3536876"/>
            <a:ext cx="11430000" cy="177279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在应用点到直线的距离公式时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首先把直线方程化为一般式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再利用公式求解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在已知点到直线的距离求参数时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只需根据公式列方程求解参数即可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且原点到</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zh-CN" altLang="zh-CN" sz="2800" dirty="0" smtClean="0">
                <a:solidFill>
                  <a:srgbClr val="000000"/>
                </a:solidFill>
                <a:latin typeface="Times New Roman" panose="02020603050405020304" pitchFamily="18" charset="0"/>
                <a:cs typeface="Times New Roman" panose="02020603050405020304" pitchFamily="18" charset="0"/>
              </a:rPr>
              <a:t>等于</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因为原点到直线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的斜率存在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则化成一般式为</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80197961"/>
              </p:ext>
            </p:extLst>
          </p:nvPr>
        </p:nvGraphicFramePr>
        <p:xfrm>
          <a:off x="10128207" y="626894"/>
          <a:ext cx="687003" cy="752601"/>
        </p:xfrm>
        <a:graphic>
          <a:graphicData uri="http://schemas.openxmlformats.org/presentationml/2006/ole">
            <mc:AlternateContent xmlns:mc="http://schemas.openxmlformats.org/markup-compatibility/2006">
              <mc:Choice xmlns:v="urn:schemas-microsoft-com:vml" Requires="v">
                <p:oleObj spid="_x0000_s12314" name="文档" r:id="rId3" imgW="369954" imgH="397183" progId="Word.Document.12">
                  <p:embed/>
                </p:oleObj>
              </mc:Choice>
              <mc:Fallback>
                <p:oleObj name="文档" r:id="rId3" imgW="369954" imgH="397183" progId="Word.Document.12">
                  <p:embed/>
                  <p:pic>
                    <p:nvPicPr>
                      <p:cNvPr id="0" name=""/>
                      <p:cNvPicPr/>
                      <p:nvPr/>
                    </p:nvPicPr>
                    <p:blipFill>
                      <a:blip r:embed="rId4"/>
                      <a:stretch>
                        <a:fillRect/>
                      </a:stretch>
                    </p:blipFill>
                    <p:spPr>
                      <a:xfrm>
                        <a:off x="10128207" y="626894"/>
                        <a:ext cx="687003" cy="752601"/>
                      </a:xfrm>
                      <a:prstGeom prst="rect">
                        <a:avLst/>
                      </a:prstGeom>
                    </p:spPr>
                  </p:pic>
                </p:oleObj>
              </mc:Fallback>
            </mc:AlternateContent>
          </a:graphicData>
        </a:graphic>
      </p:graphicFrame>
      <p:grpSp>
        <p:nvGrpSpPr>
          <p:cNvPr id="6" name="组合 5"/>
          <p:cNvGrpSpPr/>
          <p:nvPr/>
        </p:nvGrpSpPr>
        <p:grpSpPr>
          <a:xfrm>
            <a:off x="61785" y="2897962"/>
            <a:ext cx="11749215" cy="1594207"/>
            <a:chOff x="61785" y="3442771"/>
            <a:chExt cx="11749215" cy="1594207"/>
          </a:xfrm>
        </p:grpSpPr>
        <p:graphicFrame>
          <p:nvGraphicFramePr>
            <p:cNvPr id="4" name="对象 3"/>
            <p:cNvGraphicFramePr>
              <a:graphicFrameLocks noChangeAspect="1"/>
            </p:cNvGraphicFramePr>
            <p:nvPr>
              <p:extLst>
                <p:ext uri="{D42A27DB-BD31-4B8C-83A1-F6EECF244321}">
                  <p14:modId xmlns:p14="http://schemas.microsoft.com/office/powerpoint/2010/main" val="2804232928"/>
                </p:ext>
              </p:extLst>
            </p:nvPr>
          </p:nvGraphicFramePr>
          <p:xfrm>
            <a:off x="61785" y="3442771"/>
            <a:ext cx="11430000" cy="1003297"/>
          </p:xfrm>
          <a:graphic>
            <a:graphicData uri="http://schemas.openxmlformats.org/presentationml/2006/ole">
              <mc:AlternateContent xmlns:mc="http://schemas.openxmlformats.org/markup-compatibility/2006">
                <mc:Choice xmlns:v="urn:schemas-microsoft-com:vml" Requires="v">
                  <p:oleObj spid="_x0000_s1231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1785" y="3442771"/>
                          <a:ext cx="11430000" cy="1003297"/>
                        </a:xfrm>
                        <a:prstGeom prst="rect">
                          <a:avLst/>
                        </a:prstGeom>
                      </p:spPr>
                    </p:pic>
                  </p:oleObj>
                </mc:Fallback>
              </mc:AlternateContent>
            </a:graphicData>
          </a:graphic>
        </p:graphicFrame>
        <p:sp>
          <p:nvSpPr>
            <p:cNvPr id="5" name="矩形 4"/>
            <p:cNvSpPr>
              <a:spLocks noChangeAspect="1"/>
            </p:cNvSpPr>
            <p:nvPr/>
          </p:nvSpPr>
          <p:spPr>
            <a:xfrm>
              <a:off x="381000" y="4384492"/>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bg1"/>
                    </a:solidFill>
                  </a:rPr>
                  <a:t>两</a:t>
                </a:r>
                <a:r>
                  <a:rPr lang="zh-CN" altLang="en-US" sz="2800" b="1" dirty="0">
                    <a:solidFill>
                      <a:schemeClr val="bg1"/>
                    </a:solidFill>
                  </a:rPr>
                  <a:t>条平行直线间的距离</a:t>
                </a:r>
              </a:p>
            </p:txBody>
          </p:sp>
        </p:grpSp>
      </p:grpSp>
      <mc:AlternateContent xmlns:mc="http://schemas.openxmlformats.org/markup-compatibility/2006">
        <mc:Choice xmlns:a14="http://schemas.microsoft.com/office/drawing/2010/main" Requires="a14">
          <p:sp>
            <p:nvSpPr>
              <p:cNvPr id="2" name="矩形 1"/>
              <p:cNvSpPr>
                <a:spLocks noChangeAspect="1"/>
              </p:cNvSpPr>
              <p:nvPr/>
            </p:nvSpPr>
            <p:spPr>
              <a:xfrm>
                <a:off x="381000" y="1675802"/>
                <a:ext cx="11430000" cy="270702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求两条平行直线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间的距离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直接应用两条平行直线间的距离公式</a:t>
                </a:r>
                <a:r>
                  <a:rPr lang="en-US" altLang="zh-CN" sz="2800" i="1" dirty="0">
                    <a:solidFill>
                      <a:srgbClr val="000000"/>
                    </a:solidFill>
                    <a:latin typeface="Times New Roman" panose="02020603050405020304" pitchFamily="18" charset="0"/>
                    <a:cs typeface="Times New Roman" panose="02020603050405020304" pitchFamily="18" charset="0"/>
                  </a:rPr>
                  <a:t>d=</a:t>
                </a:r>
                <a14:m>
                  <m:oMath xmlns:m="http://schemas.openxmlformats.org/officeDocument/2006/math">
                    <m:f>
                      <m:f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r>
                          <m:rPr>
                            <m:nor/>
                          </m:rPr>
                          <a:rPr lang="en-US" altLang="zh-CN" sz="2800" i="1">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2</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num>
                      <m:den>
                        <m:rad>
                          <m:radPr>
                            <m:degHide m:val="on"/>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𝐴</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sSup>
                              <m:sSup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𝐵</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上任取一点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再求点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的距离即为两条平行直线间的距离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1675802"/>
                <a:ext cx="11430000" cy="2707023"/>
              </a:xfrm>
              <a:prstGeom prst="rect">
                <a:avLst/>
              </a:prstGeom>
              <a:blipFill rotWithShape="0">
                <a:blip r:embed="rId2"/>
                <a:stretch>
                  <a:fillRect l="-1120" t="-676" r="-747" b="-337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charRg st="43" end="151"/>
                                            </p:txEl>
                                          </p:spTgt>
                                        </p:tgtEl>
                                        <p:attrNameLst>
                                          <p:attrName>style.visibility</p:attrName>
                                        </p:attrNameLst>
                                      </p:cBhvr>
                                      <p:to>
                                        <p:strVal val="visible"/>
                                      </p:to>
                                    </p:set>
                                    <p:animEffect transition="in" filter="randombar(horizontal)">
                                      <p:cBhvr>
                                        <p:cTn id="7" dur="500"/>
                                        <p:tgtEl>
                                          <p:spTgt spid="2">
                                            <p:txEl>
                                              <p:charRg st="43" end="1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矩形 7"/>
              <p:cNvSpPr>
                <a:spLocks noChangeAspect="1"/>
              </p:cNvSpPr>
              <p:nvPr/>
            </p:nvSpPr>
            <p:spPr>
              <a:xfrm>
                <a:off x="381000" y="708892"/>
                <a:ext cx="11430000" cy="414113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应用两条平行直线间的距离公式求解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的方程可化为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10</m:t>
                        </m:r>
                        <m:r>
                          <m:rPr>
                            <m:nor/>
                          </m:rPr>
                          <a:rPr lang="en-US" altLang="zh-CN" sz="2800" i="1">
                            <a:solidFill>
                              <a:srgbClr val="000000"/>
                            </a:solidFill>
                            <a:latin typeface="Times New Roman" panose="020206030504050203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15</m:t>
                        </m:r>
                        <m:r>
                          <m:rPr>
                            <m:nor/>
                          </m:rPr>
                          <a:rPr lang="en-US" altLang="zh-CN" sz="2800">
                            <a:solidFill>
                              <a:srgbClr val="000000"/>
                            </a:solidFill>
                            <a:latin typeface="Times New Roman" panose="02020603050405020304" pitchFamily="18" charset="0"/>
                            <a:cs typeface="Times New Roman" panose="02020603050405020304" pitchFamily="18" charset="0"/>
                          </a:rPr>
                          <m:t>)|</m:t>
                        </m:r>
                      </m:num>
                      <m:den>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a:solidFill>
                                      <a:srgbClr val="000000"/>
                                    </a:solidFill>
                                    <a:latin typeface="Cambria Math" panose="02040503050406030204" pitchFamily="18" charset="0"/>
                                    <a:cs typeface="Times New Roman" panose="02020603050405020304" pitchFamily="18" charset="0"/>
                                  </a:rPr>
                                  <m:t>3</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a:solidFill>
                                      <a:srgbClr val="000000"/>
                                    </a:solidFill>
                                    <a:latin typeface="Cambria Math" panose="02040503050406030204" pitchFamily="18" charset="0"/>
                                    <a:cs typeface="Times New Roman" panose="02020603050405020304" pitchFamily="18" charset="0"/>
                                  </a:rPr>
                                  <m:t>4</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间的距离为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上任取一点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d=</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3×2+4×1</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15</m:t>
                        </m:r>
                        <m:r>
                          <m:rPr>
                            <m:nor/>
                          </m:rPr>
                          <a:rPr lang="en-US" altLang="zh-CN" sz="2800">
                            <a:solidFill>
                              <a:srgbClr val="000000"/>
                            </a:solidFill>
                            <a:latin typeface="Times New Roman" panose="02020603050405020304" pitchFamily="18" charset="0"/>
                            <a:cs typeface="Times New Roman" panose="02020603050405020304" pitchFamily="18" charset="0"/>
                          </a:rPr>
                          <m:t>|</m:t>
                        </m:r>
                      </m:num>
                      <m:den>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a:solidFill>
                                      <a:srgbClr val="000000"/>
                                    </a:solidFill>
                                    <a:latin typeface="Cambria Math" panose="02040503050406030204" pitchFamily="18" charset="0"/>
                                    <a:cs typeface="Times New Roman" panose="02020603050405020304" pitchFamily="18" charset="0"/>
                                  </a:rPr>
                                  <m:t>3</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a:solidFill>
                                      <a:srgbClr val="000000"/>
                                    </a:solidFill>
                                    <a:latin typeface="Cambria Math" panose="02040503050406030204" pitchFamily="18" charset="0"/>
                                    <a:cs typeface="Times New Roman" panose="02020603050405020304" pitchFamily="18" charset="0"/>
                                  </a:rPr>
                                  <m:t>4</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间的距离为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381000" y="708892"/>
                <a:ext cx="11430000" cy="4141134"/>
              </a:xfrm>
              <a:prstGeom prst="rect">
                <a:avLst/>
              </a:prstGeom>
              <a:blipFill rotWithShape="0">
                <a:blip r:embed="rId2"/>
                <a:stretch>
                  <a:fillRect t="-294" b="-3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81000" y="1322942"/>
            <a:ext cx="11430000" cy="3065455"/>
            <a:chOff x="381000" y="1904835"/>
            <a:chExt cx="11430000" cy="3065455"/>
          </a:xfrm>
        </p:grpSpPr>
        <p:sp>
          <p:nvSpPr>
            <p:cNvPr id="2" name="矩形 1"/>
            <p:cNvSpPr>
              <a:spLocks noChangeAspect="1"/>
            </p:cNvSpPr>
            <p:nvPr/>
          </p:nvSpPr>
          <p:spPr>
            <a:xfrm>
              <a:off x="381000" y="1904835"/>
              <a:ext cx="11430000" cy="3065455"/>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两条平行直线间的距离有</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两种</a:t>
              </a:r>
              <a:r>
                <a:rPr lang="zh-CN" altLang="en-US"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5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直接利用两条平行直线间的距离公式</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但必须注意两个直线方程中</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的系数对应</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相等</a:t>
              </a:r>
              <a:r>
                <a:rPr lang="en-US"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化归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法将求两条平行直线的距离转化为求一条直线上任意一点到另一条直线的距离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47527145"/>
                </p:ext>
              </p:extLst>
            </p:nvPr>
          </p:nvGraphicFramePr>
          <p:xfrm>
            <a:off x="7174352" y="2513788"/>
            <a:ext cx="1430062" cy="752601"/>
          </p:xfrm>
          <a:graphic>
            <a:graphicData uri="http://schemas.openxmlformats.org/presentationml/2006/ole">
              <mc:AlternateContent xmlns:mc="http://schemas.openxmlformats.org/markup-compatibility/2006">
                <mc:Choice xmlns:v="urn:schemas-microsoft-com:vml" Requires="v">
                  <p:oleObj spid="_x0000_s15374" name="文档" r:id="rId3" imgW="762941" imgH="397183" progId="Word.Document.12">
                    <p:embed/>
                  </p:oleObj>
                </mc:Choice>
                <mc:Fallback>
                  <p:oleObj name="文档" r:id="rId3" imgW="762941" imgH="397183" progId="Word.Document.12">
                    <p:embed/>
                    <p:pic>
                      <p:nvPicPr>
                        <p:cNvPr id="0" name=""/>
                        <p:cNvPicPr/>
                        <p:nvPr/>
                      </p:nvPicPr>
                      <p:blipFill>
                        <a:blip r:embed="rId4"/>
                        <a:stretch>
                          <a:fillRect/>
                        </a:stretch>
                      </p:blipFill>
                      <p:spPr>
                        <a:xfrm>
                          <a:off x="7174352" y="2513788"/>
                          <a:ext cx="1430062" cy="752601"/>
                        </a:xfrm>
                        <a:prstGeom prst="rect">
                          <a:avLst/>
                        </a:prstGeom>
                      </p:spPr>
                    </p:pic>
                  </p:oleObj>
                </mc:Fallback>
              </mc:AlternateContent>
            </a:graphicData>
          </a:graphic>
        </p:graphicFrame>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且两条直线间的距离为</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28034927"/>
              </p:ext>
            </p:extLst>
          </p:nvPr>
        </p:nvGraphicFramePr>
        <p:xfrm>
          <a:off x="61785" y="2377611"/>
          <a:ext cx="11430000" cy="1003297"/>
        </p:xfrm>
        <a:graphic>
          <a:graphicData uri="http://schemas.openxmlformats.org/presentationml/2006/ole">
            <mc:AlternateContent xmlns:mc="http://schemas.openxmlformats.org/markup-compatibility/2006">
              <mc:Choice xmlns:v="urn:schemas-microsoft-com:vml" Requires="v">
                <p:oleObj spid="_x0000_s16397"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1785" y="2377611"/>
                        <a:ext cx="11430000" cy="1003297"/>
                      </a:xfrm>
                      <a:prstGeom prst="rect">
                        <a:avLst/>
                      </a:prstGeom>
                    </p:spPr>
                  </p:pic>
                </p:oleObj>
              </mc:Fallback>
            </mc:AlternateContent>
          </a:graphicData>
        </a:graphic>
      </p:graphicFrame>
      <p:sp>
        <p:nvSpPr>
          <p:cNvPr id="4" name="矩形 3"/>
          <p:cNvSpPr>
            <a:spLocks noChangeAspect="1"/>
          </p:cNvSpPr>
          <p:nvPr/>
        </p:nvSpPr>
        <p:spPr>
          <a:xfrm>
            <a:off x="381000" y="324390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wipe(down)">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wipe(down)">
                                      <p:cBhvr>
                                        <p:cTn id="18"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距离公式的综合应用</a:t>
                </a:r>
              </a:p>
            </p:txBody>
          </p:sp>
        </p:grpSp>
      </p:grpSp>
      <p:sp>
        <p:nvSpPr>
          <p:cNvPr id="2" name="矩形 1"/>
          <p:cNvSpPr>
            <a:spLocks noChangeAspect="1"/>
          </p:cNvSpPr>
          <p:nvPr/>
        </p:nvSpPr>
        <p:spPr>
          <a:xfrm>
            <a:off x="381000" y="1248134"/>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(2,4),</a:t>
            </a:r>
            <a:r>
              <a:rPr lang="zh-CN" altLang="zh-CN" sz="2800" dirty="0">
                <a:solidFill>
                  <a:srgbClr val="000000"/>
                </a:solidFill>
                <a:latin typeface="Times New Roman" panose="02020603050405020304" pitchFamily="18" charset="0"/>
                <a:cs typeface="Times New Roman" panose="02020603050405020304" pitchFamily="18" charset="0"/>
              </a:rPr>
              <a:t>且被平行直线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所截的线段中点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可先设出点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到两条平行直线的距离相等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求出点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再用两点式写出直线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也可先求出与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平行且等距离的直线方程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再与方程</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联立求出点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最后由两点式写出直线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723" y="455123"/>
            <a:ext cx="11751277" cy="4687251"/>
            <a:chOff x="59723" y="704507"/>
            <a:chExt cx="11751277" cy="4687251"/>
          </a:xfrm>
        </p:grpSpPr>
        <p:sp>
          <p:nvSpPr>
            <p:cNvPr id="2" name="矩形 1"/>
            <p:cNvSpPr>
              <a:spLocks noChangeAspect="1"/>
            </p:cNvSpPr>
            <p:nvPr/>
          </p:nvSpPr>
          <p:spPr>
            <a:xfrm>
              <a:off x="381000" y="70450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可设点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87102448"/>
                </p:ext>
              </p:extLst>
            </p:nvPr>
          </p:nvGraphicFramePr>
          <p:xfrm>
            <a:off x="59723" y="1881588"/>
            <a:ext cx="11430000" cy="3510170"/>
          </p:xfrm>
          <a:graphic>
            <a:graphicData uri="http://schemas.openxmlformats.org/presentationml/2006/ole">
              <mc:AlternateContent xmlns:mc="http://schemas.openxmlformats.org/markup-compatibility/2006">
                <mc:Choice xmlns:v="urn:schemas-microsoft-com:vml" Requires="v">
                  <p:oleObj spid="_x0000_s17420"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59723" y="1881588"/>
                          <a:ext cx="11430000" cy="3510170"/>
                        </a:xfrm>
                        <a:prstGeom prst="rect">
                          <a:avLst/>
                        </a:prstGeom>
                      </p:spPr>
                    </p:pic>
                  </p:oleObj>
                </mc:Fallback>
              </mc:AlternateContent>
            </a:graphicData>
          </a:graphic>
        </p:graphicFrame>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2080" y="327856"/>
            <a:ext cx="11738920" cy="5116521"/>
            <a:chOff x="72080" y="587631"/>
            <a:chExt cx="11738920" cy="5116521"/>
          </a:xfrm>
        </p:grpSpPr>
        <p:sp>
          <p:nvSpPr>
            <p:cNvPr id="2" name="矩形 1"/>
            <p:cNvSpPr>
              <a:spLocks noChangeAspect="1"/>
            </p:cNvSpPr>
            <p:nvPr/>
          </p:nvSpPr>
          <p:spPr>
            <a:xfrm>
              <a:off x="381000" y="587631"/>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平行且距离相等的直线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err="1">
                  <a:solidFill>
                    <a:srgbClr val="000000"/>
                  </a:solidFill>
                  <a:latin typeface="Times New Roman" panose="02020603050405020304" pitchFamily="18" charset="0"/>
                  <a:cs typeface="Times New Roman" panose="02020603050405020304" pitchFamily="18" charset="0"/>
                </a:rPr>
                <a:t>x-y+C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25312031"/>
                </p:ext>
              </p:extLst>
            </p:nvPr>
          </p:nvGraphicFramePr>
          <p:xfrm>
            <a:off x="72080" y="1190689"/>
            <a:ext cx="11430000" cy="4513463"/>
          </p:xfrm>
          <a:graphic>
            <a:graphicData uri="http://schemas.openxmlformats.org/presentationml/2006/ole">
              <mc:AlternateContent xmlns:mc="http://schemas.openxmlformats.org/markup-compatibility/2006">
                <mc:Choice xmlns:v="urn:schemas-microsoft-com:vml" Requires="v">
                  <p:oleObj spid="_x0000_s18445"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72080" y="1190689"/>
                          <a:ext cx="11430000" cy="4513463"/>
                        </a:xfrm>
                        <a:prstGeom prst="rect">
                          <a:avLst/>
                        </a:prstGeom>
                      </p:spPr>
                    </p:pic>
                  </p:oleObj>
                </mc:Fallback>
              </mc:AlternateContent>
            </a:graphicData>
          </a:graphic>
        </p:graphicFrame>
      </p:gr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22551"/>
            <a:ext cx="11430000" cy="289310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距离公式解答有关问题时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要注意以下几</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点</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直线的方程是一般式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在应用两条平行直线间的距离公式时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两个直线方程中</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的系数对应</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相等</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要结合图形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帮助</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解答</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求直线方程时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要特别注意斜率不存在的情况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求经过点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且与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latin typeface="Times New Roman" panose="02020603050405020304" pitchFamily="18" charset="0"/>
                <a:cs typeface="Times New Roman" panose="02020603050405020304" pitchFamily="18" charset="0"/>
              </a:rPr>
              <a:t>两点距离相等的直线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的斜率不存在时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两点距离不相等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不符合题意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7" name="组合 6"/>
          <p:cNvGrpSpPr/>
          <p:nvPr/>
        </p:nvGrpSpPr>
        <p:grpSpPr>
          <a:xfrm>
            <a:off x="61785" y="3424155"/>
            <a:ext cx="11430000" cy="1581641"/>
            <a:chOff x="61785" y="3967459"/>
            <a:chExt cx="11430000" cy="1581641"/>
          </a:xfrm>
        </p:grpSpPr>
        <p:graphicFrame>
          <p:nvGraphicFramePr>
            <p:cNvPr id="8" name="对象 7"/>
            <p:cNvGraphicFramePr>
              <a:graphicFrameLocks noChangeAspect="1"/>
            </p:cNvGraphicFramePr>
            <p:nvPr>
              <p:extLst>
                <p:ext uri="{D42A27DB-BD31-4B8C-83A1-F6EECF244321}">
                  <p14:modId xmlns:p14="http://schemas.microsoft.com/office/powerpoint/2010/main" val="3344091216"/>
                </p:ext>
              </p:extLst>
            </p:nvPr>
          </p:nvGraphicFramePr>
          <p:xfrm>
            <a:off x="61785" y="3967459"/>
            <a:ext cx="11430000" cy="1003297"/>
          </p:xfrm>
          <a:graphic>
            <a:graphicData uri="http://schemas.openxmlformats.org/presentationml/2006/ole">
              <mc:AlternateContent xmlns:mc="http://schemas.openxmlformats.org/markup-compatibility/2006">
                <mc:Choice xmlns:v="urn:schemas-microsoft-com:vml" Requires="v">
                  <p:oleObj spid="_x0000_s1946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1785" y="3967459"/>
                          <a:ext cx="11430000" cy="1003297"/>
                        </a:xfrm>
                        <a:prstGeom prst="rect">
                          <a:avLst/>
                        </a:prstGeom>
                      </p:spPr>
                    </p:pic>
                  </p:oleObj>
                </mc:Fallback>
              </mc:AlternateContent>
            </a:graphicData>
          </a:graphic>
        </p:graphicFrame>
        <p:sp>
          <p:nvSpPr>
            <p:cNvPr id="9" name="矩形 8"/>
            <p:cNvSpPr>
              <a:spLocks noChangeAspect="1"/>
            </p:cNvSpPr>
            <p:nvPr/>
          </p:nvSpPr>
          <p:spPr>
            <a:xfrm>
              <a:off x="381000" y="4896614"/>
              <a:ext cx="535915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xEl>
                                              <p:charRg st="51" end="142"/>
                                            </p:txEl>
                                          </p:spTgt>
                                        </p:tgtEl>
                                        <p:attrNameLst>
                                          <p:attrName>style.visibility</p:attrName>
                                        </p:attrNameLst>
                                      </p:cBhvr>
                                      <p:to>
                                        <p:strVal val="visible"/>
                                      </p:to>
                                    </p:set>
                                    <p:anim calcmode="lin" valueType="num">
                                      <p:cBhvr>
                                        <p:cTn id="7" dur="1000" fill="hold"/>
                                        <p:tgtEl>
                                          <p:spTgt spid="2">
                                            <p:txEl>
                                              <p:charRg st="51" end="142"/>
                                            </p:txEl>
                                          </p:spTgt>
                                        </p:tgtEl>
                                        <p:attrNameLst>
                                          <p:attrName>ppt_w</p:attrName>
                                        </p:attrNameLst>
                                      </p:cBhvr>
                                      <p:tavLst>
                                        <p:tav tm="0">
                                          <p:val>
                                            <p:fltVal val="0"/>
                                          </p:val>
                                        </p:tav>
                                        <p:tav tm="100000">
                                          <p:val>
                                            <p:strVal val="#ppt_w"/>
                                          </p:val>
                                        </p:tav>
                                      </p:tavLst>
                                    </p:anim>
                                    <p:anim calcmode="lin" valueType="num">
                                      <p:cBhvr>
                                        <p:cTn id="8" dur="1000" fill="hold"/>
                                        <p:tgtEl>
                                          <p:spTgt spid="2">
                                            <p:txEl>
                                              <p:charRg st="51" end="142"/>
                                            </p:txEl>
                                          </p:spTgt>
                                        </p:tgtEl>
                                        <p:attrNameLst>
                                          <p:attrName>ppt_h</p:attrName>
                                        </p:attrNameLst>
                                      </p:cBhvr>
                                      <p:tavLst>
                                        <p:tav tm="0">
                                          <p:val>
                                            <p:fltVal val="0"/>
                                          </p:val>
                                        </p:tav>
                                        <p:tav tm="100000">
                                          <p:val>
                                            <p:strVal val="#ppt_h"/>
                                          </p:val>
                                        </p:tav>
                                      </p:tavLst>
                                    </p:anim>
                                    <p:anim calcmode="lin" valueType="num">
                                      <p:cBhvr>
                                        <p:cTn id="9" dur="1000" fill="hold"/>
                                        <p:tgtEl>
                                          <p:spTgt spid="2">
                                            <p:txEl>
                                              <p:charRg st="51" end="142"/>
                                            </p:txEl>
                                          </p:spTgt>
                                        </p:tgtEl>
                                        <p:attrNameLst>
                                          <p:attrName>style.rotation</p:attrName>
                                        </p:attrNameLst>
                                      </p:cBhvr>
                                      <p:tavLst>
                                        <p:tav tm="0">
                                          <p:val>
                                            <p:fltVal val="90"/>
                                          </p:val>
                                        </p:tav>
                                        <p:tav tm="100000">
                                          <p:val>
                                            <p:fltVal val="0"/>
                                          </p:val>
                                        </p:tav>
                                      </p:tavLst>
                                    </p:anim>
                                    <p:animEffect transition="in" filter="fade">
                                      <p:cBhvr>
                                        <p:cTn id="10" dur="1000"/>
                                        <p:tgtEl>
                                          <p:spTgt spid="2">
                                            <p:txEl>
                                              <p:charRg st="51" end="14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9723" y="838917"/>
            <a:ext cx="11751277" cy="3666531"/>
            <a:chOff x="59723" y="1431199"/>
            <a:chExt cx="11751277" cy="3666531"/>
          </a:xfrm>
        </p:grpSpPr>
        <p:sp>
          <p:nvSpPr>
            <p:cNvPr id="2" name="矩形 1"/>
            <p:cNvSpPr>
              <a:spLocks noChangeAspect="1"/>
            </p:cNvSpPr>
            <p:nvPr/>
          </p:nvSpPr>
          <p:spPr>
            <a:xfrm>
              <a:off x="381000" y="1431199"/>
              <a:ext cx="9145452" cy="592213"/>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由平面几何知识知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经过线段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19062312"/>
                </p:ext>
              </p:extLst>
            </p:nvPr>
          </p:nvGraphicFramePr>
          <p:xfrm>
            <a:off x="59723" y="2046614"/>
            <a:ext cx="11430000" cy="2005680"/>
          </p:xfrm>
          <a:graphic>
            <a:graphicData uri="http://schemas.openxmlformats.org/presentationml/2006/ole">
              <mc:AlternateContent xmlns:mc="http://schemas.openxmlformats.org/markup-compatibility/2006">
                <mc:Choice xmlns:v="urn:schemas-microsoft-com:vml" Requires="v">
                  <p:oleObj spid="_x0000_s20492"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59723" y="2046614"/>
                          <a:ext cx="11430000" cy="2005680"/>
                        </a:xfrm>
                        <a:prstGeom prst="rect">
                          <a:avLst/>
                        </a:prstGeom>
                      </p:spPr>
                    </p:pic>
                  </p:oleObj>
                </mc:Fallback>
              </mc:AlternateContent>
            </a:graphicData>
          </a:graphic>
        </p:graphicFrame>
        <p:sp>
          <p:nvSpPr>
            <p:cNvPr id="4" name="矩形 3"/>
            <p:cNvSpPr>
              <a:spLocks noChangeAspect="1"/>
            </p:cNvSpPr>
            <p:nvPr/>
          </p:nvSpPr>
          <p:spPr>
            <a:xfrm>
              <a:off x="381000" y="394536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经过线段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思想方法</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1048369"/>
            <a:ext cx="11430000" cy="3953133"/>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巧用数形结合思想求两条平行直线间距离的最值问题</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两条互相平行的直线分别经过点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(6,2)</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如果两条平行直线间的距离为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的变化范围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取最大值时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求两条直线的方程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审题</a:t>
            </a: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视角</a:t>
            </a:r>
            <a:r>
              <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解答</a:t>
            </a:r>
            <a:r>
              <a:rPr lang="zh-CN" altLang="zh-CN" sz="2800" dirty="0">
                <a:solidFill>
                  <a:srgbClr val="000000"/>
                </a:solidFill>
                <a:latin typeface="Times New Roman" panose="02020603050405020304" pitchFamily="18" charset="0"/>
                <a:cs typeface="Times New Roman" panose="02020603050405020304" pitchFamily="18" charset="0"/>
              </a:rPr>
              <a:t>本题可以利用运动变化的观点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让两条直线分别绕定点转动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观察它们之间距离的变化情况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从而得到</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的变化范围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wipe(down)">
                                      <p:cBhvr>
                                        <p:cTn id="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81000" y="325156"/>
            <a:ext cx="11442357" cy="5857660"/>
            <a:chOff x="381000" y="325156"/>
            <a:chExt cx="11442357" cy="5857660"/>
          </a:xfrm>
        </p:grpSpPr>
        <p:graphicFrame>
          <p:nvGraphicFramePr>
            <p:cNvPr id="5" name="对象 4"/>
            <p:cNvGraphicFramePr>
              <a:graphicFrameLocks noChangeAspect="1"/>
            </p:cNvGraphicFramePr>
            <p:nvPr>
              <p:extLst>
                <p:ext uri="{D42A27DB-BD31-4B8C-83A1-F6EECF244321}">
                  <p14:modId xmlns:p14="http://schemas.microsoft.com/office/powerpoint/2010/main" val="4250509904"/>
                </p:ext>
              </p:extLst>
            </p:nvPr>
          </p:nvGraphicFramePr>
          <p:xfrm>
            <a:off x="393357" y="325156"/>
            <a:ext cx="11430000" cy="4212750"/>
          </p:xfrm>
          <a:graphic>
            <a:graphicData uri="http://schemas.openxmlformats.org/presentationml/2006/ole">
              <mc:AlternateContent xmlns:mc="http://schemas.openxmlformats.org/markup-compatibility/2006">
                <mc:Choice xmlns:v="urn:schemas-microsoft-com:vml" Requires="v">
                  <p:oleObj spid="_x0000_s21515" name="文档" r:id="rId3" imgW="4520786" imgH="1666224" progId="Word.Document.12">
                    <p:embed/>
                  </p:oleObj>
                </mc:Choice>
                <mc:Fallback>
                  <p:oleObj name="文档" r:id="rId3" imgW="4520786" imgH="1666224" progId="Word.Document.12">
                    <p:embed/>
                    <p:pic>
                      <p:nvPicPr>
                        <p:cNvPr id="0" name=""/>
                        <p:cNvPicPr/>
                        <p:nvPr/>
                      </p:nvPicPr>
                      <p:blipFill>
                        <a:blip r:embed="rId4"/>
                        <a:stretch>
                          <a:fillRect/>
                        </a:stretch>
                      </p:blipFill>
                      <p:spPr>
                        <a:xfrm>
                          <a:off x="393357" y="325156"/>
                          <a:ext cx="11430000" cy="4212750"/>
                        </a:xfrm>
                        <a:prstGeom prst="rect">
                          <a:avLst/>
                        </a:prstGeom>
                      </p:spPr>
                    </p:pic>
                  </p:oleObj>
                </mc:Fallback>
              </mc:AlternateContent>
            </a:graphicData>
          </a:graphic>
        </p:graphicFrame>
        <p:sp>
          <p:nvSpPr>
            <p:cNvPr id="6" name="矩形 5"/>
            <p:cNvSpPr>
              <a:spLocks noChangeAspect="1"/>
            </p:cNvSpPr>
            <p:nvPr/>
          </p:nvSpPr>
          <p:spPr>
            <a:xfrm>
              <a:off x="381000" y="4470296"/>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故所求的两条直线的方程分别</a:t>
              </a:r>
              <a:r>
                <a:rPr lang="zh-CN" altLang="zh-CN" sz="2800" dirty="0" smtClean="0">
                  <a:solidFill>
                    <a:srgbClr val="000000"/>
                  </a:solidFill>
                  <a:latin typeface="Times New Roman" panose="02020603050405020304" pitchFamily="18" charset="0"/>
                  <a:cs typeface="Times New Roman" panose="02020603050405020304" pitchFamily="18" charset="0"/>
                </a:rPr>
                <a:t>为</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7" name="WMX1TRAX60.eps" descr="id:2147492531;FounderCES"/>
            <p:cNvPicPr/>
            <p:nvPr/>
          </p:nvPicPr>
          <p:blipFill>
            <a:blip r:embed="rId5">
              <a:clrChange>
                <a:clrFrom>
                  <a:srgbClr val="FFFFFF"/>
                </a:clrFrom>
                <a:clrTo>
                  <a:srgbClr val="FFFFFF">
                    <a:alpha val="0"/>
                  </a:srgbClr>
                </a:clrTo>
              </a:clrChange>
            </a:blip>
            <a:stretch>
              <a:fillRect/>
            </a:stretch>
          </p:blipFill>
          <p:spPr>
            <a:xfrm>
              <a:off x="8940800" y="3250693"/>
              <a:ext cx="2870200" cy="2439206"/>
            </a:xfrm>
            <a:prstGeom prst="rect">
              <a:avLst/>
            </a:prstGeom>
          </p:spPr>
        </p:pic>
      </p:gr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85895"/>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方法点睛</a:t>
            </a:r>
            <a:r>
              <a:rPr lang="en-US"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形结合和运动变化是数学中常用的思想方法</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当图形中的元素运动变化时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我们能直观观察到一些量的变化情况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进而可求出这些量的变化范围</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类似地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经过定点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也是当</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时最大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最大值为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时最小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最小值为零</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3696"/>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的最小值是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r>
              <a:rPr lang="en-US" altLang="zh-CN" sz="2800" i="1" dirty="0" smtClean="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13837114"/>
              </p:ext>
            </p:extLst>
          </p:nvPr>
        </p:nvGraphicFramePr>
        <p:xfrm>
          <a:off x="72079" y="1121468"/>
          <a:ext cx="11430000" cy="4012272"/>
        </p:xfrm>
        <a:graphic>
          <a:graphicData uri="http://schemas.openxmlformats.org/presentationml/2006/ole">
            <mc:AlternateContent xmlns:mc="http://schemas.openxmlformats.org/markup-compatibility/2006">
              <mc:Choice xmlns:v="urn:schemas-microsoft-com:vml" Requires="v">
                <p:oleObj spid="_x0000_s22548"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72079" y="1121468"/>
                        <a:ext cx="11430000" cy="401227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73371157"/>
              </p:ext>
            </p:extLst>
          </p:nvPr>
        </p:nvGraphicFramePr>
        <p:xfrm>
          <a:off x="72079" y="5019076"/>
          <a:ext cx="11430000" cy="1003297"/>
        </p:xfrm>
        <a:graphic>
          <a:graphicData uri="http://schemas.openxmlformats.org/presentationml/2006/ole">
            <mc:AlternateContent xmlns:mc="http://schemas.openxmlformats.org/markup-compatibility/2006">
              <mc:Choice xmlns:v="urn:schemas-microsoft-com:vml" Requires="v">
                <p:oleObj spid="_x0000_s22549"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72079" y="5019076"/>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53374"/>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dirty="0">
                <a:solidFill>
                  <a:srgbClr val="000000"/>
                </a:solidFill>
                <a:latin typeface="Times New Roman" panose="02020603050405020304" pitchFamily="18" charset="0"/>
                <a:cs typeface="Times New Roman" panose="02020603050405020304" pitchFamily="18" charset="0"/>
              </a:rPr>
              <a:t>(4,3)</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	</a:t>
            </a:r>
            <a:r>
              <a:rPr lang="en-US" altLang="zh-CN" sz="2800" dirty="0" smtClean="0">
                <a:solidFill>
                  <a:srgbClr val="000000"/>
                </a:solidFill>
                <a:latin typeface="Times New Roman" panose="02020603050405020304" pitchFamily="18" charset="0"/>
                <a:cs typeface="Times New Roman" panose="02020603050405020304" pitchFamily="18" charset="0"/>
              </a:rPr>
              <a:t>	B.3</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C.11</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D.4</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68169653"/>
              </p:ext>
            </p:extLst>
          </p:nvPr>
        </p:nvGraphicFramePr>
        <p:xfrm>
          <a:off x="492209" y="2675475"/>
          <a:ext cx="11430000" cy="2005680"/>
        </p:xfrm>
        <a:graphic>
          <a:graphicData uri="http://schemas.openxmlformats.org/presentationml/2006/ole">
            <mc:AlternateContent xmlns:mc="http://schemas.openxmlformats.org/markup-compatibility/2006">
              <mc:Choice xmlns:v="urn:schemas-microsoft-com:vml" Requires="v">
                <p:oleObj spid="_x0000_s23572"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92209" y="2675475"/>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537829390"/>
              </p:ext>
            </p:extLst>
          </p:nvPr>
        </p:nvGraphicFramePr>
        <p:xfrm>
          <a:off x="492209" y="4553583"/>
          <a:ext cx="11430000" cy="1003297"/>
        </p:xfrm>
        <a:graphic>
          <a:graphicData uri="http://schemas.openxmlformats.org/presentationml/2006/ole">
            <mc:AlternateContent xmlns:mc="http://schemas.openxmlformats.org/markup-compatibility/2006">
              <mc:Choice xmlns:v="urn:schemas-microsoft-com:vml" Requires="v">
                <p:oleObj spid="_x0000_s23573"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92209" y="4553583"/>
                        <a:ext cx="11430000" cy="1003297"/>
                      </a:xfrm>
                      <a:prstGeom prst="rect">
                        <a:avLst/>
                      </a:prstGeom>
                    </p:spPr>
                  </p:pic>
                </p:oleObj>
              </mc:Fallback>
            </mc:AlternateContent>
          </a:graphicData>
        </a:graphic>
      </p:graphicFrame>
      <p:sp>
        <p:nvSpPr>
          <p:cNvPr id="5" name="矩形 4"/>
          <p:cNvSpPr>
            <a:spLocks noChangeAspect="1"/>
          </p:cNvSpPr>
          <p:nvPr/>
        </p:nvSpPr>
        <p:spPr>
          <a:xfrm>
            <a:off x="381000" y="5544523"/>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48273"/>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已知两条直线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x+my+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则它们之间的距离为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28356947"/>
              </p:ext>
            </p:extLst>
          </p:nvPr>
        </p:nvGraphicFramePr>
        <p:xfrm>
          <a:off x="492210" y="1070345"/>
          <a:ext cx="11430000" cy="2005680"/>
        </p:xfrm>
        <a:graphic>
          <a:graphicData uri="http://schemas.openxmlformats.org/presentationml/2006/ole">
            <mc:AlternateContent xmlns:mc="http://schemas.openxmlformats.org/markup-compatibility/2006">
              <mc:Choice xmlns:v="urn:schemas-microsoft-com:vml" Requires="v">
                <p:oleObj spid="_x0000_s24596"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92210" y="1070345"/>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843175967"/>
              </p:ext>
            </p:extLst>
          </p:nvPr>
        </p:nvGraphicFramePr>
        <p:xfrm>
          <a:off x="492210" y="2969370"/>
          <a:ext cx="11430000" cy="2507784"/>
        </p:xfrm>
        <a:graphic>
          <a:graphicData uri="http://schemas.openxmlformats.org/presentationml/2006/ole">
            <mc:AlternateContent xmlns:mc="http://schemas.openxmlformats.org/markup-compatibility/2006">
              <mc:Choice xmlns:v="urn:schemas-microsoft-com:vml" Requires="v">
                <p:oleObj spid="_x0000_s24597" name="文档" r:id="rId5" imgW="4520786" imgH="991877" progId="Word.Document.12">
                  <p:embed/>
                </p:oleObj>
              </mc:Choice>
              <mc:Fallback>
                <p:oleObj name="文档" r:id="rId5" imgW="4520786" imgH="991877" progId="Word.Document.12">
                  <p:embed/>
                  <p:pic>
                    <p:nvPicPr>
                      <p:cNvPr id="0" name=""/>
                      <p:cNvPicPr/>
                      <p:nvPr/>
                    </p:nvPicPr>
                    <p:blipFill>
                      <a:blip r:embed="rId6"/>
                      <a:stretch>
                        <a:fillRect/>
                      </a:stretch>
                    </p:blipFill>
                    <p:spPr>
                      <a:xfrm>
                        <a:off x="492210" y="2969370"/>
                        <a:ext cx="11430000" cy="2507784"/>
                      </a:xfrm>
                      <a:prstGeom prst="rect">
                        <a:avLst/>
                      </a:prstGeom>
                    </p:spPr>
                  </p:pic>
                </p:oleObj>
              </mc:Fallback>
            </mc:AlternateContent>
          </a:graphicData>
        </a:graphic>
      </p:graphicFrame>
      <p:sp>
        <p:nvSpPr>
          <p:cNvPr id="5" name="矩形 4"/>
          <p:cNvSpPr>
            <a:spLocks noChangeAspect="1"/>
          </p:cNvSpPr>
          <p:nvPr/>
        </p:nvSpPr>
        <p:spPr>
          <a:xfrm>
            <a:off x="381000" y="5403012"/>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7084"/>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且两条直线间的距离</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52307840"/>
              </p:ext>
            </p:extLst>
          </p:nvPr>
        </p:nvGraphicFramePr>
        <p:xfrm>
          <a:off x="9104870" y="1344718"/>
          <a:ext cx="673100" cy="533400"/>
        </p:xfrm>
        <a:graphic>
          <a:graphicData uri="http://schemas.openxmlformats.org/presentationml/2006/ole">
            <mc:AlternateContent xmlns:mc="http://schemas.openxmlformats.org/markup-compatibility/2006">
              <mc:Choice xmlns:v="urn:schemas-microsoft-com:vml" Requires="v">
                <p:oleObj spid="_x0000_s25620" name="文档" r:id="rId3" imgW="271708" imgH="211567" progId="Word.Document.12">
                  <p:embed/>
                </p:oleObj>
              </mc:Choice>
              <mc:Fallback>
                <p:oleObj name="文档" r:id="rId3" imgW="271708" imgH="211567" progId="Word.Document.12">
                  <p:embed/>
                  <p:pic>
                    <p:nvPicPr>
                      <p:cNvPr id="0" name=""/>
                      <p:cNvPicPr/>
                      <p:nvPr/>
                    </p:nvPicPr>
                    <p:blipFill>
                      <a:blip r:embed="rId4"/>
                      <a:stretch>
                        <a:fillRect/>
                      </a:stretch>
                    </p:blipFill>
                    <p:spPr>
                      <a:xfrm>
                        <a:off x="9104870" y="1344718"/>
                        <a:ext cx="673100" cy="5334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67064578"/>
              </p:ext>
            </p:extLst>
          </p:nvPr>
        </p:nvGraphicFramePr>
        <p:xfrm>
          <a:off x="492211" y="2384360"/>
          <a:ext cx="11430000" cy="1003297"/>
        </p:xfrm>
        <a:graphic>
          <a:graphicData uri="http://schemas.openxmlformats.org/presentationml/2006/ole">
            <mc:AlternateContent xmlns:mc="http://schemas.openxmlformats.org/markup-compatibility/2006">
              <mc:Choice xmlns:v="urn:schemas-microsoft-com:vml" Requires="v">
                <p:oleObj spid="_x0000_s2562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92211" y="2384360"/>
                        <a:ext cx="11430000" cy="1003297"/>
                      </a:xfrm>
                      <a:prstGeom prst="rect">
                        <a:avLst/>
                      </a:prstGeom>
                    </p:spPr>
                  </p:pic>
                </p:oleObj>
              </mc:Fallback>
            </mc:AlternateContent>
          </a:graphicData>
        </a:graphic>
      </p:graphicFrame>
      <p:sp>
        <p:nvSpPr>
          <p:cNvPr id="5" name="矩形 4"/>
          <p:cNvSpPr>
            <a:spLocks noChangeAspect="1"/>
          </p:cNvSpPr>
          <p:nvPr/>
        </p:nvSpPr>
        <p:spPr>
          <a:xfrm>
            <a:off x="381000" y="331078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down)">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down)">
                                      <p:cBhvr>
                                        <p:cTn id="15"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323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三个顶点坐标分别为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的面积</a:t>
            </a:r>
            <a:r>
              <a:rPr lang="en-US" altLang="zh-CN" sz="2800" i="1" dirty="0">
                <a:solidFill>
                  <a:srgbClr val="000000"/>
                </a:solidFill>
                <a:latin typeface="Times New Roman" panose="02020603050405020304" pitchFamily="18" charset="0"/>
                <a:cs typeface="Times New Roman" panose="02020603050405020304" pitchFamily="18" charset="0"/>
              </a:rPr>
              <a:t>S.</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由两点间的距离公式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61735560"/>
              </p:ext>
            </p:extLst>
          </p:nvPr>
        </p:nvGraphicFramePr>
        <p:xfrm>
          <a:off x="492210" y="1560311"/>
          <a:ext cx="11430000" cy="4513463"/>
        </p:xfrm>
        <a:graphic>
          <a:graphicData uri="http://schemas.openxmlformats.org/presentationml/2006/ole">
            <mc:AlternateContent xmlns:mc="http://schemas.openxmlformats.org/markup-compatibility/2006">
              <mc:Choice xmlns:v="urn:schemas-microsoft-com:vml" Requires="v">
                <p:oleObj spid="_x0000_s26635"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492210" y="1560311"/>
                        <a:ext cx="11430000" cy="4513463"/>
                      </a:xfrm>
                      <a:prstGeom prst="rect">
                        <a:avLst/>
                      </a:prstGeom>
                    </p:spPr>
                  </p:pic>
                </p:oleObj>
              </mc:Fallback>
            </mc:AlternateContent>
          </a:graphicData>
        </a:graphic>
      </p:graphicFrame>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261</TotalTime>
  <Words>1799</Words>
  <Application>Microsoft Office PowerPoint</Application>
  <PresentationFormat>宽屏</PresentationFormat>
  <Paragraphs>129</Paragraphs>
  <Slides>37</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7"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30</cp:revision>
  <dcterms:created xsi:type="dcterms:W3CDTF">2021-08-30T08:30:26Z</dcterms:created>
  <dcterms:modified xsi:type="dcterms:W3CDTF">2025-08-09T08:58:25Z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