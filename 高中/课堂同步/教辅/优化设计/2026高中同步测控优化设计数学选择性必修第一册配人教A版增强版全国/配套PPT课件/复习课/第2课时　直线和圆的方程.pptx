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677" r:id="rId2"/>
    <p:sldId id="488" r:id="rId3"/>
    <p:sldId id="392" r:id="rId4"/>
    <p:sldId id="686" r:id="rId5"/>
    <p:sldId id="687" r:id="rId6"/>
    <p:sldId id="688" r:id="rId7"/>
    <p:sldId id="689" r:id="rId8"/>
    <p:sldId id="690" r:id="rId9"/>
    <p:sldId id="691" r:id="rId10"/>
    <p:sldId id="692" r:id="rId11"/>
    <p:sldId id="693" r:id="rId12"/>
    <p:sldId id="694" r:id="rId13"/>
    <p:sldId id="695" r:id="rId14"/>
    <p:sldId id="777" r:id="rId15"/>
    <p:sldId id="778" r:id="rId16"/>
    <p:sldId id="407" r:id="rId17"/>
    <p:sldId id="394" r:id="rId18"/>
    <p:sldId id="699" r:id="rId19"/>
    <p:sldId id="700" r:id="rId20"/>
    <p:sldId id="701" r:id="rId21"/>
    <p:sldId id="702" r:id="rId22"/>
    <p:sldId id="402" r:id="rId23"/>
    <p:sldId id="783" r:id="rId24"/>
    <p:sldId id="712" r:id="rId25"/>
    <p:sldId id="498" r:id="rId26"/>
    <p:sldId id="730" r:id="rId27"/>
    <p:sldId id="733" r:id="rId28"/>
    <p:sldId id="743" r:id="rId29"/>
    <p:sldId id="740" r:id="rId30"/>
    <p:sldId id="739" r:id="rId31"/>
    <p:sldId id="745" r:id="rId32"/>
    <p:sldId id="746" r:id="rId33"/>
    <p:sldId id="747" r:id="rId34"/>
    <p:sldId id="770" r:id="rId35"/>
    <p:sldId id="755" r:id="rId36"/>
    <p:sldId id="771" r:id="rId37"/>
    <p:sldId id="772" r:id="rId38"/>
    <p:sldId id="773" r:id="rId39"/>
    <p:sldId id="774" r:id="rId40"/>
    <p:sldId id="398" r:id="rId41"/>
    <p:sldId id="395" r:id="rId42"/>
    <p:sldId id="757" r:id="rId43"/>
    <p:sldId id="784" r:id="rId44"/>
    <p:sldId id="759" r:id="rId45"/>
    <p:sldId id="785" r:id="rId46"/>
    <p:sldId id="786" r:id="rId47"/>
    <p:sldId id="779" r:id="rId48"/>
    <p:sldId id="787" r:id="rId49"/>
    <p:sldId id="794" r:id="rId50"/>
    <p:sldId id="795" r:id="rId51"/>
    <p:sldId id="796" r:id="rId52"/>
    <p:sldId id="788" r:id="rId53"/>
    <p:sldId id="789" r:id="rId54"/>
    <p:sldId id="761" r:id="rId55"/>
    <p:sldId id="790" r:id="rId56"/>
    <p:sldId id="791" r:id="rId57"/>
    <p:sldId id="792" r:id="rId58"/>
    <p:sldId id="793" r:id="rId59"/>
    <p:sldId id="490" r:id="rId6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guide id="7" orient="horz" pos="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68"/>
        <p:guide pos="211"/>
        <p:guide orient="horz" pos="436"/>
        <p:guide orient="horz" pos="777"/>
        <p:guide orient="horz" pos="28"/>
        <p:guide pos="257"/>
        <p:guide orient="horz" pos="73"/>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6.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image" Target="../media/image41.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image" Target="../media/image24.e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image" Target="../media/image51.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60.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61.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64.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65.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6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4.xml"/><Relationship Id="rId5" Type="http://schemas.openxmlformats.org/officeDocument/2006/relationships/slide" Target="../slides/slide29.xml"/><Relationship Id="rId4" Type="http://schemas.openxmlformats.org/officeDocument/2006/relationships/slide" Target="../slides/slide25.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42.xml"/><Relationship Id="rId2" Type="http://schemas.openxmlformats.org/officeDocument/2006/relationships/slide" Target="../slides/slide41.xml"/><Relationship Id="rId1" Type="http://schemas.openxmlformats.org/officeDocument/2006/relationships/slideMaster" Target="../slideMasters/slideMaster1.xml"/><Relationship Id="rId5" Type="http://schemas.openxmlformats.org/officeDocument/2006/relationships/slide" Target="../slides/slide54.xml"/><Relationship Id="rId4" Type="http://schemas.openxmlformats.org/officeDocument/2006/relationships/slide" Target="../slides/slide4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10" name="圆角矩形 9">
            <a:hlinkClick r:id="rId2" action="ppaction://hlinksldjump"/>
          </p:cNvPr>
          <p:cNvSpPr/>
          <p:nvPr userDrawn="1"/>
        </p:nvSpPr>
        <p:spPr>
          <a:xfrm>
            <a:off x="6839403"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专题一</a:t>
            </a:r>
            <a:endParaRPr lang="zh-CN" altLang="en-US" sz="1400" dirty="0">
              <a:ln>
                <a:solidFill>
                  <a:schemeClr val="bg1"/>
                </a:solidFill>
              </a:ln>
              <a:solidFill>
                <a:schemeClr val="bg1"/>
              </a:solidFill>
            </a:endParaRPr>
          </a:p>
        </p:txBody>
      </p:sp>
      <p:sp>
        <p:nvSpPr>
          <p:cNvPr id="11" name="圆角矩形 10">
            <a:hlinkClick r:id="rId3" action="ppaction://hlinksldjump"/>
          </p:cNvPr>
          <p:cNvSpPr/>
          <p:nvPr userDrawn="1"/>
        </p:nvSpPr>
        <p:spPr>
          <a:xfrm>
            <a:off x="790574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专题二</a:t>
            </a:r>
            <a:endParaRPr lang="zh-CN" altLang="en-US" sz="1400" dirty="0">
              <a:ln>
                <a:solidFill>
                  <a:schemeClr val="bg1"/>
                </a:solidFill>
              </a:ln>
              <a:solidFill>
                <a:schemeClr val="bg1"/>
              </a:solidFill>
            </a:endParaRPr>
          </a:p>
        </p:txBody>
      </p:sp>
      <p:sp>
        <p:nvSpPr>
          <p:cNvPr id="12" name="圆角矩形 11">
            <a:hlinkClick r:id="rId4" action="ppaction://hlinksldjump"/>
          </p:cNvPr>
          <p:cNvSpPr/>
          <p:nvPr userDrawn="1"/>
        </p:nvSpPr>
        <p:spPr>
          <a:xfrm>
            <a:off x="897209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专题三</a:t>
            </a:r>
            <a:endParaRPr lang="zh-CN" altLang="en-US" sz="1400" dirty="0">
              <a:ln>
                <a:solidFill>
                  <a:schemeClr val="bg1"/>
                </a:solidFill>
              </a:ln>
              <a:solidFill>
                <a:schemeClr val="bg1"/>
              </a:solidFill>
            </a:endParaRPr>
          </a:p>
        </p:txBody>
      </p:sp>
      <p:sp>
        <p:nvSpPr>
          <p:cNvPr id="13" name="圆角矩形 12">
            <a:hlinkClick r:id="rId5" action="ppaction://hlinksldjump"/>
          </p:cNvPr>
          <p:cNvSpPr/>
          <p:nvPr userDrawn="1"/>
        </p:nvSpPr>
        <p:spPr>
          <a:xfrm>
            <a:off x="1003843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专题四</a:t>
            </a:r>
            <a:endParaRPr lang="zh-CN" altLang="en-US" sz="1400" dirty="0">
              <a:ln>
                <a:solidFill>
                  <a:schemeClr val="bg1"/>
                </a:solidFill>
              </a:ln>
              <a:solidFill>
                <a:schemeClr val="bg1"/>
              </a:solidFill>
            </a:endParaRPr>
          </a:p>
        </p:txBody>
      </p:sp>
      <p:sp>
        <p:nvSpPr>
          <p:cNvPr id="14" name="圆角矩形 13">
            <a:hlinkClick r:id="rId6" action="ppaction://hlinksldjump"/>
          </p:cNvPr>
          <p:cNvSpPr/>
          <p:nvPr userDrawn="1"/>
        </p:nvSpPr>
        <p:spPr>
          <a:xfrm>
            <a:off x="1110477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专题五</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90574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考点一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97209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考点二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003843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考点三</a:t>
            </a:r>
            <a:endParaRPr lang="zh-CN" altLang="en-US" sz="1400" dirty="0">
              <a:ln>
                <a:solidFill>
                  <a:schemeClr val="bg1"/>
                </a:solidFill>
              </a:ln>
              <a:solidFill>
                <a:schemeClr val="bg1"/>
              </a:solidFill>
            </a:endParaRPr>
          </a:p>
        </p:txBody>
      </p:sp>
      <p:sp>
        <p:nvSpPr>
          <p:cNvPr id="10" name="圆角矩形 9">
            <a:hlinkClick r:id="rId5" action="ppaction://hlinksldjump"/>
          </p:cNvPr>
          <p:cNvSpPr/>
          <p:nvPr userDrawn="1"/>
        </p:nvSpPr>
        <p:spPr>
          <a:xfrm>
            <a:off x="1110477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考点四</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3.xml"/><Relationship Id="rId1" Type="http://schemas.openxmlformats.org/officeDocument/2006/relationships/slideLayout" Target="../slideLayouts/slideLayout1.xml"/><Relationship Id="rId4" Type="http://schemas.openxmlformats.org/officeDocument/2006/relationships/slide" Target="slide4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package" Target="../embeddings/Microsoft_Word___1.docx"/></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Word___3.docx"/><Relationship Id="rId2" Type="http://schemas.openxmlformats.org/officeDocument/2006/relationships/slideLayout" Target="../slideLayouts/slideLayout1.xml"/><Relationship Id="rId1" Type="http://schemas.openxmlformats.org/officeDocument/2006/relationships/vmlDrawing" Target="../drawings/vmlDrawing3.v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Word___4.docx"/><Relationship Id="rId2" Type="http://schemas.openxmlformats.org/officeDocument/2006/relationships/slideLayout" Target="../slideLayouts/slideLayout1.xml"/><Relationship Id="rId1" Type="http://schemas.openxmlformats.org/officeDocument/2006/relationships/vmlDrawing" Target="../drawings/vmlDrawing4.vml"/><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__5.docx"/><Relationship Id="rId2" Type="http://schemas.openxmlformats.org/officeDocument/2006/relationships/slideLayout" Target="../slideLayouts/slideLayout1.xml"/><Relationship Id="rId1" Type="http://schemas.openxmlformats.org/officeDocument/2006/relationships/vmlDrawing" Target="../drawings/vmlDrawing5.vml"/><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__6.docx"/><Relationship Id="rId2" Type="http://schemas.openxmlformats.org/officeDocument/2006/relationships/slideLayout" Target="../slideLayouts/slideLayout1.xml"/><Relationship Id="rId1" Type="http://schemas.openxmlformats.org/officeDocument/2006/relationships/vmlDrawing" Target="../drawings/vmlDrawing6.v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Word___7.docx"/><Relationship Id="rId2" Type="http://schemas.openxmlformats.org/officeDocument/2006/relationships/slideLayout" Target="../slideLayouts/slideLayout1.xml"/><Relationship Id="rId1" Type="http://schemas.openxmlformats.org/officeDocument/2006/relationships/vmlDrawing" Target="../drawings/vmlDrawing7.vml"/><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8.docx"/><Relationship Id="rId2" Type="http://schemas.openxmlformats.org/officeDocument/2006/relationships/slideLayout" Target="../slideLayouts/slideLayout1.xml"/><Relationship Id="rId1" Type="http://schemas.openxmlformats.org/officeDocument/2006/relationships/vmlDrawing" Target="../drawings/vmlDrawing8.vml"/><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Word___9.docx"/><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image" Target="../media/image12.emf"/><Relationship Id="rId5" Type="http://schemas.openxmlformats.org/officeDocument/2006/relationships/package" Target="../embeddings/Microsoft_Word___10.docx"/><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Word___11.docx"/><Relationship Id="rId2" Type="http://schemas.openxmlformats.org/officeDocument/2006/relationships/slideLayout" Target="../slideLayouts/slideLayout1.xml"/><Relationship Id="rId1" Type="http://schemas.openxmlformats.org/officeDocument/2006/relationships/vmlDrawing" Target="../drawings/vmlDrawing10.vml"/><Relationship Id="rId4" Type="http://schemas.openxmlformats.org/officeDocument/2006/relationships/image" Target="../media/image13.emf"/></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Word___12.docx"/><Relationship Id="rId2" Type="http://schemas.openxmlformats.org/officeDocument/2006/relationships/slideLayout" Target="../slideLayouts/slideLayout1.xml"/><Relationship Id="rId1" Type="http://schemas.openxmlformats.org/officeDocument/2006/relationships/vmlDrawing" Target="../drawings/vmlDrawing11.vml"/><Relationship Id="rId4" Type="http://schemas.openxmlformats.org/officeDocument/2006/relationships/image" Target="../media/image1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Word___13.docx"/><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15.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16.emf"/></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18.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__16.docx"/><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20.emf"/><Relationship Id="rId5" Type="http://schemas.openxmlformats.org/officeDocument/2006/relationships/package" Target="../embeddings/Microsoft_Word___17.docx"/><Relationship Id="rId4" Type="http://schemas.openxmlformats.org/officeDocument/2006/relationships/image" Target="../media/image19.emf"/></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Word___18.docx"/><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21.emf"/></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2.emf"/></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__20.docx"/><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23.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Word___21.docx"/><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24.emf"/></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25.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24.emf"/><Relationship Id="rId5" Type="http://schemas.openxmlformats.org/officeDocument/2006/relationships/package" Target="../embeddings/Microsoft_Word___24.docx"/><Relationship Id="rId4" Type="http://schemas.openxmlformats.org/officeDocument/2006/relationships/image" Target="../media/image26.emf"/></Relationships>
</file>

<file path=ppt/slides/_rels/slide32.xml.rels><?xml version="1.0" encoding="UTF-8" standalone="yes"?>
<Relationships xmlns="http://schemas.openxmlformats.org/package/2006/relationships"><Relationship Id="rId3" Type="http://schemas.openxmlformats.org/officeDocument/2006/relationships/package" Target="../embeddings/Microsoft_Word___25.docx"/><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27.emf"/></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__26.docx"/><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28.emf"/></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Word___27.docx"/><Relationship Id="rId7" Type="http://schemas.openxmlformats.org/officeDocument/2006/relationships/image" Target="../media/image31.jpeg"/><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30.emf"/><Relationship Id="rId5" Type="http://schemas.openxmlformats.org/officeDocument/2006/relationships/package" Target="../embeddings/Microsoft_Word___28.docx"/><Relationship Id="rId4" Type="http://schemas.openxmlformats.org/officeDocument/2006/relationships/image" Target="../media/image29.emf"/></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Word___29.docx"/><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33.emf"/><Relationship Id="rId5" Type="http://schemas.openxmlformats.org/officeDocument/2006/relationships/package" Target="../embeddings/Microsoft_Word___30.docx"/><Relationship Id="rId4" Type="http://schemas.openxmlformats.org/officeDocument/2006/relationships/image" Target="../media/image32.emf"/></Relationships>
</file>

<file path=ppt/slides/_rels/slide36.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image" Target="../media/image36.jpeg"/><Relationship Id="rId7" Type="http://schemas.openxmlformats.org/officeDocument/2006/relationships/image" Target="../media/image35.emf"/><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package" Target="../embeddings/Microsoft_Word___32.docx"/><Relationship Id="rId5" Type="http://schemas.openxmlformats.org/officeDocument/2006/relationships/image" Target="../media/image34.emf"/><Relationship Id="rId4" Type="http://schemas.openxmlformats.org/officeDocument/2006/relationships/package" Target="../embeddings/Microsoft_Word___31.docx"/></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Word___33.docx"/><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38.emf"/></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Word___34.docx"/><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40.emf"/><Relationship Id="rId5" Type="http://schemas.openxmlformats.org/officeDocument/2006/relationships/package" Target="../embeddings/Microsoft_Word___35.docx"/><Relationship Id="rId4" Type="http://schemas.openxmlformats.org/officeDocument/2006/relationships/image" Target="../media/image39.emf"/></Relationships>
</file>

<file path=ppt/slides/_rels/slide39.xml.rels><?xml version="1.0" encoding="UTF-8" standalone="yes"?>
<Relationships xmlns="http://schemas.openxmlformats.org/package/2006/relationships"><Relationship Id="rId3" Type="http://schemas.openxmlformats.org/officeDocument/2006/relationships/package" Target="../embeddings/Microsoft_Word___36.docx"/><Relationship Id="rId7" Type="http://schemas.openxmlformats.org/officeDocument/2006/relationships/image" Target="../media/image43.jpeg"/><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42.emf"/><Relationship Id="rId5" Type="http://schemas.openxmlformats.org/officeDocument/2006/relationships/package" Target="../embeddings/Microsoft_Word___37.docx"/><Relationship Id="rId4" Type="http://schemas.openxmlformats.org/officeDocument/2006/relationships/image" Target="../media/image41.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package" Target="../embeddings/Microsoft_Word___38.docx"/><Relationship Id="rId2" Type="http://schemas.openxmlformats.org/officeDocument/2006/relationships/slideLayout" Target="../slideLayouts/slideLayout3.xml"/><Relationship Id="rId1" Type="http://schemas.openxmlformats.org/officeDocument/2006/relationships/vmlDrawing" Target="../drawings/vmlDrawing30.vml"/><Relationship Id="rId4" Type="http://schemas.openxmlformats.org/officeDocument/2006/relationships/image" Target="../media/image45.emf"/></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Word___39.docx"/><Relationship Id="rId2" Type="http://schemas.openxmlformats.org/officeDocument/2006/relationships/slideLayout" Target="../slideLayouts/slideLayout3.xml"/><Relationship Id="rId1" Type="http://schemas.openxmlformats.org/officeDocument/2006/relationships/vmlDrawing" Target="../drawings/vmlDrawing31.vml"/><Relationship Id="rId5" Type="http://schemas.openxmlformats.org/officeDocument/2006/relationships/image" Target="../media/image47.jpeg"/><Relationship Id="rId4" Type="http://schemas.openxmlformats.org/officeDocument/2006/relationships/image" Target="../media/image46.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Word___40.docx"/><Relationship Id="rId2" Type="http://schemas.openxmlformats.org/officeDocument/2006/relationships/slideLayout" Target="../slideLayouts/slideLayout3.xml"/><Relationship Id="rId1" Type="http://schemas.openxmlformats.org/officeDocument/2006/relationships/vmlDrawing" Target="../drawings/vmlDrawing32.vml"/><Relationship Id="rId4" Type="http://schemas.openxmlformats.org/officeDocument/2006/relationships/image" Target="../media/image48.emf"/></Relationships>
</file>

<file path=ppt/slides/_rels/slide46.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package" Target="../embeddings/Microsoft_Word___41.docx"/><Relationship Id="rId7" Type="http://schemas.openxmlformats.org/officeDocument/2006/relationships/package" Target="../embeddings/Microsoft_Word___43.docx"/><Relationship Id="rId2" Type="http://schemas.openxmlformats.org/officeDocument/2006/relationships/slideLayout" Target="../slideLayouts/slideLayout3.xml"/><Relationship Id="rId1" Type="http://schemas.openxmlformats.org/officeDocument/2006/relationships/vmlDrawing" Target="../drawings/vmlDrawing33.vml"/><Relationship Id="rId6" Type="http://schemas.openxmlformats.org/officeDocument/2006/relationships/image" Target="../media/image49.emf"/><Relationship Id="rId5" Type="http://schemas.openxmlformats.org/officeDocument/2006/relationships/package" Target="../embeddings/Microsoft_Word___42.docx"/><Relationship Id="rId4" Type="http://schemas.openxmlformats.org/officeDocument/2006/relationships/image" Target="../media/image24.emf"/></Relationships>
</file>

<file path=ppt/slides/_rels/slide47.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package" Target="../embeddings/Microsoft_Word___44.docx"/><Relationship Id="rId7" Type="http://schemas.openxmlformats.org/officeDocument/2006/relationships/package" Target="../embeddings/Microsoft_Word___46.docx"/><Relationship Id="rId2" Type="http://schemas.openxmlformats.org/officeDocument/2006/relationships/slideLayout" Target="../slideLayouts/slideLayout3.xml"/><Relationship Id="rId1" Type="http://schemas.openxmlformats.org/officeDocument/2006/relationships/vmlDrawing" Target="../drawings/vmlDrawing34.vml"/><Relationship Id="rId6" Type="http://schemas.openxmlformats.org/officeDocument/2006/relationships/image" Target="../media/image52.emf"/><Relationship Id="rId5" Type="http://schemas.openxmlformats.org/officeDocument/2006/relationships/package" Target="../embeddings/Microsoft_Word___45.docx"/><Relationship Id="rId4" Type="http://schemas.openxmlformats.org/officeDocument/2006/relationships/image" Target="../media/image51.emf"/></Relationships>
</file>

<file path=ppt/slides/_rels/slide48.xml.rels><?xml version="1.0" encoding="UTF-8" standalone="yes"?>
<Relationships xmlns="http://schemas.openxmlformats.org/package/2006/relationships"><Relationship Id="rId3" Type="http://schemas.openxmlformats.org/officeDocument/2006/relationships/package" Target="../embeddings/Microsoft_Word___47.docx"/><Relationship Id="rId2" Type="http://schemas.openxmlformats.org/officeDocument/2006/relationships/slideLayout" Target="../slideLayouts/slideLayout3.xml"/><Relationship Id="rId1" Type="http://schemas.openxmlformats.org/officeDocument/2006/relationships/vmlDrawing" Target="../drawings/vmlDrawing35.vml"/><Relationship Id="rId4" Type="http://schemas.openxmlformats.org/officeDocument/2006/relationships/image" Target="../media/image54.emf"/></Relationships>
</file>

<file path=ppt/slides/_rels/slide49.xml.rels><?xml version="1.0" encoding="UTF-8" standalone="yes"?>
<Relationships xmlns="http://schemas.openxmlformats.org/package/2006/relationships"><Relationship Id="rId3" Type="http://schemas.openxmlformats.org/officeDocument/2006/relationships/package" Target="../embeddings/Microsoft_Word___48.docx"/><Relationship Id="rId2" Type="http://schemas.openxmlformats.org/officeDocument/2006/relationships/slideLayout" Target="../slideLayouts/slideLayout3.xml"/><Relationship Id="rId1" Type="http://schemas.openxmlformats.org/officeDocument/2006/relationships/vmlDrawing" Target="../drawings/vmlDrawing36.vml"/><Relationship Id="rId4" Type="http://schemas.openxmlformats.org/officeDocument/2006/relationships/image" Target="../media/image55.emf"/></Relationships>
</file>

<file path=ppt/slides/_rels/slide50.xml.rels><?xml version="1.0" encoding="UTF-8" standalone="yes"?>
<Relationships xmlns="http://schemas.openxmlformats.org/package/2006/relationships"><Relationship Id="rId3" Type="http://schemas.openxmlformats.org/officeDocument/2006/relationships/package" Target="../embeddings/Microsoft_Word___49.docx"/><Relationship Id="rId2" Type="http://schemas.openxmlformats.org/officeDocument/2006/relationships/slideLayout" Target="../slideLayouts/slideLayout3.xml"/><Relationship Id="rId1" Type="http://schemas.openxmlformats.org/officeDocument/2006/relationships/vmlDrawing" Target="../drawings/vmlDrawing37.vml"/><Relationship Id="rId5" Type="http://schemas.openxmlformats.org/officeDocument/2006/relationships/image" Target="../media/image57.jpeg"/><Relationship Id="rId4" Type="http://schemas.openxmlformats.org/officeDocument/2006/relationships/image" Target="../media/image56.emf"/></Relationships>
</file>

<file path=ppt/slides/_rels/slide51.xml.rels><?xml version="1.0" encoding="UTF-8" standalone="yes"?>
<Relationships xmlns="http://schemas.openxmlformats.org/package/2006/relationships"><Relationship Id="rId3" Type="http://schemas.openxmlformats.org/officeDocument/2006/relationships/package" Target="../embeddings/Microsoft_Word___50.docx"/><Relationship Id="rId2" Type="http://schemas.openxmlformats.org/officeDocument/2006/relationships/slideLayout" Target="../slideLayouts/slideLayout3.xml"/><Relationship Id="rId1" Type="http://schemas.openxmlformats.org/officeDocument/2006/relationships/vmlDrawing" Target="../drawings/vmlDrawing38.vml"/><Relationship Id="rId5" Type="http://schemas.openxmlformats.org/officeDocument/2006/relationships/image" Target="../media/image59.jpeg"/><Relationship Id="rId4" Type="http://schemas.openxmlformats.org/officeDocument/2006/relationships/image" Target="../media/image58.emf"/></Relationships>
</file>

<file path=ppt/slides/_rels/slide52.xml.rels><?xml version="1.0" encoding="UTF-8" standalone="yes"?>
<Relationships xmlns="http://schemas.openxmlformats.org/package/2006/relationships"><Relationship Id="rId3" Type="http://schemas.openxmlformats.org/officeDocument/2006/relationships/package" Target="../embeddings/Microsoft_Word___51.docx"/><Relationship Id="rId2" Type="http://schemas.openxmlformats.org/officeDocument/2006/relationships/slideLayout" Target="../slideLayouts/slideLayout3.xml"/><Relationship Id="rId1" Type="http://schemas.openxmlformats.org/officeDocument/2006/relationships/vmlDrawing" Target="../drawings/vmlDrawing39.vml"/><Relationship Id="rId4" Type="http://schemas.openxmlformats.org/officeDocument/2006/relationships/image" Target="../media/image60.emf"/></Relationships>
</file>

<file path=ppt/slides/_rels/slide53.xml.rels><?xml version="1.0" encoding="UTF-8" standalone="yes"?>
<Relationships xmlns="http://schemas.openxmlformats.org/package/2006/relationships"><Relationship Id="rId3" Type="http://schemas.openxmlformats.org/officeDocument/2006/relationships/package" Target="../embeddings/Microsoft_Word___52.docx"/><Relationship Id="rId2" Type="http://schemas.openxmlformats.org/officeDocument/2006/relationships/slideLayout" Target="../slideLayouts/slideLayout3.xml"/><Relationship Id="rId1" Type="http://schemas.openxmlformats.org/officeDocument/2006/relationships/vmlDrawing" Target="../drawings/vmlDrawing40.vml"/><Relationship Id="rId4" Type="http://schemas.openxmlformats.org/officeDocument/2006/relationships/image" Target="../media/image61.emf"/></Relationships>
</file>

<file path=ppt/slides/_rels/slide54.xml.rels><?xml version="1.0" encoding="UTF-8" standalone="yes"?>
<Relationships xmlns="http://schemas.openxmlformats.org/package/2006/relationships"><Relationship Id="rId3" Type="http://schemas.openxmlformats.org/officeDocument/2006/relationships/package" Target="../embeddings/Microsoft_Word___53.docx"/><Relationship Id="rId2" Type="http://schemas.openxmlformats.org/officeDocument/2006/relationships/slideLayout" Target="../slideLayouts/slideLayout3.xml"/><Relationship Id="rId1" Type="http://schemas.openxmlformats.org/officeDocument/2006/relationships/vmlDrawing" Target="../drawings/vmlDrawing41.vml"/><Relationship Id="rId4" Type="http://schemas.openxmlformats.org/officeDocument/2006/relationships/image" Target="../media/image62.emf"/></Relationships>
</file>

<file path=ppt/slides/_rels/slide55.xml.rels><?xml version="1.0" encoding="UTF-8" standalone="yes"?>
<Relationships xmlns="http://schemas.openxmlformats.org/package/2006/relationships"><Relationship Id="rId3" Type="http://schemas.openxmlformats.org/officeDocument/2006/relationships/package" Target="../embeddings/Microsoft_Word___54.docx"/><Relationship Id="rId2" Type="http://schemas.openxmlformats.org/officeDocument/2006/relationships/slideLayout" Target="../slideLayouts/slideLayout3.xml"/><Relationship Id="rId1" Type="http://schemas.openxmlformats.org/officeDocument/2006/relationships/vmlDrawing" Target="../drawings/vmlDrawing42.vml"/><Relationship Id="rId4" Type="http://schemas.openxmlformats.org/officeDocument/2006/relationships/image" Target="../media/image63.emf"/></Relationships>
</file>

<file path=ppt/slides/_rels/slide56.xml.rels><?xml version="1.0" encoding="UTF-8" standalone="yes"?>
<Relationships xmlns="http://schemas.openxmlformats.org/package/2006/relationships"><Relationship Id="rId3" Type="http://schemas.openxmlformats.org/officeDocument/2006/relationships/package" Target="../embeddings/Microsoft_Word___55.docx"/><Relationship Id="rId2" Type="http://schemas.openxmlformats.org/officeDocument/2006/relationships/slideLayout" Target="../slideLayouts/slideLayout3.xml"/><Relationship Id="rId1" Type="http://schemas.openxmlformats.org/officeDocument/2006/relationships/vmlDrawing" Target="../drawings/vmlDrawing43.vml"/><Relationship Id="rId4" Type="http://schemas.openxmlformats.org/officeDocument/2006/relationships/image" Target="../media/image64.emf"/></Relationships>
</file>

<file path=ppt/slides/_rels/slide5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slideLayout" Target="../slideLayouts/slideLayout3.xml"/><Relationship Id="rId1" Type="http://schemas.openxmlformats.org/officeDocument/2006/relationships/vmlDrawing" Target="../drawings/vmlDrawing44.vml"/><Relationship Id="rId5" Type="http://schemas.openxmlformats.org/officeDocument/2006/relationships/image" Target="../media/image65.emf"/><Relationship Id="rId4" Type="http://schemas.openxmlformats.org/officeDocument/2006/relationships/package" Target="../embeddings/Microsoft_Word___56.docx"/></Relationships>
</file>

<file path=ppt/slides/_rels/slide58.xml.rels><?xml version="1.0" encoding="UTF-8" standalone="yes"?>
<Relationships xmlns="http://schemas.openxmlformats.org/package/2006/relationships"><Relationship Id="rId3" Type="http://schemas.openxmlformats.org/officeDocument/2006/relationships/package" Target="../embeddings/Microsoft_Word___57.docx"/><Relationship Id="rId2" Type="http://schemas.openxmlformats.org/officeDocument/2006/relationships/slideLayout" Target="../slideLayouts/slideLayout3.xml"/><Relationship Id="rId1" Type="http://schemas.openxmlformats.org/officeDocument/2006/relationships/vmlDrawing" Target="../drawings/vmlDrawing45.vml"/><Relationship Id="rId4" Type="http://schemas.openxmlformats.org/officeDocument/2006/relationships/image" Target="../media/image67.emf"/></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dirty="0">
                  <a:solidFill>
                    <a:schemeClr val="bg1"/>
                  </a:solidFill>
                  <a:latin typeface="华文细黑" panose="02010600040101010101" charset="-122"/>
                  <a:ea typeface="华文细黑" panose="02010600040101010101" charset="-122"/>
                </a:rPr>
                <a:t>第</a:t>
              </a:r>
              <a:r>
                <a:rPr lang="en-US" altLang="zh-CN" sz="3600" b="1" dirty="0">
                  <a:solidFill>
                    <a:schemeClr val="bg1"/>
                  </a:solidFill>
                  <a:latin typeface="华文细黑" panose="02010600040101010101" charset="-122"/>
                  <a:ea typeface="华文细黑" panose="02010600040101010101" charset="-122"/>
                </a:rPr>
                <a:t>2</a:t>
              </a:r>
              <a:r>
                <a:rPr lang="zh-CN" altLang="en-US" sz="3600" b="1" dirty="0">
                  <a:solidFill>
                    <a:schemeClr val="bg1"/>
                  </a:solidFill>
                  <a:latin typeface="华文细黑" panose="02010600040101010101" charset="-122"/>
                  <a:ea typeface="华文细黑" panose="02010600040101010101" charset="-122"/>
                </a:rPr>
                <a:t>课时　直线和圆的方程</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复习课</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a:solidFill>
                  <a:srgbClr val="4D4D4D"/>
                </a:solidFill>
                <a:latin typeface="方正姚体" panose="02010601030101010101" charset="-122"/>
                <a:ea typeface="方正姚体" panose="02010601030101010101" charset="-122"/>
                <a:cs typeface="方正姚体" panose="02010601030101010101" charset="-122"/>
              </a:rPr>
              <a:t>知识</a:t>
            </a:r>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梳理 构建</a:t>
            </a:r>
            <a:r>
              <a:rPr lang="zh-CN" altLang="en-US" sz="2665" b="1" dirty="0">
                <a:solidFill>
                  <a:srgbClr val="4D4D4D"/>
                </a:solidFill>
                <a:latin typeface="方正姚体" panose="02010601030101010101" charset="-122"/>
                <a:ea typeface="方正姚体" panose="02010601030101010101" charset="-122"/>
                <a:cs typeface="方正姚体" panose="02010601030101010101" charset="-122"/>
              </a:rPr>
              <a:t>体系</a:t>
            </a: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a:solidFill>
                  <a:srgbClr val="4D4D4D"/>
                </a:solidFill>
                <a:latin typeface="方正姚体" panose="02010601030101010101" charset="-122"/>
                <a:ea typeface="方正姚体" panose="02010601030101010101" charset="-122"/>
                <a:cs typeface="方正姚体" panose="02010601030101010101" charset="-122"/>
              </a:rPr>
              <a:t>专题</a:t>
            </a:r>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归纳 核心</a:t>
            </a:r>
            <a:r>
              <a:rPr lang="zh-CN" altLang="en-US" sz="2665" b="1" dirty="0">
                <a:solidFill>
                  <a:srgbClr val="4D4D4D"/>
                </a:solidFill>
                <a:latin typeface="方正姚体" panose="02010601030101010101" charset="-122"/>
                <a:ea typeface="方正姚体" panose="02010601030101010101" charset="-122"/>
                <a:cs typeface="方正姚体" panose="02010601030101010101" charset="-122"/>
              </a:rPr>
              <a:t>突破</a:t>
            </a: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a:solidFill>
                  <a:srgbClr val="4D4D4D"/>
                </a:solidFill>
                <a:latin typeface="方正姚体" panose="02010601030101010101" charset="-122"/>
                <a:ea typeface="方正姚体" panose="02010601030101010101" charset="-122"/>
                <a:cs typeface="方正姚体" panose="02010601030101010101" charset="-122"/>
              </a:rPr>
              <a:t>高考体验</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rPr>
              <a:t>知识</a:t>
            </a:r>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梳理 构建</a:t>
            </a:r>
            <a:r>
              <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rPr>
              <a:t>体系</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知识网络</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grpSp>
        <p:nvGrpSpPr>
          <p:cNvPr id="5" name="组合 4"/>
          <p:cNvGrpSpPr/>
          <p:nvPr/>
        </p:nvGrpSpPr>
        <p:grpSpPr>
          <a:xfrm>
            <a:off x="2670463" y="118801"/>
            <a:ext cx="6911278" cy="6708026"/>
            <a:chOff x="2670463" y="118801"/>
            <a:chExt cx="6911278" cy="6708026"/>
          </a:xfrm>
        </p:grpSpPr>
        <p:pic>
          <p:nvPicPr>
            <p:cNvPr id="3" name="图片 2"/>
            <p:cNvPicPr/>
            <p:nvPr/>
          </p:nvPicPr>
          <p:blipFill>
            <a:blip r:embed="rId3">
              <a:clrChange>
                <a:clrFrom>
                  <a:srgbClr val="F8F8F8"/>
                </a:clrFrom>
                <a:clrTo>
                  <a:srgbClr val="F8F8F8">
                    <a:alpha val="0"/>
                  </a:srgbClr>
                </a:clrTo>
              </a:clrChange>
            </a:blip>
            <a:stretch>
              <a:fillRect/>
            </a:stretch>
          </p:blipFill>
          <p:spPr>
            <a:xfrm>
              <a:off x="2670463" y="2190460"/>
              <a:ext cx="395456" cy="2564707"/>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486755856"/>
                </p:ext>
              </p:extLst>
            </p:nvPr>
          </p:nvGraphicFramePr>
          <p:xfrm>
            <a:off x="3129804" y="118801"/>
            <a:ext cx="6451937" cy="6708026"/>
          </p:xfrm>
          <a:graphic>
            <a:graphicData uri="http://schemas.openxmlformats.org/presentationml/2006/ole">
              <mc:AlternateContent xmlns:mc="http://schemas.openxmlformats.org/markup-compatibility/2006">
                <mc:Choice xmlns:v="urn:schemas-microsoft-com:vml" Requires="v">
                  <p:oleObj spid="_x0000_s1061" name="文档" r:id="rId4" imgW="4578275" imgH="4759995" progId="Word.Document.12">
                    <p:embed/>
                  </p:oleObj>
                </mc:Choice>
                <mc:Fallback>
                  <p:oleObj name="文档" r:id="rId4" imgW="4578275" imgH="4759995" progId="Word.Document.12">
                    <p:embed/>
                    <p:pic>
                      <p:nvPicPr>
                        <p:cNvPr id="0" name=""/>
                        <p:cNvPicPr/>
                        <p:nvPr/>
                      </p:nvPicPr>
                      <p:blipFill>
                        <a:blip r:embed="rId5"/>
                        <a:stretch>
                          <a:fillRect/>
                        </a:stretch>
                      </p:blipFill>
                      <p:spPr>
                        <a:xfrm>
                          <a:off x="3129804" y="118801"/>
                          <a:ext cx="6451937" cy="6708026"/>
                        </a:xfrm>
                        <a:prstGeom prst="rect">
                          <a:avLst/>
                        </a:prstGeom>
                      </p:spPr>
                    </p:pic>
                  </p:oleObj>
                </mc:Fallback>
              </mc:AlternateContent>
            </a:graphicData>
          </a:graphic>
        </p:graphicFrame>
      </p:grpSp>
      <p:sp>
        <p:nvSpPr>
          <p:cNvPr id="6" name="矩形 5"/>
          <p:cNvSpPr/>
          <p:nvPr/>
        </p:nvSpPr>
        <p:spPr>
          <a:xfrm>
            <a:off x="6802992" y="508350"/>
            <a:ext cx="1759117" cy="33165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785462" y="924605"/>
            <a:ext cx="1860164" cy="457262"/>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7037353" y="1437869"/>
            <a:ext cx="1759117" cy="3015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047744" y="1795377"/>
            <a:ext cx="1759117" cy="3015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099698" y="2152885"/>
            <a:ext cx="1759117" cy="3015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723732" y="2513593"/>
            <a:ext cx="1759117" cy="3015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203288" y="2878292"/>
            <a:ext cx="1305413" cy="3015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174935" y="2878292"/>
            <a:ext cx="1305413" cy="3015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222675" y="3246571"/>
            <a:ext cx="2713506" cy="46319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6222675" y="3788062"/>
            <a:ext cx="2713506" cy="42108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6203288" y="4287445"/>
            <a:ext cx="3378453" cy="3015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210298" y="4991066"/>
            <a:ext cx="2713506" cy="4966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6397336" y="5564199"/>
            <a:ext cx="3359728" cy="4966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6980767" y="6143932"/>
            <a:ext cx="3359728" cy="4966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13"/>
                                        </p:tgtEl>
                                      </p:cBhvr>
                                    </p:animEffect>
                                    <p:set>
                                      <p:cBhvr>
                                        <p:cTn id="37" dur="1" fill="hold">
                                          <p:stCondLst>
                                            <p:cond delay="499"/>
                                          </p:stCondLst>
                                        </p:cTn>
                                        <p:tgtEl>
                                          <p:spTgt spid="1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0" nodeType="clickEffect">
                                  <p:stCondLst>
                                    <p:cond delay="0"/>
                                  </p:stCondLst>
                                  <p:childTnLst>
                                    <p:animEffect transition="out" filter="wipe(down)">
                                      <p:cBhvr>
                                        <p:cTn id="41" dur="500"/>
                                        <p:tgtEl>
                                          <p:spTgt spid="14"/>
                                        </p:tgtEl>
                                      </p:cBhvr>
                                    </p:animEffect>
                                    <p:set>
                                      <p:cBhvr>
                                        <p:cTn id="42" dur="1" fill="hold">
                                          <p:stCondLst>
                                            <p:cond delay="499"/>
                                          </p:stCondLst>
                                        </p:cTn>
                                        <p:tgtEl>
                                          <p:spTgt spid="1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grpId="0" nodeType="clickEffect">
                                  <p:stCondLst>
                                    <p:cond delay="0"/>
                                  </p:stCondLst>
                                  <p:childTnLst>
                                    <p:animEffect transition="out" filter="wipe(down)">
                                      <p:cBhvr>
                                        <p:cTn id="46" dur="500"/>
                                        <p:tgtEl>
                                          <p:spTgt spid="15"/>
                                        </p:tgtEl>
                                      </p:cBhvr>
                                    </p:animEffect>
                                    <p:set>
                                      <p:cBhvr>
                                        <p:cTn id="47" dur="1" fill="hold">
                                          <p:stCondLst>
                                            <p:cond delay="499"/>
                                          </p:stCondLst>
                                        </p:cTn>
                                        <p:tgtEl>
                                          <p:spTgt spid="1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4" fill="hold" grpId="0" nodeType="clickEffect">
                                  <p:stCondLst>
                                    <p:cond delay="0"/>
                                  </p:stCondLst>
                                  <p:childTnLst>
                                    <p:animEffect transition="out" filter="wipe(down)">
                                      <p:cBhvr>
                                        <p:cTn id="51" dur="500"/>
                                        <p:tgtEl>
                                          <p:spTgt spid="17"/>
                                        </p:tgtEl>
                                      </p:cBhvr>
                                    </p:animEffect>
                                    <p:set>
                                      <p:cBhvr>
                                        <p:cTn id="52" dur="1" fill="hold">
                                          <p:stCondLst>
                                            <p:cond delay="499"/>
                                          </p:stCondLst>
                                        </p:cTn>
                                        <p:tgtEl>
                                          <p:spTgt spid="1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xit" presetSubtype="4" fill="hold" grpId="0" nodeType="clickEffect">
                                  <p:stCondLst>
                                    <p:cond delay="0"/>
                                  </p:stCondLst>
                                  <p:childTnLst>
                                    <p:animEffect transition="out" filter="wipe(down)">
                                      <p:cBhvr>
                                        <p:cTn id="56" dur="500"/>
                                        <p:tgtEl>
                                          <p:spTgt spid="18"/>
                                        </p:tgtEl>
                                      </p:cBhvr>
                                    </p:animEffect>
                                    <p:set>
                                      <p:cBhvr>
                                        <p:cTn id="57" dur="1" fill="hold">
                                          <p:stCondLst>
                                            <p:cond delay="499"/>
                                          </p:stCondLst>
                                        </p:cTn>
                                        <p:tgtEl>
                                          <p:spTgt spid="1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xit" presetSubtype="4" fill="hold" grpId="0" nodeType="clickEffect">
                                  <p:stCondLst>
                                    <p:cond delay="0"/>
                                  </p:stCondLst>
                                  <p:childTnLst>
                                    <p:animEffect transition="out" filter="wipe(down)">
                                      <p:cBhvr>
                                        <p:cTn id="61" dur="500"/>
                                        <p:tgtEl>
                                          <p:spTgt spid="19"/>
                                        </p:tgtEl>
                                      </p:cBhvr>
                                    </p:animEffect>
                                    <p:set>
                                      <p:cBhvr>
                                        <p:cTn id="62" dur="1" fill="hold">
                                          <p:stCondLst>
                                            <p:cond delay="499"/>
                                          </p:stCondLst>
                                        </p:cTn>
                                        <p:tgtEl>
                                          <p:spTgt spid="1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2" presetClass="exit" presetSubtype="4" fill="hold" grpId="0" nodeType="clickEffect">
                                  <p:stCondLst>
                                    <p:cond delay="0"/>
                                  </p:stCondLst>
                                  <p:childTnLst>
                                    <p:animEffect transition="out" filter="wipe(down)">
                                      <p:cBhvr>
                                        <p:cTn id="66" dur="500"/>
                                        <p:tgtEl>
                                          <p:spTgt spid="20"/>
                                        </p:tgtEl>
                                      </p:cBhvr>
                                    </p:animEffect>
                                    <p:set>
                                      <p:cBhvr>
                                        <p:cTn id="67" dur="1" fill="hold">
                                          <p:stCondLst>
                                            <p:cond delay="499"/>
                                          </p:stCondLst>
                                        </p:cTn>
                                        <p:tgtEl>
                                          <p:spTgt spid="20"/>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22" presetClass="exit" presetSubtype="4" fill="hold" grpId="0" nodeType="clickEffect">
                                  <p:stCondLst>
                                    <p:cond delay="0"/>
                                  </p:stCondLst>
                                  <p:childTnLst>
                                    <p:animEffect transition="out" filter="wipe(down)">
                                      <p:cBhvr>
                                        <p:cTn id="71" dur="500"/>
                                        <p:tgtEl>
                                          <p:spTgt spid="21"/>
                                        </p:tgtEl>
                                      </p:cBhvr>
                                    </p:animEffect>
                                    <p:set>
                                      <p:cBhvr>
                                        <p:cTn id="72"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4" name="组合 3"/>
          <p:cNvGrpSpPr/>
          <p:nvPr/>
        </p:nvGrpSpPr>
        <p:grpSpPr>
          <a:xfrm>
            <a:off x="2504662" y="13301"/>
            <a:ext cx="6922303" cy="6877579"/>
            <a:chOff x="2504662" y="13301"/>
            <a:chExt cx="6922303" cy="6877579"/>
          </a:xfrm>
        </p:grpSpPr>
        <p:pic>
          <p:nvPicPr>
            <p:cNvPr id="2" name="图片 1"/>
            <p:cNvPicPr/>
            <p:nvPr/>
          </p:nvPicPr>
          <p:blipFill>
            <a:blip r:embed="rId3">
              <a:clrChange>
                <a:clrFrom>
                  <a:srgbClr val="F8F8F8"/>
                </a:clrFrom>
                <a:clrTo>
                  <a:srgbClr val="F8F8F8">
                    <a:alpha val="0"/>
                  </a:srgbClr>
                </a:clrTo>
              </a:clrChange>
            </a:blip>
            <a:stretch>
              <a:fillRect/>
            </a:stretch>
          </p:blipFill>
          <p:spPr>
            <a:xfrm>
              <a:off x="2504662" y="2169736"/>
              <a:ext cx="395456" cy="2564707"/>
            </a:xfrm>
            <a:prstGeom prst="rect">
              <a:avLst/>
            </a:prstGeom>
          </p:spPr>
        </p:pic>
        <p:graphicFrame>
          <p:nvGraphicFramePr>
            <p:cNvPr id="3" name="对象 2"/>
            <p:cNvGraphicFramePr>
              <a:graphicFrameLocks noChangeAspect="1"/>
            </p:cNvGraphicFramePr>
            <p:nvPr>
              <p:extLst>
                <p:ext uri="{D42A27DB-BD31-4B8C-83A1-F6EECF244321}">
                  <p14:modId xmlns:p14="http://schemas.microsoft.com/office/powerpoint/2010/main" val="3864428168"/>
                </p:ext>
              </p:extLst>
            </p:nvPr>
          </p:nvGraphicFramePr>
          <p:xfrm>
            <a:off x="2910509" y="13301"/>
            <a:ext cx="6516456" cy="6877579"/>
          </p:xfrm>
          <a:graphic>
            <a:graphicData uri="http://schemas.openxmlformats.org/presentationml/2006/ole">
              <mc:AlternateContent xmlns:mc="http://schemas.openxmlformats.org/markup-compatibility/2006">
                <mc:Choice xmlns:v="urn:schemas-microsoft-com:vml" Requires="v">
                  <p:oleObj spid="_x0000_s2085" name="文档" r:id="rId4" imgW="4510061" imgH="4759995" progId="Word.Document.12">
                    <p:embed/>
                  </p:oleObj>
                </mc:Choice>
                <mc:Fallback>
                  <p:oleObj name="文档" r:id="rId4" imgW="4510061" imgH="4759995" progId="Word.Document.12">
                    <p:embed/>
                    <p:pic>
                      <p:nvPicPr>
                        <p:cNvPr id="0" name=""/>
                        <p:cNvPicPr/>
                        <p:nvPr/>
                      </p:nvPicPr>
                      <p:blipFill>
                        <a:blip r:embed="rId5"/>
                        <a:stretch>
                          <a:fillRect/>
                        </a:stretch>
                      </p:blipFill>
                      <p:spPr>
                        <a:xfrm>
                          <a:off x="2910509" y="13301"/>
                          <a:ext cx="6516456" cy="6877579"/>
                        </a:xfrm>
                        <a:prstGeom prst="rect">
                          <a:avLst/>
                        </a:prstGeom>
                      </p:spPr>
                    </p:pic>
                  </p:oleObj>
                </mc:Fallback>
              </mc:AlternateContent>
            </a:graphicData>
          </a:graphic>
        </p:graphicFrame>
      </p:grpSp>
      <p:sp>
        <p:nvSpPr>
          <p:cNvPr id="5" name="矩形 4"/>
          <p:cNvSpPr/>
          <p:nvPr/>
        </p:nvSpPr>
        <p:spPr>
          <a:xfrm>
            <a:off x="5438204" y="69479"/>
            <a:ext cx="2635532"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448593" y="507524"/>
            <a:ext cx="4890360" cy="3015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917237" y="878509"/>
            <a:ext cx="1558219"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927628" y="1200350"/>
            <a:ext cx="1558219"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927628" y="1523372"/>
            <a:ext cx="1558219"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084127" y="1854660"/>
            <a:ext cx="1558219"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084127" y="2187171"/>
            <a:ext cx="1558219"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094518" y="2526729"/>
            <a:ext cx="1558219"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293990" y="2871819"/>
            <a:ext cx="2652582" cy="30150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398744" y="3282304"/>
            <a:ext cx="1558219"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754445" y="3646966"/>
            <a:ext cx="1558219"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7403981" y="4008953"/>
            <a:ext cx="1558219"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409135" y="4381756"/>
            <a:ext cx="1558219" cy="27409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0"/>
                                        </p:tgtEl>
                                      </p:cBhvr>
                                    </p:animEffect>
                                    <p:set>
                                      <p:cBhvr>
                                        <p:cTn id="32" dur="1" fill="hold">
                                          <p:stCondLst>
                                            <p:cond delay="499"/>
                                          </p:stCondLst>
                                        </p:cTn>
                                        <p:tgtEl>
                                          <p:spTgt spid="1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11"/>
                                        </p:tgtEl>
                                      </p:cBhvr>
                                    </p:animEffect>
                                    <p:set>
                                      <p:cBhvr>
                                        <p:cTn id="37" dur="1" fill="hold">
                                          <p:stCondLst>
                                            <p:cond delay="499"/>
                                          </p:stCondLst>
                                        </p:cTn>
                                        <p:tgtEl>
                                          <p:spTgt spid="11"/>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0" nodeType="clickEffect">
                                  <p:stCondLst>
                                    <p:cond delay="0"/>
                                  </p:stCondLst>
                                  <p:childTnLst>
                                    <p:animEffect transition="out" filter="wipe(down)">
                                      <p:cBhvr>
                                        <p:cTn id="41" dur="500"/>
                                        <p:tgtEl>
                                          <p:spTgt spid="12"/>
                                        </p:tgtEl>
                                      </p:cBhvr>
                                    </p:animEffect>
                                    <p:set>
                                      <p:cBhvr>
                                        <p:cTn id="42" dur="1" fill="hold">
                                          <p:stCondLst>
                                            <p:cond delay="499"/>
                                          </p:stCondLst>
                                        </p:cTn>
                                        <p:tgtEl>
                                          <p:spTgt spid="1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grpId="0" nodeType="clickEffect">
                                  <p:stCondLst>
                                    <p:cond delay="0"/>
                                  </p:stCondLst>
                                  <p:childTnLst>
                                    <p:animEffect transition="out" filter="wipe(down)">
                                      <p:cBhvr>
                                        <p:cTn id="46" dur="500"/>
                                        <p:tgtEl>
                                          <p:spTgt spid="13"/>
                                        </p:tgtEl>
                                      </p:cBhvr>
                                    </p:animEffect>
                                    <p:set>
                                      <p:cBhvr>
                                        <p:cTn id="47" dur="1" fill="hold">
                                          <p:stCondLst>
                                            <p:cond delay="499"/>
                                          </p:stCondLst>
                                        </p:cTn>
                                        <p:tgtEl>
                                          <p:spTgt spid="13"/>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4" fill="hold" grpId="0" nodeType="clickEffect">
                                  <p:stCondLst>
                                    <p:cond delay="0"/>
                                  </p:stCondLst>
                                  <p:childTnLst>
                                    <p:animEffect transition="out" filter="wipe(down)">
                                      <p:cBhvr>
                                        <p:cTn id="51" dur="500"/>
                                        <p:tgtEl>
                                          <p:spTgt spid="14"/>
                                        </p:tgtEl>
                                      </p:cBhvr>
                                    </p:animEffect>
                                    <p:set>
                                      <p:cBhvr>
                                        <p:cTn id="52" dur="1" fill="hold">
                                          <p:stCondLst>
                                            <p:cond delay="499"/>
                                          </p:stCondLst>
                                        </p:cTn>
                                        <p:tgtEl>
                                          <p:spTgt spid="14"/>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xit" presetSubtype="4" fill="hold" grpId="0" nodeType="clickEffect">
                                  <p:stCondLst>
                                    <p:cond delay="0"/>
                                  </p:stCondLst>
                                  <p:childTnLst>
                                    <p:animEffect transition="out" filter="wipe(down)">
                                      <p:cBhvr>
                                        <p:cTn id="56" dur="500"/>
                                        <p:tgtEl>
                                          <p:spTgt spid="15"/>
                                        </p:tgtEl>
                                      </p:cBhvr>
                                    </p:animEffect>
                                    <p:set>
                                      <p:cBhvr>
                                        <p:cTn id="57" dur="1" fill="hold">
                                          <p:stCondLst>
                                            <p:cond delay="499"/>
                                          </p:stCondLst>
                                        </p:cTn>
                                        <p:tgtEl>
                                          <p:spTgt spid="15"/>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xit" presetSubtype="4" fill="hold" grpId="0" nodeType="clickEffect">
                                  <p:stCondLst>
                                    <p:cond delay="0"/>
                                  </p:stCondLst>
                                  <p:childTnLst>
                                    <p:animEffect transition="out" filter="wipe(down)">
                                      <p:cBhvr>
                                        <p:cTn id="61" dur="500"/>
                                        <p:tgtEl>
                                          <p:spTgt spid="16"/>
                                        </p:tgtEl>
                                      </p:cBhvr>
                                    </p:animEffect>
                                    <p:set>
                                      <p:cBhvr>
                                        <p:cTn id="62" dur="1" fill="hold">
                                          <p:stCondLst>
                                            <p:cond delay="499"/>
                                          </p:stCondLst>
                                        </p:cTn>
                                        <p:tgtEl>
                                          <p:spTgt spid="16"/>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2" presetClass="exit" presetSubtype="4" fill="hold" grpId="0" nodeType="clickEffect">
                                  <p:stCondLst>
                                    <p:cond delay="0"/>
                                  </p:stCondLst>
                                  <p:childTnLst>
                                    <p:animEffect transition="out" filter="wipe(down)">
                                      <p:cBhvr>
                                        <p:cTn id="66" dur="500"/>
                                        <p:tgtEl>
                                          <p:spTgt spid="17"/>
                                        </p:tgtEl>
                                      </p:cBhvr>
                                    </p:animEffect>
                                    <p:set>
                                      <p:cBhvr>
                                        <p:cTn id="67"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要点梳理</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3" name="矩形 2"/>
          <p:cNvSpPr>
            <a:spLocks noChangeAspect="1"/>
          </p:cNvSpPr>
          <p:nvPr/>
        </p:nvSpPr>
        <p:spPr>
          <a:xfrm>
            <a:off x="381000" y="820878"/>
            <a:ext cx="11430000" cy="513371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什么是直线的倾斜角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什么是直线的斜率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过两点的直线的斜率公式呢</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直线的倾斜角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轴相交时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我们以</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轴为基准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轴正向与直线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向上的方向之间所成的角</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叫做直线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的倾斜角</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轴平行或重合时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规定它的倾斜角为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直线的倾斜角</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的取值范围为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直线的斜率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一条直线的倾斜角</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的正切值叫做这条直线的斜率</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斜率常用小写字母</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tan</a:t>
            </a:r>
            <a:r>
              <a:rPr lang="en-US"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倾斜角是</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的直线没有斜率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倾斜角不是</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的直线都有斜率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过两点的直线的斜率公式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经过两点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的直线的斜率公式为</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49162801"/>
              </p:ext>
            </p:extLst>
          </p:nvPr>
        </p:nvGraphicFramePr>
        <p:xfrm>
          <a:off x="2547309" y="5226812"/>
          <a:ext cx="991859" cy="829174"/>
        </p:xfrm>
        <a:graphic>
          <a:graphicData uri="http://schemas.openxmlformats.org/presentationml/2006/ole">
            <mc:AlternateContent xmlns:mc="http://schemas.openxmlformats.org/markup-compatibility/2006">
              <mc:Choice xmlns:v="urn:schemas-microsoft-com:vml" Requires="v">
                <p:oleObj spid="_x0000_s3109" name="文档" r:id="rId3" imgW="486883" imgH="397868" progId="Word.Document.12">
                  <p:embed/>
                </p:oleObj>
              </mc:Choice>
              <mc:Fallback>
                <p:oleObj name="文档" r:id="rId3" imgW="486883" imgH="397868" progId="Word.Document.12">
                  <p:embed/>
                  <p:pic>
                    <p:nvPicPr>
                      <p:cNvPr id="0" name=""/>
                      <p:cNvPicPr/>
                      <p:nvPr/>
                    </p:nvPicPr>
                    <p:blipFill>
                      <a:blip r:embed="rId4"/>
                      <a:stretch>
                        <a:fillRect/>
                      </a:stretch>
                    </p:blipFill>
                    <p:spPr>
                      <a:xfrm>
                        <a:off x="2547309" y="5226812"/>
                        <a:ext cx="991859" cy="829174"/>
                      </a:xfrm>
                      <a:prstGeom prst="rect">
                        <a:avLst/>
                      </a:prstGeom>
                    </p:spPr>
                  </p:pic>
                </p:oleObj>
              </mc:Fallback>
            </mc:AlternateContent>
          </a:graphicData>
        </a:graphic>
      </p:graphicFrame>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8287"/>
            <a:ext cx="6761466" cy="652486"/>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关于直线方程的五种形式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请填写下表</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206490065"/>
              </p:ext>
            </p:extLst>
          </p:nvPr>
        </p:nvGraphicFramePr>
        <p:xfrm>
          <a:off x="381000" y="542636"/>
          <a:ext cx="11430000" cy="7169203"/>
        </p:xfrm>
        <a:graphic>
          <a:graphicData uri="http://schemas.openxmlformats.org/presentationml/2006/ole">
            <mc:AlternateContent xmlns:mc="http://schemas.openxmlformats.org/markup-compatibility/2006">
              <mc:Choice xmlns:v="urn:schemas-microsoft-com:vml" Requires="v">
                <p:oleObj spid="_x0000_s4133" name="文档" r:id="rId3" imgW="4619563" imgH="2897514" progId="Word.Document.12">
                  <p:embed/>
                </p:oleObj>
              </mc:Choice>
              <mc:Fallback>
                <p:oleObj name="文档" r:id="rId3" imgW="4619563" imgH="2897514" progId="Word.Document.12">
                  <p:embed/>
                  <p:pic>
                    <p:nvPicPr>
                      <p:cNvPr id="0" name=""/>
                      <p:cNvPicPr/>
                      <p:nvPr/>
                    </p:nvPicPr>
                    <p:blipFill>
                      <a:blip r:embed="rId4"/>
                      <a:stretch>
                        <a:fillRect/>
                      </a:stretch>
                    </p:blipFill>
                    <p:spPr>
                      <a:xfrm>
                        <a:off x="381000" y="542636"/>
                        <a:ext cx="11430000" cy="7169203"/>
                      </a:xfrm>
                      <a:prstGeom prst="rect">
                        <a:avLst/>
                      </a:prstGeom>
                    </p:spPr>
                  </p:pic>
                </p:oleObj>
              </mc:Fallback>
            </mc:AlternateContent>
          </a:graphicData>
        </a:graphic>
      </p:graphicFrame>
      <p:sp>
        <p:nvSpPr>
          <p:cNvPr id="4" name="矩形 3"/>
          <p:cNvSpPr/>
          <p:nvPr/>
        </p:nvSpPr>
        <p:spPr>
          <a:xfrm>
            <a:off x="5026147" y="1344460"/>
            <a:ext cx="13538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026147" y="2347784"/>
            <a:ext cx="1998108"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9197683" y="3376485"/>
            <a:ext cx="1718379"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565300" y="4697313"/>
            <a:ext cx="655422"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1014363" y="4697313"/>
            <a:ext cx="442876"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754806" y="5194002"/>
            <a:ext cx="1465915"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par>
                                <p:cTn id="28" presetID="22" presetClass="exit" presetSubtype="4" fill="hold" grpId="0" nodeType="withEffect">
                                  <p:stCondLst>
                                    <p:cond delay="0"/>
                                  </p:stCondLst>
                                  <p:childTnLst>
                                    <p:animEffect transition="out" filter="wipe(down)">
                                      <p:cBhvr>
                                        <p:cTn id="29" dur="500"/>
                                        <p:tgtEl>
                                          <p:spTgt spid="9"/>
                                        </p:tgtEl>
                                      </p:cBhvr>
                                    </p:animEffect>
                                    <p:set>
                                      <p:cBhvr>
                                        <p:cTn id="30"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2875"/>
            <a:ext cx="7479612" cy="652486"/>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关于两条直线位置关系的判定</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请填写下表</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096172197"/>
              </p:ext>
            </p:extLst>
          </p:nvPr>
        </p:nvGraphicFramePr>
        <p:xfrm>
          <a:off x="381000" y="811235"/>
          <a:ext cx="11430000" cy="6258464"/>
        </p:xfrm>
        <a:graphic>
          <a:graphicData uri="http://schemas.openxmlformats.org/presentationml/2006/ole">
            <mc:AlternateContent xmlns:mc="http://schemas.openxmlformats.org/markup-compatibility/2006">
              <mc:Choice xmlns:v="urn:schemas-microsoft-com:vml" Requires="v">
                <p:oleObj spid="_x0000_s5157" name="文档" r:id="rId3" imgW="4567145" imgH="2500727" progId="Word.Document.12">
                  <p:embed/>
                </p:oleObj>
              </mc:Choice>
              <mc:Fallback>
                <p:oleObj name="文档" r:id="rId3" imgW="4567145" imgH="2500727" progId="Word.Document.12">
                  <p:embed/>
                  <p:pic>
                    <p:nvPicPr>
                      <p:cNvPr id="0" name=""/>
                      <p:cNvPicPr/>
                      <p:nvPr/>
                    </p:nvPicPr>
                    <p:blipFill>
                      <a:blip r:embed="rId4"/>
                      <a:stretch>
                        <a:fillRect/>
                      </a:stretch>
                    </p:blipFill>
                    <p:spPr>
                      <a:xfrm>
                        <a:off x="381000" y="811235"/>
                        <a:ext cx="11430000" cy="6258464"/>
                      </a:xfrm>
                      <a:prstGeom prst="rect">
                        <a:avLst/>
                      </a:prstGeom>
                    </p:spPr>
                  </p:pic>
                </p:oleObj>
              </mc:Fallback>
            </mc:AlternateContent>
          </a:graphicData>
        </a:graphic>
      </p:graphicFrame>
      <p:sp>
        <p:nvSpPr>
          <p:cNvPr id="4" name="矩形 3"/>
          <p:cNvSpPr/>
          <p:nvPr/>
        </p:nvSpPr>
        <p:spPr>
          <a:xfrm>
            <a:off x="1888091" y="2459754"/>
            <a:ext cx="1042144" cy="37215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223572" y="2459754"/>
            <a:ext cx="2185145" cy="37215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888091" y="2989691"/>
            <a:ext cx="1042144" cy="37215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223572" y="2996232"/>
            <a:ext cx="2185145" cy="37215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890828" y="3767720"/>
            <a:ext cx="776899" cy="37215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137737" y="3763980"/>
            <a:ext cx="1091773" cy="3796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9"/>
                                        </p:tgtEl>
                                      </p:cBhvr>
                                    </p:animEffect>
                                    <p:set>
                                      <p:cBhvr>
                                        <p:cTn id="3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45207"/>
            <a:ext cx="11430000" cy="1152367"/>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关于两点间的距离公式、点到直线距离公式及两条平行直线间的距离公式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请填写下表</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106302198"/>
              </p:ext>
            </p:extLst>
          </p:nvPr>
        </p:nvGraphicFramePr>
        <p:xfrm>
          <a:off x="381000" y="1633215"/>
          <a:ext cx="11430000" cy="4706250"/>
        </p:xfrm>
        <a:graphic>
          <a:graphicData uri="http://schemas.openxmlformats.org/presentationml/2006/ole">
            <mc:AlternateContent xmlns:mc="http://schemas.openxmlformats.org/markup-compatibility/2006">
              <mc:Choice xmlns:v="urn:schemas-microsoft-com:vml" Requires="v">
                <p:oleObj spid="_x0000_s6180" name="文档" r:id="rId3" imgW="4567145" imgH="1880501" progId="Word.Document.12">
                  <p:embed/>
                </p:oleObj>
              </mc:Choice>
              <mc:Fallback>
                <p:oleObj name="文档" r:id="rId3" imgW="4567145" imgH="1880501" progId="Word.Document.12">
                  <p:embed/>
                  <p:pic>
                    <p:nvPicPr>
                      <p:cNvPr id="0" name=""/>
                      <p:cNvPicPr/>
                      <p:nvPr/>
                    </p:nvPicPr>
                    <p:blipFill>
                      <a:blip r:embed="rId4"/>
                      <a:stretch>
                        <a:fillRect/>
                      </a:stretch>
                    </p:blipFill>
                    <p:spPr>
                      <a:xfrm>
                        <a:off x="381000" y="1633215"/>
                        <a:ext cx="11430000" cy="4706250"/>
                      </a:xfrm>
                      <a:prstGeom prst="rect">
                        <a:avLst/>
                      </a:prstGeom>
                    </p:spPr>
                  </p:pic>
                </p:oleObj>
              </mc:Fallback>
            </mc:AlternateContent>
          </a:graphicData>
        </a:graphic>
      </p:graphicFrame>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4841"/>
            <a:ext cx="6043321" cy="652486"/>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关于圆的定义与方程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请填写下表</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65526901"/>
              </p:ext>
            </p:extLst>
          </p:nvPr>
        </p:nvGraphicFramePr>
        <p:xfrm>
          <a:off x="381000" y="695096"/>
          <a:ext cx="11430000" cy="4673781"/>
        </p:xfrm>
        <a:graphic>
          <a:graphicData uri="http://schemas.openxmlformats.org/presentationml/2006/ole">
            <mc:AlternateContent xmlns:mc="http://schemas.openxmlformats.org/markup-compatibility/2006">
              <mc:Choice xmlns:v="urn:schemas-microsoft-com:vml" Requires="v">
                <p:oleObj spid="_x0000_s7205" name="文档" r:id="rId3" imgW="4567145" imgH="1867527" progId="Word.Document.12">
                  <p:embed/>
                </p:oleObj>
              </mc:Choice>
              <mc:Fallback>
                <p:oleObj name="文档" r:id="rId3" imgW="4567145" imgH="1867527" progId="Word.Document.12">
                  <p:embed/>
                  <p:pic>
                    <p:nvPicPr>
                      <p:cNvPr id="0" name=""/>
                      <p:cNvPicPr/>
                      <p:nvPr/>
                    </p:nvPicPr>
                    <p:blipFill>
                      <a:blip r:embed="rId4"/>
                      <a:stretch>
                        <a:fillRect/>
                      </a:stretch>
                    </p:blipFill>
                    <p:spPr>
                      <a:xfrm>
                        <a:off x="381000" y="695096"/>
                        <a:ext cx="11430000" cy="4673781"/>
                      </a:xfrm>
                      <a:prstGeom prst="rect">
                        <a:avLst/>
                      </a:prstGeom>
                    </p:spPr>
                  </p:pic>
                </p:oleObj>
              </mc:Fallback>
            </mc:AlternateContent>
          </a:graphicData>
        </a:graphic>
      </p:graphicFrame>
      <p:sp>
        <p:nvSpPr>
          <p:cNvPr id="4" name="矩形 3"/>
          <p:cNvSpPr>
            <a:spLocks noChangeAspect="1"/>
          </p:cNvSpPr>
          <p:nvPr/>
        </p:nvSpPr>
        <p:spPr>
          <a:xfrm>
            <a:off x="381000" y="4365783"/>
            <a:ext cx="11430000" cy="227267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如何判定点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dirty="0">
                <a:solidFill>
                  <a:srgbClr val="000000"/>
                </a:solidFill>
                <a:latin typeface="Segoe UI Symbol" panose="020B0502040204020203" pitchFamily="34" charset="0"/>
                <a:cs typeface="Segoe UI Symbol" panose="020B0502040204020203" pitchFamily="34"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r&gt;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的位置关系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|AC|&lt;r</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在圆内</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&lt;r</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|AC|=r</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在圆上</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|AC|&gt;r</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在圆外</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&gt;r</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5" name="矩形 4"/>
          <p:cNvSpPr/>
          <p:nvPr/>
        </p:nvSpPr>
        <p:spPr>
          <a:xfrm>
            <a:off x="2116692" y="1510716"/>
            <a:ext cx="5073817"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116692" y="3019170"/>
            <a:ext cx="5073817" cy="44584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down)">
                                      <p:cBhvr>
                                        <p:cTn id="17" dur="500"/>
                                        <p:tgtEl>
                                          <p:spTgt spid="4">
                                            <p:txEl>
                                              <p:pRg st="1" end="1"/>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wipe(down)">
                                      <p:cBhvr>
                                        <p:cTn id="20" dur="500"/>
                                        <p:tgtEl>
                                          <p:spTgt spid="4">
                                            <p:txEl>
                                              <p:pRg st="2" end="2"/>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Effect transition="in" filter="wipe(down)">
                                      <p:cBhvr>
                                        <p:cTn id="23"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3" name="矩形 2"/>
          <p:cNvSpPr>
            <a:spLocks noChangeAspect="1"/>
          </p:cNvSpPr>
          <p:nvPr/>
        </p:nvSpPr>
        <p:spPr>
          <a:xfrm>
            <a:off x="381000" y="269028"/>
            <a:ext cx="11430000" cy="227267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关于直线与圆的位置关系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把直线的方程与圆的方程组成的方程组通过消元转化为一个一元二次方程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其判别式为</a:t>
            </a:r>
            <a:r>
              <a:rPr lang="en-US" altLang="zh-CN" sz="2800" i="1" dirty="0">
                <a:solidFill>
                  <a:srgbClr val="000000"/>
                </a:solidFill>
                <a:latin typeface="Times New Roman" panose="02020603050405020304" pitchFamily="18" charset="0"/>
                <a:cs typeface="Times New Roman" panose="02020603050405020304" pitchFamily="18" charset="0"/>
              </a:rPr>
              <a:t>Δ.</a:t>
            </a:r>
            <a:r>
              <a:rPr lang="zh-CN" altLang="zh-CN" sz="2800" dirty="0">
                <a:solidFill>
                  <a:srgbClr val="000000"/>
                </a:solidFill>
                <a:latin typeface="Times New Roman" panose="02020603050405020304" pitchFamily="18" charset="0"/>
                <a:cs typeface="Times New Roman" panose="02020603050405020304" pitchFamily="18" charset="0"/>
              </a:rPr>
              <a:t>设圆心到直线的距离为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圆的半径为</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则直线与圆的位置关系如下表</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089691727"/>
              </p:ext>
            </p:extLst>
          </p:nvPr>
        </p:nvGraphicFramePr>
        <p:xfrm>
          <a:off x="387069" y="2624318"/>
          <a:ext cx="11417863" cy="4204818"/>
        </p:xfrm>
        <a:graphic>
          <a:graphicData uri="http://schemas.openxmlformats.org/presentationml/2006/ole">
            <mc:AlternateContent xmlns:mc="http://schemas.openxmlformats.org/markup-compatibility/2006">
              <mc:Choice xmlns:v="urn:schemas-microsoft-com:vml" Requires="v">
                <p:oleObj spid="_x0000_s8229" name="文档" r:id="rId3" imgW="4567145" imgH="1681927" progId="Word.Document.12">
                  <p:embed/>
                </p:oleObj>
              </mc:Choice>
              <mc:Fallback>
                <p:oleObj name="文档" r:id="rId3" imgW="4567145" imgH="1681927" progId="Word.Document.12">
                  <p:embed/>
                  <p:pic>
                    <p:nvPicPr>
                      <p:cNvPr id="0" name=""/>
                      <p:cNvPicPr/>
                      <p:nvPr/>
                    </p:nvPicPr>
                    <p:blipFill>
                      <a:blip r:embed="rId4"/>
                      <a:stretch>
                        <a:fillRect/>
                      </a:stretch>
                    </p:blipFill>
                    <p:spPr>
                      <a:xfrm>
                        <a:off x="387069" y="2624318"/>
                        <a:ext cx="11417863" cy="4204818"/>
                      </a:xfrm>
                      <a:prstGeom prst="rect">
                        <a:avLst/>
                      </a:prstGeom>
                    </p:spPr>
                  </p:pic>
                </p:oleObj>
              </mc:Fallback>
            </mc:AlternateContent>
          </a:graphicData>
        </a:graphic>
      </p:graphicFrame>
      <p:sp>
        <p:nvSpPr>
          <p:cNvPr id="5" name="矩形 4"/>
          <p:cNvSpPr/>
          <p:nvPr/>
        </p:nvSpPr>
        <p:spPr>
          <a:xfrm>
            <a:off x="3712512" y="4775424"/>
            <a:ext cx="884648"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409725" y="5294969"/>
            <a:ext cx="893494"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391916" y="4768291"/>
            <a:ext cx="893494" cy="36482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6484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47566"/>
            <a:ext cx="5294719" cy="652486"/>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怎样求直线被圆截得的弦长</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7" name="组合 6"/>
          <p:cNvGrpSpPr/>
          <p:nvPr/>
        </p:nvGrpSpPr>
        <p:grpSpPr>
          <a:xfrm>
            <a:off x="41564" y="784413"/>
            <a:ext cx="11769436" cy="5189957"/>
            <a:chOff x="41564" y="784413"/>
            <a:chExt cx="11769436" cy="5189957"/>
          </a:xfrm>
        </p:grpSpPr>
        <p:graphicFrame>
          <p:nvGraphicFramePr>
            <p:cNvPr id="3" name="对象 2"/>
            <p:cNvGraphicFramePr>
              <a:graphicFrameLocks noChangeAspect="1"/>
            </p:cNvGraphicFramePr>
            <p:nvPr>
              <p:extLst>
                <p:ext uri="{D42A27DB-BD31-4B8C-83A1-F6EECF244321}">
                  <p14:modId xmlns:p14="http://schemas.microsoft.com/office/powerpoint/2010/main" val="2904846668"/>
                </p:ext>
              </p:extLst>
            </p:nvPr>
          </p:nvGraphicFramePr>
          <p:xfrm>
            <a:off x="360218" y="784413"/>
            <a:ext cx="11430000" cy="2010264"/>
          </p:xfrm>
          <a:graphic>
            <a:graphicData uri="http://schemas.openxmlformats.org/presentationml/2006/ole">
              <mc:AlternateContent xmlns:mc="http://schemas.openxmlformats.org/markup-compatibility/2006">
                <mc:Choice xmlns:v="urn:schemas-microsoft-com:vml" Requires="v">
                  <p:oleObj spid="_x0000_s9288"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360218" y="784413"/>
                          <a:ext cx="11430000" cy="2010264"/>
                        </a:xfrm>
                        <a:prstGeom prst="rect">
                          <a:avLst/>
                        </a:prstGeom>
                      </p:spPr>
                    </p:pic>
                  </p:oleObj>
                </mc:Fallback>
              </mc:AlternateContent>
            </a:graphicData>
          </a:graphic>
        </p:graphicFrame>
        <p:sp>
          <p:nvSpPr>
            <p:cNvPr id="4" name="矩形 3"/>
            <p:cNvSpPr>
              <a:spLocks noChangeAspect="1"/>
            </p:cNvSpPr>
            <p:nvPr/>
          </p:nvSpPr>
          <p:spPr>
            <a:xfrm>
              <a:off x="381000" y="2713776"/>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代数法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利用两点间的距离公式及根与系数的关系求解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设直线与圆的两交点分别是</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i="1" baseline="-25000"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baseline="-25000" dirty="0" err="1">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i="1" baseline="-25000"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baseline="-25000"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若直线的斜率</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存在</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912287940"/>
                </p:ext>
              </p:extLst>
            </p:nvPr>
          </p:nvGraphicFramePr>
          <p:xfrm>
            <a:off x="41564" y="3866143"/>
            <a:ext cx="11430000" cy="1005588"/>
          </p:xfrm>
          <a:graphic>
            <a:graphicData uri="http://schemas.openxmlformats.org/presentationml/2006/ole">
              <mc:AlternateContent xmlns:mc="http://schemas.openxmlformats.org/markup-compatibility/2006">
                <mc:Choice xmlns:v="urn:schemas-microsoft-com:vml" Requires="v">
                  <p:oleObj spid="_x0000_s9289"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41564" y="3866143"/>
                          <a:ext cx="11430000" cy="1005588"/>
                        </a:xfrm>
                        <a:prstGeom prst="rect">
                          <a:avLst/>
                        </a:prstGeom>
                      </p:spPr>
                    </p:pic>
                  </p:oleObj>
                </mc:Fallback>
              </mc:AlternateContent>
            </a:graphicData>
          </a:graphic>
        </p:graphicFrame>
        <p:sp>
          <p:nvSpPr>
            <p:cNvPr id="6" name="矩形 5"/>
            <p:cNvSpPr>
              <a:spLocks noChangeAspect="1"/>
            </p:cNvSpPr>
            <p:nvPr/>
          </p:nvSpPr>
          <p:spPr>
            <a:xfrm>
              <a:off x="381000" y="4822003"/>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若直线斜率不存在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则可直接求得点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进而求得弦长</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说明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弦长、弦心距的计算常用几何法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423326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94591"/>
            <a:ext cx="11430000" cy="1152367"/>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关于圆与圆的位置关系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请完成下表</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Segoe UI Symbol" panose="020B0502040204020203" pitchFamily="34" charset="0"/>
                <a:cs typeface="Segoe UI Symbol" panose="020B0502040204020203" pitchFamily="34" charset="0"/>
              </a:rPr>
              <a:t>☉</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Segoe UI Symbol" panose="020B0502040204020203" pitchFamily="34" charset="0"/>
                <a:cs typeface="Segoe UI Symbol" panose="020B0502040204020203" pitchFamily="34" charset="0"/>
              </a:rPr>
              <a:t>☉</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半径分别为</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d=|O</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67518990"/>
              </p:ext>
            </p:extLst>
          </p:nvPr>
        </p:nvGraphicFramePr>
        <p:xfrm>
          <a:off x="381000" y="1848919"/>
          <a:ext cx="11430000" cy="4673781"/>
        </p:xfrm>
        <a:graphic>
          <a:graphicData uri="http://schemas.openxmlformats.org/presentationml/2006/ole">
            <mc:AlternateContent xmlns:mc="http://schemas.openxmlformats.org/markup-compatibility/2006">
              <mc:Choice xmlns:v="urn:schemas-microsoft-com:vml" Requires="v">
                <p:oleObj spid="_x0000_s10275" name="文档" r:id="rId3" imgW="4567145" imgH="1867527" progId="Word.Document.12">
                  <p:embed/>
                </p:oleObj>
              </mc:Choice>
              <mc:Fallback>
                <p:oleObj name="文档" r:id="rId3" imgW="4567145" imgH="1867527" progId="Word.Document.12">
                  <p:embed/>
                  <p:pic>
                    <p:nvPicPr>
                      <p:cNvPr id="0" name=""/>
                      <p:cNvPicPr/>
                      <p:nvPr/>
                    </p:nvPicPr>
                    <p:blipFill>
                      <a:blip r:embed="rId4"/>
                      <a:stretch>
                        <a:fillRect/>
                      </a:stretch>
                    </p:blipFill>
                    <p:spPr>
                      <a:xfrm>
                        <a:off x="381000" y="1848919"/>
                        <a:ext cx="11430000" cy="4673781"/>
                      </a:xfrm>
                      <a:prstGeom prst="rect">
                        <a:avLst/>
                      </a:prstGeom>
                    </p:spPr>
                  </p:pic>
                </p:oleObj>
              </mc:Fallback>
            </mc:AlternateContent>
          </a:graphicData>
        </a:graphic>
      </p:graphicFrame>
      <p:sp>
        <p:nvSpPr>
          <p:cNvPr id="4" name="矩形 3"/>
          <p:cNvSpPr/>
          <p:nvPr/>
        </p:nvSpPr>
        <p:spPr>
          <a:xfrm>
            <a:off x="1898483" y="4669552"/>
            <a:ext cx="1291526"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042162" y="4669552"/>
            <a:ext cx="1330660"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787834" y="4669552"/>
            <a:ext cx="2337856"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530311" y="4669552"/>
            <a:ext cx="1330660"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73898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6" name="组合 5"/>
          <p:cNvGrpSpPr/>
          <p:nvPr/>
        </p:nvGrpSpPr>
        <p:grpSpPr>
          <a:xfrm>
            <a:off x="41564" y="259508"/>
            <a:ext cx="11769436" cy="5728519"/>
            <a:chOff x="41564" y="259508"/>
            <a:chExt cx="11769436" cy="5728519"/>
          </a:xfrm>
        </p:grpSpPr>
        <p:sp>
          <p:nvSpPr>
            <p:cNvPr id="4" name="矩形 3"/>
            <p:cNvSpPr>
              <a:spLocks noChangeAspect="1"/>
            </p:cNvSpPr>
            <p:nvPr/>
          </p:nvSpPr>
          <p:spPr>
            <a:xfrm>
              <a:off x="381000" y="259508"/>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正确的在它后面的括号里画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在平面直角坐标系中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每一条直线都有倾斜角与斜率</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直线的截距是直线与坐标轴的交点到原点的距离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624234304"/>
                </p:ext>
              </p:extLst>
            </p:nvPr>
          </p:nvGraphicFramePr>
          <p:xfrm>
            <a:off x="41564" y="2469835"/>
            <a:ext cx="11430000" cy="3518192"/>
          </p:xfrm>
          <a:graphic>
            <a:graphicData uri="http://schemas.openxmlformats.org/presentationml/2006/ole">
              <mc:AlternateContent xmlns:mc="http://schemas.openxmlformats.org/markup-compatibility/2006">
                <mc:Choice xmlns:v="urn:schemas-microsoft-com:vml" Requires="v">
                  <p:oleObj spid="_x0000_s11299" name="文档" r:id="rId3" imgW="4510061" imgH="1388212" progId="Word.Document.12">
                    <p:embed/>
                  </p:oleObj>
                </mc:Choice>
                <mc:Fallback>
                  <p:oleObj name="文档" r:id="rId3" imgW="4510061" imgH="1388212" progId="Word.Document.12">
                    <p:embed/>
                    <p:pic>
                      <p:nvPicPr>
                        <p:cNvPr id="0" name=""/>
                        <p:cNvPicPr/>
                        <p:nvPr/>
                      </p:nvPicPr>
                      <p:blipFill>
                        <a:blip r:embed="rId4"/>
                        <a:stretch>
                          <a:fillRect/>
                        </a:stretch>
                      </p:blipFill>
                      <p:spPr>
                        <a:xfrm>
                          <a:off x="41564" y="2469835"/>
                          <a:ext cx="11430000" cy="3518192"/>
                        </a:xfrm>
                        <a:prstGeom prst="rect">
                          <a:avLst/>
                        </a:prstGeom>
                      </p:spPr>
                    </p:pic>
                  </p:oleObj>
                </mc:Fallback>
              </mc:AlternateContent>
            </a:graphicData>
          </a:graphic>
        </p:graphicFrame>
      </p:grpSp>
      <p:sp>
        <p:nvSpPr>
          <p:cNvPr id="7" name="矩形 6"/>
          <p:cNvSpPr/>
          <p:nvPr/>
        </p:nvSpPr>
        <p:spPr>
          <a:xfrm>
            <a:off x="9358400" y="1510716"/>
            <a:ext cx="5865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901200" y="2059573"/>
            <a:ext cx="5865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7747809" y="2732116"/>
            <a:ext cx="5865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0376709" y="3547811"/>
            <a:ext cx="5865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727026" y="4290682"/>
            <a:ext cx="5865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765616" y="5464281"/>
            <a:ext cx="586571"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670981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(7)</a:t>
            </a:r>
            <a:r>
              <a:rPr lang="zh-CN" altLang="zh-CN" sz="2800" dirty="0">
                <a:solidFill>
                  <a:srgbClr val="000000"/>
                </a:solidFill>
                <a:latin typeface="Times New Roman" panose="02020603050405020304" pitchFamily="18" charset="0"/>
                <a:cs typeface="Times New Roman" panose="02020603050405020304" pitchFamily="18" charset="0"/>
              </a:rPr>
              <a:t>如果直线方程与圆的方程组成的方程组有解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那么直线与圆相交或相切</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(8)</a:t>
            </a:r>
            <a:r>
              <a:rPr lang="zh-CN" altLang="zh-CN" sz="2800" dirty="0">
                <a:solidFill>
                  <a:srgbClr val="000000"/>
                </a:solidFill>
                <a:latin typeface="Times New Roman" panose="02020603050405020304" pitchFamily="18" charset="0"/>
                <a:cs typeface="Times New Roman" panose="02020603050405020304" pitchFamily="18" charset="0"/>
              </a:rPr>
              <a:t>如果两圆的圆心距小于两圆的半径之和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那么两圆相交</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cs typeface="Times New Roman" panose="02020603050405020304" pitchFamily="18" charset="0"/>
              </a:rPr>
              <a:t>从两圆的方程中消掉二次项后得到的二元一次方程是两圆的公共弦所在直线的方程</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7" name="矩形 6"/>
          <p:cNvSpPr/>
          <p:nvPr/>
        </p:nvSpPr>
        <p:spPr>
          <a:xfrm>
            <a:off x="1107469" y="1897540"/>
            <a:ext cx="400635"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784628" y="2431677"/>
            <a:ext cx="440699"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279919" y="3553312"/>
            <a:ext cx="440699"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92683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rPr>
              <a:t>专题</a:t>
            </a:r>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归纳 核心</a:t>
            </a:r>
            <a:r>
              <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rPr>
              <a:t>突破</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专题一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求直线的方程</a:t>
                </a:r>
              </a:p>
            </p:txBody>
          </p:sp>
        </p:grpSp>
      </p:grpSp>
      <p:sp>
        <p:nvSpPr>
          <p:cNvPr id="2" name="矩形 1"/>
          <p:cNvSpPr>
            <a:spLocks noChangeAspect="1"/>
          </p:cNvSpPr>
          <p:nvPr/>
        </p:nvSpPr>
        <p:spPr>
          <a:xfrm>
            <a:off x="381000" y="1683063"/>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已知正方形中心为点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cs typeface="Times New Roman" panose="02020603050405020304" pitchFamily="18" charset="0"/>
              </a:rPr>
              <a:t>一条边所在直线的方程是</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求其他三边所在直线的方程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已知正方形的中心坐标和一条边所在直线的方程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由正方形的性质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中心到各边的距离相等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用待定系数法列方程求解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4" name="组合 3"/>
          <p:cNvGrpSpPr/>
          <p:nvPr/>
        </p:nvGrpSpPr>
        <p:grpSpPr>
          <a:xfrm>
            <a:off x="31173" y="-90633"/>
            <a:ext cx="11779827" cy="6561924"/>
            <a:chOff x="31173" y="-90633"/>
            <a:chExt cx="11779827" cy="6561924"/>
          </a:xfrm>
        </p:grpSpPr>
        <p:graphicFrame>
          <p:nvGraphicFramePr>
            <p:cNvPr id="2" name="对象 1"/>
            <p:cNvGraphicFramePr>
              <a:graphicFrameLocks noChangeAspect="1"/>
            </p:cNvGraphicFramePr>
            <p:nvPr>
              <p:extLst>
                <p:ext uri="{D42A27DB-BD31-4B8C-83A1-F6EECF244321}">
                  <p14:modId xmlns:p14="http://schemas.microsoft.com/office/powerpoint/2010/main" val="1194513813"/>
                </p:ext>
              </p:extLst>
            </p:nvPr>
          </p:nvGraphicFramePr>
          <p:xfrm>
            <a:off x="31173" y="-90633"/>
            <a:ext cx="11430000" cy="5529369"/>
          </p:xfrm>
          <a:graphic>
            <a:graphicData uri="http://schemas.openxmlformats.org/presentationml/2006/ole">
              <mc:AlternateContent xmlns:mc="http://schemas.openxmlformats.org/markup-compatibility/2006">
                <mc:Choice xmlns:v="urn:schemas-microsoft-com:vml" Requires="v">
                  <p:oleObj spid="_x0000_s12321" name="文档" r:id="rId3" imgW="4510061" imgH="2181784" progId="Word.Document.12">
                    <p:embed/>
                  </p:oleObj>
                </mc:Choice>
                <mc:Fallback>
                  <p:oleObj name="文档" r:id="rId3" imgW="4510061" imgH="2181784" progId="Word.Document.12">
                    <p:embed/>
                    <p:pic>
                      <p:nvPicPr>
                        <p:cNvPr id="0" name=""/>
                        <p:cNvPicPr/>
                        <p:nvPr/>
                      </p:nvPicPr>
                      <p:blipFill>
                        <a:blip r:embed="rId4"/>
                        <a:stretch>
                          <a:fillRect/>
                        </a:stretch>
                      </p:blipFill>
                      <p:spPr>
                        <a:xfrm>
                          <a:off x="31173" y="-90633"/>
                          <a:ext cx="11430000" cy="5529369"/>
                        </a:xfrm>
                        <a:prstGeom prst="rect">
                          <a:avLst/>
                        </a:prstGeom>
                      </p:spPr>
                    </p:pic>
                  </p:oleObj>
                </mc:Fallback>
              </mc:AlternateContent>
            </a:graphicData>
          </a:graphic>
        </p:graphicFrame>
        <p:sp>
          <p:nvSpPr>
            <p:cNvPr id="3" name="矩形 2"/>
            <p:cNvSpPr>
              <a:spLocks noChangeAspect="1"/>
            </p:cNvSpPr>
            <p:nvPr/>
          </p:nvSpPr>
          <p:spPr>
            <a:xfrm>
              <a:off x="381000" y="5318924"/>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所以另两边所在直线的方程为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综上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正方形其他三边所在直线的方程为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72290"/>
            <a:ext cx="11430000" cy="5693866"/>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具有</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某种共同属性的一类直线的集合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我们称之为直线系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这一属性可通过直线系方程体现出来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它们的变化存在于参数之中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常见的直线</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系</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过已知点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的直线系</a:t>
            </a:r>
            <a:r>
              <a:rPr lang="en-US" altLang="zh-CN" sz="2800" i="1" dirty="0">
                <a:solidFill>
                  <a:srgbClr val="000000"/>
                </a:solidFill>
                <a:latin typeface="Times New Roman" panose="02020603050405020304" pitchFamily="18" charset="0"/>
                <a:cs typeface="Times New Roman" panose="02020603050405020304" pitchFamily="18" charset="0"/>
              </a:rPr>
              <a:t>y-y</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x-x</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为参数</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斜率为</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的平行直线系方程</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i="1" dirty="0" err="1">
                <a:solidFill>
                  <a:srgbClr val="000000"/>
                </a:solidFill>
                <a:latin typeface="Times New Roman" panose="02020603050405020304" pitchFamily="18" charset="0"/>
                <a:cs typeface="Times New Roman" panose="02020603050405020304" pitchFamily="18" charset="0"/>
              </a:rPr>
              <a:t>kx+b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为参数</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与已知直线</a:t>
            </a:r>
            <a:r>
              <a:rPr lang="en-US" altLang="zh-CN" sz="2800" i="1" dirty="0" err="1">
                <a:solidFill>
                  <a:srgbClr val="000000"/>
                </a:solidFill>
                <a:latin typeface="Times New Roman" panose="02020603050405020304" pitchFamily="18" charset="0"/>
                <a:cs typeface="Times New Roman" panose="02020603050405020304" pitchFamily="18" charset="0"/>
              </a:rPr>
              <a:t>Ax+By+C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平行的直线系方程为</a:t>
            </a:r>
            <a:r>
              <a:rPr lang="en-US" altLang="zh-CN" sz="2800" i="1" dirty="0" err="1">
                <a:solidFill>
                  <a:srgbClr val="000000"/>
                </a:solidFill>
                <a:latin typeface="Times New Roman" panose="02020603050405020304" pitchFamily="18" charset="0"/>
                <a:cs typeface="Times New Roman" panose="02020603050405020304" pitchFamily="18" charset="0"/>
              </a:rPr>
              <a:t>Ax+By+</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为参数</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与已知直线</a:t>
            </a:r>
            <a:r>
              <a:rPr lang="en-US" altLang="zh-CN" sz="2800" i="1" dirty="0" err="1">
                <a:solidFill>
                  <a:srgbClr val="000000"/>
                </a:solidFill>
                <a:latin typeface="Times New Roman" panose="02020603050405020304" pitchFamily="18" charset="0"/>
                <a:cs typeface="Times New Roman" panose="02020603050405020304" pitchFamily="18" charset="0"/>
              </a:rPr>
              <a:t>Ax+By+C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垂直的直线系方程为</a:t>
            </a:r>
            <a:r>
              <a:rPr lang="en-US" altLang="zh-CN" sz="2800" i="1" dirty="0" err="1">
                <a:solidFill>
                  <a:srgbClr val="000000"/>
                </a:solidFill>
                <a:latin typeface="Times New Roman" panose="02020603050405020304" pitchFamily="18" charset="0"/>
                <a:cs typeface="Times New Roman" panose="02020603050405020304" pitchFamily="18" charset="0"/>
              </a:rPr>
              <a:t>Bx-Ay+</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为参数</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过直线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的交点的直线系方程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为参数</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但不包含直线</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59638"/>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经过直线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与直线</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且原点到</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的距离为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由题意可设直线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①</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由原点到直线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的距离为</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281586352"/>
              </p:ext>
            </p:extLst>
          </p:nvPr>
        </p:nvGraphicFramePr>
        <p:xfrm>
          <a:off x="41564" y="3099116"/>
          <a:ext cx="11430000" cy="1507927"/>
        </p:xfrm>
        <a:graphic>
          <a:graphicData uri="http://schemas.openxmlformats.org/presentationml/2006/ole">
            <mc:AlternateContent xmlns:mc="http://schemas.openxmlformats.org/markup-compatibility/2006">
              <mc:Choice xmlns:v="urn:schemas-microsoft-com:vml" Requires="v">
                <p:oleObj spid="_x0000_s13345" name="文档" r:id="rId3" imgW="4510061" imgH="594999" progId="Word.Document.12">
                  <p:embed/>
                </p:oleObj>
              </mc:Choice>
              <mc:Fallback>
                <p:oleObj name="文档" r:id="rId3" imgW="4510061" imgH="594999" progId="Word.Document.12">
                  <p:embed/>
                  <p:pic>
                    <p:nvPicPr>
                      <p:cNvPr id="0" name=""/>
                      <p:cNvPicPr/>
                      <p:nvPr/>
                    </p:nvPicPr>
                    <p:blipFill>
                      <a:blip r:embed="rId4"/>
                      <a:stretch>
                        <a:fillRect/>
                      </a:stretch>
                    </p:blipFill>
                    <p:spPr>
                      <a:xfrm>
                        <a:off x="41564" y="3099116"/>
                        <a:ext cx="11430000" cy="1507927"/>
                      </a:xfrm>
                      <a:prstGeom prst="rect">
                        <a:avLst/>
                      </a:prstGeom>
                    </p:spPr>
                  </p:pic>
                </p:oleObj>
              </mc:Fallback>
            </mc:AlternateContent>
          </a:graphicData>
        </a:graphic>
      </p:graphicFrame>
      <p:sp>
        <p:nvSpPr>
          <p:cNvPr id="7" name="矩形 6"/>
          <p:cNvSpPr>
            <a:spLocks noChangeAspect="1"/>
          </p:cNvSpPr>
          <p:nvPr/>
        </p:nvSpPr>
        <p:spPr>
          <a:xfrm>
            <a:off x="381000" y="4414913"/>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代入方程</a:t>
            </a: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3" dur="500"/>
                                        <p:tgtEl>
                                          <p:spTgt spid="2">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矩形 4"/>
              <p:cNvSpPr>
                <a:spLocks noChangeAspect="1"/>
              </p:cNvSpPr>
              <p:nvPr/>
            </p:nvSpPr>
            <p:spPr>
              <a:xfrm>
                <a:off x="381000" y="54841"/>
                <a:ext cx="11430000" cy="6689075"/>
              </a:xfrm>
              <a:prstGeom prst="rect">
                <a:avLst/>
              </a:prstGeom>
            </p:spPr>
            <p:txBody>
              <a:bodyPr>
                <a:spAutoFit/>
              </a:bodyPr>
              <a:lstStyle/>
              <a:p>
                <a:pPr indent="279400">
                  <a:lnSpc>
                    <a:spcPct val="11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解方程组</a:t>
                </a:r>
                <a14:m>
                  <m:oMath xmlns:m="http://schemas.openxmlformats.org/officeDocument/2006/math">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800" i="1">
                                  <a:solidFill>
                                    <a:srgbClr val="000000"/>
                                  </a:solidFill>
                                  <a:latin typeface="Cambria Math" panose="02040503050406030204" pitchFamily="18" charset="0"/>
                                  <a:cs typeface="Times New Roman" panose="02020603050405020304" pitchFamily="18" charset="0"/>
                                </a:rPr>
                                <m:t>𝑥</m:t>
                              </m:r>
                              <m:r>
                                <a:rPr lang="en-US" altLang="zh-CN" sz="2800">
                                  <a:solidFill>
                                    <a:srgbClr val="000000"/>
                                  </a:solidFill>
                                  <a:latin typeface="Cambria Math" panose="02040503050406030204" pitchFamily="18" charset="0"/>
                                  <a:cs typeface="Times New Roman" panose="02020603050405020304" pitchFamily="18" charset="0"/>
                                </a:rPr>
                                <m:t>+3</m:t>
                              </m:r>
                              <m:r>
                                <a:rPr lang="en-US" altLang="zh-CN" sz="2800" i="1">
                                  <a:solidFill>
                                    <a:srgbClr val="000000"/>
                                  </a:solidFill>
                                  <a:latin typeface="Cambria Math" panose="02040503050406030204" pitchFamily="18" charset="0"/>
                                  <a:cs typeface="Times New Roman" panose="02020603050405020304" pitchFamily="18" charset="0"/>
                                </a:rPr>
                                <m:t>𝑦</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10=0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r>
                                <a:rPr lang="en-US" altLang="zh-CN" sz="2800">
                                  <a:solidFill>
                                    <a:srgbClr val="000000"/>
                                  </a:solidFill>
                                  <a:latin typeface="Cambria Math" panose="02040503050406030204" pitchFamily="18" charset="0"/>
                                  <a:cs typeface="Times New Roman" panose="02020603050405020304" pitchFamily="18" charset="0"/>
                                </a:rPr>
                                <m:t>3</m:t>
                              </m:r>
                              <m:r>
                                <a:rPr lang="en-US" altLang="zh-CN" sz="2800" i="1">
                                  <a:solidFill>
                                    <a:srgbClr val="000000"/>
                                  </a:solidFill>
                                  <a:latin typeface="Cambria Math" panose="02040503050406030204" pitchFamily="18" charset="0"/>
                                  <a:cs typeface="Times New Roman" panose="02020603050405020304" pitchFamily="18" charset="0"/>
                                </a:rPr>
                                <m:t>𝑥</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𝑦</m:t>
                              </m:r>
                              <m:r>
                                <a:rPr lang="en-US" altLang="zh-CN" sz="2800">
                                  <a:solidFill>
                                    <a:srgbClr val="000000"/>
                                  </a:solidFill>
                                  <a:latin typeface="Cambria Math" panose="02040503050406030204" pitchFamily="18" charset="0"/>
                                  <a:cs typeface="Times New Roman" panose="02020603050405020304" pitchFamily="18" charset="0"/>
                                </a:rPr>
                                <m:t>=0</m:t>
                              </m:r>
                              <m:r>
                                <m:rPr>
                                  <m:nor/>
                                </m:rPr>
                                <a:rPr lang="en-US" altLang="zh-CN" sz="2800">
                                  <a:solidFill>
                                    <a:srgbClr val="000000"/>
                                  </a:solidFill>
                                  <a:latin typeface="Times New Roman" panose="02020603050405020304" pitchFamily="18" charset="0"/>
                                  <a:cs typeface="Times New Roman" panose="02020603050405020304" pitchFamily="18" charset="0"/>
                                </a:rPr>
                                <m:t>,</m:t>
                              </m:r>
                            </m:e>
                          </m:mr>
                        </m:m>
                      </m:e>
                    </m:d>
                  </m:oMath>
                </a14:m>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得两条直线的交点为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当斜率存在时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kx-y+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由原点到直线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的距离为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𝑘</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0</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0+3</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𝑘</m:t>
                        </m:r>
                        <m:r>
                          <m:rPr>
                            <m:nor/>
                          </m:rPr>
                          <a:rPr lang="en-US" altLang="zh-CN" sz="2800">
                            <a:solidFill>
                              <a:srgbClr val="000000"/>
                            </a:solidFill>
                            <a:latin typeface="Times New Roman" panose="02020603050405020304" pitchFamily="18" charset="0"/>
                            <a:cs typeface="Times New Roman" panose="02020603050405020304" pitchFamily="18" charset="0"/>
                          </a:rPr>
                          <m:t>|</m:t>
                        </m:r>
                      </m:num>
                      <m:den>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𝑘</m:t>
                                </m:r>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a:solidFill>
                                  <a:srgbClr val="000000"/>
                                </a:solidFill>
                                <a:latin typeface="Cambria Math" panose="02040503050406030204" pitchFamily="18" charset="0"/>
                                <a:cs typeface="Times New Roman" panose="02020603050405020304" pitchFamily="18" charset="0"/>
                              </a:rPr>
                              <m:t>+</m:t>
                            </m:r>
                            <m:r>
                              <m:rPr>
                                <m:nor/>
                              </m:rPr>
                              <a:rPr lang="en-US" altLang="zh-CN" sz="2800">
                                <a:solidFill>
                                  <a:srgbClr val="000000"/>
                                </a:solidFill>
                                <a:latin typeface="Times New Roman" panose="02020603050405020304" pitchFamily="18" charset="0"/>
                                <a:cs typeface="Times New Roman" panose="02020603050405020304" pitchFamily="18" charset="0"/>
                              </a:rPr>
                              <m:t>(</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nor/>
                                  </m:rPr>
                                  <a:rPr lang="en-US" altLang="zh-CN" sz="2800">
                                    <a:solidFill>
                                      <a:srgbClr val="000000"/>
                                    </a:solidFill>
                                    <a:latin typeface="Times New Roman" panose="02020603050405020304" pitchFamily="18" charset="0"/>
                                    <a:cs typeface="Times New Roman" panose="02020603050405020304" pitchFamily="18" charset="0"/>
                                  </a:rPr>
                                  <m:t>)</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-k|=</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𝑘</m:t>
                            </m:r>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a:solidFill>
                              <a:srgbClr val="000000"/>
                            </a:solidFill>
                            <a:latin typeface="Cambria Math" panose="02040503050406030204" pitchFamily="18" charset="0"/>
                            <a:cs typeface="Times New Roman" panose="02020603050405020304" pitchFamily="18" charset="0"/>
                          </a:rPr>
                          <m:t>+</m:t>
                        </m:r>
                        <m:r>
                          <m:rPr>
                            <m:nor/>
                          </m:rPr>
                          <a:rPr lang="en-US" altLang="zh-CN" sz="2800">
                            <a:solidFill>
                              <a:srgbClr val="000000"/>
                            </a:solidFill>
                            <a:latin typeface="Times New Roman" panose="02020603050405020304" pitchFamily="18" charset="0"/>
                            <a:cs typeface="Times New Roman" panose="02020603050405020304" pitchFamily="18" charset="0"/>
                          </a:rPr>
                          <m:t>(</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nor/>
                              </m:rPr>
                              <a:rPr lang="en-US" altLang="zh-CN" sz="2800">
                                <a:solidFill>
                                  <a:srgbClr val="000000"/>
                                </a:solidFill>
                                <a:latin typeface="Times New Roman" panose="02020603050405020304" pitchFamily="18" charset="0"/>
                                <a:cs typeface="Times New Roman" panose="02020603050405020304" pitchFamily="18" charset="0"/>
                              </a:rPr>
                              <m:t>)</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k=</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4</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4</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当直线斜率不存在时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直线方程为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符合题意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381000" y="54841"/>
                <a:ext cx="11430000" cy="6689075"/>
              </a:xfrm>
              <a:prstGeom prst="rect">
                <a:avLst/>
              </a:prstGeom>
              <a:blipFill rotWithShape="0">
                <a:blip r:embed="rId2"/>
                <a:stretch>
                  <a:fillRect b="-8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45225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专题二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直线位置关系的判定</a:t>
                </a:r>
              </a:p>
            </p:txBody>
          </p:sp>
        </p:grpSp>
      </p:grpSp>
      <p:sp>
        <p:nvSpPr>
          <p:cNvPr id="3" name="矩形 2"/>
          <p:cNvSpPr>
            <a:spLocks noChangeAspect="1"/>
          </p:cNvSpPr>
          <p:nvPr/>
        </p:nvSpPr>
        <p:spPr>
          <a:xfrm>
            <a:off x="381000" y="1243879"/>
            <a:ext cx="11430000" cy="227267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为何值时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y-</a:t>
            </a:r>
            <a:r>
              <a:rPr lang="en-US" altLang="zh-CN" sz="2800" dirty="0" smtClean="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互相垂直</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83822428"/>
              </p:ext>
            </p:extLst>
          </p:nvPr>
        </p:nvGraphicFramePr>
        <p:xfrm>
          <a:off x="48490" y="3558116"/>
          <a:ext cx="11430000" cy="1382575"/>
        </p:xfrm>
        <a:graphic>
          <a:graphicData uri="http://schemas.openxmlformats.org/presentationml/2006/ole">
            <mc:AlternateContent xmlns:mc="http://schemas.openxmlformats.org/markup-compatibility/2006">
              <mc:Choice xmlns:v="urn:schemas-microsoft-com:vml" Requires="v">
                <p:oleObj spid="_x0000_s40971" name="文档" r:id="rId3" imgW="4510061" imgH="545538" progId="Word.Document.12">
                  <p:embed/>
                </p:oleObj>
              </mc:Choice>
              <mc:Fallback>
                <p:oleObj name="文档" r:id="rId3" imgW="4510061" imgH="545538" progId="Word.Document.12">
                  <p:embed/>
                  <p:pic>
                    <p:nvPicPr>
                      <p:cNvPr id="0" name=""/>
                      <p:cNvPicPr/>
                      <p:nvPr/>
                    </p:nvPicPr>
                    <p:blipFill>
                      <a:blip r:embed="rId4"/>
                      <a:stretch>
                        <a:fillRect/>
                      </a:stretch>
                    </p:blipFill>
                    <p:spPr>
                      <a:xfrm>
                        <a:off x="48490" y="3558116"/>
                        <a:ext cx="11430000" cy="138257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3636"/>
            <a:ext cx="11430000" cy="4013406"/>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smtClean="0">
                <a:solidFill>
                  <a:srgbClr val="000000"/>
                </a:solidFill>
                <a:latin typeface="黑体" panose="02010609060101010101" pitchFamily="49" charset="-122"/>
                <a:ea typeface="黑体" panose="02010609060101010101" pitchFamily="49" charset="-122"/>
                <a:cs typeface="Times New Roman" panose="02020603050405020304" pitchFamily="18" charset="0"/>
              </a:rPr>
              <a:t>反思</a:t>
            </a: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直线的方程判定两条直线的平行或垂直关系是这部分内容常涉及的题型</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求解时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可以利用斜率之间的关系判定</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若方程都是一般式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知道平行或垂直关系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求参数的值时也可以用如下方法</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可令</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解得参数的值后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再代入方程验证</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排除重合的情况</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可利用</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直接求参数的值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85332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4841"/>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x+my+</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分别求</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相交</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重合</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相交</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8" name="组合 7"/>
          <p:cNvGrpSpPr/>
          <p:nvPr/>
        </p:nvGrpSpPr>
        <p:grpSpPr>
          <a:xfrm>
            <a:off x="41564" y="2273888"/>
            <a:ext cx="11769436" cy="4018566"/>
            <a:chOff x="41564" y="2273888"/>
            <a:chExt cx="11769436" cy="4018566"/>
          </a:xfrm>
        </p:grpSpPr>
        <p:graphicFrame>
          <p:nvGraphicFramePr>
            <p:cNvPr id="3" name="对象 2"/>
            <p:cNvGraphicFramePr>
              <a:graphicFrameLocks noChangeAspect="1"/>
            </p:cNvGraphicFramePr>
            <p:nvPr>
              <p:extLst>
                <p:ext uri="{D42A27DB-BD31-4B8C-83A1-F6EECF244321}">
                  <p14:modId xmlns:p14="http://schemas.microsoft.com/office/powerpoint/2010/main" val="3217288732"/>
                </p:ext>
              </p:extLst>
            </p:nvPr>
          </p:nvGraphicFramePr>
          <p:xfrm>
            <a:off x="41564" y="2273888"/>
            <a:ext cx="11430000" cy="1005588"/>
          </p:xfrm>
          <a:graphic>
            <a:graphicData uri="http://schemas.openxmlformats.org/presentationml/2006/ole">
              <mc:AlternateContent xmlns:mc="http://schemas.openxmlformats.org/markup-compatibility/2006">
                <mc:Choice xmlns:v="urn:schemas-microsoft-com:vml" Requires="v">
                  <p:oleObj spid="_x0000_s15416"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41564" y="2273888"/>
                          <a:ext cx="11430000" cy="1005588"/>
                        </a:xfrm>
                        <a:prstGeom prst="rect">
                          <a:avLst/>
                        </a:prstGeom>
                      </p:spPr>
                    </p:pic>
                  </p:oleObj>
                </mc:Fallback>
              </mc:AlternateContent>
            </a:graphicData>
          </a:graphic>
        </p:graphicFrame>
        <p:grpSp>
          <p:nvGrpSpPr>
            <p:cNvPr id="7" name="组合 6"/>
            <p:cNvGrpSpPr/>
            <p:nvPr/>
          </p:nvGrpSpPr>
          <p:grpSpPr>
            <a:xfrm>
              <a:off x="41564" y="3157617"/>
              <a:ext cx="11769436" cy="3134837"/>
              <a:chOff x="41564" y="3157617"/>
              <a:chExt cx="11769436" cy="3134837"/>
            </a:xfrm>
          </p:grpSpPr>
          <p:sp>
            <p:nvSpPr>
              <p:cNvPr id="4" name="矩形 3"/>
              <p:cNvSpPr>
                <a:spLocks noChangeAspect="1"/>
              </p:cNvSpPr>
              <p:nvPr/>
            </p:nvSpPr>
            <p:spPr>
              <a:xfrm>
                <a:off x="381000" y="315761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相交</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471985810"/>
                  </p:ext>
                </p:extLst>
              </p:nvPr>
            </p:nvGraphicFramePr>
            <p:xfrm>
              <a:off x="41564" y="4237247"/>
              <a:ext cx="11430000" cy="1005588"/>
            </p:xfrm>
            <a:graphic>
              <a:graphicData uri="http://schemas.openxmlformats.org/presentationml/2006/ole">
                <mc:AlternateContent xmlns:mc="http://schemas.openxmlformats.org/markup-compatibility/2006">
                  <mc:Choice xmlns:v="urn:schemas-microsoft-com:vml" Requires="v">
                    <p:oleObj spid="_x0000_s15417"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41564" y="4237247"/>
                            <a:ext cx="11430000" cy="1005588"/>
                          </a:xfrm>
                          <a:prstGeom prst="rect">
                            <a:avLst/>
                          </a:prstGeom>
                        </p:spPr>
                      </p:pic>
                    </p:oleObj>
                  </mc:Fallback>
                </mc:AlternateContent>
              </a:graphicData>
            </a:graphic>
          </p:graphicFrame>
          <p:sp>
            <p:nvSpPr>
              <p:cNvPr id="6" name="矩形 5"/>
              <p:cNvSpPr>
                <a:spLocks noChangeAspect="1"/>
              </p:cNvSpPr>
              <p:nvPr/>
            </p:nvSpPr>
            <p:spPr>
              <a:xfrm>
                <a:off x="381000" y="514008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重合</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重合</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pSp>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专题三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求圆的方程</a:t>
                </a:r>
              </a:p>
            </p:txBody>
          </p:sp>
        </p:grpSp>
      </p:grpSp>
      <p:graphicFrame>
        <p:nvGraphicFramePr>
          <p:cNvPr id="3" name="对象 2"/>
          <p:cNvGraphicFramePr>
            <a:graphicFrameLocks noChangeAspect="1"/>
          </p:cNvGraphicFramePr>
          <p:nvPr>
            <p:extLst>
              <p:ext uri="{D42A27DB-BD31-4B8C-83A1-F6EECF244321}">
                <p14:modId xmlns:p14="http://schemas.microsoft.com/office/powerpoint/2010/main" val="3994347068"/>
              </p:ext>
            </p:extLst>
          </p:nvPr>
        </p:nvGraphicFramePr>
        <p:xfrm>
          <a:off x="381000" y="1866740"/>
          <a:ext cx="11430000" cy="1206525"/>
        </p:xfrm>
        <a:graphic>
          <a:graphicData uri="http://schemas.openxmlformats.org/presentationml/2006/ole">
            <mc:AlternateContent xmlns:mc="http://schemas.openxmlformats.org/markup-compatibility/2006">
              <mc:Choice xmlns:v="urn:schemas-microsoft-com:vml" Requires="v">
                <p:oleObj spid="_x0000_s16412" name="文档" r:id="rId3" imgW="4510061" imgH="476072" progId="Word.Document.12">
                  <p:embed/>
                </p:oleObj>
              </mc:Choice>
              <mc:Fallback>
                <p:oleObj name="文档" r:id="rId3" imgW="4510061" imgH="476072" progId="Word.Document.12">
                  <p:embed/>
                  <p:pic>
                    <p:nvPicPr>
                      <p:cNvPr id="0" name=""/>
                      <p:cNvPicPr/>
                      <p:nvPr/>
                    </p:nvPicPr>
                    <p:blipFill>
                      <a:blip r:embed="rId4"/>
                      <a:stretch>
                        <a:fillRect/>
                      </a:stretch>
                    </p:blipFill>
                    <p:spPr>
                      <a:xfrm>
                        <a:off x="381000" y="1866740"/>
                        <a:ext cx="11430000" cy="1206525"/>
                      </a:xfrm>
                      <a:prstGeom prst="rect">
                        <a:avLst/>
                      </a:prstGeom>
                    </p:spPr>
                  </p:pic>
                </p:oleObj>
              </mc:Fallback>
            </mc:AlternateContent>
          </a:graphicData>
        </a:graphic>
      </p:graphicFrame>
      <p:sp>
        <p:nvSpPr>
          <p:cNvPr id="4" name="矩形 3"/>
          <p:cNvSpPr>
            <a:spLocks noChangeAspect="1"/>
          </p:cNvSpPr>
          <p:nvPr/>
        </p:nvSpPr>
        <p:spPr>
          <a:xfrm>
            <a:off x="381000" y="3052483"/>
            <a:ext cx="11430000" cy="65248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利用待定系数法设出圆的标准方程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根据条件列式求解</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1564" y="34059"/>
            <a:ext cx="11769436" cy="6693432"/>
            <a:chOff x="41564" y="34059"/>
            <a:chExt cx="11769436" cy="6693432"/>
          </a:xfrm>
        </p:grpSpPr>
        <p:sp>
          <p:nvSpPr>
            <p:cNvPr id="2" name="矩形 1"/>
            <p:cNvSpPr>
              <a:spLocks noChangeAspect="1"/>
            </p:cNvSpPr>
            <p:nvPr/>
          </p:nvSpPr>
          <p:spPr>
            <a:xfrm>
              <a:off x="381000" y="3405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设圆的方程是</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圆心在直线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NEU-BZ-S92"/>
                  <a:cs typeface="宋体" panose="02010600030101010101" pitchFamily="2" charset="-122"/>
                </a:rPr>
                <a:t>①</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a:spLocks noChangeAspect="1"/>
            </p:cNvSpPr>
            <p:nvPr/>
          </p:nvSpPr>
          <p:spPr>
            <a:xfrm>
              <a:off x="381000" y="5575124"/>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解由</a:t>
              </a:r>
              <a:r>
                <a:rPr lang="zh-CN" altLang="zh-CN" sz="2800" dirty="0">
                  <a:solidFill>
                    <a:srgbClr val="000000"/>
                  </a:solidFill>
                  <a:latin typeface="NEU-BZ-S92"/>
                  <a:cs typeface="宋体" panose="02010600030101010101" pitchFamily="2" charset="-122"/>
                </a:rPr>
                <a:t>①②</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组成的方程组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故所求圆的方程为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771707831"/>
                </p:ext>
              </p:extLst>
            </p:nvPr>
          </p:nvGraphicFramePr>
          <p:xfrm>
            <a:off x="41564" y="1124080"/>
            <a:ext cx="11430000" cy="4523781"/>
          </p:xfrm>
          <a:graphic>
            <a:graphicData uri="http://schemas.openxmlformats.org/presentationml/2006/ole">
              <mc:AlternateContent xmlns:mc="http://schemas.openxmlformats.org/markup-compatibility/2006">
                <mc:Choice xmlns:v="urn:schemas-microsoft-com:vml" Requires="v">
                  <p:oleObj spid="_x0000_s17437" name="文档" r:id="rId3" imgW="4510061" imgH="1784998" progId="Word.Document.12">
                    <p:embed/>
                  </p:oleObj>
                </mc:Choice>
                <mc:Fallback>
                  <p:oleObj name="文档" r:id="rId3" imgW="4510061" imgH="1784998" progId="Word.Document.12">
                    <p:embed/>
                    <p:pic>
                      <p:nvPicPr>
                        <p:cNvPr id="0" name=""/>
                        <p:cNvPicPr/>
                        <p:nvPr/>
                      </p:nvPicPr>
                      <p:blipFill>
                        <a:blip r:embed="rId4"/>
                        <a:stretch>
                          <a:fillRect/>
                        </a:stretch>
                      </p:blipFill>
                      <p:spPr>
                        <a:xfrm>
                          <a:off x="41564" y="1124080"/>
                          <a:ext cx="11430000" cy="4523781"/>
                        </a:xfrm>
                        <a:prstGeom prst="rect">
                          <a:avLst/>
                        </a:prstGeom>
                      </p:spPr>
                    </p:pic>
                  </p:oleObj>
                </mc:Fallback>
              </mc:AlternateContent>
            </a:graphicData>
          </a:graphic>
        </p:graphicFrame>
      </p:gr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1564" y="313729"/>
            <a:ext cx="11769436" cy="5222381"/>
            <a:chOff x="41564" y="594286"/>
            <a:chExt cx="11769436" cy="5222381"/>
          </a:xfrm>
        </p:grpSpPr>
        <p:sp>
          <p:nvSpPr>
            <p:cNvPr id="2" name="矩形 1"/>
            <p:cNvSpPr>
              <a:spLocks noChangeAspect="1"/>
            </p:cNvSpPr>
            <p:nvPr/>
          </p:nvSpPr>
          <p:spPr>
            <a:xfrm>
              <a:off x="381000" y="594286"/>
              <a:ext cx="6510115" cy="592213"/>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设圆的方程为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41066600"/>
                </p:ext>
              </p:extLst>
            </p:nvPr>
          </p:nvGraphicFramePr>
          <p:xfrm>
            <a:off x="41564" y="1246772"/>
            <a:ext cx="11430000" cy="3518192"/>
          </p:xfrm>
          <a:graphic>
            <a:graphicData uri="http://schemas.openxmlformats.org/presentationml/2006/ole">
              <mc:AlternateContent xmlns:mc="http://schemas.openxmlformats.org/markup-compatibility/2006">
                <mc:Choice xmlns:v="urn:schemas-microsoft-com:vml" Requires="v">
                  <p:oleObj spid="_x0000_s18460" name="文档" r:id="rId3" imgW="4510061" imgH="1388212" progId="Word.Document.12">
                    <p:embed/>
                  </p:oleObj>
                </mc:Choice>
                <mc:Fallback>
                  <p:oleObj name="文档" r:id="rId3" imgW="4510061" imgH="1388212" progId="Word.Document.12">
                    <p:embed/>
                    <p:pic>
                      <p:nvPicPr>
                        <p:cNvPr id="0" name=""/>
                        <p:cNvPicPr/>
                        <p:nvPr/>
                      </p:nvPicPr>
                      <p:blipFill>
                        <a:blip r:embed="rId4"/>
                        <a:stretch>
                          <a:fillRect/>
                        </a:stretch>
                      </p:blipFill>
                      <p:spPr>
                        <a:xfrm>
                          <a:off x="41564" y="1246772"/>
                          <a:ext cx="11430000" cy="3518192"/>
                        </a:xfrm>
                        <a:prstGeom prst="rect">
                          <a:avLst/>
                        </a:prstGeom>
                      </p:spPr>
                    </p:pic>
                  </p:oleObj>
                </mc:Fallback>
              </mc:AlternateContent>
            </a:graphicData>
          </a:graphic>
        </p:graphicFrame>
        <p:sp>
          <p:nvSpPr>
            <p:cNvPr id="4" name="矩形 3"/>
            <p:cNvSpPr>
              <a:spLocks noChangeAspect="1"/>
            </p:cNvSpPr>
            <p:nvPr/>
          </p:nvSpPr>
          <p:spPr>
            <a:xfrm>
              <a:off x="381000" y="4664300"/>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又因为</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所以可得</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故所求圆的方程为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88240"/>
            <a:ext cx="11430000" cy="51337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待定系数法求圆的方程的一般步骤</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第一步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选择圆的方程的某一形式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第二步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由题意得</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组</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第三步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解出</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第四步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代入圆的方程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解题时充分利用圆的几何性质可获得解题途径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减少运算量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例如</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圆的切线垂直于经过切点的半径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圆心与弦中点的连线垂直平分弦</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两圆相交时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两圆圆心的连线垂直平分两圆的公共弦</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两圆相切时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两圆圆心的连线过切点等</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 y="151371"/>
            <a:ext cx="11336478" cy="433754"/>
            <a:chOff x="381000" y="205656"/>
            <a:chExt cx="11336478" cy="433754"/>
          </a:xfrm>
        </p:grpSpPr>
        <p:sp>
          <p:nvSpPr>
            <p:cNvPr id="3" name="矩形 2"/>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4" name="组合 3"/>
            <p:cNvGrpSpPr/>
            <p:nvPr/>
          </p:nvGrpSpPr>
          <p:grpSpPr>
            <a:xfrm>
              <a:off x="381000" y="205656"/>
              <a:ext cx="11336478" cy="433754"/>
              <a:chOff x="3048000" y="2286000"/>
              <a:chExt cx="4813646" cy="457200"/>
            </a:xfrm>
          </p:grpSpPr>
          <p:sp>
            <p:nvSpPr>
              <p:cNvPr id="5" name="矩形 4"/>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专题四</a:t>
                </a:r>
              </a:p>
            </p:txBody>
          </p:sp>
          <p:sp>
            <p:nvSpPr>
              <p:cNvPr id="6" name="矩形 5"/>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直线与圆、圆与圆的位置关系</a:t>
                </a:r>
              </a:p>
            </p:txBody>
          </p:sp>
        </p:grpSp>
      </p:grpSp>
      <p:sp>
        <p:nvSpPr>
          <p:cNvPr id="7" name="矩形 6"/>
          <p:cNvSpPr>
            <a:spLocks noChangeAspect="1"/>
          </p:cNvSpPr>
          <p:nvPr/>
        </p:nvSpPr>
        <p:spPr>
          <a:xfrm>
            <a:off x="381000" y="1563666"/>
            <a:ext cx="11430000" cy="2885534"/>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(3,1),</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ax-y+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及圆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求过点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的圆的切线方程</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ax-y+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与圆相交于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且弦</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的长为</a:t>
            </a:r>
            <a:r>
              <a:rPr lang="en-US" altLang="zh-CN" sz="2800" dirty="0" smtClean="0">
                <a:solidFill>
                  <a:srgbClr val="000000"/>
                </a:solidFill>
                <a:latin typeface="Times New Roman" panose="02020603050405020304" pitchFamily="18" charset="0"/>
                <a:cs typeface="Times New Roman" panose="02020603050405020304" pitchFamily="18" charset="0"/>
              </a:rPr>
              <a:t>2      ,</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分切线的斜率存在与不存在两种情况讨论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构造直角三角形求解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424221635"/>
              </p:ext>
            </p:extLst>
          </p:nvPr>
        </p:nvGraphicFramePr>
        <p:xfrm>
          <a:off x="9131848" y="2753226"/>
          <a:ext cx="606425" cy="506413"/>
        </p:xfrm>
        <a:graphic>
          <a:graphicData uri="http://schemas.openxmlformats.org/presentationml/2006/ole">
            <mc:AlternateContent xmlns:mc="http://schemas.openxmlformats.org/markup-compatibility/2006">
              <mc:Choice xmlns:v="urn:schemas-microsoft-com:vml" Requires="v">
                <p:oleObj spid="_x0000_s19482" name="文档" r:id="rId3" imgW="247625" imgH="201096" progId="Word.Document.12">
                  <p:embed/>
                </p:oleObj>
              </mc:Choice>
              <mc:Fallback>
                <p:oleObj name="文档" r:id="rId3" imgW="247625" imgH="201096" progId="Word.Document.12">
                  <p:embed/>
                  <p:pic>
                    <p:nvPicPr>
                      <p:cNvPr id="0" name=""/>
                      <p:cNvPicPr/>
                      <p:nvPr/>
                    </p:nvPicPr>
                    <p:blipFill>
                      <a:blip r:embed="rId4"/>
                      <a:stretch>
                        <a:fillRect/>
                      </a:stretch>
                    </p:blipFill>
                    <p:spPr>
                      <a:xfrm>
                        <a:off x="9131848" y="2753226"/>
                        <a:ext cx="606425" cy="506413"/>
                      </a:xfrm>
                      <a:prstGeom prst="rect">
                        <a:avLst/>
                      </a:prstGeom>
                    </p:spPr>
                  </p:pic>
                </p:oleObj>
              </mc:Fallback>
            </mc:AlternateContent>
          </a:graphicData>
        </a:graphic>
      </p:graphicFrame>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wipe(down)">
                                      <p:cBhvr>
                                        <p:cTn id="7" dur="500"/>
                                        <p:tgtEl>
                                          <p:spTgt spid="7">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wipe(down)">
                                      <p:cBhvr>
                                        <p:cTn id="10"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1564" y="52646"/>
            <a:ext cx="11769436" cy="6283565"/>
            <a:chOff x="41564" y="52646"/>
            <a:chExt cx="11769436" cy="6283565"/>
          </a:xfrm>
        </p:grpSpPr>
        <p:sp>
          <p:nvSpPr>
            <p:cNvPr id="2" name="矩形 1"/>
            <p:cNvSpPr>
              <a:spLocks noChangeAspect="1"/>
            </p:cNvSpPr>
            <p:nvPr/>
          </p:nvSpPr>
          <p:spPr>
            <a:xfrm>
              <a:off x="381000" y="52646"/>
              <a:ext cx="11430000" cy="339298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由圆的方程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半径</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(3,1)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在圆外</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当直线的斜率不存在时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知直线与圆相切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当直线的斜率存在时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设直线方程为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kx-y+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022177848"/>
                </p:ext>
              </p:extLst>
            </p:nvPr>
          </p:nvGraphicFramePr>
          <p:xfrm>
            <a:off x="41564" y="3361358"/>
            <a:ext cx="11430000" cy="2010264"/>
          </p:xfrm>
          <a:graphic>
            <a:graphicData uri="http://schemas.openxmlformats.org/presentationml/2006/ole">
              <mc:AlternateContent xmlns:mc="http://schemas.openxmlformats.org/markup-compatibility/2006">
                <mc:Choice xmlns:v="urn:schemas-microsoft-com:vml" Requires="v">
                  <p:oleObj spid="_x0000_s20505"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41564" y="3361358"/>
                          <a:ext cx="11430000" cy="2010264"/>
                        </a:xfrm>
                        <a:prstGeom prst="rect">
                          <a:avLst/>
                        </a:prstGeom>
                      </p:spPr>
                    </p:pic>
                  </p:oleObj>
                </mc:Fallback>
              </mc:AlternateContent>
            </a:graphicData>
          </a:graphic>
        </p:graphicFrame>
        <p:sp>
          <p:nvSpPr>
            <p:cNvPr id="4" name="矩形 3"/>
            <p:cNvSpPr>
              <a:spLocks noChangeAspect="1"/>
            </p:cNvSpPr>
            <p:nvPr/>
          </p:nvSpPr>
          <p:spPr>
            <a:xfrm>
              <a:off x="381000" y="5183844"/>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故过点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的圆的切线方程为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1564" y="401202"/>
            <a:ext cx="11769436" cy="4915940"/>
            <a:chOff x="41564" y="702541"/>
            <a:chExt cx="11769436" cy="4915940"/>
          </a:xfrm>
        </p:grpSpPr>
        <p:sp>
          <p:nvSpPr>
            <p:cNvPr id="2" name="矩形 1"/>
            <p:cNvSpPr>
              <a:spLocks noChangeAspect="1"/>
            </p:cNvSpPr>
            <p:nvPr/>
          </p:nvSpPr>
          <p:spPr>
            <a:xfrm>
              <a:off x="381000" y="702541"/>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已知弦</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的长为</a:t>
              </a:r>
              <a:r>
                <a:rPr lang="en-US" altLang="zh-CN" sz="2800" dirty="0" smtClean="0">
                  <a:solidFill>
                    <a:srgbClr val="000000"/>
                  </a:solidFill>
                  <a:latin typeface="Times New Roman" panose="02020603050405020304" pitchFamily="18" charset="0"/>
                  <a:cs typeface="Times New Roman" panose="02020603050405020304" pitchFamily="18" charset="0"/>
                </a:rPr>
                <a:t>2      ,</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圆的半径为</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则圆心到弦</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的距离为</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即圆心</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ax-y+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的距离为</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229460777"/>
                </p:ext>
              </p:extLst>
            </p:nvPr>
          </p:nvGraphicFramePr>
          <p:xfrm>
            <a:off x="41564" y="1819437"/>
            <a:ext cx="11430000" cy="1005588"/>
          </p:xfrm>
          <a:graphic>
            <a:graphicData uri="http://schemas.openxmlformats.org/presentationml/2006/ole">
              <mc:AlternateContent xmlns:mc="http://schemas.openxmlformats.org/markup-compatibility/2006">
                <mc:Choice xmlns:v="urn:schemas-microsoft-com:vml" Requires="v">
                  <p:oleObj spid="_x0000_s21552"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41564" y="1819437"/>
                          <a:ext cx="11430000" cy="100558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712022842"/>
                </p:ext>
              </p:extLst>
            </p:nvPr>
          </p:nvGraphicFramePr>
          <p:xfrm>
            <a:off x="3874049" y="790944"/>
            <a:ext cx="606425" cy="506413"/>
          </p:xfrm>
          <a:graphic>
            <a:graphicData uri="http://schemas.openxmlformats.org/presentationml/2006/ole">
              <mc:AlternateContent xmlns:mc="http://schemas.openxmlformats.org/markup-compatibility/2006">
                <mc:Choice xmlns:v="urn:schemas-microsoft-com:vml" Requires="v">
                  <p:oleObj spid="_x0000_s21553" name="文档" r:id="rId5" imgW="247625" imgH="201096" progId="Word.Document.12">
                    <p:embed/>
                  </p:oleObj>
                </mc:Choice>
                <mc:Fallback>
                  <p:oleObj name="文档" r:id="rId5" imgW="247625" imgH="201096" progId="Word.Document.12">
                    <p:embed/>
                    <p:pic>
                      <p:nvPicPr>
                        <p:cNvPr id="0" name=""/>
                        <p:cNvPicPr/>
                        <p:nvPr/>
                      </p:nvPicPr>
                      <p:blipFill>
                        <a:blip r:embed="rId6"/>
                        <a:stretch>
                          <a:fillRect/>
                        </a:stretch>
                      </p:blipFill>
                      <p:spPr>
                        <a:xfrm>
                          <a:off x="3874049" y="790944"/>
                          <a:ext cx="606425" cy="506413"/>
                        </a:xfrm>
                        <a:prstGeom prst="rect">
                          <a:avLst/>
                        </a:prstGeom>
                      </p:spPr>
                    </p:pic>
                  </p:oleObj>
                </mc:Fallback>
              </mc:AlternateContent>
            </a:graphicData>
          </a:graphic>
        </p:graphicFrame>
        <p:sp>
          <p:nvSpPr>
            <p:cNvPr id="5" name="矩形 4"/>
            <p:cNvSpPr>
              <a:spLocks noChangeAspect="1"/>
            </p:cNvSpPr>
            <p:nvPr/>
          </p:nvSpPr>
          <p:spPr>
            <a:xfrm>
              <a:off x="381000" y="2725381"/>
              <a:ext cx="11430000" cy="2893100"/>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求过某点的圆的切线问题时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应首先确定点与圆的位置关系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再求直线方程</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若点在圆上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即为切点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则过该点的切线只有一条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若点在圆外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则过该点的切线有两条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此时应注意切线的斜率不存在的情况</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求直线被圆所截得的弦长时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通常利用半径长、弦心距和弦长的一半满足勾股定理来解决问题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ay=</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截直线</a:t>
            </a:r>
            <a:r>
              <a:rPr lang="en-US" altLang="zh-CN" sz="2800" i="1" dirty="0" err="1">
                <a:solidFill>
                  <a:srgbClr val="000000"/>
                </a:solidFill>
                <a:latin typeface="Times New Roman" panose="02020603050405020304" pitchFamily="18" charset="0"/>
                <a:cs typeface="Times New Roman" panose="02020603050405020304" pitchFamily="18" charset="0"/>
              </a:rPr>
              <a:t>x+y</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所得线段的长度是</a:t>
            </a:r>
            <a:r>
              <a:rPr lang="en-US" altLang="zh-CN" sz="2800" dirty="0" smtClean="0">
                <a:solidFill>
                  <a:srgbClr val="000000"/>
                </a:solidFill>
                <a:latin typeface="Times New Roman" panose="02020603050405020304" pitchFamily="18" charset="0"/>
                <a:cs typeface="Times New Roman" panose="02020603050405020304" pitchFamily="18" charset="0"/>
              </a:rPr>
              <a:t>2     ,</a:t>
            </a:r>
            <a:r>
              <a:rPr lang="zh-CN" altLang="zh-CN" sz="2800" dirty="0">
                <a:solidFill>
                  <a:srgbClr val="000000"/>
                </a:solidFill>
                <a:latin typeface="Times New Roman" panose="02020603050405020304" pitchFamily="18" charset="0"/>
                <a:cs typeface="Times New Roman" panose="02020603050405020304" pitchFamily="18" charset="0"/>
              </a:rPr>
              <a:t>则圆</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的位置关系是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内切</a:t>
            </a:r>
            <a:r>
              <a:rPr lang="en-US" altLang="zh-CN" sz="2800" dirty="0">
                <a:solidFill>
                  <a:srgbClr val="000000"/>
                </a:solidFill>
                <a:latin typeface="Times New Roman" panose="02020603050405020304" pitchFamily="18" charset="0"/>
                <a:cs typeface="Times New Roman" panose="02020603050405020304" pitchFamily="18" charset="0"/>
              </a:rPr>
              <a:t>	B.</a:t>
            </a:r>
            <a:r>
              <a:rPr lang="zh-CN" altLang="zh-CN" sz="2800" dirty="0">
                <a:solidFill>
                  <a:srgbClr val="000000"/>
                </a:solidFill>
                <a:latin typeface="Times New Roman" panose="02020603050405020304" pitchFamily="18" charset="0"/>
                <a:cs typeface="Times New Roman" panose="02020603050405020304" pitchFamily="18" charset="0"/>
              </a:rPr>
              <a:t>相交</a:t>
            </a:r>
            <a:r>
              <a:rPr lang="en-US" altLang="zh-CN" sz="2800" dirty="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外切</a:t>
            </a:r>
            <a:r>
              <a:rPr lang="en-US" altLang="zh-CN" sz="2800" dirty="0">
                <a:solidFill>
                  <a:srgbClr val="000000"/>
                </a:solidFill>
                <a:latin typeface="Times New Roman" panose="02020603050405020304" pitchFamily="18" charset="0"/>
                <a:cs typeface="Times New Roman" panose="02020603050405020304" pitchFamily="18" charset="0"/>
              </a:rPr>
              <a:t>	D.</a:t>
            </a:r>
            <a:r>
              <a:rPr lang="zh-CN" altLang="zh-CN" sz="2800" dirty="0">
                <a:solidFill>
                  <a:srgbClr val="000000"/>
                </a:solidFill>
                <a:latin typeface="Times New Roman" panose="02020603050405020304" pitchFamily="18" charset="0"/>
                <a:cs typeface="Times New Roman" panose="02020603050405020304" pitchFamily="18" charset="0"/>
              </a:rPr>
              <a:t>相离</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70617808"/>
              </p:ext>
            </p:extLst>
          </p:nvPr>
        </p:nvGraphicFramePr>
        <p:xfrm>
          <a:off x="1276322" y="1884574"/>
          <a:ext cx="606425" cy="506413"/>
        </p:xfrm>
        <a:graphic>
          <a:graphicData uri="http://schemas.openxmlformats.org/presentationml/2006/ole">
            <mc:AlternateContent xmlns:mc="http://schemas.openxmlformats.org/markup-compatibility/2006">
              <mc:Choice xmlns:v="urn:schemas-microsoft-com:vml" Requires="v">
                <p:oleObj spid="_x0000_s22552" name="文档" r:id="rId3" imgW="247625" imgH="201817" progId="Word.Document.12">
                  <p:embed/>
                </p:oleObj>
              </mc:Choice>
              <mc:Fallback>
                <p:oleObj name="文档" r:id="rId3" imgW="247625" imgH="201817" progId="Word.Document.12">
                  <p:embed/>
                  <p:pic>
                    <p:nvPicPr>
                      <p:cNvPr id="0" name=""/>
                      <p:cNvPicPr/>
                      <p:nvPr/>
                    </p:nvPicPr>
                    <p:blipFill>
                      <a:blip r:embed="rId4"/>
                      <a:stretch>
                        <a:fillRect/>
                      </a:stretch>
                    </p:blipFill>
                    <p:spPr>
                      <a:xfrm>
                        <a:off x="1276322" y="1884574"/>
                        <a:ext cx="606425" cy="506413"/>
                      </a:xfrm>
                      <a:prstGeom prst="rect">
                        <a:avLst/>
                      </a:prstGeom>
                    </p:spPr>
                  </p:pic>
                </p:oleObj>
              </mc:Fallback>
            </mc:AlternateContent>
          </a:graphicData>
        </a:graphic>
      </p:graphicFrame>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154139649"/>
              </p:ext>
            </p:extLst>
          </p:nvPr>
        </p:nvGraphicFramePr>
        <p:xfrm>
          <a:off x="48490" y="388312"/>
          <a:ext cx="11430000" cy="5026119"/>
        </p:xfrm>
        <a:graphic>
          <a:graphicData uri="http://schemas.openxmlformats.org/presentationml/2006/ole">
            <mc:AlternateContent xmlns:mc="http://schemas.openxmlformats.org/markup-compatibility/2006">
              <mc:Choice xmlns:v="urn:schemas-microsoft-com:vml" Requires="v">
                <p:oleObj spid="_x0000_s23576" name="文档" r:id="rId3" imgW="4510061" imgH="1983211" progId="Word.Document.12">
                  <p:embed/>
                </p:oleObj>
              </mc:Choice>
              <mc:Fallback>
                <p:oleObj name="文档" r:id="rId3" imgW="4510061" imgH="1983211" progId="Word.Document.12">
                  <p:embed/>
                  <p:pic>
                    <p:nvPicPr>
                      <p:cNvPr id="0" name=""/>
                      <p:cNvPicPr/>
                      <p:nvPr/>
                    </p:nvPicPr>
                    <p:blipFill>
                      <a:blip r:embed="rId4"/>
                      <a:stretch>
                        <a:fillRect/>
                      </a:stretch>
                    </p:blipFill>
                    <p:spPr>
                      <a:xfrm>
                        <a:off x="48490" y="388312"/>
                        <a:ext cx="11430000" cy="5026119"/>
                      </a:xfrm>
                      <a:prstGeom prst="rect">
                        <a:avLst/>
                      </a:prstGeom>
                    </p:spPr>
                  </p:pic>
                </p:oleObj>
              </mc:Fallback>
            </mc:AlternateContent>
          </a:graphicData>
        </a:graphic>
      </p:graphicFrame>
      <p:sp>
        <p:nvSpPr>
          <p:cNvPr id="3" name="矩形 2"/>
          <p:cNvSpPr>
            <a:spLocks noChangeAspect="1"/>
          </p:cNvSpPr>
          <p:nvPr/>
        </p:nvSpPr>
        <p:spPr>
          <a:xfrm>
            <a:off x="381000" y="5414431"/>
            <a:ext cx="1612942"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B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62002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 y="151371"/>
            <a:ext cx="11336478" cy="433754"/>
            <a:chOff x="381000" y="205656"/>
            <a:chExt cx="11336478" cy="433754"/>
          </a:xfrm>
        </p:grpSpPr>
        <p:sp>
          <p:nvSpPr>
            <p:cNvPr id="3" name="矩形 2"/>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4" name="组合 3"/>
            <p:cNvGrpSpPr/>
            <p:nvPr/>
          </p:nvGrpSpPr>
          <p:grpSpPr>
            <a:xfrm>
              <a:off x="381000" y="205656"/>
              <a:ext cx="11336478" cy="433754"/>
              <a:chOff x="3048000" y="2286000"/>
              <a:chExt cx="4813646" cy="457200"/>
            </a:xfrm>
          </p:grpSpPr>
          <p:sp>
            <p:nvSpPr>
              <p:cNvPr id="5" name="矩形 4"/>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专题五</a:t>
                </a:r>
              </a:p>
            </p:txBody>
          </p:sp>
          <p:sp>
            <p:nvSpPr>
              <p:cNvPr id="6" name="矩形 5"/>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数形结合思想</a:t>
                </a:r>
              </a:p>
            </p:txBody>
          </p:sp>
        </p:grpSp>
      </p:grpSp>
      <p:graphicFrame>
        <p:nvGraphicFramePr>
          <p:cNvPr id="7" name="对象 6"/>
          <p:cNvGraphicFramePr>
            <a:graphicFrameLocks noChangeAspect="1"/>
          </p:cNvGraphicFramePr>
          <p:nvPr>
            <p:extLst>
              <p:ext uri="{D42A27DB-BD31-4B8C-83A1-F6EECF244321}">
                <p14:modId xmlns:p14="http://schemas.microsoft.com/office/powerpoint/2010/main" val="3909901522"/>
              </p:ext>
            </p:extLst>
          </p:nvPr>
        </p:nvGraphicFramePr>
        <p:xfrm>
          <a:off x="329045" y="692150"/>
          <a:ext cx="11430000" cy="1005588"/>
        </p:xfrm>
        <a:graphic>
          <a:graphicData uri="http://schemas.openxmlformats.org/presentationml/2006/ole">
            <mc:AlternateContent xmlns:mc="http://schemas.openxmlformats.org/markup-compatibility/2006">
              <mc:Choice xmlns:v="urn:schemas-microsoft-com:vml" Requires="v">
                <p:oleObj spid="_x0000_s24620"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329045" y="692150"/>
                        <a:ext cx="11430000" cy="1005588"/>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328901168"/>
              </p:ext>
            </p:extLst>
          </p:nvPr>
        </p:nvGraphicFramePr>
        <p:xfrm>
          <a:off x="381000" y="1696567"/>
          <a:ext cx="11430000" cy="2513517"/>
        </p:xfrm>
        <a:graphic>
          <a:graphicData uri="http://schemas.openxmlformats.org/presentationml/2006/ole">
            <mc:AlternateContent xmlns:mc="http://schemas.openxmlformats.org/markup-compatibility/2006">
              <mc:Choice xmlns:v="urn:schemas-microsoft-com:vml" Requires="v">
                <p:oleObj spid="_x0000_s24621" name="文档" r:id="rId5" imgW="4510061" imgH="991786" progId="Word.Document.12">
                  <p:embed/>
                </p:oleObj>
              </mc:Choice>
              <mc:Fallback>
                <p:oleObj name="文档" r:id="rId5" imgW="4510061" imgH="991786" progId="Word.Document.12">
                  <p:embed/>
                  <p:pic>
                    <p:nvPicPr>
                      <p:cNvPr id="0" name=""/>
                      <p:cNvPicPr/>
                      <p:nvPr/>
                    </p:nvPicPr>
                    <p:blipFill>
                      <a:blip r:embed="rId6"/>
                      <a:stretch>
                        <a:fillRect/>
                      </a:stretch>
                    </p:blipFill>
                    <p:spPr>
                      <a:xfrm>
                        <a:off x="381000" y="1696567"/>
                        <a:ext cx="11430000" cy="2513517"/>
                      </a:xfrm>
                      <a:prstGeom prst="rect">
                        <a:avLst/>
                      </a:prstGeom>
                    </p:spPr>
                  </p:pic>
                </p:oleObj>
              </mc:Fallback>
            </mc:AlternateContent>
          </a:graphicData>
        </a:graphic>
      </p:graphicFrame>
      <p:pic>
        <p:nvPicPr>
          <p:cNvPr id="9" name="EMX1TRAX65.eps" descr="id:2147498420;FounderCES"/>
          <p:cNvPicPr>
            <a:picLocks noChangeAspect="1"/>
          </p:cNvPicPr>
          <p:nvPr/>
        </p:nvPicPr>
        <p:blipFill>
          <a:blip r:embed="rId7">
            <a:clrChange>
              <a:clrFrom>
                <a:srgbClr val="F8F8F8"/>
              </a:clrFrom>
              <a:clrTo>
                <a:srgbClr val="F8F8F8">
                  <a:alpha val="0"/>
                </a:srgbClr>
              </a:clrTo>
            </a:clrChange>
          </a:blip>
          <a:stretch>
            <a:fillRect/>
          </a:stretch>
        </p:blipFill>
        <p:spPr>
          <a:xfrm>
            <a:off x="4440568" y="3723035"/>
            <a:ext cx="3310864" cy="2720855"/>
          </a:xfrm>
          <a:prstGeom prst="rect">
            <a:avLst/>
          </a:prstGeom>
        </p:spPr>
      </p:pic>
    </p:spTree>
    <p:extLst>
      <p:ext uri="{BB962C8B-B14F-4D97-AF65-F5344CB8AC3E}">
        <p14:creationId xmlns:p14="http://schemas.microsoft.com/office/powerpoint/2010/main" val="29502509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57188274"/>
              </p:ext>
            </p:extLst>
          </p:nvPr>
        </p:nvGraphicFramePr>
        <p:xfrm>
          <a:off x="48491" y="53559"/>
          <a:ext cx="11430000" cy="5529369"/>
        </p:xfrm>
        <a:graphic>
          <a:graphicData uri="http://schemas.openxmlformats.org/presentationml/2006/ole">
            <mc:AlternateContent xmlns:mc="http://schemas.openxmlformats.org/markup-compatibility/2006">
              <mc:Choice xmlns:v="urn:schemas-microsoft-com:vml" Requires="v">
                <p:oleObj spid="_x0000_s25648" name="文档" r:id="rId3" imgW="4510061" imgH="2183586" progId="Word.Document.12">
                  <p:embed/>
                </p:oleObj>
              </mc:Choice>
              <mc:Fallback>
                <p:oleObj name="文档" r:id="rId3" imgW="4510061" imgH="2183586" progId="Word.Document.12">
                  <p:embed/>
                  <p:pic>
                    <p:nvPicPr>
                      <p:cNvPr id="0" name=""/>
                      <p:cNvPicPr/>
                      <p:nvPr/>
                    </p:nvPicPr>
                    <p:blipFill>
                      <a:blip r:embed="rId4"/>
                      <a:stretch>
                        <a:fillRect/>
                      </a:stretch>
                    </p:blipFill>
                    <p:spPr>
                      <a:xfrm>
                        <a:off x="48491" y="53559"/>
                        <a:ext cx="11430000" cy="5529369"/>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925256144"/>
              </p:ext>
            </p:extLst>
          </p:nvPr>
        </p:nvGraphicFramePr>
        <p:xfrm>
          <a:off x="48491" y="5443114"/>
          <a:ext cx="11430000" cy="1005588"/>
        </p:xfrm>
        <a:graphic>
          <a:graphicData uri="http://schemas.openxmlformats.org/presentationml/2006/ole">
            <mc:AlternateContent xmlns:mc="http://schemas.openxmlformats.org/markup-compatibility/2006">
              <mc:Choice xmlns:v="urn:schemas-microsoft-com:vml" Requires="v">
                <p:oleObj spid="_x0000_s25649"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48491" y="5443114"/>
                        <a:ext cx="11430000" cy="1005588"/>
                      </a:xfrm>
                      <a:prstGeom prst="rect">
                        <a:avLst/>
                      </a:prstGeom>
                    </p:spPr>
                  </p:pic>
                </p:oleObj>
              </mc:Fallback>
            </mc:AlternateContent>
          </a:graphicData>
        </a:graphic>
      </p:graphicFrame>
    </p:spTree>
    <p:extLst>
      <p:ext uri="{BB962C8B-B14F-4D97-AF65-F5344CB8AC3E}">
        <p14:creationId xmlns:p14="http://schemas.microsoft.com/office/powerpoint/2010/main" val="11535215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延伸探究H.eps" descr="id:2147494559;FounderCES"/>
          <p:cNvPicPr/>
          <p:nvPr/>
        </p:nvPicPr>
        <p:blipFill>
          <a:blip r:embed="rId3">
            <a:clrChange>
              <a:clrFrom>
                <a:srgbClr val="FFFFFF"/>
              </a:clrFrom>
              <a:clrTo>
                <a:srgbClr val="FFFFFF">
                  <a:alpha val="0"/>
                </a:srgbClr>
              </a:clrTo>
            </a:clrChange>
          </a:blip>
          <a:stretch>
            <a:fillRect/>
          </a:stretch>
        </p:blipFill>
        <p:spPr>
          <a:xfrm>
            <a:off x="4757688" y="127578"/>
            <a:ext cx="2016224" cy="367706"/>
          </a:xfrm>
          <a:prstGeom prst="rect">
            <a:avLst/>
          </a:prstGeom>
        </p:spPr>
      </p:pic>
      <p:sp>
        <p:nvSpPr>
          <p:cNvPr id="3" name="矩形 2"/>
          <p:cNvSpPr>
            <a:spLocks noChangeAspect="1"/>
          </p:cNvSpPr>
          <p:nvPr/>
        </p:nvSpPr>
        <p:spPr>
          <a:xfrm>
            <a:off x="381000" y="478542"/>
            <a:ext cx="8925841"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在本例条件下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代数式</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zh-CN" altLang="zh-CN" sz="2800" dirty="0">
                <a:solidFill>
                  <a:srgbClr val="000000"/>
                </a:solidFill>
                <a:latin typeface="Times New Roman" panose="02020603050405020304" pitchFamily="18" charset="0"/>
                <a:cs typeface="Times New Roman" panose="02020603050405020304" pitchFamily="18" charset="0"/>
              </a:rPr>
              <a:t>的取值范围为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r>
              <a:rPr lang="en-US" altLang="zh-CN" sz="2800" i="1" dirty="0" smtClean="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089011284"/>
              </p:ext>
            </p:extLst>
          </p:nvPr>
        </p:nvGraphicFramePr>
        <p:xfrm>
          <a:off x="62159" y="6194542"/>
          <a:ext cx="11430000" cy="502338"/>
        </p:xfrm>
        <a:graphic>
          <a:graphicData uri="http://schemas.openxmlformats.org/presentationml/2006/ole">
            <mc:AlternateContent xmlns:mc="http://schemas.openxmlformats.org/markup-compatibility/2006">
              <mc:Choice xmlns:v="urn:schemas-microsoft-com:vml" Requires="v">
                <p:oleObj spid="_x0000_s26668" name="文档" r:id="rId4" imgW="4510061" imgH="198213" progId="Word.Document.12">
                  <p:embed/>
                </p:oleObj>
              </mc:Choice>
              <mc:Fallback>
                <p:oleObj name="文档" r:id="rId4" imgW="4510061" imgH="198213" progId="Word.Document.12">
                  <p:embed/>
                  <p:pic>
                    <p:nvPicPr>
                      <p:cNvPr id="0" name=""/>
                      <p:cNvPicPr/>
                      <p:nvPr/>
                    </p:nvPicPr>
                    <p:blipFill>
                      <a:blip r:embed="rId5"/>
                      <a:stretch>
                        <a:fillRect/>
                      </a:stretch>
                    </p:blipFill>
                    <p:spPr>
                      <a:xfrm>
                        <a:off x="62159" y="6194542"/>
                        <a:ext cx="11430000" cy="502338"/>
                      </a:xfrm>
                      <a:prstGeom prst="rect">
                        <a:avLst/>
                      </a:prstGeom>
                    </p:spPr>
                  </p:pic>
                </p:oleObj>
              </mc:Fallback>
            </mc:AlternateContent>
          </a:graphicData>
        </a:graphic>
      </p:graphicFrame>
      <p:grpSp>
        <p:nvGrpSpPr>
          <p:cNvPr id="12" name="组合 11"/>
          <p:cNvGrpSpPr/>
          <p:nvPr/>
        </p:nvGrpSpPr>
        <p:grpSpPr>
          <a:xfrm>
            <a:off x="62159" y="1047900"/>
            <a:ext cx="11766068" cy="5173810"/>
            <a:chOff x="62159" y="1047900"/>
            <a:chExt cx="11766068" cy="5173810"/>
          </a:xfrm>
        </p:grpSpPr>
        <p:sp>
          <p:nvSpPr>
            <p:cNvPr id="6" name="矩形 5"/>
            <p:cNvSpPr>
              <a:spLocks noChangeAspect="1"/>
            </p:cNvSpPr>
            <p:nvPr/>
          </p:nvSpPr>
          <p:spPr>
            <a:xfrm>
              <a:off x="381000" y="1047900"/>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代数式</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的几何意义是直线</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与半圆有交点时在</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轴上的截距</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379105548"/>
                </p:ext>
              </p:extLst>
            </p:nvPr>
          </p:nvGraphicFramePr>
          <p:xfrm>
            <a:off x="62159" y="2200267"/>
            <a:ext cx="11430000" cy="4021443"/>
          </p:xfrm>
          <a:graphic>
            <a:graphicData uri="http://schemas.openxmlformats.org/presentationml/2006/ole">
              <mc:AlternateContent xmlns:mc="http://schemas.openxmlformats.org/markup-compatibility/2006">
                <mc:Choice xmlns:v="urn:schemas-microsoft-com:vml" Requires="v">
                  <p:oleObj spid="_x0000_s26669" name="文档" r:id="rId6" imgW="4510061" imgH="1586785" progId="Word.Document.12">
                    <p:embed/>
                  </p:oleObj>
                </mc:Choice>
                <mc:Fallback>
                  <p:oleObj name="文档" r:id="rId6" imgW="4510061" imgH="1586785" progId="Word.Document.12">
                    <p:embed/>
                    <p:pic>
                      <p:nvPicPr>
                        <p:cNvPr id="0" name=""/>
                        <p:cNvPicPr/>
                        <p:nvPr/>
                      </p:nvPicPr>
                      <p:blipFill>
                        <a:blip r:embed="rId7"/>
                        <a:stretch>
                          <a:fillRect/>
                        </a:stretch>
                      </p:blipFill>
                      <p:spPr>
                        <a:xfrm>
                          <a:off x="62159" y="2200267"/>
                          <a:ext cx="11430000" cy="4021443"/>
                        </a:xfrm>
                        <a:prstGeom prst="rect">
                          <a:avLst/>
                        </a:prstGeom>
                      </p:spPr>
                    </p:pic>
                  </p:oleObj>
                </mc:Fallback>
              </mc:AlternateContent>
            </a:graphicData>
          </a:graphic>
        </p:graphicFrame>
        <p:pic>
          <p:nvPicPr>
            <p:cNvPr id="11" name="EMX1TRAX66.eps" descr="id:2147498434;FounderCES"/>
            <p:cNvPicPr>
              <a:picLocks noChangeAspect="1"/>
            </p:cNvPicPr>
            <p:nvPr/>
          </p:nvPicPr>
          <p:blipFill>
            <a:blip r:embed="rId8">
              <a:clrChange>
                <a:clrFrom>
                  <a:srgbClr val="F8F8F8"/>
                </a:clrFrom>
                <a:clrTo>
                  <a:srgbClr val="F8F8F8">
                    <a:alpha val="0"/>
                  </a:srgbClr>
                </a:clrTo>
              </a:clrChange>
            </a:blip>
            <a:stretch>
              <a:fillRect/>
            </a:stretch>
          </p:blipFill>
          <p:spPr>
            <a:xfrm>
              <a:off x="9493281" y="2502737"/>
              <a:ext cx="2334946" cy="3115621"/>
            </a:xfrm>
            <a:prstGeom prst="rect">
              <a:avLst/>
            </a:prstGeom>
          </p:spPr>
        </p:pic>
      </p:grpSp>
    </p:spTree>
    <p:extLst>
      <p:ext uri="{BB962C8B-B14F-4D97-AF65-F5344CB8AC3E}">
        <p14:creationId xmlns:p14="http://schemas.microsoft.com/office/powerpoint/2010/main" val="36729683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81000" y="786675"/>
            <a:ext cx="11430000" cy="4013406"/>
            <a:chOff x="381000" y="1243879"/>
            <a:chExt cx="11430000" cy="4013406"/>
          </a:xfrm>
        </p:grpSpPr>
        <p:sp>
          <p:nvSpPr>
            <p:cNvPr id="2" name="矩形 1"/>
            <p:cNvSpPr>
              <a:spLocks noChangeAspect="1"/>
            </p:cNvSpPr>
            <p:nvPr/>
          </p:nvSpPr>
          <p:spPr>
            <a:xfrm>
              <a:off x="381000" y="1243879"/>
              <a:ext cx="11430000" cy="4013406"/>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数形结合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是把代数中的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与几何上的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结合起来认识问题、理解问题并解决问题的思维方法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是人们一种普遍思维习惯在数学上的具体表现</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数形结合一般包括两个方面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即以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助</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形</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形如</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的</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最值问题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可借助于图形分析转化为直线斜率的最值问题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形如</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i="1" dirty="0" err="1">
                  <a:solidFill>
                    <a:srgbClr val="000000"/>
                  </a:solidFill>
                  <a:latin typeface="Times New Roman" panose="02020603050405020304" pitchFamily="18" charset="0"/>
                  <a:cs typeface="Times New Roman" panose="02020603050405020304" pitchFamily="18" charset="0"/>
                </a:rPr>
                <a:t>ax+by</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的最值问题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可借助图形分析转化为动直线截距的最值问题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形如</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的最值问题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可借助于图形分析转化为动点到定点距离平方的最值问题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278571178"/>
                </p:ext>
              </p:extLst>
            </p:nvPr>
          </p:nvGraphicFramePr>
          <p:xfrm>
            <a:off x="1505166" y="2835995"/>
            <a:ext cx="764886" cy="829174"/>
          </p:xfrm>
          <a:graphic>
            <a:graphicData uri="http://schemas.openxmlformats.org/presentationml/2006/ole">
              <mc:AlternateContent xmlns:mc="http://schemas.openxmlformats.org/markup-compatibility/2006">
                <mc:Choice xmlns:v="urn:schemas-microsoft-com:vml" Requires="v">
                  <p:oleObj spid="_x0000_s27670" name="文档" r:id="rId3" imgW="376969" imgH="397868" progId="Word.Document.12">
                    <p:embed/>
                  </p:oleObj>
                </mc:Choice>
                <mc:Fallback>
                  <p:oleObj name="文档" r:id="rId3" imgW="376969" imgH="397868" progId="Word.Document.12">
                    <p:embed/>
                    <p:pic>
                      <p:nvPicPr>
                        <p:cNvPr id="0" name=""/>
                        <p:cNvPicPr/>
                        <p:nvPr/>
                      </p:nvPicPr>
                      <p:blipFill>
                        <a:blip r:embed="rId4"/>
                        <a:stretch>
                          <a:fillRect/>
                        </a:stretch>
                      </p:blipFill>
                      <p:spPr>
                        <a:xfrm>
                          <a:off x="1505166" y="2835995"/>
                          <a:ext cx="764886" cy="829174"/>
                        </a:xfrm>
                        <a:prstGeom prst="rect">
                          <a:avLst/>
                        </a:prstGeom>
                      </p:spPr>
                    </p:pic>
                  </p:oleObj>
                </mc:Fallback>
              </mc:AlternateContent>
            </a:graphicData>
          </a:graphic>
        </p:graphicFrame>
      </p:grpSp>
    </p:spTree>
    <p:extLst>
      <p:ext uri="{BB962C8B-B14F-4D97-AF65-F5344CB8AC3E}">
        <p14:creationId xmlns:p14="http://schemas.microsoft.com/office/powerpoint/2010/main" val="327410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4408" y="1004162"/>
            <a:ext cx="11756592" cy="3386283"/>
            <a:chOff x="54408" y="1471757"/>
            <a:chExt cx="11756592" cy="3386283"/>
          </a:xfrm>
        </p:grpSpPr>
        <p:sp>
          <p:nvSpPr>
            <p:cNvPr id="2" name="矩形 1"/>
            <p:cNvSpPr>
              <a:spLocks noChangeAspect="1"/>
            </p:cNvSpPr>
            <p:nvPr/>
          </p:nvSpPr>
          <p:spPr>
            <a:xfrm>
              <a:off x="381000" y="1676700"/>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当曲线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与</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y=k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有两个相异交点时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实数</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cs typeface="Times New Roman" panose="02020603050405020304" pitchFamily="18" charset="0"/>
                </a:rPr>
                <a:t>的取值范围是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998425357"/>
                </p:ext>
              </p:extLst>
            </p:nvPr>
          </p:nvGraphicFramePr>
          <p:xfrm>
            <a:off x="4905809" y="1471757"/>
            <a:ext cx="1509712" cy="1003300"/>
          </p:xfrm>
          <a:graphic>
            <a:graphicData uri="http://schemas.openxmlformats.org/presentationml/2006/ole">
              <mc:AlternateContent xmlns:mc="http://schemas.openxmlformats.org/markup-compatibility/2006">
                <mc:Choice xmlns:v="urn:schemas-microsoft-com:vml" Requires="v">
                  <p:oleObj spid="_x0000_s28714" name="文档" r:id="rId3" imgW="604538" imgH="397868" progId="Word.Document.12">
                    <p:embed/>
                  </p:oleObj>
                </mc:Choice>
                <mc:Fallback>
                  <p:oleObj name="文档" r:id="rId3" imgW="604538" imgH="397868" progId="Word.Document.12">
                    <p:embed/>
                    <p:pic>
                      <p:nvPicPr>
                        <p:cNvPr id="0" name=""/>
                        <p:cNvPicPr/>
                        <p:nvPr/>
                      </p:nvPicPr>
                      <p:blipFill>
                        <a:blip r:embed="rId4"/>
                        <a:stretch>
                          <a:fillRect/>
                        </a:stretch>
                      </p:blipFill>
                      <p:spPr>
                        <a:xfrm>
                          <a:off x="4905809" y="1471757"/>
                          <a:ext cx="1509712" cy="100330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833691980"/>
                </p:ext>
              </p:extLst>
            </p:nvPr>
          </p:nvGraphicFramePr>
          <p:xfrm>
            <a:off x="54408" y="2847776"/>
            <a:ext cx="11430000" cy="2010264"/>
          </p:xfrm>
          <a:graphic>
            <a:graphicData uri="http://schemas.openxmlformats.org/presentationml/2006/ole">
              <mc:AlternateContent xmlns:mc="http://schemas.openxmlformats.org/markup-compatibility/2006">
                <mc:Choice xmlns:v="urn:schemas-microsoft-com:vml" Requires="v">
                  <p:oleObj spid="_x0000_s28715" name="文档" r:id="rId5" imgW="4510061" imgH="793212" progId="Word.Document.12">
                    <p:embed/>
                  </p:oleObj>
                </mc:Choice>
                <mc:Fallback>
                  <p:oleObj name="文档" r:id="rId5" imgW="4510061" imgH="793212" progId="Word.Document.12">
                    <p:embed/>
                    <p:pic>
                      <p:nvPicPr>
                        <p:cNvPr id="0" name=""/>
                        <p:cNvPicPr/>
                        <p:nvPr/>
                      </p:nvPicPr>
                      <p:blipFill>
                        <a:blip r:embed="rId6"/>
                        <a:stretch>
                          <a:fillRect/>
                        </a:stretch>
                      </p:blipFill>
                      <p:spPr>
                        <a:xfrm>
                          <a:off x="54408" y="2847776"/>
                          <a:ext cx="11430000" cy="2010264"/>
                        </a:xfrm>
                        <a:prstGeom prst="rect">
                          <a:avLst/>
                        </a:prstGeom>
                      </p:spPr>
                    </p:pic>
                  </p:oleObj>
                </mc:Fallback>
              </mc:AlternateContent>
            </a:graphicData>
          </a:graphic>
        </p:graphicFrame>
      </p:grpSp>
    </p:spTree>
    <p:extLst>
      <p:ext uri="{BB962C8B-B14F-4D97-AF65-F5344CB8AC3E}">
        <p14:creationId xmlns:p14="http://schemas.microsoft.com/office/powerpoint/2010/main" val="33722291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1564" y="148360"/>
            <a:ext cx="11769436" cy="5529368"/>
            <a:chOff x="41564" y="127578"/>
            <a:chExt cx="11769436" cy="5529368"/>
          </a:xfrm>
        </p:grpSpPr>
        <p:graphicFrame>
          <p:nvGraphicFramePr>
            <p:cNvPr id="2" name="对象 1"/>
            <p:cNvGraphicFramePr>
              <a:graphicFrameLocks noChangeAspect="1"/>
            </p:cNvGraphicFramePr>
            <p:nvPr>
              <p:extLst>
                <p:ext uri="{D42A27DB-BD31-4B8C-83A1-F6EECF244321}">
                  <p14:modId xmlns:p14="http://schemas.microsoft.com/office/powerpoint/2010/main" val="393102998"/>
                </p:ext>
              </p:extLst>
            </p:nvPr>
          </p:nvGraphicFramePr>
          <p:xfrm>
            <a:off x="41564" y="127578"/>
            <a:ext cx="11430000" cy="1005588"/>
          </p:xfrm>
          <a:graphic>
            <a:graphicData uri="http://schemas.openxmlformats.org/presentationml/2006/ole">
              <mc:AlternateContent xmlns:mc="http://schemas.openxmlformats.org/markup-compatibility/2006">
                <mc:Choice xmlns:v="urn:schemas-microsoft-com:vml" Requires="v">
                  <p:oleObj spid="_x0000_s29738"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41564" y="127578"/>
                          <a:ext cx="11430000" cy="1005588"/>
                        </a:xfrm>
                        <a:prstGeom prst="rect">
                          <a:avLst/>
                        </a:prstGeom>
                      </p:spPr>
                    </p:pic>
                  </p:oleObj>
                </mc:Fallback>
              </mc:AlternateContent>
            </a:graphicData>
          </a:graphic>
        </p:graphicFrame>
        <p:sp>
          <p:nvSpPr>
            <p:cNvPr id="3" name="矩形 2"/>
            <p:cNvSpPr>
              <a:spLocks noChangeAspect="1"/>
            </p:cNvSpPr>
            <p:nvPr/>
          </p:nvSpPr>
          <p:spPr>
            <a:xfrm>
              <a:off x="381000" y="1101993"/>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y=k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是过定点</a:t>
              </a:r>
              <a:r>
                <a:rPr lang="en-US" altLang="zh-CN" sz="2800" dirty="0">
                  <a:solidFill>
                    <a:srgbClr val="000000"/>
                  </a:solidFill>
                  <a:latin typeface="Times New Roman" panose="02020603050405020304" pitchFamily="18" charset="0"/>
                  <a:cs typeface="Times New Roman" panose="02020603050405020304" pitchFamily="18" charset="0"/>
                </a:rPr>
                <a:t>(2,4)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的直线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设切线</a:t>
              </a:r>
              <a:r>
                <a:rPr lang="en-US" altLang="zh-CN" sz="2800" i="1" dirty="0">
                  <a:solidFill>
                    <a:srgbClr val="000000"/>
                  </a:solidFill>
                  <a:latin typeface="Times New Roman" panose="02020603050405020304" pitchFamily="18" charset="0"/>
                  <a:cs typeface="Times New Roman" panose="02020603050405020304" pitchFamily="18" charset="0"/>
                </a:rPr>
                <a:t>PC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的斜率为</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则切线</a:t>
              </a:r>
              <a:r>
                <a:rPr lang="en-US" altLang="zh-CN" sz="2800" i="1" dirty="0">
                  <a:solidFill>
                    <a:srgbClr val="000000"/>
                  </a:solidFill>
                  <a:latin typeface="Times New Roman" panose="02020603050405020304" pitchFamily="18" charset="0"/>
                  <a:cs typeface="Times New Roman" panose="02020603050405020304" pitchFamily="18" charset="0"/>
                </a:rPr>
                <a:t>PC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y=k</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468539496"/>
                </p:ext>
              </p:extLst>
            </p:nvPr>
          </p:nvGraphicFramePr>
          <p:xfrm>
            <a:off x="41564" y="2138754"/>
            <a:ext cx="11430000" cy="3518192"/>
          </p:xfrm>
          <a:graphic>
            <a:graphicData uri="http://schemas.openxmlformats.org/presentationml/2006/ole">
              <mc:AlternateContent xmlns:mc="http://schemas.openxmlformats.org/markup-compatibility/2006">
                <mc:Choice xmlns:v="urn:schemas-microsoft-com:vml" Requires="v">
                  <p:oleObj spid="_x0000_s29739" name="文档" r:id="rId5" imgW="4510061" imgH="1388212" progId="Word.Document.12">
                    <p:embed/>
                  </p:oleObj>
                </mc:Choice>
                <mc:Fallback>
                  <p:oleObj name="文档" r:id="rId5" imgW="4510061" imgH="1388212" progId="Word.Document.12">
                    <p:embed/>
                    <p:pic>
                      <p:nvPicPr>
                        <p:cNvPr id="0" name=""/>
                        <p:cNvPicPr/>
                        <p:nvPr/>
                      </p:nvPicPr>
                      <p:blipFill>
                        <a:blip r:embed="rId6"/>
                        <a:stretch>
                          <a:fillRect/>
                        </a:stretch>
                      </p:blipFill>
                      <p:spPr>
                        <a:xfrm>
                          <a:off x="41564" y="2138754"/>
                          <a:ext cx="11430000" cy="3518192"/>
                        </a:xfrm>
                        <a:prstGeom prst="rect">
                          <a:avLst/>
                        </a:prstGeom>
                      </p:spPr>
                    </p:pic>
                  </p:oleObj>
                </mc:Fallback>
              </mc:AlternateContent>
            </a:graphicData>
          </a:graphic>
        </p:graphicFrame>
      </p:grpSp>
      <p:sp>
        <p:nvSpPr>
          <p:cNvPr id="5" name="矩形 4"/>
          <p:cNvSpPr>
            <a:spLocks noChangeAspect="1"/>
          </p:cNvSpPr>
          <p:nvPr/>
        </p:nvSpPr>
        <p:spPr>
          <a:xfrm>
            <a:off x="381000" y="5571225"/>
            <a:ext cx="1612942"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C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EMX1TRAX67.eps" descr="id:2147498448;FounderCES"/>
          <p:cNvPicPr/>
          <p:nvPr/>
        </p:nvPicPr>
        <p:blipFill>
          <a:blip r:embed="rId7">
            <a:clrChange>
              <a:clrFrom>
                <a:srgbClr val="F8F8F8"/>
              </a:clrFrom>
              <a:clrTo>
                <a:srgbClr val="F8F8F8">
                  <a:alpha val="0"/>
                </a:srgbClr>
              </a:clrTo>
            </a:clrChange>
          </a:blip>
          <a:stretch>
            <a:fillRect/>
          </a:stretch>
        </p:blipFill>
        <p:spPr>
          <a:xfrm>
            <a:off x="8182321" y="3369020"/>
            <a:ext cx="3478670" cy="2688879"/>
          </a:xfrm>
          <a:prstGeom prst="rect">
            <a:avLst/>
          </a:prstGeom>
        </p:spPr>
      </p:pic>
    </p:spTree>
    <p:extLst>
      <p:ext uri="{BB962C8B-B14F-4D97-AF65-F5344CB8AC3E}">
        <p14:creationId xmlns:p14="http://schemas.microsoft.com/office/powerpoint/2010/main" val="26030336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rPr>
              <a:t>高考体验</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 y="151371"/>
            <a:ext cx="11336478" cy="433754"/>
            <a:chOff x="381000" y="205656"/>
            <a:chExt cx="11336478" cy="433754"/>
          </a:xfrm>
        </p:grpSpPr>
        <p:sp>
          <p:nvSpPr>
            <p:cNvPr id="3" name="矩形 2"/>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4" name="组合 3"/>
            <p:cNvGrpSpPr/>
            <p:nvPr/>
          </p:nvGrpSpPr>
          <p:grpSpPr>
            <a:xfrm>
              <a:off x="381000" y="205656"/>
              <a:ext cx="11336478" cy="433754"/>
              <a:chOff x="3048000" y="2286000"/>
              <a:chExt cx="4813646" cy="457200"/>
            </a:xfrm>
          </p:grpSpPr>
          <p:sp>
            <p:nvSpPr>
              <p:cNvPr id="5" name="矩形 4"/>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考点一</a:t>
                </a:r>
              </a:p>
            </p:txBody>
          </p:sp>
          <p:sp>
            <p:nvSpPr>
              <p:cNvPr id="6" name="矩形 5"/>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圆心与直线的距离</a:t>
                </a:r>
                <a:endParaRPr lang="zh-CN" altLang="en-US" sz="2800" b="1" dirty="0">
                  <a:solidFill>
                    <a:schemeClr val="bg1"/>
                  </a:solidFill>
                </a:endParaRPr>
              </a:p>
            </p:txBody>
          </p:sp>
        </p:grpSp>
      </p:grpSp>
      <mc:AlternateContent xmlns:mc="http://schemas.openxmlformats.org/markup-compatibility/2006">
        <mc:Choice xmlns:a14="http://schemas.microsoft.com/office/drawing/2010/main" Requires="a14">
          <p:sp>
            <p:nvSpPr>
              <p:cNvPr id="9" name="矩形 8"/>
              <p:cNvSpPr>
                <a:spLocks noChangeAspect="1"/>
              </p:cNvSpPr>
              <p:nvPr/>
            </p:nvSpPr>
            <p:spPr>
              <a:xfrm>
                <a:off x="381000" y="868703"/>
                <a:ext cx="11430000" cy="4366708"/>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(2024·</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北京高考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的圆心到</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A.2</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3</m:t>
                        </m:r>
                      </m:e>
                    </m:rad>
                  </m:oMath>
                </a14:m>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B.2</a:t>
                </a:r>
                <a:r>
                  <a:rPr lang="en-US" altLang="zh-CN" sz="2800" dirty="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C.3</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2</m:t>
                        </m:r>
                      </m:e>
                    </m:rad>
                  </m:oMath>
                </a14:m>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a:t>
                </a:r>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6</m:t>
                        </m:r>
                      </m:e>
                    </m:rad>
                  </m:oMath>
                </a14:m>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圆的方程为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圆心坐标为</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圆心到直线</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的距离为</a:t>
                </a:r>
                <a:r>
                  <a:rPr lang="en-US" altLang="zh-CN" sz="2800" i="1" dirty="0">
                    <a:solidFill>
                      <a:srgbClr val="000000"/>
                    </a:solidFill>
                    <a:latin typeface="Times New Roman" panose="02020603050405020304" pitchFamily="18" charset="0"/>
                    <a:cs typeface="Times New Roman" panose="02020603050405020304" pitchFamily="18" charset="0"/>
                  </a:rPr>
                  <a:t>d=</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1+3+2</m:t>
                        </m:r>
                        <m:r>
                          <m:rPr>
                            <m:nor/>
                          </m:rPr>
                          <a:rPr lang="en-US" altLang="zh-CN" sz="2800">
                            <a:solidFill>
                              <a:srgbClr val="000000"/>
                            </a:solidFill>
                            <a:latin typeface="Times New Roman" panose="02020603050405020304" pitchFamily="18" charset="0"/>
                            <a:cs typeface="Times New Roman" panose="02020603050405020304" pitchFamily="18" charset="0"/>
                          </a:rPr>
                          <m:t>|</m:t>
                        </m:r>
                      </m:num>
                      <m:den>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a:solidFill>
                                      <a:srgbClr val="000000"/>
                                    </a:solidFill>
                                    <a:latin typeface="Cambria Math" panose="02040503050406030204" pitchFamily="18" charset="0"/>
                                    <a:cs typeface="Times New Roman" panose="02020603050405020304" pitchFamily="18" charset="0"/>
                                  </a:rPr>
                                  <m:t>1</m:t>
                                </m:r>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a:solidFill>
                                  <a:srgbClr val="000000"/>
                                </a:solidFill>
                                <a:latin typeface="Cambria Math" panose="02040503050406030204" pitchFamily="18" charset="0"/>
                                <a:cs typeface="Times New Roman" panose="02020603050405020304" pitchFamily="18" charset="0"/>
                              </a:rPr>
                              <m:t>+</m:t>
                            </m:r>
                            <m:r>
                              <m:rPr>
                                <m:nor/>
                              </m:rPr>
                              <a:rPr lang="en-US" altLang="zh-CN" sz="2800">
                                <a:solidFill>
                                  <a:srgbClr val="000000"/>
                                </a:solidFill>
                                <a:latin typeface="Times New Roman" panose="02020603050405020304" pitchFamily="18" charset="0"/>
                                <a:cs typeface="Times New Roman" panose="02020603050405020304" pitchFamily="18" charset="0"/>
                              </a:rPr>
                              <m:t>(</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1</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nor/>
                                  </m:rPr>
                                  <a:rPr lang="en-US" altLang="zh-CN" sz="2800">
                                    <a:solidFill>
                                      <a:srgbClr val="000000"/>
                                    </a:solidFill>
                                    <a:latin typeface="Times New Roman" panose="02020603050405020304" pitchFamily="18" charset="0"/>
                                    <a:cs typeface="Times New Roman" panose="02020603050405020304" pitchFamily="18" charset="0"/>
                                  </a:rPr>
                                  <m:t>)</m:t>
                                </m:r>
                              </m:e>
                              <m:sup>
                                <m:r>
                                  <a:rPr lang="en-US" altLang="zh-CN" sz="2800">
                                    <a:solidFill>
                                      <a:srgbClr val="000000"/>
                                    </a:solidFill>
                                    <a:latin typeface="Cambria Math" panose="02040503050406030204" pitchFamily="18" charset="0"/>
                                    <a:cs typeface="Times New Roman" panose="02020603050405020304" pitchFamily="18" charset="0"/>
                                  </a:rPr>
                                  <m:t>2</m:t>
                                </m:r>
                              </m:sup>
                            </m:sSup>
                          </m:e>
                        </m:rad>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2</m:t>
                        </m:r>
                      </m:e>
                    </m:rad>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9" name="矩形 8"/>
              <p:cNvSpPr>
                <a:spLocks noRot="1" noChangeAspect="1" noMove="1" noResize="1" noEditPoints="1" noAdjustHandles="1" noChangeArrowheads="1" noChangeShapeType="1" noTextEdit="1"/>
              </p:cNvSpPr>
              <p:nvPr/>
            </p:nvSpPr>
            <p:spPr>
              <a:xfrm>
                <a:off x="381000" y="868703"/>
                <a:ext cx="11430000" cy="4366708"/>
              </a:xfrm>
              <a:prstGeom prst="rect">
                <a:avLst/>
              </a:prstGeom>
              <a:blipFill rotWithShape="0">
                <a:blip r:embed="rId2"/>
                <a:stretch>
                  <a:fillRect l="-1120" t="-419" b="-1816"/>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randombar(horizontal)">
                                      <p:cBhvr>
                                        <p:cTn id="7" dur="500"/>
                                        <p:tgtEl>
                                          <p:spTgt spid="9">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0" dur="500"/>
                                        <p:tgtEl>
                                          <p:spTgt spid="9">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animEffect transition="in" filter="randombar(horizontal)">
                                      <p:cBhvr>
                                        <p:cTn id="15"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 y="151371"/>
            <a:ext cx="11336478" cy="433754"/>
            <a:chOff x="381000" y="205656"/>
            <a:chExt cx="11336478" cy="433754"/>
          </a:xfrm>
        </p:grpSpPr>
        <p:sp>
          <p:nvSpPr>
            <p:cNvPr id="3" name="矩形 2"/>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4" name="组合 3"/>
            <p:cNvGrpSpPr/>
            <p:nvPr/>
          </p:nvGrpSpPr>
          <p:grpSpPr>
            <a:xfrm>
              <a:off x="381000" y="205656"/>
              <a:ext cx="11336478" cy="433754"/>
              <a:chOff x="3048000" y="2286000"/>
              <a:chExt cx="4813646" cy="457200"/>
            </a:xfrm>
          </p:grpSpPr>
          <p:sp>
            <p:nvSpPr>
              <p:cNvPr id="5" name="矩形 4"/>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考点二</a:t>
                </a:r>
              </a:p>
            </p:txBody>
          </p:sp>
          <p:sp>
            <p:nvSpPr>
              <p:cNvPr id="6" name="矩形 5"/>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圆的方程</a:t>
                </a:r>
              </a:p>
            </p:txBody>
          </p:sp>
        </p:grpSp>
      </p:grpSp>
      <p:sp>
        <p:nvSpPr>
          <p:cNvPr id="7" name="矩形 6"/>
          <p:cNvSpPr>
            <a:spLocks noChangeAspect="1"/>
          </p:cNvSpPr>
          <p:nvPr/>
        </p:nvSpPr>
        <p:spPr>
          <a:xfrm>
            <a:off x="381000" y="1245691"/>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(2023·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新高考</a:t>
            </a:r>
            <a:r>
              <a:rPr lang="zh-CN" altLang="zh-CN" sz="2800" dirty="0">
                <a:solidFill>
                  <a:srgbClr val="000000"/>
                </a:solidFill>
                <a:latin typeface="NEU-BZ-S92"/>
                <a:cs typeface="宋体" panose="02010600030101010101" pitchFamily="2" charset="-122"/>
              </a:rPr>
              <a:t>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过</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相切的两条直线的夹角为</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dirty="0">
                <a:solidFill>
                  <a:srgbClr val="000000"/>
                </a:solidFill>
                <a:latin typeface="Times New Roman" panose="02020603050405020304" pitchFamily="18" charset="0"/>
                <a:cs typeface="Times New Roman" panose="02020603050405020304" pitchFamily="18" charset="0"/>
              </a:rPr>
              <a:t>sin </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3294244635"/>
              </p:ext>
            </p:extLst>
          </p:nvPr>
        </p:nvGraphicFramePr>
        <p:xfrm>
          <a:off x="479206" y="2429231"/>
          <a:ext cx="11275153" cy="1983030"/>
        </p:xfrm>
        <a:graphic>
          <a:graphicData uri="http://schemas.openxmlformats.org/presentationml/2006/ole">
            <mc:AlternateContent xmlns:mc="http://schemas.openxmlformats.org/markup-compatibility/2006">
              <mc:Choice xmlns:v="urn:schemas-microsoft-com:vml" Requires="v">
                <p:oleObj spid="_x0000_s41995"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479206" y="2429231"/>
                        <a:ext cx="11275153" cy="1983030"/>
                      </a:xfrm>
                      <a:prstGeom prst="rect">
                        <a:avLst/>
                      </a:prstGeom>
                    </p:spPr>
                  </p:pic>
                </p:oleObj>
              </mc:Fallback>
            </mc:AlternateContent>
          </a:graphicData>
        </a:graphic>
      </p:graphicFrame>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547830559"/>
              </p:ext>
            </p:extLst>
          </p:nvPr>
        </p:nvGraphicFramePr>
        <p:xfrm>
          <a:off x="479206" y="292535"/>
          <a:ext cx="11275153" cy="5156240"/>
        </p:xfrm>
        <a:graphic>
          <a:graphicData uri="http://schemas.openxmlformats.org/presentationml/2006/ole">
            <mc:AlternateContent xmlns:mc="http://schemas.openxmlformats.org/markup-compatibility/2006">
              <mc:Choice xmlns:v="urn:schemas-microsoft-com:vml" Requires="v">
                <p:oleObj spid="_x0000_s43018" name="文档" r:id="rId3" imgW="4510061" imgH="2062496" progId="Word.Document.12">
                  <p:embed/>
                </p:oleObj>
              </mc:Choice>
              <mc:Fallback>
                <p:oleObj name="文档" r:id="rId3" imgW="4510061" imgH="2062496" progId="Word.Document.12">
                  <p:embed/>
                  <p:pic>
                    <p:nvPicPr>
                      <p:cNvPr id="0" name=""/>
                      <p:cNvPicPr/>
                      <p:nvPr/>
                    </p:nvPicPr>
                    <p:blipFill>
                      <a:blip r:embed="rId4"/>
                      <a:stretch>
                        <a:fillRect/>
                      </a:stretch>
                    </p:blipFill>
                    <p:spPr>
                      <a:xfrm>
                        <a:off x="479206" y="292535"/>
                        <a:ext cx="11275153" cy="5156240"/>
                      </a:xfrm>
                      <a:prstGeom prst="rect">
                        <a:avLst/>
                      </a:prstGeom>
                    </p:spPr>
                  </p:pic>
                </p:oleObj>
              </mc:Fallback>
            </mc:AlternateContent>
          </a:graphicData>
        </a:graphic>
      </p:graphicFrame>
      <p:sp>
        <p:nvSpPr>
          <p:cNvPr id="6" name="矩形 5"/>
          <p:cNvSpPr>
            <a:spLocks noChangeAspect="1"/>
          </p:cNvSpPr>
          <p:nvPr/>
        </p:nvSpPr>
        <p:spPr>
          <a:xfrm>
            <a:off x="381000" y="5365647"/>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B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24C11.eps" descr="id:2147518920;FounderCES"/>
          <p:cNvPicPr/>
          <p:nvPr/>
        </p:nvPicPr>
        <p:blipFill>
          <a:blip r:embed="rId5">
            <a:clrChange>
              <a:clrFrom>
                <a:srgbClr val="FFFFFF"/>
              </a:clrFrom>
              <a:clrTo>
                <a:srgbClr val="FFFFFF">
                  <a:alpha val="0"/>
                </a:srgbClr>
              </a:clrTo>
            </a:clrChange>
          </a:blip>
          <a:stretch>
            <a:fillRect/>
          </a:stretch>
        </p:blipFill>
        <p:spPr>
          <a:xfrm>
            <a:off x="9434237" y="1485380"/>
            <a:ext cx="2320122" cy="2016356"/>
          </a:xfrm>
          <a:prstGeom prst="rect">
            <a:avLst/>
          </a:prstGeom>
        </p:spPr>
      </p:pic>
    </p:spTree>
    <p:extLst>
      <p:ext uri="{BB962C8B-B14F-4D97-AF65-F5344CB8AC3E}">
        <p14:creationId xmlns:p14="http://schemas.microsoft.com/office/powerpoint/2010/main" val="22802167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 y="151371"/>
            <a:ext cx="11336478" cy="433754"/>
            <a:chOff x="381000" y="205656"/>
            <a:chExt cx="11336478" cy="433754"/>
          </a:xfrm>
        </p:grpSpPr>
        <p:sp>
          <p:nvSpPr>
            <p:cNvPr id="3" name="矩形 2"/>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4" name="组合 3"/>
            <p:cNvGrpSpPr/>
            <p:nvPr/>
          </p:nvGrpSpPr>
          <p:grpSpPr>
            <a:xfrm>
              <a:off x="381000" y="205656"/>
              <a:ext cx="11336478" cy="433754"/>
              <a:chOff x="3048000" y="2286000"/>
              <a:chExt cx="4813646" cy="457200"/>
            </a:xfrm>
          </p:grpSpPr>
          <p:sp>
            <p:nvSpPr>
              <p:cNvPr id="5" name="矩形 4"/>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考点三</a:t>
                </a:r>
              </a:p>
            </p:txBody>
          </p:sp>
          <p:sp>
            <p:nvSpPr>
              <p:cNvPr id="6" name="矩形 5"/>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直线与圆的位置关系</a:t>
                </a:r>
              </a:p>
            </p:txBody>
          </p:sp>
        </p:grpSp>
      </p:grpSp>
      <p:sp>
        <p:nvSpPr>
          <p:cNvPr id="9" name="矩形 8"/>
          <p:cNvSpPr>
            <a:spLocks noChangeAspect="1"/>
          </p:cNvSpPr>
          <p:nvPr/>
        </p:nvSpPr>
        <p:spPr>
          <a:xfrm>
            <a:off x="381000" y="1243879"/>
            <a:ext cx="11430000" cy="3453253"/>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多选题</a:t>
            </a:r>
            <a:r>
              <a:rPr lang="en-US" altLang="zh-CN" sz="2800" dirty="0">
                <a:solidFill>
                  <a:srgbClr val="000000"/>
                </a:solidFill>
                <a:latin typeface="Times New Roman" panose="02020603050405020304" pitchFamily="18" charset="0"/>
                <a:cs typeface="Times New Roman" panose="02020603050405020304" pitchFamily="18" charset="0"/>
              </a:rPr>
              <a:t>)(2021</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新</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高考</a:t>
            </a:r>
            <a:r>
              <a:rPr lang="zh-CN" altLang="zh-CN" sz="2800" dirty="0" smtClean="0">
                <a:solidFill>
                  <a:srgbClr val="000000"/>
                </a:solidFill>
                <a:latin typeface="NEU-BZ-S92"/>
                <a:cs typeface="宋体" panose="02010600030101010101" pitchFamily="2" charset="-122"/>
              </a:rPr>
              <a:t>Ⅱ</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ax+by-r</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则下列说法正确的是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若点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在圆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相切</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若点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在圆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内</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相离</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若点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在圆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相离</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若点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在直线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相切</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007764074"/>
              </p:ext>
            </p:extLst>
          </p:nvPr>
        </p:nvGraphicFramePr>
        <p:xfrm>
          <a:off x="458424" y="147061"/>
          <a:ext cx="11275153" cy="5744678"/>
        </p:xfrm>
        <a:graphic>
          <a:graphicData uri="http://schemas.openxmlformats.org/presentationml/2006/ole">
            <mc:AlternateContent xmlns:mc="http://schemas.openxmlformats.org/markup-compatibility/2006">
              <mc:Choice xmlns:v="urn:schemas-microsoft-com:vml" Requires="v">
                <p:oleObj spid="_x0000_s44041" name="文档" r:id="rId3" imgW="4510061" imgH="2297871" progId="Word.Document.12">
                  <p:embed/>
                </p:oleObj>
              </mc:Choice>
              <mc:Fallback>
                <p:oleObj name="文档" r:id="rId3" imgW="4510061" imgH="2297871" progId="Word.Document.12">
                  <p:embed/>
                  <p:pic>
                    <p:nvPicPr>
                      <p:cNvPr id="0" name=""/>
                      <p:cNvPicPr/>
                      <p:nvPr/>
                    </p:nvPicPr>
                    <p:blipFill>
                      <a:blip r:embed="rId4"/>
                      <a:stretch>
                        <a:fillRect/>
                      </a:stretch>
                    </p:blipFill>
                    <p:spPr>
                      <a:xfrm>
                        <a:off x="458424" y="147061"/>
                        <a:ext cx="11275153" cy="5744678"/>
                      </a:xfrm>
                      <a:prstGeom prst="rect">
                        <a:avLst/>
                      </a:prstGeom>
                    </p:spPr>
                  </p:pic>
                </p:oleObj>
              </mc:Fallback>
            </mc:AlternateContent>
          </a:graphicData>
        </a:graphic>
      </p:graphicFrame>
      <p:sp>
        <p:nvSpPr>
          <p:cNvPr id="3" name="矩形 2"/>
          <p:cNvSpPr>
            <a:spLocks noChangeAspect="1"/>
          </p:cNvSpPr>
          <p:nvPr/>
        </p:nvSpPr>
        <p:spPr>
          <a:xfrm>
            <a:off x="381000" y="5850175"/>
            <a:ext cx="1850186" cy="652486"/>
          </a:xfrm>
          <a:prstGeom prst="rect">
            <a:avLst/>
          </a:prstGeom>
        </p:spPr>
        <p:txBody>
          <a:bodyPr wrap="none">
            <a:spAutoFit/>
          </a:bodyPr>
          <a:lstStyle/>
          <a:p>
            <a:pPr>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ABD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702297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49247"/>
            <a:ext cx="11430000" cy="1212640"/>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(2021·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天津高考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若斜率</a:t>
            </a:r>
            <a:r>
              <a:rPr lang="zh-CN" altLang="zh-CN" sz="2800" dirty="0" smtClean="0">
                <a:solidFill>
                  <a:srgbClr val="000000"/>
                </a:solidFill>
                <a:latin typeface="Times New Roman" panose="02020603050405020304" pitchFamily="18" charset="0"/>
                <a:cs typeface="Times New Roman" panose="02020603050405020304" pitchFamily="18" charset="0"/>
              </a:rPr>
              <a:t>为</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的</a:t>
            </a:r>
            <a:r>
              <a:rPr lang="zh-CN" altLang="zh-CN" sz="2800" dirty="0">
                <a:solidFill>
                  <a:srgbClr val="000000"/>
                </a:solidFill>
                <a:latin typeface="Times New Roman" panose="02020603050405020304" pitchFamily="18" charset="0"/>
                <a:cs typeface="Times New Roman" panose="02020603050405020304" pitchFamily="18" charset="0"/>
              </a:rPr>
              <a:t>直线与</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轴交于点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相切于点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u="sng" dirty="0" smtClean="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059962244"/>
              </p:ext>
            </p:extLst>
          </p:nvPr>
        </p:nvGraphicFramePr>
        <p:xfrm>
          <a:off x="4602522" y="438763"/>
          <a:ext cx="606425" cy="506413"/>
        </p:xfrm>
        <a:graphic>
          <a:graphicData uri="http://schemas.openxmlformats.org/presentationml/2006/ole">
            <mc:AlternateContent xmlns:mc="http://schemas.openxmlformats.org/markup-compatibility/2006">
              <mc:Choice xmlns:v="urn:schemas-microsoft-com:vml" Requires="v">
                <p:oleObj spid="_x0000_s45079" name="文档" r:id="rId3" imgW="247625" imgH="201096" progId="Word.Document.12">
                  <p:embed/>
                </p:oleObj>
              </mc:Choice>
              <mc:Fallback>
                <p:oleObj name="文档" r:id="rId3" imgW="247625" imgH="201096" progId="Word.Document.12">
                  <p:embed/>
                  <p:pic>
                    <p:nvPicPr>
                      <p:cNvPr id="0" name=""/>
                      <p:cNvPicPr/>
                      <p:nvPr/>
                    </p:nvPicPr>
                    <p:blipFill>
                      <a:blip r:embed="rId4"/>
                      <a:stretch>
                        <a:fillRect/>
                      </a:stretch>
                    </p:blipFill>
                    <p:spPr>
                      <a:xfrm>
                        <a:off x="4602522" y="438763"/>
                        <a:ext cx="606425" cy="50641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50135283"/>
              </p:ext>
            </p:extLst>
          </p:nvPr>
        </p:nvGraphicFramePr>
        <p:xfrm>
          <a:off x="458424" y="1586751"/>
          <a:ext cx="11275153" cy="3356603"/>
        </p:xfrm>
        <a:graphic>
          <a:graphicData uri="http://schemas.openxmlformats.org/presentationml/2006/ole">
            <mc:AlternateContent xmlns:mc="http://schemas.openxmlformats.org/markup-compatibility/2006">
              <mc:Choice xmlns:v="urn:schemas-microsoft-com:vml" Requires="v">
                <p:oleObj spid="_x0000_s45080" name="文档" r:id="rId5" imgW="4510061" imgH="1342641" progId="Word.Document.12">
                  <p:embed/>
                </p:oleObj>
              </mc:Choice>
              <mc:Fallback>
                <p:oleObj name="文档" r:id="rId5" imgW="4510061" imgH="1342641" progId="Word.Document.12">
                  <p:embed/>
                  <p:pic>
                    <p:nvPicPr>
                      <p:cNvPr id="0" name=""/>
                      <p:cNvPicPr/>
                      <p:nvPr/>
                    </p:nvPicPr>
                    <p:blipFill>
                      <a:blip r:embed="rId6"/>
                      <a:stretch>
                        <a:fillRect/>
                      </a:stretch>
                    </p:blipFill>
                    <p:spPr>
                      <a:xfrm>
                        <a:off x="458424" y="1586751"/>
                        <a:ext cx="11275153" cy="335660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27519549"/>
              </p:ext>
            </p:extLst>
          </p:nvPr>
        </p:nvGraphicFramePr>
        <p:xfrm>
          <a:off x="458424" y="4953745"/>
          <a:ext cx="11275153" cy="571413"/>
        </p:xfrm>
        <a:graphic>
          <a:graphicData uri="http://schemas.openxmlformats.org/presentationml/2006/ole">
            <mc:AlternateContent xmlns:mc="http://schemas.openxmlformats.org/markup-compatibility/2006">
              <mc:Choice xmlns:v="urn:schemas-microsoft-com:vml" Requires="v">
                <p:oleObj spid="_x0000_s45081" name="文档" r:id="rId7" imgW="4510061" imgH="228565" progId="Word.Document.12">
                  <p:embed/>
                </p:oleObj>
              </mc:Choice>
              <mc:Fallback>
                <p:oleObj name="文档" r:id="rId7" imgW="4510061" imgH="228565" progId="Word.Document.12">
                  <p:embed/>
                  <p:pic>
                    <p:nvPicPr>
                      <p:cNvPr id="0" name=""/>
                      <p:cNvPicPr/>
                      <p:nvPr/>
                    </p:nvPicPr>
                    <p:blipFill>
                      <a:blip r:embed="rId8"/>
                      <a:stretch>
                        <a:fillRect/>
                      </a:stretch>
                    </p:blipFill>
                    <p:spPr>
                      <a:xfrm>
                        <a:off x="458424" y="4953745"/>
                        <a:ext cx="11275153" cy="571413"/>
                      </a:xfrm>
                      <a:prstGeom prst="rect">
                        <a:avLst/>
                      </a:prstGeom>
                    </p:spPr>
                  </p:pic>
                </p:oleObj>
              </mc:Fallback>
            </mc:AlternateContent>
          </a:graphicData>
        </a:graphic>
      </p:graphicFrame>
    </p:spTree>
    <p:extLst>
      <p:ext uri="{BB962C8B-B14F-4D97-AF65-F5344CB8AC3E}">
        <p14:creationId xmlns:p14="http://schemas.microsoft.com/office/powerpoint/2010/main" val="22822077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53092"/>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(2023·</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新高考</a:t>
            </a:r>
            <a:r>
              <a:rPr lang="zh-CN" altLang="zh-CN" sz="2800" dirty="0">
                <a:solidFill>
                  <a:srgbClr val="000000"/>
                </a:solidFill>
                <a:latin typeface="NEU-BZ-S92"/>
                <a:cs typeface="宋体" panose="02010600030101010101" pitchFamily="2" charset="-122"/>
              </a:rPr>
              <a:t>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x-my+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dirty="0">
                <a:solidFill>
                  <a:srgbClr val="000000"/>
                </a:solidFill>
                <a:latin typeface="Segoe UI Symbol" panose="020B0502040204020203" pitchFamily="34" charset="0"/>
                <a:cs typeface="Segoe UI Symbol" panose="020B0502040204020203" pitchFamily="34"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交于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写出满足</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面积</a:t>
            </a:r>
            <a:r>
              <a:rPr lang="zh-CN" altLang="zh-CN" sz="2800" dirty="0" smtClean="0">
                <a:solidFill>
                  <a:srgbClr val="000000"/>
                </a:solidFill>
                <a:latin typeface="Times New Roman" panose="02020603050405020304" pitchFamily="18" charset="0"/>
                <a:cs typeface="Times New Roman" panose="02020603050405020304" pitchFamily="18" charset="0"/>
              </a:rPr>
              <a:t>为</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的</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的一个值</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80691902"/>
              </p:ext>
            </p:extLst>
          </p:nvPr>
        </p:nvGraphicFramePr>
        <p:xfrm>
          <a:off x="3506499" y="635961"/>
          <a:ext cx="320675" cy="992187"/>
        </p:xfrm>
        <a:graphic>
          <a:graphicData uri="http://schemas.openxmlformats.org/presentationml/2006/ole">
            <mc:AlternateContent xmlns:mc="http://schemas.openxmlformats.org/markup-compatibility/2006">
              <mc:Choice xmlns:v="urn:schemas-microsoft-com:vml" Requires="v">
                <p:oleObj spid="_x0000_s34855" name="文档" r:id="rId3" imgW="135784" imgH="398949" progId="Word.Document.12">
                  <p:embed/>
                </p:oleObj>
              </mc:Choice>
              <mc:Fallback>
                <p:oleObj name="文档" r:id="rId3" imgW="135784" imgH="398949" progId="Word.Document.12">
                  <p:embed/>
                  <p:pic>
                    <p:nvPicPr>
                      <p:cNvPr id="0" name=""/>
                      <p:cNvPicPr/>
                      <p:nvPr/>
                    </p:nvPicPr>
                    <p:blipFill>
                      <a:blip r:embed="rId4"/>
                      <a:stretch>
                        <a:fillRect/>
                      </a:stretch>
                    </p:blipFill>
                    <p:spPr>
                      <a:xfrm>
                        <a:off x="3506499" y="635961"/>
                        <a:ext cx="320675" cy="99218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354080246"/>
              </p:ext>
            </p:extLst>
          </p:nvPr>
        </p:nvGraphicFramePr>
        <p:xfrm>
          <a:off x="479206" y="1552972"/>
          <a:ext cx="11275153" cy="3569635"/>
        </p:xfrm>
        <a:graphic>
          <a:graphicData uri="http://schemas.openxmlformats.org/presentationml/2006/ole">
            <mc:AlternateContent xmlns:mc="http://schemas.openxmlformats.org/markup-compatibility/2006">
              <mc:Choice xmlns:v="urn:schemas-microsoft-com:vml" Requires="v">
                <p:oleObj spid="_x0000_s34856" name="文档" r:id="rId5" imgW="4510061" imgH="1427854" progId="Word.Document.12">
                  <p:embed/>
                </p:oleObj>
              </mc:Choice>
              <mc:Fallback>
                <p:oleObj name="文档" r:id="rId5" imgW="4510061" imgH="1427854" progId="Word.Document.12">
                  <p:embed/>
                  <p:pic>
                    <p:nvPicPr>
                      <p:cNvPr id="0" name=""/>
                      <p:cNvPicPr/>
                      <p:nvPr/>
                    </p:nvPicPr>
                    <p:blipFill>
                      <a:blip r:embed="rId6"/>
                      <a:stretch>
                        <a:fillRect/>
                      </a:stretch>
                    </p:blipFill>
                    <p:spPr>
                      <a:xfrm>
                        <a:off x="479206" y="1552972"/>
                        <a:ext cx="11275153" cy="356963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252746341"/>
              </p:ext>
            </p:extLst>
          </p:nvPr>
        </p:nvGraphicFramePr>
        <p:xfrm>
          <a:off x="479206" y="4909596"/>
          <a:ext cx="11275153" cy="991965"/>
        </p:xfrm>
        <a:graphic>
          <a:graphicData uri="http://schemas.openxmlformats.org/presentationml/2006/ole">
            <mc:AlternateContent xmlns:mc="http://schemas.openxmlformats.org/markup-compatibility/2006">
              <mc:Choice xmlns:v="urn:schemas-microsoft-com:vml" Requires="v">
                <p:oleObj spid="_x0000_s34857" name="文档" r:id="rId7" imgW="4510061" imgH="396786" progId="Word.Document.12">
                  <p:embed/>
                </p:oleObj>
              </mc:Choice>
              <mc:Fallback>
                <p:oleObj name="文档" r:id="rId7" imgW="4510061" imgH="396786" progId="Word.Document.12">
                  <p:embed/>
                  <p:pic>
                    <p:nvPicPr>
                      <p:cNvPr id="0" name=""/>
                      <p:cNvPicPr/>
                      <p:nvPr/>
                    </p:nvPicPr>
                    <p:blipFill>
                      <a:blip r:embed="rId8"/>
                      <a:stretch>
                        <a:fillRect/>
                      </a:stretch>
                    </p:blipFill>
                    <p:spPr>
                      <a:xfrm>
                        <a:off x="479206" y="4909596"/>
                        <a:ext cx="11275153" cy="991965"/>
                      </a:xfrm>
                      <a:prstGeom prst="rect">
                        <a:avLst/>
                      </a:prstGeom>
                    </p:spPr>
                  </p:pic>
                </p:oleObj>
              </mc:Fallback>
            </mc:AlternateContent>
          </a:graphicData>
        </a:graphic>
      </p:graphicFrame>
    </p:spTree>
    <p:extLst>
      <p:ext uri="{BB962C8B-B14F-4D97-AF65-F5344CB8AC3E}">
        <p14:creationId xmlns:p14="http://schemas.microsoft.com/office/powerpoint/2010/main" val="882421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1003059664"/>
              </p:ext>
            </p:extLst>
          </p:nvPr>
        </p:nvGraphicFramePr>
        <p:xfrm>
          <a:off x="479206" y="1262812"/>
          <a:ext cx="11275153" cy="3173210"/>
        </p:xfrm>
        <a:graphic>
          <a:graphicData uri="http://schemas.openxmlformats.org/presentationml/2006/ole">
            <mc:AlternateContent xmlns:mc="http://schemas.openxmlformats.org/markup-compatibility/2006">
              <mc:Choice xmlns:v="urn:schemas-microsoft-com:vml" Requires="v">
                <p:oleObj spid="_x0000_s46097" name="文档" r:id="rId3" imgW="4510061" imgH="1269284" progId="Word.Document.12">
                  <p:embed/>
                </p:oleObj>
              </mc:Choice>
              <mc:Fallback>
                <p:oleObj name="文档" r:id="rId3" imgW="4510061" imgH="1269284" progId="Word.Document.12">
                  <p:embed/>
                  <p:pic>
                    <p:nvPicPr>
                      <p:cNvPr id="0" name=""/>
                      <p:cNvPicPr/>
                      <p:nvPr/>
                    </p:nvPicPr>
                    <p:blipFill>
                      <a:blip r:embed="rId4"/>
                      <a:stretch>
                        <a:fillRect/>
                      </a:stretch>
                    </p:blipFill>
                    <p:spPr>
                      <a:xfrm>
                        <a:off x="479206" y="1262812"/>
                        <a:ext cx="11275153" cy="3173210"/>
                      </a:xfrm>
                      <a:prstGeom prst="rect">
                        <a:avLst/>
                      </a:prstGeom>
                    </p:spPr>
                  </p:pic>
                </p:oleObj>
              </mc:Fallback>
            </mc:AlternateContent>
          </a:graphicData>
        </a:graphic>
      </p:graphicFrame>
    </p:spTree>
    <p:extLst>
      <p:ext uri="{BB962C8B-B14F-4D97-AF65-F5344CB8AC3E}">
        <p14:creationId xmlns:p14="http://schemas.microsoft.com/office/powerpoint/2010/main" val="17065178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352453111"/>
              </p:ext>
            </p:extLst>
          </p:nvPr>
        </p:nvGraphicFramePr>
        <p:xfrm>
          <a:off x="479206" y="1254270"/>
          <a:ext cx="11275153" cy="2974998"/>
        </p:xfrm>
        <a:graphic>
          <a:graphicData uri="http://schemas.openxmlformats.org/presentationml/2006/ole">
            <mc:AlternateContent xmlns:mc="http://schemas.openxmlformats.org/markup-compatibility/2006">
              <mc:Choice xmlns:v="urn:schemas-microsoft-com:vml" Requires="v">
                <p:oleObj spid="_x0000_s53254" name="文档" r:id="rId3" imgW="4510061" imgH="1189999" progId="Word.Document.12">
                  <p:embed/>
                </p:oleObj>
              </mc:Choice>
              <mc:Fallback>
                <p:oleObj name="文档" r:id="rId3" imgW="4510061" imgH="1189999" progId="Word.Document.12">
                  <p:embed/>
                  <p:pic>
                    <p:nvPicPr>
                      <p:cNvPr id="0" name=""/>
                      <p:cNvPicPr/>
                      <p:nvPr/>
                    </p:nvPicPr>
                    <p:blipFill>
                      <a:blip r:embed="rId4"/>
                      <a:stretch>
                        <a:fillRect/>
                      </a:stretch>
                    </p:blipFill>
                    <p:spPr>
                      <a:xfrm>
                        <a:off x="479206" y="1254270"/>
                        <a:ext cx="11275153" cy="2974998"/>
                      </a:xfrm>
                      <a:prstGeom prst="rect">
                        <a:avLst/>
                      </a:prstGeom>
                    </p:spPr>
                  </p:pic>
                </p:oleObj>
              </mc:Fallback>
            </mc:AlternateContent>
          </a:graphicData>
        </a:graphic>
      </p:graphicFrame>
    </p:spTree>
    <p:extLst>
      <p:ext uri="{BB962C8B-B14F-4D97-AF65-F5344CB8AC3E}">
        <p14:creationId xmlns:p14="http://schemas.microsoft.com/office/powerpoint/2010/main" val="28857001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900481633"/>
              </p:ext>
            </p:extLst>
          </p:nvPr>
        </p:nvGraphicFramePr>
        <p:xfrm>
          <a:off x="479206" y="159761"/>
          <a:ext cx="11275153" cy="5949993"/>
        </p:xfrm>
        <a:graphic>
          <a:graphicData uri="http://schemas.openxmlformats.org/presentationml/2006/ole">
            <mc:AlternateContent xmlns:mc="http://schemas.openxmlformats.org/markup-compatibility/2006">
              <mc:Choice xmlns:v="urn:schemas-microsoft-com:vml" Requires="v">
                <p:oleObj spid="_x0000_s54277" name="文档" r:id="rId3" imgW="4510061" imgH="2379997" progId="Word.Document.12">
                  <p:embed/>
                </p:oleObj>
              </mc:Choice>
              <mc:Fallback>
                <p:oleObj name="文档" r:id="rId3" imgW="4510061" imgH="2379997" progId="Word.Document.12">
                  <p:embed/>
                  <p:pic>
                    <p:nvPicPr>
                      <p:cNvPr id="0" name=""/>
                      <p:cNvPicPr/>
                      <p:nvPr/>
                    </p:nvPicPr>
                    <p:blipFill>
                      <a:blip r:embed="rId4"/>
                      <a:stretch>
                        <a:fillRect/>
                      </a:stretch>
                    </p:blipFill>
                    <p:spPr>
                      <a:xfrm>
                        <a:off x="479206" y="159761"/>
                        <a:ext cx="11275153" cy="5949993"/>
                      </a:xfrm>
                      <a:prstGeom prst="rect">
                        <a:avLst/>
                      </a:prstGeom>
                    </p:spPr>
                  </p:pic>
                </p:oleObj>
              </mc:Fallback>
            </mc:AlternateContent>
          </a:graphicData>
        </a:graphic>
      </p:graphicFrame>
      <p:pic>
        <p:nvPicPr>
          <p:cNvPr id="5" name="24C12.eps" descr="id:2147518927;FounderCES"/>
          <p:cNvPicPr/>
          <p:nvPr/>
        </p:nvPicPr>
        <p:blipFill>
          <a:blip r:embed="rId5">
            <a:clrChange>
              <a:clrFrom>
                <a:srgbClr val="FFFFFF"/>
              </a:clrFrom>
              <a:clrTo>
                <a:srgbClr val="FFFFFF">
                  <a:alpha val="0"/>
                </a:srgbClr>
              </a:clrTo>
            </a:clrChange>
          </a:blip>
          <a:stretch>
            <a:fillRect/>
          </a:stretch>
        </p:blipFill>
        <p:spPr>
          <a:xfrm>
            <a:off x="8663448" y="1740794"/>
            <a:ext cx="2513805" cy="2363615"/>
          </a:xfrm>
          <a:prstGeom prst="rect">
            <a:avLst/>
          </a:prstGeom>
        </p:spPr>
      </p:pic>
    </p:spTree>
    <p:extLst>
      <p:ext uri="{BB962C8B-B14F-4D97-AF65-F5344CB8AC3E}">
        <p14:creationId xmlns:p14="http://schemas.microsoft.com/office/powerpoint/2010/main" val="27231681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554600776"/>
              </p:ext>
            </p:extLst>
          </p:nvPr>
        </p:nvGraphicFramePr>
        <p:xfrm>
          <a:off x="479206" y="308059"/>
          <a:ext cx="11275153" cy="4958028"/>
        </p:xfrm>
        <a:graphic>
          <a:graphicData uri="http://schemas.openxmlformats.org/presentationml/2006/ole">
            <mc:AlternateContent xmlns:mc="http://schemas.openxmlformats.org/markup-compatibility/2006">
              <mc:Choice xmlns:v="urn:schemas-microsoft-com:vml" Requires="v">
                <p:oleObj spid="_x0000_s55302" name="文档" r:id="rId3" imgW="4510061" imgH="1983211" progId="Word.Document.12">
                  <p:embed/>
                </p:oleObj>
              </mc:Choice>
              <mc:Fallback>
                <p:oleObj name="文档" r:id="rId3" imgW="4510061" imgH="1983211" progId="Word.Document.12">
                  <p:embed/>
                  <p:pic>
                    <p:nvPicPr>
                      <p:cNvPr id="0" name=""/>
                      <p:cNvPicPr/>
                      <p:nvPr/>
                    </p:nvPicPr>
                    <p:blipFill>
                      <a:blip r:embed="rId4"/>
                      <a:stretch>
                        <a:fillRect/>
                      </a:stretch>
                    </p:blipFill>
                    <p:spPr>
                      <a:xfrm>
                        <a:off x="479206" y="308059"/>
                        <a:ext cx="11275153" cy="4958028"/>
                      </a:xfrm>
                      <a:prstGeom prst="rect">
                        <a:avLst/>
                      </a:prstGeom>
                    </p:spPr>
                  </p:pic>
                </p:oleObj>
              </mc:Fallback>
            </mc:AlternateContent>
          </a:graphicData>
        </a:graphic>
      </p:graphicFrame>
      <p:pic>
        <p:nvPicPr>
          <p:cNvPr id="4" name="24C13.eps" descr="id:2147518934;FounderCES"/>
          <p:cNvPicPr/>
          <p:nvPr/>
        </p:nvPicPr>
        <p:blipFill>
          <a:blip r:embed="rId5">
            <a:clrChange>
              <a:clrFrom>
                <a:srgbClr val="FFFFFF"/>
              </a:clrFrom>
              <a:clrTo>
                <a:srgbClr val="FFFFFF">
                  <a:alpha val="0"/>
                </a:srgbClr>
              </a:clrTo>
            </a:clrChange>
          </a:blip>
          <a:stretch>
            <a:fillRect/>
          </a:stretch>
        </p:blipFill>
        <p:spPr>
          <a:xfrm>
            <a:off x="8048075" y="2506519"/>
            <a:ext cx="2937209" cy="2127826"/>
          </a:xfrm>
          <a:prstGeom prst="rect">
            <a:avLst/>
          </a:prstGeom>
        </p:spPr>
      </p:pic>
      <p:sp>
        <p:nvSpPr>
          <p:cNvPr id="5" name="矩形 4"/>
          <p:cNvSpPr>
            <a:spLocks noChangeAspect="1"/>
          </p:cNvSpPr>
          <p:nvPr/>
        </p:nvSpPr>
        <p:spPr>
          <a:xfrm>
            <a:off x="381000" y="5214132"/>
            <a:ext cx="1331839"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52350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1152367"/>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(2021·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北京高考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y=kx+m</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则当</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cs typeface="Times New Roman" panose="02020603050405020304" pitchFamily="18" charset="0"/>
              </a:rPr>
              <a:t>的值发生变化时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被圆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所截的弦长的最小值为</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的取值为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358962773"/>
              </p:ext>
            </p:extLst>
          </p:nvPr>
        </p:nvGraphicFramePr>
        <p:xfrm>
          <a:off x="458424" y="2514285"/>
          <a:ext cx="11275153" cy="1144623"/>
        </p:xfrm>
        <a:graphic>
          <a:graphicData uri="http://schemas.openxmlformats.org/presentationml/2006/ole">
            <mc:AlternateContent xmlns:mc="http://schemas.openxmlformats.org/markup-compatibility/2006">
              <mc:Choice xmlns:v="urn:schemas-microsoft-com:vml" Requires="v">
                <p:oleObj spid="_x0000_s47113" name="文档" r:id="rId3" imgW="4510061" imgH="457849" progId="Word.Document.12">
                  <p:embed/>
                </p:oleObj>
              </mc:Choice>
              <mc:Fallback>
                <p:oleObj name="文档" r:id="rId3" imgW="4510061" imgH="457849" progId="Word.Document.12">
                  <p:embed/>
                  <p:pic>
                    <p:nvPicPr>
                      <p:cNvPr id="0" name=""/>
                      <p:cNvPicPr/>
                      <p:nvPr/>
                    </p:nvPicPr>
                    <p:blipFill>
                      <a:blip r:embed="rId4"/>
                      <a:stretch>
                        <a:fillRect/>
                      </a:stretch>
                    </p:blipFill>
                    <p:spPr>
                      <a:xfrm>
                        <a:off x="458424" y="2514285"/>
                        <a:ext cx="11275153" cy="1144623"/>
                      </a:xfrm>
                      <a:prstGeom prst="rect">
                        <a:avLst/>
                      </a:prstGeom>
                    </p:spPr>
                  </p:pic>
                </p:oleObj>
              </mc:Fallback>
            </mc:AlternateContent>
          </a:graphicData>
        </a:graphic>
      </p:graphicFrame>
    </p:spTree>
    <p:extLst>
      <p:ext uri="{BB962C8B-B14F-4D97-AF65-F5344CB8AC3E}">
        <p14:creationId xmlns:p14="http://schemas.microsoft.com/office/powerpoint/2010/main" val="29528601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655610641"/>
              </p:ext>
            </p:extLst>
          </p:nvPr>
        </p:nvGraphicFramePr>
        <p:xfrm>
          <a:off x="458424" y="594591"/>
          <a:ext cx="11275153" cy="4096025"/>
        </p:xfrm>
        <a:graphic>
          <a:graphicData uri="http://schemas.openxmlformats.org/presentationml/2006/ole">
            <mc:AlternateContent xmlns:mc="http://schemas.openxmlformats.org/markup-compatibility/2006">
              <mc:Choice xmlns:v="urn:schemas-microsoft-com:vml" Requires="v">
                <p:oleObj spid="_x0000_s48137" name="文档" r:id="rId3" imgW="4510061" imgH="1638410" progId="Word.Document.12">
                  <p:embed/>
                </p:oleObj>
              </mc:Choice>
              <mc:Fallback>
                <p:oleObj name="文档" r:id="rId3" imgW="4510061" imgH="1638410" progId="Word.Document.12">
                  <p:embed/>
                  <p:pic>
                    <p:nvPicPr>
                      <p:cNvPr id="0" name=""/>
                      <p:cNvPicPr/>
                      <p:nvPr/>
                    </p:nvPicPr>
                    <p:blipFill>
                      <a:blip r:embed="rId4"/>
                      <a:stretch>
                        <a:fillRect/>
                      </a:stretch>
                    </p:blipFill>
                    <p:spPr>
                      <a:xfrm>
                        <a:off x="458424" y="594591"/>
                        <a:ext cx="11275153" cy="4096025"/>
                      </a:xfrm>
                      <a:prstGeom prst="rect">
                        <a:avLst/>
                      </a:prstGeom>
                    </p:spPr>
                  </p:pic>
                </p:oleObj>
              </mc:Fallback>
            </mc:AlternateContent>
          </a:graphicData>
        </a:graphic>
      </p:graphicFrame>
      <p:sp>
        <p:nvSpPr>
          <p:cNvPr id="3" name="矩形 2"/>
          <p:cNvSpPr>
            <a:spLocks noChangeAspect="1"/>
          </p:cNvSpPr>
          <p:nvPr/>
        </p:nvSpPr>
        <p:spPr>
          <a:xfrm>
            <a:off x="381000" y="4623706"/>
            <a:ext cx="1330814" cy="652486"/>
          </a:xfrm>
          <a:prstGeom prst="rect">
            <a:avLst/>
          </a:prstGeom>
        </p:spPr>
        <p:txBody>
          <a:bodyPr wrap="none">
            <a:spAutoFit/>
          </a:bodyPr>
          <a:lstStyle/>
          <a:p>
            <a:pPr>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C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27516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 y="151371"/>
            <a:ext cx="11336478" cy="433754"/>
            <a:chOff x="381000" y="205656"/>
            <a:chExt cx="11336478" cy="433754"/>
          </a:xfrm>
        </p:grpSpPr>
        <p:sp>
          <p:nvSpPr>
            <p:cNvPr id="3" name="矩形 2"/>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4" name="组合 3"/>
            <p:cNvGrpSpPr/>
            <p:nvPr/>
          </p:nvGrpSpPr>
          <p:grpSpPr>
            <a:xfrm>
              <a:off x="381000" y="205656"/>
              <a:ext cx="11336478" cy="433754"/>
              <a:chOff x="3048000" y="2286000"/>
              <a:chExt cx="4813646" cy="457200"/>
            </a:xfrm>
          </p:grpSpPr>
          <p:sp>
            <p:nvSpPr>
              <p:cNvPr id="5" name="矩形 4"/>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考点四</a:t>
                </a:r>
              </a:p>
            </p:txBody>
          </p:sp>
          <p:sp>
            <p:nvSpPr>
              <p:cNvPr id="6" name="矩形 5"/>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最值问题</a:t>
                </a:r>
              </a:p>
            </p:txBody>
          </p:sp>
        </p:grpSp>
      </p:grpSp>
      <p:sp>
        <p:nvSpPr>
          <p:cNvPr id="7" name="矩形 6"/>
          <p:cNvSpPr>
            <a:spLocks noChangeAspect="1"/>
          </p:cNvSpPr>
          <p:nvPr/>
        </p:nvSpPr>
        <p:spPr>
          <a:xfrm>
            <a:off x="381000" y="1827107"/>
            <a:ext cx="11430000" cy="5922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(2023·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全国乙高考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满足</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x-y</a:t>
            </a:r>
            <a:r>
              <a:rPr lang="zh-CN" altLang="zh-CN" sz="2800" dirty="0">
                <a:solidFill>
                  <a:srgbClr val="000000"/>
                </a:solidFill>
                <a:latin typeface="Times New Roman" panose="02020603050405020304" pitchFamily="18" charset="0"/>
                <a:cs typeface="Times New Roman" panose="02020603050405020304" pitchFamily="18" charset="0"/>
              </a:rPr>
              <a:t>的最大值是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4224423283"/>
              </p:ext>
            </p:extLst>
          </p:nvPr>
        </p:nvGraphicFramePr>
        <p:xfrm>
          <a:off x="479206" y="2448935"/>
          <a:ext cx="11275153" cy="1586605"/>
        </p:xfrm>
        <a:graphic>
          <a:graphicData uri="http://schemas.openxmlformats.org/presentationml/2006/ole">
            <mc:AlternateContent xmlns:mc="http://schemas.openxmlformats.org/markup-compatibility/2006">
              <mc:Choice xmlns:v="urn:schemas-microsoft-com:vml" Requires="v">
                <p:oleObj spid="_x0000_s56325" name="文档" r:id="rId3" imgW="4510061" imgH="634642" progId="Word.Document.12">
                  <p:embed/>
                </p:oleObj>
              </mc:Choice>
              <mc:Fallback>
                <p:oleObj name="文档" r:id="rId3" imgW="4510061" imgH="634642" progId="Word.Document.12">
                  <p:embed/>
                  <p:pic>
                    <p:nvPicPr>
                      <p:cNvPr id="0" name=""/>
                      <p:cNvPicPr/>
                      <p:nvPr/>
                    </p:nvPicPr>
                    <p:blipFill>
                      <a:blip r:embed="rId4"/>
                      <a:stretch>
                        <a:fillRect/>
                      </a:stretch>
                    </p:blipFill>
                    <p:spPr>
                      <a:xfrm>
                        <a:off x="479206" y="2448935"/>
                        <a:ext cx="11275153" cy="1586605"/>
                      </a:xfrm>
                      <a:prstGeom prst="rect">
                        <a:avLst/>
                      </a:prstGeom>
                    </p:spPr>
                  </p:pic>
                </p:oleObj>
              </mc:Fallback>
            </mc:AlternateContent>
          </a:graphicData>
        </a:graphic>
      </p:graphicFrame>
    </p:spTree>
    <p:extLst>
      <p:ext uri="{BB962C8B-B14F-4D97-AF65-F5344CB8AC3E}">
        <p14:creationId xmlns:p14="http://schemas.microsoft.com/office/powerpoint/2010/main" val="41901708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81000" y="250971"/>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该方程表示圆心为</a:t>
            </a:r>
            <a:r>
              <a:rPr lang="en-US" altLang="zh-CN" sz="2800" dirty="0">
                <a:solidFill>
                  <a:srgbClr val="000000"/>
                </a:solidFill>
                <a:latin typeface="Times New Roman" panose="02020603050405020304" pitchFamily="18" charset="0"/>
                <a:cs typeface="Times New Roman" panose="02020603050405020304" pitchFamily="18" charset="0"/>
              </a:rPr>
              <a:t>(2,1),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半径为</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的圆</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x-y=u</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x-y-u=</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由题意知直线</a:t>
            </a:r>
            <a:r>
              <a:rPr lang="en-US" altLang="zh-CN" sz="2800" i="1" dirty="0">
                <a:solidFill>
                  <a:srgbClr val="000000"/>
                </a:solidFill>
                <a:latin typeface="Times New Roman" panose="02020603050405020304" pitchFamily="18" charset="0"/>
                <a:cs typeface="Times New Roman" panose="02020603050405020304" pitchFamily="18" charset="0"/>
              </a:rPr>
              <a:t>x-y-u=</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有公共点</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482509612"/>
              </p:ext>
            </p:extLst>
          </p:nvPr>
        </p:nvGraphicFramePr>
        <p:xfrm>
          <a:off x="479206" y="1973882"/>
          <a:ext cx="11275153" cy="3569635"/>
        </p:xfrm>
        <a:graphic>
          <a:graphicData uri="http://schemas.openxmlformats.org/presentationml/2006/ole">
            <mc:AlternateContent xmlns:mc="http://schemas.openxmlformats.org/markup-compatibility/2006">
              <mc:Choice xmlns:v="urn:schemas-microsoft-com:vml" Requires="v">
                <p:oleObj spid="_x0000_s49161" name="文档" r:id="rId3" imgW="4510061" imgH="1427854" progId="Word.Document.12">
                  <p:embed/>
                </p:oleObj>
              </mc:Choice>
              <mc:Fallback>
                <p:oleObj name="文档" r:id="rId3" imgW="4510061" imgH="1427854" progId="Word.Document.12">
                  <p:embed/>
                  <p:pic>
                    <p:nvPicPr>
                      <p:cNvPr id="0" name=""/>
                      <p:cNvPicPr/>
                      <p:nvPr/>
                    </p:nvPicPr>
                    <p:blipFill>
                      <a:blip r:embed="rId4"/>
                      <a:stretch>
                        <a:fillRect/>
                      </a:stretch>
                    </p:blipFill>
                    <p:spPr>
                      <a:xfrm>
                        <a:off x="479206" y="1973882"/>
                        <a:ext cx="11275153" cy="3569635"/>
                      </a:xfrm>
                      <a:prstGeom prst="rect">
                        <a:avLst/>
                      </a:prstGeom>
                    </p:spPr>
                  </p:pic>
                </p:oleObj>
              </mc:Fallback>
            </mc:AlternateContent>
          </a:graphicData>
        </a:graphic>
      </p:graphicFrame>
      <p:sp>
        <p:nvSpPr>
          <p:cNvPr id="7" name="矩形 6"/>
          <p:cNvSpPr>
            <a:spLocks noChangeAspect="1"/>
          </p:cNvSpPr>
          <p:nvPr/>
        </p:nvSpPr>
        <p:spPr>
          <a:xfrm>
            <a:off x="381000" y="5381239"/>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C</a:t>
            </a:r>
            <a:r>
              <a:rPr lang="zh-CN" altLang="en-US"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057524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72707"/>
            <a:ext cx="11430000" cy="2332946"/>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多选题</a:t>
            </a:r>
            <a:r>
              <a:rPr lang="en-US" altLang="zh-CN" sz="2800" dirty="0">
                <a:solidFill>
                  <a:srgbClr val="000000"/>
                </a:solidFill>
                <a:latin typeface="Times New Roman" panose="02020603050405020304" pitchFamily="18" charset="0"/>
                <a:cs typeface="Times New Roman" panose="02020603050405020304" pitchFamily="18" charset="0"/>
              </a:rPr>
              <a:t>)(2021</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新</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高考</a:t>
            </a:r>
            <a:r>
              <a:rPr lang="zh-CN" altLang="zh-CN" sz="2800" dirty="0" smtClean="0">
                <a:solidFill>
                  <a:srgbClr val="000000"/>
                </a:solidFill>
                <a:latin typeface="NEU-BZ-S92"/>
                <a:cs typeface="宋体" panose="02010600030101010101" pitchFamily="2" charset="-122"/>
              </a:rPr>
              <a:t>Ⅰ</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在圆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a:t>
            </a:r>
            <a:r>
              <a:rPr lang="zh-CN" altLang="zh-CN" sz="2800" dirty="0">
                <a:solidFill>
                  <a:srgbClr val="000000"/>
                </a:solidFill>
                <a:latin typeface="Times New Roman" panose="02020603050405020304" pitchFamily="18" charset="0"/>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(4,0),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(0,2),</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的距离小于</a:t>
            </a:r>
            <a:r>
              <a:rPr lang="en-US" altLang="zh-CN" sz="2800" dirty="0">
                <a:solidFill>
                  <a:srgbClr val="000000"/>
                </a:solidFill>
                <a:latin typeface="Times New Roman" panose="02020603050405020304" pitchFamily="18" charset="0"/>
                <a:cs typeface="Times New Roman" panose="02020603050405020304" pitchFamily="18" charset="0"/>
              </a:rPr>
              <a:t>10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的距离大于</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424606850"/>
              </p:ext>
            </p:extLst>
          </p:nvPr>
        </p:nvGraphicFramePr>
        <p:xfrm>
          <a:off x="458424" y="3274186"/>
          <a:ext cx="11275153" cy="1145523"/>
        </p:xfrm>
        <a:graphic>
          <a:graphicData uri="http://schemas.openxmlformats.org/presentationml/2006/ole">
            <mc:AlternateContent xmlns:mc="http://schemas.openxmlformats.org/markup-compatibility/2006">
              <mc:Choice xmlns:v="urn:schemas-microsoft-com:vml" Requires="v">
                <p:oleObj spid="_x0000_s50184" name="文档" r:id="rId3" imgW="4510061" imgH="458209" progId="Word.Document.12">
                  <p:embed/>
                </p:oleObj>
              </mc:Choice>
              <mc:Fallback>
                <p:oleObj name="文档" r:id="rId3" imgW="4510061" imgH="458209" progId="Word.Document.12">
                  <p:embed/>
                  <p:pic>
                    <p:nvPicPr>
                      <p:cNvPr id="0" name=""/>
                      <p:cNvPicPr/>
                      <p:nvPr/>
                    </p:nvPicPr>
                    <p:blipFill>
                      <a:blip r:embed="rId4"/>
                      <a:stretch>
                        <a:fillRect/>
                      </a:stretch>
                    </p:blipFill>
                    <p:spPr>
                      <a:xfrm>
                        <a:off x="458424" y="3274186"/>
                        <a:ext cx="11275153" cy="1145523"/>
                      </a:xfrm>
                      <a:prstGeom prst="rect">
                        <a:avLst/>
                      </a:prstGeom>
                    </p:spPr>
                  </p:pic>
                </p:oleObj>
              </mc:Fallback>
            </mc:AlternateContent>
          </a:graphicData>
        </a:graphic>
      </p:graphicFrame>
    </p:spTree>
    <p:extLst>
      <p:ext uri="{BB962C8B-B14F-4D97-AF65-F5344CB8AC3E}">
        <p14:creationId xmlns:p14="http://schemas.microsoft.com/office/powerpoint/2010/main" val="45944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3542"/>
            <a:ext cx="7120860" cy="652486"/>
          </a:xfrm>
          <a:prstGeom prst="rect">
            <a:avLst/>
          </a:prstGeom>
        </p:spPr>
        <p:txBody>
          <a:bodyPr wrap="none">
            <a:spAutoFit/>
          </a:bodyPr>
          <a:lstStyle/>
          <a:p>
            <a:pPr>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记圆心为</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半径为</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(5,5),</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NMX1TRAX331.eps" descr="id:2147519022;FounderCES"/>
          <p:cNvPicPr>
            <a:picLocks noChangeAspect="1"/>
          </p:cNvPicPr>
          <p:nvPr/>
        </p:nvPicPr>
        <p:blipFill>
          <a:blip r:embed="rId3">
            <a:clrChange>
              <a:clrFrom>
                <a:srgbClr val="FFFFFF"/>
              </a:clrFrom>
              <a:clrTo>
                <a:srgbClr val="FFFFFF">
                  <a:alpha val="0"/>
                </a:srgbClr>
              </a:clrTo>
            </a:clrChange>
          </a:blip>
          <a:stretch>
            <a:fillRect/>
          </a:stretch>
        </p:blipFill>
        <p:spPr>
          <a:xfrm>
            <a:off x="4356124" y="710844"/>
            <a:ext cx="3479752" cy="2370666"/>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326991233"/>
              </p:ext>
            </p:extLst>
          </p:nvPr>
        </p:nvGraphicFramePr>
        <p:xfrm>
          <a:off x="458424" y="3185664"/>
          <a:ext cx="11275153" cy="3379963"/>
        </p:xfrm>
        <a:graphic>
          <a:graphicData uri="http://schemas.openxmlformats.org/presentationml/2006/ole">
            <mc:AlternateContent xmlns:mc="http://schemas.openxmlformats.org/markup-compatibility/2006">
              <mc:Choice xmlns:v="urn:schemas-microsoft-com:vml" Requires="v">
                <p:oleObj spid="_x0000_s51208" name="文档" r:id="rId4" imgW="4510061" imgH="1351985" progId="Word.Document.12">
                  <p:embed/>
                </p:oleObj>
              </mc:Choice>
              <mc:Fallback>
                <p:oleObj name="文档" r:id="rId4" imgW="4510061" imgH="1351985" progId="Word.Document.12">
                  <p:embed/>
                  <p:pic>
                    <p:nvPicPr>
                      <p:cNvPr id="0" name=""/>
                      <p:cNvPicPr/>
                      <p:nvPr/>
                    </p:nvPicPr>
                    <p:blipFill>
                      <a:blip r:embed="rId5"/>
                      <a:stretch>
                        <a:fillRect/>
                      </a:stretch>
                    </p:blipFill>
                    <p:spPr>
                      <a:xfrm>
                        <a:off x="458424" y="3185664"/>
                        <a:ext cx="11275153" cy="3379963"/>
                      </a:xfrm>
                      <a:prstGeom prst="rect">
                        <a:avLst/>
                      </a:prstGeom>
                    </p:spPr>
                  </p:pic>
                </p:oleObj>
              </mc:Fallback>
            </mc:AlternateContent>
          </a:graphicData>
        </a:graphic>
      </p:graphicFrame>
    </p:spTree>
    <p:extLst>
      <p:ext uri="{BB962C8B-B14F-4D97-AF65-F5344CB8AC3E}">
        <p14:creationId xmlns:p14="http://schemas.microsoft.com/office/powerpoint/2010/main" val="24264955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1152367"/>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分别作圆的两条切线</a:t>
            </a:r>
            <a:r>
              <a:rPr lang="en-US" altLang="zh-CN" sz="2800" i="1" dirty="0">
                <a:solidFill>
                  <a:srgbClr val="000000"/>
                </a:solidFill>
                <a:latin typeface="Times New Roman" panose="02020603050405020304" pitchFamily="18" charset="0"/>
                <a:cs typeface="Times New Roman" panose="02020603050405020304" pitchFamily="18" charset="0"/>
              </a:rPr>
              <a:t>BP</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BP</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切点分别为点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则当点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处时</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PBA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最大</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处时</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PBA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最小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458901637"/>
              </p:ext>
            </p:extLst>
          </p:nvPr>
        </p:nvGraphicFramePr>
        <p:xfrm>
          <a:off x="458424" y="2468983"/>
          <a:ext cx="11275153" cy="941573"/>
        </p:xfrm>
        <a:graphic>
          <a:graphicData uri="http://schemas.openxmlformats.org/presentationml/2006/ole">
            <mc:AlternateContent xmlns:mc="http://schemas.openxmlformats.org/markup-compatibility/2006">
              <mc:Choice xmlns:v="urn:schemas-microsoft-com:vml" Requires="v">
                <p:oleObj spid="_x0000_s52232" name="文档" r:id="rId3" imgW="4510061" imgH="376629" progId="Word.Document.12">
                  <p:embed/>
                </p:oleObj>
              </mc:Choice>
              <mc:Fallback>
                <p:oleObj name="文档" r:id="rId3" imgW="4510061" imgH="376629" progId="Word.Document.12">
                  <p:embed/>
                  <p:pic>
                    <p:nvPicPr>
                      <p:cNvPr id="0" name=""/>
                      <p:cNvPicPr/>
                      <p:nvPr/>
                    </p:nvPicPr>
                    <p:blipFill>
                      <a:blip r:embed="rId4"/>
                      <a:stretch>
                        <a:fillRect/>
                      </a:stretch>
                    </p:blipFill>
                    <p:spPr>
                      <a:xfrm>
                        <a:off x="458424" y="2468983"/>
                        <a:ext cx="11275153" cy="941573"/>
                      </a:xfrm>
                      <a:prstGeom prst="rect">
                        <a:avLst/>
                      </a:prstGeom>
                    </p:spPr>
                  </p:pic>
                </p:oleObj>
              </mc:Fallback>
            </mc:AlternateContent>
          </a:graphicData>
        </a:graphic>
      </p:graphicFrame>
      <p:sp>
        <p:nvSpPr>
          <p:cNvPr id="4" name="矩形 3"/>
          <p:cNvSpPr>
            <a:spLocks noChangeAspect="1"/>
          </p:cNvSpPr>
          <p:nvPr/>
        </p:nvSpPr>
        <p:spPr>
          <a:xfrm>
            <a:off x="381000" y="3398945"/>
            <a:ext cx="11430000" cy="1152367"/>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dirty="0">
                <a:solidFill>
                  <a:srgbClr val="000000"/>
                </a:solidFill>
                <a:latin typeface="Times New Roman" panose="02020603050405020304" pitchFamily="18" charset="0"/>
                <a:cs typeface="Times New Roman" panose="02020603050405020304" pitchFamily="18" charset="0"/>
              </a:rPr>
              <a:t>ACD</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ACD</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343961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162</TotalTime>
  <Words>2619</Words>
  <Application>Microsoft Office PowerPoint</Application>
  <PresentationFormat>宽屏</PresentationFormat>
  <Paragraphs>176</Paragraphs>
  <Slides>59</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59</vt:i4>
      </vt:variant>
    </vt:vector>
  </HeadingPairs>
  <TitlesOfParts>
    <vt:vector size="79" baseType="lpstr">
      <vt:lpstr>NEU-BZ-S92</vt:lpstr>
      <vt:lpstr>Open Sans</vt:lpstr>
      <vt:lpstr>方正书宋_GBK</vt:lpstr>
      <vt:lpstr>方正姚体</vt:lpstr>
      <vt:lpstr>仿宋</vt:lpstr>
      <vt:lpstr>黑体</vt:lpstr>
      <vt:lpstr>华文细黑</vt:lpstr>
      <vt:lpstr>华文新魏</vt:lpstr>
      <vt:lpstr>楷体</vt:lpstr>
      <vt:lpstr>隶书</vt:lpstr>
      <vt:lpstr>思源黑体 CN Medium</vt:lpstr>
      <vt:lpstr>宋体</vt:lpstr>
      <vt:lpstr>Arial</vt:lpstr>
      <vt:lpstr>Calibri</vt:lpstr>
      <vt:lpstr>Cambria Math</vt:lpstr>
      <vt:lpstr>Microsoft Yi Baiti</vt:lpstr>
      <vt:lpstr>Segoe UI Symbol</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60</cp:revision>
  <dcterms:created xsi:type="dcterms:W3CDTF">2021-08-30T08:30:26Z</dcterms:created>
  <dcterms:modified xsi:type="dcterms:W3CDTF">2025-08-09T09:59:20Z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