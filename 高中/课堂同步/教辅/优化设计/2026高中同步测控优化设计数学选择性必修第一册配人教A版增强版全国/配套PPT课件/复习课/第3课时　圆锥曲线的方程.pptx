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7"/>
  </p:notesMasterIdLst>
  <p:sldIdLst>
    <p:sldId id="677" r:id="rId2"/>
    <p:sldId id="488" r:id="rId3"/>
    <p:sldId id="392" r:id="rId4"/>
    <p:sldId id="686" r:id="rId5"/>
    <p:sldId id="687" r:id="rId6"/>
    <p:sldId id="765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777" r:id="rId16"/>
    <p:sldId id="407" r:id="rId17"/>
    <p:sldId id="394" r:id="rId18"/>
    <p:sldId id="699" r:id="rId19"/>
    <p:sldId id="700" r:id="rId20"/>
    <p:sldId id="701" r:id="rId21"/>
    <p:sldId id="702" r:id="rId22"/>
    <p:sldId id="402" r:id="rId23"/>
    <p:sldId id="712" r:id="rId24"/>
    <p:sldId id="713" r:id="rId25"/>
    <p:sldId id="714" r:id="rId26"/>
    <p:sldId id="715" r:id="rId27"/>
    <p:sldId id="498" r:id="rId28"/>
    <p:sldId id="730" r:id="rId29"/>
    <p:sldId id="733" r:id="rId30"/>
    <p:sldId id="743" r:id="rId31"/>
    <p:sldId id="744" r:id="rId32"/>
    <p:sldId id="734" r:id="rId33"/>
    <p:sldId id="740" r:id="rId34"/>
    <p:sldId id="739" r:id="rId35"/>
    <p:sldId id="745" r:id="rId36"/>
    <p:sldId id="746" r:id="rId37"/>
    <p:sldId id="747" r:id="rId38"/>
    <p:sldId id="748" r:id="rId39"/>
    <p:sldId id="749" r:id="rId40"/>
    <p:sldId id="750" r:id="rId41"/>
    <p:sldId id="753" r:id="rId42"/>
    <p:sldId id="778" r:id="rId43"/>
    <p:sldId id="754" r:id="rId44"/>
    <p:sldId id="779" r:id="rId45"/>
    <p:sldId id="780" r:id="rId46"/>
    <p:sldId id="781" r:id="rId47"/>
    <p:sldId id="782" r:id="rId48"/>
    <p:sldId id="783" r:id="rId49"/>
    <p:sldId id="398" r:id="rId50"/>
    <p:sldId id="395" r:id="rId51"/>
    <p:sldId id="756" r:id="rId52"/>
    <p:sldId id="819" r:id="rId53"/>
    <p:sldId id="824" r:id="rId54"/>
    <p:sldId id="757" r:id="rId55"/>
    <p:sldId id="820" r:id="rId56"/>
    <p:sldId id="821" r:id="rId57"/>
    <p:sldId id="758" r:id="rId58"/>
    <p:sldId id="785" r:id="rId59"/>
    <p:sldId id="833" r:id="rId60"/>
    <p:sldId id="834" r:id="rId61"/>
    <p:sldId id="835" r:id="rId62"/>
    <p:sldId id="836" r:id="rId63"/>
    <p:sldId id="837" r:id="rId64"/>
    <p:sldId id="838" r:id="rId65"/>
    <p:sldId id="839" r:id="rId66"/>
    <p:sldId id="840" r:id="rId67"/>
    <p:sldId id="841" r:id="rId68"/>
    <p:sldId id="842" r:id="rId69"/>
    <p:sldId id="843" r:id="rId70"/>
    <p:sldId id="759" r:id="rId71"/>
    <p:sldId id="844" r:id="rId72"/>
    <p:sldId id="845" r:id="rId73"/>
    <p:sldId id="801" r:id="rId74"/>
    <p:sldId id="813" r:id="rId75"/>
    <p:sldId id="814" r:id="rId76"/>
    <p:sldId id="763" r:id="rId77"/>
    <p:sldId id="847" r:id="rId78"/>
    <p:sldId id="848" r:id="rId79"/>
    <p:sldId id="846" r:id="rId80"/>
    <p:sldId id="815" r:id="rId81"/>
    <p:sldId id="816" r:id="rId82"/>
    <p:sldId id="775" r:id="rId83"/>
    <p:sldId id="817" r:id="rId84"/>
    <p:sldId id="818" r:id="rId85"/>
    <p:sldId id="490" r:id="rId8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6" pos="257" userDrawn="1">
          <p15:clr>
            <a:srgbClr val="A4A3A4"/>
          </p15:clr>
        </p15:guide>
        <p15:guide id="7" orient="horz" pos="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179" autoAdjust="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pos="257"/>
        <p:guide orient="horz" pos="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4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image" Target="../media/image70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e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image" Target="../media/image91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image" Target="../media/image101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slide" Target="../slides/slide17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3.xml"/><Relationship Id="rId4" Type="http://schemas.openxmlformats.org/officeDocument/2006/relationships/slide" Target="../slides/slide2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4.xml"/><Relationship Id="rId2" Type="http://schemas.openxmlformats.org/officeDocument/2006/relationships/slide" Target="../slides/slide50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82.xml"/><Relationship Id="rId5" Type="http://schemas.openxmlformats.org/officeDocument/2006/relationships/slide" Target="../slides/slide76.xml"/><Relationship Id="rId4" Type="http://schemas.openxmlformats.org/officeDocument/2006/relationships/slide" Target="../slides/slide7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>
            <a:hlinkClick r:id="rId2" action="ppaction://hlinksldjump"/>
          </p:cNvPr>
          <p:cNvSpPr/>
          <p:nvPr userDrawn="1"/>
        </p:nvSpPr>
        <p:spPr>
          <a:xfrm>
            <a:off x="79057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专题一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圆角矩形 10">
            <a:hlinkClick r:id="rId3" action="ppaction://hlinksldjump"/>
          </p:cNvPr>
          <p:cNvSpPr/>
          <p:nvPr userDrawn="1"/>
        </p:nvSpPr>
        <p:spPr>
          <a:xfrm>
            <a:off x="89720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专题二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圆角矩形 11">
            <a:hlinkClick r:id="rId4" action="ppaction://hlinksldjump"/>
          </p:cNvPr>
          <p:cNvSpPr/>
          <p:nvPr userDrawn="1"/>
        </p:nvSpPr>
        <p:spPr>
          <a:xfrm>
            <a:off x="100384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专题三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圆角矩形 12">
            <a:hlinkClick r:id="rId5" action="ppaction://hlinksldjump"/>
          </p:cNvPr>
          <p:cNvSpPr/>
          <p:nvPr userDrawn="1"/>
        </p:nvSpPr>
        <p:spPr>
          <a:xfrm>
            <a:off x="111047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专题四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83940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9057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9720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圆角矩形 9">
            <a:hlinkClick r:id="rId5" action="ppaction://hlinksldjump"/>
          </p:cNvPr>
          <p:cNvSpPr/>
          <p:nvPr userDrawn="1"/>
        </p:nvSpPr>
        <p:spPr>
          <a:xfrm>
            <a:off x="100384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圆角矩形 10">
            <a:hlinkClick r:id="rId6" action="ppaction://hlinksldjump"/>
          </p:cNvPr>
          <p:cNvSpPr/>
          <p:nvPr userDrawn="1"/>
        </p:nvSpPr>
        <p:spPr>
          <a:xfrm>
            <a:off x="111047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package" Target="../embeddings/Microsoft_Word___14.docx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6.emf"/><Relationship Id="rId11" Type="http://schemas.openxmlformats.org/officeDocument/2006/relationships/image" Target="../media/image19.jpeg"/><Relationship Id="rId5" Type="http://schemas.openxmlformats.org/officeDocument/2006/relationships/package" Target="../embeddings/Microsoft_Word___15.docx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package" Target="../embeddings/Microsoft_Word___17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jpeg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package" Target="../embeddings/Microsoft_Word___20.docx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Word___21.docx"/><Relationship Id="rId4" Type="http://schemas.openxmlformats.org/officeDocument/2006/relationships/image" Target="../media/image2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__24.docx"/><Relationship Id="rId4" Type="http://schemas.openxmlformats.org/officeDocument/2006/relationships/image" Target="../media/image26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package" Target="../embeddings/Microsoft_Word___25.docx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__26.docx"/><Relationship Id="rId4" Type="http://schemas.openxmlformats.org/officeDocument/2006/relationships/image" Target="../media/image2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9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__31.docx"/><Relationship Id="rId4" Type="http://schemas.openxmlformats.org/officeDocument/2006/relationships/image" Target="../media/image3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6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package" Target="../embeddings/Microsoft_Word___33.docx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__34.docx"/><Relationship Id="rId4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4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3.emf"/><Relationship Id="rId5" Type="http://schemas.openxmlformats.org/officeDocument/2006/relationships/package" Target="../embeddings/Microsoft_Word___39.docx"/><Relationship Id="rId4" Type="http://schemas.openxmlformats.org/officeDocument/2006/relationships/image" Target="../media/image4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4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4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4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4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4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49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50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package" Target="../embeddings/Microsoft_Word___49.docx"/><Relationship Id="rId5" Type="http://schemas.openxmlformats.org/officeDocument/2006/relationships/package" Target="../embeddings/Microsoft_Word___48.docx"/><Relationship Id="rId4" Type="http://schemas.openxmlformats.org/officeDocument/2006/relationships/image" Target="../media/image5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5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53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55.emf"/><Relationship Id="rId5" Type="http://schemas.openxmlformats.org/officeDocument/2006/relationships/package" Target="../embeddings/Microsoft_Word___53.docx"/><Relationship Id="rId4" Type="http://schemas.openxmlformats.org/officeDocument/2006/relationships/image" Target="../media/image54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57.emf"/><Relationship Id="rId5" Type="http://schemas.openxmlformats.org/officeDocument/2006/relationships/package" Target="../embeddings/Microsoft_Word___55.docx"/><Relationship Id="rId4" Type="http://schemas.openxmlformats.org/officeDocument/2006/relationships/image" Target="../media/image56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5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60.jpeg"/><Relationship Id="rId4" Type="http://schemas.openxmlformats.org/officeDocument/2006/relationships/image" Target="../media/image5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6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64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3.vml"/><Relationship Id="rId5" Type="http://schemas.openxmlformats.org/officeDocument/2006/relationships/image" Target="../media/image66.jpeg"/><Relationship Id="rId4" Type="http://schemas.openxmlformats.org/officeDocument/2006/relationships/image" Target="../media/image65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67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69.emf"/><Relationship Id="rId5" Type="http://schemas.openxmlformats.org/officeDocument/2006/relationships/package" Target="../embeddings/Microsoft_Word___63.docx"/><Relationship Id="rId4" Type="http://schemas.openxmlformats.org/officeDocument/2006/relationships/image" Target="../media/image68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71.emf"/><Relationship Id="rId5" Type="http://schemas.openxmlformats.org/officeDocument/2006/relationships/package" Target="../embeddings/Microsoft_Word___65.docx"/><Relationship Id="rId4" Type="http://schemas.openxmlformats.org/officeDocument/2006/relationships/image" Target="../media/image70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72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73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74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0.vml"/><Relationship Id="rId4" Type="http://schemas.openxmlformats.org/officeDocument/2006/relationships/image" Target="../media/image75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77.emf"/><Relationship Id="rId5" Type="http://schemas.openxmlformats.org/officeDocument/2006/relationships/package" Target="../embeddings/Microsoft_Word___71.docx"/><Relationship Id="rId4" Type="http://schemas.openxmlformats.org/officeDocument/2006/relationships/image" Target="../media/image76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80.emf"/><Relationship Id="rId5" Type="http://schemas.openxmlformats.org/officeDocument/2006/relationships/package" Target="../embeddings/Microsoft_Word___73.docx"/><Relationship Id="rId4" Type="http://schemas.openxmlformats.org/officeDocument/2006/relationships/image" Target="../media/image79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4.docx"/><Relationship Id="rId7" Type="http://schemas.openxmlformats.org/officeDocument/2006/relationships/image" Target="../media/image82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3.vml"/><Relationship Id="rId6" Type="http://schemas.openxmlformats.org/officeDocument/2006/relationships/package" Target="../embeddings/Microsoft_Word___75.docx"/><Relationship Id="rId5" Type="http://schemas.openxmlformats.org/officeDocument/2006/relationships/image" Target="../media/image83.jpeg"/><Relationship Id="rId4" Type="http://schemas.openxmlformats.org/officeDocument/2006/relationships/image" Target="../media/image81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92.emf"/><Relationship Id="rId5" Type="http://schemas.openxmlformats.org/officeDocument/2006/relationships/package" Target="../embeddings/Microsoft_Word___77.docx"/><Relationship Id="rId4" Type="http://schemas.openxmlformats.org/officeDocument/2006/relationships/image" Target="../media/image91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5.vml"/><Relationship Id="rId4" Type="http://schemas.openxmlformats.org/officeDocument/2006/relationships/image" Target="../media/image93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6.vml"/><Relationship Id="rId4" Type="http://schemas.openxmlformats.org/officeDocument/2006/relationships/image" Target="../media/image94.e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7.vml"/><Relationship Id="rId4" Type="http://schemas.openxmlformats.org/officeDocument/2006/relationships/image" Target="../media/image98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8.vml"/><Relationship Id="rId4" Type="http://schemas.openxmlformats.org/officeDocument/2006/relationships/image" Target="../media/image99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9.vml"/><Relationship Id="rId4" Type="http://schemas.openxmlformats.org/officeDocument/2006/relationships/image" Target="../media/image100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102.emf"/><Relationship Id="rId5" Type="http://schemas.openxmlformats.org/officeDocument/2006/relationships/package" Target="../embeddings/Microsoft_Word___84.docx"/><Relationship Id="rId4" Type="http://schemas.openxmlformats.org/officeDocument/2006/relationships/image" Target="../media/image101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104.jpeg"/><Relationship Id="rId4" Type="http://schemas.openxmlformats.org/officeDocument/2006/relationships/image" Target="../media/image103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2.vml"/><Relationship Id="rId4" Type="http://schemas.openxmlformats.org/officeDocument/2006/relationships/image" Target="../media/image105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3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圆锥曲线的方程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复习课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知识</a:t>
            </a:r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梳理 构建</a:t>
            </a:r>
            <a:r>
              <a:rPr lang="zh-CN" altLang="en-US" sz="2665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体系</a:t>
            </a: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专题</a:t>
            </a:r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归纳 核心</a:t>
            </a:r>
            <a:r>
              <a:rPr lang="zh-CN" altLang="en-US" sz="2665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突破</a:t>
            </a: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高考体验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知识</a:t>
            </a:r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梳理 构建</a:t>
            </a:r>
            <a:r>
              <a:rPr lang="zh-CN" altLang="en-US" sz="5400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体系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知识网络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99209" y="684198"/>
            <a:ext cx="11135538" cy="6094420"/>
            <a:chOff x="599209" y="684198"/>
            <a:chExt cx="11135538" cy="609442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599209" y="1724705"/>
              <a:ext cx="633507" cy="40134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圆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锥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线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方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程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800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0916145"/>
                </p:ext>
              </p:extLst>
            </p:nvPr>
          </p:nvGraphicFramePr>
          <p:xfrm>
            <a:off x="1073780" y="684198"/>
            <a:ext cx="10660967" cy="6094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" name="文档" r:id="rId3" imgW="4510061" imgH="2578210" progId="Word.Document.12">
                    <p:embed/>
                  </p:oleObj>
                </mc:Choice>
                <mc:Fallback>
                  <p:oleObj name="文档" r:id="rId3" imgW="4510061" imgH="25782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73780" y="684198"/>
                          <a:ext cx="10660967" cy="60944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3186598" y="796060"/>
            <a:ext cx="481440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978236" y="1356474"/>
            <a:ext cx="4814402" cy="830142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978236" y="2290526"/>
            <a:ext cx="4814402" cy="830142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31334" y="5359022"/>
            <a:ext cx="180103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152435" y="5880192"/>
            <a:ext cx="2874792" cy="75467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78154" y="61412"/>
            <a:ext cx="11477587" cy="6695748"/>
            <a:chOff x="378154" y="61412"/>
            <a:chExt cx="11477587" cy="669574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78154" y="1402583"/>
              <a:ext cx="633507" cy="40134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圆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锥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线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方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程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800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4834266"/>
                </p:ext>
              </p:extLst>
            </p:nvPr>
          </p:nvGraphicFramePr>
          <p:xfrm>
            <a:off x="980488" y="61412"/>
            <a:ext cx="10875253" cy="6695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3" name="文档" r:id="rId3" imgW="4510061" imgH="2776784" progId="Word.Document.12">
                    <p:embed/>
                  </p:oleObj>
                </mc:Choice>
                <mc:Fallback>
                  <p:oleObj name="文档" r:id="rId3" imgW="4510061" imgH="27767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80488" y="61412"/>
                          <a:ext cx="10875253" cy="66957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3301255" y="229933"/>
            <a:ext cx="449192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59943" y="792979"/>
            <a:ext cx="4491926" cy="860234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59943" y="1730230"/>
            <a:ext cx="4491926" cy="860234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22192" y="3821145"/>
            <a:ext cx="2722008" cy="78203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042974" y="5336126"/>
            <a:ext cx="2722008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374206" y="5799909"/>
            <a:ext cx="4491926" cy="78203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9552" y="603037"/>
            <a:ext cx="11430000" cy="5529369"/>
            <a:chOff x="449552" y="603037"/>
            <a:chExt cx="11430000" cy="5529369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6536350"/>
                </p:ext>
              </p:extLst>
            </p:nvPr>
          </p:nvGraphicFramePr>
          <p:xfrm>
            <a:off x="449552" y="603037"/>
            <a:ext cx="11430000" cy="5529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文档" r:id="rId3" imgW="4510061" imgH="2181784" progId="Word.Document.12">
                    <p:embed/>
                  </p:oleObj>
                </mc:Choice>
                <mc:Fallback>
                  <p:oleObj name="文档" r:id="rId3" imgW="4510061" imgH="21817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9552" y="603037"/>
                          <a:ext cx="11430000" cy="55293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523628" y="1361019"/>
              <a:ext cx="633507" cy="40134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圆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锥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线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方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程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8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6439311" y="1832834"/>
            <a:ext cx="321384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525783" y="2378180"/>
            <a:ext cx="1518881" cy="820882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78037" y="2378180"/>
            <a:ext cx="1518881" cy="820882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867778" y="3331006"/>
            <a:ext cx="1518881" cy="560674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525783" y="4019393"/>
            <a:ext cx="1518881" cy="77889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97913" y="3912462"/>
            <a:ext cx="1518881" cy="90660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249268" y="5447162"/>
            <a:ext cx="933323" cy="560674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87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要点梳理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705362"/>
            <a:ext cx="11568545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椭圆的定义、图形和标准方程分别是什么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有哪些几何性质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请完成下表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588880"/>
              </p:ext>
            </p:extLst>
          </p:nvPr>
        </p:nvGraphicFramePr>
        <p:xfrm>
          <a:off x="381000" y="1915861"/>
          <a:ext cx="11430000" cy="5170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文档" r:id="rId3" imgW="4567145" imgH="2066100" progId="Word.Document.12">
                  <p:embed/>
                </p:oleObj>
              </mc:Choice>
              <mc:Fallback>
                <p:oleObj name="文档" r:id="rId3" imgW="4567145" imgH="2066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915861"/>
                        <a:ext cx="11430000" cy="5170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906810" y="1996333"/>
            <a:ext cx="2433709" cy="397332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393130"/>
              </p:ext>
            </p:extLst>
          </p:nvPr>
        </p:nvGraphicFramePr>
        <p:xfrm>
          <a:off x="381000" y="131959"/>
          <a:ext cx="11430000" cy="7263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文档" r:id="rId3" imgW="4619563" imgH="2935715" progId="Word.Document.12">
                  <p:embed/>
                </p:oleObj>
              </mc:Choice>
              <mc:Fallback>
                <p:oleObj name="文档" r:id="rId3" imgW="4619563" imgH="29357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31959"/>
                        <a:ext cx="11430000" cy="7263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595759" y="322118"/>
            <a:ext cx="1373483" cy="70351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07484" y="1021160"/>
            <a:ext cx="13677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867310" y="1261403"/>
            <a:ext cx="323462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984851" y="1780949"/>
            <a:ext cx="152948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096000" y="1766891"/>
            <a:ext cx="1529481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709063" y="2283937"/>
            <a:ext cx="4533900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975529" y="2801548"/>
            <a:ext cx="347813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505144" y="2801548"/>
            <a:ext cx="407837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870050" y="3334753"/>
            <a:ext cx="2722731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932896" y="3839871"/>
            <a:ext cx="2722731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371786" y="4594511"/>
            <a:ext cx="2722731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3899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双曲线的定义、图形和标准方程分别是什么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有哪些几何性质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请完成下表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42103"/>
              </p:ext>
            </p:extLst>
          </p:nvPr>
        </p:nvGraphicFramePr>
        <p:xfrm>
          <a:off x="381000" y="1538475"/>
          <a:ext cx="11430000" cy="5240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文档" r:id="rId3" imgW="4565722" imgH="2096733" progId="Word.Document.12">
                  <p:embed/>
                </p:oleObj>
              </mc:Choice>
              <mc:Fallback>
                <p:oleObj name="文档" r:id="rId3" imgW="4565722" imgH="20967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538475"/>
                        <a:ext cx="11430000" cy="5240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356161" y="1625086"/>
            <a:ext cx="2511752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869890"/>
              </p:ext>
            </p:extLst>
          </p:nvPr>
        </p:nvGraphicFramePr>
        <p:xfrm>
          <a:off x="381000" y="271412"/>
          <a:ext cx="11430000" cy="6818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文档" r:id="rId3" imgW="4567145" imgH="2724528" progId="Word.Document.12">
                  <p:embed/>
                </p:oleObj>
              </mc:Choice>
              <mc:Fallback>
                <p:oleObj name="文档" r:id="rId3" imgW="4567145" imgH="27245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271412"/>
                        <a:ext cx="11430000" cy="6818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345292" y="391397"/>
            <a:ext cx="215397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464893" y="889137"/>
            <a:ext cx="1615209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96466" y="878746"/>
            <a:ext cx="1615209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661654" y="1444141"/>
            <a:ext cx="787428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68392" y="1444141"/>
            <a:ext cx="787428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162310" y="1444140"/>
            <a:ext cx="787428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367653" y="1444140"/>
            <a:ext cx="787428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463095" y="1960122"/>
            <a:ext cx="354722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026512" y="1960122"/>
            <a:ext cx="517287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850995" y="2489034"/>
            <a:ext cx="2542387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835048" y="3124229"/>
            <a:ext cx="2542387" cy="50342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485676" y="4218912"/>
            <a:ext cx="244662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339094" y="5143500"/>
            <a:ext cx="1251968" cy="68445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2350760" y="5823484"/>
            <a:ext cx="12467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849209" y="5143500"/>
            <a:ext cx="1264488" cy="68445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6860902" y="5813093"/>
            <a:ext cx="12591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581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抛物线的定义、图形和标准方程分别是什么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有哪些几何性质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请完成下表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187474"/>
              </p:ext>
            </p:extLst>
          </p:nvPr>
        </p:nvGraphicFramePr>
        <p:xfrm>
          <a:off x="381000" y="1464001"/>
          <a:ext cx="11430000" cy="5202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文档" r:id="rId3" imgW="4567145" imgH="2078714" progId="Word.Document.12">
                  <p:embed/>
                </p:oleObj>
              </mc:Choice>
              <mc:Fallback>
                <p:oleObj name="文档" r:id="rId3" imgW="4567145" imgH="20787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464001"/>
                        <a:ext cx="11430000" cy="5202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883602" y="1585435"/>
            <a:ext cx="1139697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312544"/>
              </p:ext>
            </p:extLst>
          </p:nvPr>
        </p:nvGraphicFramePr>
        <p:xfrm>
          <a:off x="381000" y="421375"/>
          <a:ext cx="11430000" cy="6290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文档" r:id="rId3" imgW="4567145" imgH="2513341" progId="Word.Document.12">
                  <p:embed/>
                </p:oleObj>
              </mc:Choice>
              <mc:Fallback>
                <p:oleObj name="文档" r:id="rId3" imgW="4567145" imgH="25133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421375"/>
                        <a:ext cx="11430000" cy="6290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716892" y="712932"/>
            <a:ext cx="84471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47428" y="712932"/>
            <a:ext cx="84471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88093" y="1600200"/>
            <a:ext cx="1281134" cy="7260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899733" y="2321748"/>
            <a:ext cx="12757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716891" y="1600200"/>
            <a:ext cx="1322699" cy="7260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728532" y="2321748"/>
            <a:ext cx="13171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148364" y="1600200"/>
            <a:ext cx="1322699" cy="7260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160005" y="2321748"/>
            <a:ext cx="13171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020031" y="1600200"/>
            <a:ext cx="1335926" cy="7260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9031700" y="2321748"/>
            <a:ext cx="13303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716891" y="2600153"/>
            <a:ext cx="647291" cy="7260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3728532" y="3321701"/>
            <a:ext cx="6445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148364" y="2600153"/>
            <a:ext cx="782372" cy="7260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6160005" y="3321701"/>
            <a:ext cx="7790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889342" y="3577068"/>
            <a:ext cx="165395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149613" y="3577068"/>
            <a:ext cx="165395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893634" y="4096727"/>
            <a:ext cx="165395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150181" y="4094720"/>
            <a:ext cx="1653958" cy="405318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893010" y="4608922"/>
            <a:ext cx="1653958" cy="40937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2279902" y="5168902"/>
            <a:ext cx="1653958" cy="37215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1" grpId="0" animBg="1"/>
      <p:bldP spid="14" grpId="0" animBg="1"/>
      <p:bldP spid="16" grpId="0" animBg="1"/>
      <p:bldP spid="18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83066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直线与圆锥曲线的位置关系有哪些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怎样判断其位置关系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有相交、相切、相离三种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将直线方程与圆锥曲线方程联立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化简后得到关于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根据方程解的情况判断即可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955" y="186295"/>
            <a:ext cx="11759045" cy="5878581"/>
            <a:chOff x="51955" y="186295"/>
            <a:chExt cx="11759045" cy="587858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86295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错误的画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“×”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椭圆的焦点只能在坐标轴上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8122"/>
                </p:ext>
              </p:extLst>
            </p:nvPr>
          </p:nvGraphicFramePr>
          <p:xfrm>
            <a:off x="51955" y="1865067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4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1865067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792203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平面内与两个定点的距离的差等于常数的点的轨迹就是双曲线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对于三个参数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在椭圆的标准方程中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最大的是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在双曲线的标准方程中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最大的是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√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(6)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双曲线的焦点一定位于双曲线的实轴上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√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5746173" y="1423632"/>
            <a:ext cx="5332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793182" y="1940380"/>
            <a:ext cx="533246" cy="72597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793182" y="2985394"/>
            <a:ext cx="533246" cy="72597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82059" y="3721761"/>
            <a:ext cx="533246" cy="72597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470234" y="4960364"/>
            <a:ext cx="440699" cy="59998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461831" y="5483921"/>
            <a:ext cx="440699" cy="59998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1000" y="345207"/>
            <a:ext cx="11430000" cy="5420384"/>
            <a:chOff x="381000" y="459508"/>
            <a:chExt cx="11430000" cy="542038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59508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(7)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轴上的双曲线与焦点在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轴上的双曲线不可能具有共同的渐近线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9032312"/>
                </p:ext>
              </p:extLst>
            </p:nvPr>
          </p:nvGraphicFramePr>
          <p:xfrm>
            <a:off x="381000" y="1507965"/>
            <a:ext cx="11430000" cy="1507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8" name="文档" r:id="rId3" imgW="4510061" imgH="594999" progId="Word.Document.12">
                    <p:embed/>
                  </p:oleObj>
                </mc:Choice>
                <mc:Fallback>
                  <p:oleObj name="文档" r:id="rId3" imgW="4510061" imgH="594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507965"/>
                          <a:ext cx="11430000" cy="1507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3047065"/>
              <a:ext cx="11430000" cy="28328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(9)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双曲线的离心率越大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其渐近线斜率的绝对值就越大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√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抛物线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轴的正半轴上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直线与圆锥曲线相交时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一定有两个公共点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椭圆、双曲线与抛物线都既是轴对称图形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也是中心对称图形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抛物线的顶点一定在过焦点且与准线垂直的直线上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√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477581" y="1013285"/>
            <a:ext cx="533246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223254" y="2431598"/>
            <a:ext cx="533246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348210" y="2988194"/>
            <a:ext cx="440699" cy="58755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72696" y="3595558"/>
            <a:ext cx="520486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114360" y="4137560"/>
            <a:ext cx="520486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03033" y="4709060"/>
            <a:ext cx="520486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454493" y="5280012"/>
            <a:ext cx="391049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75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专题</a:t>
            </a:r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归纳 核心</a:t>
            </a:r>
            <a:r>
              <a:rPr lang="zh-CN" altLang="en-US" sz="5400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突破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专题一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圆锥曲线的定义及应用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381000" y="785955"/>
            <a:ext cx="11430000" cy="4467273"/>
            <a:chOff x="381000" y="1056121"/>
            <a:chExt cx="11430000" cy="446727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51455"/>
              <a:ext cx="11430000" cy="427193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的坐标满足方程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              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的轨迹是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B.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抛物线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	D.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以上都不对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5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在平面直角坐标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系中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的中心为原点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焦点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离心率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的周长为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的方程为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5473194"/>
                </p:ext>
              </p:extLst>
            </p:nvPr>
          </p:nvGraphicFramePr>
          <p:xfrm>
            <a:off x="6702886" y="1056121"/>
            <a:ext cx="2092325" cy="1003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2" name="文档" r:id="rId3" imgW="841295" imgH="397868" progId="Word.Document.12">
                    <p:embed/>
                  </p:oleObj>
                </mc:Choice>
                <mc:Fallback>
                  <p:oleObj name="文档" r:id="rId3" imgW="841295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02886" y="1056121"/>
                          <a:ext cx="2092325" cy="1003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394296"/>
                </p:ext>
              </p:extLst>
            </p:nvPr>
          </p:nvGraphicFramePr>
          <p:xfrm>
            <a:off x="815313" y="4100720"/>
            <a:ext cx="471121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3" name="文档" r:id="rId5" imgW="257116" imgH="397868" progId="Word.Document.12">
                    <p:embed/>
                  </p:oleObj>
                </mc:Choice>
                <mc:Fallback>
                  <p:oleObj name="文档" r:id="rId5" imgW="257116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15313" y="4100720"/>
                          <a:ext cx="471121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645994"/>
              </p:ext>
            </p:extLst>
          </p:nvPr>
        </p:nvGraphicFramePr>
        <p:xfrm>
          <a:off x="41564" y="-120991"/>
          <a:ext cx="11430000" cy="1094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" name="文档" r:id="rId3" imgW="4554355" imgH="434267" progId="Word.Document.12">
                  <p:embed/>
                </p:oleObj>
              </mc:Choice>
              <mc:Fallback>
                <p:oleObj name="文档" r:id="rId3" imgW="4554355" imgH="4342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-120991"/>
                        <a:ext cx="11430000" cy="1094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68260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到原点的距离与它到直线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的距离相等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的轨迹是以原点为焦点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为准线的抛物线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055923"/>
              </p:ext>
            </p:extLst>
          </p:nvPr>
        </p:nvGraphicFramePr>
        <p:xfrm>
          <a:off x="41564" y="1658325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64" y="1658325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251387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的周长为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|AB|+|AF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|+|BF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=|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|+|BF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|+|BF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259185"/>
              </p:ext>
            </p:extLst>
          </p:nvPr>
        </p:nvGraphicFramePr>
        <p:xfrm>
          <a:off x="41564" y="4070531"/>
          <a:ext cx="11430000" cy="201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2" name="文档" r:id="rId7" imgW="4510061" imgH="793212" progId="Word.Document.12">
                  <p:embed/>
                </p:oleObj>
              </mc:Choice>
              <mc:Fallback>
                <p:oleObj name="文档" r:id="rId7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564" y="4070531"/>
                        <a:ext cx="11430000" cy="2010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367981"/>
              </p:ext>
            </p:extLst>
          </p:nvPr>
        </p:nvGraphicFramePr>
        <p:xfrm>
          <a:off x="41564" y="5840834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3" name="文档" r:id="rId9" imgW="4510061" imgH="396786" progId="Word.Document.12">
                  <p:embed/>
                </p:oleObj>
              </mc:Choice>
              <mc:Fallback>
                <p:oleObj name="文档" r:id="rId9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64" y="5840834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NMX1TRAX53.eps" descr="id:2147498549;FounderCES"/>
          <p:cNvPicPr/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93156" y="2568384"/>
            <a:ext cx="3488799" cy="296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3923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回归定义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解题的三点应用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在求轨迹方程时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若所求轨迹符合某种圆锥曲线的定义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则根据圆锥曲线的定义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写出所求的轨迹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涉及椭圆、双曲线上的点与两个定点构成的三角形问题时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常用定义结合解三角形的知识来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在求有关抛物线的最值问题时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常利用定义把到焦点的距离转化为到准线的距离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结合几何图形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利用几何意义去解决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应用定义解题时注意圆锥曲线定义中的限制条件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7814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若一动圆与两圆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都外切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则动圆圆心的轨迹为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双曲线的一支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是圆心为原点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化为标准方程为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是圆心为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设所求动圆圆心为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动圆半径为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234435"/>
              </p:ext>
            </p:extLst>
          </p:nvPr>
        </p:nvGraphicFramePr>
        <p:xfrm>
          <a:off x="58883" y="4058210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83" y="4058210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04301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动圆圆心的轨迹为双曲线的一支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0250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是抛物线的焦点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|PM|+|PF|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并求出此时点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的准线方程是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的距离等于它到准线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的距离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垂直于准线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垂足为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|PM|+|PF|=|PM|+|PD|.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根据平面几何知识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三点共线时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PM|+|PF|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的值最小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|MD|=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|PM|+|PF|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的最小值是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430007"/>
              </p:ext>
            </p:extLst>
          </p:nvPr>
        </p:nvGraphicFramePr>
        <p:xfrm>
          <a:off x="41564" y="5221991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5221991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NMX1TRAX54.eps" descr="id:2147498563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95928" y="1752004"/>
            <a:ext cx="2886472" cy="340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专题二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求圆锥曲线的方程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1566" y="920517"/>
            <a:ext cx="11769434" cy="4394196"/>
            <a:chOff x="41566" y="1149119"/>
            <a:chExt cx="11769434" cy="439419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4639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已知中心在原点的椭圆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的右焦点为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离心率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等于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的方程是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008918"/>
                </p:ext>
              </p:extLst>
            </p:nvPr>
          </p:nvGraphicFramePr>
          <p:xfrm>
            <a:off x="10819693" y="1149119"/>
            <a:ext cx="527178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4" name="文档" r:id="rId3" imgW="285035" imgH="397130" progId="Word.Document.12">
                    <p:embed/>
                  </p:oleObj>
                </mc:Choice>
                <mc:Fallback>
                  <p:oleObj name="文档" r:id="rId3" imgW="285035" imgH="3971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819693" y="1149119"/>
                          <a:ext cx="527178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6573985"/>
                </p:ext>
              </p:extLst>
            </p:nvPr>
          </p:nvGraphicFramePr>
          <p:xfrm>
            <a:off x="41566" y="2394933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5" name="文档" r:id="rId5" imgW="4510061" imgH="793212" progId="Word.Document.12">
                    <p:embed/>
                  </p:oleObj>
                </mc:Choice>
                <mc:Fallback>
                  <p:oleObj name="文档" r:id="rId5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66" y="2394933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330675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已知抛物线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的准线过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的一个焦点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且双曲线的离心率为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则该双曲线的方程为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6117430"/>
                </p:ext>
              </p:extLst>
            </p:nvPr>
          </p:nvGraphicFramePr>
          <p:xfrm>
            <a:off x="6396149" y="4130324"/>
            <a:ext cx="1773237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6" name="文档" r:id="rId7" imgW="710416" imgH="397386" progId="Word.Document.12">
                    <p:embed/>
                  </p:oleObj>
                </mc:Choice>
                <mc:Fallback>
                  <p:oleObj name="文档" r:id="rId7" imgW="71041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96149" y="4130324"/>
                          <a:ext cx="1773237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280709"/>
              </p:ext>
            </p:extLst>
          </p:nvPr>
        </p:nvGraphicFramePr>
        <p:xfrm>
          <a:off x="58881" y="397162"/>
          <a:ext cx="11430000" cy="4523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8" name="文档" r:id="rId3" imgW="4510061" imgH="1784998" progId="Word.Document.12">
                  <p:embed/>
                </p:oleObj>
              </mc:Choice>
              <mc:Fallback>
                <p:oleObj name="文档" r:id="rId3" imgW="4510061" imgH="17849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81" y="397162"/>
                        <a:ext cx="11430000" cy="4523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431107"/>
              </p:ext>
            </p:extLst>
          </p:nvPr>
        </p:nvGraphicFramePr>
        <p:xfrm>
          <a:off x="58881" y="4746925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881" y="4746925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求已知曲线类型的曲线方程问题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可采用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先定形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后定式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再定量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的步骤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指的是二次曲线的焦点位置与对称轴的位置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设方程的形式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注意曲线系方程的应用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如当椭圆的焦点不确定在哪个坐标轴上时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可设方程为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由题设中的条件找到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中待定系数的等量关系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通过解方程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得到量的大小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8882" y="362458"/>
            <a:ext cx="11752118" cy="4344098"/>
            <a:chOff x="58882" y="985918"/>
            <a:chExt cx="11752118" cy="434409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985918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右焦点到短轴端点的距离为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到左顶点的距离为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的椭圆的标准方程是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7001166"/>
                </p:ext>
              </p:extLst>
            </p:nvPr>
          </p:nvGraphicFramePr>
          <p:xfrm>
            <a:off x="58882" y="2138285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95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2" y="2138285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117376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已知一双曲线与椭圆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共焦点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它的一条渐近线方程为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则双曲线的方程为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9161716"/>
                </p:ext>
              </p:extLst>
            </p:nvPr>
          </p:nvGraphicFramePr>
          <p:xfrm>
            <a:off x="10829348" y="4239463"/>
            <a:ext cx="669925" cy="501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96" name="文档" r:id="rId5" imgW="271708" imgH="198592" progId="Word.Document.12">
                    <p:embed/>
                  </p:oleObj>
                </mc:Choice>
                <mc:Fallback>
                  <p:oleObj name="文档" r:id="rId5" imgW="271708" imgH="19859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829348" y="4239463"/>
                          <a:ext cx="669925" cy="501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944484"/>
              </p:ext>
            </p:extLst>
          </p:nvPr>
        </p:nvGraphicFramePr>
        <p:xfrm>
          <a:off x="48491" y="4622228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7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91" y="4622228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540079"/>
              </p:ext>
            </p:extLst>
          </p:nvPr>
        </p:nvGraphicFramePr>
        <p:xfrm>
          <a:off x="38100" y="44450"/>
          <a:ext cx="11430000" cy="6534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0" name="文档" r:id="rId3" imgW="4510061" imgH="2578210" progId="Word.Document.12">
                  <p:embed/>
                </p:oleObj>
              </mc:Choice>
              <mc:Fallback>
                <p:oleObj name="文档" r:id="rId3" imgW="4510061" imgH="25782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" y="44450"/>
                        <a:ext cx="11430000" cy="6534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专题三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圆锥曲线的性质及应用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81000" y="707273"/>
            <a:ext cx="11430000" cy="5382462"/>
            <a:chOff x="381000" y="707273"/>
            <a:chExt cx="11430000" cy="538246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7273"/>
              <a:ext cx="11430000" cy="339298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与双曲线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的离心率分别是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的大小关系是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NMX1TRAX55.eps" descr="id:2147498577;FounderCES"/>
            <p:cNvPicPr/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18353" y="1450108"/>
              <a:ext cx="3584404" cy="2598190"/>
            </a:xfrm>
            <a:prstGeom prst="rect">
              <a:avLst/>
            </a:prstGeom>
          </p:spPr>
        </p:pic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9589949"/>
                </p:ext>
              </p:extLst>
            </p:nvPr>
          </p:nvGraphicFramePr>
          <p:xfrm>
            <a:off x="381000" y="4079471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2" name="文档" r:id="rId4" imgW="4510061" imgH="793212" progId="Word.Document.12">
                    <p:embed/>
                  </p:oleObj>
                </mc:Choice>
                <mc:Fallback>
                  <p:oleObj name="文档" r:id="rId4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1000" y="4079471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072757"/>
              </p:ext>
            </p:extLst>
          </p:nvPr>
        </p:nvGraphicFramePr>
        <p:xfrm>
          <a:off x="51955" y="106796"/>
          <a:ext cx="11430000" cy="5529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6" name="文档" r:id="rId3" imgW="4510061" imgH="2181784" progId="Word.Document.12">
                  <p:embed/>
                </p:oleObj>
              </mc:Choice>
              <mc:Fallback>
                <p:oleObj name="文档" r:id="rId3" imgW="4510061" imgH="2181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106796"/>
                        <a:ext cx="11430000" cy="5529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464727"/>
              </p:ext>
            </p:extLst>
          </p:nvPr>
        </p:nvGraphicFramePr>
        <p:xfrm>
          <a:off x="51955" y="5563428"/>
          <a:ext cx="11430000" cy="50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" name="文档" r:id="rId5" imgW="4510061" imgH="198213" progId="Word.Document.12">
                  <p:embed/>
                </p:oleObj>
              </mc:Choice>
              <mc:Fallback>
                <p:oleObj name="文档" r:id="rId5" imgW="4510061" imgH="1982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55" y="5563428"/>
                        <a:ext cx="11430000" cy="50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449117"/>
            <a:ext cx="11430000" cy="5322996"/>
            <a:chOff x="381000" y="594591"/>
            <a:chExt cx="11430000" cy="532299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4591"/>
              <a:ext cx="11430000" cy="53229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解离心率的三种方法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定义法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由椭圆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的标准方程可知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不论椭圆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的焦点在哪个坐标轴上都有关系式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=c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=c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以及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已知关系式中的任意两个参数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可以求其他的参数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这是基本且常用的方法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方程法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建立参数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之间的齐次关系式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从而求出其离心率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这是求离心率的十分重要的思路及方法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几何法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求与过焦点的三角形有关的离心率问题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根据平面几何性质以及椭圆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的定义、几何性质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建立参数之间的关系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通过画出图形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观察线段之间的关系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使问题更形象、直观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8919538"/>
                </p:ext>
              </p:extLst>
            </p:nvPr>
          </p:nvGraphicFramePr>
          <p:xfrm>
            <a:off x="8156018" y="1641947"/>
            <a:ext cx="573336" cy="829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80" name="文档" r:id="rId3" imgW="282523" imgH="397868" progId="Word.Document.12">
                    <p:embed/>
                  </p:oleObj>
                </mc:Choice>
                <mc:Fallback>
                  <p:oleObj name="文档" r:id="rId3" imgW="282523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156018" y="1641947"/>
                          <a:ext cx="573336" cy="8291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8881" y="12699"/>
            <a:ext cx="11752119" cy="3958182"/>
            <a:chOff x="58881" y="1114136"/>
            <a:chExt cx="11752119" cy="395818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001749"/>
                </p:ext>
              </p:extLst>
            </p:nvPr>
          </p:nvGraphicFramePr>
          <p:xfrm>
            <a:off x="381000" y="1114136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8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114136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2757399"/>
                </p:ext>
              </p:extLst>
            </p:nvPr>
          </p:nvGraphicFramePr>
          <p:xfrm>
            <a:off x="58881" y="3062054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9" name="文档" r:id="rId5" imgW="4510061" imgH="793212" progId="Word.Document.12">
                    <p:embed/>
                  </p:oleObj>
                </mc:Choice>
                <mc:Fallback>
                  <p:oleObj name="文档" r:id="rId5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1" y="3062054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487500"/>
              </p:ext>
            </p:extLst>
          </p:nvPr>
        </p:nvGraphicFramePr>
        <p:xfrm>
          <a:off x="58881" y="3787863"/>
          <a:ext cx="11430000" cy="201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0" name="文档" r:id="rId7" imgW="4510061" imgH="793212" progId="Word.Document.12">
                  <p:embed/>
                </p:oleObj>
              </mc:Choice>
              <mc:Fallback>
                <p:oleObj name="文档" r:id="rId7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81" y="3787863"/>
                        <a:ext cx="11430000" cy="2010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5663044"/>
            <a:ext cx="161396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042797"/>
              </p:ext>
            </p:extLst>
          </p:nvPr>
        </p:nvGraphicFramePr>
        <p:xfrm>
          <a:off x="381000" y="738223"/>
          <a:ext cx="11430000" cy="4222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7" name="文档" r:id="rId3" imgW="4510061" imgH="1666070" progId="Word.Document.12">
                  <p:embed/>
                </p:oleObj>
              </mc:Choice>
              <mc:Fallback>
                <p:oleObj name="文档" r:id="rId3" imgW="4510061" imgH="16660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738223"/>
                        <a:ext cx="11430000" cy="4222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9272" y="259507"/>
            <a:ext cx="11741728" cy="5334353"/>
            <a:chOff x="69272" y="259507"/>
            <a:chExt cx="11741728" cy="533435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59507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抛物线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的焦点为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准线方程为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x=-c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由双曲线的定义可得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|-|PF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a+c.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由抛物线的定义可得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+c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8829332"/>
                </p:ext>
              </p:extLst>
            </p:nvPr>
          </p:nvGraphicFramePr>
          <p:xfrm>
            <a:off x="69272" y="2578005"/>
            <a:ext cx="11430000" cy="3015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0" name="文档" r:id="rId3" imgW="4510061" imgH="1189999" progId="Word.Document.12">
                    <p:embed/>
                  </p:oleObj>
                </mc:Choice>
                <mc:Fallback>
                  <p:oleObj name="文档" r:id="rId3" imgW="4510061" imgH="1189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9272" y="2578005"/>
                          <a:ext cx="11430000" cy="30158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81000" y="5618903"/>
            <a:ext cx="161396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1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专题四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直线与圆锥曲线的位置关系</a:t>
                </a: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41566" y="1162053"/>
            <a:ext cx="11769434" cy="3467716"/>
            <a:chOff x="41566" y="1868641"/>
            <a:chExt cx="11769434" cy="3467716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625429"/>
                </p:ext>
              </p:extLst>
            </p:nvPr>
          </p:nvGraphicFramePr>
          <p:xfrm>
            <a:off x="41566" y="1868641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2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66" y="1868641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81000" y="2721198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求斜率为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的平行弦中点的轨迹方程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与椭圆相交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被椭圆截得的弦的中点的轨迹方程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5632856"/>
                </p:ext>
              </p:extLst>
            </p:nvPr>
          </p:nvGraphicFramePr>
          <p:xfrm>
            <a:off x="41566" y="4330769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3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66" y="4330769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8882" y="49948"/>
            <a:ext cx="11752118" cy="6649329"/>
            <a:chOff x="58882" y="49948"/>
            <a:chExt cx="11752118" cy="664932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9948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设弦的两端点为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0952607"/>
                </p:ext>
              </p:extLst>
            </p:nvPr>
          </p:nvGraphicFramePr>
          <p:xfrm>
            <a:off x="58882" y="1181533"/>
            <a:ext cx="11430000" cy="5026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96" name="文档" r:id="rId3" imgW="4510061" imgH="1983211" progId="Word.Document.12">
                    <p:embed/>
                  </p:oleObj>
                </mc:Choice>
                <mc:Fallback>
                  <p:oleObj name="文档" r:id="rId3" imgW="4510061" imgH="19832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2" y="1181533"/>
                          <a:ext cx="11430000" cy="502611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6046791"/>
              <a:ext cx="815159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故所求的轨迹方程为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在已知椭圆的内部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955" y="657861"/>
            <a:ext cx="11430000" cy="4605833"/>
            <a:chOff x="51955" y="917636"/>
            <a:chExt cx="11430000" cy="460583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917636"/>
              <a:ext cx="704071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不妨设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交椭圆于点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弦中点为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3591035"/>
                </p:ext>
              </p:extLst>
            </p:nvPr>
          </p:nvGraphicFramePr>
          <p:xfrm>
            <a:off x="51955" y="1502026"/>
            <a:ext cx="11430000" cy="4021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1" name="文档" r:id="rId3" imgW="4510061" imgH="1586785" progId="Word.Document.12">
                    <p:embed/>
                  </p:oleObj>
                </mc:Choice>
                <mc:Fallback>
                  <p:oleObj name="文档" r:id="rId3" imgW="4510061" imgH="15867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1502026"/>
                          <a:ext cx="11430000" cy="40214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911367"/>
            <a:ext cx="11430000" cy="3875390"/>
            <a:chOff x="381000" y="1243879"/>
            <a:chExt cx="11430000" cy="387539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3879"/>
              <a:ext cx="980268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与圆锥曲线相交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经常出现弦长、中点弦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问题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2372760"/>
                </p:ext>
              </p:extLst>
            </p:nvPr>
          </p:nvGraphicFramePr>
          <p:xfrm>
            <a:off x="381000" y="1896365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5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896365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906629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处理中点弦问题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一般有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两种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方法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方法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联立方程组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消元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利用根与系数的关系进行设而不求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方法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利用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点差法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173238"/>
              </p:ext>
            </p:extLst>
          </p:nvPr>
        </p:nvGraphicFramePr>
        <p:xfrm>
          <a:off x="381000" y="745172"/>
          <a:ext cx="11430000" cy="40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745172"/>
                        <a:ext cx="11430000" cy="4021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00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062006"/>
              </p:ext>
            </p:extLst>
          </p:nvPr>
        </p:nvGraphicFramePr>
        <p:xfrm>
          <a:off x="48490" y="-38678"/>
          <a:ext cx="11430000" cy="6534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0" name="文档" r:id="rId3" imgW="4510061" imgH="2578210" progId="Word.Document.12">
                  <p:embed/>
                </p:oleObj>
              </mc:Choice>
              <mc:Fallback>
                <p:oleObj name="文档" r:id="rId3" imgW="4510061" imgH="25782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0" y="-38678"/>
                        <a:ext cx="11430000" cy="6534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908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101609"/>
              </p:ext>
            </p:extLst>
          </p:nvPr>
        </p:nvGraphicFramePr>
        <p:xfrm>
          <a:off x="48491" y="75623"/>
          <a:ext cx="11430000" cy="6534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" name="文档" r:id="rId3" imgW="4510061" imgH="2578210" progId="Word.Document.12">
                  <p:embed/>
                </p:oleObj>
              </mc:Choice>
              <mc:Fallback>
                <p:oleObj name="文档" r:id="rId3" imgW="4510061" imgH="25782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1" y="75623"/>
                        <a:ext cx="11430000" cy="6534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050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94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的直线交抛物线于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在抛物线的准线上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经过原点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067768"/>
              </p:ext>
            </p:extLst>
          </p:nvPr>
        </p:nvGraphicFramePr>
        <p:xfrm>
          <a:off x="381000" y="1209196"/>
          <a:ext cx="11430000" cy="5026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8" name="文档" r:id="rId3" imgW="4510061" imgH="1983211" progId="Word.Document.12">
                  <p:embed/>
                </p:oleObj>
              </mc:Choice>
              <mc:Fallback>
                <p:oleObj name="文档" r:id="rId3" imgW="4510061" imgH="19832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209196"/>
                        <a:ext cx="11430000" cy="5026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081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圆锥曲线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中的定值、定点问题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定值问题的常见类型及解题策略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求代数式为定值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依题意设条件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得出与代数式参数有关的等式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代入代数式、化简即可得出定值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求点到直线的距离为定值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利用点到直线的距离公式得出距离的解析式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利用题设条件化简、变形求得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求某线段长度为定值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利用长度公式求得解析式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依据条件对解析式进行化简、变形即可求得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6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定点问题的两种解法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引进参数法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引进动点的坐标或动线中系数为参数表示变化量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研究变化的量与参数何时没有关系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找到定点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特殊到一般法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根据动点或动线的特殊情况探索出定点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证明该定点与变量无关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60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3547"/>
            <a:ext cx="11430000" cy="406213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的中心在坐标原点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对称轴为坐标轴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的焦点是它的一个焦点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在该椭圆上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若斜率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交于不同的两点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的面积最大时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利用待定系数法求解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面积的表达式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利用基本不等式或函数思想求最值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973581"/>
              </p:ext>
            </p:extLst>
          </p:nvPr>
        </p:nvGraphicFramePr>
        <p:xfrm>
          <a:off x="682336" y="1351719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7" name="文档" r:id="rId3" imgW="271708" imgH="211567" progId="Word.Document.12">
                  <p:embed/>
                </p:oleObj>
              </mc:Choice>
              <mc:Fallback>
                <p:oleObj name="文档" r:id="rId3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2336" y="1351719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03053"/>
              </p:ext>
            </p:extLst>
          </p:nvPr>
        </p:nvGraphicFramePr>
        <p:xfrm>
          <a:off x="6355773" y="1351719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8" name="文档" r:id="rId5" imgW="271708" imgH="211567" progId="Word.Document.12">
                  <p:embed/>
                </p:oleObj>
              </mc:Choice>
              <mc:Fallback>
                <p:oleObj name="文档" r:id="rId5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5773" y="1351719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67669"/>
              </p:ext>
            </p:extLst>
          </p:nvPr>
        </p:nvGraphicFramePr>
        <p:xfrm>
          <a:off x="2500746" y="2447134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9" name="文档" r:id="rId6" imgW="271708" imgH="211567" progId="Word.Document.12">
                  <p:embed/>
                </p:oleObj>
              </mc:Choice>
              <mc:Fallback>
                <p:oleObj name="文档" r:id="rId6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0746" y="2447134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59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285448"/>
              </p:ext>
            </p:extLst>
          </p:nvPr>
        </p:nvGraphicFramePr>
        <p:xfrm>
          <a:off x="79663" y="849021"/>
          <a:ext cx="11430000" cy="40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3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663" y="849021"/>
                        <a:ext cx="11430000" cy="4021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397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793058"/>
              </p:ext>
            </p:extLst>
          </p:nvPr>
        </p:nvGraphicFramePr>
        <p:xfrm>
          <a:off x="51955" y="238810"/>
          <a:ext cx="11430000" cy="6031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6" name="文档" r:id="rId3" imgW="4510061" imgH="2379997" progId="Word.Document.12">
                  <p:embed/>
                </p:oleObj>
              </mc:Choice>
              <mc:Fallback>
                <p:oleObj name="文档" r:id="rId3" imgW="4510061" imgH="23799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238810"/>
                        <a:ext cx="11430000" cy="6031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658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值问题的常用解法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代数法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若题目的条件和结论能体现一种明确的函数关系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则可先建立目标函数再求这个函数的最值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求函数最值的常用方法有配方法、判别式法、换元法、基本不等式法、单调性法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几何法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若题目的条件与结论能明显体现几何特征及意义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则考虑利用几何图形的性质来解决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43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282861"/>
            <a:ext cx="11430000" cy="2691467"/>
            <a:chOff x="381000" y="1710992"/>
            <a:chExt cx="11430000" cy="269146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421157"/>
                </p:ext>
              </p:extLst>
            </p:nvPr>
          </p:nvGraphicFramePr>
          <p:xfrm>
            <a:off x="381000" y="1710992"/>
            <a:ext cx="11430000" cy="1507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7" name="文档" r:id="rId3" imgW="4510061" imgH="594999" progId="Word.Document.12">
                    <p:embed/>
                  </p:oleObj>
                </mc:Choice>
                <mc:Fallback>
                  <p:oleObj name="文档" r:id="rId3" imgW="4510061" imgH="594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710992"/>
                          <a:ext cx="11430000" cy="1507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3250092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的一个顶点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求椭圆的方程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若线段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上存在点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满足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185381"/>
              </p:ext>
            </p:extLst>
          </p:nvPr>
        </p:nvGraphicFramePr>
        <p:xfrm>
          <a:off x="58882" y="2957916"/>
          <a:ext cx="11430000" cy="25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8" name="文档" r:id="rId5" imgW="4510061" imgH="991786" progId="Word.Document.12">
                  <p:embed/>
                </p:oleObj>
              </mc:Choice>
              <mc:Fallback>
                <p:oleObj name="文档" r:id="rId5" imgW="4510061" imgH="99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882" y="2957916"/>
                        <a:ext cx="11430000" cy="2513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49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955" y="-49069"/>
            <a:ext cx="11759045" cy="6550008"/>
            <a:chOff x="51955" y="-49069"/>
            <a:chExt cx="11759045" cy="655000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5641732"/>
                </p:ext>
              </p:extLst>
            </p:nvPr>
          </p:nvGraphicFramePr>
          <p:xfrm>
            <a:off x="51955" y="-49069"/>
            <a:ext cx="11430000" cy="2513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6" name="文档" r:id="rId3" imgW="4510061" imgH="991786" progId="Word.Document.12">
                    <p:embed/>
                  </p:oleObj>
                </mc:Choice>
                <mc:Fallback>
                  <p:oleObj name="文档" r:id="rId3" imgW="4510061" imgH="991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-49069"/>
                          <a:ext cx="11430000" cy="25135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316466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若线段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上存在点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满足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则线段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有公共点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等价于方程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[0,1]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上有解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2548967"/>
                </p:ext>
              </p:extLst>
            </p:nvPr>
          </p:nvGraphicFramePr>
          <p:xfrm>
            <a:off x="51955" y="3987422"/>
            <a:ext cx="11430000" cy="2513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7" name="文档" r:id="rId5" imgW="4510061" imgH="991786" progId="Word.Document.12">
                    <p:embed/>
                  </p:oleObj>
                </mc:Choice>
                <mc:Fallback>
                  <p:oleObj name="文档" r:id="rId5" imgW="4510061" imgH="991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55" y="3987422"/>
                          <a:ext cx="11430000" cy="25135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7050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高考体验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考点一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圆锥曲线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的方程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538887"/>
              </p:ext>
            </p:extLst>
          </p:nvPr>
        </p:nvGraphicFramePr>
        <p:xfrm>
          <a:off x="479206" y="880344"/>
          <a:ext cx="11275153" cy="456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3" name="文档" r:id="rId3" imgW="4510061" imgH="1824641" progId="Word.Document.12">
                  <p:embed/>
                </p:oleObj>
              </mc:Choice>
              <mc:Fallback>
                <p:oleObj name="文档" r:id="rId3" imgW="4510061" imgH="18246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880344"/>
                        <a:ext cx="11275153" cy="45616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899201"/>
              </p:ext>
            </p:extLst>
          </p:nvPr>
        </p:nvGraphicFramePr>
        <p:xfrm>
          <a:off x="479206" y="-49069"/>
          <a:ext cx="11275153" cy="39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7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-49069"/>
                        <a:ext cx="11275153" cy="396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24C14.eps" descr="id:2147519107;FounderCES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27875" y="3888910"/>
            <a:ext cx="2736251" cy="246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381881"/>
              </p:ext>
            </p:extLst>
          </p:nvPr>
        </p:nvGraphicFramePr>
        <p:xfrm>
          <a:off x="479206" y="227332"/>
          <a:ext cx="11275153" cy="5057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7" name="文档" r:id="rId3" imgW="4510061" imgH="2022854" progId="Word.Document.12">
                  <p:embed/>
                </p:oleObj>
              </mc:Choice>
              <mc:Fallback>
                <p:oleObj name="文档" r:id="rId3" imgW="4510061" imgH="20228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27332"/>
                        <a:ext cx="11275153" cy="5057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5222121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58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403427"/>
                <a:ext cx="11430000" cy="508132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(2024·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新高考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Ⅱ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上任意一点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向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轴作垂线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PP'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P'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为垂足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则线段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PP'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的中点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的轨迹方程为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	B.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	D.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P'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,0),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03427"/>
                <a:ext cx="11430000" cy="5081327"/>
              </a:xfrm>
              <a:prstGeom prst="rect">
                <a:avLst/>
              </a:prstGeom>
              <a:blipFill rotWithShape="0">
                <a:blip r:embed="rId2"/>
                <a:stretch>
                  <a:fillRect l="-1120" t="-240" b="-2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25N14.eps" descr="id:2147519080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83758" y="1260444"/>
            <a:ext cx="1943854" cy="172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65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考点二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圆锥曲线的几何性质</a:t>
                </a:r>
              </a:p>
            </p:txBody>
          </p:sp>
        </p:grpSp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565363"/>
              </p:ext>
            </p:extLst>
          </p:nvPr>
        </p:nvGraphicFramePr>
        <p:xfrm>
          <a:off x="479206" y="1137339"/>
          <a:ext cx="11275153" cy="3569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3" name="文档" r:id="rId3" imgW="4510061" imgH="1428575" progId="Word.Document.12">
                  <p:embed/>
                </p:oleObj>
              </mc:Choice>
              <mc:Fallback>
                <p:oleObj name="文档" r:id="rId3" imgW="4510061" imgH="14285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137339"/>
                        <a:ext cx="11275153" cy="3569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865512"/>
              </p:ext>
            </p:extLst>
          </p:nvPr>
        </p:nvGraphicFramePr>
        <p:xfrm>
          <a:off x="479206" y="733714"/>
          <a:ext cx="11275153" cy="406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1" name="文档" r:id="rId3" imgW="4510061" imgH="1626428" progId="Word.Document.12">
                  <p:embed/>
                </p:oleObj>
              </mc:Choice>
              <mc:Fallback>
                <p:oleObj name="文档" r:id="rId3" imgW="4510061" imgH="1626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733714"/>
                        <a:ext cx="11275153" cy="4066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24C15.eps" descr="id:2147519114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1894" y="1795516"/>
            <a:ext cx="3459322" cy="25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3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5474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&lt;m&lt;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的面积是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的两倍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402867"/>
              </p:ext>
            </p:extLst>
          </p:nvPr>
        </p:nvGraphicFramePr>
        <p:xfrm>
          <a:off x="479206" y="2075939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6" name="文档" r:id="rId3" imgW="4510061" imgH="793212" progId="Word.Document.12">
                  <p:embed/>
                </p:oleObj>
              </mc:Choice>
              <mc:Fallback>
                <p:oleObj name="文档" r:id="rId3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075939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027796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34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123599"/>
              </p:ext>
            </p:extLst>
          </p:nvPr>
        </p:nvGraphicFramePr>
        <p:xfrm>
          <a:off x="461963" y="363538"/>
          <a:ext cx="11237912" cy="212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1" name="文档" r:id="rId3" imgW="4510061" imgH="854963" progId="Word.Document.12">
                  <p:embed/>
                </p:oleObj>
              </mc:Choice>
              <mc:Fallback>
                <p:oleObj name="文档" r:id="rId3" imgW="4510061" imgH="8549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1963" y="363538"/>
                        <a:ext cx="11237912" cy="2125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038585"/>
              </p:ext>
            </p:extLst>
          </p:nvPr>
        </p:nvGraphicFramePr>
        <p:xfrm>
          <a:off x="458424" y="2507437"/>
          <a:ext cx="11275153" cy="2321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2" name="文档" r:id="rId5" imgW="4510061" imgH="928636" progId="Word.Document.12">
                  <p:embed/>
                </p:oleObj>
              </mc:Choice>
              <mc:Fallback>
                <p:oleObj name="文档" r:id="rId5" imgW="4510061" imgH="9286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2507437"/>
                        <a:ext cx="11275153" cy="2321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849809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067854"/>
              </p:ext>
            </p:extLst>
          </p:nvPr>
        </p:nvGraphicFramePr>
        <p:xfrm>
          <a:off x="479206" y="-38807"/>
          <a:ext cx="11275153" cy="158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3" name="文档" r:id="rId3" imgW="4510061" imgH="635723" progId="Word.Document.12">
                  <p:embed/>
                </p:oleObj>
              </mc:Choice>
              <mc:Fallback>
                <p:oleObj name="文档" r:id="rId3" imgW="4510061" imgH="6357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-38807"/>
                        <a:ext cx="11275153" cy="1586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56145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B.2	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C.4	D.5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703611"/>
              </p:ext>
            </p:extLst>
          </p:nvPr>
        </p:nvGraphicFramePr>
        <p:xfrm>
          <a:off x="479206" y="2630697"/>
          <a:ext cx="11275153" cy="3371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4" name="文档" r:id="rId5" imgW="4510061" imgH="1348569" progId="Word.Document.12">
                  <p:embed/>
                </p:oleObj>
              </mc:Choice>
              <mc:Fallback>
                <p:oleObj name="文档" r:id="rId5" imgW="4510061" imgH="13485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2630697"/>
                        <a:ext cx="11275153" cy="3371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6002120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98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323873"/>
              </p:ext>
            </p:extLst>
          </p:nvPr>
        </p:nvGraphicFramePr>
        <p:xfrm>
          <a:off x="484188" y="1249651"/>
          <a:ext cx="11237912" cy="315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5" name="文档" r:id="rId3" imgW="4510061" imgH="1271446" progId="Word.Document.12">
                  <p:embed/>
                </p:oleObj>
              </mc:Choice>
              <mc:Fallback>
                <p:oleObj name="文档" r:id="rId3" imgW="4510061" imgH="12714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88" y="1249651"/>
                        <a:ext cx="11237912" cy="3151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3289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479206" y="733714"/>
          <a:ext cx="11275153" cy="347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7" name="文档" r:id="rId3" imgW="4510061" imgH="1388212" progId="Word.Document.12">
                  <p:embed/>
                </p:oleObj>
              </mc:Choice>
              <mc:Fallback>
                <p:oleObj name="文档" r:id="rId3" imgW="4510061" imgH="1388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733714"/>
                        <a:ext cx="11275153" cy="3470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4314448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302557"/>
              </p:ext>
            </p:extLst>
          </p:nvPr>
        </p:nvGraphicFramePr>
        <p:xfrm>
          <a:off x="458424" y="1343480"/>
          <a:ext cx="11275153" cy="280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1" name="文档" r:id="rId3" imgW="4510061" imgH="1121623" progId="Word.Document.12">
                  <p:embed/>
                </p:oleObj>
              </mc:Choice>
              <mc:Fallback>
                <p:oleObj name="文档" r:id="rId3" imgW="4510061" imgH="11216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343480"/>
                        <a:ext cx="11275153" cy="2804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301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458424" y="594591"/>
          <a:ext cx="11275153" cy="411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" name="文档" r:id="rId3" imgW="4510061" imgH="1645598" progId="Word.Document.12">
                  <p:embed/>
                </p:oleObj>
              </mc:Choice>
              <mc:Fallback>
                <p:oleObj name="文档" r:id="rId3" imgW="4510061" imgH="16455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594591"/>
                        <a:ext cx="11275153" cy="4113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4677413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7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107794"/>
              </p:ext>
            </p:extLst>
          </p:nvPr>
        </p:nvGraphicFramePr>
        <p:xfrm>
          <a:off x="458424" y="633559"/>
          <a:ext cx="11275153" cy="128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0" name="文档" r:id="rId3" imgW="4510061" imgH="513194" progId="Word.Document.12">
                  <p:embed/>
                </p:oleObj>
              </mc:Choice>
              <mc:Fallback>
                <p:oleObj name="文档" r:id="rId3" imgW="4510061" imgH="5131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633559"/>
                        <a:ext cx="11275153" cy="128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914378"/>
              </p:ext>
            </p:extLst>
          </p:nvPr>
        </p:nvGraphicFramePr>
        <p:xfrm>
          <a:off x="458424" y="1953974"/>
          <a:ext cx="11275153" cy="2029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1" name="文档" r:id="rId5" imgW="4510061" imgH="811838" progId="Word.Document.12">
                  <p:embed/>
                </p:oleObj>
              </mc:Choice>
              <mc:Fallback>
                <p:oleObj name="文档" r:id="rId5" imgW="4510061" imgH="8118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1953974"/>
                        <a:ext cx="11275153" cy="2029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000217"/>
            <a:ext cx="127150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55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1485988"/>
                <a:ext cx="11430000" cy="245900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(2024·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北京高考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已知抛物线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则焦点坐标为</a:t>
                </a:r>
                <a:r>
                  <a:rPr lang="zh-CN" altLang="zh-CN" sz="2800" i="1" u="sng" dirty="0">
                    <a:solidFill>
                      <a:srgbClr val="FF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　　　　　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由题可知抛物线的焦点在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轴正半轴上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所以抛物线的焦点坐标为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(4,0)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(4,0)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485988"/>
                <a:ext cx="11430000" cy="2459006"/>
              </a:xfrm>
              <a:prstGeom prst="rect">
                <a:avLst/>
              </a:prstGeom>
              <a:blipFill rotWithShape="0">
                <a:blip r:embed="rId2"/>
                <a:stretch>
                  <a:fillRect l="-1120" t="-744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783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248430"/>
              </p:ext>
            </p:extLst>
          </p:nvPr>
        </p:nvGraphicFramePr>
        <p:xfrm>
          <a:off x="461963" y="192089"/>
          <a:ext cx="11237912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6" name="文档" r:id="rId3" imgW="4510061" imgH="583273" progId="Word.Document.12">
                  <p:embed/>
                </p:oleObj>
              </mc:Choice>
              <mc:Fallback>
                <p:oleObj name="文档" r:id="rId3" imgW="4510061" imgH="5832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1963" y="192089"/>
                        <a:ext cx="11237912" cy="1454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458424" y="1517701"/>
          <a:ext cx="11275153" cy="402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7" name="文档" r:id="rId5" imgW="4510061" imgH="1609300" progId="Word.Document.12">
                  <p:embed/>
                </p:oleObj>
              </mc:Choice>
              <mc:Fallback>
                <p:oleObj name="文档" r:id="rId5" imgW="4510061" imgH="16093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1517701"/>
                        <a:ext cx="11275153" cy="402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5453782"/>
            <a:ext cx="127150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88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31967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|FQ|=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的准线方程为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97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458424" y="677782"/>
          <a:ext cx="11275153" cy="3678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8" name="文档" r:id="rId3" imgW="4510061" imgH="1471299" progId="Word.Document.12">
                  <p:embed/>
                </p:oleObj>
              </mc:Choice>
              <mc:Fallback>
                <p:oleObj name="文档" r:id="rId3" imgW="4510061" imgH="14712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677782"/>
                        <a:ext cx="11275153" cy="3678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NMX1TRAX334.eps" descr="id:2147519188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36138" y="1298341"/>
            <a:ext cx="3215433" cy="3057689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458424" y="4366421"/>
          <a:ext cx="11275153" cy="681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9" name="文档" r:id="rId6" imgW="4510061" imgH="272409" progId="Word.Document.12">
                  <p:embed/>
                </p:oleObj>
              </mc:Choice>
              <mc:Fallback>
                <p:oleObj name="文档" r:id="rId6" imgW="4510061" imgH="2724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8424" y="4366421"/>
                        <a:ext cx="11275153" cy="681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611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1442845"/>
                <a:ext cx="11430000" cy="202574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(2024·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新高考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Ⅰ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设双曲线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的左、右焦点分别为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过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作平行于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轴的直线交曲线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于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两点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|AB|=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则双曲线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的离心率为</a:t>
                </a:r>
                <a:r>
                  <a:rPr lang="zh-CN" altLang="zh-CN" sz="2800" i="1" u="sng" dirty="0">
                    <a:solidFill>
                      <a:srgbClr val="FF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　　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442845"/>
                <a:ext cx="11430000" cy="2025747"/>
              </a:xfrm>
              <a:prstGeom prst="rect">
                <a:avLst/>
              </a:prstGeom>
              <a:blipFill rotWithShape="0">
                <a:blip r:embed="rId2"/>
                <a:stretch>
                  <a:fillRect l="-1120" b="-7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247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81000" y="158172"/>
                <a:ext cx="11430000" cy="61802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由双曲线的对称性不妨设点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为双曲线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与直线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在第一象限的交点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由题意知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|AF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5,2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a=|F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A|-|AF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易知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Rt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设双曲线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的焦距为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c=|F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双曲线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的离心率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sz="2800" dirty="0" smtClean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sz="2800" dirty="0" smtClean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58172"/>
                <a:ext cx="11430000" cy="6180282"/>
              </a:xfrm>
              <a:prstGeom prst="rect">
                <a:avLst/>
              </a:prstGeom>
              <a:blipFill rotWithShape="0">
                <a:blip r:embed="rId2"/>
                <a:stretch>
                  <a:fillRect l="-1120" t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25N15.eps" descr="id:2147519101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0568" y="3269095"/>
            <a:ext cx="3310864" cy="26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84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9" name="矩形 8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考点三</a:t>
                </a:r>
                <a:endParaRPr lang="zh-CN" altLang="en-US" sz="28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直线与圆锥曲线的位置关系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>
                <a:spLocks noChangeAspect="1"/>
              </p:cNvSpPr>
              <p:nvPr/>
            </p:nvSpPr>
            <p:spPr>
              <a:xfrm>
                <a:off x="381000" y="1156049"/>
                <a:ext cx="11430000" cy="345139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多选题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)(2024·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新高考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Ⅱ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抛物线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的准线为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上的动点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过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作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Segoe UI Symbol" panose="020B0502040204020203" pitchFamily="34" charset="0"/>
                    <a:cs typeface="Segoe UI Symbol" panose="020B0502040204020203" pitchFamily="34" charset="0"/>
                  </a:rPr>
                  <a:t>☉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的一条切线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为切点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过点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作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的垂线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垂足为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Segoe UI Symbol" panose="020B0502040204020203" pitchFamily="34" charset="0"/>
                    <a:cs typeface="Segoe UI Symbol" panose="020B0502040204020203" pitchFamily="34" charset="0"/>
                  </a:rPr>
                  <a:t>☉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相切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三点共线时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|PQ|=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e>
                    </m:rad>
                  </m:oMath>
                </a14:m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满足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|PA|=|PB|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有且仅有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56049"/>
                <a:ext cx="11430000" cy="3451394"/>
              </a:xfrm>
              <a:prstGeom prst="rect">
                <a:avLst/>
              </a:prstGeom>
              <a:blipFill rotWithShape="0">
                <a:blip r:embed="rId2"/>
                <a:stretch>
                  <a:fillRect l="-1120" t="-530" r="-1280" b="-42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327570"/>
                <a:ext cx="11430000" cy="528106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准线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的方程为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Segoe UI Symbol" panose="020B0502040204020203" pitchFamily="34" charset="0"/>
                    <a:cs typeface="Segoe UI Symbol" panose="020B0502040204020203" pitchFamily="34" charset="0"/>
                  </a:rPr>
                  <a:t>☉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相切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,A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正确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(0,4),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三点共线时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(4,4),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|PA|=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|PQ|=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,B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正确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(1,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±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显然不垂直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,C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错误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|PA|=|PB|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又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±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的值有两个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,D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正确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27570"/>
                <a:ext cx="11430000" cy="5281061"/>
              </a:xfrm>
              <a:prstGeom prst="rect">
                <a:avLst/>
              </a:prstGeom>
              <a:blipFill rotWithShape="0">
                <a:blip r:embed="rId2"/>
                <a:stretch>
                  <a:fillRect l="-1120" t="-346" b="-1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25N16.eps" descr="id:2147519108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5315" y="1820776"/>
            <a:ext cx="2698042" cy="352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1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1177218"/>
                <a:ext cx="11430000" cy="307654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焦点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(1,0),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|PB|=|PF|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|PB|=|PA|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|PF|=|PA|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在线段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的垂直平分线上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此垂直平分线的方程为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与抛物线方程联立有两组解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有两个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,D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正确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ABD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ABD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77218"/>
                <a:ext cx="11430000" cy="3076548"/>
              </a:xfrm>
              <a:prstGeom prst="rect">
                <a:avLst/>
              </a:prstGeom>
              <a:blipFill rotWithShape="0">
                <a:blip r:embed="rId2"/>
                <a:stretch>
                  <a:fillRect l="-1120" t="-396" r="-267" b="-4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918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529008"/>
              </p:ext>
            </p:extLst>
          </p:nvPr>
        </p:nvGraphicFramePr>
        <p:xfrm>
          <a:off x="461963" y="187325"/>
          <a:ext cx="11237912" cy="314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6" name="文档" r:id="rId3" imgW="4510061" imgH="1261781" progId="Word.Document.12">
                  <p:embed/>
                </p:oleObj>
              </mc:Choice>
              <mc:Fallback>
                <p:oleObj name="文档" r:id="rId3" imgW="4510061" imgH="12617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1963" y="187325"/>
                        <a:ext cx="11237912" cy="314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940154"/>
              </p:ext>
            </p:extLst>
          </p:nvPr>
        </p:nvGraphicFramePr>
        <p:xfrm>
          <a:off x="458424" y="3356379"/>
          <a:ext cx="11275153" cy="2509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7" name="文档" r:id="rId5" imgW="4510061" imgH="1003746" progId="Word.Document.12">
                  <p:embed/>
                </p:oleObj>
              </mc:Choice>
              <mc:Fallback>
                <p:oleObj name="文档" r:id="rId5" imgW="4510061" imgH="10037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3356379"/>
                        <a:ext cx="11275153" cy="2509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905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003272"/>
              </p:ext>
            </p:extLst>
          </p:nvPr>
        </p:nvGraphicFramePr>
        <p:xfrm>
          <a:off x="458424" y="564428"/>
          <a:ext cx="11275153" cy="4494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7" name="文档" r:id="rId3" imgW="4510061" imgH="1797974" progId="Word.Document.12">
                  <p:embed/>
                </p:oleObj>
              </mc:Choice>
              <mc:Fallback>
                <p:oleObj name="文档" r:id="rId3" imgW="4510061" imgH="1797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564428"/>
                        <a:ext cx="11275153" cy="4494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119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051864"/>
              </p:ext>
            </p:extLst>
          </p:nvPr>
        </p:nvGraphicFramePr>
        <p:xfrm>
          <a:off x="458424" y="115600"/>
          <a:ext cx="11275153" cy="6319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1" name="文档" r:id="rId3" imgW="4510061" imgH="2527874" progId="Word.Document.12">
                  <p:embed/>
                </p:oleObj>
              </mc:Choice>
              <mc:Fallback>
                <p:oleObj name="文档" r:id="rId3" imgW="4510061" imgH="25278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15600"/>
                        <a:ext cx="11275153" cy="6319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105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考点四</a:t>
                </a:r>
                <a:endParaRPr lang="zh-CN" altLang="en-US" sz="28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圆锥曲线中最值与范围问题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>
                <a:spLocks noChangeAspect="1"/>
              </p:cNvSpPr>
              <p:nvPr/>
            </p:nvSpPr>
            <p:spPr>
              <a:xfrm>
                <a:off x="381000" y="1243879"/>
                <a:ext cx="11430000" cy="294497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(2021·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全国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Ⅰ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高考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是椭圆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的上顶点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的最大值为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D.2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43879"/>
                <a:ext cx="11430000" cy="2944973"/>
              </a:xfrm>
              <a:prstGeom prst="rect">
                <a:avLst/>
              </a:prstGeom>
              <a:blipFill rotWithShape="0">
                <a:blip r:embed="rId2"/>
                <a:stretch>
                  <a:fillRect l="-1120" b="-2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59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768928"/>
                <a:ext cx="11430000" cy="398487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由椭圆方程可得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故椭圆的上顶点为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由椭圆的性质可得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取得最大值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且最大值为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的最大值为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68928"/>
                <a:ext cx="11430000" cy="3984873"/>
              </a:xfrm>
              <a:prstGeom prst="rect">
                <a:avLst/>
              </a:prstGeom>
              <a:blipFill rotWithShape="0">
                <a:blip r:embed="rId2"/>
                <a:stretch>
                  <a:fillRect l="-1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694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660977"/>
                <a:ext cx="11430000" cy="452040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由题意可设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,sin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又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5cos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(sin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5cos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2sin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4sin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2sin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于是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最大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此时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|PB|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的最大值为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660977"/>
                <a:ext cx="11430000" cy="4520405"/>
              </a:xfrm>
              <a:prstGeom prst="rect">
                <a:avLst/>
              </a:prstGeom>
              <a:blipFill rotWithShape="0">
                <a:blip r:embed="rId2"/>
                <a:stretch>
                  <a:fillRect l="-1120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692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81000" y="1169747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2021·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到准线的距离为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斜率的最大值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到准线的距离为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825972"/>
              </p:ext>
            </p:extLst>
          </p:nvPr>
        </p:nvGraphicFramePr>
        <p:xfrm>
          <a:off x="6723668" y="2388175"/>
          <a:ext cx="19605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3" name="文档" r:id="rId3" imgW="783258" imgH="191549" progId="Word.Document.12">
                  <p:embed/>
                </p:oleObj>
              </mc:Choice>
              <mc:Fallback>
                <p:oleObj name="文档" r:id="rId3" imgW="783258" imgH="1915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23668" y="2388175"/>
                        <a:ext cx="1960562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495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231010"/>
              </p:ext>
            </p:extLst>
          </p:nvPr>
        </p:nvGraphicFramePr>
        <p:xfrm>
          <a:off x="458424" y="242869"/>
          <a:ext cx="11275153" cy="579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5" name="文档" r:id="rId3" imgW="4510061" imgH="2317996" progId="Word.Document.12">
                  <p:embed/>
                </p:oleObj>
              </mc:Choice>
              <mc:Fallback>
                <p:oleObj name="文档" r:id="rId3" imgW="4510061" imgH="23179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42869"/>
                        <a:ext cx="11275153" cy="579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770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020184"/>
              </p:ext>
            </p:extLst>
          </p:nvPr>
        </p:nvGraphicFramePr>
        <p:xfrm>
          <a:off x="458424" y="1220591"/>
          <a:ext cx="11275153" cy="327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9" name="文档" r:id="rId3" imgW="4510061" imgH="1311375" progId="Word.Document.12">
                  <p:embed/>
                </p:oleObj>
              </mc:Choice>
              <mc:Fallback>
                <p:oleObj name="文档" r:id="rId3" imgW="4510061" imgH="13113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220591"/>
                        <a:ext cx="11275153" cy="327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6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考点五</a:t>
                </a:r>
                <a:endParaRPr lang="zh-CN" altLang="en-US" sz="28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圆锥曲线中的定点与定值问题</a:t>
                </a:r>
              </a:p>
            </p:txBody>
          </p:sp>
        </p:grp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185391"/>
              </p:ext>
            </p:extLst>
          </p:nvPr>
        </p:nvGraphicFramePr>
        <p:xfrm>
          <a:off x="461963" y="682625"/>
          <a:ext cx="11237912" cy="289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2" name="文档" r:id="rId3" imgW="4510061" imgH="1160076" progId="Word.Document.12">
                  <p:embed/>
                </p:oleObj>
              </mc:Choice>
              <mc:Fallback>
                <p:oleObj name="文档" r:id="rId3" imgW="4510061" imgH="11600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1963" y="682625"/>
                        <a:ext cx="11237912" cy="289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976730"/>
              </p:ext>
            </p:extLst>
          </p:nvPr>
        </p:nvGraphicFramePr>
        <p:xfrm>
          <a:off x="461963" y="3635375"/>
          <a:ext cx="11237912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3" name="文档" r:id="rId5" imgW="4510061" imgH="1095747" progId="Word.Document.12">
                  <p:embed/>
                </p:oleObj>
              </mc:Choice>
              <mc:Fallback>
                <p:oleObj name="文档" r:id="rId5" imgW="4510061" imgH="10957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1963" y="3635375"/>
                        <a:ext cx="11237912" cy="272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747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089958"/>
              </p:ext>
            </p:extLst>
          </p:nvPr>
        </p:nvGraphicFramePr>
        <p:xfrm>
          <a:off x="458424" y="830214"/>
          <a:ext cx="11275153" cy="405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2" name="文档" r:id="rId3" imgW="4510061" imgH="1623675" progId="Word.Document.12">
                  <p:embed/>
                </p:oleObj>
              </mc:Choice>
              <mc:Fallback>
                <p:oleObj name="文档" r:id="rId3" imgW="4510061" imgH="16236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830214"/>
                        <a:ext cx="11275153" cy="4059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NMX1TRAX336.eps" descr="id:2147519202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98794" y="1434579"/>
            <a:ext cx="2883864" cy="345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4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492824"/>
              </p:ext>
            </p:extLst>
          </p:nvPr>
        </p:nvGraphicFramePr>
        <p:xfrm>
          <a:off x="458424" y="117478"/>
          <a:ext cx="11275153" cy="6502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6" name="文档" r:id="rId3" imgW="4510061" imgH="2601187" progId="Word.Document.12">
                  <p:embed/>
                </p:oleObj>
              </mc:Choice>
              <mc:Fallback>
                <p:oleObj name="文档" r:id="rId3" imgW="4510061" imgH="26011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17478"/>
                        <a:ext cx="11275153" cy="6502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719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243</TotalTime>
  <Words>2613</Words>
  <Application>Microsoft Office PowerPoint</Application>
  <PresentationFormat>宽屏</PresentationFormat>
  <Paragraphs>220</Paragraphs>
  <Slides>85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85</vt:i4>
      </vt:variant>
    </vt:vector>
  </HeadingPairs>
  <TitlesOfParts>
    <vt:vector size="106" baseType="lpstr">
      <vt:lpstr>NEU-BZ-S92</vt:lpstr>
      <vt:lpstr>Open Sans</vt:lpstr>
      <vt:lpstr>方正书宋_GBK</vt:lpstr>
      <vt:lpstr>方正姚体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Arial</vt:lpstr>
      <vt:lpstr>Calibri</vt:lpstr>
      <vt:lpstr>Cambria Math</vt:lpstr>
      <vt:lpstr>Microsoft Yi Baiti</vt:lpstr>
      <vt:lpstr>Segoe UI Symbol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96</cp:revision>
  <dcterms:created xsi:type="dcterms:W3CDTF">2021-08-30T08:30:26Z</dcterms:created>
  <dcterms:modified xsi:type="dcterms:W3CDTF">2025-08-09T10:12:20Z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