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sldIdLst>
    <p:sldId id="677" r:id="rId2"/>
    <p:sldId id="488" r:id="rId3"/>
    <p:sldId id="392" r:id="rId4"/>
    <p:sldId id="686" r:id="rId5"/>
    <p:sldId id="687" r:id="rId6"/>
    <p:sldId id="765" r:id="rId7"/>
    <p:sldId id="688" r:id="rId8"/>
    <p:sldId id="689" r:id="rId9"/>
    <p:sldId id="777" r:id="rId10"/>
    <p:sldId id="690" r:id="rId11"/>
    <p:sldId id="691" r:id="rId12"/>
    <p:sldId id="692" r:id="rId13"/>
    <p:sldId id="693" r:id="rId14"/>
    <p:sldId id="694" r:id="rId15"/>
    <p:sldId id="695" r:id="rId16"/>
    <p:sldId id="778" r:id="rId17"/>
    <p:sldId id="407" r:id="rId18"/>
    <p:sldId id="394" r:id="rId19"/>
    <p:sldId id="699" r:id="rId20"/>
    <p:sldId id="700" r:id="rId21"/>
    <p:sldId id="402" r:id="rId22"/>
    <p:sldId id="712" r:id="rId23"/>
    <p:sldId id="713" r:id="rId24"/>
    <p:sldId id="714" r:id="rId25"/>
    <p:sldId id="715" r:id="rId26"/>
    <p:sldId id="719" r:id="rId27"/>
    <p:sldId id="720" r:id="rId28"/>
    <p:sldId id="721" r:id="rId29"/>
    <p:sldId id="498" r:id="rId30"/>
    <p:sldId id="730" r:id="rId31"/>
    <p:sldId id="733" r:id="rId32"/>
    <p:sldId id="743" r:id="rId33"/>
    <p:sldId id="744" r:id="rId34"/>
    <p:sldId id="734" r:id="rId35"/>
    <p:sldId id="737" r:id="rId36"/>
    <p:sldId id="740" r:id="rId37"/>
    <p:sldId id="739" r:id="rId38"/>
    <p:sldId id="745" r:id="rId39"/>
    <p:sldId id="746" r:id="rId40"/>
    <p:sldId id="747" r:id="rId41"/>
    <p:sldId id="748" r:id="rId42"/>
    <p:sldId id="749" r:id="rId43"/>
    <p:sldId id="750" r:id="rId44"/>
    <p:sldId id="398" r:id="rId45"/>
    <p:sldId id="395" r:id="rId46"/>
    <p:sldId id="756" r:id="rId47"/>
    <p:sldId id="757" r:id="rId48"/>
    <p:sldId id="759" r:id="rId49"/>
    <p:sldId id="793" r:id="rId50"/>
    <p:sldId id="794" r:id="rId51"/>
    <p:sldId id="795" r:id="rId52"/>
    <p:sldId id="806" r:id="rId53"/>
    <p:sldId id="807" r:id="rId54"/>
    <p:sldId id="808" r:id="rId55"/>
    <p:sldId id="809" r:id="rId56"/>
    <p:sldId id="796" r:id="rId57"/>
    <p:sldId id="802" r:id="rId58"/>
    <p:sldId id="803" r:id="rId59"/>
    <p:sldId id="804" r:id="rId60"/>
    <p:sldId id="805" r:id="rId61"/>
    <p:sldId id="797" r:id="rId62"/>
    <p:sldId id="798" r:id="rId63"/>
    <p:sldId id="799" r:id="rId64"/>
    <p:sldId id="800" r:id="rId65"/>
    <p:sldId id="490"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guide id="8" orient="horz" pos="1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 orient="horz" pos="73"/>
        <p:guide orient="horz" pos="119"/>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7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slide" Target="../slides/slide18.xml"/><Relationship Id="rId1" Type="http://schemas.openxmlformats.org/officeDocument/2006/relationships/slideMaster" Target="../slideMasters/slideMaster1.xml"/><Relationship Id="rId5" Type="http://schemas.openxmlformats.org/officeDocument/2006/relationships/slide" Target="../slides/slide36.xml"/><Relationship Id="rId4" Type="http://schemas.openxmlformats.org/officeDocument/2006/relationships/slide" Target="../slides/slide29.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slide" Target="../slides/slide45.xml"/><Relationship Id="rId1" Type="http://schemas.openxmlformats.org/officeDocument/2006/relationships/slideMaster" Target="../slideMasters/slideMaster1.xml"/><Relationship Id="rId4" Type="http://schemas.openxmlformats.org/officeDocument/2006/relationships/slide" Target="../slides/slide4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10" name="圆角矩形 9">
            <a:hlinkClick r:id="rId2" action="ppaction://hlinksldjump"/>
          </p:cNvPr>
          <p:cNvSpPr/>
          <p:nvPr userDrawn="1"/>
        </p:nvSpPr>
        <p:spPr>
          <a:xfrm>
            <a:off x="79057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专题一</a:t>
            </a:r>
            <a:endParaRPr lang="zh-CN" altLang="en-US" sz="1400" dirty="0">
              <a:ln>
                <a:solidFill>
                  <a:schemeClr val="bg1"/>
                </a:solidFill>
              </a:ln>
              <a:solidFill>
                <a:schemeClr val="bg1"/>
              </a:solidFill>
            </a:endParaRPr>
          </a:p>
        </p:txBody>
      </p:sp>
      <p:sp>
        <p:nvSpPr>
          <p:cNvPr id="11" name="圆角矩形 10">
            <a:hlinkClick r:id="rId3" action="ppaction://hlinksldjump"/>
          </p:cNvPr>
          <p:cNvSpPr/>
          <p:nvPr userDrawn="1"/>
        </p:nvSpPr>
        <p:spPr>
          <a:xfrm>
            <a:off x="89720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专题二</a:t>
            </a:r>
            <a:endParaRPr lang="zh-CN" altLang="en-US" sz="1400" dirty="0">
              <a:ln>
                <a:solidFill>
                  <a:schemeClr val="bg1"/>
                </a:solidFill>
              </a:ln>
              <a:solidFill>
                <a:schemeClr val="bg1"/>
              </a:solidFill>
            </a:endParaRPr>
          </a:p>
        </p:txBody>
      </p:sp>
      <p:sp>
        <p:nvSpPr>
          <p:cNvPr id="12" name="圆角矩形 11">
            <a:hlinkClick r:id="rId4" action="ppaction://hlinksldjump"/>
          </p:cNvPr>
          <p:cNvSpPr/>
          <p:nvPr userDrawn="1"/>
        </p:nvSpPr>
        <p:spPr>
          <a:xfrm>
            <a:off x="100384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专题三</a:t>
            </a:r>
            <a:endParaRPr lang="zh-CN" altLang="en-US" sz="1400" dirty="0">
              <a:ln>
                <a:solidFill>
                  <a:schemeClr val="bg1"/>
                </a:solidFill>
              </a:ln>
              <a:solidFill>
                <a:schemeClr val="bg1"/>
              </a:solidFill>
            </a:endParaRPr>
          </a:p>
        </p:txBody>
      </p:sp>
      <p:sp>
        <p:nvSpPr>
          <p:cNvPr id="13" name="圆角矩形 12">
            <a:hlinkClick r:id="rId5" action="ppaction://hlinksldjump"/>
          </p:cNvPr>
          <p:cNvSpPr/>
          <p:nvPr userDrawn="1"/>
        </p:nvSpPr>
        <p:spPr>
          <a:xfrm>
            <a:off x="111047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专题四</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89720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考点一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100384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考点二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11047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考点三</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3.xml"/><Relationship Id="rId1" Type="http://schemas.openxmlformats.org/officeDocument/2006/relationships/slideLayout" Target="../slideLayouts/slideLayout1.xml"/><Relationship Id="rId4" Type="http://schemas.openxmlformats.org/officeDocument/2006/relationships/slide" Target="slide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9.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3.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1.docx"/><Relationship Id="rId7"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5.emf"/><Relationship Id="rId5" Type="http://schemas.openxmlformats.org/officeDocument/2006/relationships/package" Target="../embeddings/Microsoft_Word___12.docx"/><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7.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9.jpeg"/><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1.jpeg"/><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5.jpeg"/><Relationship Id="rId4" Type="http://schemas.openxmlformats.org/officeDocument/2006/relationships/image" Target="../media/image24.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7.e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29.jpeg"/><Relationship Id="rId4" Type="http://schemas.openxmlformats.org/officeDocument/2006/relationships/image" Target="../media/image28.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1.jpeg"/><Relationship Id="rId4" Type="http://schemas.openxmlformats.org/officeDocument/2006/relationships/image" Target="../media/image30.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2.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34.emf"/><Relationship Id="rId5" Type="http://schemas.openxmlformats.org/officeDocument/2006/relationships/package" Target="../embeddings/Microsoft_Word___24.docx"/><Relationship Id="rId4" Type="http://schemas.openxmlformats.org/officeDocument/2006/relationships/image" Target="../media/image3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37.emf"/><Relationship Id="rId5" Type="http://schemas.openxmlformats.org/officeDocument/2006/relationships/package" Target="../embeddings/Microsoft_Word___26.docx"/><Relationship Id="rId4" Type="http://schemas.openxmlformats.org/officeDocument/2006/relationships/image" Target="../media/image36.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39.jpeg"/><Relationship Id="rId4" Type="http://schemas.openxmlformats.org/officeDocument/2006/relationships/image" Target="../media/image38.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41.jpeg"/><Relationship Id="rId4" Type="http://schemas.openxmlformats.org/officeDocument/2006/relationships/image" Target="../media/image40.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2.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43.emf"/></Relationships>
</file>

<file path=ppt/slides/_rels/slide4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__31.docx"/><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46.jpeg"/><Relationship Id="rId4" Type="http://schemas.openxmlformats.org/officeDocument/2006/relationships/image" Target="../media/image45.emf"/></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47.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49.emf"/><Relationship Id="rId5" Type="http://schemas.openxmlformats.org/officeDocument/2006/relationships/package" Target="../embeddings/Microsoft_Word___34.docx"/><Relationship Id="rId4" Type="http://schemas.openxmlformats.org/officeDocument/2006/relationships/image" Target="../media/image48.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3.xml"/><Relationship Id="rId1" Type="http://schemas.openxmlformats.org/officeDocument/2006/relationships/vmlDrawing" Target="../drawings/vmlDrawing31.vml"/><Relationship Id="rId4" Type="http://schemas.openxmlformats.org/officeDocument/2006/relationships/image" Target="../media/image50.emf"/></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3.xml"/><Relationship Id="rId1" Type="http://schemas.openxmlformats.org/officeDocument/2006/relationships/vmlDrawing" Target="../drawings/vmlDrawing32.vml"/><Relationship Id="rId5" Type="http://schemas.openxmlformats.org/officeDocument/2006/relationships/image" Target="../media/image52.jpeg"/><Relationship Id="rId4" Type="http://schemas.openxmlformats.org/officeDocument/2006/relationships/image" Target="../media/image51.emf"/></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__37.docx"/><Relationship Id="rId2" Type="http://schemas.openxmlformats.org/officeDocument/2006/relationships/slideLayout" Target="../slideLayouts/slideLayout3.xml"/><Relationship Id="rId1" Type="http://schemas.openxmlformats.org/officeDocument/2006/relationships/vmlDrawing" Target="../drawings/vmlDrawing33.vml"/><Relationship Id="rId6" Type="http://schemas.openxmlformats.org/officeDocument/2006/relationships/image" Target="../media/image54.emf"/><Relationship Id="rId5" Type="http://schemas.openxmlformats.org/officeDocument/2006/relationships/package" Target="../embeddings/Microsoft_Word___38.docx"/><Relationship Id="rId4" Type="http://schemas.openxmlformats.org/officeDocument/2006/relationships/image" Target="../media/image53.emf"/></Relationships>
</file>

<file path=ppt/slides/_rels/slide4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3.xml"/><Relationship Id="rId1" Type="http://schemas.openxmlformats.org/officeDocument/2006/relationships/vmlDrawing" Target="../drawings/vmlDrawing34.vml"/><Relationship Id="rId4" Type="http://schemas.openxmlformats.org/officeDocument/2006/relationships/image" Target="../media/image56.emf"/></Relationships>
</file>

<file path=ppt/slides/_rels/slide50.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3.xml"/><Relationship Id="rId1" Type="http://schemas.openxmlformats.org/officeDocument/2006/relationships/vmlDrawing" Target="../drawings/vmlDrawing35.vml"/><Relationship Id="rId5" Type="http://schemas.openxmlformats.org/officeDocument/2006/relationships/image" Target="../media/image58.jpeg"/><Relationship Id="rId4" Type="http://schemas.openxmlformats.org/officeDocument/2006/relationships/image" Target="../media/image57.emf"/></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__41.docx"/><Relationship Id="rId2" Type="http://schemas.openxmlformats.org/officeDocument/2006/relationships/slideLayout" Target="../slideLayouts/slideLayout3.xml"/><Relationship Id="rId1" Type="http://schemas.openxmlformats.org/officeDocument/2006/relationships/vmlDrawing" Target="../drawings/vmlDrawing36.vml"/><Relationship Id="rId4" Type="http://schemas.openxmlformats.org/officeDocument/2006/relationships/image" Target="../media/image59.emf"/></Relationships>
</file>

<file path=ppt/slides/_rels/slide5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package" Target="../embeddings/Microsoft_Word___42.docx"/><Relationship Id="rId2" Type="http://schemas.openxmlformats.org/officeDocument/2006/relationships/slideLayout" Target="../slideLayouts/slideLayout3.xml"/><Relationship Id="rId1" Type="http://schemas.openxmlformats.org/officeDocument/2006/relationships/vmlDrawing" Target="../drawings/vmlDrawing37.vml"/><Relationship Id="rId4" Type="http://schemas.openxmlformats.org/officeDocument/2006/relationships/image" Target="../media/image68.emf"/></Relationships>
</file>

<file path=ppt/slides/_rels/slide59.xml.rels><?xml version="1.0" encoding="UTF-8" standalone="yes"?>
<Relationships xmlns="http://schemas.openxmlformats.org/package/2006/relationships"><Relationship Id="rId3" Type="http://schemas.openxmlformats.org/officeDocument/2006/relationships/package" Target="../embeddings/Microsoft_Word___43.docx"/><Relationship Id="rId2" Type="http://schemas.openxmlformats.org/officeDocument/2006/relationships/slideLayout" Target="../slideLayouts/slideLayout3.xml"/><Relationship Id="rId1" Type="http://schemas.openxmlformats.org/officeDocument/2006/relationships/vmlDrawing" Target="../drawings/vmlDrawing38.vml"/><Relationship Id="rId5" Type="http://schemas.openxmlformats.org/officeDocument/2006/relationships/image" Target="../media/image70.jpeg"/><Relationship Id="rId4" Type="http://schemas.openxmlformats.org/officeDocument/2006/relationships/image" Target="../media/image69.emf"/></Relationships>
</file>

<file path=ppt/slides/_rels/slide60.xml.rels><?xml version="1.0" encoding="UTF-8" standalone="yes"?>
<Relationships xmlns="http://schemas.openxmlformats.org/package/2006/relationships"><Relationship Id="rId3" Type="http://schemas.openxmlformats.org/officeDocument/2006/relationships/package" Target="../embeddings/Microsoft_Word___44.docx"/><Relationship Id="rId2" Type="http://schemas.openxmlformats.org/officeDocument/2006/relationships/slideLayout" Target="../slideLayouts/slideLayout3.xml"/><Relationship Id="rId1" Type="http://schemas.openxmlformats.org/officeDocument/2006/relationships/vmlDrawing" Target="../drawings/vmlDrawing39.vml"/><Relationship Id="rId4" Type="http://schemas.openxmlformats.org/officeDocument/2006/relationships/image" Target="../media/image71.emf"/></Relationships>
</file>

<file path=ppt/slides/_rels/slide61.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package" Target="../embeddings/Microsoft_Word___45.docx"/><Relationship Id="rId2" Type="http://schemas.openxmlformats.org/officeDocument/2006/relationships/slideLayout" Target="../slideLayouts/slideLayout3.xml"/><Relationship Id="rId1" Type="http://schemas.openxmlformats.org/officeDocument/2006/relationships/vmlDrawing" Target="../drawings/vmlDrawing40.vml"/><Relationship Id="rId6" Type="http://schemas.openxmlformats.org/officeDocument/2006/relationships/image" Target="../media/image75.emf"/><Relationship Id="rId5" Type="http://schemas.openxmlformats.org/officeDocument/2006/relationships/package" Target="../embeddings/Microsoft_Word___46.docx"/><Relationship Id="rId4" Type="http://schemas.openxmlformats.org/officeDocument/2006/relationships/image" Target="../media/image74.emf"/></Relationships>
</file>

<file path=ppt/slides/_rels/slide64.xml.rels><?xml version="1.0" encoding="UTF-8" standalone="yes"?>
<Relationships xmlns="http://schemas.openxmlformats.org/package/2006/relationships"><Relationship Id="rId3" Type="http://schemas.openxmlformats.org/officeDocument/2006/relationships/package" Target="../embeddings/Microsoft_Word___47.docx"/><Relationship Id="rId2" Type="http://schemas.openxmlformats.org/officeDocument/2006/relationships/slideLayout" Target="../slideLayouts/slideLayout3.xml"/><Relationship Id="rId1" Type="http://schemas.openxmlformats.org/officeDocument/2006/relationships/vmlDrawing" Target="../drawings/vmlDrawing41.vml"/><Relationship Id="rId4" Type="http://schemas.openxmlformats.org/officeDocument/2006/relationships/image" Target="../media/image76.emf"/></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1</a:t>
              </a:r>
              <a:r>
                <a:rPr lang="zh-CN" altLang="en-US" sz="3600" b="1" dirty="0">
                  <a:solidFill>
                    <a:schemeClr val="bg1"/>
                  </a:solidFill>
                  <a:latin typeface="华文细黑" panose="02010600040101010101" charset="-122"/>
                  <a:ea typeface="华文细黑" panose="02010600040101010101" charset="-122"/>
                </a:rPr>
                <a:t>课时　空间向量与立体几何</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复习课</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知识</a:t>
            </a:r>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梳理 构建</a:t>
            </a:r>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体系</a:t>
            </a: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专题</a:t>
            </a:r>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归纳 核心</a:t>
            </a:r>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突破</a:t>
            </a: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高考体验</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知识</a:t>
            </a:r>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梳理 构建</a:t>
            </a:r>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体系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知识网络</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7" name="组合 6"/>
          <p:cNvGrpSpPr/>
          <p:nvPr/>
        </p:nvGrpSpPr>
        <p:grpSpPr>
          <a:xfrm>
            <a:off x="649210" y="690646"/>
            <a:ext cx="11066282" cy="6118723"/>
            <a:chOff x="649210" y="690646"/>
            <a:chExt cx="11066282" cy="6118723"/>
          </a:xfrm>
        </p:grpSpPr>
        <p:pic>
          <p:nvPicPr>
            <p:cNvPr id="3" name="图片 2"/>
            <p:cNvPicPr/>
            <p:nvPr/>
          </p:nvPicPr>
          <p:blipFill>
            <a:blip r:embed="rId3">
              <a:clrChange>
                <a:clrFrom>
                  <a:srgbClr val="FFFFFF"/>
                </a:clrFrom>
                <a:clrTo>
                  <a:srgbClr val="FFFFFF">
                    <a:alpha val="0"/>
                  </a:srgbClr>
                </a:clrTo>
              </a:clrChange>
            </a:blip>
            <a:stretch>
              <a:fillRect/>
            </a:stretch>
          </p:blipFill>
          <p:spPr>
            <a:xfrm>
              <a:off x="649210" y="2127250"/>
              <a:ext cx="390295" cy="3245514"/>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765207679"/>
                </p:ext>
              </p:extLst>
            </p:nvPr>
          </p:nvGraphicFramePr>
          <p:xfrm>
            <a:off x="1120746" y="690646"/>
            <a:ext cx="10594746" cy="6118723"/>
          </p:xfrm>
          <a:graphic>
            <a:graphicData uri="http://schemas.openxmlformats.org/presentationml/2006/ole">
              <mc:AlternateContent xmlns:mc="http://schemas.openxmlformats.org/markup-compatibility/2006">
                <mc:Choice xmlns:v="urn:schemas-microsoft-com:vml" Requires="v">
                  <p:oleObj spid="_x0000_s1057" name="文档" r:id="rId4" imgW="5494505" imgH="3173210" progId="Word.Document.12">
                    <p:embed/>
                  </p:oleObj>
                </mc:Choice>
                <mc:Fallback>
                  <p:oleObj name="文档" r:id="rId4" imgW="5494505" imgH="3173210" progId="Word.Document.12">
                    <p:embed/>
                    <p:pic>
                      <p:nvPicPr>
                        <p:cNvPr id="0" name=""/>
                        <p:cNvPicPr/>
                        <p:nvPr/>
                      </p:nvPicPr>
                      <p:blipFill>
                        <a:blip r:embed="rId5"/>
                        <a:stretch>
                          <a:fillRect/>
                        </a:stretch>
                      </p:blipFill>
                      <p:spPr>
                        <a:xfrm>
                          <a:off x="1120746" y="690646"/>
                          <a:ext cx="10594746" cy="6118723"/>
                        </a:xfrm>
                        <a:prstGeom prst="rect">
                          <a:avLst/>
                        </a:prstGeom>
                      </p:spPr>
                    </p:pic>
                  </p:oleObj>
                </mc:Fallback>
              </mc:AlternateContent>
            </a:graphicData>
          </a:graphic>
        </p:graphicFrame>
      </p:grpSp>
      <p:sp>
        <p:nvSpPr>
          <p:cNvPr id="8" name="矩形 7"/>
          <p:cNvSpPr/>
          <p:nvPr/>
        </p:nvSpPr>
        <p:spPr>
          <a:xfrm>
            <a:off x="6106801" y="3027071"/>
            <a:ext cx="2569608"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174092" y="4409062"/>
            <a:ext cx="2569608"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867809" y="5333467"/>
            <a:ext cx="3016417"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773604" y="5849827"/>
            <a:ext cx="1059354" cy="3316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11489" y="5843635"/>
            <a:ext cx="2732810"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1023284" y="59525"/>
            <a:ext cx="9867385" cy="6743567"/>
            <a:chOff x="1023284" y="59525"/>
            <a:chExt cx="9867385" cy="6743567"/>
          </a:xfrm>
        </p:grpSpPr>
        <p:pic>
          <p:nvPicPr>
            <p:cNvPr id="2" name="图片 1"/>
            <p:cNvPicPr/>
            <p:nvPr/>
          </p:nvPicPr>
          <p:blipFill>
            <a:blip r:embed="rId3">
              <a:clrChange>
                <a:clrFrom>
                  <a:srgbClr val="FFFFFF"/>
                </a:clrFrom>
                <a:clrTo>
                  <a:srgbClr val="FFFFFF">
                    <a:alpha val="0"/>
                  </a:srgbClr>
                </a:clrTo>
              </a:clrChange>
            </a:blip>
            <a:stretch>
              <a:fillRect/>
            </a:stretch>
          </p:blipFill>
          <p:spPr>
            <a:xfrm>
              <a:off x="1023284" y="1808551"/>
              <a:ext cx="390295" cy="3245514"/>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2867138704"/>
                </p:ext>
              </p:extLst>
            </p:nvPr>
          </p:nvGraphicFramePr>
          <p:xfrm>
            <a:off x="1488369" y="59525"/>
            <a:ext cx="9402300" cy="6743567"/>
          </p:xfrm>
          <a:graphic>
            <a:graphicData uri="http://schemas.openxmlformats.org/presentationml/2006/ole">
              <mc:AlternateContent xmlns:mc="http://schemas.openxmlformats.org/markup-compatibility/2006">
                <mc:Choice xmlns:v="urn:schemas-microsoft-com:vml" Requires="v">
                  <p:oleObj spid="_x0000_s2081" name="文档" r:id="rId4" imgW="4977510" imgH="3569996" progId="Word.Document.12">
                    <p:embed/>
                  </p:oleObj>
                </mc:Choice>
                <mc:Fallback>
                  <p:oleObj name="文档" r:id="rId4" imgW="4977510" imgH="3569996" progId="Word.Document.12">
                    <p:embed/>
                    <p:pic>
                      <p:nvPicPr>
                        <p:cNvPr id="0" name=""/>
                        <p:cNvPicPr/>
                        <p:nvPr/>
                      </p:nvPicPr>
                      <p:blipFill>
                        <a:blip r:embed="rId5"/>
                        <a:stretch>
                          <a:fillRect/>
                        </a:stretch>
                      </p:blipFill>
                      <p:spPr>
                        <a:xfrm>
                          <a:off x="1488369" y="59525"/>
                          <a:ext cx="9402300" cy="6743567"/>
                        </a:xfrm>
                        <a:prstGeom prst="rect">
                          <a:avLst/>
                        </a:prstGeom>
                      </p:spPr>
                    </p:pic>
                  </p:oleObj>
                </mc:Fallback>
              </mc:AlternateContent>
            </a:graphicData>
          </a:graphic>
        </p:graphicFrame>
      </p:grpSp>
      <p:sp>
        <p:nvSpPr>
          <p:cNvPr id="7" name="矩形 6"/>
          <p:cNvSpPr/>
          <p:nvPr/>
        </p:nvSpPr>
        <p:spPr>
          <a:xfrm>
            <a:off x="4267610" y="970489"/>
            <a:ext cx="2237099"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487018" y="2303540"/>
            <a:ext cx="139304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0145" y="3886790"/>
            <a:ext cx="2277464"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00219" y="3824444"/>
            <a:ext cx="2197794"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851791" y="4853412"/>
            <a:ext cx="3874479"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936904" y="5578245"/>
            <a:ext cx="2688041" cy="3316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386187" y="6026728"/>
            <a:ext cx="2625206" cy="6400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561064" y="105093"/>
            <a:ext cx="11069873" cy="6627031"/>
          </a:xfrm>
          <a:prstGeom prst="rect">
            <a:avLst/>
          </a:prstGeom>
        </p:spPr>
      </p:pic>
      <p:sp>
        <p:nvSpPr>
          <p:cNvPr id="6" name="矩形 5"/>
          <p:cNvSpPr/>
          <p:nvPr/>
        </p:nvSpPr>
        <p:spPr>
          <a:xfrm>
            <a:off x="10386557" y="357559"/>
            <a:ext cx="577150" cy="3316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43121" y="728387"/>
            <a:ext cx="618784"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666996" y="1327007"/>
            <a:ext cx="447244"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841168" y="1327007"/>
            <a:ext cx="447244"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493821" y="1642667"/>
            <a:ext cx="524428"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695711" y="1642667"/>
            <a:ext cx="639902"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677272" y="2307686"/>
            <a:ext cx="1532638"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144634" y="2949863"/>
            <a:ext cx="1532638" cy="54985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619641" y="3979023"/>
            <a:ext cx="2072103" cy="49987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257187" y="5059678"/>
            <a:ext cx="2072103" cy="49987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257187" y="6136120"/>
            <a:ext cx="2437531" cy="49987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67873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13"/>
                                        </p:tgtEl>
                                      </p:cBhvr>
                                    </p:animEffect>
                                    <p:set>
                                      <p:cBhvr>
                                        <p:cTn id="42" dur="1" fill="hold">
                                          <p:stCondLst>
                                            <p:cond delay="499"/>
                                          </p:stCondLst>
                                        </p:cTn>
                                        <p:tgtEl>
                                          <p:spTgt spid="1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14"/>
                                        </p:tgtEl>
                                      </p:cBhvr>
                                    </p:animEffect>
                                    <p:set>
                                      <p:cBhvr>
                                        <p:cTn id="47" dur="1" fill="hold">
                                          <p:stCondLst>
                                            <p:cond delay="499"/>
                                          </p:stCondLst>
                                        </p:cTn>
                                        <p:tgtEl>
                                          <p:spTgt spid="1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0" nodeType="clickEffect">
                                  <p:stCondLst>
                                    <p:cond delay="0"/>
                                  </p:stCondLst>
                                  <p:childTnLst>
                                    <p:animEffect transition="out" filter="wipe(down)">
                                      <p:cBhvr>
                                        <p:cTn id="51" dur="500"/>
                                        <p:tgtEl>
                                          <p:spTgt spid="15"/>
                                        </p:tgtEl>
                                      </p:cBhvr>
                                    </p:animEffect>
                                    <p:set>
                                      <p:cBhvr>
                                        <p:cTn id="52" dur="1" fill="hold">
                                          <p:stCondLst>
                                            <p:cond delay="499"/>
                                          </p:stCondLst>
                                        </p:cTn>
                                        <p:tgtEl>
                                          <p:spTgt spid="1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0" nodeType="clickEffect">
                                  <p:stCondLst>
                                    <p:cond delay="0"/>
                                  </p:stCondLst>
                                  <p:childTnLst>
                                    <p:animEffect transition="out" filter="wipe(down)">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要点梳理</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4" name="矩形 3"/>
          <p:cNvSpPr>
            <a:spLocks noChangeAspect="1"/>
          </p:cNvSpPr>
          <p:nvPr/>
        </p:nvSpPr>
        <p:spPr>
          <a:xfrm>
            <a:off x="381000" y="595363"/>
            <a:ext cx="11430000" cy="619374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空间向量共线的充要条件与空间向量共面的充要条件的内容是什么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空间向量共线的充要条件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对任意两个空间向量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的充要条件是存在实数</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空间向量共面的充要条件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如果两个向量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那么向量</a:t>
            </a:r>
            <a:r>
              <a:rPr lang="en-US" altLang="zh-CN" sz="2800" b="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共面的充要条件是存在唯一的有序实数对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空间向量基本定理与空间向量的坐标表示的内容是什么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空间向量基本定理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如果三个向量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那么对任意一个空间向量</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存在唯一的有序实数组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使得</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空间向量的坐标表示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给定向量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那么存在唯一的有序实数组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有序实数组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叫做</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简记作</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down)">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wipe(down)">
                                      <p:cBhvr>
                                        <p:cTn id="15" dur="500"/>
                                        <p:tgtEl>
                                          <p:spTgt spid="4">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wipe(down)">
                                      <p:cBhvr>
                                        <p:cTn id="1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418709"/>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空间向量的线性运算与数量积运算的几何表示与坐标表示是什么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请完成下表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74566587"/>
              </p:ext>
            </p:extLst>
          </p:nvPr>
        </p:nvGraphicFramePr>
        <p:xfrm>
          <a:off x="381000" y="207264"/>
          <a:ext cx="11430000" cy="7198549"/>
        </p:xfrm>
        <a:graphic>
          <a:graphicData uri="http://schemas.openxmlformats.org/presentationml/2006/ole">
            <mc:AlternateContent xmlns:mc="http://schemas.openxmlformats.org/markup-compatibility/2006">
              <mc:Choice xmlns:v="urn:schemas-microsoft-com:vml" Requires="v">
                <p:oleObj spid="_x0000_s3105" name="文档" r:id="rId3" imgW="4620033" imgH="2909406" progId="Word.Document.12">
                  <p:embed/>
                </p:oleObj>
              </mc:Choice>
              <mc:Fallback>
                <p:oleObj name="文档" r:id="rId3" imgW="4620033" imgH="2909406" progId="Word.Document.12">
                  <p:embed/>
                  <p:pic>
                    <p:nvPicPr>
                      <p:cNvPr id="0" name=""/>
                      <p:cNvPicPr/>
                      <p:nvPr/>
                    </p:nvPicPr>
                    <p:blipFill>
                      <a:blip r:embed="rId4"/>
                      <a:stretch>
                        <a:fillRect/>
                      </a:stretch>
                    </p:blipFill>
                    <p:spPr>
                      <a:xfrm>
                        <a:off x="381000" y="207264"/>
                        <a:ext cx="11430000" cy="7198549"/>
                      </a:xfrm>
                      <a:prstGeom prst="rect">
                        <a:avLst/>
                      </a:prstGeom>
                    </p:spPr>
                  </p:pic>
                </p:oleObj>
              </mc:Fallback>
            </mc:AlternateContent>
          </a:graphicData>
        </a:graphic>
      </p:graphicFrame>
      <p:sp>
        <p:nvSpPr>
          <p:cNvPr id="6" name="矩形 5"/>
          <p:cNvSpPr/>
          <p:nvPr/>
        </p:nvSpPr>
        <p:spPr>
          <a:xfrm>
            <a:off x="4615242" y="5714226"/>
            <a:ext cx="666393"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99291" y="3487216"/>
            <a:ext cx="1150741" cy="33832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670819" y="3978347"/>
            <a:ext cx="751832" cy="3173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30531" y="4737383"/>
            <a:ext cx="955640" cy="40937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815362" y="5197179"/>
            <a:ext cx="960418" cy="3383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0313401" y="1946712"/>
            <a:ext cx="1214127" cy="40937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461424" y="2405501"/>
            <a:ext cx="1849426" cy="3417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234922" y="2817409"/>
            <a:ext cx="1214127" cy="3383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461424" y="3203442"/>
            <a:ext cx="1698412" cy="3451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080207" y="4726992"/>
            <a:ext cx="1214127" cy="3383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489550" y="5152897"/>
            <a:ext cx="562530" cy="3417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238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par>
                                <p:cTn id="33" presetID="22" presetClass="exit" presetSubtype="4" fill="hold" grpId="0" nodeType="withEffect">
                                  <p:stCondLst>
                                    <p:cond delay="0"/>
                                  </p:stCondLst>
                                  <p:childTnLst>
                                    <p:animEffect transition="out" filter="wipe(down)">
                                      <p:cBhvr>
                                        <p:cTn id="34" dur="500"/>
                                        <p:tgtEl>
                                          <p:spTgt spid="13"/>
                                        </p:tgtEl>
                                      </p:cBhvr>
                                    </p:animEffect>
                                    <p:set>
                                      <p:cBhvr>
                                        <p:cTn id="35" dur="1" fill="hold">
                                          <p:stCondLst>
                                            <p:cond delay="499"/>
                                          </p:stCondLst>
                                        </p:cTn>
                                        <p:tgtEl>
                                          <p:spTgt spid="1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xit" presetSubtype="4" fill="hold" grpId="0" nodeType="clickEffect">
                                  <p:stCondLst>
                                    <p:cond delay="0"/>
                                  </p:stCondLst>
                                  <p:childTnLst>
                                    <p:animEffect transition="out" filter="wipe(down)">
                                      <p:cBhvr>
                                        <p:cTn id="39" dur="500"/>
                                        <p:tgtEl>
                                          <p:spTgt spid="14"/>
                                        </p:tgtEl>
                                      </p:cBhvr>
                                    </p:animEffect>
                                    <p:set>
                                      <p:cBhvr>
                                        <p:cTn id="40" dur="1" fill="hold">
                                          <p:stCondLst>
                                            <p:cond delay="499"/>
                                          </p:stCondLst>
                                        </p:cTn>
                                        <p:tgtEl>
                                          <p:spTgt spid="14"/>
                                        </p:tgtEl>
                                        <p:attrNameLst>
                                          <p:attrName>style.visibility</p:attrName>
                                        </p:attrNameLst>
                                      </p:cBhvr>
                                      <p:to>
                                        <p:strVal val="hidden"/>
                                      </p:to>
                                    </p:set>
                                  </p:childTnLst>
                                </p:cTn>
                              </p:par>
                              <p:par>
                                <p:cTn id="41" presetID="22" presetClass="exit" presetSubtype="4" fill="hold" grpId="0" nodeType="withEffect">
                                  <p:stCondLst>
                                    <p:cond delay="0"/>
                                  </p:stCondLst>
                                  <p:childTnLst>
                                    <p:animEffect transition="out" filter="wipe(down)">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xit" presetSubtype="4" fill="hold" grpId="0" nodeType="clickEffect">
                                  <p:stCondLst>
                                    <p:cond delay="0"/>
                                  </p:stCondLst>
                                  <p:childTnLst>
                                    <p:animEffect transition="out" filter="wipe(down)">
                                      <p:cBhvr>
                                        <p:cTn id="47" dur="500"/>
                                        <p:tgtEl>
                                          <p:spTgt spid="16"/>
                                        </p:tgtEl>
                                      </p:cBhvr>
                                    </p:animEffect>
                                    <p:set>
                                      <p:cBhvr>
                                        <p:cTn id="48" dur="1" fill="hold">
                                          <p:stCondLst>
                                            <p:cond delay="499"/>
                                          </p:stCondLst>
                                        </p:cTn>
                                        <p:tgtEl>
                                          <p:spTgt spid="16"/>
                                        </p:tgtEl>
                                        <p:attrNameLst>
                                          <p:attrName>style.visibility</p:attrName>
                                        </p:attrNameLst>
                                      </p:cBhvr>
                                      <p:to>
                                        <p:strVal val="hidden"/>
                                      </p:to>
                                    </p:set>
                                  </p:childTnLst>
                                </p:cTn>
                              </p:par>
                              <p:par>
                                <p:cTn id="49" presetID="22" presetClass="exit" presetSubtype="4" fill="hold" grpId="0" nodeType="withEffect">
                                  <p:stCondLst>
                                    <p:cond delay="0"/>
                                  </p:stCondLst>
                                  <p:childTnLst>
                                    <p:animEffect transition="out" filter="wipe(down)">
                                      <p:cBhvr>
                                        <p:cTn id="50" dur="500"/>
                                        <p:tgtEl>
                                          <p:spTgt spid="17"/>
                                        </p:tgtEl>
                                      </p:cBhvr>
                                    </p:animEffect>
                                    <p:set>
                                      <p:cBhvr>
                                        <p:cTn id="51"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03519207"/>
              </p:ext>
            </p:extLst>
          </p:nvPr>
        </p:nvGraphicFramePr>
        <p:xfrm>
          <a:off x="419100" y="427330"/>
          <a:ext cx="11423650" cy="6103938"/>
        </p:xfrm>
        <a:graphic>
          <a:graphicData uri="http://schemas.openxmlformats.org/presentationml/2006/ole">
            <mc:AlternateContent xmlns:mc="http://schemas.openxmlformats.org/markup-compatibility/2006">
              <mc:Choice xmlns:v="urn:schemas-microsoft-com:vml" Requires="v">
                <p:oleObj spid="_x0000_s4128" name="文档" r:id="rId3" imgW="4620033" imgH="2468292" progId="Word.Document.12">
                  <p:embed/>
                </p:oleObj>
              </mc:Choice>
              <mc:Fallback>
                <p:oleObj name="文档" r:id="rId3" imgW="4620033" imgH="2468292" progId="Word.Document.12">
                  <p:embed/>
                  <p:pic>
                    <p:nvPicPr>
                      <p:cNvPr id="0" name=""/>
                      <p:cNvPicPr/>
                      <p:nvPr/>
                    </p:nvPicPr>
                    <p:blipFill>
                      <a:blip r:embed="rId4"/>
                      <a:stretch>
                        <a:fillRect/>
                      </a:stretch>
                    </p:blipFill>
                    <p:spPr>
                      <a:xfrm>
                        <a:off x="419100" y="427330"/>
                        <a:ext cx="11423650" cy="6103938"/>
                      </a:xfrm>
                      <a:prstGeom prst="rect">
                        <a:avLst/>
                      </a:prstGeom>
                    </p:spPr>
                  </p:pic>
                </p:oleObj>
              </mc:Fallback>
            </mc:AlternateContent>
          </a:graphicData>
        </a:graphic>
      </p:graphicFrame>
      <p:sp>
        <p:nvSpPr>
          <p:cNvPr id="3" name="矩形 2"/>
          <p:cNvSpPr/>
          <p:nvPr/>
        </p:nvSpPr>
        <p:spPr>
          <a:xfrm>
            <a:off x="3115898" y="1784694"/>
            <a:ext cx="225620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566238" y="2792612"/>
            <a:ext cx="887927"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870472" y="2438179"/>
            <a:ext cx="887927"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30925" y="4171855"/>
            <a:ext cx="116341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030" y="1774302"/>
            <a:ext cx="245145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33142" y="2751048"/>
            <a:ext cx="262654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37703"/>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用空间向量解决立体几何中的位置关系问题主要体现在哪些方面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请完成下表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48448290"/>
              </p:ext>
            </p:extLst>
          </p:nvPr>
        </p:nvGraphicFramePr>
        <p:xfrm>
          <a:off x="381000" y="1547633"/>
          <a:ext cx="11430000" cy="5154094"/>
        </p:xfrm>
        <a:graphic>
          <a:graphicData uri="http://schemas.openxmlformats.org/presentationml/2006/ole">
            <mc:AlternateContent xmlns:mc="http://schemas.openxmlformats.org/markup-compatibility/2006">
              <mc:Choice xmlns:v="urn:schemas-microsoft-com:vml" Requires="v">
                <p:oleObj spid="_x0000_s5151" name="文档" r:id="rId3" imgW="4609869" imgH="2078714" progId="Word.Document.12">
                  <p:embed/>
                </p:oleObj>
              </mc:Choice>
              <mc:Fallback>
                <p:oleObj name="文档" r:id="rId3" imgW="4609869" imgH="2078714" progId="Word.Document.12">
                  <p:embed/>
                  <p:pic>
                    <p:nvPicPr>
                      <p:cNvPr id="0" name=""/>
                      <p:cNvPicPr/>
                      <p:nvPr/>
                    </p:nvPicPr>
                    <p:blipFill>
                      <a:blip r:embed="rId4"/>
                      <a:stretch>
                        <a:fillRect/>
                      </a:stretch>
                    </p:blipFill>
                    <p:spPr>
                      <a:xfrm>
                        <a:off x="381000" y="1547633"/>
                        <a:ext cx="11430000" cy="5154094"/>
                      </a:xfrm>
                      <a:prstGeom prst="rect">
                        <a:avLst/>
                      </a:prstGeom>
                    </p:spPr>
                  </p:pic>
                </p:oleObj>
              </mc:Fallback>
            </mc:AlternateContent>
          </a:graphicData>
        </a:graphic>
      </p:graphicFrame>
      <p:sp>
        <p:nvSpPr>
          <p:cNvPr id="4" name="矩形 3"/>
          <p:cNvSpPr/>
          <p:nvPr/>
        </p:nvSpPr>
        <p:spPr>
          <a:xfrm>
            <a:off x="2617250" y="3674528"/>
            <a:ext cx="957109"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970541" y="4155853"/>
            <a:ext cx="1029959"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761933" y="3913636"/>
            <a:ext cx="729108"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43261" y="3913636"/>
            <a:ext cx="1095394"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737184" y="3674017"/>
            <a:ext cx="945860"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106204" y="4162507"/>
            <a:ext cx="1064022"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617250" y="4687575"/>
            <a:ext cx="1029959"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867845" y="5172790"/>
            <a:ext cx="1259818"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768685" y="4687575"/>
            <a:ext cx="712440"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197185" y="5172790"/>
            <a:ext cx="850324"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737184" y="4687575"/>
            <a:ext cx="1194052"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046639" y="5169583"/>
            <a:ext cx="1194052" cy="3743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12"/>
                                        </p:tgtEl>
                                      </p:cBhvr>
                                    </p:animEffect>
                                    <p:set>
                                      <p:cBhvr>
                                        <p:cTn id="47" dur="1" fill="hold">
                                          <p:stCondLst>
                                            <p:cond delay="499"/>
                                          </p:stCondLst>
                                        </p:cTn>
                                        <p:tgtEl>
                                          <p:spTgt spid="1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0" nodeType="clickEffect">
                                  <p:stCondLst>
                                    <p:cond delay="0"/>
                                  </p:stCondLst>
                                  <p:childTnLst>
                                    <p:animEffect transition="out" filter="wipe(down)">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0" nodeType="clickEffect">
                                  <p:stCondLst>
                                    <p:cond delay="0"/>
                                  </p:stCondLst>
                                  <p:childTnLst>
                                    <p:animEffect transition="out" filter="wipe(down)">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4" fill="hold" grpId="0" nodeType="clickEffect">
                                  <p:stCondLst>
                                    <p:cond delay="0"/>
                                  </p:stCondLst>
                                  <p:childTnLst>
                                    <p:animEffect transition="out" filter="wipe(down)">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65248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空间向量在立体几何的距离问题、夹角问题中的应用有哪些</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23485805"/>
              </p:ext>
            </p:extLst>
          </p:nvPr>
        </p:nvGraphicFramePr>
        <p:xfrm>
          <a:off x="381000" y="1397686"/>
          <a:ext cx="11430000" cy="4021443"/>
        </p:xfrm>
        <a:graphic>
          <a:graphicData uri="http://schemas.openxmlformats.org/presentationml/2006/ole">
            <mc:AlternateContent xmlns:mc="http://schemas.openxmlformats.org/markup-compatibility/2006">
              <mc:Choice xmlns:v="urn:schemas-microsoft-com:vml" Requires="v">
                <p:oleObj spid="_x0000_s6175"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381000" y="1397686"/>
                        <a:ext cx="11430000" cy="4021443"/>
                      </a:xfrm>
                      <a:prstGeom prst="rect">
                        <a:avLst/>
                      </a:prstGeom>
                    </p:spPr>
                  </p:pic>
                </p:oleObj>
              </mc:Fallback>
            </mc:AlternateContent>
          </a:graphicData>
        </a:graphic>
      </p:graphicFrame>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381000" y="313393"/>
            <a:ext cx="11430000" cy="5722707"/>
            <a:chOff x="381000" y="313393"/>
            <a:chExt cx="11430000" cy="5722707"/>
          </a:xfrm>
        </p:grpSpPr>
        <p:sp>
          <p:nvSpPr>
            <p:cNvPr id="2" name="矩形 1"/>
            <p:cNvSpPr>
              <a:spLocks noChangeAspect="1"/>
            </p:cNvSpPr>
            <p:nvPr/>
          </p:nvSpPr>
          <p:spPr>
            <a:xfrm>
              <a:off x="381000" y="31339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线面距离与面面距离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转化为点到平面的距离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夹角问题中的应用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84993277"/>
                </p:ext>
              </p:extLst>
            </p:nvPr>
          </p:nvGraphicFramePr>
          <p:xfrm>
            <a:off x="381000" y="1512319"/>
            <a:ext cx="11430000" cy="4523781"/>
          </p:xfrm>
          <a:graphic>
            <a:graphicData uri="http://schemas.openxmlformats.org/presentationml/2006/ole">
              <mc:AlternateContent xmlns:mc="http://schemas.openxmlformats.org/markup-compatibility/2006">
                <mc:Choice xmlns:v="urn:schemas-microsoft-com:vml" Requires="v">
                  <p:oleObj spid="_x0000_s7199"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381000" y="1512319"/>
                          <a:ext cx="11430000" cy="4523781"/>
                        </a:xfrm>
                        <a:prstGeom prst="rect">
                          <a:avLst/>
                        </a:prstGeom>
                      </p:spPr>
                    </p:pic>
                  </p:oleObj>
                </mc:Fallback>
              </mc:AlternateContent>
            </a:graphicData>
          </a:graphic>
        </p:graphicFrame>
      </p:gr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1564" y="252270"/>
            <a:ext cx="11769436" cy="5831728"/>
            <a:chOff x="41564" y="231488"/>
            <a:chExt cx="11769436" cy="5831728"/>
          </a:xfrm>
        </p:grpSpPr>
        <p:sp>
          <p:nvSpPr>
            <p:cNvPr id="2" name="矩形 1"/>
            <p:cNvSpPr>
              <a:spLocks noChangeAspect="1"/>
            </p:cNvSpPr>
            <p:nvPr/>
          </p:nvSpPr>
          <p:spPr>
            <a:xfrm>
              <a:off x="381000" y="231488"/>
              <a:ext cx="11430000" cy="395313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零向量是长度为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没有方向的向量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有向线段可用来表示空间向量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有向线段长度越长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其所表示的向量的模就越大</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不论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Times New Roman" panose="02020603050405020304" pitchFamily="18" charset="0"/>
                  <a:cs typeface="Times New Roman" panose="02020603050405020304" pitchFamily="18" charset="0"/>
                </a:rPr>
                <a:t>取什么实数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一定共线</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中至少有一个为</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89010284"/>
                </p:ext>
              </p:extLst>
            </p:nvPr>
          </p:nvGraphicFramePr>
          <p:xfrm>
            <a:off x="41564" y="4050735"/>
            <a:ext cx="11430000" cy="1005588"/>
          </p:xfrm>
          <a:graphic>
            <a:graphicData uri="http://schemas.openxmlformats.org/presentationml/2006/ole">
              <mc:AlternateContent xmlns:mc="http://schemas.openxmlformats.org/markup-compatibility/2006">
                <mc:Choice xmlns:v="urn:schemas-microsoft-com:vml" Requires="v">
                  <p:oleObj spid="_x0000_s8223"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4050735"/>
                          <a:ext cx="11430000" cy="1005588"/>
                        </a:xfrm>
                        <a:prstGeom prst="rect">
                          <a:avLst/>
                        </a:prstGeom>
                      </p:spPr>
                    </p:pic>
                  </p:oleObj>
                </mc:Fallback>
              </mc:AlternateContent>
            </a:graphicData>
          </a:graphic>
        </p:graphicFrame>
        <p:sp>
          <p:nvSpPr>
            <p:cNvPr id="4" name="矩形 3"/>
            <p:cNvSpPr>
              <a:spLocks noChangeAspect="1"/>
            </p:cNvSpPr>
            <p:nvPr/>
          </p:nvSpPr>
          <p:spPr>
            <a:xfrm>
              <a:off x="381000" y="491084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对于三个不共面向量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不存在实数组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6700761" y="1454152"/>
            <a:ext cx="541703"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175335" y="2561609"/>
            <a:ext cx="406989"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476484" y="3123281"/>
            <a:ext cx="406989"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320988" y="3692339"/>
            <a:ext cx="541703"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126034" y="4341791"/>
            <a:ext cx="541703"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369971" y="5607652"/>
            <a:ext cx="541703"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381000" y="588775"/>
            <a:ext cx="11430000" cy="4945426"/>
            <a:chOff x="381000" y="588775"/>
            <a:chExt cx="11430000" cy="4945426"/>
          </a:xfrm>
        </p:grpSpPr>
        <p:graphicFrame>
          <p:nvGraphicFramePr>
            <p:cNvPr id="2" name="对象 1"/>
            <p:cNvGraphicFramePr>
              <a:graphicFrameLocks noChangeAspect="1"/>
            </p:cNvGraphicFramePr>
            <p:nvPr>
              <p:extLst>
                <p:ext uri="{D42A27DB-BD31-4B8C-83A1-F6EECF244321}">
                  <p14:modId xmlns:p14="http://schemas.microsoft.com/office/powerpoint/2010/main" val="1521738478"/>
                </p:ext>
              </p:extLst>
            </p:nvPr>
          </p:nvGraphicFramePr>
          <p:xfrm>
            <a:off x="381000" y="588775"/>
            <a:ext cx="11430000" cy="1507927"/>
          </p:xfrm>
          <a:graphic>
            <a:graphicData uri="http://schemas.openxmlformats.org/presentationml/2006/ole">
              <mc:AlternateContent xmlns:mc="http://schemas.openxmlformats.org/markup-compatibility/2006">
                <mc:Choice xmlns:v="urn:schemas-microsoft-com:vml" Requires="v">
                  <p:oleObj spid="_x0000_s9247"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588775"/>
                          <a:ext cx="11430000" cy="1507927"/>
                        </a:xfrm>
                        <a:prstGeom prst="rect">
                          <a:avLst/>
                        </a:prstGeom>
                      </p:spPr>
                    </p:pic>
                  </p:oleObj>
                </mc:Fallback>
              </mc:AlternateContent>
            </a:graphicData>
          </a:graphic>
        </p:graphicFrame>
        <p:sp>
          <p:nvSpPr>
            <p:cNvPr id="3" name="矩形 2"/>
            <p:cNvSpPr>
              <a:spLocks noChangeAspect="1"/>
            </p:cNvSpPr>
            <p:nvPr/>
          </p:nvSpPr>
          <p:spPr>
            <a:xfrm>
              <a:off x="381000" y="2141221"/>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latin typeface="Times New Roman" panose="02020603050405020304" pitchFamily="18" charset="0"/>
                  <a:cs typeface="Times New Roman" panose="02020603050405020304" pitchFamily="18" charset="0"/>
                </a:rPr>
                <a:t>空间存在两个共线向量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满足</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为空间向量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平面的法向量与该平面内的所有向量都是垂直的</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(0,2,0),</a:t>
              </a:r>
              <a:r>
                <a:rPr lang="zh-CN" altLang="zh-CN" sz="2800" dirty="0">
                  <a:solidFill>
                    <a:srgbClr val="000000"/>
                  </a:solidFill>
                  <a:latin typeface="Times New Roman" panose="02020603050405020304" pitchFamily="18" charset="0"/>
                  <a:cs typeface="Times New Roman" panose="02020603050405020304" pitchFamily="18" charset="0"/>
                </a:rPr>
                <a:t>则平面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互相垂直</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FF0000"/>
                  </a:solidFill>
                  <a:latin typeface="Cambria Math" panose="02040503050406030204" pitchFamily="18" charset="0"/>
                  <a:cs typeface="Times New Roman" panose="02020603050405020304" pitchFamily="18" charset="0"/>
                </a:rPr>
                <a:t>  </a:t>
              </a:r>
              <a:r>
                <a:rPr lang="en-US" altLang="zh-CN" sz="2800" dirty="0">
                  <a:solidFill>
                    <a:srgbClr val="FF0000"/>
                  </a:solidFill>
                  <a:latin typeface="Cambria Math" panose="020405030504060302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3895215" y="1566061"/>
            <a:ext cx="541703" cy="53413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420869" y="2761015"/>
            <a:ext cx="406989" cy="53413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161597" y="3303573"/>
            <a:ext cx="406989" cy="53413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104696" y="3868884"/>
            <a:ext cx="406989" cy="53413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67277" y="5000063"/>
            <a:ext cx="406989" cy="534138"/>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381000" y="2146016"/>
            <a:ext cx="11430000" cy="2344296"/>
            <a:chOff x="381000" y="2146016"/>
            <a:chExt cx="11430000" cy="2344296"/>
          </a:xfrm>
        </p:grpSpPr>
        <p:sp>
          <p:nvSpPr>
            <p:cNvPr id="4" name="矩形 3"/>
            <p:cNvSpPr>
              <a:spLocks noChangeAspect="1"/>
            </p:cNvSpPr>
            <p:nvPr/>
          </p:nvSpPr>
          <p:spPr>
            <a:xfrm>
              <a:off x="381000" y="2146016"/>
              <a:ext cx="11430000" cy="234429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若向量</a:t>
              </a:r>
              <a:r>
                <a:rPr lang="en-US" altLang="zh-CN" sz="2800" b="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l</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P</a:t>
              </a:r>
              <a:r>
                <a:rPr lang="en-US" altLang="zh-CN" sz="2800" dirty="0" err="1">
                  <a:solidFill>
                    <a:srgbClr val="000000"/>
                  </a:solidFill>
                  <a:effectLst/>
                  <a:latin typeface="Cambria Math" panose="02040503050406030204" pitchFamily="18" charset="0"/>
                  <a:ea typeface="NEU-BZ-S92"/>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的距离可以看成</a:t>
              </a:r>
              <a:r>
                <a:rPr lang="zh-CN" altLang="zh-CN" sz="2800" dirty="0" smtClean="0">
                  <a:solidFill>
                    <a:srgbClr val="000000"/>
                  </a:solidFill>
                  <a:latin typeface="Times New Roman" panose="02020603050405020304" pitchFamily="18" charset="0"/>
                  <a:cs typeface="Times New Roman" panose="02020603050405020304" pitchFamily="18" charset="0"/>
                </a:rPr>
                <a:t>是</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在</a:t>
              </a:r>
              <a:r>
                <a:rPr lang="en-US" altLang="zh-CN" sz="2800" b="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上的投影向量的长度</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77526220"/>
                </p:ext>
              </p:extLst>
            </p:nvPr>
          </p:nvGraphicFramePr>
          <p:xfrm>
            <a:off x="1466417" y="2790969"/>
            <a:ext cx="715962" cy="506413"/>
          </p:xfrm>
          <a:graphic>
            <a:graphicData uri="http://schemas.openxmlformats.org/presentationml/2006/ole">
              <mc:AlternateContent xmlns:mc="http://schemas.openxmlformats.org/markup-compatibility/2006">
                <mc:Choice xmlns:v="urn:schemas-microsoft-com:vml" Requires="v">
                  <p:oleObj spid="_x0000_s10270" name="文档" r:id="rId3" imgW="291923" imgH="201096" progId="Word.Document.12">
                    <p:embed/>
                  </p:oleObj>
                </mc:Choice>
                <mc:Fallback>
                  <p:oleObj name="文档" r:id="rId3" imgW="291923" imgH="201096" progId="Word.Document.12">
                    <p:embed/>
                    <p:pic>
                      <p:nvPicPr>
                        <p:cNvPr id="0" name=""/>
                        <p:cNvPicPr/>
                        <p:nvPr/>
                      </p:nvPicPr>
                      <p:blipFill>
                        <a:blip r:embed="rId4"/>
                        <a:stretch>
                          <a:fillRect/>
                        </a:stretch>
                      </p:blipFill>
                      <p:spPr>
                        <a:xfrm>
                          <a:off x="1466417" y="2790969"/>
                          <a:ext cx="715962" cy="506413"/>
                        </a:xfrm>
                        <a:prstGeom prst="rect">
                          <a:avLst/>
                        </a:prstGeom>
                      </p:spPr>
                    </p:pic>
                  </p:oleObj>
                </mc:Fallback>
              </mc:AlternateContent>
            </a:graphicData>
          </a:graphic>
        </p:graphicFrame>
      </p:grpSp>
      <p:sp>
        <p:nvSpPr>
          <p:cNvPr id="7" name="矩形 6"/>
          <p:cNvSpPr/>
          <p:nvPr/>
        </p:nvSpPr>
        <p:spPr>
          <a:xfrm>
            <a:off x="6101011" y="2811751"/>
            <a:ext cx="406989"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137129" y="3902798"/>
            <a:ext cx="476435" cy="48558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69671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专题</a:t>
            </a:r>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归纳 核心</a:t>
            </a:r>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突破</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空间向量的线性运算</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255426930"/>
              </p:ext>
            </p:extLst>
          </p:nvPr>
        </p:nvGraphicFramePr>
        <p:xfrm>
          <a:off x="381000" y="1029763"/>
          <a:ext cx="11430000" cy="3015855"/>
        </p:xfrm>
        <a:graphic>
          <a:graphicData uri="http://schemas.openxmlformats.org/presentationml/2006/ole">
            <mc:AlternateContent xmlns:mc="http://schemas.openxmlformats.org/markup-compatibility/2006">
              <mc:Choice xmlns:v="urn:schemas-microsoft-com:vml" Requires="v">
                <p:oleObj spid="_x0000_s11322" name="文档" r:id="rId3" imgW="4510061" imgH="1191801" progId="Word.Document.12">
                  <p:embed/>
                </p:oleObj>
              </mc:Choice>
              <mc:Fallback>
                <p:oleObj name="文档" r:id="rId3" imgW="4510061" imgH="1191801" progId="Word.Document.12">
                  <p:embed/>
                  <p:pic>
                    <p:nvPicPr>
                      <p:cNvPr id="0" name=""/>
                      <p:cNvPicPr/>
                      <p:nvPr/>
                    </p:nvPicPr>
                    <p:blipFill>
                      <a:blip r:embed="rId4"/>
                      <a:stretch>
                        <a:fillRect/>
                      </a:stretch>
                    </p:blipFill>
                    <p:spPr>
                      <a:xfrm>
                        <a:off x="381000" y="1029763"/>
                        <a:ext cx="11430000" cy="301585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994453399"/>
              </p:ext>
            </p:extLst>
          </p:nvPr>
        </p:nvGraphicFramePr>
        <p:xfrm>
          <a:off x="381000" y="3808645"/>
          <a:ext cx="11430000" cy="2010264"/>
        </p:xfrm>
        <a:graphic>
          <a:graphicData uri="http://schemas.openxmlformats.org/presentationml/2006/ole">
            <mc:AlternateContent xmlns:mc="http://schemas.openxmlformats.org/markup-compatibility/2006">
              <mc:Choice xmlns:v="urn:schemas-microsoft-com:vml" Requires="v">
                <p:oleObj spid="_x0000_s11323"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381000" y="3808645"/>
                        <a:ext cx="11430000" cy="2010264"/>
                      </a:xfrm>
                      <a:prstGeom prst="rect">
                        <a:avLst/>
                      </a:prstGeom>
                    </p:spPr>
                  </p:pic>
                </p:oleObj>
              </mc:Fallback>
            </mc:AlternateContent>
          </a:graphicData>
        </a:graphic>
      </p:graphicFrame>
      <p:pic>
        <p:nvPicPr>
          <p:cNvPr id="9" name="YMX1TRAX60.eps" descr="id:2147498050;FounderCES"/>
          <p:cNvPicPr/>
          <p:nvPr/>
        </p:nvPicPr>
        <p:blipFill>
          <a:blip r:embed="rId7">
            <a:clrChange>
              <a:clrFrom>
                <a:srgbClr val="FFFFFF"/>
              </a:clrFrom>
              <a:clrTo>
                <a:srgbClr val="FFFFFF">
                  <a:alpha val="0"/>
                </a:srgbClr>
              </a:clrTo>
            </a:clrChange>
          </a:blip>
          <a:stretch>
            <a:fillRect/>
          </a:stretch>
        </p:blipFill>
        <p:spPr>
          <a:xfrm>
            <a:off x="8157758" y="1633997"/>
            <a:ext cx="2305447" cy="221063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017359512"/>
              </p:ext>
            </p:extLst>
          </p:nvPr>
        </p:nvGraphicFramePr>
        <p:xfrm>
          <a:off x="38100" y="-17896"/>
          <a:ext cx="11430000" cy="6534044"/>
        </p:xfrm>
        <a:graphic>
          <a:graphicData uri="http://schemas.openxmlformats.org/presentationml/2006/ole">
            <mc:AlternateContent xmlns:mc="http://schemas.openxmlformats.org/markup-compatibility/2006">
              <mc:Choice xmlns:v="urn:schemas-microsoft-com:vml" Requires="v">
                <p:oleObj spid="_x0000_s12315" name="文档" r:id="rId3" imgW="4510061" imgH="2578210" progId="Word.Document.12">
                  <p:embed/>
                </p:oleObj>
              </mc:Choice>
              <mc:Fallback>
                <p:oleObj name="文档" r:id="rId3" imgW="4510061" imgH="2578210" progId="Word.Document.12">
                  <p:embed/>
                  <p:pic>
                    <p:nvPicPr>
                      <p:cNvPr id="0" name=""/>
                      <p:cNvPicPr/>
                      <p:nvPr/>
                    </p:nvPicPr>
                    <p:blipFill>
                      <a:blip r:embed="rId4"/>
                      <a:stretch>
                        <a:fillRect/>
                      </a:stretch>
                    </p:blipFill>
                    <p:spPr>
                      <a:xfrm>
                        <a:off x="38100" y="-17896"/>
                        <a:ext cx="11430000" cy="6534044"/>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869622"/>
            <a:ext cx="11430000" cy="177279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几何体中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根据图形的特点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选择公共起点最集中的向量中的三个不共面的向量作为基底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或选择有公共起点且关系最明确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如夹角或线段长度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的三个不共面的向量作为基底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这样更利于解题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利用空间向量解决平行与垂直问题</a:t>
                </a:r>
              </a:p>
            </p:txBody>
          </p:sp>
        </p:grpSp>
      </p:grpSp>
      <p:graphicFrame>
        <p:nvGraphicFramePr>
          <p:cNvPr id="4" name="对象 3"/>
          <p:cNvGraphicFramePr>
            <a:graphicFrameLocks noChangeAspect="1"/>
          </p:cNvGraphicFramePr>
          <p:nvPr>
            <p:extLst>
              <p:ext uri="{D42A27DB-BD31-4B8C-83A1-F6EECF244321}">
                <p14:modId xmlns:p14="http://schemas.microsoft.com/office/powerpoint/2010/main" val="971505247"/>
              </p:ext>
            </p:extLst>
          </p:nvPr>
        </p:nvGraphicFramePr>
        <p:xfrm>
          <a:off x="41566" y="3899630"/>
          <a:ext cx="11430000" cy="1809330"/>
        </p:xfrm>
        <a:graphic>
          <a:graphicData uri="http://schemas.openxmlformats.org/presentationml/2006/ole">
            <mc:AlternateContent xmlns:mc="http://schemas.openxmlformats.org/markup-compatibility/2006">
              <mc:Choice xmlns:v="urn:schemas-microsoft-com:vml" Requires="v">
                <p:oleObj spid="_x0000_s13339" name="文档" r:id="rId3" imgW="4510061" imgH="713927" progId="Word.Document.12">
                  <p:embed/>
                </p:oleObj>
              </mc:Choice>
              <mc:Fallback>
                <p:oleObj name="文档" r:id="rId3" imgW="4510061" imgH="713927" progId="Word.Document.12">
                  <p:embed/>
                  <p:pic>
                    <p:nvPicPr>
                      <p:cNvPr id="0" name=""/>
                      <p:cNvPicPr/>
                      <p:nvPr/>
                    </p:nvPicPr>
                    <p:blipFill>
                      <a:blip r:embed="rId4"/>
                      <a:stretch>
                        <a:fillRect/>
                      </a:stretch>
                    </p:blipFill>
                    <p:spPr>
                      <a:xfrm>
                        <a:off x="41566" y="3899630"/>
                        <a:ext cx="11430000" cy="1809330"/>
                      </a:xfrm>
                      <a:prstGeom prst="rect">
                        <a:avLst/>
                      </a:prstGeom>
                    </p:spPr>
                  </p:pic>
                </p:oleObj>
              </mc:Fallback>
            </mc:AlternateContent>
          </a:graphicData>
        </a:graphic>
      </p:graphicFrame>
      <p:grpSp>
        <p:nvGrpSpPr>
          <p:cNvPr id="5" name="组合 4"/>
          <p:cNvGrpSpPr/>
          <p:nvPr/>
        </p:nvGrpSpPr>
        <p:grpSpPr>
          <a:xfrm>
            <a:off x="381000" y="1049698"/>
            <a:ext cx="11580429" cy="2893100"/>
            <a:chOff x="381000" y="1049698"/>
            <a:chExt cx="11580429" cy="2893100"/>
          </a:xfrm>
        </p:grpSpPr>
        <p:sp>
          <p:nvSpPr>
            <p:cNvPr id="2" name="矩形 1"/>
            <p:cNvSpPr>
              <a:spLocks noChangeAspect="1"/>
            </p:cNvSpPr>
            <p:nvPr/>
          </p:nvSpPr>
          <p:spPr>
            <a:xfrm>
              <a:off x="381000" y="1049698"/>
              <a:ext cx="8627918" cy="2893100"/>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PA=AD=CD=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BM</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zh-CN" altLang="zh-CN" sz="2800" dirty="0">
                  <a:solidFill>
                    <a:srgbClr val="000000"/>
                  </a:solidFill>
                  <a:latin typeface="Times New Roman" panose="02020603050405020304" pitchFamily="18" charset="0"/>
                  <a:cs typeface="Times New Roman" panose="02020603050405020304" pitchFamily="18" charset="0"/>
                </a:rPr>
                <a:t>内是否存在一点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确定</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的位置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说明理由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4" name="YMX1TRAX62A.eps" descr="id:2147498064;FounderCES"/>
            <p:cNvPicPr/>
            <p:nvPr/>
          </p:nvPicPr>
          <p:blipFill>
            <a:blip r:embed="rId5">
              <a:clrChange>
                <a:clrFrom>
                  <a:srgbClr val="FFFFFF"/>
                </a:clrFrom>
                <a:clrTo>
                  <a:srgbClr val="FFFFFF">
                    <a:alpha val="0"/>
                  </a:srgbClr>
                </a:clrTo>
              </a:clrChange>
            </a:blip>
            <a:stretch>
              <a:fillRect/>
            </a:stretch>
          </p:blipFill>
          <p:spPr>
            <a:xfrm>
              <a:off x="9071264" y="1285707"/>
              <a:ext cx="2890165" cy="242108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8881" y="1015277"/>
            <a:ext cx="11829103" cy="3544883"/>
            <a:chOff x="58881" y="1243879"/>
            <a:chExt cx="11829103" cy="3544883"/>
          </a:xfrm>
        </p:grpSpPr>
        <p:sp>
          <p:nvSpPr>
            <p:cNvPr id="2" name="矩形 1"/>
            <p:cNvSpPr>
              <a:spLocks noChangeAspect="1"/>
            </p:cNvSpPr>
            <p:nvPr/>
          </p:nvSpPr>
          <p:spPr>
            <a:xfrm>
              <a:off x="381000" y="1243879"/>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(1,0,0),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(0,2,0),</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(2,2,0),</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(1,1,1)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08233945"/>
                </p:ext>
              </p:extLst>
            </p:nvPr>
          </p:nvGraphicFramePr>
          <p:xfrm>
            <a:off x="58881" y="2977994"/>
            <a:ext cx="11430000" cy="1206525"/>
          </p:xfrm>
          <a:graphic>
            <a:graphicData uri="http://schemas.openxmlformats.org/presentationml/2006/ole">
              <mc:AlternateContent xmlns:mc="http://schemas.openxmlformats.org/markup-compatibility/2006">
                <mc:Choice xmlns:v="urn:schemas-microsoft-com:vml" Requires="v">
                  <p:oleObj spid="_x0000_s14364" name="文档" r:id="rId3" imgW="4510061" imgH="476072" progId="Word.Document.12">
                    <p:embed/>
                  </p:oleObj>
                </mc:Choice>
                <mc:Fallback>
                  <p:oleObj name="文档" r:id="rId3" imgW="4510061" imgH="476072" progId="Word.Document.12">
                    <p:embed/>
                    <p:pic>
                      <p:nvPicPr>
                        <p:cNvPr id="0" name=""/>
                        <p:cNvPicPr/>
                        <p:nvPr/>
                      </p:nvPicPr>
                      <p:blipFill>
                        <a:blip r:embed="rId4"/>
                        <a:stretch>
                          <a:fillRect/>
                        </a:stretch>
                      </p:blipFill>
                      <p:spPr>
                        <a:xfrm>
                          <a:off x="58881" y="2977994"/>
                          <a:ext cx="11430000" cy="1206525"/>
                        </a:xfrm>
                        <a:prstGeom prst="rect">
                          <a:avLst/>
                        </a:prstGeom>
                      </p:spPr>
                    </p:pic>
                  </p:oleObj>
                </mc:Fallback>
              </mc:AlternateContent>
            </a:graphicData>
          </a:graphic>
        </p:graphicFrame>
        <p:sp>
          <p:nvSpPr>
            <p:cNvPr id="4" name="矩形 3"/>
            <p:cNvSpPr>
              <a:spLocks noChangeAspect="1"/>
            </p:cNvSpPr>
            <p:nvPr/>
          </p:nvSpPr>
          <p:spPr>
            <a:xfrm>
              <a:off x="381000" y="4136276"/>
              <a:ext cx="5861285"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BM</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BM</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YMX1TRAX62.eps" descr="id:2147498071;FounderCES"/>
            <p:cNvPicPr/>
            <p:nvPr/>
          </p:nvPicPr>
          <p:blipFill>
            <a:blip r:embed="rId5">
              <a:clrChange>
                <a:clrFrom>
                  <a:srgbClr val="FFFFFF"/>
                </a:clrFrom>
                <a:clrTo>
                  <a:srgbClr val="FFFFFF">
                    <a:alpha val="0"/>
                  </a:srgbClr>
                </a:clrTo>
              </a:clrChange>
            </a:blip>
            <a:stretch>
              <a:fillRect/>
            </a:stretch>
          </p:blipFill>
          <p:spPr>
            <a:xfrm>
              <a:off x="8709053" y="2022488"/>
              <a:ext cx="3178931" cy="2735101"/>
            </a:xfrm>
            <a:prstGeom prst="rect">
              <a:avLst/>
            </a:prstGeom>
          </p:spPr>
        </p:pic>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995607676"/>
              </p:ext>
            </p:extLst>
          </p:nvPr>
        </p:nvGraphicFramePr>
        <p:xfrm>
          <a:off x="41564" y="268260"/>
          <a:ext cx="11430000" cy="5931241"/>
        </p:xfrm>
        <a:graphic>
          <a:graphicData uri="http://schemas.openxmlformats.org/presentationml/2006/ole">
            <mc:AlternateContent xmlns:mc="http://schemas.openxmlformats.org/markup-compatibility/2006">
              <mc:Choice xmlns:v="urn:schemas-microsoft-com:vml" Requires="v">
                <p:oleObj spid="_x0000_s15386" name="文档" r:id="rId3" imgW="4510061" imgH="2340355" progId="Word.Document.12">
                  <p:embed/>
                </p:oleObj>
              </mc:Choice>
              <mc:Fallback>
                <p:oleObj name="文档" r:id="rId3" imgW="4510061" imgH="2340355" progId="Word.Document.12">
                  <p:embed/>
                  <p:pic>
                    <p:nvPicPr>
                      <p:cNvPr id="0" name=""/>
                      <p:cNvPicPr/>
                      <p:nvPr/>
                    </p:nvPicPr>
                    <p:blipFill>
                      <a:blip r:embed="rId4"/>
                      <a:stretch>
                        <a:fillRect/>
                      </a:stretch>
                    </p:blipFill>
                    <p:spPr>
                      <a:xfrm>
                        <a:off x="41564" y="268260"/>
                        <a:ext cx="11430000" cy="5931241"/>
                      </a:xfrm>
                      <a:prstGeom prst="rect">
                        <a:avLst/>
                      </a:prstGeom>
                    </p:spPr>
                  </p:pic>
                </p:oleObj>
              </mc:Fallback>
            </mc:AlternateContent>
          </a:graphicData>
        </a:graphic>
      </p:graphicFrame>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7117"/>
            <a:ext cx="11430000" cy="289310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判断直线与平面的位置关系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有两种思路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一是利用判定定理判断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二是转化为直线的方向向量与平面的法向量的关系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处理探究性问题的步骤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先假设存在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设出点的坐标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将条件转化为向量的运算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通过计算求变量的值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若能解出符合条件的变量的值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就存在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若解不出变量的值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就不存在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11940"/>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为矩形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PA=AD</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M</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PMC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PDC.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YMX1TRAX63.eps" descr="id:2147498085;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500322"/>
            <a:ext cx="3310864" cy="3400229"/>
          </a:xfrm>
          <a:prstGeom prst="rect">
            <a:avLst/>
          </a:prstGeom>
        </p:spPr>
      </p:pic>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64" y="242625"/>
            <a:ext cx="11779827" cy="5759692"/>
            <a:chOff x="41564" y="242625"/>
            <a:chExt cx="11779827" cy="5759692"/>
          </a:xfrm>
        </p:grpSpPr>
        <p:sp>
          <p:nvSpPr>
            <p:cNvPr id="2" name="矩形 1"/>
            <p:cNvSpPr>
              <a:spLocks noChangeAspect="1"/>
            </p:cNvSpPr>
            <p:nvPr/>
          </p:nvSpPr>
          <p:spPr>
            <a:xfrm>
              <a:off x="381000" y="242625"/>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PA=AD=</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01146338"/>
                </p:ext>
              </p:extLst>
            </p:nvPr>
          </p:nvGraphicFramePr>
          <p:xfrm>
            <a:off x="41564" y="2484125"/>
            <a:ext cx="11430000" cy="3518192"/>
          </p:xfrm>
          <a:graphic>
            <a:graphicData uri="http://schemas.openxmlformats.org/presentationml/2006/ole">
              <mc:AlternateContent xmlns:mc="http://schemas.openxmlformats.org/markup-compatibility/2006">
                <mc:Choice xmlns:v="urn:schemas-microsoft-com:vml" Requires="v">
                  <p:oleObj spid="_x0000_s16411"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41564" y="2484125"/>
                          <a:ext cx="11430000" cy="3518192"/>
                        </a:xfrm>
                        <a:prstGeom prst="rect">
                          <a:avLst/>
                        </a:prstGeom>
                      </p:spPr>
                    </p:pic>
                  </p:oleObj>
                </mc:Fallback>
              </mc:AlternateContent>
            </a:graphicData>
          </a:graphic>
        </p:graphicFrame>
        <p:pic>
          <p:nvPicPr>
            <p:cNvPr id="5" name="YMX1TRAX64.eps" descr="id:2147498092;FounderCES"/>
            <p:cNvPicPr/>
            <p:nvPr/>
          </p:nvPicPr>
          <p:blipFill>
            <a:blip r:embed="rId5">
              <a:clrChange>
                <a:clrFrom>
                  <a:srgbClr val="FFFFFF"/>
                </a:clrFrom>
                <a:clrTo>
                  <a:srgbClr val="FFFFFF">
                    <a:alpha val="0"/>
                  </a:srgbClr>
                </a:clrTo>
              </a:clrChange>
            </a:blip>
            <a:stretch>
              <a:fillRect/>
            </a:stretch>
          </p:blipFill>
          <p:spPr>
            <a:xfrm>
              <a:off x="8842655" y="2442304"/>
              <a:ext cx="2978736" cy="2940188"/>
            </a:xfrm>
            <a:prstGeom prst="rect">
              <a:avLst/>
            </a:prstGeom>
          </p:spPr>
        </p:pic>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25639079"/>
              </p:ext>
            </p:extLst>
          </p:nvPr>
        </p:nvGraphicFramePr>
        <p:xfrm>
          <a:off x="48491" y="1038365"/>
          <a:ext cx="11430000" cy="3518192"/>
        </p:xfrm>
        <a:graphic>
          <a:graphicData uri="http://schemas.openxmlformats.org/presentationml/2006/ole">
            <mc:AlternateContent xmlns:mc="http://schemas.openxmlformats.org/markup-compatibility/2006">
              <mc:Choice xmlns:v="urn:schemas-microsoft-com:vml" Requires="v">
                <p:oleObj spid="_x0000_s17435"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48491" y="1038365"/>
                        <a:ext cx="11430000" cy="3518192"/>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1955" y="-84510"/>
            <a:ext cx="11759045" cy="6547652"/>
            <a:chOff x="51955" y="-53337"/>
            <a:chExt cx="11759045" cy="6547652"/>
          </a:xfrm>
        </p:grpSpPr>
        <p:graphicFrame>
          <p:nvGraphicFramePr>
            <p:cNvPr id="4" name="对象 3"/>
            <p:cNvGraphicFramePr>
              <a:graphicFrameLocks noChangeAspect="1"/>
            </p:cNvGraphicFramePr>
            <p:nvPr>
              <p:extLst>
                <p:ext uri="{D42A27DB-BD31-4B8C-83A1-F6EECF244321}">
                  <p14:modId xmlns:p14="http://schemas.microsoft.com/office/powerpoint/2010/main" val="4065229602"/>
                </p:ext>
              </p:extLst>
            </p:nvPr>
          </p:nvGraphicFramePr>
          <p:xfrm>
            <a:off x="51955" y="-53337"/>
            <a:ext cx="11430000" cy="5327522"/>
          </p:xfrm>
          <a:graphic>
            <a:graphicData uri="http://schemas.openxmlformats.org/presentationml/2006/ole">
              <mc:AlternateContent xmlns:mc="http://schemas.openxmlformats.org/markup-compatibility/2006">
                <mc:Choice xmlns:v="urn:schemas-microsoft-com:vml" Requires="v">
                  <p:oleObj spid="_x0000_s18458" name="文档" r:id="rId3" imgW="4510061" imgH="2102139" progId="Word.Document.12">
                    <p:embed/>
                  </p:oleObj>
                </mc:Choice>
                <mc:Fallback>
                  <p:oleObj name="文档" r:id="rId3" imgW="4510061" imgH="2102139" progId="Word.Document.12">
                    <p:embed/>
                    <p:pic>
                      <p:nvPicPr>
                        <p:cNvPr id="0" name=""/>
                        <p:cNvPicPr/>
                        <p:nvPr/>
                      </p:nvPicPr>
                      <p:blipFill>
                        <a:blip r:embed="rId4"/>
                        <a:stretch>
                          <a:fillRect/>
                        </a:stretch>
                      </p:blipFill>
                      <p:spPr>
                        <a:xfrm>
                          <a:off x="51955" y="-53337"/>
                          <a:ext cx="11430000" cy="5327522"/>
                        </a:xfrm>
                        <a:prstGeom prst="rect">
                          <a:avLst/>
                        </a:prstGeom>
                      </p:spPr>
                    </p:pic>
                  </p:oleObj>
                </mc:Fallback>
              </mc:AlternateContent>
            </a:graphicData>
          </a:graphic>
        </p:graphicFrame>
        <p:sp>
          <p:nvSpPr>
            <p:cNvPr id="5" name="矩形 4"/>
            <p:cNvSpPr>
              <a:spLocks noChangeAspect="1"/>
            </p:cNvSpPr>
            <p:nvPr/>
          </p:nvSpPr>
          <p:spPr>
            <a:xfrm>
              <a:off x="381000" y="534194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可取</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(0,1,1)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PMC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PDC.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利用空间向量解决距离问题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51662075"/>
              </p:ext>
            </p:extLst>
          </p:nvPr>
        </p:nvGraphicFramePr>
        <p:xfrm>
          <a:off x="381000" y="525894"/>
          <a:ext cx="11430000" cy="1507927"/>
        </p:xfrm>
        <a:graphic>
          <a:graphicData uri="http://schemas.openxmlformats.org/presentationml/2006/ole">
            <mc:AlternateContent xmlns:mc="http://schemas.openxmlformats.org/markup-compatibility/2006">
              <mc:Choice xmlns:v="urn:schemas-microsoft-com:vml" Requires="v">
                <p:oleObj spid="_x0000_s19481"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525894"/>
                        <a:ext cx="11430000" cy="1507927"/>
                      </a:xfrm>
                      <a:prstGeom prst="rect">
                        <a:avLst/>
                      </a:prstGeom>
                    </p:spPr>
                  </p:pic>
                </p:oleObj>
              </mc:Fallback>
            </mc:AlternateContent>
          </a:graphicData>
        </a:graphic>
      </p:graphicFrame>
      <p:sp>
        <p:nvSpPr>
          <p:cNvPr id="3" name="矩形 2"/>
          <p:cNvSpPr>
            <a:spLocks noChangeAspect="1"/>
          </p:cNvSpPr>
          <p:nvPr/>
        </p:nvSpPr>
        <p:spPr>
          <a:xfrm>
            <a:off x="381000" y="4332745"/>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PCF</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计算点到平面的距离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先证明</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再转化为点到平面的距离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4" name="YMX1TRAX65.eps" descr="id:2147498099;FounderCES"/>
          <p:cNvPicPr>
            <a:picLocks noChangeAspect="1"/>
          </p:cNvPicPr>
          <p:nvPr/>
        </p:nvPicPr>
        <p:blipFill>
          <a:blip r:embed="rId5">
            <a:clrChange>
              <a:clrFrom>
                <a:srgbClr val="FFFFFF"/>
              </a:clrFrom>
              <a:clrTo>
                <a:srgbClr val="FFFFFF">
                  <a:alpha val="0"/>
                </a:srgbClr>
              </a:clrTo>
            </a:clrChange>
          </a:blip>
          <a:stretch>
            <a:fillRect/>
          </a:stretch>
        </p:blipFill>
        <p:spPr>
          <a:xfrm>
            <a:off x="3743564" y="2088916"/>
            <a:ext cx="4704873" cy="222758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1564" y="213011"/>
            <a:ext cx="11769436" cy="5746320"/>
            <a:chOff x="41564" y="337703"/>
            <a:chExt cx="11769436" cy="5746320"/>
          </a:xfrm>
        </p:grpSpPr>
        <p:sp>
          <p:nvSpPr>
            <p:cNvPr id="2" name="矩形 1"/>
            <p:cNvSpPr>
              <a:spLocks noChangeAspect="1"/>
            </p:cNvSpPr>
            <p:nvPr/>
          </p:nvSpPr>
          <p:spPr>
            <a:xfrm>
              <a:off x="381000" y="337703"/>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i="1" dirty="0">
                  <a:solidFill>
                    <a:srgbClr val="000000"/>
                  </a:solidFill>
                  <a:latin typeface="Times New Roman" panose="02020603050405020304" pitchFamily="18" charset="0"/>
                  <a:cs typeface="Times New Roman" panose="02020603050405020304" pitchFamily="18" charset="0"/>
                </a:rPr>
                <a:t>AP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236956669"/>
                </p:ext>
              </p:extLst>
            </p:nvPr>
          </p:nvGraphicFramePr>
          <p:xfrm>
            <a:off x="41564" y="2565831"/>
            <a:ext cx="11430000" cy="3518192"/>
          </p:xfrm>
          <a:graphic>
            <a:graphicData uri="http://schemas.openxmlformats.org/presentationml/2006/ole">
              <mc:AlternateContent xmlns:mc="http://schemas.openxmlformats.org/markup-compatibility/2006">
                <mc:Choice xmlns:v="urn:schemas-microsoft-com:vml" Requires="v">
                  <p:oleObj spid="_x0000_s20506"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41564" y="2565831"/>
                          <a:ext cx="11430000" cy="3518192"/>
                        </a:xfrm>
                        <a:prstGeom prst="rect">
                          <a:avLst/>
                        </a:prstGeom>
                      </p:spPr>
                    </p:pic>
                  </p:oleObj>
                </mc:Fallback>
              </mc:AlternateContent>
            </a:graphicData>
          </a:graphic>
        </p:graphicFrame>
        <p:pic>
          <p:nvPicPr>
            <p:cNvPr id="8" name="YMX1TRAX66.eps" descr="id:2147498106;FounderCES"/>
            <p:cNvPicPr/>
            <p:nvPr/>
          </p:nvPicPr>
          <p:blipFill>
            <a:blip r:embed="rId5">
              <a:clrChange>
                <a:clrFrom>
                  <a:srgbClr val="FFFFFF"/>
                </a:clrFrom>
                <a:clrTo>
                  <a:srgbClr val="FFFFFF">
                    <a:alpha val="0"/>
                  </a:srgbClr>
                </a:clrTo>
              </a:clrChange>
            </a:blip>
            <a:stretch>
              <a:fillRect/>
            </a:stretch>
          </p:blipFill>
          <p:spPr>
            <a:xfrm>
              <a:off x="6839008" y="2190491"/>
              <a:ext cx="4505385" cy="2381510"/>
            </a:xfrm>
            <a:prstGeom prst="rect">
              <a:avLst/>
            </a:prstGeom>
          </p:spPr>
        </p:pic>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4" y="1551465"/>
            <a:ext cx="11430000" cy="3585200"/>
            <a:chOff x="41564" y="1551465"/>
            <a:chExt cx="11430000" cy="3585200"/>
          </a:xfrm>
        </p:grpSpPr>
        <p:sp>
          <p:nvSpPr>
            <p:cNvPr id="2" name="矩形 1"/>
            <p:cNvSpPr>
              <a:spLocks noChangeAspect="1"/>
            </p:cNvSpPr>
            <p:nvPr/>
          </p:nvSpPr>
          <p:spPr>
            <a:xfrm>
              <a:off x="381000" y="1551465"/>
              <a:ext cx="5516254"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设平面</a:t>
              </a:r>
              <a:r>
                <a:rPr lang="en-US" altLang="zh-CN" sz="2800" i="1" dirty="0">
                  <a:solidFill>
                    <a:srgbClr val="000000"/>
                  </a:solidFill>
                  <a:latin typeface="Times New Roman" panose="02020603050405020304" pitchFamily="18" charset="0"/>
                  <a:cs typeface="Times New Roman" panose="02020603050405020304" pitchFamily="18" charset="0"/>
                </a:rPr>
                <a:t>PCF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26147452"/>
                </p:ext>
              </p:extLst>
            </p:nvPr>
          </p:nvGraphicFramePr>
          <p:xfrm>
            <a:off x="41564" y="2120810"/>
            <a:ext cx="11430000" cy="3015855"/>
          </p:xfrm>
          <a:graphic>
            <a:graphicData uri="http://schemas.openxmlformats.org/presentationml/2006/ole">
              <mc:AlternateContent xmlns:mc="http://schemas.openxmlformats.org/markup-compatibility/2006">
                <mc:Choice xmlns:v="urn:schemas-microsoft-com:vml" Requires="v">
                  <p:oleObj spid="_x0000_s21529"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41564" y="2120810"/>
                          <a:ext cx="11430000" cy="3015855"/>
                        </a:xfrm>
                        <a:prstGeom prst="rect">
                          <a:avLst/>
                        </a:prstGeom>
                      </p:spPr>
                    </p:pic>
                  </p:oleObj>
                </mc:Fallback>
              </mc:AlternateContent>
            </a:graphicData>
          </a:graphic>
        </p:graphicFrame>
      </p:gr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564" y="-71676"/>
            <a:ext cx="11769436" cy="6503645"/>
            <a:chOff x="41564" y="-71676"/>
            <a:chExt cx="11769436" cy="6503645"/>
          </a:xfrm>
        </p:grpSpPr>
        <p:graphicFrame>
          <p:nvGraphicFramePr>
            <p:cNvPr id="2" name="对象 1"/>
            <p:cNvGraphicFramePr>
              <a:graphicFrameLocks noChangeAspect="1"/>
            </p:cNvGraphicFramePr>
            <p:nvPr>
              <p:extLst>
                <p:ext uri="{D42A27DB-BD31-4B8C-83A1-F6EECF244321}">
                  <p14:modId xmlns:p14="http://schemas.microsoft.com/office/powerpoint/2010/main" val="453982587"/>
                </p:ext>
              </p:extLst>
            </p:nvPr>
          </p:nvGraphicFramePr>
          <p:xfrm>
            <a:off x="41564" y="-71676"/>
            <a:ext cx="11430000" cy="3015855"/>
          </p:xfrm>
          <a:graphic>
            <a:graphicData uri="http://schemas.openxmlformats.org/presentationml/2006/ole">
              <mc:AlternateContent xmlns:mc="http://schemas.openxmlformats.org/markup-compatibility/2006">
                <mc:Choice xmlns:v="urn:schemas-microsoft-com:vml" Requires="v">
                  <p:oleObj spid="_x0000_s22576"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41564" y="-71676"/>
                          <a:ext cx="11430000" cy="3015855"/>
                        </a:xfrm>
                        <a:prstGeom prst="rect">
                          <a:avLst/>
                        </a:prstGeom>
                      </p:spPr>
                    </p:pic>
                  </p:oleObj>
                </mc:Fallback>
              </mc:AlternateContent>
            </a:graphicData>
          </a:graphic>
        </p:graphicFrame>
        <p:sp>
          <p:nvSpPr>
            <p:cNvPr id="3" name="矩形 2"/>
            <p:cNvSpPr>
              <a:spLocks noChangeAspect="1"/>
            </p:cNvSpPr>
            <p:nvPr/>
          </p:nvSpPr>
          <p:spPr>
            <a:xfrm>
              <a:off x="381000" y="2753325"/>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的距离即为点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2345829"/>
                </p:ext>
              </p:extLst>
            </p:nvPr>
          </p:nvGraphicFramePr>
          <p:xfrm>
            <a:off x="41564" y="4421705"/>
            <a:ext cx="11430000" cy="2010264"/>
          </p:xfrm>
          <a:graphic>
            <a:graphicData uri="http://schemas.openxmlformats.org/presentationml/2006/ole">
              <mc:AlternateContent xmlns:mc="http://schemas.openxmlformats.org/markup-compatibility/2006">
                <mc:Choice xmlns:v="urn:schemas-microsoft-com:vml" Requires="v">
                  <p:oleObj spid="_x0000_s22577"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41564" y="4421705"/>
                          <a:ext cx="11430000" cy="2010264"/>
                        </a:xfrm>
                        <a:prstGeom prst="rect">
                          <a:avLst/>
                        </a:prstGeom>
                      </p:spPr>
                    </p:pic>
                  </p:oleObj>
                </mc:Fallback>
              </mc:AlternateContent>
            </a:graphicData>
          </a:graphic>
        </p:graphicFrame>
      </p:gr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1497"/>
            <a:ext cx="11430000" cy="233294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求点到平面的距离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常利用向量法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转化为平面外一点与平面内一点构成的向量在平面的法向量方向上的投影向量的长度</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求直线到平面的距离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往往转化为点到平面的距离求解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且这个点要适当选取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易于求解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5559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在长方体</a:t>
            </a:r>
            <a:r>
              <a:rPr lang="en-US" altLang="zh-CN" sz="2800" i="1" dirty="0">
                <a:solidFill>
                  <a:srgbClr val="000000"/>
                </a:solidFill>
                <a:latin typeface="Times New Roman" panose="02020603050405020304" pitchFamily="18" charset="0"/>
                <a:cs typeface="Times New Roman" panose="02020603050405020304" pitchFamily="18" charset="0"/>
              </a:rPr>
              <a:t>ABCD-A'B'C'D'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YMX1TRAX67.eps" descr="id:2147498120;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750535"/>
            <a:ext cx="3310864" cy="3777183"/>
          </a:xfrm>
          <a:prstGeom prst="rect">
            <a:avLst/>
          </a:prstGeom>
        </p:spPr>
      </p:pic>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564" y="487483"/>
            <a:ext cx="11430000" cy="4601192"/>
            <a:chOff x="41564" y="487483"/>
            <a:chExt cx="11430000" cy="4601192"/>
          </a:xfrm>
        </p:grpSpPr>
        <p:sp>
          <p:nvSpPr>
            <p:cNvPr id="2" name="矩形 1"/>
            <p:cNvSpPr>
              <a:spLocks noChangeAspect="1"/>
            </p:cNvSpPr>
            <p:nvPr/>
          </p:nvSpPr>
          <p:spPr>
            <a:xfrm>
              <a:off x="381000" y="487483"/>
              <a:ext cx="4681090"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61724324"/>
                </p:ext>
              </p:extLst>
            </p:nvPr>
          </p:nvGraphicFramePr>
          <p:xfrm>
            <a:off x="41564" y="1067232"/>
            <a:ext cx="11430000" cy="4021443"/>
          </p:xfrm>
          <a:graphic>
            <a:graphicData uri="http://schemas.openxmlformats.org/presentationml/2006/ole">
              <mc:AlternateContent xmlns:mc="http://schemas.openxmlformats.org/markup-compatibility/2006">
                <mc:Choice xmlns:v="urn:schemas-microsoft-com:vml" Requires="v">
                  <p:oleObj spid="_x0000_s23600"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1564" y="1067232"/>
                          <a:ext cx="11430000" cy="4021443"/>
                        </a:xfrm>
                        <a:prstGeom prst="rect">
                          <a:avLst/>
                        </a:prstGeom>
                      </p:spPr>
                    </p:pic>
                  </p:oleObj>
                </mc:Fallback>
              </mc:AlternateContent>
            </a:graphicData>
          </a:graphic>
        </p:graphicFrame>
      </p:grpSp>
      <p:graphicFrame>
        <p:nvGraphicFramePr>
          <p:cNvPr id="4" name="对象 3"/>
          <p:cNvGraphicFramePr>
            <a:graphicFrameLocks noChangeAspect="1"/>
          </p:cNvGraphicFramePr>
          <p:nvPr>
            <p:extLst>
              <p:ext uri="{D42A27DB-BD31-4B8C-83A1-F6EECF244321}">
                <p14:modId xmlns:p14="http://schemas.microsoft.com/office/powerpoint/2010/main" val="1191390304"/>
              </p:ext>
            </p:extLst>
          </p:nvPr>
        </p:nvGraphicFramePr>
        <p:xfrm>
          <a:off x="41564" y="4970566"/>
          <a:ext cx="11430000" cy="1005588"/>
        </p:xfrm>
        <a:graphic>
          <a:graphicData uri="http://schemas.openxmlformats.org/presentationml/2006/ole">
            <mc:AlternateContent xmlns:mc="http://schemas.openxmlformats.org/markup-compatibility/2006">
              <mc:Choice xmlns:v="urn:schemas-microsoft-com:vml" Requires="v">
                <p:oleObj spid="_x0000_s2360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1564" y="4970566"/>
                        <a:ext cx="11430000" cy="1005588"/>
                      </a:xfrm>
                      <a:prstGeom prst="rect">
                        <a:avLst/>
                      </a:prstGeom>
                    </p:spPr>
                  </p:pic>
                </p:oleObj>
              </mc:Fallback>
            </mc:AlternateContent>
          </a:graphicData>
        </a:graphic>
      </p:graphicFrame>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专题四</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利用空间向量解决夹角问题</a:t>
                </a:r>
              </a:p>
            </p:txBody>
          </p:sp>
        </p:grpSp>
      </p:grpSp>
      <p:sp>
        <p:nvSpPr>
          <p:cNvPr id="7" name="矩形 6"/>
          <p:cNvSpPr>
            <a:spLocks noChangeAspect="1"/>
          </p:cNvSpPr>
          <p:nvPr/>
        </p:nvSpPr>
        <p:spPr>
          <a:xfrm>
            <a:off x="381000" y="591536"/>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smtClean="0">
                <a:solidFill>
                  <a:srgbClr val="000000"/>
                </a:solidFill>
                <a:latin typeface="Times New Roman" panose="02020603050405020304" pitchFamily="18" charset="0"/>
                <a:cs typeface="Times New Roman" panose="02020603050405020304" pitchFamily="18" charset="0"/>
              </a:rPr>
              <a:t>4</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在长方体</a:t>
            </a:r>
            <a:r>
              <a:rPr lang="en-US" altLang="zh-CN" sz="2800" i="1" dirty="0" smtClean="0">
                <a:solidFill>
                  <a:srgbClr val="000000"/>
                </a:solidFill>
                <a:latin typeface="Times New Roman" panose="02020603050405020304" pitchFamily="18" charset="0"/>
                <a:cs typeface="Times New Roman" panose="02020603050405020304" pitchFamily="18" charset="0"/>
              </a:rPr>
              <a:t>ABCD-A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zh-CN" altLang="zh-CN" sz="2800" dirty="0" smtClean="0">
                <a:solidFill>
                  <a:srgbClr val="000000"/>
                </a:solidFill>
                <a:latin typeface="Times New Roman" panose="02020603050405020304" pitchFamily="18" charset="0"/>
                <a:cs typeface="Times New Roman" panose="02020603050405020304" pitchFamily="18" charset="0"/>
              </a:rPr>
              <a:t>中</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AB=</a:t>
            </a:r>
            <a:r>
              <a:rPr lang="en-US" altLang="zh-CN" sz="2800" dirty="0" smtClean="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AD=</a:t>
            </a:r>
            <a:r>
              <a:rPr lang="en-US" altLang="zh-CN" sz="2800" dirty="0" smtClean="0">
                <a:solidFill>
                  <a:srgbClr val="000000"/>
                </a:solidFill>
                <a:latin typeface="Times New Roman" panose="02020603050405020304" pitchFamily="18" charset="0"/>
                <a:cs typeface="Times New Roman" panose="02020603050405020304" pitchFamily="18" charset="0"/>
              </a:rPr>
              <a:t>8,</a:t>
            </a:r>
            <a:r>
              <a:rPr lang="en-US" altLang="zh-CN" sz="2800" i="1" dirty="0" smtClean="0">
                <a:solidFill>
                  <a:srgbClr val="000000"/>
                </a:solidFill>
                <a:latin typeface="Times New Roman" panose="02020603050405020304" pitchFamily="18" charset="0"/>
                <a:cs typeface="Times New Roman" panose="02020603050405020304" pitchFamily="18" charset="0"/>
              </a:rPr>
              <a:t>AA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M</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zh-CN" altLang="zh-CN" sz="2800" dirty="0" smtClean="0">
                <a:solidFill>
                  <a:srgbClr val="000000"/>
                </a:solidFill>
                <a:latin typeface="Times New Roman" panose="02020603050405020304" pitchFamily="18" charset="0"/>
                <a:cs typeface="Times New Roman" panose="02020603050405020304" pitchFamily="18" charset="0"/>
              </a:rPr>
              <a:t>上一点</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且</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M=</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zh-CN" altLang="zh-CN" sz="2800" dirty="0" smtClean="0">
                <a:solidFill>
                  <a:srgbClr val="000000"/>
                </a:solidFill>
                <a:latin typeface="Times New Roman" panose="02020603050405020304" pitchFamily="18" charset="0"/>
                <a:cs typeface="Times New Roman" panose="02020603050405020304" pitchFamily="18" charset="0"/>
              </a:rPr>
              <a:t>点</a:t>
            </a:r>
            <a:r>
              <a:rPr lang="en-US" altLang="zh-CN" sz="2800" i="1" dirty="0" smtClean="0">
                <a:solidFill>
                  <a:srgbClr val="000000"/>
                </a:solidFill>
                <a:latin typeface="Times New Roman" panose="02020603050405020304" pitchFamily="18" charset="0"/>
                <a:cs typeface="Times New Roman" panose="02020603050405020304" pitchFamily="18" charset="0"/>
              </a:rPr>
              <a:t>N</a:t>
            </a:r>
            <a:r>
              <a:rPr lang="zh-CN" altLang="zh-CN" sz="2800" dirty="0" smtClean="0">
                <a:solidFill>
                  <a:srgbClr val="000000"/>
                </a:solidFill>
                <a:latin typeface="Times New Roman" panose="02020603050405020304" pitchFamily="18" charset="0"/>
                <a:cs typeface="Times New Roman" panose="02020603050405020304" pitchFamily="18" charset="0"/>
              </a:rPr>
              <a:t>在线段</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zh-CN" altLang="zh-CN" sz="2800" dirty="0" smtClean="0">
                <a:solidFill>
                  <a:srgbClr val="000000"/>
                </a:solidFill>
                <a:latin typeface="Times New Roman" panose="02020603050405020304" pitchFamily="18" charset="0"/>
                <a:cs typeface="Times New Roman" panose="02020603050405020304" pitchFamily="18" charset="0"/>
              </a:rPr>
              <a:t>上</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zh-CN" altLang="zh-CN" sz="2800" dirty="0" smtClean="0">
                <a:solidFill>
                  <a:srgbClr val="000000"/>
                </a:solidFill>
                <a:latin typeface="NEU-BZ-S92"/>
                <a:cs typeface="宋体" panose="02010600030101010101" pitchFamily="2" charset="-122"/>
              </a:rPr>
              <a:t>⊥</a:t>
            </a:r>
            <a:r>
              <a:rPr lang="en-US" altLang="zh-CN" sz="2800" i="1" dirty="0" smtClean="0">
                <a:solidFill>
                  <a:srgbClr val="000000"/>
                </a:solidFill>
                <a:latin typeface="Times New Roman" panose="02020603050405020304" pitchFamily="18" charset="0"/>
                <a:cs typeface="Times New Roman" panose="02020603050405020304" pitchFamily="18" charset="0"/>
              </a:rPr>
              <a:t>AN.</a:t>
            </a:r>
            <a:r>
              <a:rPr lang="zh-CN" altLang="zh-CN" sz="2800" dirty="0" smtClean="0">
                <a:solidFill>
                  <a:srgbClr val="000000"/>
                </a:solidFill>
                <a:latin typeface="Times New Roman" panose="02020603050405020304" pitchFamily="18" charset="0"/>
                <a:cs typeface="Times New Roman" panose="02020603050405020304" pitchFamily="18" charset="0"/>
              </a:rPr>
              <a:t>求</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344963236"/>
              </p:ext>
            </p:extLst>
          </p:nvPr>
        </p:nvGraphicFramePr>
        <p:xfrm>
          <a:off x="48490" y="4289681"/>
          <a:ext cx="11430000" cy="502338"/>
        </p:xfrm>
        <a:graphic>
          <a:graphicData uri="http://schemas.openxmlformats.org/presentationml/2006/ole">
            <mc:AlternateContent xmlns:mc="http://schemas.openxmlformats.org/markup-compatibility/2006">
              <mc:Choice xmlns:v="urn:schemas-microsoft-com:vml" Requires="v">
                <p:oleObj spid="_x0000_s24602"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48490" y="4289681"/>
                        <a:ext cx="11430000" cy="502338"/>
                      </a:xfrm>
                      <a:prstGeom prst="rect">
                        <a:avLst/>
                      </a:prstGeom>
                    </p:spPr>
                  </p:pic>
                </p:oleObj>
              </mc:Fallback>
            </mc:AlternateContent>
          </a:graphicData>
        </a:graphic>
      </p:graphicFrame>
      <p:sp>
        <p:nvSpPr>
          <p:cNvPr id="9" name="矩形 8"/>
          <p:cNvSpPr>
            <a:spLocks noChangeAspect="1"/>
          </p:cNvSpPr>
          <p:nvPr/>
        </p:nvSpPr>
        <p:spPr>
          <a:xfrm>
            <a:off x="381000" y="4822450"/>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ANM</a:t>
            </a:r>
            <a:r>
              <a:rPr lang="zh-CN" altLang="zh-CN" sz="2800" dirty="0">
                <a:solidFill>
                  <a:srgbClr val="000000"/>
                </a:solidFill>
                <a:latin typeface="Times New Roman" panose="02020603050405020304" pitchFamily="18" charset="0"/>
                <a:cs typeface="Times New Roman" panose="02020603050405020304" pitchFamily="18" charset="0"/>
              </a:rPr>
              <a:t>所成角的正弦值</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ANM</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夹角的余弦值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写相关点的坐标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求法向量及方向向量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求向量的夹角</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0" name="YMX1TRAX68.eps" descr="id:2147498127;FounderCES"/>
          <p:cNvPicPr>
            <a:picLocks noChangeAspect="1"/>
          </p:cNvPicPr>
          <p:nvPr/>
        </p:nvPicPr>
        <p:blipFill>
          <a:blip r:embed="rId5">
            <a:clrChange>
              <a:clrFrom>
                <a:srgbClr val="FFFFFF"/>
              </a:clrFrom>
              <a:clrTo>
                <a:srgbClr val="FFFFFF">
                  <a:alpha val="0"/>
                </a:srgbClr>
              </a:clrTo>
            </a:clrChange>
          </a:blip>
          <a:stretch>
            <a:fillRect/>
          </a:stretch>
        </p:blipFill>
        <p:spPr>
          <a:xfrm>
            <a:off x="4092928" y="1833442"/>
            <a:ext cx="4006145" cy="2568376"/>
          </a:xfrm>
          <a:prstGeom prst="rect">
            <a:avLst/>
          </a:prstGeom>
        </p:spPr>
      </p:pic>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wipe(down)">
                                      <p:cBhvr>
                                        <p:cTn id="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8490" y="985917"/>
            <a:ext cx="11762510" cy="4147440"/>
            <a:chOff x="48490" y="1245692"/>
            <a:chExt cx="11762510" cy="4147440"/>
          </a:xfrm>
        </p:grpSpPr>
        <p:sp>
          <p:nvSpPr>
            <p:cNvPr id="2" name="矩形 1"/>
            <p:cNvSpPr>
              <a:spLocks noChangeAspect="1"/>
            </p:cNvSpPr>
            <p:nvPr/>
          </p:nvSpPr>
          <p:spPr>
            <a:xfrm>
              <a:off x="381000" y="124569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(0,8,0),</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(5,2,4),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62914916"/>
                </p:ext>
              </p:extLst>
            </p:nvPr>
          </p:nvGraphicFramePr>
          <p:xfrm>
            <a:off x="48490" y="2377277"/>
            <a:ext cx="11430000" cy="3015855"/>
          </p:xfrm>
          <a:graphic>
            <a:graphicData uri="http://schemas.openxmlformats.org/presentationml/2006/ole">
              <mc:AlternateContent xmlns:mc="http://schemas.openxmlformats.org/markup-compatibility/2006">
                <mc:Choice xmlns:v="urn:schemas-microsoft-com:vml" Requires="v">
                  <p:oleObj spid="_x0000_s25624"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48490" y="2377277"/>
                          <a:ext cx="11430000" cy="3015855"/>
                        </a:xfrm>
                        <a:prstGeom prst="rect">
                          <a:avLst/>
                        </a:prstGeom>
                      </p:spPr>
                    </p:pic>
                  </p:oleObj>
                </mc:Fallback>
              </mc:AlternateContent>
            </a:graphicData>
          </a:graphic>
        </p:graphicFrame>
        <p:pic>
          <p:nvPicPr>
            <p:cNvPr id="4" name="YMX1TRAX69.eps" descr="id:2147498134;FounderCES"/>
            <p:cNvPicPr/>
            <p:nvPr/>
          </p:nvPicPr>
          <p:blipFill>
            <a:blip r:embed="rId5">
              <a:clrChange>
                <a:clrFrom>
                  <a:srgbClr val="FFFFFF"/>
                </a:clrFrom>
                <a:clrTo>
                  <a:srgbClr val="FFFFFF">
                    <a:alpha val="0"/>
                  </a:srgbClr>
                </a:clrTo>
              </a:clrChange>
            </a:blip>
            <a:stretch>
              <a:fillRect/>
            </a:stretch>
          </p:blipFill>
          <p:spPr>
            <a:xfrm>
              <a:off x="7338030" y="2165866"/>
              <a:ext cx="3974840" cy="2727556"/>
            </a:xfrm>
            <a:prstGeom prst="rect">
              <a:avLst/>
            </a:prstGeom>
          </p:spPr>
        </p:pic>
      </p:gr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4" y="167921"/>
            <a:ext cx="11769436" cy="6140130"/>
            <a:chOff x="41564" y="167921"/>
            <a:chExt cx="11769436" cy="6140130"/>
          </a:xfrm>
        </p:grpSpPr>
        <p:sp>
          <p:nvSpPr>
            <p:cNvPr id="2" name="矩形 1"/>
            <p:cNvSpPr>
              <a:spLocks noChangeAspect="1"/>
            </p:cNvSpPr>
            <p:nvPr/>
          </p:nvSpPr>
          <p:spPr>
            <a:xfrm>
              <a:off x="381000" y="167921"/>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AN=A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ANM.</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79863453"/>
                </p:ext>
              </p:extLst>
            </p:nvPr>
          </p:nvGraphicFramePr>
          <p:xfrm>
            <a:off x="41564" y="1281932"/>
            <a:ext cx="11430000" cy="5026119"/>
          </p:xfrm>
          <a:graphic>
            <a:graphicData uri="http://schemas.openxmlformats.org/presentationml/2006/ole">
              <mc:AlternateContent xmlns:mc="http://schemas.openxmlformats.org/markup-compatibility/2006">
                <mc:Choice xmlns:v="urn:schemas-microsoft-com:vml" Requires="v">
                  <p:oleObj spid="_x0000_s26647"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41564" y="1281932"/>
                          <a:ext cx="11430000" cy="5026119"/>
                        </a:xfrm>
                        <a:prstGeom prst="rect">
                          <a:avLst/>
                        </a:prstGeom>
                      </p:spPr>
                    </p:pic>
                  </p:oleObj>
                </mc:Fallback>
              </mc:AlternateContent>
            </a:graphicData>
          </a:graphic>
        </p:graphicFrame>
      </p:gr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4" y="-139840"/>
            <a:ext cx="11769436" cy="6722400"/>
            <a:chOff x="41564" y="-129449"/>
            <a:chExt cx="11769436" cy="6722400"/>
          </a:xfrm>
        </p:grpSpPr>
        <p:graphicFrame>
          <p:nvGraphicFramePr>
            <p:cNvPr id="2" name="对象 1"/>
            <p:cNvGraphicFramePr>
              <a:graphicFrameLocks noChangeAspect="1"/>
            </p:cNvGraphicFramePr>
            <p:nvPr>
              <p:extLst>
                <p:ext uri="{D42A27DB-BD31-4B8C-83A1-F6EECF244321}">
                  <p14:modId xmlns:p14="http://schemas.microsoft.com/office/powerpoint/2010/main" val="1345823374"/>
                </p:ext>
              </p:extLst>
            </p:nvPr>
          </p:nvGraphicFramePr>
          <p:xfrm>
            <a:off x="41564" y="-129449"/>
            <a:ext cx="11430000" cy="4523781"/>
          </p:xfrm>
          <a:graphic>
            <a:graphicData uri="http://schemas.openxmlformats.org/presentationml/2006/ole">
              <mc:AlternateContent xmlns:mc="http://schemas.openxmlformats.org/markup-compatibility/2006">
                <mc:Choice xmlns:v="urn:schemas-microsoft-com:vml" Requires="v">
                  <p:oleObj spid="_x0000_s27672"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1564" y="-129449"/>
                          <a:ext cx="11430000" cy="4523781"/>
                        </a:xfrm>
                        <a:prstGeom prst="rect">
                          <a:avLst/>
                        </a:prstGeom>
                      </p:spPr>
                    </p:pic>
                  </p:oleObj>
                </mc:Fallback>
              </mc:AlternateContent>
            </a:graphicData>
          </a:graphic>
        </p:graphicFrame>
        <p:sp>
          <p:nvSpPr>
            <p:cNvPr id="3" name="矩形 2"/>
            <p:cNvSpPr>
              <a:spLocks noChangeAspect="1"/>
            </p:cNvSpPr>
            <p:nvPr/>
          </p:nvSpPr>
          <p:spPr>
            <a:xfrm>
              <a:off x="381000" y="4260005"/>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立体几何中的夹角问题</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在图形中找出所求的角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解三角形求出所求角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利用向量法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转化为向量与向量之间的夹角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注意线线角、线面角、面面角与对应向量满足的关系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9887"/>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求异面直线</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在棱</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上是否存在一点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使得平面</a:t>
            </a:r>
            <a:r>
              <a:rPr lang="en-US" altLang="zh-CN" sz="2800" i="1" dirty="0">
                <a:solidFill>
                  <a:srgbClr val="000000"/>
                </a:solidFill>
                <a:latin typeface="Times New Roman" panose="02020603050405020304" pitchFamily="18" charset="0"/>
                <a:cs typeface="Times New Roman" panose="02020603050405020304" pitchFamily="18" charset="0"/>
              </a:rPr>
              <a:t>ACP</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求出</a:t>
            </a:r>
            <a:r>
              <a:rPr lang="en-US" altLang="zh-CN" sz="2800" i="1" dirty="0">
                <a:solidFill>
                  <a:srgbClr val="000000"/>
                </a:solidFill>
                <a:latin typeface="Times New Roman" panose="02020603050405020304" pitchFamily="18" charset="0"/>
                <a:cs typeface="Times New Roman" panose="02020603050405020304" pitchFamily="18" charset="0"/>
              </a:rPr>
              <a:t>BP</a:t>
            </a:r>
            <a:r>
              <a:rPr lang="zh-CN" altLang="zh-CN" sz="2800" dirty="0">
                <a:solidFill>
                  <a:srgbClr val="000000"/>
                </a:solidFill>
                <a:latin typeface="Times New Roman" panose="02020603050405020304" pitchFamily="18" charset="0"/>
                <a:cs typeface="Times New Roman" panose="02020603050405020304" pitchFamily="18" charset="0"/>
              </a:rPr>
              <a:t>的长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请说明理由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YMX1TRAX70.eps" descr="id:2147498148;FounderCES"/>
          <p:cNvPicPr>
            <a:picLocks noChangeAspect="1"/>
          </p:cNvPicPr>
          <p:nvPr/>
        </p:nvPicPr>
        <p:blipFill>
          <a:blip r:embed="rId2">
            <a:clrChange>
              <a:clrFrom>
                <a:srgbClr val="FFFFFF"/>
              </a:clrFrom>
              <a:clrTo>
                <a:srgbClr val="FFFFFF">
                  <a:alpha val="0"/>
                </a:srgbClr>
              </a:clrTo>
            </a:clrChange>
          </a:blip>
          <a:stretch>
            <a:fillRect/>
          </a:stretch>
        </p:blipFill>
        <p:spPr>
          <a:xfrm>
            <a:off x="4421397" y="938271"/>
            <a:ext cx="3349207" cy="3211472"/>
          </a:xfrm>
          <a:prstGeom prst="rect">
            <a:avLst/>
          </a:prstGeom>
        </p:spPr>
      </p:pic>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8490" y="273052"/>
            <a:ext cx="11762510" cy="5688132"/>
            <a:chOff x="48490" y="273052"/>
            <a:chExt cx="11762510" cy="5688132"/>
          </a:xfrm>
        </p:grpSpPr>
        <p:sp>
          <p:nvSpPr>
            <p:cNvPr id="2" name="矩形 1"/>
            <p:cNvSpPr>
              <a:spLocks noChangeAspect="1"/>
            </p:cNvSpPr>
            <p:nvPr/>
          </p:nvSpPr>
          <p:spPr>
            <a:xfrm>
              <a:off x="381000" y="273052"/>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(2,2,0),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(0,2,0),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(2,2,2),</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(1,0,2),</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(0,2,1)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81000" y="4248664"/>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CG.</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CG</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753893481"/>
                </p:ext>
              </p:extLst>
            </p:nvPr>
          </p:nvGraphicFramePr>
          <p:xfrm>
            <a:off x="48490" y="1923226"/>
            <a:ext cx="11430000" cy="2513517"/>
          </p:xfrm>
          <a:graphic>
            <a:graphicData uri="http://schemas.openxmlformats.org/presentationml/2006/ole">
              <mc:AlternateContent xmlns:mc="http://schemas.openxmlformats.org/markup-compatibility/2006">
                <mc:Choice xmlns:v="urn:schemas-microsoft-com:vml" Requires="v">
                  <p:oleObj spid="_x0000_s28696"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48490" y="1923226"/>
                          <a:ext cx="11430000" cy="2513517"/>
                        </a:xfrm>
                        <a:prstGeom prst="rect">
                          <a:avLst/>
                        </a:prstGeom>
                      </p:spPr>
                    </p:pic>
                  </p:oleObj>
                </mc:Fallback>
              </mc:AlternateContent>
            </a:graphicData>
          </a:graphic>
        </p:graphicFrame>
        <p:pic>
          <p:nvPicPr>
            <p:cNvPr id="7" name="YMX1TRAX71.eps" descr="id:2147498155;FounderCES"/>
            <p:cNvPicPr/>
            <p:nvPr/>
          </p:nvPicPr>
          <p:blipFill>
            <a:blip r:embed="rId5">
              <a:clrChange>
                <a:clrFrom>
                  <a:srgbClr val="FFFFFF"/>
                </a:clrFrom>
                <a:clrTo>
                  <a:srgbClr val="FFFFFF">
                    <a:alpha val="0"/>
                  </a:srgbClr>
                </a:clrTo>
              </a:clrChange>
            </a:blip>
            <a:stretch>
              <a:fillRect/>
            </a:stretch>
          </p:blipFill>
          <p:spPr>
            <a:xfrm>
              <a:off x="8257367" y="2382722"/>
              <a:ext cx="3221123" cy="3184650"/>
            </a:xfrm>
            <a:prstGeom prst="rect">
              <a:avLst/>
            </a:prstGeom>
          </p:spPr>
        </p:pic>
      </p:grpSp>
    </p:spTree>
    <p:extLst>
      <p:ext uri="{BB962C8B-B14F-4D97-AF65-F5344CB8AC3E}">
        <p14:creationId xmlns:p14="http://schemas.microsoft.com/office/powerpoint/2010/main" val="2619084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98372167"/>
              </p:ext>
            </p:extLst>
          </p:nvPr>
        </p:nvGraphicFramePr>
        <p:xfrm>
          <a:off x="58881" y="1746736"/>
          <a:ext cx="11430000" cy="3015855"/>
        </p:xfrm>
        <a:graphic>
          <a:graphicData uri="http://schemas.openxmlformats.org/presentationml/2006/ole">
            <mc:AlternateContent xmlns:mc="http://schemas.openxmlformats.org/markup-compatibility/2006">
              <mc:Choice xmlns:v="urn:schemas-microsoft-com:vml" Requires="v">
                <p:oleObj spid="_x0000_s29719"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58881" y="1746736"/>
                        <a:ext cx="11430000" cy="3015855"/>
                      </a:xfrm>
                      <a:prstGeom prst="rect">
                        <a:avLst/>
                      </a:prstGeom>
                    </p:spPr>
                  </p:pic>
                </p:oleObj>
              </mc:Fallback>
            </mc:AlternateContent>
          </a:graphicData>
        </a:graphic>
      </p:graphicFrame>
    </p:spTree>
    <p:extLst>
      <p:ext uri="{BB962C8B-B14F-4D97-AF65-F5344CB8AC3E}">
        <p14:creationId xmlns:p14="http://schemas.microsoft.com/office/powerpoint/2010/main" val="54050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1955" y="197429"/>
            <a:ext cx="11759045" cy="5941337"/>
            <a:chOff x="51955" y="207820"/>
            <a:chExt cx="11759045" cy="5941337"/>
          </a:xfrm>
        </p:grpSpPr>
        <p:sp>
          <p:nvSpPr>
            <p:cNvPr id="2" name="矩形 1"/>
            <p:cNvSpPr>
              <a:spLocks noChangeAspect="1"/>
            </p:cNvSpPr>
            <p:nvPr/>
          </p:nvSpPr>
          <p:spPr>
            <a:xfrm>
              <a:off x="381000" y="207820"/>
              <a:ext cx="7364517"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满足条件的点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存在</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&lt;t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359580541"/>
                </p:ext>
              </p:extLst>
            </p:nvPr>
          </p:nvGraphicFramePr>
          <p:xfrm>
            <a:off x="381000" y="4641230"/>
            <a:ext cx="11430000" cy="1507927"/>
          </p:xfrm>
          <a:graphic>
            <a:graphicData uri="http://schemas.openxmlformats.org/presentationml/2006/ole">
              <mc:AlternateContent xmlns:mc="http://schemas.openxmlformats.org/markup-compatibility/2006">
                <mc:Choice xmlns:v="urn:schemas-microsoft-com:vml" Requires="v">
                  <p:oleObj spid="_x0000_s30764"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4641230"/>
                          <a:ext cx="11430000" cy="150792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553949584"/>
                </p:ext>
              </p:extLst>
            </p:nvPr>
          </p:nvGraphicFramePr>
          <p:xfrm>
            <a:off x="51955" y="823193"/>
            <a:ext cx="11430000" cy="4021443"/>
          </p:xfrm>
          <a:graphic>
            <a:graphicData uri="http://schemas.openxmlformats.org/presentationml/2006/ole">
              <mc:AlternateContent xmlns:mc="http://schemas.openxmlformats.org/markup-compatibility/2006">
                <mc:Choice xmlns:v="urn:schemas-microsoft-com:vml" Requires="v">
                  <p:oleObj spid="_x0000_s30765" name="文档" r:id="rId5" imgW="4510061" imgH="1586785" progId="Word.Document.12">
                    <p:embed/>
                  </p:oleObj>
                </mc:Choice>
                <mc:Fallback>
                  <p:oleObj name="文档" r:id="rId5" imgW="4510061" imgH="1586785" progId="Word.Document.12">
                    <p:embed/>
                    <p:pic>
                      <p:nvPicPr>
                        <p:cNvPr id="0" name=""/>
                        <p:cNvPicPr/>
                        <p:nvPr/>
                      </p:nvPicPr>
                      <p:blipFill>
                        <a:blip r:embed="rId6"/>
                        <a:stretch>
                          <a:fillRect/>
                        </a:stretch>
                      </p:blipFill>
                      <p:spPr>
                        <a:xfrm>
                          <a:off x="51955" y="823193"/>
                          <a:ext cx="11430000" cy="4021443"/>
                        </a:xfrm>
                        <a:prstGeom prst="rect">
                          <a:avLst/>
                        </a:prstGeom>
                      </p:spPr>
                    </p:pic>
                  </p:oleObj>
                </mc:Fallback>
              </mc:AlternateContent>
            </a:graphicData>
          </a:graphic>
        </p:graphicFrame>
      </p:grpSp>
    </p:spTree>
    <p:extLst>
      <p:ext uri="{BB962C8B-B14F-4D97-AF65-F5344CB8AC3E}">
        <p14:creationId xmlns:p14="http://schemas.microsoft.com/office/powerpoint/2010/main" val="1490813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rPr>
              <a:t>高考体验</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考点一</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bg1"/>
                    </a:solidFill>
                  </a:rPr>
                  <a:t>利用</a:t>
                </a:r>
                <a:r>
                  <a:rPr lang="zh-CN" altLang="en-US" sz="2800" b="1" dirty="0">
                    <a:solidFill>
                      <a:schemeClr val="bg1"/>
                    </a:solidFill>
                  </a:rPr>
                  <a:t>空间向量研究夹角问题</a:t>
                </a:r>
              </a:p>
            </p:txBody>
          </p:sp>
        </p:grpSp>
      </p:grpSp>
      <p:sp>
        <p:nvSpPr>
          <p:cNvPr id="11" name="矩形 10"/>
          <p:cNvSpPr>
            <a:spLocks noChangeAspect="1"/>
          </p:cNvSpPr>
          <p:nvPr/>
        </p:nvSpPr>
        <p:spPr>
          <a:xfrm>
            <a:off x="381000" y="1702891"/>
            <a:ext cx="11430000" cy="1212640"/>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dirty="0">
                <a:solidFill>
                  <a:srgbClr val="000000"/>
                </a:solidFill>
                <a:latin typeface="NEU-BZ-S92"/>
                <a:cs typeface="宋体" panose="02010600030101010101" pitchFamily="2" charset="-122"/>
              </a:rPr>
              <a:t>Ⅰ</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508319187"/>
              </p:ext>
            </p:extLst>
          </p:nvPr>
        </p:nvGraphicFramePr>
        <p:xfrm>
          <a:off x="458424" y="2990341"/>
          <a:ext cx="11275153" cy="1277593"/>
        </p:xfrm>
        <a:graphic>
          <a:graphicData uri="http://schemas.openxmlformats.org/presentationml/2006/ole">
            <mc:AlternateContent xmlns:mc="http://schemas.openxmlformats.org/markup-compatibility/2006">
              <mc:Choice xmlns:v="urn:schemas-microsoft-com:vml" Requires="v">
                <p:oleObj spid="_x0000_s31774" name="文档" r:id="rId3" imgW="4510061" imgH="511037" progId="Word.Document.12">
                  <p:embed/>
                </p:oleObj>
              </mc:Choice>
              <mc:Fallback>
                <p:oleObj name="文档" r:id="rId3" imgW="4510061" imgH="511037" progId="Word.Document.12">
                  <p:embed/>
                  <p:pic>
                    <p:nvPicPr>
                      <p:cNvPr id="0" name=""/>
                      <p:cNvPicPr/>
                      <p:nvPr/>
                    </p:nvPicPr>
                    <p:blipFill>
                      <a:blip r:embed="rId4"/>
                      <a:stretch>
                        <a:fillRect/>
                      </a:stretch>
                    </p:blipFill>
                    <p:spPr>
                      <a:xfrm>
                        <a:off x="458424" y="2990341"/>
                        <a:ext cx="11275153" cy="127759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6035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正方体棱长为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(1,1,2),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(2,2,0),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47256368"/>
              </p:ext>
            </p:extLst>
          </p:nvPr>
        </p:nvGraphicFramePr>
        <p:xfrm>
          <a:off x="458424" y="2819722"/>
          <a:ext cx="11275153" cy="2018813"/>
        </p:xfrm>
        <a:graphic>
          <a:graphicData uri="http://schemas.openxmlformats.org/presentationml/2006/ole">
            <mc:AlternateContent xmlns:mc="http://schemas.openxmlformats.org/markup-compatibility/2006">
              <mc:Choice xmlns:v="urn:schemas-microsoft-com:vml" Requires="v">
                <p:oleObj spid="_x0000_s32790" name="文档" r:id="rId3" imgW="4510061" imgH="807525" progId="Word.Document.12">
                  <p:embed/>
                </p:oleObj>
              </mc:Choice>
              <mc:Fallback>
                <p:oleObj name="文档" r:id="rId3" imgW="4510061" imgH="807525" progId="Word.Document.12">
                  <p:embed/>
                  <p:pic>
                    <p:nvPicPr>
                      <p:cNvPr id="0" name=""/>
                      <p:cNvPicPr/>
                      <p:nvPr/>
                    </p:nvPicPr>
                    <p:blipFill>
                      <a:blip r:embed="rId4"/>
                      <a:stretch>
                        <a:fillRect/>
                      </a:stretch>
                    </p:blipFill>
                    <p:spPr>
                      <a:xfrm>
                        <a:off x="458424" y="2819722"/>
                        <a:ext cx="11275153" cy="2018813"/>
                      </a:xfrm>
                      <a:prstGeom prst="rect">
                        <a:avLst/>
                      </a:prstGeom>
                    </p:spPr>
                  </p:pic>
                </p:oleObj>
              </mc:Fallback>
            </mc:AlternateContent>
          </a:graphicData>
        </a:graphic>
      </p:graphicFrame>
      <p:sp>
        <p:nvSpPr>
          <p:cNvPr id="5" name="矩形 4"/>
          <p:cNvSpPr>
            <a:spLocks noChangeAspect="1"/>
          </p:cNvSpPr>
          <p:nvPr/>
        </p:nvSpPr>
        <p:spPr>
          <a:xfrm>
            <a:off x="381000" y="4709307"/>
            <a:ext cx="1351652"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2" name="NMX1TRAX319.eps" descr="id:2147518722;FounderCES"/>
          <p:cNvPicPr/>
          <p:nvPr/>
        </p:nvPicPr>
        <p:blipFill>
          <a:blip r:embed="rId5">
            <a:clrChange>
              <a:clrFrom>
                <a:srgbClr val="FFFFFF"/>
              </a:clrFrom>
              <a:clrTo>
                <a:srgbClr val="FFFFFF">
                  <a:alpha val="0"/>
                </a:srgbClr>
              </a:clrTo>
            </a:clrChange>
          </a:blip>
          <a:stretch>
            <a:fillRect/>
          </a:stretch>
        </p:blipFill>
        <p:spPr>
          <a:xfrm>
            <a:off x="7732830" y="1479371"/>
            <a:ext cx="3294165" cy="3477174"/>
          </a:xfrm>
          <a:prstGeom prst="rect">
            <a:avLst/>
          </a:prstGeom>
        </p:spPr>
      </p:pic>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考点二</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立体几何中的距离问题</a:t>
                </a:r>
              </a:p>
            </p:txBody>
          </p:sp>
        </p:grpSp>
      </p:grpSp>
      <p:sp>
        <p:nvSpPr>
          <p:cNvPr id="10" name="矩形 9"/>
          <p:cNvSpPr>
            <a:spLocks noChangeAspect="1"/>
          </p:cNvSpPr>
          <p:nvPr/>
        </p:nvSpPr>
        <p:spPr>
          <a:xfrm>
            <a:off x="381000" y="70254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全国乙高考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均在半径为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的球面上</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是边长为</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的等边三角形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3141654326"/>
              </p:ext>
            </p:extLst>
          </p:nvPr>
        </p:nvGraphicFramePr>
        <p:xfrm>
          <a:off x="479206" y="1854908"/>
          <a:ext cx="11275153" cy="991965"/>
        </p:xfrm>
        <a:graphic>
          <a:graphicData uri="http://schemas.openxmlformats.org/presentationml/2006/ole">
            <mc:AlternateContent xmlns:mc="http://schemas.openxmlformats.org/markup-compatibility/2006">
              <mc:Choice xmlns:v="urn:schemas-microsoft-com:vml" Requires="v">
                <p:oleObj spid="_x0000_s33818"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79206" y="1854908"/>
                        <a:ext cx="11275153" cy="991965"/>
                      </a:xfrm>
                      <a:prstGeom prst="rect">
                        <a:avLst/>
                      </a:prstGeom>
                    </p:spPr>
                  </p:pic>
                </p:oleObj>
              </mc:Fallback>
            </mc:AlternateContent>
          </a:graphicData>
        </a:graphic>
      </p:graphicFrame>
      <p:sp>
        <p:nvSpPr>
          <p:cNvPr id="12" name="矩形 11"/>
          <p:cNvSpPr>
            <a:spLocks noChangeAspect="1"/>
          </p:cNvSpPr>
          <p:nvPr/>
        </p:nvSpPr>
        <p:spPr>
          <a:xfrm>
            <a:off x="381000" y="273159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分别为三棱锥</a:t>
            </a:r>
            <a:r>
              <a:rPr lang="en-US" altLang="zh-CN" sz="2800" i="1" dirty="0">
                <a:solidFill>
                  <a:srgbClr val="000000"/>
                </a:solidFill>
                <a:latin typeface="Times New Roman" panose="02020603050405020304" pitchFamily="18" charset="0"/>
                <a:cs typeface="Times New Roman" panose="02020603050405020304" pitchFamily="18" charset="0"/>
              </a:rPr>
              <a:t>S-ABC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外接球的球心、</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外接圆的圆心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293974197"/>
              </p:ext>
            </p:extLst>
          </p:nvPr>
        </p:nvGraphicFramePr>
        <p:xfrm>
          <a:off x="479206" y="3883957"/>
          <a:ext cx="11275153" cy="991965"/>
        </p:xfrm>
        <a:graphic>
          <a:graphicData uri="http://schemas.openxmlformats.org/presentationml/2006/ole">
            <mc:AlternateContent xmlns:mc="http://schemas.openxmlformats.org/markup-compatibility/2006">
              <mc:Choice xmlns:v="urn:schemas-microsoft-com:vml" Requires="v">
                <p:oleObj spid="_x0000_s33819"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79206" y="3883957"/>
                        <a:ext cx="11275153" cy="991965"/>
                      </a:xfrm>
                      <a:prstGeom prst="rect">
                        <a:avLst/>
                      </a:prstGeom>
                    </p:spPr>
                  </p:pic>
                </p:oleObj>
              </mc:Fallback>
            </mc:AlternateContent>
          </a:graphicData>
        </a:graphic>
      </p:graphicFrame>
      <p:sp>
        <p:nvSpPr>
          <p:cNvPr id="14" name="矩形 13"/>
          <p:cNvSpPr>
            <a:spLocks noChangeAspect="1"/>
          </p:cNvSpPr>
          <p:nvPr/>
        </p:nvSpPr>
        <p:spPr>
          <a:xfrm>
            <a:off x="381000" y="480748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SA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SA=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par>
                                <p:cTn id="11" presetID="14" presetClass="entr" presetSubtype="1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par>
                                <p:cTn id="14" presetID="14" presetClass="entr" presetSubtype="10" fill="hold" nodeType="with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16" dur="500"/>
                                        <p:tgtEl>
                                          <p:spTgt spid="1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14">
                                            <p:txEl>
                                              <p:pRg st="1" end="1"/>
                                            </p:txEl>
                                          </p:spTgt>
                                        </p:tgtEl>
                                        <p:attrNameLst>
                                          <p:attrName>style.visibility</p:attrName>
                                        </p:attrNameLst>
                                      </p:cBhvr>
                                      <p:to>
                                        <p:strVal val="visible"/>
                                      </p:to>
                                    </p:set>
                                    <p:animEffect transition="in" filter="randombar(horizontal)">
                                      <p:cBhvr>
                                        <p:cTn id="21"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考点三</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利用空间向量解决立体几何综合问题</a:t>
                </a:r>
              </a:p>
            </p:txBody>
          </p:sp>
        </p:grpSp>
      </p:grpSp>
      <p:sp>
        <p:nvSpPr>
          <p:cNvPr id="12" name="矩形 11"/>
          <p:cNvSpPr>
            <a:spLocks noChangeAspect="1"/>
          </p:cNvSpPr>
          <p:nvPr/>
        </p:nvSpPr>
        <p:spPr>
          <a:xfrm>
            <a:off x="381000" y="595516"/>
            <a:ext cx="11430000" cy="569386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dirty="0">
                <a:solidFill>
                  <a:srgbClr val="000000"/>
                </a:solidFill>
                <a:latin typeface="NEU-BZ-S92"/>
                <a:cs typeface="宋体" panose="02010600030101010101" pitchFamily="2" charset="-122"/>
              </a:rPr>
              <a:t>Ⅰ</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的底面是矩形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PD=DC=</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029335" algn="l"/>
                <a:tab pos="1850390" algn="l"/>
                <a:tab pos="2538095" algn="l"/>
                <a:tab pos="3221990" algn="l"/>
              </a:tabLst>
            </a:pPr>
            <a:endParaRPr lang="en-US" altLang="zh-CN" sz="2800" i="1"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i="1" dirty="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求二面角</a:t>
            </a:r>
            <a:r>
              <a:rPr lang="en-US" altLang="zh-CN" sz="2800" i="1" dirty="0">
                <a:solidFill>
                  <a:srgbClr val="000000"/>
                </a:solidFill>
                <a:latin typeface="Times New Roman" panose="02020603050405020304" pitchFamily="18" charset="0"/>
                <a:cs typeface="Times New Roman" panose="02020603050405020304" pitchFamily="18" charset="0"/>
              </a:rPr>
              <a:t>A-PM-B</a:t>
            </a:r>
            <a:r>
              <a:rPr lang="zh-CN" altLang="zh-CN" sz="2800" dirty="0">
                <a:solidFill>
                  <a:srgbClr val="000000"/>
                </a:solidFill>
                <a:latin typeface="Times New Roman" panose="02020603050405020304" pitchFamily="18" charset="0"/>
                <a:cs typeface="Times New Roman" panose="02020603050405020304" pitchFamily="18" charset="0"/>
              </a:rPr>
              <a:t>的正弦值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3" name="NMX1TRAX191.eps" descr="id:2147518757;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875230"/>
            <a:ext cx="3310864" cy="3430878"/>
          </a:xfrm>
          <a:prstGeom prst="rect">
            <a:avLst/>
          </a:prstGeom>
        </p:spPr>
      </p:pic>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46926"/>
            <a:ext cx="11430000" cy="3968202"/>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PD=P</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AM</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DAM=</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DAM+</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MAB=</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MAB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37805856"/>
              </p:ext>
            </p:extLst>
          </p:nvPr>
        </p:nvGraphicFramePr>
        <p:xfrm>
          <a:off x="458424" y="4325519"/>
          <a:ext cx="11275153" cy="1364743"/>
        </p:xfrm>
        <a:graphic>
          <a:graphicData uri="http://schemas.openxmlformats.org/presentationml/2006/ole">
            <mc:AlternateContent xmlns:mc="http://schemas.openxmlformats.org/markup-compatibility/2006">
              <mc:Choice xmlns:v="urn:schemas-microsoft-com:vml" Requires="v">
                <p:oleObj spid="_x0000_s51209" name="文档" r:id="rId3" imgW="4510061" imgH="545897" progId="Word.Document.12">
                  <p:embed/>
                </p:oleObj>
              </mc:Choice>
              <mc:Fallback>
                <p:oleObj name="文档" r:id="rId3" imgW="4510061" imgH="545897" progId="Word.Document.12">
                  <p:embed/>
                  <p:pic>
                    <p:nvPicPr>
                      <p:cNvPr id="0" name=""/>
                      <p:cNvPicPr/>
                      <p:nvPr/>
                    </p:nvPicPr>
                    <p:blipFill>
                      <a:blip r:embed="rId4"/>
                      <a:stretch>
                        <a:fillRect/>
                      </a:stretch>
                    </p:blipFill>
                    <p:spPr>
                      <a:xfrm>
                        <a:off x="458424" y="4325519"/>
                        <a:ext cx="11275153" cy="1364743"/>
                      </a:xfrm>
                      <a:prstGeom prst="rect">
                        <a:avLst/>
                      </a:prstGeom>
                    </p:spPr>
                  </p:pic>
                </p:oleObj>
              </mc:Fallback>
            </mc:AlternateContent>
          </a:graphicData>
        </a:graphic>
      </p:graphicFrame>
    </p:spTree>
    <p:extLst>
      <p:ext uri="{BB962C8B-B14F-4D97-AF65-F5344CB8AC3E}">
        <p14:creationId xmlns:p14="http://schemas.microsoft.com/office/powerpoint/2010/main" val="3573966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428503247"/>
              </p:ext>
            </p:extLst>
          </p:nvPr>
        </p:nvGraphicFramePr>
        <p:xfrm>
          <a:off x="458424" y="178768"/>
          <a:ext cx="11275153" cy="6131010"/>
        </p:xfrm>
        <a:graphic>
          <a:graphicData uri="http://schemas.openxmlformats.org/presentationml/2006/ole">
            <mc:AlternateContent xmlns:mc="http://schemas.openxmlformats.org/markup-compatibility/2006">
              <mc:Choice xmlns:v="urn:schemas-microsoft-com:vml" Requires="v">
                <p:oleObj spid="_x0000_s52233" name="文档" r:id="rId3" imgW="4510061" imgH="2452404" progId="Word.Document.12">
                  <p:embed/>
                </p:oleObj>
              </mc:Choice>
              <mc:Fallback>
                <p:oleObj name="文档" r:id="rId3" imgW="4510061" imgH="2452404" progId="Word.Document.12">
                  <p:embed/>
                  <p:pic>
                    <p:nvPicPr>
                      <p:cNvPr id="0" name=""/>
                      <p:cNvPicPr/>
                      <p:nvPr/>
                    </p:nvPicPr>
                    <p:blipFill>
                      <a:blip r:embed="rId4"/>
                      <a:stretch>
                        <a:fillRect/>
                      </a:stretch>
                    </p:blipFill>
                    <p:spPr>
                      <a:xfrm>
                        <a:off x="458424" y="178768"/>
                        <a:ext cx="11275153" cy="6131010"/>
                      </a:xfrm>
                      <a:prstGeom prst="rect">
                        <a:avLst/>
                      </a:prstGeom>
                    </p:spPr>
                  </p:pic>
                </p:oleObj>
              </mc:Fallback>
            </mc:AlternateContent>
          </a:graphicData>
        </a:graphic>
      </p:graphicFrame>
      <p:pic>
        <p:nvPicPr>
          <p:cNvPr id="5" name="NMX1TRAX323.eps" descr="id:2147518764;FounderCES"/>
          <p:cNvPicPr/>
          <p:nvPr/>
        </p:nvPicPr>
        <p:blipFill>
          <a:blip r:embed="rId5">
            <a:clrChange>
              <a:clrFrom>
                <a:srgbClr val="FFFFFF"/>
              </a:clrFrom>
              <a:clrTo>
                <a:srgbClr val="FFFFFF">
                  <a:alpha val="0"/>
                </a:srgbClr>
              </a:clrTo>
            </a:clrChange>
          </a:blip>
          <a:stretch>
            <a:fillRect/>
          </a:stretch>
        </p:blipFill>
        <p:spPr>
          <a:xfrm>
            <a:off x="8031076" y="2145780"/>
            <a:ext cx="3321414" cy="3714693"/>
          </a:xfrm>
          <a:prstGeom prst="rect">
            <a:avLst/>
          </a:prstGeom>
        </p:spPr>
      </p:pic>
    </p:spTree>
    <p:extLst>
      <p:ext uri="{BB962C8B-B14F-4D97-AF65-F5344CB8AC3E}">
        <p14:creationId xmlns:p14="http://schemas.microsoft.com/office/powerpoint/2010/main" val="2016161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6406102"/>
              </p:ext>
            </p:extLst>
          </p:nvPr>
        </p:nvGraphicFramePr>
        <p:xfrm>
          <a:off x="458424" y="2010113"/>
          <a:ext cx="11275153" cy="1782520"/>
        </p:xfrm>
        <a:graphic>
          <a:graphicData uri="http://schemas.openxmlformats.org/presentationml/2006/ole">
            <mc:AlternateContent xmlns:mc="http://schemas.openxmlformats.org/markup-compatibility/2006">
              <mc:Choice xmlns:v="urn:schemas-microsoft-com:vml" Requires="v">
                <p:oleObj spid="_x0000_s53257" name="文档" r:id="rId3" imgW="4510061" imgH="713008" progId="Word.Document.12">
                  <p:embed/>
                </p:oleObj>
              </mc:Choice>
              <mc:Fallback>
                <p:oleObj name="文档" r:id="rId3" imgW="4510061" imgH="713008" progId="Word.Document.12">
                  <p:embed/>
                  <p:pic>
                    <p:nvPicPr>
                      <p:cNvPr id="0" name=""/>
                      <p:cNvPicPr/>
                      <p:nvPr/>
                    </p:nvPicPr>
                    <p:blipFill>
                      <a:blip r:embed="rId4"/>
                      <a:stretch>
                        <a:fillRect/>
                      </a:stretch>
                    </p:blipFill>
                    <p:spPr>
                      <a:xfrm>
                        <a:off x="458424" y="2010113"/>
                        <a:ext cx="11275153" cy="1782520"/>
                      </a:xfrm>
                      <a:prstGeom prst="rect">
                        <a:avLst/>
                      </a:prstGeom>
                    </p:spPr>
                  </p:pic>
                </p:oleObj>
              </mc:Fallback>
            </mc:AlternateContent>
          </a:graphicData>
        </a:graphic>
      </p:graphicFrame>
    </p:spTree>
    <p:extLst>
      <p:ext uri="{BB962C8B-B14F-4D97-AF65-F5344CB8AC3E}">
        <p14:creationId xmlns:p14="http://schemas.microsoft.com/office/powerpoint/2010/main" val="1495963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81000" y="293252"/>
                <a:ext cx="11430000" cy="551952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新高考</a:t>
                </a:r>
                <a:r>
                  <a:rPr lang="zh-CN" altLang="zh-CN" sz="2800" dirty="0">
                    <a:solidFill>
                      <a:srgbClr val="000000"/>
                    </a:solidFill>
                    <a:latin typeface="NEU-BZ-S92"/>
                    <a:cs typeface="宋体" panose="02010600030101010101" pitchFamily="2" charset="-122"/>
                  </a:rPr>
                  <a:t>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BC=</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3</m:t>
                        </m:r>
                      </m:e>
                    </m:rad>
                  </m:oMath>
                </a14:m>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dirty="0">
                  <a:solidFill>
                    <a:srgbClr val="000000"/>
                  </a:solidFill>
                  <a:effectLst/>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a:solidFill>
                    <a:srgbClr val="000000"/>
                  </a:solidFill>
                  <a:effectLst/>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且二面角</a:t>
                </a:r>
                <a:r>
                  <a:rPr lang="en-US" altLang="zh-CN" sz="2800" i="1" dirty="0">
                    <a:solidFill>
                      <a:srgbClr val="000000"/>
                    </a:solidFill>
                    <a:latin typeface="Times New Roman" panose="02020603050405020304" pitchFamily="18" charset="0"/>
                    <a:cs typeface="Times New Roman" panose="02020603050405020304" pitchFamily="18" charset="0"/>
                  </a:rPr>
                  <a:t>A-CP-D</a:t>
                </a:r>
                <a:r>
                  <a:rPr lang="zh-CN" altLang="zh-CN" sz="2800" dirty="0">
                    <a:solidFill>
                      <a:srgbClr val="000000"/>
                    </a:solidFill>
                    <a:latin typeface="Times New Roman" panose="02020603050405020304" pitchFamily="18" charset="0"/>
                    <a:cs typeface="Times New Roman" panose="02020603050405020304" pitchFamily="18" charset="0"/>
                  </a:rPr>
                  <a:t>的正弦值为</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42</m:t>
                            </m:r>
                          </m:e>
                        </m:rad>
                      </m:num>
                      <m:den>
                        <m:r>
                          <a:rPr lang="en-US" altLang="zh-CN" sz="2800">
                            <a:solidFill>
                              <a:srgbClr val="000000"/>
                            </a:solidFill>
                            <a:latin typeface="Cambria Math" panose="02040503050406030204" pitchFamily="18" charset="0"/>
                            <a:cs typeface="Times New Roman" panose="02020603050405020304" pitchFamily="18" charset="0"/>
                          </a:rPr>
                          <m:t>7</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AD.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293252"/>
                <a:ext cx="11430000" cy="5519524"/>
              </a:xfrm>
              <a:prstGeom prst="rect">
                <a:avLst/>
              </a:prstGeom>
              <a:blipFill rotWithShape="0">
                <a:blip r:embed="rId2"/>
                <a:stretch>
                  <a:fillRect l="-1120" t="-221"/>
                </a:stretch>
              </a:blipFill>
            </p:spPr>
            <p:txBody>
              <a:bodyPr/>
              <a:lstStyle/>
              <a:p>
                <a:r>
                  <a:rPr lang="zh-CN" altLang="en-US">
                    <a:noFill/>
                  </a:rPr>
                  <a:t> </a:t>
                </a:r>
              </a:p>
            </p:txBody>
          </p:sp>
        </mc:Fallback>
      </mc:AlternateContent>
      <p:pic>
        <p:nvPicPr>
          <p:cNvPr id="3" name="25N12.eps" descr="id:2147518628;FounderCES"/>
          <p:cNvPicPr>
            <a:picLocks noChangeAspect="1"/>
          </p:cNvPicPr>
          <p:nvPr/>
        </p:nvPicPr>
        <p:blipFill>
          <a:blip r:embed="rId3">
            <a:clrChange>
              <a:clrFrom>
                <a:srgbClr val="FFFFFF"/>
              </a:clrFrom>
              <a:clrTo>
                <a:srgbClr val="FFFFFF">
                  <a:alpha val="0"/>
                </a:srgbClr>
              </a:clrTo>
            </a:clrChange>
          </a:blip>
          <a:stretch>
            <a:fillRect/>
          </a:stretch>
        </p:blipFill>
        <p:spPr>
          <a:xfrm>
            <a:off x="4727875" y="1028824"/>
            <a:ext cx="2736251" cy="3121639"/>
          </a:xfrm>
          <a:prstGeom prst="rect">
            <a:avLst/>
          </a:prstGeom>
        </p:spPr>
      </p:pic>
    </p:spTree>
    <p:extLst>
      <p:ext uri="{BB962C8B-B14F-4D97-AF65-F5344CB8AC3E}">
        <p14:creationId xmlns:p14="http://schemas.microsoft.com/office/powerpoint/2010/main" val="15113288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81000" y="709902"/>
                <a:ext cx="11430000" cy="40661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AB=</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3</m:t>
                        </m:r>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PA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PAB</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PA=P</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PBC.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709902"/>
                <a:ext cx="11430000" cy="4066113"/>
              </a:xfrm>
              <a:prstGeom prst="rect">
                <a:avLst/>
              </a:prstGeom>
              <a:blipFill rotWithShape="0">
                <a:blip r:embed="rId2"/>
                <a:stretch>
                  <a:fillRect l="-1120" b="-19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153571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81000" y="197681"/>
                <a:ext cx="11430000" cy="594906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以过点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且与</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平行的直线为</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dirty="0">
                    <a:solidFill>
                      <a:srgbClr val="000000"/>
                    </a:solidFill>
                    <a:latin typeface="Times New Roman" panose="02020603050405020304" pitchFamily="18" charset="0"/>
                    <a:cs typeface="Times New Roman" panose="02020603050405020304" pitchFamily="18" charset="0"/>
                  </a:rPr>
                  <a:t>AD=t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,0,2),</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DC=</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,0),</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𝐴𝑃</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(0,0,2),</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𝐷𝑃</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,0,2),</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𝐷𝐶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设平面</a:t>
                </a:r>
                <a:r>
                  <a:rPr lang="en-US" altLang="zh-CN" sz="2800" i="1" dirty="0">
                    <a:solidFill>
                      <a:srgbClr val="000000"/>
                    </a:solidFill>
                    <a:latin typeface="Times New Roman" panose="02020603050405020304" pitchFamily="18" charset="0"/>
                    <a:cs typeface="Times New Roman" panose="02020603050405020304" pitchFamily="18" charset="0"/>
                  </a:rPr>
                  <a:t>ACP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a:solidFill>
                                        <a:srgbClr val="000000"/>
                                      </a:solidFill>
                                      <a:latin typeface="Cambria Math" panose="02040503050406030204" pitchFamily="18" charset="0"/>
                                      <a:cs typeface="Times New Roman" panose="02020603050405020304" pitchFamily="18" charset="0"/>
                                    </a:rPr>
                                    <m:t>𝒏</m:t>
                                  </m:r>
                                </m:e>
                                <m:sub>
                                  <m:r>
                                    <a:rPr lang="en-US" altLang="zh-CN" sz="2800">
                                      <a:solidFill>
                                        <a:srgbClr val="000000"/>
                                      </a:solidFill>
                                      <a:latin typeface="Cambria Math" panose="02040503050406030204" pitchFamily="18" charset="0"/>
                                      <a:cs typeface="Times New Roman" panose="02020603050405020304" pitchFamily="18" charset="0"/>
                                    </a:rPr>
                                    <m:t>1</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a:solidFill>
                                        <a:srgbClr val="000000"/>
                                      </a:solidFill>
                                      <a:latin typeface="Cambria Math" panose="02040503050406030204" pitchFamily="18" charset="0"/>
                                      <a:cs typeface="Times New Roman" panose="02020603050405020304" pitchFamily="18" charset="0"/>
                                    </a:rPr>
                                    <m:t>𝒏</m:t>
                                  </m:r>
                                </m:e>
                                <m:sub>
                                  <m:r>
                                    <a:rPr lang="en-US" altLang="zh-CN" sz="2800">
                                      <a:solidFill>
                                        <a:srgbClr val="000000"/>
                                      </a:solidFill>
                                      <a:latin typeface="Cambria Math" panose="02040503050406030204" pitchFamily="18" charset="0"/>
                                      <a:cs typeface="Times New Roman" panose="02020603050405020304" pitchFamily="18" charset="0"/>
                                    </a:rPr>
                                    <m:t>1</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𝐴𝑃</m:t>
                                  </m:r>
                                </m:e>
                              </m:acc>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en-US" altLang="zh-CN" sz="2800" i="1" dirty="0" smtClean="0">
                  <a:solidFill>
                    <a:srgbClr val="000000"/>
                  </a:solidFill>
                  <a:latin typeface="Cambria Math" panose="020405030504060302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14:m>
                  <m:oMath xmlns:m="http://schemas.openxmlformats.org/officeDocument/2006/math">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即</m:t>
                    </m:r>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𝑡</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𝑥</m:t>
                                  </m:r>
                                </m:e>
                                <m:sub>
                                  <m:r>
                                    <a:rPr lang="en-US" altLang="zh-CN" sz="2800">
                                      <a:solidFill>
                                        <a:srgbClr val="000000"/>
                                      </a:solidFill>
                                      <a:latin typeface="Cambria Math" panose="02040503050406030204" pitchFamily="18" charset="0"/>
                                      <a:cs typeface="Times New Roman" panose="02020603050405020304" pitchFamily="18" charset="0"/>
                                    </a:rPr>
                                    <m:t>1</m:t>
                                  </m:r>
                                </m:sub>
                              </m:sSub>
                              <m:r>
                                <a:rPr lang="en-US" altLang="zh-CN" sz="2800">
                                  <a:solidFill>
                                    <a:srgbClr val="000000"/>
                                  </a:solidFill>
                                  <a:latin typeface="Cambria Math" panose="02040503050406030204" pitchFamily="18" charset="0"/>
                                  <a:cs typeface="Times New Roman" panose="02020603050405020304" pitchFamily="18" charset="0"/>
                                </a:rPr>
                                <m:t>+</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𝑦</m:t>
                                  </m:r>
                                </m:e>
                                <m:sub>
                                  <m:r>
                                    <a:rPr lang="en-US" altLang="zh-CN" sz="2800">
                                      <a:solidFill>
                                        <a:srgbClr val="000000"/>
                                      </a:solidFill>
                                      <a:latin typeface="Cambria Math" panose="02040503050406030204" pitchFamily="18" charset="0"/>
                                      <a:cs typeface="Times New Roman" panose="02020603050405020304" pitchFamily="18" charset="0"/>
                                    </a:rPr>
                                    <m:t>1</m:t>
                                  </m:r>
                                </m:sub>
                              </m:sSub>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a:solidFill>
                                    <a:srgbClr val="000000"/>
                                  </a:solidFill>
                                  <a:latin typeface="Cambria Math" panose="02040503050406030204" pitchFamily="18" charset="0"/>
                                  <a:cs typeface="Times New Roman" panose="02020603050405020304" pitchFamily="18" charset="0"/>
                                </a:rPr>
                                <m:t>2</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𝑧</m:t>
                                  </m:r>
                                </m:e>
                                <m:sub>
                                  <m:r>
                                    <a:rPr lang="en-US" altLang="zh-CN" sz="2800">
                                      <a:solidFill>
                                        <a:srgbClr val="000000"/>
                                      </a:solidFill>
                                      <a:latin typeface="Cambria Math" panose="02040503050406030204" pitchFamily="18" charset="0"/>
                                      <a:cs typeface="Times New Roman" panose="02020603050405020304" pitchFamily="18" charset="0"/>
                                    </a:rPr>
                                    <m:t>1</m:t>
                                  </m:r>
                                </m:sub>
                              </m:sSub>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197681"/>
                <a:ext cx="11430000" cy="5949064"/>
              </a:xfrm>
              <a:prstGeom prst="rect">
                <a:avLst/>
              </a:prstGeom>
              <a:blipFill rotWithShape="0">
                <a:blip r:embed="rId2"/>
                <a:stretch>
                  <a:fillRect l="-1120" t="-205"/>
                </a:stretch>
              </a:blipFill>
            </p:spPr>
            <p:txBody>
              <a:bodyPr/>
              <a:lstStyle/>
              <a:p>
                <a:r>
                  <a:rPr lang="zh-CN" altLang="en-US">
                    <a:noFill/>
                  </a:rPr>
                  <a:t> </a:t>
                </a:r>
              </a:p>
            </p:txBody>
          </p:sp>
        </mc:Fallback>
      </mc:AlternateContent>
      <p:pic>
        <p:nvPicPr>
          <p:cNvPr id="3" name="25N13.eps" descr="id:2147518635;FounderCES"/>
          <p:cNvPicPr/>
          <p:nvPr/>
        </p:nvPicPr>
        <p:blipFill>
          <a:blip r:embed="rId3">
            <a:clrChange>
              <a:clrFrom>
                <a:srgbClr val="FFFFFF"/>
              </a:clrFrom>
              <a:clrTo>
                <a:srgbClr val="FFFFFF">
                  <a:alpha val="0"/>
                </a:srgbClr>
              </a:clrTo>
            </a:clrChange>
          </a:blip>
          <a:stretch>
            <a:fillRect/>
          </a:stretch>
        </p:blipFill>
        <p:spPr>
          <a:xfrm>
            <a:off x="7493317" y="2779307"/>
            <a:ext cx="3081165" cy="3081165"/>
          </a:xfrm>
          <a:prstGeom prst="rect">
            <a:avLst/>
          </a:prstGeom>
        </p:spPr>
      </p:pic>
    </p:spTree>
    <p:extLst>
      <p:ext uri="{BB962C8B-B14F-4D97-AF65-F5344CB8AC3E}">
        <p14:creationId xmlns:p14="http://schemas.microsoft.com/office/powerpoint/2010/main" val="260124993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81000" y="199304"/>
                <a:ext cx="11430000" cy="575907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不妨设</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ACP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的一个法向量为</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CPD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a:solidFill>
                                        <a:srgbClr val="000000"/>
                                      </a:solidFill>
                                      <a:latin typeface="Cambria Math" panose="02040503050406030204" pitchFamily="18" charset="0"/>
                                      <a:cs typeface="Times New Roman" panose="02020603050405020304" pitchFamily="18" charset="0"/>
                                    </a:rPr>
                                    <m:t>𝒏</m:t>
                                  </m:r>
                                </m:e>
                                <m:sub>
                                  <m:r>
                                    <a:rPr lang="en-US" altLang="zh-CN" sz="2800">
                                      <a:solidFill>
                                        <a:srgbClr val="000000"/>
                                      </a:solidFill>
                                      <a:latin typeface="Cambria Math" panose="02040503050406030204" pitchFamily="18" charset="0"/>
                                      <a:cs typeface="Times New Roman" panose="02020603050405020304" pitchFamily="18" charset="0"/>
                                    </a:rPr>
                                    <m:t>2</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𝐷𝑃</m:t>
                                  </m:r>
                                </m:e>
                              </m:acc>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a:solidFill>
                                        <a:srgbClr val="000000"/>
                                      </a:solidFill>
                                      <a:latin typeface="Cambria Math" panose="02040503050406030204" pitchFamily="18" charset="0"/>
                                      <a:cs typeface="Times New Roman" panose="02020603050405020304" pitchFamily="18" charset="0"/>
                                    </a:rPr>
                                    <m:t>𝒏</m:t>
                                  </m:r>
                                </m:e>
                                <m:sub>
                                  <m:r>
                                    <a:rPr lang="en-US" altLang="zh-CN" sz="2800">
                                      <a:solidFill>
                                        <a:srgbClr val="000000"/>
                                      </a:solidFill>
                                      <a:latin typeface="Cambria Math" panose="02040503050406030204" pitchFamily="18" charset="0"/>
                                      <a:cs typeface="Times New Roman" panose="02020603050405020304" pitchFamily="18" charset="0"/>
                                    </a:rPr>
                                    <m:t>2</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𝐷𝐶</m:t>
                                  </m:r>
                                </m:e>
                              </m:acc>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即</m:t>
                    </m:r>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𝑡</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𝑥</m:t>
                                  </m:r>
                                </m:e>
                                <m:sub>
                                  <m:r>
                                    <a:rPr lang="en-US" altLang="zh-CN" sz="2800">
                                      <a:solidFill>
                                        <a:srgbClr val="000000"/>
                                      </a:solidFill>
                                      <a:latin typeface="Cambria Math" panose="02040503050406030204" pitchFamily="18" charset="0"/>
                                      <a:cs typeface="Times New Roman" panose="02020603050405020304" pitchFamily="18" charset="0"/>
                                    </a:rPr>
                                    <m:t>2</m:t>
                                  </m:r>
                                </m:sub>
                              </m:sSub>
                              <m:r>
                                <a:rPr lang="en-US" altLang="zh-CN" sz="2800">
                                  <a:solidFill>
                                    <a:srgbClr val="000000"/>
                                  </a:solidFill>
                                  <a:latin typeface="Cambria Math" panose="02040503050406030204" pitchFamily="18" charset="0"/>
                                  <a:cs typeface="Times New Roman" panose="02020603050405020304" pitchFamily="18" charset="0"/>
                                </a:rPr>
                                <m:t>+2</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𝑧</m:t>
                                  </m:r>
                                </m:e>
                                <m:sub>
                                  <m:r>
                                    <a:rPr lang="en-US" altLang="zh-CN" sz="2800">
                                      <a:solidFill>
                                        <a:srgbClr val="000000"/>
                                      </a:solidFill>
                                      <a:latin typeface="Cambria Math" panose="02040503050406030204" pitchFamily="18" charset="0"/>
                                      <a:cs typeface="Times New Roman" panose="02020603050405020304" pitchFamily="18" charset="0"/>
                                    </a:rPr>
                                    <m:t>2</m:t>
                                  </m:r>
                                </m:sub>
                              </m:sSub>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𝑦</m:t>
                                  </m:r>
                                </m:e>
                                <m:sub>
                                  <m:r>
                                    <a:rPr lang="en-US" altLang="zh-CN" sz="2800">
                                      <a:solidFill>
                                        <a:srgbClr val="000000"/>
                                      </a:solidFill>
                                      <a:latin typeface="Cambria Math" panose="02040503050406030204" pitchFamily="18" charset="0"/>
                                      <a:cs typeface="Times New Roman" panose="02020603050405020304" pitchFamily="18" charset="0"/>
                                    </a:rPr>
                                    <m:t>2</m:t>
                                  </m:r>
                                </m:sub>
                              </m:sSub>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不妨设</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CPD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的一个法向量为</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二面角</a:t>
                </a:r>
                <a:r>
                  <a:rPr lang="en-US" altLang="zh-CN" sz="2800" i="1" dirty="0">
                    <a:solidFill>
                      <a:srgbClr val="000000"/>
                    </a:solidFill>
                    <a:latin typeface="Times New Roman" panose="02020603050405020304" pitchFamily="18" charset="0"/>
                    <a:cs typeface="Times New Roman" panose="02020603050405020304" pitchFamily="18" charset="0"/>
                  </a:rPr>
                  <a:t>A-CP-D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的正弦值为</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42</m:t>
                            </m:r>
                          </m:e>
                        </m:rad>
                      </m:num>
                      <m:den>
                        <m:r>
                          <a:rPr lang="en-US" altLang="zh-CN" sz="2800">
                            <a:solidFill>
                              <a:srgbClr val="000000"/>
                            </a:solidFill>
                            <a:latin typeface="Cambria Math" panose="02040503050406030204" pitchFamily="18" charset="0"/>
                            <a:cs typeface="Times New Roman" panose="02020603050405020304" pitchFamily="18" charset="0"/>
                          </a:rPr>
                          <m:t>7</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又由图可知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二面角</a:t>
                </a:r>
                <a:r>
                  <a:rPr lang="en-US" altLang="zh-CN" sz="2800" i="1" dirty="0">
                    <a:solidFill>
                      <a:srgbClr val="000000"/>
                    </a:solidFill>
                    <a:latin typeface="Times New Roman" panose="02020603050405020304" pitchFamily="18" charset="0"/>
                    <a:cs typeface="Times New Roman" panose="02020603050405020304" pitchFamily="18" charset="0"/>
                  </a:rPr>
                  <a:t>A-CP-D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为锐角</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二面角</a:t>
                </a:r>
                <a:r>
                  <a:rPr lang="en-US" altLang="zh-CN" sz="2800" i="1" dirty="0">
                    <a:solidFill>
                      <a:srgbClr val="000000"/>
                    </a:solidFill>
                    <a:latin typeface="Times New Roman" panose="02020603050405020304" pitchFamily="18" charset="0"/>
                    <a:cs typeface="Times New Roman" panose="02020603050405020304" pitchFamily="18" charset="0"/>
                  </a:rPr>
                  <a:t>A-CP-D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的余弦值为</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7</m:t>
                            </m:r>
                          </m:e>
                        </m:rad>
                      </m:num>
                      <m:den>
                        <m:r>
                          <a:rPr lang="en-US" altLang="zh-CN" sz="2800">
                            <a:solidFill>
                              <a:srgbClr val="000000"/>
                            </a:solidFill>
                            <a:latin typeface="Cambria Math" panose="02040503050406030204" pitchFamily="18" charset="0"/>
                            <a:cs typeface="Times New Roman" panose="02020603050405020304" pitchFamily="18" charset="0"/>
                          </a:rPr>
                          <m:t>7</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𝑛</m:t>
                            </m:r>
                          </m:e>
                          <m:sub>
                            <m:r>
                              <a:rPr lang="en-US" altLang="zh-CN" sz="2800">
                                <a:solidFill>
                                  <a:srgbClr val="000000"/>
                                </a:solidFill>
                                <a:latin typeface="Cambria Math" panose="02040503050406030204" pitchFamily="18" charset="0"/>
                                <a:cs typeface="Times New Roman" panose="02020603050405020304" pitchFamily="18" charset="0"/>
                              </a:rPr>
                              <m:t>1</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𝑛</m:t>
                            </m:r>
                          </m:e>
                          <m:sub>
                            <m:r>
                              <a:rPr lang="en-US" altLang="zh-CN" sz="2800">
                                <a:solidFill>
                                  <a:srgbClr val="000000"/>
                                </a:solidFill>
                                <a:latin typeface="Cambria Math" panose="02040503050406030204" pitchFamily="18" charset="0"/>
                                <a:cs typeface="Times New Roman" panose="02020603050405020304" pitchFamily="18" charset="0"/>
                              </a:rPr>
                              <m:t>2</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num>
                      <m:den>
                        <m:r>
                          <m:rPr>
                            <m:nor/>
                          </m:rPr>
                          <a:rPr lang="en-US" altLang="zh-CN" sz="2800">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𝑛</m:t>
                            </m:r>
                          </m:e>
                          <m:sub>
                            <m:r>
                              <a:rPr lang="en-US" altLang="zh-CN" sz="2800">
                                <a:solidFill>
                                  <a:srgbClr val="000000"/>
                                </a:solidFill>
                                <a:latin typeface="Cambria Math" panose="02040503050406030204" pitchFamily="18" charset="0"/>
                                <a:cs typeface="Times New Roman" panose="02020603050405020304" pitchFamily="18" charset="0"/>
                              </a:rPr>
                              <m:t>1</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𝑛</m:t>
                            </m:r>
                          </m:e>
                          <m:sub>
                            <m:r>
                              <a:rPr lang="en-US" altLang="zh-CN" sz="2800">
                                <a:solidFill>
                                  <a:srgbClr val="000000"/>
                                </a:solidFill>
                                <a:latin typeface="Cambria Math" panose="02040503050406030204" pitchFamily="18" charset="0"/>
                                <a:cs typeface="Times New Roman" panose="02020603050405020304" pitchFamily="18" charset="0"/>
                              </a:rPr>
                              <m:t>2</m:t>
                            </m:r>
                          </m:sub>
                        </m:sSub>
                        <m:r>
                          <m:rPr>
                            <m:nor/>
                          </m:rPr>
                          <a:rPr lang="en-US" altLang="zh-CN" sz="2800">
                            <a:solidFill>
                              <a:srgbClr val="000000"/>
                            </a:solidFill>
                            <a:latin typeface="Times New Roman" panose="02020603050405020304" pitchFamily="18" charset="0"/>
                            <a:cs typeface="Times New Roman" panose="02020603050405020304" pitchFamily="18" charset="0"/>
                          </a:rPr>
                          <m:t>|</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2</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num>
                      <m:den>
                        <m:r>
                          <a:rPr lang="en-US" altLang="zh-CN" sz="2800">
                            <a:solidFill>
                              <a:srgbClr val="000000"/>
                            </a:solidFill>
                            <a:latin typeface="Cambria Math" panose="02040503050406030204" pitchFamily="18" charset="0"/>
                            <a:cs typeface="Times New Roman" panose="02020603050405020304" pitchFamily="18" charset="0"/>
                          </a:rPr>
                          <m:t>2</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𝑡</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+4</m:t>
                            </m:r>
                          </m:e>
                        </m:rad>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7</m:t>
                            </m:r>
                          </m:e>
                        </m:rad>
                      </m:num>
                      <m:den>
                        <m:r>
                          <a:rPr lang="en-US" altLang="zh-CN" sz="2800">
                            <a:solidFill>
                              <a:srgbClr val="000000"/>
                            </a:solidFill>
                            <a:latin typeface="Cambria Math" panose="02040503050406030204" pitchFamily="18" charset="0"/>
                            <a:cs typeface="Times New Roman" panose="02020603050405020304" pitchFamily="18" charset="0"/>
                          </a:rPr>
                          <m:t>7</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3</m:t>
                        </m:r>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3</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199304"/>
                <a:ext cx="11430000" cy="5759077"/>
              </a:xfrm>
              <a:prstGeom prst="rect">
                <a:avLst/>
              </a:prstGeom>
              <a:blipFill rotWithShape="0">
                <a:blip r:embed="rId2"/>
                <a:stretch>
                  <a:fillRect l="-1120" b="-21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31566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294"/>
            <a:ext cx="11430000" cy="619374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新</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zh-CN" altLang="zh-CN" sz="2800" smtClean="0">
                <a:solidFill>
                  <a:srgbClr val="000000"/>
                </a:solidFill>
                <a:latin typeface="NEU-BZ-S92"/>
                <a:cs typeface="宋体" panose="02010600030101010101" pitchFamily="2" charset="-122"/>
              </a:rPr>
              <a:t>Ⅰ</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在三棱锥</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029335" algn="l"/>
                <a:tab pos="1850390" algn="l"/>
                <a:tab pos="2538095" algn="l"/>
                <a:tab pos="3221990"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AB=AD</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OCD</a:t>
            </a:r>
            <a:r>
              <a:rPr lang="zh-CN" altLang="zh-CN" sz="2800" dirty="0">
                <a:solidFill>
                  <a:srgbClr val="000000"/>
                </a:solidFill>
                <a:latin typeface="Times New Roman" panose="02020603050405020304" pitchFamily="18" charset="0"/>
                <a:cs typeface="Times New Roman" panose="02020603050405020304" pitchFamily="18" charset="0"/>
              </a:rPr>
              <a:t>是边长为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的等边三角形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在棱</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DE=</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且二面角</a:t>
            </a:r>
            <a:r>
              <a:rPr lang="en-US" altLang="zh-CN" sz="2800" i="1" dirty="0">
                <a:solidFill>
                  <a:srgbClr val="000000"/>
                </a:solidFill>
                <a:latin typeface="Times New Roman" panose="02020603050405020304" pitchFamily="18" charset="0"/>
                <a:cs typeface="Times New Roman" panose="02020603050405020304" pitchFamily="18" charset="0"/>
              </a:rPr>
              <a:t>E-BC-D</a:t>
            </a:r>
            <a:r>
              <a:rPr lang="zh-CN" altLang="zh-CN" sz="2800" dirty="0">
                <a:solidFill>
                  <a:srgbClr val="000000"/>
                </a:solidFill>
                <a:latin typeface="Times New Roman" panose="02020603050405020304" pitchFamily="18" charset="0"/>
                <a:cs typeface="Times New Roman" panose="02020603050405020304" pitchFamily="18" charset="0"/>
              </a:rPr>
              <a:t>的大小为</a:t>
            </a:r>
            <a:r>
              <a:rPr lang="en-US" altLang="zh-CN" sz="2800" dirty="0">
                <a:solidFill>
                  <a:srgbClr val="000000"/>
                </a:solidFill>
                <a:latin typeface="Times New Roman" panose="02020603050405020304" pitchFamily="18" charset="0"/>
                <a:cs typeface="Times New Roman" panose="02020603050405020304" pitchFamily="18" charset="0"/>
              </a:rPr>
              <a:t>45</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求三棱锥</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的体积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NMX1TRAX192.eps" descr="id:2147518771;FounderCES"/>
          <p:cNvPicPr/>
          <p:nvPr/>
        </p:nvPicPr>
        <p:blipFill>
          <a:blip r:embed="rId2">
            <a:clrChange>
              <a:clrFrom>
                <a:srgbClr val="FFFFFF"/>
              </a:clrFrom>
              <a:clrTo>
                <a:srgbClr val="FFFFFF">
                  <a:alpha val="0"/>
                </a:srgbClr>
              </a:clrTo>
            </a:clrChange>
          </a:blip>
          <a:stretch>
            <a:fillRect/>
          </a:stretch>
        </p:blipFill>
        <p:spPr>
          <a:xfrm>
            <a:off x="7772716" y="2956270"/>
            <a:ext cx="3678128" cy="2602865"/>
          </a:xfrm>
          <a:prstGeom prst="rect">
            <a:avLst/>
          </a:prstGeom>
        </p:spPr>
      </p:pic>
    </p:spTree>
    <p:extLst>
      <p:ext uri="{BB962C8B-B14F-4D97-AF65-F5344CB8AC3E}">
        <p14:creationId xmlns:p14="http://schemas.microsoft.com/office/powerpoint/2010/main" val="257633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wipe(down)">
                                      <p:cBhvr>
                                        <p:cTn id="10" dur="500"/>
                                        <p:tgtEl>
                                          <p:spTgt spid="2">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wipe(down)">
                                      <p:cBhvr>
                                        <p:cTn id="13" dur="500"/>
                                        <p:tgtEl>
                                          <p:spTgt spid="2">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wipe(down)">
                                      <p:cBhvr>
                                        <p:cTn id="16" dur="500"/>
                                        <p:tgtEl>
                                          <p:spTgt spid="2">
                                            <p:txEl>
                                              <p:pRg st="7" end="7"/>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Effect transition="in" filter="wipe(down)">
                                      <p:cBhvr>
                                        <p:cTn id="19" dur="500"/>
                                        <p:tgtEl>
                                          <p:spTgt spid="2">
                                            <p:txEl>
                                              <p:pRg st="8" end="8"/>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wipe(down)">
                                      <p:cBhvr>
                                        <p:cTn id="2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578"/>
            <a:ext cx="11430000" cy="619374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EN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交</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NM</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交</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EM.</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EN</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是边长为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的等边三角形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OB=OD=OC=</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NM</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NM</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EMN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是二面角</a:t>
            </a:r>
            <a:r>
              <a:rPr lang="en-US" altLang="zh-CN" sz="2800" i="1" dirty="0">
                <a:solidFill>
                  <a:srgbClr val="000000"/>
                </a:solidFill>
                <a:latin typeface="Times New Roman" panose="02020603050405020304" pitchFamily="18" charset="0"/>
                <a:cs typeface="Times New Roman" panose="02020603050405020304" pitchFamily="18" charset="0"/>
              </a:rPr>
              <a:t>E-BC-D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的一个平面角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EMN=</a:t>
            </a:r>
            <a:r>
              <a:rPr lang="en-US" altLang="zh-CN" sz="2800" dirty="0">
                <a:solidFill>
                  <a:srgbClr val="000000"/>
                </a:solidFill>
                <a:latin typeface="Times New Roman" panose="02020603050405020304" pitchFamily="18" charset="0"/>
                <a:cs typeface="Times New Roman" panose="02020603050405020304" pitchFamily="18" charset="0"/>
              </a:rPr>
              <a:t>45</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EMN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是等腰直角三角形</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DE=</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ON.</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5" name="组合 4"/>
          <p:cNvGrpSpPr/>
          <p:nvPr/>
        </p:nvGrpSpPr>
        <p:grpSpPr>
          <a:xfrm>
            <a:off x="7737504" y="1601095"/>
            <a:ext cx="3727097" cy="3461104"/>
            <a:chOff x="7737504" y="1528358"/>
            <a:chExt cx="3727097" cy="3461104"/>
          </a:xfrm>
        </p:grpSpPr>
        <p:pic>
          <p:nvPicPr>
            <p:cNvPr id="3" name="NMX1TRAX324.eps" descr="id:2147518778;FounderCES"/>
            <p:cNvPicPr/>
            <p:nvPr/>
          </p:nvPicPr>
          <p:blipFill>
            <a:blip r:embed="rId2">
              <a:clrChange>
                <a:clrFrom>
                  <a:srgbClr val="FFFFFF"/>
                </a:clrFrom>
                <a:clrTo>
                  <a:srgbClr val="FFFFFF">
                    <a:alpha val="0"/>
                  </a:srgbClr>
                </a:clrTo>
              </a:clrChange>
            </a:blip>
            <a:stretch>
              <a:fillRect/>
            </a:stretch>
          </p:blipFill>
          <p:spPr>
            <a:xfrm>
              <a:off x="7737504" y="1528358"/>
              <a:ext cx="3727097" cy="2628006"/>
            </a:xfrm>
            <a:prstGeom prst="rect">
              <a:avLst/>
            </a:prstGeom>
          </p:spPr>
        </p:pic>
        <p:sp>
          <p:nvSpPr>
            <p:cNvPr id="4" name="矩形 3"/>
            <p:cNvSpPr>
              <a:spLocks noChangeAspect="1"/>
            </p:cNvSpPr>
            <p:nvPr/>
          </p:nvSpPr>
          <p:spPr>
            <a:xfrm>
              <a:off x="9119189" y="4336976"/>
              <a:ext cx="963725" cy="652486"/>
            </a:xfrm>
            <a:prstGeom prst="rect">
              <a:avLst/>
            </a:prstGeom>
          </p:spPr>
          <p:txBody>
            <a:bodyPr wrap="none">
              <a:spAutoFit/>
            </a:bodyPr>
            <a:lstStyle/>
            <a:p>
              <a:pPr algn="ct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928219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71582466"/>
              </p:ext>
            </p:extLst>
          </p:nvPr>
        </p:nvGraphicFramePr>
        <p:xfrm>
          <a:off x="458424" y="836743"/>
          <a:ext cx="11275153" cy="2383583"/>
        </p:xfrm>
        <a:graphic>
          <a:graphicData uri="http://schemas.openxmlformats.org/presentationml/2006/ole">
            <mc:AlternateContent xmlns:mc="http://schemas.openxmlformats.org/markup-compatibility/2006">
              <mc:Choice xmlns:v="urn:schemas-microsoft-com:vml" Requires="v">
                <p:oleObj spid="_x0000_s54281" name="文档" r:id="rId3" imgW="4510061" imgH="953433" progId="Word.Document.12">
                  <p:embed/>
                </p:oleObj>
              </mc:Choice>
              <mc:Fallback>
                <p:oleObj name="文档" r:id="rId3" imgW="4510061" imgH="953433" progId="Word.Document.12">
                  <p:embed/>
                  <p:pic>
                    <p:nvPicPr>
                      <p:cNvPr id="0" name=""/>
                      <p:cNvPicPr/>
                      <p:nvPr/>
                    </p:nvPicPr>
                    <p:blipFill>
                      <a:blip r:embed="rId4"/>
                      <a:stretch>
                        <a:fillRect/>
                      </a:stretch>
                    </p:blipFill>
                    <p:spPr>
                      <a:xfrm>
                        <a:off x="458424" y="836743"/>
                        <a:ext cx="11275153" cy="2383583"/>
                      </a:xfrm>
                      <a:prstGeom prst="rect">
                        <a:avLst/>
                      </a:prstGeom>
                    </p:spPr>
                  </p:pic>
                </p:oleObj>
              </mc:Fallback>
            </mc:AlternateContent>
          </a:graphicData>
        </a:graphic>
      </p:graphicFrame>
      <p:sp>
        <p:nvSpPr>
          <p:cNvPr id="3" name="矩形 2"/>
          <p:cNvSpPr>
            <a:spLocks noChangeAspect="1"/>
          </p:cNvSpPr>
          <p:nvPr/>
        </p:nvSpPr>
        <p:spPr>
          <a:xfrm>
            <a:off x="381000" y="3199544"/>
            <a:ext cx="11430000" cy="1712520"/>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是边长为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的等边三角形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OC=OD=CD=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OB=OD=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6166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3620"/>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垂直于</a:t>
            </a:r>
            <a:r>
              <a:rPr lang="en-US" altLang="zh-CN" sz="2800" i="1" dirty="0">
                <a:solidFill>
                  <a:srgbClr val="000000"/>
                </a:solidFill>
                <a:latin typeface="Times New Roman" panose="02020603050405020304" pitchFamily="18" charset="0"/>
                <a:cs typeface="Times New Roman" panose="02020603050405020304" pitchFamily="18" charset="0"/>
              </a:rPr>
              <a:t>OD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844765786"/>
              </p:ext>
            </p:extLst>
          </p:nvPr>
        </p:nvGraphicFramePr>
        <p:xfrm>
          <a:off x="458424" y="1254026"/>
          <a:ext cx="11275153" cy="5185843"/>
        </p:xfrm>
        <a:graphic>
          <a:graphicData uri="http://schemas.openxmlformats.org/presentationml/2006/ole">
            <mc:AlternateContent xmlns:mc="http://schemas.openxmlformats.org/markup-compatibility/2006">
              <mc:Choice xmlns:v="urn:schemas-microsoft-com:vml" Requires="v">
                <p:oleObj spid="_x0000_s55305" name="文档" r:id="rId3" imgW="4510061" imgH="2074337" progId="Word.Document.12">
                  <p:embed/>
                </p:oleObj>
              </mc:Choice>
              <mc:Fallback>
                <p:oleObj name="文档" r:id="rId3" imgW="4510061" imgH="2074337" progId="Word.Document.12">
                  <p:embed/>
                  <p:pic>
                    <p:nvPicPr>
                      <p:cNvPr id="0" name=""/>
                      <p:cNvPicPr/>
                      <p:nvPr/>
                    </p:nvPicPr>
                    <p:blipFill>
                      <a:blip r:embed="rId4"/>
                      <a:stretch>
                        <a:fillRect/>
                      </a:stretch>
                    </p:blipFill>
                    <p:spPr>
                      <a:xfrm>
                        <a:off x="458424" y="1254026"/>
                        <a:ext cx="11275153" cy="5185843"/>
                      </a:xfrm>
                      <a:prstGeom prst="rect">
                        <a:avLst/>
                      </a:prstGeom>
                    </p:spPr>
                  </p:pic>
                </p:oleObj>
              </mc:Fallback>
            </mc:AlternateContent>
          </a:graphicData>
        </a:graphic>
      </p:graphicFrame>
      <p:grpSp>
        <p:nvGrpSpPr>
          <p:cNvPr id="8" name="组合 7"/>
          <p:cNvGrpSpPr/>
          <p:nvPr/>
        </p:nvGrpSpPr>
        <p:grpSpPr>
          <a:xfrm>
            <a:off x="7422890" y="1891715"/>
            <a:ext cx="3947674" cy="3910464"/>
            <a:chOff x="7776181" y="1842655"/>
            <a:chExt cx="3947674" cy="3910464"/>
          </a:xfrm>
        </p:grpSpPr>
        <p:pic>
          <p:nvPicPr>
            <p:cNvPr id="9" name="NMX1TRAX325.eps" descr="id:2147518785;FounderCES"/>
            <p:cNvPicPr/>
            <p:nvPr/>
          </p:nvPicPr>
          <p:blipFill>
            <a:blip r:embed="rId5">
              <a:clrChange>
                <a:clrFrom>
                  <a:srgbClr val="FFFFFF"/>
                </a:clrFrom>
                <a:clrTo>
                  <a:srgbClr val="FFFFFF">
                    <a:alpha val="0"/>
                  </a:srgbClr>
                </a:clrTo>
              </a:clrChange>
            </a:blip>
            <a:stretch>
              <a:fillRect/>
            </a:stretch>
          </p:blipFill>
          <p:spPr>
            <a:xfrm>
              <a:off x="7776181" y="1842655"/>
              <a:ext cx="3947674" cy="3020290"/>
            </a:xfrm>
            <a:prstGeom prst="rect">
              <a:avLst/>
            </a:prstGeom>
          </p:spPr>
        </p:pic>
        <p:sp>
          <p:nvSpPr>
            <p:cNvPr id="10" name="矩形 9"/>
            <p:cNvSpPr>
              <a:spLocks noChangeAspect="1"/>
            </p:cNvSpPr>
            <p:nvPr/>
          </p:nvSpPr>
          <p:spPr>
            <a:xfrm>
              <a:off x="9268155" y="5100633"/>
              <a:ext cx="963725" cy="652486"/>
            </a:xfrm>
            <a:prstGeom prst="rect">
              <a:avLst/>
            </a:prstGeom>
          </p:spPr>
          <p:txBody>
            <a:bodyPr wrap="none">
              <a:spAutoFit/>
            </a:bodyPr>
            <a:lstStyle/>
            <a:p>
              <a:pPr algn="ct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782968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43898087"/>
              </p:ext>
            </p:extLst>
          </p:nvPr>
        </p:nvGraphicFramePr>
        <p:xfrm>
          <a:off x="458424" y="757321"/>
          <a:ext cx="11275153" cy="4163408"/>
        </p:xfrm>
        <a:graphic>
          <a:graphicData uri="http://schemas.openxmlformats.org/presentationml/2006/ole">
            <mc:AlternateContent xmlns:mc="http://schemas.openxmlformats.org/markup-compatibility/2006">
              <mc:Choice xmlns:v="urn:schemas-microsoft-com:vml" Requires="v">
                <p:oleObj spid="_x0000_s56329" name="文档" r:id="rId3" imgW="4510061" imgH="1665363" progId="Word.Document.12">
                  <p:embed/>
                </p:oleObj>
              </mc:Choice>
              <mc:Fallback>
                <p:oleObj name="文档" r:id="rId3" imgW="4510061" imgH="1665363" progId="Word.Document.12">
                  <p:embed/>
                  <p:pic>
                    <p:nvPicPr>
                      <p:cNvPr id="0" name=""/>
                      <p:cNvPicPr/>
                      <p:nvPr/>
                    </p:nvPicPr>
                    <p:blipFill>
                      <a:blip r:embed="rId4"/>
                      <a:stretch>
                        <a:fillRect/>
                      </a:stretch>
                    </p:blipFill>
                    <p:spPr>
                      <a:xfrm>
                        <a:off x="458424" y="757321"/>
                        <a:ext cx="11275153" cy="4163408"/>
                      </a:xfrm>
                      <a:prstGeom prst="rect">
                        <a:avLst/>
                      </a:prstGeom>
                    </p:spPr>
                  </p:pic>
                </p:oleObj>
              </mc:Fallback>
            </mc:AlternateContent>
          </a:graphicData>
        </a:graphic>
      </p:graphicFrame>
    </p:spTree>
    <p:extLst>
      <p:ext uri="{BB962C8B-B14F-4D97-AF65-F5344CB8AC3E}">
        <p14:creationId xmlns:p14="http://schemas.microsoft.com/office/powerpoint/2010/main" val="1354875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426"/>
            <a:ext cx="11430000" cy="62540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dirty="0">
                <a:solidFill>
                  <a:srgbClr val="000000"/>
                </a:solidFill>
                <a:latin typeface="NEU-BZ-S92"/>
                <a:cs typeface="宋体" panose="02010600030101010101" pitchFamily="2" charset="-122"/>
              </a:rPr>
              <a:t>Ⅱ</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侧面</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为正方形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AB=BC=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为棱</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上的点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DE</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DFE</a:t>
            </a:r>
            <a:r>
              <a:rPr lang="zh-CN" altLang="zh-CN" sz="2800" dirty="0">
                <a:solidFill>
                  <a:srgbClr val="000000"/>
                </a:solidFill>
                <a:latin typeface="Times New Roman" panose="02020603050405020304" pitchFamily="18" charset="0"/>
                <a:cs typeface="Times New Roman" panose="02020603050405020304" pitchFamily="18" charset="0"/>
              </a:rPr>
              <a:t>所成的二面角的正弦值最小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NMX1TRAX193.eps" descr="id:2147518792;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497152"/>
            <a:ext cx="3310864" cy="3722841"/>
          </a:xfrm>
          <a:prstGeom prst="rect">
            <a:avLst/>
          </a:prstGeom>
        </p:spPr>
      </p:pic>
    </p:spTree>
    <p:extLst>
      <p:ext uri="{BB962C8B-B14F-4D97-AF65-F5344CB8AC3E}">
        <p14:creationId xmlns:p14="http://schemas.microsoft.com/office/powerpoint/2010/main" val="2024593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771"/>
            <a:ext cx="11430000" cy="619374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四边形</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为正方形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BF=B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两两互相垂直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NMX1TRAX326.eps" descr="id:2147518799;FounderCES"/>
          <p:cNvPicPr/>
          <p:nvPr/>
        </p:nvPicPr>
        <p:blipFill>
          <a:blip r:embed="rId2">
            <a:clrChange>
              <a:clrFrom>
                <a:srgbClr val="FFFFFF"/>
              </a:clrFrom>
              <a:clrTo>
                <a:srgbClr val="FFFFFF">
                  <a:alpha val="0"/>
                </a:srgbClr>
              </a:clrTo>
            </a:clrChange>
          </a:blip>
          <a:stretch>
            <a:fillRect/>
          </a:stretch>
        </p:blipFill>
        <p:spPr>
          <a:xfrm>
            <a:off x="7353039" y="692150"/>
            <a:ext cx="3202772" cy="3776201"/>
          </a:xfrm>
          <a:prstGeom prst="rect">
            <a:avLst/>
          </a:prstGeom>
        </p:spPr>
      </p:pic>
    </p:spTree>
    <p:extLst>
      <p:ext uri="{BB962C8B-B14F-4D97-AF65-F5344CB8AC3E}">
        <p14:creationId xmlns:p14="http://schemas.microsoft.com/office/powerpoint/2010/main" val="2688684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197781"/>
            <a:ext cx="11430000" cy="6116024"/>
            <a:chOff x="381000" y="197781"/>
            <a:chExt cx="11430000" cy="6116024"/>
          </a:xfrm>
        </p:grpSpPr>
        <p:graphicFrame>
          <p:nvGraphicFramePr>
            <p:cNvPr id="2" name="对象 1"/>
            <p:cNvGraphicFramePr>
              <a:graphicFrameLocks noChangeAspect="1"/>
            </p:cNvGraphicFramePr>
            <p:nvPr>
              <p:extLst>
                <p:ext uri="{D42A27DB-BD31-4B8C-83A1-F6EECF244321}">
                  <p14:modId xmlns:p14="http://schemas.microsoft.com/office/powerpoint/2010/main" val="1429090810"/>
                </p:ext>
              </p:extLst>
            </p:nvPr>
          </p:nvGraphicFramePr>
          <p:xfrm>
            <a:off x="458424" y="197781"/>
            <a:ext cx="11275153" cy="2331473"/>
          </p:xfrm>
          <a:graphic>
            <a:graphicData uri="http://schemas.openxmlformats.org/presentationml/2006/ole">
              <mc:AlternateContent xmlns:mc="http://schemas.openxmlformats.org/markup-compatibility/2006">
                <mc:Choice xmlns:v="urn:schemas-microsoft-com:vml" Requires="v">
                  <p:oleObj spid="_x0000_s57358" name="文档" r:id="rId3" imgW="4510061" imgH="932589" progId="Word.Document.12">
                    <p:embed/>
                  </p:oleObj>
                </mc:Choice>
                <mc:Fallback>
                  <p:oleObj name="文档" r:id="rId3" imgW="4510061" imgH="932589" progId="Word.Document.12">
                    <p:embed/>
                    <p:pic>
                      <p:nvPicPr>
                        <p:cNvPr id="0" name=""/>
                        <p:cNvPicPr/>
                        <p:nvPr/>
                      </p:nvPicPr>
                      <p:blipFill>
                        <a:blip r:embed="rId4"/>
                        <a:stretch>
                          <a:fillRect/>
                        </a:stretch>
                      </p:blipFill>
                      <p:spPr>
                        <a:xfrm>
                          <a:off x="458424" y="197781"/>
                          <a:ext cx="11275153" cy="2331473"/>
                        </a:xfrm>
                        <a:prstGeom prst="rect">
                          <a:avLst/>
                        </a:prstGeom>
                      </p:spPr>
                    </p:pic>
                  </p:oleObj>
                </mc:Fallback>
              </mc:AlternateContent>
            </a:graphicData>
          </a:graphic>
        </p:graphicFrame>
        <p:sp>
          <p:nvSpPr>
            <p:cNvPr id="3" name="矩形 2"/>
            <p:cNvSpPr>
              <a:spLocks noChangeAspect="1"/>
            </p:cNvSpPr>
            <p:nvPr/>
          </p:nvSpPr>
          <p:spPr>
            <a:xfrm>
              <a:off x="381000" y="2456517"/>
              <a:ext cx="11430000" cy="1712520"/>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DE.</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为平面</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设平面</a:t>
              </a:r>
              <a:r>
                <a:rPr lang="en-US" altLang="zh-CN" sz="2800" i="1" dirty="0">
                  <a:solidFill>
                    <a:srgbClr val="000000"/>
                  </a:solidFill>
                  <a:latin typeface="Times New Roman" panose="02020603050405020304" pitchFamily="18" charset="0"/>
                  <a:cs typeface="Times New Roman" panose="02020603050405020304" pitchFamily="18" charset="0"/>
                </a:rPr>
                <a:t>DFE</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53611108"/>
                </p:ext>
              </p:extLst>
            </p:nvPr>
          </p:nvGraphicFramePr>
          <p:xfrm>
            <a:off x="458424" y="4209640"/>
            <a:ext cx="11275153" cy="2104165"/>
          </p:xfrm>
          <a:graphic>
            <a:graphicData uri="http://schemas.openxmlformats.org/presentationml/2006/ole">
              <mc:AlternateContent xmlns:mc="http://schemas.openxmlformats.org/markup-compatibility/2006">
                <mc:Choice xmlns:v="urn:schemas-microsoft-com:vml" Requires="v">
                  <p:oleObj spid="_x0000_s57359" name="文档" r:id="rId5" imgW="4510061" imgH="841666" progId="Word.Document.12">
                    <p:embed/>
                  </p:oleObj>
                </mc:Choice>
                <mc:Fallback>
                  <p:oleObj name="文档" r:id="rId5" imgW="4510061" imgH="841666" progId="Word.Document.12">
                    <p:embed/>
                    <p:pic>
                      <p:nvPicPr>
                        <p:cNvPr id="0" name=""/>
                        <p:cNvPicPr/>
                        <p:nvPr/>
                      </p:nvPicPr>
                      <p:blipFill>
                        <a:blip r:embed="rId6"/>
                        <a:stretch>
                          <a:fillRect/>
                        </a:stretch>
                      </p:blipFill>
                      <p:spPr>
                        <a:xfrm>
                          <a:off x="458424" y="4209640"/>
                          <a:ext cx="11275153" cy="2104165"/>
                        </a:xfrm>
                        <a:prstGeom prst="rect">
                          <a:avLst/>
                        </a:prstGeom>
                      </p:spPr>
                    </p:pic>
                  </p:oleObj>
                </mc:Fallback>
              </mc:AlternateContent>
            </a:graphicData>
          </a:graphic>
        </p:graphicFrame>
      </p:grpSp>
    </p:spTree>
    <p:extLst>
      <p:ext uri="{BB962C8B-B14F-4D97-AF65-F5344CB8AC3E}">
        <p14:creationId xmlns:p14="http://schemas.microsoft.com/office/powerpoint/2010/main" val="4283586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948"/>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为平面</a:t>
            </a:r>
            <a:r>
              <a:rPr lang="en-US" altLang="zh-CN" sz="2800" i="1" dirty="0">
                <a:solidFill>
                  <a:srgbClr val="000000"/>
                </a:solidFill>
                <a:latin typeface="Times New Roman" panose="02020603050405020304" pitchFamily="18" charset="0"/>
                <a:cs typeface="Times New Roman" panose="02020603050405020304" pitchFamily="18" charset="0"/>
              </a:rPr>
              <a:t>DFE</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3838225"/>
              </p:ext>
            </p:extLst>
          </p:nvPr>
        </p:nvGraphicFramePr>
        <p:xfrm>
          <a:off x="458424" y="1215956"/>
          <a:ext cx="11275153" cy="5260413"/>
        </p:xfrm>
        <a:graphic>
          <a:graphicData uri="http://schemas.openxmlformats.org/presentationml/2006/ole">
            <mc:AlternateContent xmlns:mc="http://schemas.openxmlformats.org/markup-compatibility/2006">
              <mc:Choice xmlns:v="urn:schemas-microsoft-com:vml" Requires="v">
                <p:oleObj spid="_x0000_s58376" name="文档" r:id="rId3" imgW="4510061" imgH="2104165" progId="Word.Document.12">
                  <p:embed/>
                </p:oleObj>
              </mc:Choice>
              <mc:Fallback>
                <p:oleObj name="文档" r:id="rId3" imgW="4510061" imgH="2104165" progId="Word.Document.12">
                  <p:embed/>
                  <p:pic>
                    <p:nvPicPr>
                      <p:cNvPr id="0" name=""/>
                      <p:cNvPicPr/>
                      <p:nvPr/>
                    </p:nvPicPr>
                    <p:blipFill>
                      <a:blip r:embed="rId4"/>
                      <a:stretch>
                        <a:fillRect/>
                      </a:stretch>
                    </p:blipFill>
                    <p:spPr>
                      <a:xfrm>
                        <a:off x="458424" y="1215956"/>
                        <a:ext cx="11275153" cy="5260413"/>
                      </a:xfrm>
                      <a:prstGeom prst="rect">
                        <a:avLst/>
                      </a:prstGeom>
                    </p:spPr>
                  </p:pic>
                </p:oleObj>
              </mc:Fallback>
            </mc:AlternateContent>
          </a:graphicData>
        </a:graphic>
      </p:graphicFrame>
    </p:spTree>
    <p:extLst>
      <p:ext uri="{BB962C8B-B14F-4D97-AF65-F5344CB8AC3E}">
        <p14:creationId xmlns:p14="http://schemas.microsoft.com/office/powerpoint/2010/main" val="55315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146</TotalTime>
  <Words>2639</Words>
  <Application>Microsoft Office PowerPoint</Application>
  <PresentationFormat>宽屏</PresentationFormat>
  <Paragraphs>229</Paragraphs>
  <Slides>65</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84" baseType="lpstr">
      <vt:lpstr>NEU-BZ-S92</vt:lpstr>
      <vt:lpstr>Open Sans</vt:lpstr>
      <vt:lpstr>方正书宋_GBK</vt:lpstr>
      <vt:lpstr>方正姚体</vt:lpstr>
      <vt:lpstr>仿宋</vt:lpstr>
      <vt:lpstr>黑体</vt:lpstr>
      <vt:lpstr>华文细黑</vt:lpstr>
      <vt:lpstr>华文新魏</vt:lpstr>
      <vt:lpstr>楷体</vt:lpstr>
      <vt:lpstr>隶书</vt:lpstr>
      <vt:lpstr>思源黑体 CN Medium</vt:lpstr>
      <vt:lpstr>宋体</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54</cp:revision>
  <dcterms:created xsi:type="dcterms:W3CDTF">2021-08-30T08:30:26Z</dcterms:created>
  <dcterms:modified xsi:type="dcterms:W3CDTF">2025-08-09T09:53:47Z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