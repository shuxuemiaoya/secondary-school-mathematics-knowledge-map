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9" r:id="rId10"/>
    <p:sldId id="760" r:id="rId11"/>
    <p:sldId id="761" r:id="rId12"/>
    <p:sldId id="762" r:id="rId13"/>
    <p:sldId id="763" r:id="rId14"/>
    <p:sldId id="764" r:id="rId15"/>
    <p:sldId id="765" r:id="rId16"/>
    <p:sldId id="766" r:id="rId17"/>
    <p:sldId id="737" r:id="rId18"/>
    <p:sldId id="750" r:id="rId19"/>
    <p:sldId id="767" r:id="rId20"/>
    <p:sldId id="768" r:id="rId21"/>
    <p:sldId id="769" r:id="rId22"/>
    <p:sldId id="770" r:id="rId23"/>
    <p:sldId id="771" r:id="rId24"/>
    <p:sldId id="772" r:id="rId25"/>
    <p:sldId id="754" r:id="rId26"/>
    <p:sldId id="773" r:id="rId27"/>
    <p:sldId id="774" r:id="rId28"/>
    <p:sldId id="775" r:id="rId29"/>
    <p:sldId id="755" r:id="rId30"/>
    <p:sldId id="776" r:id="rId31"/>
    <p:sldId id="777" r:id="rId32"/>
    <p:sldId id="778" r:id="rId33"/>
    <p:sldId id="747" r:id="rId34"/>
    <p:sldId id="751" r:id="rId35"/>
    <p:sldId id="779" r:id="rId36"/>
    <p:sldId id="780" r:id="rId37"/>
    <p:sldId id="781" r:id="rId38"/>
    <p:sldId id="782" r:id="rId39"/>
    <p:sldId id="748" r:id="rId40"/>
    <p:sldId id="752" r:id="rId41"/>
    <p:sldId id="783" r:id="rId42"/>
    <p:sldId id="784" r:id="rId43"/>
    <p:sldId id="786" r:id="rId44"/>
    <p:sldId id="785" r:id="rId45"/>
    <p:sldId id="735" r:id="rId46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2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45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9.xml"/><Relationship Id="rId5" Type="http://schemas.openxmlformats.org/officeDocument/2006/relationships/slide" Target="slide33.xml"/><Relationship Id="rId4" Type="http://schemas.openxmlformats.org/officeDocument/2006/relationships/slide" Target="slide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package" Target="../embeddings/Microsoft_Word___2.docx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3.docx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4.docx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jpeg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5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5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Word___6.docx"/><Relationship Id="rId4" Type="http://schemas.openxmlformats.org/officeDocument/2006/relationships/oleObject" Target="../embeddings/oleObject6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emf"/><Relationship Id="rId5" Type="http://schemas.openxmlformats.org/officeDocument/2006/relationships/package" Target="../embeddings/Microsoft_Word___7.docx"/><Relationship Id="rId4" Type="http://schemas.openxmlformats.org/officeDocument/2006/relationships/oleObject" Target="../embeddings/oleObject7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8.docx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9.docx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1.docx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02624"/>
            <a:ext cx="108077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CN" sz="6000" dirty="0">
                <a:solidFill>
                  <a:srgbClr val="002060"/>
                </a:solidFill>
              </a:rPr>
              <a:t>1.2</a:t>
            </a:r>
            <a:r>
              <a:rPr lang="zh-CN" altLang="zh-CN" sz="6000" dirty="0">
                <a:solidFill>
                  <a:srgbClr val="002060"/>
                </a:solidFill>
              </a:rPr>
              <a:t>　集合间的基本关系</a:t>
            </a: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91815"/>
            <a:ext cx="10729192" cy="5060491"/>
            <a:chOff x="360437" y="791815"/>
            <a:chExt cx="10729192" cy="506049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5"/>
              <a:ext cx="10729192" cy="5060491"/>
              <a:chOff x="360437" y="1511895"/>
              <a:chExt cx="10729192" cy="345638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5"/>
                <a:ext cx="10729192" cy="345638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73017"/>
                <a:ext cx="0" cy="331236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945663"/>
              <a:ext cx="8496944" cy="47632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理解集合之间包含与相等的含义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能识别给定集合的子集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能使用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Venn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图表达集合的基本关系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体会图形对理解抽象概念的作用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在具体情境中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了解空集的含义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会判断集合间的关系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进一步积累数学抽象的经验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强化逻辑推理素养与数学运算素养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6203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556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一、子集和真子集的含义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给出下面两个集合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{0,1,2},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{0,1,2,3}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中的元素都是集合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中的元素吗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中的元素都是集合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中的元素吗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的关系能不能用图直观形象地表示出来呢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不全是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ZMG1TRA49.eps" descr="id:214749223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040957" y="4357204"/>
            <a:ext cx="1895323" cy="10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1791555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在数学中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我们经常用平面上封闭曲线的内部代表集合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这种图称为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子集与真子集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95526" y="2466602"/>
            <a:ext cx="126716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2491181" y="2930700"/>
            <a:ext cx="12657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16880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942859"/>
              </p:ext>
            </p:extLst>
          </p:nvPr>
        </p:nvGraphicFramePr>
        <p:xfrm>
          <a:off x="215900" y="781983"/>
          <a:ext cx="11306175" cy="600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文档" r:id="rId4" imgW="4491681" imgH="2393852" progId="Word.Document.12">
                  <p:embed/>
                </p:oleObj>
              </mc:Choice>
              <mc:Fallback>
                <p:oleObj name="文档" r:id="rId4" imgW="4491681" imgH="23938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5900" y="781983"/>
                        <a:ext cx="11306175" cy="6002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1738421" y="2375991"/>
            <a:ext cx="136815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765571" y="1950328"/>
            <a:ext cx="25290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998389" y="1950328"/>
            <a:ext cx="229917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5389943" y="2442544"/>
            <a:ext cx="1368152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4523505" y="2833564"/>
            <a:ext cx="229917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5554845" y="2928381"/>
            <a:ext cx="1060456" cy="287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4546733" y="3299857"/>
            <a:ext cx="229917" cy="316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9945172" y="2178755"/>
            <a:ext cx="702577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9154834" y="3913544"/>
            <a:ext cx="772835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808709" y="4868077"/>
            <a:ext cx="1368152" cy="316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368549" y="5285807"/>
            <a:ext cx="648072" cy="316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4765571" y="4434566"/>
            <a:ext cx="252909" cy="287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5998389" y="4434566"/>
            <a:ext cx="229917" cy="287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5383675" y="4832865"/>
            <a:ext cx="1368152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4526000" y="5223885"/>
            <a:ext cx="65598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5996725" y="5314555"/>
            <a:ext cx="724305" cy="287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4474725" y="5687951"/>
            <a:ext cx="1028845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9426292" y="5704061"/>
            <a:ext cx="229917" cy="316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56744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39887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1,0,1},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的关系是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M&lt;N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en-US" altLang="zh-CN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N&lt;M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⊇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1,1},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83223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1980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556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二、集合相等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【问题思考】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观察下面几个例子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是长方形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是有一个角是直角的平行四边形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{1,5,6},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{6,5,1}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你能发现两个集合之间的关系吗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与实数中的结论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相类比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在集合中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你能得出什么结论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70545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883814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的元素相同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的任何一个元素都是集合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同时集合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的任何一个元素都是集合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的元素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记作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C=D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02111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185757"/>
            <a:ext cx="10807700" cy="3710514"/>
            <a:chOff x="361950" y="1185757"/>
            <a:chExt cx="10807700" cy="3710514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185757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一般地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如果集合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任何一个元素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都是集合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的元素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同时集合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任何一个元素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都是集合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的元素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那么集合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相等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记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作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A=B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也就是说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A=B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(2)Venn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图表示为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5" name="ZMG1TRA52.eps" descr="id:2147492252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72805" y="3903634"/>
              <a:ext cx="1674792" cy="992637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/>
        </p:nvSpPr>
        <p:spPr>
          <a:xfrm>
            <a:off x="4877683" y="1250305"/>
            <a:ext cx="240853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873511" y="1714403"/>
            <a:ext cx="24058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365383" y="1827062"/>
            <a:ext cx="240853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2361211" y="2291160"/>
            <a:ext cx="24058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147283" y="241572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1142693" y="287982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913987" y="2412563"/>
            <a:ext cx="84235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2909480" y="2876661"/>
            <a:ext cx="8414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315323" y="3004160"/>
            <a:ext cx="84235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5310816" y="3468258"/>
            <a:ext cx="8414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516529" y="4150796"/>
            <a:ext cx="225112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59167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6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655911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,2},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{2,1},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中的元素相同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48531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45227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三、空集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中有多少个元素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我们把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不含任何元素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叫做空集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记为</a:t>
            </a:r>
            <a:r>
              <a:rPr lang="en-US" altLang="zh-CN" dirty="0"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并规定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空集是任何集合的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子集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36601" y="3177911"/>
            <a:ext cx="241929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3332429" y="3642009"/>
            <a:ext cx="24165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9639545" y="3177911"/>
            <a:ext cx="20464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9634631" y="3642009"/>
            <a:ext cx="2044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263813" y="3759304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4259223" y="4223402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90370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6125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zh-CN" altLang="zh-CN" i="1" u="sng" dirty="0" smtClean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方程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无解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Δ=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19681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153641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是空集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指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的部分元素组成的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空集没有子集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88829" y="302406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238932" y="367213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767002" y="417619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35649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集合</a:t>
            </a:r>
            <a:r>
              <a:rPr lang="zh-CN" altLang="zh-CN" dirty="0"/>
              <a:t>间关系的判断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776688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判断下列各题中两个集合的关系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1,1},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1,1),(1,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1)};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972679"/>
            <a:ext cx="10807700" cy="4228850"/>
            <a:chOff x="361950" y="719807"/>
            <a:chExt cx="10807700" cy="4228850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719807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的代表元素是数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的代表元素是有序实数对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故集合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无包含关系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将集合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在数轴上表示出来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由图可知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⫋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Z,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n+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Z,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表示偶数集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也表示偶数集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A=B.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ZMG1TRA53.eps" descr="id:2147492273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304653" y="2520007"/>
              <a:ext cx="6426948" cy="10129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086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32445" y="1583903"/>
            <a:ext cx="11671959" cy="2166608"/>
            <a:chOff x="432445" y="785447"/>
            <a:chExt cx="11671959" cy="2166608"/>
          </a:xfrm>
        </p:grpSpPr>
        <p:pic>
          <p:nvPicPr>
            <p:cNvPr id="8" name="延伸探究H.eps" descr="id:214749206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104853" y="785447"/>
              <a:ext cx="2740119" cy="499725"/>
            </a:xfrm>
            <a:prstGeom prst="rect">
              <a:avLst/>
            </a:prstGeom>
          </p:spPr>
        </p:pic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8991389"/>
                </p:ext>
              </p:extLst>
            </p:nvPr>
          </p:nvGraphicFramePr>
          <p:xfrm>
            <a:off x="432445" y="1471216"/>
            <a:ext cx="11671959" cy="14808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文档" r:id="rId5" imgW="3826872" imgH="485521" progId="Word.Document.12">
                    <p:embed/>
                  </p:oleObj>
                </mc:Choice>
                <mc:Fallback>
                  <p:oleObj name="文档" r:id="rId5" imgW="3826872" imgH="48552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2445" y="1471216"/>
                          <a:ext cx="11671959" cy="148083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934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105400"/>
              </p:ext>
            </p:extLst>
          </p:nvPr>
        </p:nvGraphicFramePr>
        <p:xfrm>
          <a:off x="216421" y="863823"/>
          <a:ext cx="11025187" cy="504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文档" r:id="rId4" imgW="3736870" imgH="1702739" progId="Word.Document.12">
                  <p:embed/>
                </p:oleObj>
              </mc:Choice>
              <mc:Fallback>
                <p:oleObj name="文档" r:id="rId4" imgW="3736870" imgH="17027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863823"/>
                        <a:ext cx="11025187" cy="5045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574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35831"/>
            <a:ext cx="10807700" cy="48197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判断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集合间关系的常用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列举观察法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当集合中的元素较少时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可列举出集合中的全部元素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通过定义得出集合之间的关系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元素特征法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先确定集合的代表元素是什么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弄清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zh-CN" altLang="en-US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元素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再利用元素的特征判断得出集合之间的关系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数形结合法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利用数轴或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其中不等式的解集之间的关系适合用数轴法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182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007839"/>
            <a:ext cx="11814462" cy="4228850"/>
            <a:chOff x="361950" y="1185757"/>
            <a:chExt cx="11814462" cy="4228850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185757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3)(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0}, </a:t>
              </a: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的关系是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B.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</a:t>
              </a: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D.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2},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x|x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0},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B.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</a:t>
              </a: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D.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1180563"/>
                </p:ext>
              </p:extLst>
            </p:nvPr>
          </p:nvGraphicFramePr>
          <p:xfrm>
            <a:off x="504453" y="1655911"/>
            <a:ext cx="11671959" cy="893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6" name="文档" r:id="rId4" imgW="3826872" imgH="292894" progId="Word.Document.12">
                    <p:embed/>
                  </p:oleObj>
                </mc:Choice>
                <mc:Fallback>
                  <p:oleObj name="文档" r:id="rId4" imgW="3826872" imgH="29289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1655911"/>
                          <a:ext cx="11671959" cy="8933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3250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089679"/>
            <a:ext cx="10807700" cy="3515497"/>
            <a:chOff x="361950" y="1151855"/>
            <a:chExt cx="10807700" cy="351549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151855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2,3},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{3},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⫋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故选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将集合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在数轴上表示出来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由图可知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⫋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B.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故选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7" name="ZMG1TRA54.eps" descr="id:2147492294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376661" y="3557615"/>
              <a:ext cx="6192688" cy="1109737"/>
            </a:xfrm>
            <a:prstGeom prst="rect">
              <a:avLst/>
            </a:prstGeom>
          </p:spPr>
        </p:pic>
      </p:grpSp>
      <p:sp>
        <p:nvSpPr>
          <p:cNvPr id="8" name="矩形 7"/>
          <p:cNvSpPr>
            <a:spLocks noChangeAspect="1"/>
          </p:cNvSpPr>
          <p:nvPr/>
        </p:nvSpPr>
        <p:spPr>
          <a:xfrm>
            <a:off x="361950" y="4719575"/>
            <a:ext cx="3207929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(1)D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74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 smtClean="0"/>
              <a:t>探究二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子集的列举与个数的计算</a:t>
            </a:r>
            <a:endParaRPr lang="zh-CN" altLang="zh-CN" dirty="0"/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46371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2},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写出集合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的子集、真子集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求集合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的子集数、真子集数和非空真子集数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猜想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含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个元素的集合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的子集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的个数是多少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真子集的个数及非空真子集的个数呢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把用描述法表示的集合用列举法表示出来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从而写出子集与真子集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021839"/>
            <a:ext cx="10807700" cy="41899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|x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{0,1},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1,0,1}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的子集为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,{0},{1},{0,1};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其中真子集为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,{0},{1}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的子集为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1},{0},{1},{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1,0},{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1,1},{0,1},{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1,0,1}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的子集数为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8,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真子集数为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非空真子集数为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猜想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含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个元素的集合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的子集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的个数是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真子集的个数是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非空真子集的个数是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15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94194"/>
            <a:ext cx="10807700" cy="4228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求给定集合的子集的三个关注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点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注意两个特殊的集合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即空集和它本身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要依次按照含有一个元素的子集、含有两个元素的子集、含有三个元素的子集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写出所有子集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按照如下的结论验证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仿宋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的子集有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真子集有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非空子集有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非空真子集有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69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36282"/>
            <a:ext cx="10807700" cy="43200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{1,2,3}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{1,2,3,4,5},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则符合条件的集合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的个数为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A.2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C.4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D.5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{1,2,3}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的真子集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同时集合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又是集合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{1,2,3,4,5}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的子集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只能取集合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{1,2,3,4},{1,2,3,5}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{1,2,3,4,5}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738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由</a:t>
            </a:r>
            <a:r>
              <a:rPr lang="zh-CN" altLang="zh-CN" dirty="0"/>
              <a:t>集合间的关系求参数</a:t>
            </a:r>
            <a:r>
              <a:rPr lang="zh-CN" altLang="zh-CN" dirty="0" smtClean="0"/>
              <a:t>的</a:t>
            </a:r>
            <a:r>
              <a:rPr lang="zh-CN" altLang="en-US" dirty="0" smtClean="0"/>
              <a:t>取值</a:t>
            </a:r>
            <a:r>
              <a:rPr lang="zh-CN" altLang="zh-CN" dirty="0" smtClean="0"/>
              <a:t>范围</a:t>
            </a:r>
            <a:endParaRPr lang="zh-CN" altLang="zh-CN" dirty="0"/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3838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61950" y="2526502"/>
            <a:ext cx="11814462" cy="3903087"/>
            <a:chOff x="361950" y="2526502"/>
            <a:chExt cx="11814462" cy="3903087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526502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只需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a&gt;a+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≠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将集合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在数轴上表示出来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endParaRPr lang="zh-CN" altLang="en-US" dirty="0"/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9390617"/>
                </p:ext>
              </p:extLst>
            </p:nvPr>
          </p:nvGraphicFramePr>
          <p:xfrm>
            <a:off x="504453" y="3741678"/>
            <a:ext cx="11671959" cy="1000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7" name="文档" r:id="rId4" imgW="3826872" imgH="328113" progId="Word.Document.12">
                    <p:embed/>
                  </p:oleObj>
                </mc:Choice>
                <mc:Fallback>
                  <p:oleObj name="文档" r:id="rId4" imgW="3826872" imgH="32811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3741678"/>
                          <a:ext cx="11671959" cy="10007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" name="ZMG1TRA55.eps" descr="id:2147492322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1224533" y="4798306"/>
              <a:ext cx="8864997" cy="1026690"/>
            </a:xfrm>
            <a:prstGeom prst="rect">
              <a:avLst/>
            </a:prstGeom>
          </p:spPr>
        </p:pic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5802879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综上可得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的取值范围为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a|a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2}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104853" y="729639"/>
            <a:ext cx="2740119" cy="499725"/>
          </a:xfrm>
          <a:prstGeom prst="rect">
            <a:avLst/>
          </a:prstGeom>
        </p:spPr>
      </p:pic>
      <p:sp>
        <p:nvSpPr>
          <p:cNvPr id="11" name="矩形 10"/>
          <p:cNvSpPr>
            <a:spLocks noChangeAspect="1"/>
          </p:cNvSpPr>
          <p:nvPr/>
        </p:nvSpPr>
        <p:spPr>
          <a:xfrm>
            <a:off x="361950" y="127529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换成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4}”,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其他条件不变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61950" y="2469218"/>
            <a:ext cx="11814462" cy="3569349"/>
            <a:chOff x="361950" y="2384913"/>
            <a:chExt cx="11814462" cy="3569349"/>
          </a:xfrm>
        </p:grpSpPr>
        <p:sp>
          <p:nvSpPr>
            <p:cNvPr id="12" name="矩形 11"/>
            <p:cNvSpPr>
              <a:spLocks noChangeAspect="1"/>
            </p:cNvSpPr>
            <p:nvPr/>
          </p:nvSpPr>
          <p:spPr>
            <a:xfrm>
              <a:off x="361950" y="2384913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只需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a&gt;a+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en-US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⌀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根据题意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在数轴上表示出集合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可得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5994731"/>
                </p:ext>
              </p:extLst>
            </p:nvPr>
          </p:nvGraphicFramePr>
          <p:xfrm>
            <a:off x="504453" y="3662303"/>
            <a:ext cx="11671959" cy="22919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1" name="文档" r:id="rId5" imgW="3826872" imgH="751462" progId="Word.Document.12">
                    <p:embed/>
                  </p:oleObj>
                </mc:Choice>
                <mc:Fallback>
                  <p:oleObj name="文档" r:id="rId5" imgW="3826872" imgH="75146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4453" y="3662303"/>
                          <a:ext cx="11671959" cy="22919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5" name="ZMG1TRA56.eps" descr="id:2147492336;FounderCES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5689029" y="3723153"/>
              <a:ext cx="4392488" cy="11071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2259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47799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换成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2}”,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不变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61950" y="1891599"/>
            <a:ext cx="11804650" cy="4421814"/>
            <a:chOff x="361950" y="1871935"/>
            <a:chExt cx="11804650" cy="4421814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871935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x|-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&lt;x&lt;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2},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}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en-US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在数轴上表示出集合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3" name="ZMG1TRA57.eps" descr="id:2147492343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968949" y="3076407"/>
              <a:ext cx="4824536" cy="1204973"/>
            </a:xfrm>
            <a:prstGeom prst="rect">
              <a:avLst/>
            </a:prstGeom>
          </p:spPr>
        </p:pic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8956463"/>
                </p:ext>
              </p:extLst>
            </p:nvPr>
          </p:nvGraphicFramePr>
          <p:xfrm>
            <a:off x="504825" y="4012511"/>
            <a:ext cx="11661775" cy="2281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4" name="文档" r:id="rId5" imgW="3826872" imgH="751462" progId="Word.Document.12">
                    <p:embed/>
                  </p:oleObj>
                </mc:Choice>
                <mc:Fallback>
                  <p:oleObj name="文档" r:id="rId5" imgW="3826872" imgH="75146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4825" y="4012511"/>
                          <a:ext cx="11661775" cy="22812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29411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1007839"/>
            <a:ext cx="10807700" cy="4228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求解此类问题通常借助数轴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将各个集合在数轴上表示出来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注意验证集合的端点值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做到准确无误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用实心圆点表示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用空心圆圈表示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涉及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一定要分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两种情况进行讨论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的情况易被忽略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应引起足够的重视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20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556127"/>
            <a:ext cx="11815763" cy="5894824"/>
            <a:chOff x="361950" y="556127"/>
            <a:chExt cx="11815763" cy="589482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556127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因忽视空集是任何集合的</a:t>
              </a: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子集致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0},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x|mx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1},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则实数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的取值集合为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3444240"/>
                </p:ext>
              </p:extLst>
            </p:nvPr>
          </p:nvGraphicFramePr>
          <p:xfrm>
            <a:off x="504825" y="2367936"/>
            <a:ext cx="11672888" cy="2979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8" name="文档" r:id="rId4" imgW="3837724" imgH="982204" progId="Word.Document.12">
                    <p:embed/>
                  </p:oleObj>
                </mc:Choice>
                <mc:Fallback>
                  <p:oleObj name="文档" r:id="rId4" imgW="3837724" imgH="98220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825" y="2367936"/>
                          <a:ext cx="11672888" cy="29797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5233310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844159"/>
            <a:ext cx="108077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以上解法出错的原因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忽略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这种情况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434563"/>
              </p:ext>
            </p:extLst>
          </p:nvPr>
        </p:nvGraphicFramePr>
        <p:xfrm>
          <a:off x="442277" y="1502063"/>
          <a:ext cx="11671959" cy="3469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2" name="文档" r:id="rId4" imgW="3837724" imgH="1141217" progId="Word.Document.12">
                  <p:embed/>
                </p:oleObj>
              </mc:Choice>
              <mc:Fallback>
                <p:oleObj name="文档" r:id="rId4" imgW="3837724" imgH="11412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277" y="1502063"/>
                        <a:ext cx="11671959" cy="34691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85795"/>
              </p:ext>
            </p:extLst>
          </p:nvPr>
        </p:nvGraphicFramePr>
        <p:xfrm>
          <a:off x="442276" y="5077225"/>
          <a:ext cx="11671959" cy="735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3" name="文档" r:id="rId7" imgW="3826872" imgH="241143" progId="Word.Document.12">
                  <p:embed/>
                </p:oleObj>
              </mc:Choice>
              <mc:Fallback>
                <p:oleObj name="文档" r:id="rId7" imgW="3826872" imgH="2411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2276" y="5077225"/>
                        <a:ext cx="11671959" cy="735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777297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10302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空集是任何集合的子集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涉及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的问题时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注意不要漏掉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的情况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在分类讨论时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要做到分类标准清晰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不重不漏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76092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2094454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x|ax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y|y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56676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725120"/>
              </p:ext>
            </p:extLst>
          </p:nvPr>
        </p:nvGraphicFramePr>
        <p:xfrm>
          <a:off x="430213" y="925513"/>
          <a:ext cx="11645900" cy="499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name="文档" r:id="rId4" imgW="3826872" imgH="1644879" progId="Word.Document.12">
                  <p:embed/>
                </p:oleObj>
              </mc:Choice>
              <mc:Fallback>
                <p:oleObj name="文档" r:id="rId4" imgW="3826872" imgH="16448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925513"/>
                        <a:ext cx="11645900" cy="4991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435355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2956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下列关系式正确的是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{0}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{0}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C.{0,1}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{(0,1)}	D.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⌀⊆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{0}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的元素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都是集合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不正确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是任何集合的子集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/>
                <a:cs typeface="Times New Roman" panose="02020603050405020304" pitchFamily="18" charset="0"/>
              </a:rPr>
              <a:t>⌀⊆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{0,1}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是含有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个元素的数集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而集合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{(0,1)}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是含有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个元素的点集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{0,1}≠{(0,1)},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不正确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73789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	D.4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57015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91815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下列表示集合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1,0,1}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0}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关系的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Venn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4" name="21Q01.eps" descr="id:214749247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1440557" y="2087959"/>
            <a:ext cx="8064896" cy="2141557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432020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1,0},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10580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367879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1,0,2},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中含有两个元素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则符合条件的集合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1,0,2},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中含有两个元素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所以符合条件的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1,0},{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1,2},{0,2}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44936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3432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4},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2092952"/>
            <a:ext cx="10807700" cy="3637919"/>
            <a:chOff x="361950" y="1920704"/>
            <a:chExt cx="10807700" cy="3637919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920704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i="1" dirty="0"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将集合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表示在数轴上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如图所示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endPara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要满足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 panose="02020503000000020003" pitchFamily="18" charset="-122"/>
                  <a:cs typeface="Times New Roman" panose="02020603050405020304" pitchFamily="18" charset="0"/>
                </a:rPr>
                <a:t>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表示数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的点必须在表示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的点处或在表示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的点的右边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的取值范围为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a|a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NEU-BZ-S92" panose="02020503000000020003" pitchFamily="18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4}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ZMG1TRA58.eps" descr="id:2147492378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880717" y="2664023"/>
              <a:ext cx="6120680" cy="13575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887318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99</TotalTime>
  <Words>1924</Words>
  <Application>Microsoft Office PowerPoint</Application>
  <PresentationFormat>自定义</PresentationFormat>
  <Paragraphs>156</Paragraphs>
  <Slides>45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0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25</cp:revision>
  <dcterms:created xsi:type="dcterms:W3CDTF">2020-09-12T05:36:12Z</dcterms:created>
  <dcterms:modified xsi:type="dcterms:W3CDTF">2025-08-18T02:46:09Z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