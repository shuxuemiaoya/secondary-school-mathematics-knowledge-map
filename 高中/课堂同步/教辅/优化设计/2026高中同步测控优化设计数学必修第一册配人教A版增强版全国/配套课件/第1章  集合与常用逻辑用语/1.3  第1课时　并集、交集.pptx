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66" r:id="rId18"/>
    <p:sldId id="737" r:id="rId19"/>
    <p:sldId id="750" r:id="rId20"/>
    <p:sldId id="767" r:id="rId21"/>
    <p:sldId id="768" r:id="rId22"/>
    <p:sldId id="769" r:id="rId23"/>
    <p:sldId id="770" r:id="rId24"/>
    <p:sldId id="754" r:id="rId25"/>
    <p:sldId id="771" r:id="rId26"/>
    <p:sldId id="772" r:id="rId27"/>
    <p:sldId id="773" r:id="rId28"/>
    <p:sldId id="774" r:id="rId29"/>
    <p:sldId id="775" r:id="rId30"/>
    <p:sldId id="755" r:id="rId31"/>
    <p:sldId id="776" r:id="rId32"/>
    <p:sldId id="777" r:id="rId33"/>
    <p:sldId id="778" r:id="rId34"/>
    <p:sldId id="747" r:id="rId35"/>
    <p:sldId id="751" r:id="rId36"/>
    <p:sldId id="779" r:id="rId37"/>
    <p:sldId id="780" r:id="rId38"/>
    <p:sldId id="781" r:id="rId39"/>
    <p:sldId id="748" r:id="rId40"/>
    <p:sldId id="752" r:id="rId41"/>
    <p:sldId id="782" r:id="rId42"/>
    <p:sldId id="783" r:id="rId43"/>
    <p:sldId id="784" r:id="rId44"/>
    <p:sldId id="735" r:id="rId45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44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9.xml"/><Relationship Id="rId5" Type="http://schemas.openxmlformats.org/officeDocument/2006/relationships/slide" Target="slide34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jpeg"/><Relationship Id="rId4" Type="http://schemas.openxmlformats.org/officeDocument/2006/relationships/image" Target="../media/image1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5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8.jpeg"/><Relationship Id="rId4" Type="http://schemas.openxmlformats.org/officeDocument/2006/relationships/image" Target="../media/image1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jpeg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7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2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727919"/>
            <a:ext cx="10807700" cy="26870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dirty="0">
                <a:solidFill>
                  <a:srgbClr val="002060"/>
                </a:solidFill>
              </a:rPr>
              <a:t>1.3</a:t>
            </a:r>
            <a:r>
              <a:rPr lang="zh-CN" altLang="zh-CN" sz="6000" dirty="0">
                <a:solidFill>
                  <a:srgbClr val="002060"/>
                </a:solidFill>
              </a:rPr>
              <a:t>　集合的基本运算</a:t>
            </a:r>
          </a:p>
          <a:p>
            <a:pPr algn="ctr">
              <a:lnSpc>
                <a:spcPct val="150000"/>
              </a:lnSpc>
            </a:pPr>
            <a:r>
              <a:rPr lang="zh-CN" altLang="zh-CN" sz="6000" dirty="0">
                <a:solidFill>
                  <a:srgbClr val="002060"/>
                </a:solidFill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</a:rPr>
              <a:t>1</a:t>
            </a:r>
            <a:r>
              <a:rPr lang="zh-CN" altLang="zh-CN" sz="6000" dirty="0">
                <a:solidFill>
                  <a:srgbClr val="002060"/>
                </a:solidFill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</a:rPr>
              <a:t>并集、交集</a:t>
            </a: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06073"/>
            <a:ext cx="10729192" cy="4600446"/>
            <a:chOff x="360437" y="853992"/>
            <a:chExt cx="10729192" cy="4600446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853992"/>
              <a:ext cx="10729192" cy="4600446"/>
              <a:chOff x="360437" y="1554362"/>
              <a:chExt cx="10729192" cy="3142167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54362"/>
                <a:ext cx="10729192" cy="314216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608938"/>
                <a:ext cx="0" cy="301124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916167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理解两个集合的并集与交集的含义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明确数学中的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的含义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能求两个集合的并集与交集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能使用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Venn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图表达集合的并集与交集运算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体会图形对理解抽象概念的作用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体会数学抽象和直观想象素养的应用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提升逻辑推理与数学运算素养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一、并集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观察下列各个集合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{1,3},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1,0,1,3};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是偶数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{1,3,4},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你能说出集合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之间的关系吗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的元素个数等于集合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的元素个数的和吗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65591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是由所有属于集合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或属于集合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的元素组成的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中各有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172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339031" y="1102406"/>
            <a:ext cx="12004724" cy="4235745"/>
            <a:chOff x="-339031" y="828631"/>
            <a:chExt cx="12004724" cy="423574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28631"/>
              <a:ext cx="1316386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并集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6645189"/>
                </p:ext>
              </p:extLst>
            </p:nvPr>
          </p:nvGraphicFramePr>
          <p:xfrm>
            <a:off x="-339031" y="1511895"/>
            <a:ext cx="12004724" cy="3552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文档" r:id="rId3" imgW="3935975" imgH="1164748" progId="Word.Document.12">
                    <p:embed/>
                  </p:oleObj>
                </mc:Choice>
                <mc:Fallback>
                  <p:oleObj name="文档" r:id="rId3" imgW="3935975" imgH="116474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339031" y="1511895"/>
                          <a:ext cx="12004724" cy="35524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720477" y="2945453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15672" y="340955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534255" y="3528119"/>
            <a:ext cx="238702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529450" y="3992217"/>
            <a:ext cx="2384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62300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(2024·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北京高考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　　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	B.{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1}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C.{0,1,2}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4}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06846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838963"/>
            <a:ext cx="11725959" cy="2644433"/>
            <a:chOff x="361950" y="971100"/>
            <a:chExt cx="11725959" cy="264443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971100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二、交集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观察下列集合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你能说出集合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之间有什么关系吗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2572716"/>
                </p:ext>
              </p:extLst>
            </p:nvPr>
          </p:nvGraphicFramePr>
          <p:xfrm>
            <a:off x="415950" y="2880047"/>
            <a:ext cx="11671959" cy="735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4" name="文档" r:id="rId3" imgW="3826872" imgH="241143" progId="Word.Document.12">
                    <p:embed/>
                  </p:oleObj>
                </mc:Choice>
                <mc:Fallback>
                  <p:oleObj name="文档" r:id="rId3" imgW="3826872" imgH="24114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5950" y="2880047"/>
                          <a:ext cx="11671959" cy="7354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61949" y="3549830"/>
            <a:ext cx="10943703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是等腰三角形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是等腰直角三角形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是由所有既属于集合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又属于集合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的元素组成的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16750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17974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1,0,1},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{2,4,6,8},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349811" y="2140014"/>
            <a:ext cx="12004724" cy="4216081"/>
            <a:chOff x="-349811" y="1980759"/>
            <a:chExt cx="12004724" cy="4216081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980759"/>
              <a:ext cx="1316386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交集</a:t>
              </a:r>
              <a:endParaRPr lang="zh-CN" altLang="en-US" dirty="0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5401186"/>
                </p:ext>
              </p:extLst>
            </p:nvPr>
          </p:nvGraphicFramePr>
          <p:xfrm>
            <a:off x="-349811" y="2644359"/>
            <a:ext cx="12004724" cy="3552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文档" r:id="rId3" imgW="3935975" imgH="1164748" progId="Word.Document.12">
                    <p:embed/>
                  </p:oleObj>
                </mc:Choice>
                <mc:Fallback>
                  <p:oleObj name="文档" r:id="rId3" imgW="3935975" imgH="116474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349811" y="2644359"/>
                          <a:ext cx="12004724" cy="35524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1257784" y="3949633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252979" y="441373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368723" y="4493199"/>
            <a:ext cx="239778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5363918" y="4957297"/>
            <a:ext cx="23950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9113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.{0}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1,0}</a:t>
            </a:r>
            <a:endParaRPr lang="en-US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.{0,1}	D.{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1,0}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96747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63325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方正正中黑简体"/>
                <a:cs typeface="Times New Roman" panose="02020603050405020304" pitchFamily="18" charset="0"/>
              </a:rPr>
              <a:t>三、交集与并集的运算性质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{0,2},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有什么关系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{0,2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5450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0633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图表示出任意两个非空集合的所有可能关系吗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950" y="1618921"/>
            <a:ext cx="10807700" cy="3804254"/>
            <a:chOff x="361950" y="1399073"/>
            <a:chExt cx="10807700" cy="380425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399073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提示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两个非空集合的所有可能关系如下图所示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endParaRPr lang="zh-CN" altLang="en-US" dirty="0"/>
            </a:p>
          </p:txBody>
        </p:sp>
        <p:pic>
          <p:nvPicPr>
            <p:cNvPr id="5" name="ZMG1TRA66.eps" descr="id:2147492465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512565" y="2125866"/>
              <a:ext cx="8136904" cy="30774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613531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7771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你能从问题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所画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中发现哪些重要的结论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我们能够发现如下结论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86595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91815"/>
            <a:ext cx="10807700" cy="5184576"/>
            <a:chOff x="361950" y="647799"/>
            <a:chExt cx="10807700" cy="518457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4779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lang="en-US" altLang="zh-CN" i="1" dirty="0" smtClean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 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lang="en-US" altLang="zh-CN" i="1" dirty="0" smtClean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 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lang="en-US" altLang="zh-CN" i="1" dirty="0" smtClean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 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lang="en-US" altLang="zh-CN" dirty="0" smtClean="0">
                  <a:latin typeface="+mn-lt"/>
                  <a:ea typeface="NEU-BZ-S92"/>
                  <a:cs typeface="Times New Roman" panose="02020603050405020304" pitchFamily="18" charset="0"/>
                </a:rPr>
                <a:t>⌀ 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若集合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是集合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的子集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如下图所示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 </a:t>
              </a:r>
              <a:r>
                <a:rPr lang="en-US" altLang="zh-CN" i="1" dirty="0" smtClean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 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 </a:t>
              </a:r>
              <a:r>
                <a:rPr lang="en-US" altLang="zh-CN" i="1" dirty="0" smtClean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 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ZMG1TRA67.eps" descr="id:2147492472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176861" y="2456371"/>
              <a:ext cx="1800200" cy="1360591"/>
            </a:xfrm>
            <a:prstGeom prst="rect">
              <a:avLst/>
            </a:prstGeom>
          </p:spPr>
        </p:pic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909521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若集合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没有公共元素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如下图所示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lang="en-US" altLang="zh-CN" dirty="0" smtClean="0">
                  <a:latin typeface="+mn-lt"/>
                  <a:ea typeface="NEU-BZ-S92"/>
                  <a:cs typeface="Times New Roman" panose="02020603050405020304" pitchFamily="18" charset="0"/>
                </a:rPr>
                <a:t>⌀ 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ZMG1TRA68.eps" descr="id:2147492479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528789" y="4590797"/>
              <a:ext cx="3364443" cy="1241578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2463326" y="856363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458501" y="1320461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138482" y="856363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4133657" y="1320461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762392" y="856363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5757567" y="1320461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320208" y="856363"/>
            <a:ext cx="29962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7315347" y="1320461"/>
            <a:ext cx="2992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126076" y="1412663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10121251" y="1876761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096884" y="2005417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2092059" y="2469515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9024960" y="4115165"/>
            <a:ext cx="27238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9020084" y="4579263"/>
            <a:ext cx="2720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8639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25619"/>
            <a:ext cx="10807700" cy="55191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交集的元素个数一定比参与运算的任何一个集合的元素个数少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元素个数就是集合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的元素个数和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中的每一个元素都在集合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A=C.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48890" y="320914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97541" y="438238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217421" y="496827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96941" y="554434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9613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511895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集合</a:t>
            </a:r>
            <a:r>
              <a:rPr lang="zh-CN" altLang="zh-CN" dirty="0"/>
              <a:t>的并集与交集运算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223905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求下列两个集合的并集和交集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1,0,1,2,3};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114336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{1,2,3,4,5},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1,0,1,2,3},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1,0,1,2,3,4,5},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{1,2,3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及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在数轴上表示出来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5" name="23N07.eps" descr="id:214752207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520677" y="2899949"/>
            <a:ext cx="6696744" cy="105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39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86344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求集合的并集与交集的两种基本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定义法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若集合是用列举法表示的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则直接利用并集和交集的定义求解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但要注意集合中元素的互异性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数形结合法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若集合是用描述法表示的由实数组成的数集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则可以借助数轴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利用数轴分析求解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但要注意端点值的取舍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86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23863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2)(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1,2,3}	B.{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2,3}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C.{1,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2,3}	D.{1,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49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02284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2,3},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2,3}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在数轴上表示出来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根据并集、交集的定义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(1)C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4}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ZMG1TRA70.eps" descr="id:214749251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736701" y="2708217"/>
            <a:ext cx="5544616" cy="110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1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由集合</a:t>
            </a:r>
            <a:r>
              <a:rPr lang="zh-CN" altLang="zh-CN" dirty="0"/>
              <a:t>的交集、并集求参数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87193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借助数轴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列出关于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的不等式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719807"/>
            <a:ext cx="11714163" cy="5472608"/>
            <a:chOff x="361950" y="719807"/>
            <a:chExt cx="11714163" cy="547260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719807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a&gt;a+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将集合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346359"/>
                </p:ext>
              </p:extLst>
            </p:nvPr>
          </p:nvGraphicFramePr>
          <p:xfrm>
            <a:off x="430213" y="3901652"/>
            <a:ext cx="11645900" cy="2290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5" name="文档" r:id="rId3" imgW="3928207" imgH="773025" progId="Word.Document.12">
                    <p:embed/>
                  </p:oleObj>
                </mc:Choice>
                <mc:Fallback>
                  <p:oleObj name="文档" r:id="rId3" imgW="3928207" imgH="77302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0213" y="3901652"/>
                          <a:ext cx="11645900" cy="22907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" name="ZMG1TRA71.eps" descr="id:2147492528;FounderCES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672805" y="2664023"/>
              <a:ext cx="4536504" cy="10284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168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472415"/>
            <a:ext cx="11742454" cy="2847792"/>
            <a:chOff x="361950" y="1832455"/>
            <a:chExt cx="11742454" cy="284779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832455"/>
              <a:ext cx="9972602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将集合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" name="ZMG1TRA72.eps" descr="id:2147492535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168749" y="2592015"/>
              <a:ext cx="4313123" cy="981032"/>
            </a:xfrm>
            <a:prstGeom prst="rect">
              <a:avLst/>
            </a:prstGeom>
          </p:spPr>
        </p:pic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100770"/>
                </p:ext>
              </p:extLst>
            </p:nvPr>
          </p:nvGraphicFramePr>
          <p:xfrm>
            <a:off x="432445" y="3669636"/>
            <a:ext cx="11671959" cy="1010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9" name="文档" r:id="rId4" imgW="3826872" imgH="331348" progId="Word.Document.12">
                    <p:embed/>
                  </p:oleObj>
                </mc:Choice>
                <mc:Fallback>
                  <p:oleObj name="文档" r:id="rId4" imgW="3826872" imgH="33134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669636"/>
                          <a:ext cx="11671959" cy="101061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6153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727919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当出现交集为空集的情形时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应首先考虑已知集合有没有可能为空集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其次在与不等式有关的集合的交、并运算中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数轴分析法直观清晰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应重点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考虑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13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31968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680699"/>
            <a:ext cx="10807700" cy="3046988"/>
            <a:chOff x="361950" y="2429557"/>
            <a:chExt cx="10807700" cy="304698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2429557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将集合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由图可知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要使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 panose="02020503000000020003" pitchFamily="18" charset="-122"/>
                  <a:cs typeface="Times New Roman" panose="02020603050405020304" pitchFamily="18" charset="0"/>
                </a:rPr>
                <a:t>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需满足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a|a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NEU-BZ-S92" panose="02020503000000020003" pitchFamily="18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ZMG1TRA73.eps" descr="id:2147492549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384773" y="3624826"/>
              <a:ext cx="4464496" cy="1192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620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633259"/>
            <a:ext cx="10807700" cy="3046988"/>
            <a:chOff x="361950" y="1099469"/>
            <a:chExt cx="10807700" cy="304698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099469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将集合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 smtClean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要使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1},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实数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需满足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endParaRPr lang="zh-CN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a|-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" name="ZMG1TRA74.eps" descr="id:2147492556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168749" y="1769207"/>
              <a:ext cx="4622680" cy="10394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896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并</a:t>
            </a:r>
            <a:r>
              <a:rPr lang="zh-CN" altLang="zh-CN" dirty="0"/>
              <a:t>集、交集性质的运用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232031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x|m+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61950" y="801647"/>
            <a:ext cx="11671959" cy="5234635"/>
            <a:chOff x="361950" y="647799"/>
            <a:chExt cx="11671959" cy="5234635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647799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4}≠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m+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-m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m&gt;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4608239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综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上所得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实数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的取值范围是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2834895"/>
                </p:ext>
              </p:extLst>
            </p:nvPr>
          </p:nvGraphicFramePr>
          <p:xfrm>
            <a:off x="361950" y="3011210"/>
            <a:ext cx="11671959" cy="15970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3" name="文档" r:id="rId3" imgW="3826872" imgH="523616" progId="Word.Document.12">
                    <p:embed/>
                  </p:oleObj>
                </mc:Choice>
                <mc:Fallback>
                  <p:oleObj name="文档" r:id="rId3" imgW="3826872" imgH="52361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1950" y="3011210"/>
                          <a:ext cx="11671959" cy="15970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1" name="ZMG1TRA75.eps" descr="id:2147492570;FounderCES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5328989" y="3311551"/>
              <a:ext cx="4896544" cy="12310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585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104853" y="935831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44625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将本例中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其他条件不变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61950" y="2665721"/>
            <a:ext cx="11671959" cy="2999246"/>
            <a:chOff x="361950" y="2397353"/>
            <a:chExt cx="11671959" cy="2999246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4752255"/>
              <a:ext cx="10807700" cy="64434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m|m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NEU-BZ-S92" panose="02020503000000020003" pitchFamily="18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61950" y="2397353"/>
              <a:ext cx="11671959" cy="2367750"/>
              <a:chOff x="361950" y="2397353"/>
              <a:chExt cx="11671959" cy="2367750"/>
            </a:xfrm>
          </p:grpSpPr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2397353"/>
                <a:ext cx="8938665" cy="626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解</a:t>
                </a:r>
                <a:r>
                  <a:rPr lang="en-US" altLang="zh-CN" dirty="0" smtClean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∵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∩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B=A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NEU-BZ-S92"/>
                    <a:cs typeface="Times New Roman" panose="02020603050405020304" pitchFamily="18" charset="0"/>
                  </a:rPr>
                  <a:t>⊆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B.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用数轴表示出集合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B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endParaRPr lang="zh-CN" altLang="en-US" dirty="0"/>
              </a:p>
            </p:txBody>
          </p:sp>
          <p:graphicFrame>
            <p:nvGraphicFramePr>
              <p:cNvPr id="5" name="对象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2607578"/>
                  </p:ext>
                </p:extLst>
              </p:nvPr>
            </p:nvGraphicFramePr>
            <p:xfrm>
              <a:off x="361950" y="3096071"/>
              <a:ext cx="11671959" cy="15970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06" name="文档" r:id="rId4" imgW="3837724" imgH="525357" progId="Word.Document.12">
                      <p:embed/>
                    </p:oleObj>
                  </mc:Choice>
                  <mc:Fallback>
                    <p:oleObj name="文档" r:id="rId4" imgW="3837724" imgH="525357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361950" y="3096071"/>
                            <a:ext cx="11671959" cy="159702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13" name="ZMG1TRA76.eps" descr="id:2147492584;FounderCES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17829" y="3456111"/>
                <a:ext cx="5251821" cy="130899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5747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06335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在利用集合的交集、并集性质解题时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若条件中出现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应首先转化为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然后用集合间的关系解决问题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并注意不要漏掉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的情况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集合运算常用的性质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53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04680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等价转化思想与分类讨论思想在集合中的应用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审题视角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讨论集合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列方程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5641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Δ=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满足条件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Δ=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不满足条件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Δ=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有两个不相等的实数根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均为关于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的方程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的实根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这是不可能的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综上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a|a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249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方法点睛</a:t>
            </a:r>
            <a:endParaRPr lang="zh-CN" altLang="zh-CN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等价转化思想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涉及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这类问题的运算时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常借助于交集、并集的定义及集合间的关系等价变形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分类讨论思想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且集合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受参数的影响不确定时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常分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两类分别求解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25681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79847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142282"/>
              </p:ext>
            </p:extLst>
          </p:nvPr>
        </p:nvGraphicFramePr>
        <p:xfrm>
          <a:off x="494621" y="2337289"/>
          <a:ext cx="11671959" cy="2702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文档" r:id="rId3" imgW="3837724" imgH="889176" progId="Word.Document.12">
                  <p:embed/>
                </p:oleObj>
              </mc:Choice>
              <mc:Fallback>
                <p:oleObj name="文档" r:id="rId3" imgW="3837724" imgH="8891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4621" y="2337289"/>
                        <a:ext cx="11671959" cy="2702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37460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7215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{1,2,5,7},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{2,4,5},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A.{1,2,4,5,7}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.{3,4,5}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C.{5}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	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.{2,5}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{1,2,3,4},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{2,4,6,8},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中元素的个数为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A.1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	C.3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D.4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由题意可得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{2,4},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个元素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23487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zh-CN" altLang="zh-CN" i="1" u="sng" dirty="0" smtClean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196392"/>
            <a:ext cx="10807700" cy="2456057"/>
            <a:chOff x="361950" y="1935571"/>
            <a:chExt cx="10807700" cy="2456057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935571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解析</a:t>
              </a:r>
              <a:r>
                <a:rPr lang="en-US" altLang="zh-CN" dirty="0" smtClean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用数轴表示出集合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3},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&lt;x&lt;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ZMG1TRA77.eps" descr="id:2147492619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312765" y="2568924"/>
              <a:ext cx="3960440" cy="1148911"/>
            </a:xfrm>
            <a:prstGeom prst="rect">
              <a:avLst/>
            </a:prstGeom>
          </p:spPr>
        </p:pic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361950" y="4635223"/>
            <a:ext cx="518443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13687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7378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1,5},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{2},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1,5},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{2},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{1,2,5}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{1,2,5}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32406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6787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084384"/>
            <a:ext cx="10807700" cy="2456057"/>
            <a:chOff x="361950" y="2079587"/>
            <a:chExt cx="10807700" cy="2456057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079587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化简集合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1},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用数轴表示集合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1},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ZMG1TRA78.eps" descr="id:2147492626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92685" y="2758632"/>
              <a:ext cx="6624736" cy="1074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948329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102</TotalTime>
  <Words>2120</Words>
  <Application>Microsoft Office PowerPoint</Application>
  <PresentationFormat>自定义</PresentationFormat>
  <Paragraphs>169</Paragraphs>
  <Slides>44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18</cp:revision>
  <dcterms:created xsi:type="dcterms:W3CDTF">2020-09-12T05:36:12Z</dcterms:created>
  <dcterms:modified xsi:type="dcterms:W3CDTF">2025-08-18T02:45:04Z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