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37" r:id="rId14"/>
    <p:sldId id="750" r:id="rId15"/>
    <p:sldId id="762" r:id="rId16"/>
    <p:sldId id="763" r:id="rId17"/>
    <p:sldId id="764" r:id="rId18"/>
    <p:sldId id="765" r:id="rId19"/>
    <p:sldId id="766" r:id="rId20"/>
    <p:sldId id="754" r:id="rId21"/>
    <p:sldId id="767" r:id="rId22"/>
    <p:sldId id="768" r:id="rId23"/>
    <p:sldId id="755" r:id="rId24"/>
    <p:sldId id="769" r:id="rId25"/>
    <p:sldId id="770" r:id="rId26"/>
    <p:sldId id="771" r:id="rId27"/>
    <p:sldId id="747" r:id="rId28"/>
    <p:sldId id="751" r:id="rId29"/>
    <p:sldId id="772" r:id="rId30"/>
    <p:sldId id="773" r:id="rId31"/>
    <p:sldId id="774" r:id="rId32"/>
    <p:sldId id="748" r:id="rId33"/>
    <p:sldId id="752" r:id="rId34"/>
    <p:sldId id="775" r:id="rId35"/>
    <p:sldId id="776" r:id="rId36"/>
    <p:sldId id="777" r:id="rId37"/>
    <p:sldId id="778" r:id="rId38"/>
    <p:sldId id="735" r:id="rId39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38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2.xml"/><Relationship Id="rId5" Type="http://schemas.openxmlformats.org/officeDocument/2006/relationships/slide" Target="slide27.xml"/><Relationship Id="rId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3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4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5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633125"/>
            <a:ext cx="10807700" cy="26870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dirty="0">
                <a:solidFill>
                  <a:srgbClr val="002060"/>
                </a:solidFill>
              </a:rPr>
              <a:t>1.3</a:t>
            </a:r>
            <a:r>
              <a:rPr lang="zh-CN" altLang="zh-CN" sz="6000" dirty="0">
                <a:solidFill>
                  <a:srgbClr val="002060"/>
                </a:solidFill>
              </a:rPr>
              <a:t>　集合的基本运算</a:t>
            </a:r>
          </a:p>
          <a:p>
            <a:pPr algn="ctr">
              <a:lnSpc>
                <a:spcPct val="150000"/>
              </a:lnSpc>
            </a:pPr>
            <a:r>
              <a:rPr lang="zh-CN" altLang="zh-CN" sz="6000" dirty="0">
                <a:solidFill>
                  <a:srgbClr val="002060"/>
                </a:solidFill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</a:rPr>
              <a:t>2</a:t>
            </a:r>
            <a:r>
              <a:rPr lang="zh-CN" altLang="zh-CN" sz="6000" dirty="0">
                <a:solidFill>
                  <a:srgbClr val="002060"/>
                </a:solidFill>
              </a:rPr>
              <a:t>课时</a:t>
            </a:r>
            <a:r>
              <a:rPr lang="zh-CN" altLang="zh-CN" sz="6000" i="1" dirty="0">
                <a:solidFill>
                  <a:srgbClr val="002060"/>
                </a:solidFill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</a:rPr>
              <a:t>补集</a:t>
            </a: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238265"/>
            <a:ext cx="10729192" cy="3802022"/>
            <a:chOff x="360437" y="1238265"/>
            <a:chExt cx="10729192" cy="3802022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238265"/>
              <a:ext cx="10729192" cy="3802022"/>
              <a:chOff x="360437" y="1816827"/>
              <a:chExt cx="10729192" cy="2596833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816827"/>
                <a:ext cx="10729192" cy="2596833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860043"/>
                <a:ext cx="0" cy="248863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295871"/>
              <a:ext cx="8496944" cy="3581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在具体情境中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了解全集的含义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理解在给定集合中一个子集的补集的含义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能求给定子集的补集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能使用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Venn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图表达集合的基本运算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进一步体会图形对理解抽象概念的作用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提升逻辑推理与数学运算素养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07839"/>
            <a:ext cx="10807700" cy="18262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一、全集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的解集在有理数范围内与在实数范围内有什么不同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通过这个问题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你能得到什么启示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1950" y="2863541"/>
            <a:ext cx="12167839" cy="2399503"/>
            <a:chOff x="361950" y="3053168"/>
            <a:chExt cx="12167839" cy="2399503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3053168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提示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方程在有理数范围内的解集为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{2},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在实数范围内的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解集为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   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在数学中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很多问题都是在某一范围内进行研究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如本问题在有理数范围内求解与在实数范围内求解是不同的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类似这些给定的集合就是全集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5528541"/>
                </p:ext>
              </p:extLst>
            </p:nvPr>
          </p:nvGraphicFramePr>
          <p:xfrm>
            <a:off x="857830" y="3643484"/>
            <a:ext cx="11671959" cy="532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" name="文档" r:id="rId4" imgW="3826872" imgH="174658" progId="Word.Document.12">
                    <p:embed/>
                  </p:oleObj>
                </mc:Choice>
                <mc:Fallback>
                  <p:oleObj name="文档" r:id="rId4" imgW="3826872" imgH="17465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57830" y="3643484"/>
                          <a:ext cx="11671959" cy="5327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310478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如果一个集合含有所研究问题中涉及的所有元素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那么就称这个集合为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全集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通常记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U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38939" y="296281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134349" y="342691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699168" y="2962813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694363" y="3426911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03924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0783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方正正中黑简体"/>
                <a:cs typeface="Times New Roman" panose="02020603050405020304" pitchFamily="18" charset="0"/>
              </a:rPr>
              <a:t>二、补集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高一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班加入排球队的同学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高一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班没有加入排球队的同学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高一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班的同学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有何关系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中的元素与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有何关系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中的元素在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但不在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99476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73115" y="860564"/>
            <a:ext cx="12004724" cy="5259843"/>
            <a:chOff x="-173115" y="860564"/>
            <a:chExt cx="12004724" cy="525984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860564"/>
              <a:ext cx="1316386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补集</a:t>
              </a:r>
              <a:endParaRPr lang="zh-CN" altLang="en-US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1023305"/>
                </p:ext>
              </p:extLst>
            </p:nvPr>
          </p:nvGraphicFramePr>
          <p:xfrm>
            <a:off x="-173115" y="1471820"/>
            <a:ext cx="12004724" cy="4648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" name="文档" r:id="rId4" imgW="3935975" imgH="1524127" progId="Word.Document.12">
                    <p:embed/>
                  </p:oleObj>
                </mc:Choice>
                <mc:Fallback>
                  <p:oleObj name="文档" r:id="rId4" imgW="3935975" imgH="152412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173115" y="1471820"/>
                          <a:ext cx="12004724" cy="46485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7355971" y="1565825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351626" y="2029923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917721" y="2619189"/>
            <a:ext cx="80218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913165" y="3083287"/>
            <a:ext cx="8012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608920" y="3200353"/>
            <a:ext cx="228537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604364" y="3664451"/>
            <a:ext cx="22827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7751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20134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(1)(2024·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上海高考改编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已知全集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{1,2,3,4,5},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{2,4},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已知全集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1){1,3,5}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2459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3988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三、全集、补集的性质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借助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你能化简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=U.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借助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你能分析出集合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之间有什么关系吗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=U.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23226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08714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若在全集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中研究问题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没有补集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在全集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中的补集没有公共元素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569349" y="302406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680917" y="360012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482429" y="414525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69959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集合</a:t>
            </a:r>
            <a:r>
              <a:rPr lang="zh-CN" altLang="zh-CN" dirty="0"/>
              <a:t>的补集运算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602938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已知全集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{1,3,5,7},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{2,4,6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 </a:t>
            </a:r>
            <a:r>
              <a:rPr lang="en-US" altLang="zh-CN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{1,4,6},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已知全集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先结合条件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由补集的性质求出全集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再由补集的定义求集合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也可借助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图求解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利用补集的定义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借助数轴的直观性求解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709695"/>
            <a:ext cx="10807700" cy="5410712"/>
            <a:chOff x="361950" y="709695"/>
            <a:chExt cx="10807700" cy="5410712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709695"/>
              <a:ext cx="10807700" cy="541071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(1)(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方法一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{1,3,5,7},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∁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U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{2,4,6},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U=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{1,2,3,4,5,6,7}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∁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U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{1,4,6},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{2,3,5,7}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借助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Venn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图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由图可知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{2,3,5,7}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ZMG1TRA87.eps" descr="id:2147492734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797" y="3091835"/>
              <a:ext cx="3744416" cy="2352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534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43832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将全集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和集合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分别表示在数轴上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由补集定义可得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(1){2,3,5,7}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5}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9" name="ZMG1TRA88.eps" descr="id:214749274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808709" y="1833746"/>
            <a:ext cx="5616624" cy="163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8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04853" y="736287"/>
            <a:ext cx="2740119" cy="499725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1276207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5}”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换成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5},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5}”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换成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6}”,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5},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04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27919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5}”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换成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R”,“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5}”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换成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7}”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7},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061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86344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集合补集的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定义法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当集合是由列举法表示时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可利用定义直接求解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2)Venn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图法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借助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图可直观地求出全集及补集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数轴法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当集合是用描述法表示的连续数集时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可借助数轴求解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但需注意端点值的取舍问题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4278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并</a:t>
            </a:r>
            <a:r>
              <a:rPr lang="zh-CN" altLang="zh-CN" dirty="0"/>
              <a:t>集、交集与补集的综合运算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30055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设全集为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及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713379"/>
            <a:ext cx="10807700" cy="3046988"/>
            <a:chOff x="361950" y="2641371"/>
            <a:chExt cx="10807700" cy="304698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641371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把全集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和集合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在数轴上表示如下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由图知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},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∁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由于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∁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},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∁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)∩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ZMG1TRA89.eps" descr="id:2147492769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016621" y="3240913"/>
              <a:ext cx="7128792" cy="1177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079847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交集、并集、补集的综合运算的两种主要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情况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对于有限集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先把集合中的元素一一列举出来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再结合交集、并集、补集的定义求解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在解答过程中也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常借助于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对于连续的无限集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常借助于数轴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先把已知集合及全集分别表示在数轴上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再根据交集、并集、补集的定义求解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解答过程中注意端点值的取舍问题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4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234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已知全集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{0,1,2,3,4,5,6,7,8,9},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{0,1,3,5,8},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{2,4,5,6,8},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)∩(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A.{5,8}	B.{7,9}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.{0,1,3}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.{2,4,6}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{2,4,6,7,9},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{0,1,3,7,9},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)∩(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{7,9}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71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补集</a:t>
            </a:r>
            <a:r>
              <a:rPr lang="zh-CN" altLang="zh-CN" dirty="0"/>
              <a:t>性质的运用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711742"/>
            <a:ext cx="10807700" cy="296850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⫋∁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先求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在数轴上表示集合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结合数轴求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的取值范围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513615"/>
            <a:ext cx="10807700" cy="6001643"/>
            <a:chOff x="361950" y="513615"/>
            <a:chExt cx="10807700" cy="6001643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513615"/>
              <a:ext cx="10807700" cy="600164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&lt;x&lt;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3},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∁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要使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∁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结合数轴分析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可得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a|a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要使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⫋∁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结合数轴分析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可得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a|a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7" name="ZMG1TRA90.eps" descr="id:214749279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880717" y="2306066"/>
              <a:ext cx="5760640" cy="1159877"/>
            </a:xfrm>
            <a:prstGeom prst="rect">
              <a:avLst/>
            </a:prstGeom>
          </p:spPr>
        </p:pic>
        <p:pic>
          <p:nvPicPr>
            <p:cNvPr id="8" name="ZMG1TRA91.eps" descr="id:2147492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096741" y="4680248"/>
              <a:ext cx="5760640" cy="10605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261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56928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含补集的运算求参数的取值范围时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常根据补集的定义及集合之间的关系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并借助数轴列出参数应满足的关系式求解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具体操作时要注意端点值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的取舍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4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0014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⊆∁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1992712"/>
            <a:ext cx="11696463" cy="4236593"/>
            <a:chOff x="361950" y="1858528"/>
            <a:chExt cx="11696463" cy="4236593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858528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∁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2}≠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⊆∁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分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两种情况讨论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则有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2;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4888154"/>
                </p:ext>
              </p:extLst>
            </p:nvPr>
          </p:nvGraphicFramePr>
          <p:xfrm>
            <a:off x="386454" y="3642639"/>
            <a:ext cx="11671959" cy="112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文档" r:id="rId4" imgW="3826872" imgH="368004" progId="Word.Document.12">
                    <p:embed/>
                  </p:oleObj>
                </mc:Choice>
                <mc:Fallback>
                  <p:oleObj name="文档" r:id="rId4" imgW="3826872" imgH="36800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6454" y="3642639"/>
                          <a:ext cx="11671959" cy="11224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4820926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综上所述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a|a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42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73655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补集思想在解题中的应用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求补集的过程为我们研究问题提供了新思路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若直接求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困难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则使用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正难则反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的策略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先求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再由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U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A.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中至多有一个元素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审题视角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本题集合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中至多有一个元素与集合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中有两个元素是对立的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先求集合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中有两个元素时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再利用补集思想求出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中至多有一个元素时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963706"/>
              </p:ext>
            </p:extLst>
          </p:nvPr>
        </p:nvGraphicFramePr>
        <p:xfrm>
          <a:off x="206589" y="1079847"/>
          <a:ext cx="11671959" cy="4251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文档" r:id="rId4" imgW="3837724" imgH="1396143" progId="Word.Document.12">
                  <p:embed/>
                </p:oleObj>
              </mc:Choice>
              <mc:Fallback>
                <p:oleObj name="文档" r:id="rId4" imgW="3837724" imgH="13961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6589" y="1079847"/>
                        <a:ext cx="11671959" cy="42517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364812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871935"/>
            <a:ext cx="10807700" cy="18651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方法点睛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正面情况较复杂时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从结论的反面入手是简化问题的一种常用手段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但要注意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从补集入手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必须明确全集是什么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08169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2449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-x+m=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中至少含有一个元素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1950" y="2090718"/>
            <a:ext cx="11742454" cy="2857897"/>
            <a:chOff x="361950" y="2738790"/>
            <a:chExt cx="11742454" cy="2857897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738790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中至少含有一个元素的反面是集合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中没有元素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3311850"/>
                </p:ext>
              </p:extLst>
            </p:nvPr>
          </p:nvGraphicFramePr>
          <p:xfrm>
            <a:off x="432445" y="3414339"/>
            <a:ext cx="11671959" cy="2182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2" name="文档" r:id="rId4" imgW="3837724" imgH="717903" progId="Word.Document.12">
                    <p:embed/>
                  </p:oleObj>
                </mc:Choice>
                <mc:Fallback>
                  <p:oleObj name="文档" r:id="rId4" imgW="3837724" imgH="71790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414339"/>
                          <a:ext cx="11671959" cy="21823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763954"/>
              </p:ext>
            </p:extLst>
          </p:nvPr>
        </p:nvGraphicFramePr>
        <p:xfrm>
          <a:off x="432445" y="5017118"/>
          <a:ext cx="11671959" cy="736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文档" r:id="rId7" imgW="3826872" imgH="241503" progId="Word.Document.12">
                  <p:embed/>
                </p:oleObj>
              </mc:Choice>
              <mc:Fallback>
                <p:oleObj name="文档" r:id="rId7" imgW="3826872" imgH="2415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5017118"/>
                        <a:ext cx="11671959" cy="7365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466153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已知全集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{0,1,3,5,6,8},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{1,5,8},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{2},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.{0,2,3,6}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.{0,3,6}	</a:t>
            </a:r>
            <a:endParaRPr lang="en-US" altLang="zh-CN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.{2,1,5,8}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{0,3,6},(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{0,2,3,6}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95871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{1,2,3,4,5,6},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A.{2,3,4,5}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.{1,2,5,6}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C.{3,4}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.{1,6}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{1,2,3,4,5,6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{1,2,5,6}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06626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01781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已知全集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{1,2,3,4},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{1,2},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{2,3},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{1,2},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{2,3},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{1,2,3},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{4}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{4}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62543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7378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4},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a+b=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12251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96176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已知全集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10},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10},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10}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17871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72</TotalTime>
  <Words>1726</Words>
  <Application>Microsoft Office PowerPoint</Application>
  <PresentationFormat>自定义</PresentationFormat>
  <Paragraphs>148</Paragraphs>
  <Slides>38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14</cp:revision>
  <dcterms:created xsi:type="dcterms:W3CDTF">2020-09-12T05:36:12Z</dcterms:created>
  <dcterms:modified xsi:type="dcterms:W3CDTF">2025-08-18T02:49:20Z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