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731" r:id="rId2"/>
    <p:sldId id="753" r:id="rId3"/>
    <p:sldId id="736" r:id="rId4"/>
    <p:sldId id="744" r:id="rId5"/>
    <p:sldId id="746" r:id="rId6"/>
    <p:sldId id="749" r:id="rId7"/>
    <p:sldId id="756" r:id="rId8"/>
    <p:sldId id="757" r:id="rId9"/>
    <p:sldId id="759" r:id="rId10"/>
    <p:sldId id="760" r:id="rId11"/>
    <p:sldId id="761" r:id="rId12"/>
    <p:sldId id="762" r:id="rId13"/>
    <p:sldId id="763" r:id="rId14"/>
    <p:sldId id="737" r:id="rId15"/>
    <p:sldId id="750" r:id="rId16"/>
    <p:sldId id="764" r:id="rId17"/>
    <p:sldId id="765" r:id="rId18"/>
    <p:sldId id="754" r:id="rId19"/>
    <p:sldId id="766" r:id="rId20"/>
    <p:sldId id="767" r:id="rId21"/>
    <p:sldId id="755" r:id="rId22"/>
    <p:sldId id="768" r:id="rId23"/>
    <p:sldId id="769" r:id="rId24"/>
    <p:sldId id="747" r:id="rId25"/>
    <p:sldId id="751" r:id="rId26"/>
    <p:sldId id="770" r:id="rId27"/>
    <p:sldId id="771" r:id="rId28"/>
    <p:sldId id="772" r:id="rId29"/>
    <p:sldId id="748" r:id="rId30"/>
    <p:sldId id="752" r:id="rId31"/>
    <p:sldId id="773" r:id="rId32"/>
    <p:sldId id="774" r:id="rId33"/>
    <p:sldId id="775" r:id="rId34"/>
    <p:sldId id="776" r:id="rId35"/>
    <p:sldId id="735" r:id="rId36"/>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35</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29.xml"/><Relationship Id="rId5" Type="http://schemas.openxmlformats.org/officeDocument/2006/relationships/slide" Target="slide24.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oleObject" Target="../embeddings/oleObject2.bin"/><Relationship Id="rId7" Type="http://schemas.openxmlformats.org/officeDocument/2006/relationships/package" Target="../embeddings/Microsoft_Word___3.docx"/><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oleObject" Target="../embeddings/oleObject4.bin"/><Relationship Id="rId7" Type="http://schemas.openxmlformats.org/officeDocument/2006/relationships/package" Target="../embeddings/Microsoft_Word___5.docx"/><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7.emf"/><Relationship Id="rId4" Type="http://schemas.openxmlformats.org/officeDocument/2006/relationships/package" Target="../embeddings/Microsoft_Word___4.doc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6.bin"/><Relationship Id="rId7" Type="http://schemas.openxmlformats.org/officeDocument/2006/relationships/package" Target="../embeddings/Microsoft_Word___7.docx"/><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12.emf"/><Relationship Id="rId4" Type="http://schemas.openxmlformats.org/officeDocument/2006/relationships/package" Target="../embeddings/Microsoft_Word___8.docx"/></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583903"/>
            <a:ext cx="10807700" cy="2687082"/>
          </a:xfrm>
          <a:prstGeom prst="rect">
            <a:avLst/>
          </a:prstGeom>
        </p:spPr>
        <p:txBody>
          <a:bodyPr>
            <a:spAutoFit/>
          </a:bodyPr>
          <a:lstStyle/>
          <a:p>
            <a:pPr algn="ctr">
              <a:lnSpc>
                <a:spcPct val="150000"/>
              </a:lnSpc>
            </a:pPr>
            <a:r>
              <a:rPr lang="en-US" altLang="zh-CN" sz="6000" dirty="0">
                <a:solidFill>
                  <a:srgbClr val="002060"/>
                </a:solidFill>
              </a:rPr>
              <a:t>1.1</a:t>
            </a:r>
            <a:r>
              <a:rPr lang="zh-CN" altLang="zh-CN" sz="6000" dirty="0">
                <a:solidFill>
                  <a:srgbClr val="002060"/>
                </a:solidFill>
              </a:rPr>
              <a:t>　集合的概念</a:t>
            </a:r>
          </a:p>
          <a:p>
            <a:pPr algn="ctr">
              <a:lnSpc>
                <a:spcPct val="150000"/>
              </a:lnSpc>
            </a:pPr>
            <a:r>
              <a:rPr lang="zh-CN" altLang="zh-CN" sz="6000" dirty="0">
                <a:solidFill>
                  <a:srgbClr val="002060"/>
                </a:solidFill>
              </a:rPr>
              <a:t>第</a:t>
            </a:r>
            <a:r>
              <a:rPr lang="en-US" altLang="zh-CN" sz="6000" dirty="0">
                <a:solidFill>
                  <a:srgbClr val="002060"/>
                </a:solidFill>
              </a:rPr>
              <a:t>1</a:t>
            </a:r>
            <a:r>
              <a:rPr lang="zh-CN" altLang="zh-CN" sz="6000" dirty="0">
                <a:solidFill>
                  <a:srgbClr val="002060"/>
                </a:solidFill>
              </a:rPr>
              <a:t>课时　集合的概念</a:t>
            </a: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791815"/>
            <a:ext cx="10729192" cy="5060491"/>
            <a:chOff x="360437" y="791815"/>
            <a:chExt cx="10729192" cy="5060491"/>
          </a:xfrm>
        </p:grpSpPr>
        <p:grpSp>
          <p:nvGrpSpPr>
            <p:cNvPr id="13" name="组合 12"/>
            <p:cNvGrpSpPr/>
            <p:nvPr/>
          </p:nvGrpSpPr>
          <p:grpSpPr>
            <a:xfrm>
              <a:off x="360437" y="791815"/>
              <a:ext cx="10729192" cy="5060491"/>
              <a:chOff x="360437" y="1511895"/>
              <a:chExt cx="10729192" cy="3456384"/>
            </a:xfrm>
          </p:grpSpPr>
          <p:sp>
            <p:nvSpPr>
              <p:cNvPr id="2" name="圆角矩形 1"/>
              <p:cNvSpPr/>
              <p:nvPr/>
            </p:nvSpPr>
            <p:spPr>
              <a:xfrm>
                <a:off x="360437" y="1511895"/>
                <a:ext cx="10729192" cy="345638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1573017"/>
                <a:ext cx="0" cy="3312368"/>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447999"/>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162741"/>
              <a:ext cx="8496944" cy="4228850"/>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通过实例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了解集合的含义</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掌握集合中元素的三个特性</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理解元素与集合的属于关系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并能用符号</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或</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来表示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记住常用的数集及其记法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5.</a:t>
              </a:r>
              <a:r>
                <a:rPr lang="zh-CN" altLang="zh-CN" dirty="0">
                  <a:solidFill>
                    <a:srgbClr val="000000"/>
                  </a:solidFill>
                  <a:ea typeface="楷体" panose="02010609060101010101" pitchFamily="49" charset="-122"/>
                  <a:cs typeface="Times New Roman" panose="02020603050405020304" pitchFamily="18" charset="0"/>
                </a:rPr>
                <a:t>体会数学抽象的过程</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加强逻辑推理与数学运算素养的培养</a:t>
              </a:r>
              <a:r>
                <a:rPr lang="en-US" altLang="zh-CN"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71871"/>
            <a:ext cx="10807700" cy="5410712"/>
          </a:xfrm>
          <a:prstGeom prst="rect">
            <a:avLst/>
          </a:prstGeom>
        </p:spPr>
        <p:txBody>
          <a:bodyPr>
            <a:spAutoFit/>
          </a:bodyPr>
          <a:lstStyle/>
          <a:p>
            <a:pPr indent="3556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一、元素与集合的概念</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797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阅读下面的例子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并回答提出的问题</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①</a:t>
            </a:r>
            <a:r>
              <a:rPr lang="zh-CN" altLang="zh-CN" dirty="0">
                <a:solidFill>
                  <a:srgbClr val="000000"/>
                </a:solidFill>
                <a:ea typeface="宋体" panose="02010600030101010101" pitchFamily="2" charset="-122"/>
                <a:cs typeface="Times New Roman" panose="02020603050405020304" pitchFamily="18" charset="0"/>
              </a:rPr>
              <a:t>在平面直角坐标系中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第四象限的点的全体</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②</a:t>
            </a:r>
            <a:r>
              <a:rPr lang="zh-CN" altLang="zh-CN" dirty="0">
                <a:solidFill>
                  <a:srgbClr val="000000"/>
                </a:solidFill>
                <a:ea typeface="宋体" panose="02010600030101010101" pitchFamily="2"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的所有实数根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宋体" panose="02010600030101010101" pitchFamily="2" charset="-122"/>
                <a:cs typeface="Times New Roman" panose="02020603050405020304" pitchFamily="18" charset="0"/>
              </a:rPr>
              <a:t>某校高一</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班所有跑得快的女生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以上各例子中要研究的对象分别是什么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哪个例子中的对象不确定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为什么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smtClean="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分别为点、实数根、女生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NEU-BZ-S92"/>
                <a:ea typeface="宋体" panose="02010600030101010101" pitchFamily="2" charset="-122"/>
                <a:cs typeface="宋体" panose="02010600030101010101" pitchFamily="2" charset="-122"/>
              </a:rPr>
              <a:t>③</a:t>
            </a:r>
            <a:r>
              <a:rPr lang="zh-CN" altLang="zh-CN" dirty="0">
                <a:solidFill>
                  <a:srgbClr val="000000"/>
                </a:solidFill>
                <a:ea typeface="楷体" panose="02010609060101010101" pitchFamily="49" charset="-122"/>
                <a:cs typeface="Times New Roman" panose="02020603050405020304" pitchFamily="18" charset="0"/>
              </a:rPr>
              <a:t>中的对象不确定</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跑得快</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没有明确的划分标准</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randombar(horizontal)">
                                      <p:cBhvr>
                                        <p:cTn id="7" dur="500"/>
                                        <p:tgtEl>
                                          <p:spTgt spid="2">
                                            <p:txEl>
                                              <p:pRg st="7" end="7"/>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8" end="8"/>
                                            </p:txEl>
                                          </p:spTgt>
                                        </p:tgtEl>
                                        <p:attrNameLst>
                                          <p:attrName>style.visibility</p:attrName>
                                        </p:attrNameLst>
                                      </p:cBhvr>
                                      <p:to>
                                        <p:strVal val="visible"/>
                                      </p:to>
                                    </p:set>
                                    <p:animEffect transition="in" filter="randombar(horizontal)">
                                      <p:cBhvr>
                                        <p:cTn id="10"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93720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填空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我们把</a:t>
            </a:r>
            <a:r>
              <a:rPr lang="zh-CN" altLang="zh-CN" dirty="0">
                <a:ea typeface="宋体" panose="02010600030101010101" pitchFamily="2" charset="-122"/>
                <a:cs typeface="Times New Roman" panose="02020603050405020304" pitchFamily="18" charset="0"/>
              </a:rPr>
              <a:t>研究对象</a:t>
            </a:r>
            <a:r>
              <a:rPr lang="zh-CN" altLang="zh-CN" dirty="0">
                <a:solidFill>
                  <a:srgbClr val="000000"/>
                </a:solidFill>
                <a:ea typeface="宋体" panose="02010600030101010101" pitchFamily="2" charset="-122"/>
                <a:cs typeface="Times New Roman" panose="02020603050405020304" pitchFamily="18" charset="0"/>
              </a:rPr>
              <a:t>统称为元素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通常用小写拉丁字母</a:t>
            </a:r>
            <a:r>
              <a:rPr lang="en-US" altLang="zh-CN" i="1" dirty="0" err="1">
                <a:ea typeface="宋体" panose="02010600030101010101" pitchFamily="2" charset="-122"/>
                <a:cs typeface="Times New Roman" panose="02020603050405020304" pitchFamily="18" charset="0"/>
              </a:rPr>
              <a:t>a</a:t>
            </a:r>
            <a:r>
              <a:rPr lang="en-US" altLang="zh-CN" dirty="0" err="1">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b</a:t>
            </a:r>
            <a:r>
              <a:rPr lang="en-US" altLang="zh-CN" dirty="0" err="1">
                <a:ea typeface="宋体" panose="02010600030101010101" pitchFamily="2" charset="-122"/>
                <a:cs typeface="Times New Roman" panose="02020603050405020304" pitchFamily="18" charset="0"/>
              </a:rPr>
              <a:t>,</a:t>
            </a:r>
            <a:r>
              <a:rPr lang="en-US" altLang="zh-CN" i="1" dirty="0" err="1">
                <a:ea typeface="宋体" panose="02010600030101010101" pitchFamily="2" charset="-122"/>
                <a:cs typeface="Times New Roman" panose="02020603050405020304" pitchFamily="18" charset="0"/>
              </a:rPr>
              <a:t>c</a:t>
            </a:r>
            <a:r>
              <a:rPr lang="en-US" altLang="zh-CN" dirty="0">
                <a:ea typeface="宋体" panose="02010600030101010101" pitchFamily="2" charset="-122"/>
                <a:cs typeface="Times New Roman" panose="02020603050405020304" pitchFamily="18" charset="0"/>
              </a:rPr>
              <a:t>,</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表示</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把一些</a:t>
            </a:r>
            <a:r>
              <a:rPr lang="zh-CN" altLang="zh-CN" dirty="0">
                <a:ea typeface="宋体" panose="02010600030101010101" pitchFamily="2" charset="-122"/>
                <a:cs typeface="Times New Roman" panose="02020603050405020304" pitchFamily="18" charset="0"/>
              </a:rPr>
              <a:t>元素</a:t>
            </a:r>
            <a:r>
              <a:rPr lang="zh-CN" altLang="zh-CN" dirty="0">
                <a:solidFill>
                  <a:srgbClr val="000000"/>
                </a:solidFill>
                <a:ea typeface="宋体" panose="02010600030101010101" pitchFamily="2" charset="-122"/>
                <a:cs typeface="Times New Roman" panose="02020603050405020304" pitchFamily="18" charset="0"/>
              </a:rPr>
              <a:t>组成的总体叫做集合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简称为集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通常用大写拉丁字母</a:t>
            </a:r>
            <a:r>
              <a:rPr lang="en-US" altLang="zh-CN" i="1" dirty="0">
                <a:ea typeface="宋体" panose="02010600030101010101" pitchFamily="2" charset="-122"/>
                <a:cs typeface="Times New Roman" panose="02020603050405020304" pitchFamily="18" charset="0"/>
              </a:rPr>
              <a:t>A</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B</a:t>
            </a:r>
            <a:r>
              <a:rPr lang="en-US" altLang="zh-CN" dirty="0">
                <a:ea typeface="宋体" panose="02010600030101010101" pitchFamily="2" charset="-122"/>
                <a:cs typeface="Times New Roman" panose="02020603050405020304" pitchFamily="18" charset="0"/>
              </a:rPr>
              <a:t>,</a:t>
            </a:r>
            <a:r>
              <a:rPr lang="en-US" altLang="zh-CN" i="1" dirty="0">
                <a:ea typeface="宋体" panose="02010600030101010101" pitchFamily="2" charset="-122"/>
                <a:cs typeface="Times New Roman" panose="02020603050405020304" pitchFamily="18" charset="0"/>
              </a:rPr>
              <a:t>C</a:t>
            </a:r>
            <a:r>
              <a:rPr lang="en-US" altLang="zh-CN" dirty="0">
                <a:ea typeface="宋体" panose="02010600030101010101" pitchFamily="2" charset="-122"/>
                <a:cs typeface="Times New Roman" panose="02020603050405020304" pitchFamily="18" charset="0"/>
              </a:rPr>
              <a:t>,</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表示集合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4259627" y="2017510"/>
            <a:ext cx="164125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255455" y="2481608"/>
            <a:ext cx="1639395"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1276822" y="2593574"/>
            <a:ext cx="124385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2418" y="3057672"/>
            <a:ext cx="1242448"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4720651" y="2593574"/>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4716061" y="3057672"/>
            <a:ext cx="776265"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4759812" y="3195021"/>
            <a:ext cx="1515113"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a:off x="4755408" y="3659119"/>
            <a:ext cx="151339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05974696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75791"/>
            <a:ext cx="10807700" cy="6001643"/>
          </a:xfrm>
          <a:prstGeom prst="rect">
            <a:avLst/>
          </a:prstGeom>
        </p:spPr>
        <p:txBody>
          <a:bodyPr>
            <a:spAutoFit/>
          </a:bodyPr>
          <a:lstStyle/>
          <a:p>
            <a:pPr indent="3556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二、集合中元素的</a:t>
            </a:r>
            <a:r>
              <a:rPr lang="zh-CN" altLang="zh-CN" dirty="0" smtClean="0">
                <a:solidFill>
                  <a:srgbClr val="000000"/>
                </a:solidFill>
                <a:latin typeface="NEU-BZ-S92"/>
                <a:ea typeface="方正正中黑简体"/>
                <a:cs typeface="Times New Roman" panose="02020603050405020304" pitchFamily="18" charset="0"/>
              </a:rPr>
              <a:t>特性</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indent="35560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英文单词</a:t>
            </a:r>
            <a:r>
              <a:rPr lang="en-US" altLang="zh-CN" dirty="0">
                <a:solidFill>
                  <a:srgbClr val="000000"/>
                </a:solidFill>
                <a:ea typeface="宋体" panose="02010600030101010101" pitchFamily="2" charset="-122"/>
                <a:cs typeface="Times New Roman" panose="02020603050405020304" pitchFamily="18" charset="0"/>
              </a:rPr>
              <a:t>good</a:t>
            </a:r>
            <a:r>
              <a:rPr lang="zh-CN" altLang="zh-CN" dirty="0">
                <a:solidFill>
                  <a:srgbClr val="000000"/>
                </a:solidFill>
                <a:ea typeface="宋体" panose="02010600030101010101" pitchFamily="2" charset="-122"/>
                <a:cs typeface="Times New Roman" panose="02020603050405020304" pitchFamily="18" charset="0"/>
              </a:rPr>
              <a:t>的所有字母能否组成一个集合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若能组成一个集合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则该集合中有几个元素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为什么</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indent="3556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能</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因为</a:t>
            </a:r>
            <a:r>
              <a:rPr lang="zh-CN" altLang="zh-CN" dirty="0">
                <a:solidFill>
                  <a:srgbClr val="000000"/>
                </a:solidFill>
                <a:ea typeface="楷体" panose="02010609060101010101" pitchFamily="49" charset="-122"/>
                <a:cs typeface="Times New Roman" panose="02020603050405020304" pitchFamily="18" charset="0"/>
              </a:rPr>
              <a:t>集合中的元素是确定的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确定性</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楷体" panose="02010609060101010101" pitchFamily="49" charset="-122"/>
                <a:cs typeface="Times New Roman" panose="02020603050405020304" pitchFamily="18" charset="0"/>
              </a:rPr>
              <a:t>3</a:t>
            </a:r>
            <a:r>
              <a:rPr lang="zh-CN" altLang="zh-CN" dirty="0" smtClean="0">
                <a:solidFill>
                  <a:srgbClr val="000000"/>
                </a:solidFill>
                <a:ea typeface="楷体" panose="02010609060101010101" pitchFamily="49" charset="-122"/>
                <a:cs typeface="Times New Roman" panose="02020603050405020304" pitchFamily="18" charset="0"/>
              </a:rPr>
              <a:t>个元素</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因为</a:t>
            </a:r>
            <a:r>
              <a:rPr lang="zh-CN" altLang="zh-CN" dirty="0">
                <a:solidFill>
                  <a:srgbClr val="000000"/>
                </a:solidFill>
                <a:ea typeface="楷体" panose="02010609060101010101" pitchFamily="49" charset="-122"/>
                <a:cs typeface="Times New Roman" panose="02020603050405020304" pitchFamily="18" charset="0"/>
              </a:rPr>
              <a:t>集合中的元素是互不相同的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互异性</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p>
          <a:p>
            <a:pPr indent="35560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分别由元素</a:t>
            </a:r>
            <a:r>
              <a:rPr lang="en-US" altLang="zh-CN" dirty="0">
                <a:solidFill>
                  <a:srgbClr val="000000"/>
                </a:solidFill>
                <a:ea typeface="宋体" panose="02010600030101010101" pitchFamily="2" charset="-122"/>
                <a:cs typeface="Times New Roman" panose="02020603050405020304" pitchFamily="18" charset="0"/>
              </a:rPr>
              <a:t>1,2,3</a:t>
            </a:r>
            <a:r>
              <a:rPr lang="zh-CN" altLang="zh-CN" dirty="0">
                <a:solidFill>
                  <a:srgbClr val="000000"/>
                </a:solidFill>
                <a:ea typeface="宋体" panose="02010600030101010101" pitchFamily="2" charset="-122"/>
                <a:cs typeface="Times New Roman" panose="02020603050405020304" pitchFamily="18" charset="0"/>
              </a:rPr>
              <a:t>和</a:t>
            </a:r>
            <a:r>
              <a:rPr lang="en-US" altLang="zh-CN" dirty="0">
                <a:solidFill>
                  <a:srgbClr val="000000"/>
                </a:solidFill>
                <a:ea typeface="宋体" panose="02010600030101010101" pitchFamily="2" charset="-122"/>
                <a:cs typeface="Times New Roman" panose="02020603050405020304" pitchFamily="18" charset="0"/>
              </a:rPr>
              <a:t>3,2,1</a:t>
            </a:r>
            <a:r>
              <a:rPr lang="zh-CN" altLang="zh-CN" dirty="0">
                <a:solidFill>
                  <a:srgbClr val="000000"/>
                </a:solidFill>
                <a:ea typeface="宋体" panose="02010600030101010101" pitchFamily="2" charset="-122"/>
                <a:cs typeface="Times New Roman" panose="02020603050405020304" pitchFamily="18" charset="0"/>
              </a:rPr>
              <a:t>组成的两个集合有何关系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集合中的元素有没有先后顺序</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indent="3556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两个集合相等</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只要构成两个集合的元素是一样的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我们就称这两个集合是相等的</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也就是说集合中的元素没有先后顺序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无序性</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666489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wipe(down)">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1259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集合</a:t>
            </a:r>
            <a:r>
              <a:rPr lang="zh-CN" altLang="zh-CN" dirty="0">
                <a:solidFill>
                  <a:srgbClr val="000000"/>
                </a:solidFill>
                <a:ea typeface="宋体" panose="02010600030101010101" pitchFamily="2" charset="-122"/>
                <a:cs typeface="Times New Roman" panose="02020603050405020304" pitchFamily="18" charset="0"/>
              </a:rPr>
              <a:t>中元素的特性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确定性</a:t>
            </a:r>
            <a:r>
              <a:rPr lang="zh-CN" altLang="zh-CN" dirty="0">
                <a:solidFill>
                  <a:srgbClr val="000000"/>
                </a:solidFill>
                <a:ea typeface="宋体" panose="02010600030101010101" pitchFamily="2" charset="-122"/>
                <a:cs typeface="Times New Roman" panose="02020603050405020304" pitchFamily="18" charset="0"/>
              </a:rPr>
              <a:t>、</a:t>
            </a:r>
            <a:r>
              <a:rPr lang="zh-CN" altLang="zh-CN" dirty="0">
                <a:ea typeface="宋体" panose="02010600030101010101" pitchFamily="2" charset="-122"/>
                <a:cs typeface="Times New Roman" panose="02020603050405020304" pitchFamily="18" charset="0"/>
              </a:rPr>
              <a:t>互异性</a:t>
            </a:r>
            <a:r>
              <a:rPr lang="zh-CN" altLang="zh-CN" dirty="0">
                <a:solidFill>
                  <a:srgbClr val="000000"/>
                </a:solidFill>
                <a:ea typeface="宋体" panose="02010600030101010101" pitchFamily="2" charset="-122"/>
                <a:cs typeface="Times New Roman" panose="02020603050405020304" pitchFamily="18" charset="0"/>
              </a:rPr>
              <a:t>、无序性</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只要构成两个集合的元素是一样的</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我们就称这两个集合是</a:t>
            </a:r>
            <a:r>
              <a:rPr lang="zh-CN" altLang="zh-CN" dirty="0">
                <a:ea typeface="宋体" panose="02010600030101010101" pitchFamily="2" charset="-122"/>
                <a:cs typeface="Times New Roman" panose="02020603050405020304" pitchFamily="18" charset="0"/>
              </a:rPr>
              <a:t>相等</a:t>
            </a:r>
            <a:r>
              <a:rPr lang="zh-CN" altLang="zh-CN" dirty="0">
                <a:solidFill>
                  <a:srgbClr val="000000"/>
                </a:solidFill>
                <a:ea typeface="宋体" panose="02010600030101010101" pitchFamily="2" charset="-122"/>
                <a:cs typeface="Times New Roman" panose="02020603050405020304" pitchFamily="18" charset="0"/>
              </a:rPr>
              <a:t>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下列</a:t>
            </a:r>
            <a:r>
              <a:rPr lang="zh-CN" altLang="zh-CN" dirty="0">
                <a:solidFill>
                  <a:srgbClr val="000000"/>
                </a:solidFill>
                <a:ea typeface="宋体" panose="02010600030101010101" pitchFamily="2" charset="-122"/>
                <a:cs typeface="Times New Roman" panose="02020603050405020304" pitchFamily="18" charset="0"/>
              </a:rPr>
              <a:t>各组对象不能组成集合的是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大于</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的所有</a:t>
            </a:r>
            <a:r>
              <a:rPr lang="zh-CN" altLang="zh-CN" dirty="0" smtClean="0">
                <a:solidFill>
                  <a:srgbClr val="000000"/>
                </a:solidFill>
                <a:ea typeface="宋体" panose="02010600030101010101" pitchFamily="2" charset="-122"/>
                <a:cs typeface="Times New Roman" panose="02020603050405020304" pitchFamily="18" charset="0"/>
              </a:rPr>
              <a:t>整数</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B.</a:t>
            </a:r>
            <a:r>
              <a:rPr lang="zh-CN" altLang="en-US" dirty="0">
                <a:solidFill>
                  <a:srgbClr val="000000"/>
                </a:solidFill>
                <a:ea typeface="宋体" panose="02010600030101010101" pitchFamily="2" charset="-122"/>
                <a:cs typeface="Times New Roman" panose="02020603050405020304" pitchFamily="18" charset="0"/>
              </a:rPr>
              <a:t>某</a:t>
            </a:r>
            <a:r>
              <a:rPr lang="zh-CN" altLang="zh-CN" dirty="0" smtClean="0">
                <a:solidFill>
                  <a:srgbClr val="000000"/>
                </a:solidFill>
                <a:ea typeface="宋体" panose="02010600030101010101" pitchFamily="2" charset="-122"/>
                <a:cs typeface="Times New Roman" panose="02020603050405020304" pitchFamily="18" charset="0"/>
              </a:rPr>
              <a:t>课本</a:t>
            </a:r>
            <a:r>
              <a:rPr lang="zh-CN" altLang="zh-CN" dirty="0">
                <a:solidFill>
                  <a:srgbClr val="000000"/>
                </a:solidFill>
                <a:ea typeface="宋体" panose="02010600030101010101" pitchFamily="2" charset="-122"/>
                <a:cs typeface="Times New Roman" panose="02020603050405020304" pitchFamily="18" charset="0"/>
              </a:rPr>
              <a:t>中所有的简单题</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被</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除余</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的所有正整数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函数</a:t>
            </a:r>
            <a:r>
              <a:rPr lang="en-US" altLang="zh-CN" i="1" dirty="0">
                <a:solidFill>
                  <a:srgbClr val="000000"/>
                </a:solidFill>
                <a:ea typeface="宋体" panose="02010600030101010101" pitchFamily="2" charset="-122"/>
                <a:cs typeface="Times New Roman" panose="02020603050405020304" pitchFamily="18" charset="0"/>
              </a:rPr>
              <a:t>y=x</a:t>
            </a:r>
            <a:r>
              <a:rPr lang="zh-CN" altLang="zh-CN" dirty="0">
                <a:solidFill>
                  <a:srgbClr val="000000"/>
                </a:solidFill>
                <a:ea typeface="宋体" panose="02010600030101010101" pitchFamily="2" charset="-122"/>
                <a:cs typeface="Times New Roman" panose="02020603050405020304" pitchFamily="18" charset="0"/>
              </a:rPr>
              <a:t>图象上的所有点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4" name="矩形 3"/>
          <p:cNvSpPr/>
          <p:nvPr/>
        </p:nvSpPr>
        <p:spPr>
          <a:xfrm>
            <a:off x="4161542" y="1079847"/>
            <a:ext cx="124565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4157197" y="1543945"/>
            <a:ext cx="1244244" cy="0"/>
          </a:xfrm>
          <a:prstGeom prst="line">
            <a:avLst/>
          </a:prstGeom>
        </p:spPr>
        <p:style>
          <a:lnRef idx="2">
            <a:schemeClr val="dk1"/>
          </a:lnRef>
          <a:fillRef idx="0">
            <a:schemeClr val="dk1"/>
          </a:fillRef>
          <a:effectRef idx="1">
            <a:schemeClr val="dk1"/>
          </a:effectRef>
          <a:fontRef idx="minor">
            <a:schemeClr val="tx1"/>
          </a:fontRef>
        </p:style>
      </p:cxnSp>
      <p:sp>
        <p:nvSpPr>
          <p:cNvPr id="6" name="矩形 5"/>
          <p:cNvSpPr/>
          <p:nvPr/>
        </p:nvSpPr>
        <p:spPr>
          <a:xfrm>
            <a:off x="5756476" y="1090605"/>
            <a:ext cx="124565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5752131" y="1554703"/>
            <a:ext cx="1244244" cy="0"/>
          </a:xfrm>
          <a:prstGeom prst="line">
            <a:avLst/>
          </a:prstGeom>
        </p:spPr>
        <p:style>
          <a:lnRef idx="2">
            <a:schemeClr val="dk1"/>
          </a:lnRef>
          <a:fillRef idx="0">
            <a:schemeClr val="dk1"/>
          </a:fillRef>
          <a:effectRef idx="1">
            <a:schemeClr val="dk1"/>
          </a:effectRef>
          <a:fontRef idx="minor">
            <a:schemeClr val="tx1"/>
          </a:fontRef>
        </p:style>
      </p:cxnSp>
      <p:sp>
        <p:nvSpPr>
          <p:cNvPr id="8" name="矩形 7"/>
          <p:cNvSpPr/>
          <p:nvPr/>
        </p:nvSpPr>
        <p:spPr>
          <a:xfrm>
            <a:off x="8717955" y="1666669"/>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8713365" y="2130767"/>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5221861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23863"/>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方正正中黑简体"/>
                <a:cs typeface="Times New Roman" panose="02020603050405020304" pitchFamily="18" charset="0"/>
              </a:rPr>
              <a:t>三、元素与集合的关系</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设集合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表示</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1</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latin typeface="+mn-lt"/>
                <a:ea typeface="宋体" panose="02010600030101010101" pitchFamily="2" charset="-122"/>
                <a:cs typeface="Times New Roman" panose="02020603050405020304" pitchFamily="18" charset="0"/>
              </a:rPr>
              <a:t>10</a:t>
            </a:r>
            <a:r>
              <a:rPr lang="zh-CN" altLang="zh-CN" dirty="0" smtClean="0">
                <a:solidFill>
                  <a:srgbClr val="000000"/>
                </a:solidFill>
                <a:latin typeface="+mn-lt"/>
                <a:ea typeface="宋体" panose="02010600030101010101" pitchFamily="2" charset="-122"/>
                <a:cs typeface="Times New Roman" panose="02020603050405020304" pitchFamily="18" charset="0"/>
              </a:rPr>
              <a:t>的</a:t>
            </a:r>
            <a:r>
              <a:rPr lang="zh-CN" altLang="zh-CN" dirty="0">
                <a:solidFill>
                  <a:srgbClr val="000000"/>
                </a:solidFill>
                <a:latin typeface="+mn-lt"/>
                <a:ea typeface="宋体" panose="02010600030101010101" pitchFamily="2" charset="-122"/>
                <a:cs typeface="Times New Roman" panose="02020603050405020304" pitchFamily="18" charset="0"/>
              </a:rPr>
              <a:t>所有奇数</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和</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宋体" panose="02010600030101010101" pitchFamily="2" charset="-122"/>
                <a:cs typeface="Times New Roman" panose="02020603050405020304" pitchFamily="18" charset="0"/>
              </a:rPr>
              <a:t>与集合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smtClean="0">
                <a:solidFill>
                  <a:srgbClr val="000000"/>
                </a:solidFill>
                <a:latin typeface="+mn-lt"/>
                <a:ea typeface="宋体" panose="02010600030101010101" pitchFamily="2" charset="-122"/>
                <a:cs typeface="Times New Roman" panose="02020603050405020304" pitchFamily="18" charset="0"/>
              </a:rPr>
              <a:t>是</a:t>
            </a:r>
            <a:r>
              <a:rPr lang="zh-CN" altLang="en-US" dirty="0" smtClean="0">
                <a:solidFill>
                  <a:srgbClr val="000000"/>
                </a:solidFill>
                <a:latin typeface="+mn-lt"/>
                <a:ea typeface="宋体" panose="02010600030101010101" pitchFamily="2" charset="-122"/>
                <a:cs typeface="Times New Roman" panose="02020603050405020304" pitchFamily="18" charset="0"/>
              </a:rPr>
              <a:t>什么</a:t>
            </a:r>
            <a:r>
              <a:rPr lang="zh-CN" altLang="zh-CN" dirty="0" smtClean="0">
                <a:solidFill>
                  <a:srgbClr val="000000"/>
                </a:solidFill>
                <a:latin typeface="+mn-lt"/>
                <a:ea typeface="宋体" panose="02010600030101010101" pitchFamily="2" charset="-122"/>
                <a:cs typeface="Times New Roman" panose="02020603050405020304" pitchFamily="18" charset="0"/>
              </a:rPr>
              <a:t>关系</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提示</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是集合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中的元素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属于集合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记作</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楷体" panose="02010609060101010101" pitchFamily="49" charset="-122"/>
                <a:cs typeface="Times New Roman" panose="02020603050405020304" pitchFamily="18" charset="0"/>
              </a:rPr>
              <a:t>不是集合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中的元素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楷体" panose="02010609060101010101" pitchFamily="49" charset="-122"/>
                <a:cs typeface="Times New Roman" panose="02020603050405020304" pitchFamily="18" charset="0"/>
              </a:rPr>
              <a:t>不属于集合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记作</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NEU-BZ-S9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是集合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的元素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就说</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latin typeface="+mn-lt"/>
                <a:ea typeface="宋体" panose="02010600030101010101" pitchFamily="2" charset="-122"/>
                <a:cs typeface="Times New Roman" panose="02020603050405020304" pitchFamily="18" charset="0"/>
              </a:rPr>
              <a:t>属于</a:t>
            </a:r>
            <a:r>
              <a:rPr lang="zh-CN" altLang="zh-CN" dirty="0">
                <a:solidFill>
                  <a:srgbClr val="000000"/>
                </a:solidFill>
                <a:latin typeface="+mn-lt"/>
                <a:ea typeface="宋体" panose="02010600030101010101" pitchFamily="2" charset="-122"/>
                <a:cs typeface="Times New Roman" panose="02020603050405020304" pitchFamily="18" charset="0"/>
              </a:rPr>
              <a:t>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记作</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如果</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不是集合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中的元素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就说</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latin typeface="+mn-lt"/>
                <a:ea typeface="宋体" panose="02010600030101010101" pitchFamily="2" charset="-122"/>
                <a:cs typeface="Times New Roman" panose="02020603050405020304" pitchFamily="18" charset="0"/>
              </a:rPr>
              <a:t>不属于</a:t>
            </a:r>
            <a:r>
              <a:rPr lang="zh-CN" altLang="zh-CN" dirty="0">
                <a:solidFill>
                  <a:srgbClr val="000000"/>
                </a:solidFill>
                <a:latin typeface="+mn-lt"/>
                <a:ea typeface="宋体" panose="02010600030101010101" pitchFamily="2" charset="-122"/>
                <a:cs typeface="Times New Roman" panose="02020603050405020304" pitchFamily="18" charset="0"/>
              </a:rPr>
              <a:t>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记作</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latin typeface="+mn-lt"/>
                <a:ea typeface="NEU-BZ-S9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
        <p:nvSpPr>
          <p:cNvPr id="3" name="矩形 2"/>
          <p:cNvSpPr/>
          <p:nvPr/>
        </p:nvSpPr>
        <p:spPr>
          <a:xfrm>
            <a:off x="5626476" y="3625434"/>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5621886" y="4089532"/>
            <a:ext cx="776265" cy="0"/>
          </a:xfrm>
          <a:prstGeom prst="line">
            <a:avLst/>
          </a:prstGeom>
        </p:spPr>
        <p:style>
          <a:lnRef idx="2">
            <a:schemeClr val="dk1"/>
          </a:lnRef>
          <a:fillRef idx="0">
            <a:schemeClr val="dk1"/>
          </a:fillRef>
          <a:effectRef idx="1">
            <a:schemeClr val="dk1"/>
          </a:effectRef>
          <a:fontRef idx="minor">
            <a:schemeClr val="tx1"/>
          </a:fontRef>
        </p:style>
      </p:cxnSp>
      <p:sp>
        <p:nvSpPr>
          <p:cNvPr id="5" name="矩形 4"/>
          <p:cNvSpPr/>
          <p:nvPr/>
        </p:nvSpPr>
        <p:spPr>
          <a:xfrm>
            <a:off x="8651066" y="3626105"/>
            <a:ext cx="32958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8646222" y="4090203"/>
            <a:ext cx="329212"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727774" y="4189924"/>
            <a:ext cx="1174476"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723429" y="4654022"/>
            <a:ext cx="1173148"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8147647" y="4189924"/>
            <a:ext cx="225112"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142745" y="4654022"/>
            <a:ext cx="22485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8832582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007839"/>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NEU-BZ-S92"/>
                <a:ea typeface="方正正中黑简体"/>
                <a:cs typeface="Times New Roman" panose="02020603050405020304" pitchFamily="18" charset="0"/>
              </a:rPr>
              <a:t>四、常用的数集及其记法</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非负整数集与正整数集</a:t>
            </a:r>
            <a:r>
              <a:rPr lang="zh-CN" altLang="zh-CN" dirty="0" smtClean="0">
                <a:solidFill>
                  <a:srgbClr val="000000"/>
                </a:solidFill>
                <a:ea typeface="宋体" panose="02010600030101010101" pitchFamily="2" charset="-122"/>
                <a:cs typeface="Times New Roman" panose="02020603050405020304" pitchFamily="18" charset="0"/>
              </a:rPr>
              <a:t>有</a:t>
            </a:r>
            <a:r>
              <a:rPr lang="zh-CN" altLang="en-US" dirty="0">
                <a:solidFill>
                  <a:srgbClr val="000000"/>
                </a:solidFill>
                <a:ea typeface="宋体" panose="02010600030101010101" pitchFamily="2" charset="-122"/>
                <a:cs typeface="Times New Roman" panose="02020603050405020304" pitchFamily="18" charset="0"/>
              </a:rPr>
              <a:t>什么</a:t>
            </a:r>
            <a:r>
              <a:rPr lang="zh-CN" altLang="zh-CN" dirty="0" smtClean="0">
                <a:solidFill>
                  <a:srgbClr val="000000"/>
                </a:solidFill>
                <a:ea typeface="宋体" panose="02010600030101010101" pitchFamily="2" charset="-122"/>
                <a:cs typeface="Times New Roman" panose="02020603050405020304" pitchFamily="18" charset="0"/>
              </a:rPr>
              <a:t>区别</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非负整数集包括</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而正整数集不包括</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常用数集的字母表示</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3999422037"/>
              </p:ext>
            </p:extLst>
          </p:nvPr>
        </p:nvGraphicFramePr>
        <p:xfrm>
          <a:off x="-149721" y="3476172"/>
          <a:ext cx="11844910" cy="2500219"/>
        </p:xfrm>
        <a:graphic>
          <a:graphicData uri="http://schemas.openxmlformats.org/presentationml/2006/ole">
            <mc:AlternateContent xmlns:mc="http://schemas.openxmlformats.org/markup-compatibility/2006">
              <mc:Choice xmlns:v="urn:schemas-microsoft-com:vml" Requires="v">
                <p:oleObj spid="_x0000_s1051" name="文档" r:id="rId4" imgW="3883577" imgH="819744" progId="Word.Document.12">
                  <p:embed/>
                </p:oleObj>
              </mc:Choice>
              <mc:Fallback>
                <p:oleObj name="文档" r:id="rId4" imgW="3883577" imgH="819744" progId="Word.Document.12">
                  <p:embed/>
                  <p:pic>
                    <p:nvPicPr>
                      <p:cNvPr id="0" name=""/>
                      <p:cNvPicPr/>
                      <p:nvPr/>
                    </p:nvPicPr>
                    <p:blipFill>
                      <a:blip r:embed="rId5"/>
                      <a:stretch>
                        <a:fillRect/>
                      </a:stretch>
                    </p:blipFill>
                    <p:spPr>
                      <a:xfrm>
                        <a:off x="-149721" y="3476172"/>
                        <a:ext cx="11844910" cy="2500219"/>
                      </a:xfrm>
                      <a:prstGeom prst="rect">
                        <a:avLst/>
                      </a:prstGeom>
                    </p:spPr>
                  </p:pic>
                </p:oleObj>
              </mc:Fallback>
            </mc:AlternateContent>
          </a:graphicData>
        </a:graphic>
      </p:graphicFrame>
      <p:sp>
        <p:nvSpPr>
          <p:cNvPr id="4" name="矩形 3"/>
          <p:cNvSpPr/>
          <p:nvPr/>
        </p:nvSpPr>
        <p:spPr>
          <a:xfrm>
            <a:off x="2880717" y="468024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2876127" y="5144345"/>
            <a:ext cx="776265"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4589656" y="4672773"/>
            <a:ext cx="53080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4584927" y="5136871"/>
            <a:ext cx="530199"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5576631" y="4672773"/>
            <a:ext cx="530800"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5571902" y="5136871"/>
            <a:ext cx="530199"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6691004" y="467277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686414" y="5136871"/>
            <a:ext cx="776265"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8335720" y="4680247"/>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8331130" y="5144345"/>
            <a:ext cx="776265"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10071637" y="4672773"/>
            <a:ext cx="77714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10067047" y="5136871"/>
            <a:ext cx="776265"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6712814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7"/>
                                        </p:tgtEl>
                                      </p:cBhvr>
                                    </p:animEffect>
                                    <p:set>
                                      <p:cBhvr>
                                        <p:cTn id="17" dur="1" fill="hold">
                                          <p:stCondLst>
                                            <p:cond delay="4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1"/>
                                        </p:tgtEl>
                                      </p:cBhvr>
                                    </p:animEffect>
                                    <p:set>
                                      <p:cBhvr>
                                        <p:cTn id="27" dur="1" fill="hold">
                                          <p:stCondLst>
                                            <p:cond delay="499"/>
                                          </p:stCondLst>
                                        </p:cTn>
                                        <p:tgtEl>
                                          <p:spTgt spid="11"/>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3"/>
                                        </p:tgtEl>
                                      </p:cBhvr>
                                    </p:animEffect>
                                    <p:set>
                                      <p:cBhvr>
                                        <p:cTn id="32" dur="1" fill="hold">
                                          <p:stCondLst>
                                            <p:cond delay="499"/>
                                          </p:stCondLst>
                                        </p:cTn>
                                        <p:tgtEl>
                                          <p:spTgt spid="13"/>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1" grpId="0" animBg="1"/>
      <p:bldP spid="13"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矩形 8"/>
              <p:cNvSpPr>
                <a:spLocks noChangeAspect="1"/>
              </p:cNvSpPr>
              <p:nvPr/>
            </p:nvSpPr>
            <p:spPr>
              <a:xfrm>
                <a:off x="361950" y="915300"/>
                <a:ext cx="10807700" cy="452809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Q,</a:t>
                </a:r>
                <a:r>
                  <a:rPr lang="zh-CN" altLang="zh-CN" dirty="0" smtClean="0">
                    <a:solidFill>
                      <a:srgbClr val="000000"/>
                    </a:solidFill>
                    <a:latin typeface="+mn-lt"/>
                    <a:ea typeface="宋体" panose="02010600030101010101" pitchFamily="2" charset="-122"/>
                    <a:cs typeface="Times New Roman" panose="02020603050405020304" pitchFamily="18" charset="0"/>
                  </a:rPr>
                  <a:t>则有</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宋体" panose="02010600030101010101" pitchFamily="2" charset="-122"/>
                    <a:cs typeface="Times New Roman" panose="02020603050405020304" pitchFamily="18" charset="0"/>
                  </a:rPr>
                  <a:t>吗</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反过来呢</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提示</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Q,</a:t>
                </a:r>
                <a:r>
                  <a:rPr lang="zh-CN" altLang="zh-CN" dirty="0" smtClean="0">
                    <a:solidFill>
                      <a:srgbClr val="000000"/>
                    </a:solidFill>
                    <a:latin typeface="+mn-lt"/>
                    <a:ea typeface="楷体" panose="02010609060101010101" pitchFamily="49" charset="-122"/>
                    <a:cs typeface="Times New Roman" panose="02020603050405020304" pitchFamily="18" charset="0"/>
                  </a:rPr>
                  <a:t>则有</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楷体" panose="02010609060101010101" pitchFamily="49" charset="-122"/>
                    <a:cs typeface="Times New Roman" panose="02020603050405020304" pitchFamily="18" charset="0"/>
                  </a:rPr>
                  <a:t>反过来</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R,</a:t>
                </a:r>
                <a:r>
                  <a:rPr lang="zh-CN" altLang="zh-CN" dirty="0">
                    <a:solidFill>
                      <a:srgbClr val="000000"/>
                    </a:solidFill>
                    <a:latin typeface="+mn-lt"/>
                    <a:ea typeface="楷体" panose="02010609060101010101" pitchFamily="49" charset="-122"/>
                    <a:cs typeface="Times New Roman" panose="02020603050405020304" pitchFamily="18" charset="0"/>
                  </a:rPr>
                  <a:t>则不一定有</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Q</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latin typeface="+mn-lt"/>
                    <a:ea typeface="宋体" panose="02010600030101010101" pitchFamily="2" charset="-122"/>
                    <a:cs typeface="Times New Roman" panose="02020603050405020304" pitchFamily="18" charset="0"/>
                  </a:rPr>
                  <a:t>4</a:t>
                </a:r>
                <a:r>
                  <a:rPr lang="en-US" altLang="zh-CN" i="1" dirty="0" smtClean="0">
                    <a:solidFill>
                      <a:srgbClr val="000000"/>
                    </a:solidFill>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宋体" panose="02010600030101010101" pitchFamily="2" charset="-122"/>
                    <a:cs typeface="Times New Roman" panose="02020603050405020304" pitchFamily="18" charset="0"/>
                  </a:rPr>
                  <a:t>用</a:t>
                </a:r>
                <a:r>
                  <a:rPr lang="zh-CN" altLang="zh-CN" dirty="0">
                    <a:solidFill>
                      <a:srgbClr val="000000"/>
                    </a:solidFill>
                    <a:latin typeface="+mn-lt"/>
                    <a:ea typeface="宋体" panose="02010600030101010101" pitchFamily="2" charset="-122"/>
                    <a:cs typeface="Times New Roman" panose="02020603050405020304" pitchFamily="18" charset="0"/>
                  </a:rPr>
                  <a:t>符号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或</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NEU-BZ-S9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填空</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(1)1</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N</a:t>
                </a:r>
                <a:r>
                  <a:rPr lang="en-US" altLang="zh-CN" i="1" baseline="30000"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N;</a:t>
                </a:r>
                <a:r>
                  <a:rPr lang="en-US" altLang="zh-CN" dirty="0">
                    <a:solidFill>
                      <a:srgbClr val="000000"/>
                    </a:solidFill>
                    <a:latin typeface="+mn-lt"/>
                    <a:ea typeface="方正书宋_GBK" panose="03000509000000000000" pitchFamily="65" charset="-122"/>
                    <a:cs typeface="Times New Roman" panose="02020603050405020304" pitchFamily="18" charset="0"/>
                  </a:rPr>
                  <a:t> </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(3)0</a:t>
                </a:r>
                <a:r>
                  <a:rPr lang="zh-CN" altLang="zh-CN" i="1" u="sng" dirty="0">
                    <a:uFill>
                      <a:solidFill>
                        <a:srgbClr val="000000"/>
                      </a:solidFill>
                    </a:u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Z</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4)</a:t>
                </a:r>
                <a14:m>
                  <m:oMath xmlns:m="http://schemas.openxmlformats.org/officeDocument/2006/math">
                    <m:rad>
                      <m:radPr>
                        <m:degHide m:val="on"/>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3</m:t>
                        </m:r>
                      </m:e>
                    </m:rad>
                  </m:oMath>
                </a14:m>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Q; </a:t>
                </a:r>
                <a:r>
                  <a:rPr lang="en-US" altLang="zh-CN" dirty="0">
                    <a:solidFill>
                      <a:srgbClr val="000000"/>
                    </a:solidFill>
                    <a:latin typeface="+mn-lt"/>
                    <a:ea typeface="方正书宋_GBK" panose="03000509000000000000" pitchFamily="65" charset="-122"/>
                    <a:cs typeface="Times New Roman" panose="02020603050405020304" pitchFamily="18" charset="0"/>
                  </a:rPr>
                  <a:t> </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14:m>
                  <m:oMath xmlns:m="http://schemas.openxmlformats.org/officeDocument/2006/math">
                    <m:f>
                      <m:fPr>
                        <m:ctrlPr>
                          <a:rPr lang="zh-CN" altLang="zh-CN" i="1">
                            <a:solidFill>
                              <a:srgbClr val="000000"/>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den>
                    </m:f>
                  </m:oMath>
                </a14:m>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R</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NEU-BZ-S92" panose="02020503000000020003" pitchFamily="18" charset="-122"/>
                    <a:cs typeface="Times New Roman" panose="02020603050405020304" pitchFamily="18" charset="0"/>
                  </a:rPr>
                  <a:t> </a:t>
                </a:r>
                <a:endParaRPr lang="en-US" altLang="zh-CN" i="1" dirty="0" smtClean="0">
                  <a:solidFill>
                    <a:srgbClr val="000000"/>
                  </a:solidFill>
                  <a:latin typeface="宋体" panose="02010600030101010101" pitchFamily="2"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宋体" panose="02010600030101010101" pitchFamily="2" charset="-122"/>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dirty="0">
                    <a:solidFill>
                      <a:srgbClr val="000000"/>
                    </a:solidFill>
                    <a:latin typeface="+mn-lt"/>
                    <a:ea typeface="NEU-BZ-S9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宋体" panose="02010600030101010101" pitchFamily="2" charset="-122"/>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dirty="0">
                    <a:solidFill>
                      <a:srgbClr val="000000"/>
                    </a:solidFill>
                    <a:latin typeface="+mn-lt"/>
                    <a:ea typeface="NEU-BZ-S9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(5)</a:t>
                </a:r>
                <a:r>
                  <a:rPr lang="zh-CN" altLang="zh-CN" dirty="0">
                    <a:solidFill>
                      <a:srgbClr val="000000"/>
                    </a:solidFill>
                    <a:latin typeface="+mn-lt"/>
                    <a:ea typeface="宋体" panose="02010600030101010101" pitchFamily="2" charset="-122"/>
                    <a:cs typeface="宋体" panose="02010600030101010101" pitchFamily="2" charset="-122"/>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361950" y="915300"/>
                <a:ext cx="10807700" cy="4528099"/>
              </a:xfrm>
              <a:prstGeom prst="rect">
                <a:avLst/>
              </a:prstGeom>
              <a:blipFill rotWithShape="0">
                <a:blip r:embed="rId2"/>
                <a:stretch>
                  <a:fillRect l="-1410" t="-1346" b="-22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4919931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randombar(horizontal)">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9">
                                            <p:txEl>
                                              <p:pRg st="6" end="6"/>
                                            </p:txEl>
                                          </p:spTgt>
                                        </p:tgtEl>
                                        <p:attrNameLst>
                                          <p:attrName>style.visibility</p:attrName>
                                        </p:attrNameLst>
                                      </p:cBhvr>
                                      <p:to>
                                        <p:strVal val="visible"/>
                                      </p:to>
                                    </p:set>
                                    <p:animEffect transition="in" filter="randombar(horizontal)">
                                      <p:cBhvr>
                                        <p:cTn id="12"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9478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某班所有学生的姓氏能组成集合</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的解集中含有</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个元素</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改变一个集合中元素的顺序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所得集合仍与原来的集合相等</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7035247" y="2890643"/>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7777261" y="345801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1296541" y="460959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256415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81143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集合</a:t>
            </a:r>
            <a:r>
              <a:rPr lang="zh-CN" altLang="zh-CN" dirty="0"/>
              <a:t>的判定</a:t>
            </a:r>
          </a:p>
        </p:txBody>
      </p:sp>
      <p:sp>
        <p:nvSpPr>
          <p:cNvPr id="2" name="矩形 1"/>
          <p:cNvSpPr>
            <a:spLocks noChangeAspect="1"/>
          </p:cNvSpPr>
          <p:nvPr/>
        </p:nvSpPr>
        <p:spPr>
          <a:xfrm>
            <a:off x="196757" y="1502063"/>
            <a:ext cx="11087719" cy="4228850"/>
          </a:xfrm>
          <a:prstGeom prst="rect">
            <a:avLst/>
          </a:prstGeom>
        </p:spPr>
        <p:txBody>
          <a:bodyPr wrap="square">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判断下列每组对象能否组成一个集合</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等边三角形的全体</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小于</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的所有整数</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所有无理数</a:t>
            </a:r>
            <a:r>
              <a:rPr lang="en-US" altLang="zh-CN" dirty="0">
                <a:solidFill>
                  <a:srgbClr val="000000"/>
                </a:solidFill>
                <a:ea typeface="宋体" panose="02010600030101010101" pitchFamily="2" charset="-122"/>
                <a:cs typeface="Times New Roman" panose="02020603050405020304" pitchFamily="18" charset="0"/>
              </a:rPr>
              <a:t>;	(4)</a:t>
            </a:r>
            <a:r>
              <a:rPr lang="zh-CN" altLang="zh-CN" dirty="0">
                <a:solidFill>
                  <a:srgbClr val="000000"/>
                </a:solidFill>
                <a:ea typeface="宋体" panose="02010600030101010101" pitchFamily="2" charset="-122"/>
                <a:cs typeface="Times New Roman" panose="02020603050405020304" pitchFamily="18" charset="0"/>
              </a:rPr>
              <a:t>著名的数学家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b="0" dirty="0" smtClean="0">
                <a:latin typeface="Arial" panose="020B0604020202020204" pitchFamily="34" charset="0"/>
                <a:cs typeface="Times New Roman" panose="02020603050405020304" pitchFamily="18" charset="0"/>
              </a:rPr>
              <a:t>解</a:t>
            </a:r>
            <a:r>
              <a:rPr lang="en-US" altLang="zh-CN" b="0" dirty="0" smtClean="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任给一个三角形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可以明确地判断是不是等边三角形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等边三角形的全体</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能组成集合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类似地</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能组成集合</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能组成集合</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著名的数学家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无明确的判断标准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因此不能组成集合</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739471"/>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一般地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确认一组对象</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baseline="-25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仿宋" panose="02010609060101010101" pitchFamily="49"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baseline="-25000"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仿宋" panose="02010609060101010101" pitchFamily="49" charset="-122"/>
                <a:cs typeface="Times New Roman" panose="02020603050405020304" pitchFamily="18" charset="0"/>
              </a:rPr>
              <a:t>能否组成集合的具体过程如下</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pic>
        <p:nvPicPr>
          <p:cNvPr id="7" name="21Q31.eps" descr="id:2147492134;FounderCES"/>
          <p:cNvPicPr/>
          <p:nvPr/>
        </p:nvPicPr>
        <p:blipFill>
          <a:blip r:embed="rId2"/>
          <a:stretch>
            <a:fillRect/>
          </a:stretch>
        </p:blipFill>
        <p:spPr>
          <a:xfrm>
            <a:off x="1584573" y="2604596"/>
            <a:ext cx="8136904" cy="3086569"/>
          </a:xfrm>
          <a:prstGeom prst="rect">
            <a:avLst/>
          </a:prstGeom>
        </p:spPr>
      </p:pic>
    </p:spTree>
    <p:extLst>
      <p:ext uri="{BB962C8B-B14F-4D97-AF65-F5344CB8AC3E}">
        <p14:creationId xmlns:p14="http://schemas.microsoft.com/office/powerpoint/2010/main" val="6898347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31641"/>
            <a:ext cx="10807700" cy="6001643"/>
          </a:xfrm>
          <a:prstGeom prst="rect">
            <a:avLst/>
          </a:prstGeom>
        </p:spPr>
        <p:txBody>
          <a:bodyPr>
            <a:spAutoFit/>
          </a:bodyPr>
          <a:lstStyle/>
          <a:p>
            <a:pPr indent="304800">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多选题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下列各组对象能组成一个集合的是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在数轴上与原点非常近的点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在平面直角坐标系中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所有横坐标与纵坐标相等的点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所有不小于</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的正整数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高一年级视力比较好的同学</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解析</a:t>
            </a:r>
            <a:r>
              <a:rPr lang="en-US" altLang="zh-CN" dirty="0" smtClean="0">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对于</a:t>
            </a:r>
            <a:r>
              <a:rPr lang="en-US" altLang="zh-CN" dirty="0">
                <a:solidFill>
                  <a:srgbClr val="000000"/>
                </a:solidFill>
                <a:ea typeface="宋体" panose="02010600030101010101" pitchFamily="2" charset="-122"/>
              </a:rPr>
              <a:t>A</a:t>
            </a:r>
            <a:r>
              <a:rPr lang="zh-CN" altLang="zh-CN" dirty="0">
                <a:solidFill>
                  <a:srgbClr val="000000"/>
                </a:solidFill>
                <a:ea typeface="楷体" panose="02010609060101010101" pitchFamily="49" charset="-122"/>
                <a:cs typeface="Times New Roman" panose="02020603050405020304" pitchFamily="18" charset="0"/>
              </a:rPr>
              <a:t>选项中的</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非常近</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标准不明确</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故不能组成集合</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同理</a:t>
            </a:r>
            <a:r>
              <a:rPr lang="en-US" altLang="zh-CN" dirty="0">
                <a:solidFill>
                  <a:srgbClr val="000000"/>
                </a:solidFill>
                <a:ea typeface="宋体" panose="02010600030101010101" pitchFamily="2" charset="-122"/>
              </a:rPr>
              <a:t>D</a:t>
            </a:r>
            <a:r>
              <a:rPr lang="zh-CN" altLang="zh-CN" dirty="0">
                <a:solidFill>
                  <a:srgbClr val="000000"/>
                </a:solidFill>
                <a:ea typeface="楷体" panose="02010609060101010101" pitchFamily="49" charset="-122"/>
                <a:cs typeface="Times New Roman" panose="02020603050405020304" pitchFamily="18" charset="0"/>
              </a:rPr>
              <a:t>选项中的</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视力比较好</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标准也不明确</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而</a:t>
            </a:r>
            <a:r>
              <a:rPr lang="en-US" altLang="zh-CN" dirty="0">
                <a:solidFill>
                  <a:srgbClr val="000000"/>
                </a:solidFill>
                <a:ea typeface="宋体" panose="02010600030101010101" pitchFamily="2" charset="-122"/>
              </a:rPr>
              <a:t>B,C</a:t>
            </a:r>
            <a:r>
              <a:rPr lang="zh-CN" altLang="zh-CN" dirty="0">
                <a:solidFill>
                  <a:srgbClr val="000000"/>
                </a:solidFill>
                <a:ea typeface="楷体" panose="02010609060101010101" pitchFamily="49" charset="-122"/>
                <a:cs typeface="Times New Roman" panose="02020603050405020304" pitchFamily="18" charset="0"/>
              </a:rPr>
              <a:t>选项中的对象都是明确的</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故</a:t>
            </a:r>
            <a:r>
              <a:rPr lang="en-US" altLang="zh-CN" dirty="0">
                <a:solidFill>
                  <a:srgbClr val="000000"/>
                </a:solidFill>
                <a:ea typeface="宋体" panose="02010600030101010101" pitchFamily="2" charset="-122"/>
              </a:rPr>
              <a:t>A,D</a:t>
            </a:r>
            <a:r>
              <a:rPr lang="zh-CN" altLang="zh-CN" dirty="0">
                <a:solidFill>
                  <a:srgbClr val="000000"/>
                </a:solidFill>
                <a:ea typeface="楷体" panose="02010609060101010101" pitchFamily="49" charset="-122"/>
                <a:cs typeface="Times New Roman" panose="02020603050405020304" pitchFamily="18" charset="0"/>
              </a:rPr>
              <a:t>选项中的对象均不能组成集合</a:t>
            </a:r>
            <a:r>
              <a:rPr lang="en-US" altLang="zh-CN" dirty="0">
                <a:solidFill>
                  <a:srgbClr val="000000"/>
                </a:solidFill>
                <a:ea typeface="宋体" panose="02010600030101010101" pitchFamily="2" charset="-122"/>
              </a:rPr>
              <a:t>,B,C</a:t>
            </a:r>
            <a:r>
              <a:rPr lang="zh-CN" altLang="zh-CN" dirty="0">
                <a:solidFill>
                  <a:srgbClr val="000000"/>
                </a:solidFill>
                <a:ea typeface="楷体" panose="02010609060101010101" pitchFamily="49" charset="-122"/>
                <a:cs typeface="Times New Roman" panose="02020603050405020304" pitchFamily="18" charset="0"/>
              </a:rPr>
              <a:t>选项中的对象能组成集合</a:t>
            </a:r>
            <a:r>
              <a:rPr lang="en-US" altLang="zh-CN" i="1" dirty="0" smtClean="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4" name="矩形 3"/>
          <p:cNvSpPr>
            <a:spLocks noChangeAspect="1"/>
          </p:cNvSpPr>
          <p:nvPr/>
        </p:nvSpPr>
        <p:spPr>
          <a:xfrm>
            <a:off x="7201197" y="5777247"/>
            <a:ext cx="1818126" cy="683264"/>
          </a:xfrm>
          <a:prstGeom prst="rect">
            <a:avLst/>
          </a:prstGeom>
        </p:spPr>
        <p:txBody>
          <a:bodyPr wrap="none">
            <a:spAutoFit/>
          </a:bodyPr>
          <a:lstStyle/>
          <a:p>
            <a:pPr>
              <a:lnSpc>
                <a:spcPct val="120000"/>
              </a:lnSpc>
            </a:pPr>
            <a:r>
              <a:rPr lang="zh-CN" altLang="zh-CN" dirty="0">
                <a:latin typeface="Arial" panose="020B0604020202020204" pitchFamily="34" charset="0"/>
                <a:cs typeface="Times New Roman" panose="02020603050405020304" pitchFamily="18" charset="0"/>
              </a:rPr>
              <a:t>答案</a:t>
            </a:r>
            <a:r>
              <a:rPr lang="en-US" altLang="zh-CN" dirty="0">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BC </a:t>
            </a:r>
            <a:endParaRPr lang="zh-CN" altLang="en-US" dirty="0"/>
          </a:p>
        </p:txBody>
      </p:sp>
    </p:spTree>
    <p:extLst>
      <p:ext uri="{BB962C8B-B14F-4D97-AF65-F5344CB8AC3E}">
        <p14:creationId xmlns:p14="http://schemas.microsoft.com/office/powerpoint/2010/main" val="2401487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元素</a:t>
            </a:r>
            <a:r>
              <a:rPr lang="zh-CN" altLang="zh-CN" dirty="0"/>
              <a:t>与集合的关系</a:t>
            </a:r>
          </a:p>
        </p:txBody>
      </p:sp>
      <p:grpSp>
        <p:nvGrpSpPr>
          <p:cNvPr id="6" name="组合 5"/>
          <p:cNvGrpSpPr/>
          <p:nvPr/>
        </p:nvGrpSpPr>
        <p:grpSpPr>
          <a:xfrm>
            <a:off x="187454" y="1563583"/>
            <a:ext cx="16806831" cy="1808572"/>
            <a:chOff x="361950" y="1556928"/>
            <a:chExt cx="16806831" cy="1808572"/>
          </a:xfrm>
        </p:grpSpPr>
        <p:sp>
          <p:nvSpPr>
            <p:cNvPr id="4" name="矩形 3"/>
            <p:cNvSpPr>
              <a:spLocks noChangeAspect="1"/>
            </p:cNvSpPr>
            <p:nvPr/>
          </p:nvSpPr>
          <p:spPr>
            <a:xfrm>
              <a:off x="361950" y="1556928"/>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给出下列四个关系</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其中正确的有</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A.4</a:t>
              </a:r>
              <a:r>
                <a:rPr lang="zh-CN" altLang="zh-CN" dirty="0" smtClean="0">
                  <a:solidFill>
                    <a:srgbClr val="000000"/>
                  </a:solidFill>
                  <a:ea typeface="宋体" panose="02010600030101010101" pitchFamily="2" charset="-122"/>
                  <a:cs typeface="Times New Roman" panose="02020603050405020304" pitchFamily="18" charset="0"/>
                </a:rPr>
                <a:t>个</a:t>
              </a:r>
              <a:r>
                <a:rPr lang="en-US" altLang="zh-CN" dirty="0" smtClean="0">
                  <a:solidFill>
                    <a:srgbClr val="000000"/>
                  </a:solidFill>
                  <a:ea typeface="宋体" panose="02010600030101010101" pitchFamily="2" charset="-122"/>
                  <a:cs typeface="Times New Roman" panose="02020603050405020304" pitchFamily="18" charset="0"/>
                </a:rPr>
                <a:t>		B.3</a:t>
              </a:r>
              <a:r>
                <a:rPr lang="zh-CN" altLang="zh-CN" dirty="0" smtClean="0">
                  <a:solidFill>
                    <a:srgbClr val="000000"/>
                  </a:solidFill>
                  <a:ea typeface="宋体" panose="02010600030101010101" pitchFamily="2" charset="-122"/>
                  <a:cs typeface="Times New Roman" panose="02020603050405020304" pitchFamily="18" charset="0"/>
                </a:rPr>
                <a:t>个</a:t>
              </a:r>
              <a:r>
                <a:rPr lang="en-US" altLang="zh-CN" dirty="0" smtClean="0">
                  <a:solidFill>
                    <a:srgbClr val="000000"/>
                  </a:solidFill>
                  <a:ea typeface="宋体" panose="02010600030101010101" pitchFamily="2" charset="-122"/>
                  <a:cs typeface="Times New Roman" panose="02020603050405020304" pitchFamily="18" charset="0"/>
                </a:rPr>
                <a:t>	C.2</a:t>
              </a:r>
              <a:r>
                <a:rPr lang="zh-CN" altLang="zh-CN" dirty="0" smtClean="0">
                  <a:solidFill>
                    <a:srgbClr val="000000"/>
                  </a:solidFill>
                  <a:ea typeface="宋体" panose="02010600030101010101" pitchFamily="2" charset="-122"/>
                  <a:cs typeface="Times New Roman" panose="02020603050405020304" pitchFamily="18" charset="0"/>
                </a:rPr>
                <a:t>个</a:t>
              </a:r>
              <a:r>
                <a:rPr lang="en-US" altLang="zh-CN" dirty="0" smtClean="0">
                  <a:solidFill>
                    <a:srgbClr val="000000"/>
                  </a:solidFill>
                  <a:ea typeface="宋体" panose="02010600030101010101" pitchFamily="2" charset="-122"/>
                  <a:cs typeface="Times New Roman" panose="02020603050405020304" pitchFamily="18" charset="0"/>
                </a:rPr>
                <a:t>	D.1</a:t>
              </a:r>
              <a:r>
                <a:rPr lang="zh-CN" altLang="zh-CN" dirty="0" smtClean="0">
                  <a:solidFill>
                    <a:srgbClr val="000000"/>
                  </a:solidFill>
                  <a:ea typeface="宋体" panose="02010600030101010101" pitchFamily="2" charset="-122"/>
                  <a:cs typeface="Times New Roman" panose="02020603050405020304" pitchFamily="18" charset="0"/>
                </a:rPr>
                <a:t>个</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83415670"/>
                </p:ext>
              </p:extLst>
            </p:nvPr>
          </p:nvGraphicFramePr>
          <p:xfrm>
            <a:off x="5496822" y="1607728"/>
            <a:ext cx="11671959" cy="562304"/>
          </p:xfrm>
          <a:graphic>
            <a:graphicData uri="http://schemas.openxmlformats.org/presentationml/2006/ole">
              <mc:AlternateContent xmlns:mc="http://schemas.openxmlformats.org/markup-compatibility/2006">
                <mc:Choice xmlns:v="urn:schemas-microsoft-com:vml" Requires="v">
                  <p:oleObj spid="_x0000_s3120" name="文档" r:id="rId4" imgW="3826872" imgH="184362" progId="Word.Document.12">
                    <p:embed/>
                  </p:oleObj>
                </mc:Choice>
                <mc:Fallback>
                  <p:oleObj name="文档" r:id="rId4" imgW="3826872" imgH="184362" progId="Word.Document.12">
                    <p:embed/>
                    <p:pic>
                      <p:nvPicPr>
                        <p:cNvPr id="0" name=""/>
                        <p:cNvPicPr/>
                        <p:nvPr/>
                      </p:nvPicPr>
                      <p:blipFill>
                        <a:blip r:embed="rId5"/>
                        <a:stretch>
                          <a:fillRect/>
                        </a:stretch>
                      </p:blipFill>
                      <p:spPr>
                        <a:xfrm>
                          <a:off x="5496822" y="1607728"/>
                          <a:ext cx="11671959" cy="562304"/>
                        </a:xfrm>
                        <a:prstGeom prst="rect">
                          <a:avLst/>
                        </a:prstGeom>
                      </p:spPr>
                    </p:pic>
                  </p:oleObj>
                </mc:Fallback>
              </mc:AlternateContent>
            </a:graphicData>
          </a:graphic>
        </p:graphicFrame>
      </p:grpSp>
      <p:graphicFrame>
        <p:nvGraphicFramePr>
          <p:cNvPr id="7" name="对象 6"/>
          <p:cNvGraphicFramePr>
            <a:graphicFrameLocks noChangeAspect="1"/>
          </p:cNvGraphicFramePr>
          <p:nvPr>
            <p:extLst>
              <p:ext uri="{D42A27DB-BD31-4B8C-83A1-F6EECF244321}">
                <p14:modId xmlns:p14="http://schemas.microsoft.com/office/powerpoint/2010/main" val="6194521"/>
              </p:ext>
            </p:extLst>
          </p:nvPr>
        </p:nvGraphicFramePr>
        <p:xfrm>
          <a:off x="222587" y="3404423"/>
          <a:ext cx="11671959" cy="1682523"/>
        </p:xfrm>
        <a:graphic>
          <a:graphicData uri="http://schemas.openxmlformats.org/presentationml/2006/ole">
            <mc:AlternateContent xmlns:mc="http://schemas.openxmlformats.org/markup-compatibility/2006">
              <mc:Choice xmlns:v="urn:schemas-microsoft-com:vml" Requires="v">
                <p:oleObj spid="_x0000_s3121" name="文档" r:id="rId7" imgW="3837724" imgH="553481" progId="Word.Document.12">
                  <p:embed/>
                </p:oleObj>
              </mc:Choice>
              <mc:Fallback>
                <p:oleObj name="文档" r:id="rId7" imgW="3837724" imgH="553481" progId="Word.Document.12">
                  <p:embed/>
                  <p:pic>
                    <p:nvPicPr>
                      <p:cNvPr id="0" name=""/>
                      <p:cNvPicPr/>
                      <p:nvPr/>
                    </p:nvPicPr>
                    <p:blipFill>
                      <a:blip r:embed="rId8"/>
                      <a:stretch>
                        <a:fillRect/>
                      </a:stretch>
                    </p:blipFill>
                    <p:spPr>
                      <a:xfrm>
                        <a:off x="222587" y="3404423"/>
                        <a:ext cx="11671959" cy="1682523"/>
                      </a:xfrm>
                      <a:prstGeom prst="rect">
                        <a:avLst/>
                      </a:prstGeom>
                    </p:spPr>
                  </p:pic>
                </p:oleObj>
              </mc:Fallback>
            </mc:AlternateContent>
          </a:graphicData>
        </a:graphic>
      </p:graphicFrame>
      <p:sp>
        <p:nvSpPr>
          <p:cNvPr id="8" name="矩形 7"/>
          <p:cNvSpPr>
            <a:spLocks noChangeAspect="1"/>
          </p:cNvSpPr>
          <p:nvPr/>
        </p:nvSpPr>
        <p:spPr>
          <a:xfrm>
            <a:off x="187454" y="5138951"/>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99927"/>
            <a:ext cx="10807700" cy="1865126"/>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判断</a:t>
            </a:r>
            <a:r>
              <a:rPr lang="zh-CN" altLang="zh-CN" dirty="0">
                <a:solidFill>
                  <a:srgbClr val="000000"/>
                </a:solidFill>
                <a:ea typeface="仿宋" panose="02010609060101010101" pitchFamily="49" charset="-122"/>
                <a:cs typeface="Times New Roman" panose="02020603050405020304" pitchFamily="18" charset="0"/>
              </a:rPr>
              <a:t>一个元素是不是某个集合的元素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关键是判断这个元素是否具有这个集合的元素的共同</a:t>
            </a:r>
            <a:r>
              <a:rPr lang="zh-CN" altLang="zh-CN" dirty="0" smtClean="0">
                <a:solidFill>
                  <a:srgbClr val="000000"/>
                </a:solidFill>
                <a:ea typeface="仿宋" panose="02010609060101010101" pitchFamily="49" charset="-122"/>
                <a:cs typeface="Times New Roman" panose="02020603050405020304" pitchFamily="18" charset="0"/>
              </a:rPr>
              <a:t>特征</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0059933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16421" y="1286039"/>
            <a:ext cx="11886470" cy="1381033"/>
            <a:chOff x="361950" y="1223863"/>
            <a:chExt cx="11886470" cy="1381033"/>
          </a:xfrm>
        </p:grpSpPr>
        <p:sp>
          <p:nvSpPr>
            <p:cNvPr id="3" name="矩形 2"/>
            <p:cNvSpPr>
              <a:spLocks noChangeAspect="1"/>
            </p:cNvSpPr>
            <p:nvPr/>
          </p:nvSpPr>
          <p:spPr>
            <a:xfrm>
              <a:off x="361950" y="1223863"/>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mn-lt"/>
                  <a:cs typeface="Times New Roman" panose="02020603050405020304" pitchFamily="18" charset="0"/>
                </a:rPr>
                <a:t>【变式训练</a:t>
              </a:r>
              <a:r>
                <a:rPr lang="en-US" altLang="zh-CN" dirty="0">
                  <a:solidFill>
                    <a:srgbClr val="000000"/>
                  </a:solidFill>
                  <a:latin typeface="+mn-lt"/>
                  <a:ea typeface="宋体" panose="02010600030101010101" pitchFamily="2" charset="-122"/>
                  <a:cs typeface="Times New Roman" panose="02020603050405020304" pitchFamily="18" charset="0"/>
                </a:rPr>
                <a:t>2</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用符号</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或</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NEU-BZ-S9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填空</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054229090"/>
                </p:ext>
              </p:extLst>
            </p:nvPr>
          </p:nvGraphicFramePr>
          <p:xfrm>
            <a:off x="576461" y="1943943"/>
            <a:ext cx="11671959" cy="660953"/>
          </p:xfrm>
          <a:graphic>
            <a:graphicData uri="http://schemas.openxmlformats.org/presentationml/2006/ole">
              <mc:AlternateContent xmlns:mc="http://schemas.openxmlformats.org/markup-compatibility/2006">
                <mc:Choice xmlns:v="urn:schemas-microsoft-com:vml" Requires="v">
                  <p:oleObj spid="_x0000_s4142" name="文档" r:id="rId4" imgW="3826872" imgH="216706" progId="Word.Document.12">
                    <p:embed/>
                  </p:oleObj>
                </mc:Choice>
                <mc:Fallback>
                  <p:oleObj name="文档" r:id="rId4" imgW="3826872" imgH="216706" progId="Word.Document.12">
                    <p:embed/>
                    <p:pic>
                      <p:nvPicPr>
                        <p:cNvPr id="0" name=""/>
                        <p:cNvPicPr/>
                        <p:nvPr/>
                      </p:nvPicPr>
                      <p:blipFill>
                        <a:blip r:embed="rId5"/>
                        <a:stretch>
                          <a:fillRect/>
                        </a:stretch>
                      </p:blipFill>
                      <p:spPr>
                        <a:xfrm>
                          <a:off x="576461" y="1943943"/>
                          <a:ext cx="11671959" cy="660953"/>
                        </a:xfrm>
                        <a:prstGeom prst="rect">
                          <a:avLst/>
                        </a:prstGeom>
                      </p:spPr>
                    </p:pic>
                  </p:oleObj>
                </mc:Fallback>
              </mc:AlternateContent>
            </a:graphicData>
          </a:graphic>
        </p:graphicFrame>
      </p:grpSp>
      <p:graphicFrame>
        <p:nvGraphicFramePr>
          <p:cNvPr id="6" name="对象 5"/>
          <p:cNvGraphicFramePr>
            <a:graphicFrameLocks noChangeAspect="1"/>
          </p:cNvGraphicFramePr>
          <p:nvPr>
            <p:extLst>
              <p:ext uri="{D42A27DB-BD31-4B8C-83A1-F6EECF244321}">
                <p14:modId xmlns:p14="http://schemas.microsoft.com/office/powerpoint/2010/main" val="1641580465"/>
              </p:ext>
            </p:extLst>
          </p:nvPr>
        </p:nvGraphicFramePr>
        <p:xfrm>
          <a:off x="430932" y="2738008"/>
          <a:ext cx="11671959" cy="1222159"/>
        </p:xfrm>
        <a:graphic>
          <a:graphicData uri="http://schemas.openxmlformats.org/presentationml/2006/ole">
            <mc:AlternateContent xmlns:mc="http://schemas.openxmlformats.org/markup-compatibility/2006">
              <mc:Choice xmlns:v="urn:schemas-microsoft-com:vml" Requires="v">
                <p:oleObj spid="_x0000_s4143" name="文档" r:id="rId7" imgW="3826872" imgH="400708" progId="Word.Document.12">
                  <p:embed/>
                </p:oleObj>
              </mc:Choice>
              <mc:Fallback>
                <p:oleObj name="文档" r:id="rId7" imgW="3826872" imgH="400708" progId="Word.Document.12">
                  <p:embed/>
                  <p:pic>
                    <p:nvPicPr>
                      <p:cNvPr id="0" name=""/>
                      <p:cNvPicPr/>
                      <p:nvPr/>
                    </p:nvPicPr>
                    <p:blipFill>
                      <a:blip r:embed="rId8"/>
                      <a:stretch>
                        <a:fillRect/>
                      </a:stretch>
                    </p:blipFill>
                    <p:spPr>
                      <a:xfrm>
                        <a:off x="430932" y="2738008"/>
                        <a:ext cx="11671959" cy="1222159"/>
                      </a:xfrm>
                      <a:prstGeom prst="rect">
                        <a:avLst/>
                      </a:prstGeom>
                    </p:spPr>
                  </p:pic>
                </p:oleObj>
              </mc:Fallback>
            </mc:AlternateContent>
          </a:graphicData>
        </a:graphic>
      </p:graphicFrame>
      <p:sp>
        <p:nvSpPr>
          <p:cNvPr id="7" name="矩形 6"/>
          <p:cNvSpPr>
            <a:spLocks noChangeAspect="1"/>
          </p:cNvSpPr>
          <p:nvPr/>
        </p:nvSpPr>
        <p:spPr>
          <a:xfrm>
            <a:off x="361950" y="3921468"/>
            <a:ext cx="4081567" cy="624595"/>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zh-CN" altLang="zh-CN" dirty="0">
                <a:solidFill>
                  <a:srgbClr val="000000"/>
                </a:solidFill>
                <a:latin typeface="+mn-lt"/>
                <a:ea typeface="宋体" panose="02010600030101010101" pitchFamily="2" charset="-122"/>
                <a:cs typeface="宋体" panose="02010600030101010101" pitchFamily="2" charset="-122"/>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NEU-BZ-S92"/>
                <a:cs typeface="Times New Roman" panose="02020603050405020304" pitchFamily="18" charset="0"/>
              </a:rPr>
              <a:t>∉</a:t>
            </a:r>
            <a:r>
              <a:rPr lang="zh-CN" altLang="zh-CN" i="1" dirty="0" smtClean="0">
                <a:solidFill>
                  <a:srgbClr val="000000"/>
                </a:solidFill>
                <a:latin typeface="+mn-lt"/>
                <a:ea typeface="宋体" panose="02010600030101010101" pitchFamily="2" charset="-122"/>
                <a:cs typeface="Times New Roman" panose="02020603050405020304" pitchFamily="18" charset="0"/>
              </a:rPr>
              <a:t>　</a:t>
            </a:r>
            <a:r>
              <a:rPr lang="zh-CN" altLang="zh-CN" dirty="0" smtClean="0">
                <a:solidFill>
                  <a:srgbClr val="000000"/>
                </a:solidFill>
                <a:latin typeface="+mn-lt"/>
                <a:ea typeface="宋体" panose="02010600030101010101" pitchFamily="2" charset="-122"/>
                <a:cs typeface="宋体" panose="02010600030101010101" pitchFamily="2" charset="-122"/>
              </a:rPr>
              <a:t>∈</a:t>
            </a:r>
            <a:r>
              <a:rPr lang="zh-CN" altLang="zh-CN" i="1" dirty="0" smtClean="0">
                <a:solidFill>
                  <a:srgbClr val="000000"/>
                </a:solidFill>
                <a:latin typeface="+mn-lt"/>
                <a:ea typeface="宋体" panose="02010600030101010101" pitchFamily="2" charset="-122"/>
                <a:cs typeface="Times New Roman" panose="02020603050405020304" pitchFamily="18" charset="0"/>
              </a:rPr>
              <a:t>　</a:t>
            </a:r>
            <a:r>
              <a:rPr lang="zh-CN" altLang="zh-CN" dirty="0" smtClean="0">
                <a:solidFill>
                  <a:srgbClr val="000000"/>
                </a:solidFill>
                <a:latin typeface="+mn-lt"/>
                <a:ea typeface="宋体" panose="02010600030101010101" pitchFamily="2" charset="-122"/>
                <a:cs typeface="宋体" panose="02010600030101010101" pitchFamily="2" charset="-122"/>
              </a:rPr>
              <a:t>∈</a:t>
            </a:r>
            <a:r>
              <a:rPr lang="en-US" altLang="zh-CN" dirty="0" smtClean="0">
                <a:solidFill>
                  <a:srgbClr val="000000"/>
                </a:solidFill>
                <a:latin typeface="+mn-lt"/>
                <a:ea typeface="宋体" panose="02010600030101010101" pitchFamily="2" charset="-122"/>
                <a:cs typeface="宋体" panose="02010600030101010101" pitchFamily="2" charset="-122"/>
              </a:rPr>
              <a:t> </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9451003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91815"/>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集合</a:t>
            </a:r>
            <a:r>
              <a:rPr lang="zh-CN" altLang="zh-CN" dirty="0"/>
              <a:t>中元素的特性及其应用</a:t>
            </a:r>
          </a:p>
        </p:txBody>
      </p:sp>
      <p:sp>
        <p:nvSpPr>
          <p:cNvPr id="4" name="矩形 3"/>
          <p:cNvSpPr>
            <a:spLocks noChangeAspect="1"/>
          </p:cNvSpPr>
          <p:nvPr/>
        </p:nvSpPr>
        <p:spPr>
          <a:xfrm>
            <a:off x="361950" y="1498429"/>
            <a:ext cx="10807700" cy="418993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latin typeface="+mn-lt"/>
                <a:cs typeface="Times New Roman" panose="02020603050405020304" pitchFamily="18" charset="0"/>
              </a:rPr>
              <a:t>【例</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cs typeface="Times New Roman" panose="02020603050405020304" pitchFamily="18" charset="0"/>
              </a:rPr>
              <a:t>】</a:t>
            </a:r>
            <a:r>
              <a:rPr lang="zh-CN" altLang="zh-CN" dirty="0">
                <a:solidFill>
                  <a:srgbClr val="000000"/>
                </a:solidFill>
                <a:latin typeface="+mn-lt"/>
                <a:ea typeface="Arial" panose="020B0604020202020204" pitchFamily="34" charset="0"/>
                <a:cs typeface="Times New Roman" panose="02020603050405020304" pitchFamily="18" charset="0"/>
              </a:rPr>
              <a:t> </a:t>
            </a:r>
            <a:r>
              <a:rPr lang="zh-CN" altLang="zh-CN" dirty="0">
                <a:solidFill>
                  <a:srgbClr val="000000"/>
                </a:solidFill>
                <a:latin typeface="+mn-lt"/>
                <a:ea typeface="宋体" panose="02010600030101010101" pitchFamily="2" charset="-122"/>
                <a:cs typeface="Times New Roman" panose="02020603050405020304" pitchFamily="18" charset="0"/>
              </a:rPr>
              <a:t>已知集合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中只含有</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Times New Roman" panose="02020603050405020304" pitchFamily="18" charset="0"/>
              </a:rPr>
              <a:t>和</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宋体" panose="02010600030101010101" pitchFamily="2" charset="-122"/>
                <a:cs typeface="Times New Roman" panose="02020603050405020304" pitchFamily="18" charset="0"/>
              </a:rPr>
              <a:t>两个元素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试求实数</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latin typeface="+mn-lt"/>
                <a:cs typeface="Times New Roman" panose="02020603050405020304" pitchFamily="18" charset="0"/>
              </a:rPr>
              <a:t>解</a:t>
            </a:r>
            <a:r>
              <a:rPr lang="en-US" altLang="zh-CN" dirty="0" smtClean="0">
                <a:latin typeface="+mn-lt"/>
                <a:ea typeface="宋体" panose="02010600030101010101" pitchFamily="2" charset="-122"/>
                <a:cs typeface="Times New Roman" panose="02020603050405020304" pitchFamily="18" charset="0"/>
              </a:rPr>
              <a:t>:</a:t>
            </a:r>
            <a:r>
              <a:rPr lang="zh-CN" altLang="zh-CN" dirty="0" smtClean="0">
                <a:solidFill>
                  <a:srgbClr val="000000"/>
                </a:solidFill>
                <a:latin typeface="+mn-lt"/>
                <a:ea typeface="楷体" panose="02010609060101010101" pitchFamily="49" charset="-122"/>
                <a:cs typeface="Times New Roman" panose="02020603050405020304" pitchFamily="18" charset="0"/>
              </a:rPr>
              <a:t>由</a:t>
            </a:r>
            <a:r>
              <a:rPr lang="zh-CN" altLang="zh-CN" dirty="0">
                <a:solidFill>
                  <a:srgbClr val="000000"/>
                </a:solidFill>
                <a:latin typeface="+mn-lt"/>
                <a:ea typeface="楷体" panose="02010609060101010101" pitchFamily="49" charset="-122"/>
                <a:cs typeface="Times New Roman" panose="02020603050405020304" pitchFamily="18" charset="0"/>
              </a:rPr>
              <a:t>题意</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知</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或</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0</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此时集合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中只含有</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两个元素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符合题意</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若</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此时集合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中只含有</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4,</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楷体" panose="02010609060101010101" pitchFamily="49" charset="-122"/>
                <a:cs typeface="Times New Roman" panose="02020603050405020304" pitchFamily="18" charset="0"/>
              </a:rPr>
              <a:t>两个元素</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符合题意</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latin typeface="+mn-lt"/>
                <a:ea typeface="楷体" panose="02010609060101010101" pitchFamily="49" charset="-122"/>
                <a:cs typeface="Times New Roman" panose="02020603050405020304" pitchFamily="18" charset="0"/>
              </a:rPr>
              <a:t>综上所述</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0</a:t>
            </a:r>
            <a:r>
              <a:rPr lang="zh-CN" altLang="zh-CN" dirty="0">
                <a:solidFill>
                  <a:srgbClr val="000000"/>
                </a:solidFill>
                <a:latin typeface="+mn-lt"/>
                <a:ea typeface="楷体" panose="02010609060101010101" pitchFamily="49" charset="-122"/>
                <a:cs typeface="Times New Roman" panose="02020603050405020304" pitchFamily="18" charset="0"/>
              </a:rPr>
              <a:t>或</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500"/>
                                        <p:tgtEl>
                                          <p:spTgt spid="4">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6"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285172"/>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若将本例中的条件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换成</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求实数</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的值</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解</a:t>
            </a:r>
            <a:r>
              <a:rPr lang="en-US" altLang="zh-CN" dirty="0" smtClean="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由题意</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知</a:t>
            </a:r>
            <a:r>
              <a:rPr lang="en-US" altLang="zh-CN" i="1" dirty="0">
                <a:solidFill>
                  <a:srgbClr val="000000"/>
                </a:solidFill>
                <a:latin typeface="+mn-lt"/>
                <a:ea typeface="宋体" panose="02010600030101010101" pitchFamily="2" charset="-122"/>
              </a:rPr>
              <a:t>a=a-</a:t>
            </a:r>
            <a:r>
              <a:rPr lang="en-US" altLang="zh-CN" dirty="0">
                <a:solidFill>
                  <a:srgbClr val="000000"/>
                </a:solidFill>
                <a:latin typeface="+mn-lt"/>
                <a:ea typeface="宋体" panose="02010600030101010101" pitchFamily="2" charset="-122"/>
              </a:rPr>
              <a:t>3</a:t>
            </a:r>
            <a:r>
              <a:rPr lang="zh-CN" altLang="zh-CN" dirty="0">
                <a:solidFill>
                  <a:srgbClr val="000000"/>
                </a:solidFill>
                <a:latin typeface="+mn-lt"/>
                <a:ea typeface="楷体" panose="02010609060101010101" pitchFamily="49" charset="-122"/>
                <a:cs typeface="Times New Roman" panose="02020603050405020304" pitchFamily="18" charset="0"/>
              </a:rPr>
              <a:t>或</a:t>
            </a:r>
            <a:r>
              <a:rPr lang="en-US" altLang="zh-CN" i="1" dirty="0">
                <a:solidFill>
                  <a:srgbClr val="000000"/>
                </a:solidFill>
                <a:latin typeface="+mn-lt"/>
                <a:ea typeface="宋体" panose="02010600030101010101" pitchFamily="2" charset="-122"/>
              </a:rPr>
              <a:t>a=</a:t>
            </a:r>
            <a:r>
              <a:rPr lang="en-US" altLang="zh-CN" dirty="0">
                <a:solidFill>
                  <a:srgbClr val="000000"/>
                </a:solidFill>
                <a:latin typeface="+mn-lt"/>
                <a:ea typeface="宋体" panose="02010600030101010101" pitchFamily="2" charset="-122"/>
              </a:rPr>
              <a:t>2</a:t>
            </a:r>
            <a:r>
              <a:rPr lang="en-US" altLang="zh-CN" i="1" dirty="0">
                <a:solidFill>
                  <a:srgbClr val="000000"/>
                </a:solidFill>
                <a:latin typeface="+mn-lt"/>
                <a:ea typeface="宋体" panose="02010600030101010101" pitchFamily="2" charset="-122"/>
              </a:rPr>
              <a:t>a-</a:t>
            </a:r>
            <a:r>
              <a:rPr lang="en-US" altLang="zh-CN" dirty="0">
                <a:solidFill>
                  <a:srgbClr val="000000"/>
                </a:solidFill>
                <a:latin typeface="+mn-lt"/>
                <a:ea typeface="宋体" panose="02010600030101010101" pitchFamily="2" charset="-122"/>
              </a:rPr>
              <a:t>1,</a:t>
            </a:r>
            <a:r>
              <a:rPr lang="zh-CN" altLang="zh-CN" dirty="0">
                <a:solidFill>
                  <a:srgbClr val="000000"/>
                </a:solidFill>
                <a:latin typeface="+mn-lt"/>
                <a:ea typeface="楷体" panose="02010609060101010101" pitchFamily="49" charset="-122"/>
                <a:cs typeface="Times New Roman" panose="02020603050405020304" pitchFamily="18" charset="0"/>
              </a:rPr>
              <a:t>解得</a:t>
            </a:r>
            <a:r>
              <a:rPr lang="en-US" altLang="zh-CN" i="1" dirty="0">
                <a:solidFill>
                  <a:srgbClr val="000000"/>
                </a:solidFill>
                <a:latin typeface="+mn-lt"/>
                <a:ea typeface="宋体" panose="02010600030101010101" pitchFamily="2" charset="-122"/>
              </a:rPr>
              <a:t>a=</a:t>
            </a:r>
            <a:r>
              <a:rPr lang="en-US" altLang="zh-CN" dirty="0">
                <a:solidFill>
                  <a:srgbClr val="000000"/>
                </a:solidFill>
                <a:latin typeface="+mn-lt"/>
                <a:ea typeface="宋体" panose="02010600030101010101" pitchFamily="2" charset="-122"/>
              </a:rPr>
              <a:t>1,</a:t>
            </a:r>
            <a:r>
              <a:rPr lang="zh-CN" altLang="zh-CN" dirty="0">
                <a:solidFill>
                  <a:srgbClr val="000000"/>
                </a:solidFill>
                <a:latin typeface="+mn-lt"/>
                <a:ea typeface="楷体" panose="02010609060101010101" pitchFamily="49" charset="-122"/>
                <a:cs typeface="Times New Roman" panose="02020603050405020304" pitchFamily="18" charset="0"/>
              </a:rPr>
              <a:t>此时集合</a:t>
            </a:r>
            <a:r>
              <a:rPr lang="en-US" altLang="zh-CN" i="1" dirty="0">
                <a:solidFill>
                  <a:srgbClr val="000000"/>
                </a:solidFill>
                <a:latin typeface="+mn-lt"/>
                <a:ea typeface="宋体" panose="02010600030101010101" pitchFamily="2" charset="-122"/>
              </a:rPr>
              <a:t>A</a:t>
            </a:r>
            <a:r>
              <a:rPr lang="zh-CN" altLang="zh-CN" dirty="0">
                <a:solidFill>
                  <a:srgbClr val="000000"/>
                </a:solidFill>
                <a:latin typeface="+mn-lt"/>
                <a:ea typeface="楷体" panose="02010609060101010101" pitchFamily="49" charset="-122"/>
                <a:cs typeface="Times New Roman" panose="02020603050405020304" pitchFamily="18" charset="0"/>
              </a:rPr>
              <a:t>中只有</a:t>
            </a:r>
            <a:r>
              <a:rPr lang="en-US" altLang="zh-CN" i="1" dirty="0">
                <a:solidFill>
                  <a:srgbClr val="000000"/>
                </a:solidFill>
                <a:latin typeface="+mn-lt"/>
                <a:ea typeface="宋体" panose="02010600030101010101" pitchFamily="2" charset="-122"/>
              </a:rPr>
              <a:t>-</a:t>
            </a:r>
            <a:r>
              <a:rPr lang="en-US" altLang="zh-CN" dirty="0">
                <a:solidFill>
                  <a:srgbClr val="000000"/>
                </a:solidFill>
                <a:latin typeface="+mn-lt"/>
                <a:ea typeface="宋体" panose="02010600030101010101" pitchFamily="2" charset="-122"/>
              </a:rPr>
              <a:t>2,1</a:t>
            </a:r>
            <a:r>
              <a:rPr lang="zh-CN" altLang="zh-CN" dirty="0">
                <a:solidFill>
                  <a:srgbClr val="000000"/>
                </a:solidFill>
                <a:latin typeface="+mn-lt"/>
                <a:ea typeface="楷体" panose="02010609060101010101" pitchFamily="49" charset="-122"/>
                <a:cs typeface="Times New Roman" panose="02020603050405020304" pitchFamily="18" charset="0"/>
              </a:rPr>
              <a:t>两个元素</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符合题意</a:t>
            </a:r>
            <a:r>
              <a:rPr lang="en-US" altLang="zh-CN" i="1" dirty="0">
                <a:solidFill>
                  <a:srgbClr val="000000"/>
                </a:solidFill>
                <a:latin typeface="+mn-lt"/>
                <a:ea typeface="宋体" panose="02010600030101010101" pitchFamily="2" charset="-122"/>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楷体" panose="02010609060101010101" pitchFamily="49" charset="-122"/>
                <a:cs typeface="Times New Roman" panose="02020603050405020304" pitchFamily="18" charset="0"/>
              </a:rPr>
              <a:t>故所求</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的值为</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若将本例中的条件</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3</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去掉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求实数</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的取值范围</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解</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由集合中元素的互异性</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楷体" panose="02010609060101010101" pitchFamily="49" charset="-122"/>
                <a:cs typeface="Times New Roman" panose="02020603050405020304" pitchFamily="18" charset="0"/>
              </a:rPr>
              <a:t>得</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3≠2</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1,</a:t>
            </a:r>
            <a:r>
              <a:rPr lang="zh-CN" altLang="zh-CN" dirty="0">
                <a:solidFill>
                  <a:srgbClr val="000000"/>
                </a:solidFill>
                <a:latin typeface="+mn-lt"/>
                <a:ea typeface="楷体" panose="02010609060101010101" pitchFamily="49" charset="-122"/>
                <a:cs typeface="Times New Roman" panose="02020603050405020304" pitchFamily="18" charset="0"/>
              </a:rPr>
              <a:t>即</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楷体" panose="02010609060101010101" pitchFamily="49" charset="-122"/>
                <a:cs typeface="Times New Roman" panose="02020603050405020304" pitchFamily="18" charset="0"/>
              </a:rPr>
              <a:t>故所求</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的取值范围为</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pic>
        <p:nvPicPr>
          <p:cNvPr id="5" name="延伸探究H.eps" descr="id:2147492067;FounderCES"/>
          <p:cNvPicPr/>
          <p:nvPr/>
        </p:nvPicPr>
        <p:blipFill>
          <a:blip r:embed="rId2"/>
          <a:stretch>
            <a:fillRect/>
          </a:stretch>
        </p:blipFill>
        <p:spPr>
          <a:xfrm>
            <a:off x="4104853" y="785447"/>
            <a:ext cx="2740119" cy="499725"/>
          </a:xfrm>
          <a:prstGeom prst="rect">
            <a:avLst/>
          </a:prstGeom>
        </p:spPr>
      </p:pic>
    </p:spTree>
    <p:extLst>
      <p:ext uri="{BB962C8B-B14F-4D97-AF65-F5344CB8AC3E}">
        <p14:creationId xmlns:p14="http://schemas.microsoft.com/office/powerpoint/2010/main" val="110079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500"/>
                                        <p:tgtEl>
                                          <p:spTgt spid="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5" dur="500"/>
                                        <p:tgtEl>
                                          <p:spTgt spid="4">
                                            <p:txEl>
                                              <p:pRg st="4" end="4"/>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randombar(horizontal)">
                                      <p:cBhvr>
                                        <p:cTn id="18" dur="500"/>
                                        <p:tgtEl>
                                          <p:spTgt spid="4">
                                            <p:txEl>
                                              <p:pRg st="5" end="5"/>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1"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20134"/>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解答此类问题一般是先根据集合中元素的确定性求出元素中所含参数的所有可能的取值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再根据集合中元素的互异性对元素进行检验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05520127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875972"/>
            <a:ext cx="10807700" cy="4819781"/>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因忽视集合中元素的互异性致错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【典例】</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err="1">
                <a:solidFill>
                  <a:srgbClr val="000000"/>
                </a:solidFill>
                <a:ea typeface="宋体" panose="02010600030101010101" pitchFamily="2" charset="-122"/>
                <a:cs typeface="Times New Roman" panose="02020603050405020304" pitchFamily="18" charset="0"/>
              </a:rPr>
              <a:t>x+a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的解集中有几个元素</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错解</a:t>
            </a:r>
            <a:r>
              <a:rPr lang="en-US"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err="1">
                <a:solidFill>
                  <a:srgbClr val="000000"/>
                </a:solidFill>
                <a:ea typeface="宋体" panose="02010600030101010101" pitchFamily="2" charset="-122"/>
                <a:cs typeface="Times New Roman" panose="02020603050405020304" pitchFamily="18" charset="0"/>
              </a:rPr>
              <a:t>x+a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所以方程的解为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则方程的解集中</a:t>
            </a:r>
            <a:r>
              <a:rPr lang="zh-CN" altLang="zh-CN" dirty="0" smtClean="0">
                <a:solidFill>
                  <a:srgbClr val="000000"/>
                </a:solidFill>
                <a:ea typeface="宋体" panose="02010600030101010101" pitchFamily="2"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smtClean="0">
                <a:solidFill>
                  <a:srgbClr val="000000"/>
                </a:solidFill>
                <a:ea typeface="宋体" panose="02010600030101010101" pitchFamily="2" charset="-122"/>
                <a:cs typeface="Times New Roman" panose="02020603050405020304" pitchFamily="18" charset="0"/>
              </a:rPr>
              <a:t>两</a:t>
            </a:r>
            <a:r>
              <a:rPr lang="zh-CN" altLang="zh-CN" dirty="0">
                <a:solidFill>
                  <a:srgbClr val="000000"/>
                </a:solidFill>
                <a:ea typeface="宋体" panose="02010600030101010101" pitchFamily="2" charset="-122"/>
                <a:cs typeface="Times New Roman" panose="02020603050405020304" pitchFamily="18" charset="0"/>
              </a:rPr>
              <a:t>个</a:t>
            </a:r>
            <a:r>
              <a:rPr lang="zh-CN" altLang="zh-CN" dirty="0" smtClean="0">
                <a:solidFill>
                  <a:srgbClr val="000000"/>
                </a:solidFill>
                <a:ea typeface="宋体" panose="02010600030101010101" pitchFamily="2" charset="-122"/>
                <a:cs typeface="Times New Roman" panose="02020603050405020304" pitchFamily="18" charset="0"/>
              </a:rPr>
              <a:t>元素</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以上错解中没有注意到字母</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楷体" panose="02010609060101010101" pitchFamily="49" charset="-122"/>
                <a:cs typeface="Times New Roman" panose="02020603050405020304" pitchFamily="18" charset="0"/>
              </a:rPr>
              <a:t>的取值带有不确定性</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事实上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不满足集合中元素的互异性</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randombar(horizontal)">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943943"/>
            <a:ext cx="10807700" cy="1865126"/>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正解</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因为</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err="1">
                <a:solidFill>
                  <a:srgbClr val="000000"/>
                </a:solidFill>
                <a:ea typeface="宋体" panose="02010600030101010101" pitchFamily="2" charset="-122"/>
                <a:cs typeface="Times New Roman" panose="02020603050405020304" pitchFamily="18" charset="0"/>
              </a:rPr>
              <a:t>x+a</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所以方程的解为</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则方程的解集中只有一个元素</a:t>
            </a:r>
            <a:r>
              <a:rPr lang="en-US" altLang="zh-CN" dirty="0">
                <a:solidFill>
                  <a:srgbClr val="000000"/>
                </a:solidFill>
                <a:ea typeface="宋体" panose="02010600030101010101" pitchFamily="2" charset="-122"/>
                <a:cs typeface="Times New Roman" panose="02020603050405020304" pitchFamily="18" charset="0"/>
              </a:rPr>
              <a:t>1;</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则方程的解集中</a:t>
            </a:r>
            <a:r>
              <a:rPr lang="zh-CN" altLang="zh-CN" dirty="0" smtClean="0">
                <a:solidFill>
                  <a:srgbClr val="000000"/>
                </a:solidFill>
                <a:ea typeface="宋体" panose="02010600030101010101" pitchFamily="2" charset="-122"/>
                <a:cs typeface="Times New Roman" panose="02020603050405020304" pitchFamily="18" charset="0"/>
              </a:rPr>
              <a:t>有</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smtClean="0">
                <a:solidFill>
                  <a:srgbClr val="000000"/>
                </a:solidFill>
                <a:ea typeface="宋体" panose="02010600030101010101" pitchFamily="2" charset="-122"/>
                <a:cs typeface="Times New Roman" panose="02020603050405020304" pitchFamily="18" charset="0"/>
              </a:rPr>
              <a:t>两</a:t>
            </a:r>
            <a:r>
              <a:rPr lang="zh-CN" altLang="zh-CN" dirty="0">
                <a:solidFill>
                  <a:srgbClr val="000000"/>
                </a:solidFill>
                <a:ea typeface="宋体" panose="02010600030101010101" pitchFamily="2" charset="-122"/>
                <a:cs typeface="Times New Roman" panose="02020603050405020304" pitchFamily="18" charset="0"/>
              </a:rPr>
              <a:t>个</a:t>
            </a:r>
            <a:r>
              <a:rPr lang="zh-CN" altLang="zh-CN" dirty="0" smtClean="0">
                <a:solidFill>
                  <a:srgbClr val="000000"/>
                </a:solidFill>
                <a:ea typeface="宋体" panose="02010600030101010101" pitchFamily="2" charset="-122"/>
                <a:cs typeface="Times New Roman" panose="02020603050405020304" pitchFamily="18" charset="0"/>
              </a:rPr>
              <a:t>元素</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76635737"/>
      </p:ext>
    </p:extLst>
  </p:cSld>
  <p:clrMapOvr>
    <a:masterClrMapping/>
  </p:clrMapOvr>
  <p:transition spd="slow">
    <p:randomBar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943943"/>
            <a:ext cx="10807700" cy="1865126"/>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防范措施</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先由解方程得到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仿宋" panose="02010609060101010101" pitchFamily="49" charset="-122"/>
                <a:cs typeface="Times New Roman" panose="02020603050405020304" pitchFamily="18" charset="0"/>
              </a:rPr>
              <a:t>的可能值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再根据元素的互异性进行检验</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在解方程求得</a:t>
            </a:r>
            <a:r>
              <a:rPr lang="en-US" altLang="zh-CN" i="1" dirty="0">
                <a:solidFill>
                  <a:srgbClr val="000000"/>
                </a:solidFill>
                <a:ea typeface="宋体" panose="02010600030101010101" pitchFamily="2" charset="-122"/>
              </a:rPr>
              <a:t>x</a:t>
            </a:r>
            <a:r>
              <a:rPr lang="zh-CN" altLang="zh-CN" dirty="0">
                <a:solidFill>
                  <a:srgbClr val="000000"/>
                </a:solidFill>
                <a:ea typeface="仿宋" panose="02010609060101010101" pitchFamily="49" charset="-122"/>
                <a:cs typeface="Times New Roman" panose="02020603050405020304" pitchFamily="18" charset="0"/>
              </a:rPr>
              <a:t>的值后</a:t>
            </a:r>
            <a:r>
              <a:rPr lang="en-US" altLang="zh-CN" dirty="0">
                <a:solidFill>
                  <a:srgbClr val="000000"/>
                </a:solidFill>
                <a:ea typeface="宋体" panose="02010600030101010101" pitchFamily="2" charset="-122"/>
              </a:rPr>
              <a:t>,</a:t>
            </a:r>
            <a:r>
              <a:rPr lang="zh-CN" altLang="zh-CN" dirty="0">
                <a:solidFill>
                  <a:srgbClr val="000000"/>
                </a:solidFill>
                <a:ea typeface="仿宋" panose="02010609060101010101" pitchFamily="49" charset="-122"/>
                <a:cs typeface="Times New Roman" panose="02020603050405020304" pitchFamily="18" charset="0"/>
              </a:rPr>
              <a:t>不要忘记验证集合中元素的互异性</a:t>
            </a:r>
            <a:r>
              <a:rPr lang="en-US" altLang="zh-CN" i="1" dirty="0">
                <a:solidFill>
                  <a:srgbClr val="000000"/>
                </a:solidFill>
                <a:ea typeface="宋体" panose="02010600030101010101" pitchFamily="2" charset="-122"/>
              </a:rPr>
              <a:t>.</a:t>
            </a:r>
            <a:endParaRPr lang="zh-CN" altLang="en-US" dirty="0"/>
          </a:p>
        </p:txBody>
      </p:sp>
    </p:spTree>
    <p:extLst>
      <p:ext uri="{BB962C8B-B14F-4D97-AF65-F5344CB8AC3E}">
        <p14:creationId xmlns:p14="http://schemas.microsoft.com/office/powerpoint/2010/main" val="1876998820"/>
      </p:ext>
    </p:extLst>
  </p:cSld>
  <p:clrMapOvr>
    <a:masterClrMapping/>
  </p:clrMapOvr>
  <p:transition spd="slow">
    <p:randomBar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42023"/>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若一个集合中的三个元素</a:t>
            </a:r>
            <a:r>
              <a:rPr lang="en-US" altLang="zh-CN" i="1" dirty="0" err="1">
                <a:solidFill>
                  <a:srgbClr val="000000"/>
                </a:solidFill>
                <a:ea typeface="宋体" panose="02010600030101010101" pitchFamily="2" charset="-122"/>
                <a:cs typeface="Times New Roman" panose="02020603050405020304" pitchFamily="18" charset="0"/>
              </a:rPr>
              <a:t>a</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b</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是</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宋体" panose="02010600030101010101" pitchFamily="2" charset="-122"/>
                <a:cs typeface="Times New Roman" panose="02020603050405020304" pitchFamily="18" charset="0"/>
              </a:rPr>
              <a:t>的三边长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则此三角形一定不是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锐角三角形</a:t>
            </a:r>
            <a:r>
              <a:rPr lang="en-US" altLang="zh-CN" dirty="0">
                <a:solidFill>
                  <a:srgbClr val="000000"/>
                </a:solidFill>
                <a:ea typeface="宋体" panose="02010600030101010101" pitchFamily="2" charset="-122"/>
                <a:cs typeface="Times New Roman" panose="02020603050405020304" pitchFamily="18" charset="0"/>
              </a:rPr>
              <a:t>	B.</a:t>
            </a:r>
            <a:r>
              <a:rPr lang="zh-CN" altLang="zh-CN" dirty="0">
                <a:solidFill>
                  <a:srgbClr val="000000"/>
                </a:solidFill>
                <a:ea typeface="宋体" panose="02010600030101010101" pitchFamily="2" charset="-122"/>
                <a:cs typeface="Times New Roman" panose="02020603050405020304" pitchFamily="18" charset="0"/>
              </a:rPr>
              <a:t>直角三角形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a:t>
            </a:r>
            <a:r>
              <a:rPr lang="zh-CN" altLang="zh-CN" dirty="0">
                <a:solidFill>
                  <a:srgbClr val="000000"/>
                </a:solidFill>
                <a:ea typeface="宋体" panose="02010600030101010101" pitchFamily="2" charset="-122"/>
                <a:cs typeface="Times New Roman" panose="02020603050405020304" pitchFamily="18" charset="0"/>
              </a:rPr>
              <a:t>钝角三角形</a:t>
            </a:r>
            <a:r>
              <a:rPr lang="en-US" altLang="zh-CN" dirty="0">
                <a:solidFill>
                  <a:srgbClr val="000000"/>
                </a:solidFill>
                <a:ea typeface="宋体" panose="02010600030101010101" pitchFamily="2" charset="-122"/>
                <a:cs typeface="Times New Roman" panose="02020603050405020304" pitchFamily="18" charset="0"/>
              </a:rPr>
              <a:t>	D.</a:t>
            </a:r>
            <a:r>
              <a:rPr lang="zh-CN" altLang="zh-CN" dirty="0">
                <a:solidFill>
                  <a:srgbClr val="000000"/>
                </a:solidFill>
                <a:ea typeface="宋体" panose="02010600030101010101" pitchFamily="2" charset="-122"/>
                <a:cs typeface="Times New Roman" panose="02020603050405020304" pitchFamily="18" charset="0"/>
              </a:rPr>
              <a:t>等腰三角形</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根据</a:t>
            </a:r>
            <a:r>
              <a:rPr lang="zh-CN" altLang="zh-CN" dirty="0">
                <a:solidFill>
                  <a:srgbClr val="000000"/>
                </a:solidFill>
                <a:ea typeface="楷体" panose="02010609060101010101" pitchFamily="49" charset="-122"/>
                <a:cs typeface="Times New Roman" panose="02020603050405020304" pitchFamily="18" charset="0"/>
              </a:rPr>
              <a:t>集合中元素的互异性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a:t>
            </a:r>
            <a:r>
              <a:rPr lang="en-US" altLang="zh-CN" dirty="0">
                <a:solidFill>
                  <a:srgbClr val="000000"/>
                </a:solidFill>
                <a:latin typeface="Cambria Math" panose="02040503050406030204" pitchFamily="18" charset="0"/>
                <a:ea typeface="宋体" panose="02010600030101010101" pitchFamily="2" charset="-122"/>
                <a:cs typeface="Cambria Math" panose="02040503050406030204" pitchFamily="18" charset="0"/>
              </a:rPr>
              <a:t>△</a:t>
            </a:r>
            <a:r>
              <a:rPr lang="en-US" altLang="zh-CN" i="1" dirty="0">
                <a:solidFill>
                  <a:srgbClr val="000000"/>
                </a:solidFill>
                <a:ea typeface="宋体" panose="02010600030101010101" pitchFamily="2" charset="-122"/>
                <a:cs typeface="Times New Roman" panose="02020603050405020304" pitchFamily="18" charset="0"/>
              </a:rPr>
              <a:t>ABC</a:t>
            </a:r>
            <a:r>
              <a:rPr lang="zh-CN" altLang="zh-CN" dirty="0">
                <a:solidFill>
                  <a:srgbClr val="000000"/>
                </a:solidFill>
                <a:ea typeface="楷体" panose="02010609060101010101" pitchFamily="49" charset="-122"/>
                <a:cs typeface="Times New Roman" panose="02020603050405020304" pitchFamily="18" charset="0"/>
              </a:rPr>
              <a:t>的三边长两两不等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7678071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58746"/>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下列各组对象可以组成集合的是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相当大的数</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课本上较难的题目</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某中学今年所有入校的高一新生</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D.</a:t>
            </a:r>
            <a:r>
              <a:rPr lang="zh-CN" altLang="zh-CN" dirty="0">
                <a:solidFill>
                  <a:srgbClr val="000000"/>
                </a:solidFill>
                <a:ea typeface="宋体" panose="02010600030101010101" pitchFamily="2" charset="-122"/>
                <a:cs typeface="Times New Roman" panose="02020603050405020304" pitchFamily="18" charset="0"/>
              </a:rPr>
              <a:t>某校园中较高的树</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相当大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这个词界限不确定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不明确哪些元素在该</a:t>
            </a:r>
            <a:r>
              <a:rPr lang="zh-CN" altLang="zh-CN" dirty="0" smtClean="0">
                <a:solidFill>
                  <a:srgbClr val="000000"/>
                </a:solidFill>
                <a:ea typeface="楷体" panose="02010609060101010101" pitchFamily="49" charset="-122"/>
                <a:cs typeface="Times New Roman" panose="02020603050405020304" pitchFamily="18" charset="0"/>
              </a:rPr>
              <a:t>集合中</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故</a:t>
            </a:r>
            <a:r>
              <a:rPr lang="en-US" altLang="zh-CN" dirty="0" smtClean="0">
                <a:solidFill>
                  <a:srgbClr val="000000"/>
                </a:solidFill>
                <a:ea typeface="宋体" panose="02010600030101010101" pitchFamily="2" charset="-122"/>
                <a:cs typeface="Times New Roman" panose="02020603050405020304" pitchFamily="18" charset="0"/>
              </a:rPr>
              <a:t>A</a:t>
            </a:r>
            <a:r>
              <a:rPr lang="zh-CN" altLang="zh-CN" dirty="0" smtClean="0">
                <a:solidFill>
                  <a:srgbClr val="000000"/>
                </a:solidFill>
                <a:ea typeface="楷体" panose="02010609060101010101" pitchFamily="49" charset="-122"/>
                <a:cs typeface="Times New Roman" panose="02020603050405020304" pitchFamily="18" charset="0"/>
              </a:rPr>
              <a:t>不能组成集合</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同样</a:t>
            </a:r>
            <a:r>
              <a:rPr lang="en-US" altLang="zh-CN" dirty="0" smtClean="0">
                <a:solidFill>
                  <a:srgbClr val="000000"/>
                </a:solidFill>
                <a:ea typeface="宋体" panose="02010600030101010101" pitchFamily="2" charset="-122"/>
                <a:cs typeface="Times New Roman" panose="02020603050405020304" pitchFamily="18" charset="0"/>
              </a:rPr>
              <a:t>B,D</a:t>
            </a:r>
            <a:r>
              <a:rPr lang="zh-CN" altLang="zh-CN" dirty="0" smtClean="0">
                <a:solidFill>
                  <a:srgbClr val="000000"/>
                </a:solidFill>
                <a:ea typeface="楷体" panose="02010609060101010101" pitchFamily="49" charset="-122"/>
                <a:cs typeface="Times New Roman" panose="02020603050405020304" pitchFamily="18" charset="0"/>
              </a:rPr>
              <a:t>也不能组成集合</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故选</a:t>
            </a:r>
            <a:r>
              <a:rPr lang="en-US" altLang="zh-CN" dirty="0" smtClean="0">
                <a:solidFill>
                  <a:srgbClr val="000000"/>
                </a:solidFill>
                <a:ea typeface="宋体" panose="02010600030101010101" pitchFamily="2" charset="-122"/>
                <a:cs typeface="Times New Roman" panose="02020603050405020304" pitchFamily="18" charset="0"/>
              </a:rPr>
              <a:t>C</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down)">
                                      <p:cBhvr>
                                        <p:cTn id="7" dur="500"/>
                                        <p:tgtEl>
                                          <p:spTgt spid="2">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6" end="6"/>
                                            </p:txEl>
                                          </p:spTgt>
                                        </p:tgtEl>
                                        <p:attrNameLst>
                                          <p:attrName>style.visibility</p:attrName>
                                        </p:attrNameLst>
                                      </p:cBhvr>
                                      <p:to>
                                        <p:strVal val="visible"/>
                                      </p:to>
                                    </p:set>
                                    <p:animEffect transition="in" filter="wipe(down)">
                                      <p:cBhvr>
                                        <p:cTn id="1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583903"/>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2</a:t>
            </a:r>
            <a:r>
              <a:rPr lang="en-US" altLang="zh-CN" i="1"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设集合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Times New Roman" panose="02020603050405020304" pitchFamily="18" charset="0"/>
              </a:rPr>
              <a:t>中只含有一个元素</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宋体" panose="02010600030101010101" pitchFamily="2" charset="-122"/>
                <a:cs typeface="Times New Roman" panose="02020603050405020304" pitchFamily="18" charset="0"/>
              </a:rPr>
              <a:t>则有</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i="1" dirty="0">
                <a:solidFill>
                  <a:srgbClr val="000000"/>
                </a:solidFill>
                <a:latin typeface="+mn-lt"/>
                <a:ea typeface="宋体" panose="02010600030101010101" pitchFamily="2" charset="-122"/>
                <a:cs typeface="Times New Roman" panose="02020603050405020304" pitchFamily="18" charset="0"/>
              </a:rPr>
              <a:t>　　</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latin typeface="+mn-lt"/>
                <a:ea typeface="宋体" panose="02010600030101010101" pitchFamily="2" charset="-122"/>
                <a:cs typeface="Times New Roman" panose="02020603050405020304" pitchFamily="18" charset="0"/>
              </a:rPr>
              <a:t>A.0</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err="1">
                <a:solidFill>
                  <a:srgbClr val="000000"/>
                </a:solidFill>
                <a:latin typeface="+mn-lt"/>
                <a:ea typeface="宋体" panose="02010600030101010101" pitchFamily="2" charset="-122"/>
                <a:cs typeface="Times New Roman" panose="02020603050405020304" pitchFamily="18" charset="0"/>
              </a:rPr>
              <a:t>B.</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err="1">
                <a:solidFill>
                  <a:srgbClr val="000000"/>
                </a:solidFill>
                <a:latin typeface="+mn-lt"/>
                <a:ea typeface="NEU-BZ-S92"/>
                <a:cs typeface="Times New Roman" panose="02020603050405020304" pitchFamily="18" charset="0"/>
              </a:rPr>
              <a:t>∉</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smtClean="0">
                <a:solidFill>
                  <a:srgbClr val="000000"/>
                </a:solidFill>
                <a:latin typeface="+mn-lt"/>
                <a:ea typeface="宋体" panose="02010600030101010101" pitchFamily="2" charset="-122"/>
                <a:cs typeface="Times New Roman" panose="02020603050405020304" pitchFamily="18" charset="0"/>
              </a:rPr>
              <a:t>	</a:t>
            </a:r>
            <a:r>
              <a:rPr lang="en-US" altLang="zh-CN" dirty="0" err="1" smtClean="0">
                <a:solidFill>
                  <a:srgbClr val="000000"/>
                </a:solidFill>
                <a:latin typeface="+mn-lt"/>
                <a:ea typeface="宋体" panose="02010600030101010101" pitchFamily="2" charset="-122"/>
                <a:cs typeface="Times New Roman" panose="02020603050405020304" pitchFamily="18" charset="0"/>
              </a:rPr>
              <a:t>C.</a:t>
            </a:r>
            <a:r>
              <a:rPr lang="en-US" altLang="zh-CN" i="1" dirty="0" err="1" smtClean="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	</a:t>
            </a:r>
            <a:r>
              <a:rPr lang="en-US" altLang="zh-CN" dirty="0" err="1">
                <a:solidFill>
                  <a:srgbClr val="000000"/>
                </a:solidFill>
                <a:latin typeface="+mn-lt"/>
                <a:ea typeface="宋体" panose="02010600030101010101" pitchFamily="2" charset="-122"/>
                <a:cs typeface="Times New Roman" panose="02020603050405020304" pitchFamily="18" charset="0"/>
              </a:rPr>
              <a:t>D.</a:t>
            </a:r>
            <a:r>
              <a:rPr lang="en-US" altLang="zh-CN" i="1" dirty="0" err="1">
                <a:solidFill>
                  <a:srgbClr val="000000"/>
                </a:solidFill>
                <a:latin typeface="+mn-lt"/>
                <a:ea typeface="宋体" panose="02010600030101010101" pitchFamily="2" charset="-122"/>
                <a:cs typeface="Times New Roman" panose="02020603050405020304" pitchFamily="18" charset="0"/>
              </a:rPr>
              <a:t>a</a:t>
            </a:r>
            <a:r>
              <a:rPr lang="en-US" altLang="zh-CN" i="1"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解析</a:t>
            </a:r>
            <a:r>
              <a:rPr lang="en-US" altLang="zh-CN" dirty="0">
                <a:latin typeface="+mn-lt"/>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因为集合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楷体" panose="02010609060101010101" pitchFamily="49" charset="-122"/>
                <a:cs typeface="Times New Roman" panose="02020603050405020304" pitchFamily="18" charset="0"/>
              </a:rPr>
              <a:t>中只含有一个元素</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所以</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zh-CN" altLang="zh-CN" dirty="0" smtClean="0">
                <a:solidFill>
                  <a:srgbClr val="000000"/>
                </a:solidFill>
                <a:latin typeface="+mn-lt"/>
                <a:ea typeface="楷体" panose="02010609060101010101" pitchFamily="49" charset="-122"/>
                <a:cs typeface="Times New Roman" panose="02020603050405020304" pitchFamily="18" charset="0"/>
              </a:rPr>
              <a:t>属于</a:t>
            </a:r>
            <a:r>
              <a:rPr lang="zh-CN" altLang="zh-CN" dirty="0">
                <a:solidFill>
                  <a:srgbClr val="000000"/>
                </a:solidFill>
                <a:latin typeface="+mn-lt"/>
                <a:ea typeface="楷体" panose="02010609060101010101" pitchFamily="49" charset="-122"/>
                <a:cs typeface="Times New Roman" panose="02020603050405020304" pitchFamily="18" charset="0"/>
              </a:rPr>
              <a:t>集合</a:t>
            </a:r>
            <a:r>
              <a:rPr lang="en-US" altLang="zh-CN" i="1" dirty="0">
                <a:solidFill>
                  <a:srgbClr val="000000"/>
                </a:solidFill>
                <a:latin typeface="+mn-lt"/>
                <a:ea typeface="宋体" panose="02010600030101010101" pitchFamily="2" charset="-122"/>
                <a:cs typeface="Times New Roman" panose="02020603050405020304" pitchFamily="18" charset="0"/>
              </a:rPr>
              <a:t>A</a:t>
            </a:r>
            <a:r>
              <a:rPr lang="en-US" altLang="zh-CN" dirty="0" smtClean="0">
                <a:solidFill>
                  <a:srgbClr val="000000"/>
                </a:solidFill>
                <a:latin typeface="+mn-lt"/>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en-US" dirty="0">
                <a:solidFill>
                  <a:srgbClr val="000000"/>
                </a:solidFill>
                <a:latin typeface="+mn-lt"/>
                <a:ea typeface="楷体" panose="02010609060101010101" pitchFamily="49" charset="-122"/>
                <a:cs typeface="Times New Roman" panose="02020603050405020304" pitchFamily="18" charset="0"/>
              </a:rPr>
              <a:t>即</a:t>
            </a:r>
            <a:r>
              <a:rPr lang="en-US" altLang="zh-CN" i="1" dirty="0" smtClean="0">
                <a:solidFill>
                  <a:srgbClr val="000000"/>
                </a:solidFill>
                <a:latin typeface="+mn-lt"/>
                <a:ea typeface="宋体" panose="02010600030101010101" pitchFamily="2" charset="-122"/>
                <a:cs typeface="Times New Roman" panose="02020603050405020304" pitchFamily="18" charset="0"/>
              </a:rPr>
              <a:t>a</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i="1" dirty="0">
                <a:solidFill>
                  <a:srgbClr val="000000"/>
                </a:solidFill>
                <a:latin typeface="+mn-lt"/>
                <a:ea typeface="宋体" panose="02010600030101010101" pitchFamily="2" charset="-122"/>
                <a:cs typeface="Times New Roman" panose="02020603050405020304" pitchFamily="18" charset="0"/>
              </a:rPr>
              <a:t>A.</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答案</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C</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9681185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690311"/>
            <a:ext cx="11690346" cy="2585285"/>
            <a:chOff x="361950" y="711435"/>
            <a:chExt cx="11690346" cy="2585285"/>
          </a:xfrm>
        </p:grpSpPr>
        <p:sp>
          <p:nvSpPr>
            <p:cNvPr id="5" name="矩形 4"/>
            <p:cNvSpPr>
              <a:spLocks noChangeAspect="1"/>
            </p:cNvSpPr>
            <p:nvPr/>
          </p:nvSpPr>
          <p:spPr>
            <a:xfrm>
              <a:off x="361950" y="711435"/>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用符号</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或</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填空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a:t>
              </a:r>
              <a:r>
                <a:rPr lang="en-US" altLang="zh-CN" i="1" dirty="0">
                  <a:solidFill>
                    <a:srgbClr val="000000"/>
                  </a:solidFill>
                  <a:ea typeface="宋体" panose="02010600030101010101" pitchFamily="2" charset="-122"/>
                  <a:cs typeface="Times New Roman" panose="02020603050405020304" pitchFamily="18" charset="0"/>
                </a:rPr>
                <a:t>A</a:t>
              </a:r>
              <a:r>
                <a:rPr lang="zh-CN" altLang="zh-CN" dirty="0">
                  <a:solidFill>
                    <a:srgbClr val="000000"/>
                  </a:solidFill>
                  <a:ea typeface="宋体" panose="02010600030101010101" pitchFamily="2" charset="-122"/>
                  <a:cs typeface="Times New Roman" panose="02020603050405020304" pitchFamily="18" charset="0"/>
                </a:rPr>
                <a:t>表示由所有素数组成的集合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en-US" altLang="zh-CN" dirty="0" smtClean="0">
                  <a:solidFill>
                    <a:srgbClr val="000000"/>
                  </a:solidFill>
                  <a:ea typeface="宋体" panose="02010600030101010101" pitchFamily="2" charset="-122"/>
                  <a:cs typeface="Times New Roman" panose="02020603050405020304" pitchFamily="18" charset="0"/>
                </a:rPr>
                <a:t>1</a:t>
              </a:r>
              <a:r>
                <a:rPr lang="zh-CN" altLang="zh-CN" i="1" u="sng" dirty="0" smtClean="0">
                  <a:uFill>
                    <a:solidFill>
                      <a:srgbClr val="000000"/>
                    </a:solidFill>
                  </a:uFill>
                  <a:ea typeface="宋体" panose="02010600030101010101" pitchFamily="2" charset="-122"/>
                  <a:cs typeface="Times New Roman" panose="02020603050405020304" pitchFamily="18" charset="0"/>
                </a:rPr>
                <a:t>　</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,2</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smtClean="0">
                  <a:solidFill>
                    <a:srgbClr val="000000"/>
                  </a:solidFill>
                  <a:ea typeface="宋体" panose="02010600030101010101" pitchFamily="2" charset="-122"/>
                  <a:cs typeface="Times New Roman" panose="02020603050405020304" pitchFamily="18" charset="0"/>
                </a:rPr>
                <a:t>, 3</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392444693"/>
                </p:ext>
              </p:extLst>
            </p:nvPr>
          </p:nvGraphicFramePr>
          <p:xfrm>
            <a:off x="380337" y="2505330"/>
            <a:ext cx="11671959" cy="791390"/>
          </p:xfrm>
          <a:graphic>
            <a:graphicData uri="http://schemas.openxmlformats.org/presentationml/2006/ole">
              <mc:AlternateContent xmlns:mc="http://schemas.openxmlformats.org/markup-compatibility/2006">
                <mc:Choice xmlns:v="urn:schemas-microsoft-com:vml" Requires="v">
                  <p:oleObj spid="_x0000_s5166" name="文档" r:id="rId4" imgW="3826872" imgH="259472" progId="Word.Document.12">
                    <p:embed/>
                  </p:oleObj>
                </mc:Choice>
                <mc:Fallback>
                  <p:oleObj name="文档" r:id="rId4" imgW="3826872" imgH="259472" progId="Word.Document.12">
                    <p:embed/>
                    <p:pic>
                      <p:nvPicPr>
                        <p:cNvPr id="0" name=""/>
                        <p:cNvPicPr/>
                        <p:nvPr/>
                      </p:nvPicPr>
                      <p:blipFill>
                        <a:blip r:embed="rId5"/>
                        <a:stretch>
                          <a:fillRect/>
                        </a:stretch>
                      </p:blipFill>
                      <p:spPr>
                        <a:xfrm>
                          <a:off x="380337" y="2505330"/>
                          <a:ext cx="11671959" cy="791390"/>
                        </a:xfrm>
                        <a:prstGeom prst="rect">
                          <a:avLst/>
                        </a:prstGeom>
                      </p:spPr>
                    </p:pic>
                  </p:oleObj>
                </mc:Fallback>
              </mc:AlternateContent>
            </a:graphicData>
          </a:graphic>
        </p:graphicFrame>
      </p:grpSp>
      <p:graphicFrame>
        <p:nvGraphicFramePr>
          <p:cNvPr id="8" name="对象 7"/>
          <p:cNvGraphicFramePr>
            <a:graphicFrameLocks noChangeAspect="1"/>
          </p:cNvGraphicFramePr>
          <p:nvPr>
            <p:extLst>
              <p:ext uri="{D42A27DB-BD31-4B8C-83A1-F6EECF244321}">
                <p14:modId xmlns:p14="http://schemas.microsoft.com/office/powerpoint/2010/main" val="1741789105"/>
              </p:ext>
            </p:extLst>
          </p:nvPr>
        </p:nvGraphicFramePr>
        <p:xfrm>
          <a:off x="380337" y="3354607"/>
          <a:ext cx="11671959" cy="2107812"/>
        </p:xfrm>
        <a:graphic>
          <a:graphicData uri="http://schemas.openxmlformats.org/presentationml/2006/ole">
            <mc:AlternateContent xmlns:mc="http://schemas.openxmlformats.org/markup-compatibility/2006">
              <mc:Choice xmlns:v="urn:schemas-microsoft-com:vml" Requires="v">
                <p:oleObj spid="_x0000_s5167" name="文档" r:id="rId7" imgW="3826872" imgH="691086" progId="Word.Document.12">
                  <p:embed/>
                </p:oleObj>
              </mc:Choice>
              <mc:Fallback>
                <p:oleObj name="文档" r:id="rId7" imgW="3826872" imgH="691086" progId="Word.Document.12">
                  <p:embed/>
                  <p:pic>
                    <p:nvPicPr>
                      <p:cNvPr id="0" name=""/>
                      <p:cNvPicPr/>
                      <p:nvPr/>
                    </p:nvPicPr>
                    <p:blipFill>
                      <a:blip r:embed="rId8"/>
                      <a:stretch>
                        <a:fillRect/>
                      </a:stretch>
                    </p:blipFill>
                    <p:spPr>
                      <a:xfrm>
                        <a:off x="380337" y="3354607"/>
                        <a:ext cx="11671959" cy="2107812"/>
                      </a:xfrm>
                      <a:prstGeom prst="rect">
                        <a:avLst/>
                      </a:prstGeom>
                    </p:spPr>
                  </p:pic>
                </p:oleObj>
              </mc:Fallback>
            </mc:AlternateContent>
          </a:graphicData>
        </a:graphic>
      </p:graphicFrame>
      <p:sp>
        <p:nvSpPr>
          <p:cNvPr id="9" name="矩形 8"/>
          <p:cNvSpPr>
            <a:spLocks noChangeAspect="1"/>
          </p:cNvSpPr>
          <p:nvPr/>
        </p:nvSpPr>
        <p:spPr>
          <a:xfrm>
            <a:off x="298261" y="553620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r>
              <a:rPr lang="zh-CN" altLang="zh-CN" i="1" dirty="0">
                <a:solidFill>
                  <a:srgbClr val="000000"/>
                </a:solidFill>
                <a:ea typeface="宋体" panose="02010600030101010101" pitchFamily="2" charset="-122"/>
                <a:cs typeface="Times New Roman" panose="02020603050405020304" pitchFamily="18" charset="0"/>
              </a:rPr>
              <a:t>　</a:t>
            </a:r>
            <a:r>
              <a:rPr lang="zh-CN" altLang="zh-CN" dirty="0">
                <a:solidFill>
                  <a:srgbClr val="000000"/>
                </a:solidFill>
                <a:latin typeface="NEU-BZ-S92"/>
                <a:ea typeface="宋体" panose="02010600030101010101" pitchFamily="2" charset="-122"/>
                <a:cs typeface="宋体" panose="02010600030101010101" pitchFamily="2" charset="-122"/>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0268323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08714"/>
            <a:ext cx="10807700" cy="4228850"/>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以方程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和方程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的实数根为元素的集合中共有</a:t>
            </a:r>
            <a:r>
              <a:rPr lang="zh-CN" altLang="zh-CN" i="1" u="sng" dirty="0">
                <a:uFill>
                  <a:solidFill>
                    <a:srgbClr val="000000"/>
                  </a:solidFill>
                </a:uFill>
                <a:ea typeface="宋体" panose="02010600030101010101" pitchFamily="2" charset="-122"/>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个元素</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7</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的实数根是</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1,7</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方程</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楷体" panose="02010609060101010101" pitchFamily="49" charset="-122"/>
                <a:cs typeface="Times New Roman" panose="02020603050405020304" pitchFamily="18" charset="0"/>
              </a:rPr>
              <a:t>的实数根是</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1,2</a:t>
            </a:r>
            <a:r>
              <a:rPr lang="en-US" altLang="zh-CN" i="1"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smtClean="0">
                <a:solidFill>
                  <a:srgbClr val="000000"/>
                </a:solidFill>
                <a:ea typeface="楷体" panose="02010609060101010101" pitchFamily="49" charset="-122"/>
                <a:cs typeface="Times New Roman" panose="02020603050405020304" pitchFamily="18" charset="0"/>
              </a:rPr>
              <a:t>由</a:t>
            </a:r>
            <a:r>
              <a:rPr lang="zh-CN" altLang="zh-CN" dirty="0">
                <a:solidFill>
                  <a:srgbClr val="000000"/>
                </a:solidFill>
                <a:ea typeface="楷体" panose="02010609060101010101" pitchFamily="49" charset="-122"/>
                <a:cs typeface="Times New Roman" panose="02020603050405020304" pitchFamily="18" charset="0"/>
              </a:rPr>
              <a:t>集合元素的互异性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知以这两个方程的实数根为元素的集合中共有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个元素</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80529531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8"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367879"/>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已知集合</a:t>
            </a:r>
            <a:r>
              <a:rPr lang="en-US" altLang="zh-CN" i="1" dirty="0">
                <a:solidFill>
                  <a:srgbClr val="000000"/>
                </a:solidFill>
                <a:ea typeface="宋体" panose="02010600030101010101" pitchFamily="2" charset="-122"/>
                <a:cs typeface="Times New Roman" panose="02020603050405020304" pitchFamily="18" charset="0"/>
              </a:rPr>
              <a:t>M</a:t>
            </a:r>
            <a:r>
              <a:rPr lang="zh-CN" altLang="zh-CN" dirty="0">
                <a:solidFill>
                  <a:srgbClr val="000000"/>
                </a:solidFill>
                <a:ea typeface="宋体" panose="02010600030101010101" pitchFamily="2" charset="-122"/>
                <a:cs typeface="Times New Roman" panose="02020603050405020304" pitchFamily="18" charset="0"/>
              </a:rPr>
              <a:t>中含有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个元素</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求</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满足的条件</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537136225"/>
              </p:ext>
            </p:extLst>
          </p:nvPr>
        </p:nvGraphicFramePr>
        <p:xfrm>
          <a:off x="442277" y="2053794"/>
          <a:ext cx="11671959" cy="2194405"/>
        </p:xfrm>
        <a:graphic>
          <a:graphicData uri="http://schemas.openxmlformats.org/presentationml/2006/ole">
            <mc:AlternateContent xmlns:mc="http://schemas.openxmlformats.org/markup-compatibility/2006">
              <mc:Choice xmlns:v="urn:schemas-microsoft-com:vml" Requires="v">
                <p:oleObj spid="_x0000_s8214" name="文档" r:id="rId4" imgW="3837724" imgH="721869" progId="Word.Document.12">
                  <p:embed/>
                </p:oleObj>
              </mc:Choice>
              <mc:Fallback>
                <p:oleObj name="文档" r:id="rId4" imgW="3837724" imgH="721869" progId="Word.Document.12">
                  <p:embed/>
                  <p:pic>
                    <p:nvPicPr>
                      <p:cNvPr id="0" name=""/>
                      <p:cNvPicPr/>
                      <p:nvPr/>
                    </p:nvPicPr>
                    <p:blipFill>
                      <a:blip r:embed="rId5"/>
                      <a:stretch>
                        <a:fillRect/>
                      </a:stretch>
                    </p:blipFill>
                    <p:spPr>
                      <a:xfrm>
                        <a:off x="442277" y="2053794"/>
                        <a:ext cx="11671959" cy="2194405"/>
                      </a:xfrm>
                      <a:prstGeom prst="rect">
                        <a:avLst/>
                      </a:prstGeom>
                    </p:spPr>
                  </p:pic>
                </p:oleObj>
              </mc:Fallback>
            </mc:AlternateContent>
          </a:graphicData>
        </a:graphic>
      </p:graphicFrame>
    </p:spTree>
    <p:extLst>
      <p:ext uri="{BB962C8B-B14F-4D97-AF65-F5344CB8AC3E}">
        <p14:creationId xmlns:p14="http://schemas.microsoft.com/office/powerpoint/2010/main" val="39693342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88</TotalTime>
  <Words>1510</Words>
  <Application>Microsoft Office PowerPoint</Application>
  <PresentationFormat>自定义</PresentationFormat>
  <Paragraphs>134</Paragraphs>
  <Slides>35</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50"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25</cp:revision>
  <dcterms:created xsi:type="dcterms:W3CDTF">2020-09-12T05:36:12Z</dcterms:created>
  <dcterms:modified xsi:type="dcterms:W3CDTF">2025-08-18T02:47:27Z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