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2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1" r:id="rId12"/>
    <p:sldId id="762" r:id="rId13"/>
    <p:sldId id="763" r:id="rId14"/>
    <p:sldId id="737" r:id="rId15"/>
    <p:sldId id="750" r:id="rId16"/>
    <p:sldId id="764" r:id="rId17"/>
    <p:sldId id="767" r:id="rId18"/>
    <p:sldId id="768" r:id="rId19"/>
    <p:sldId id="769" r:id="rId20"/>
    <p:sldId id="770" r:id="rId21"/>
    <p:sldId id="754" r:id="rId22"/>
    <p:sldId id="771" r:id="rId23"/>
    <p:sldId id="772" r:id="rId24"/>
    <p:sldId id="773" r:id="rId25"/>
    <p:sldId id="774" r:id="rId26"/>
    <p:sldId id="755" r:id="rId27"/>
    <p:sldId id="775" r:id="rId28"/>
    <p:sldId id="776" r:id="rId29"/>
    <p:sldId id="777" r:id="rId30"/>
    <p:sldId id="747" r:id="rId31"/>
    <p:sldId id="751" r:id="rId32"/>
    <p:sldId id="778" r:id="rId33"/>
    <p:sldId id="783" r:id="rId34"/>
    <p:sldId id="748" r:id="rId35"/>
    <p:sldId id="752" r:id="rId36"/>
    <p:sldId id="779" r:id="rId37"/>
    <p:sldId id="780" r:id="rId38"/>
    <p:sldId id="781" r:id="rId39"/>
    <p:sldId id="784" r:id="rId40"/>
    <p:sldId id="735" r:id="rId41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5468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40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4.xml"/><Relationship Id="rId5" Type="http://schemas.openxmlformats.org/officeDocument/2006/relationships/slide" Target="slide30.xml"/><Relationship Id="rId4" Type="http://schemas.openxmlformats.org/officeDocument/2006/relationships/slide" Target="slide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4.docx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jpeg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3.docx"/><Relationship Id="rId9" Type="http://schemas.openxmlformats.org/officeDocument/2006/relationships/image" Target="../media/image8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12.jpeg"/><Relationship Id="rId7" Type="http://schemas.openxmlformats.org/officeDocument/2006/relationships/image" Target="../media/image13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0.emf"/><Relationship Id="rId5" Type="http://schemas.openxmlformats.org/officeDocument/2006/relationships/package" Target="../embeddings/Microsoft_Word___5.docx"/><Relationship Id="rId10" Type="http://schemas.openxmlformats.org/officeDocument/2006/relationships/image" Target="../media/image11.emf"/><Relationship Id="rId4" Type="http://schemas.openxmlformats.org/officeDocument/2006/relationships/oleObject" Target="../embeddings/oleObject5.bin"/><Relationship Id="rId9" Type="http://schemas.openxmlformats.org/officeDocument/2006/relationships/package" Target="../embeddings/Microsoft_Word___6.docx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8.docx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6.jpeg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7.docx"/><Relationship Id="rId9" Type="http://schemas.openxmlformats.org/officeDocument/2006/relationships/image" Target="../media/image15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9.docx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0.docx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1.docx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584464"/>
            <a:ext cx="108077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altLang="zh-CN" sz="6000" dirty="0" smtClean="0">
                <a:solidFill>
                  <a:srgbClr val="002060"/>
                </a:solidFill>
              </a:rPr>
              <a:t>1</a:t>
            </a:r>
            <a:r>
              <a:rPr lang="en-US" altLang="zh-CN" sz="6000" i="1" dirty="0" smtClean="0">
                <a:solidFill>
                  <a:srgbClr val="002060"/>
                </a:solidFill>
              </a:rPr>
              <a:t>.</a:t>
            </a:r>
            <a:r>
              <a:rPr lang="en-US" altLang="zh-CN" sz="6000" dirty="0" smtClean="0">
                <a:solidFill>
                  <a:srgbClr val="002060"/>
                </a:solidFill>
              </a:rPr>
              <a:t>4</a:t>
            </a:r>
            <a:r>
              <a:rPr lang="en-US" altLang="zh-CN" sz="6000" i="1" dirty="0" smtClean="0">
                <a:solidFill>
                  <a:srgbClr val="002060"/>
                </a:solidFill>
              </a:rPr>
              <a:t>.</a:t>
            </a:r>
            <a:r>
              <a:rPr lang="en-US" altLang="zh-CN" sz="6000" dirty="0" smtClean="0">
                <a:solidFill>
                  <a:srgbClr val="002060"/>
                </a:solidFill>
              </a:rPr>
              <a:t>1</a:t>
            </a:r>
            <a:r>
              <a:rPr lang="zh-CN" altLang="zh-CN" sz="6000" i="1" dirty="0">
                <a:solidFill>
                  <a:srgbClr val="002060"/>
                </a:solidFill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</a:rPr>
              <a:t>充分条件与必要条件</a:t>
            </a: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070015"/>
            <a:ext cx="10729192" cy="4463305"/>
            <a:chOff x="360437" y="1099509"/>
            <a:chExt cx="10729192" cy="4463305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099509"/>
              <a:ext cx="10729192" cy="4463305"/>
              <a:chOff x="360437" y="1722055"/>
              <a:chExt cx="10729192" cy="3048498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722055"/>
                <a:ext cx="10729192" cy="3048498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879418"/>
                <a:ext cx="0" cy="2737494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736031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200485"/>
              <a:ext cx="8496944" cy="41722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通过对典型数学命题的梳理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理解充分条件的意义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理解判定定理与充分条件的关系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NEU-BZ-S92" panose="02020503000000020003" pitchFamily="18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通过对典型数学命题的梳理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理解必要条件的意义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理解性质定理与必要条件的关系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NEU-BZ-S92" panose="02020503000000020003" pitchFamily="18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体会充分条件与必要条件在表述数学内容和论证数学结论中的作用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提升逻辑推理与数学运算素养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55453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方正正中黑简体"/>
                <a:cs typeface="Times New Roman" panose="02020603050405020304" pitchFamily="18" charset="0"/>
              </a:rPr>
              <a:t>一、命题的概念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下列语句的表述形式有什么特点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和直线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无公共点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同位角相等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两个面积相等的三角形全等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同一平面内垂直于同一条直线的两条直线平行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提示</a:t>
            </a:r>
            <a:r>
              <a:rPr lang="en-US" altLang="zh-CN" dirty="0" smtClean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两个特点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都是陈述句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都能够判断真假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53124"/>
            <a:ext cx="10807700" cy="47632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你能判断上述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个语句的真假吗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①④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为真命题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②③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为假命题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命题有哪些表达形式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疑问句、祈使句、感叹句能否作为命题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命题的表达形式有语言、符号或式子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疑问句、祈使句、感叹句不能作为命题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它们不符合命题必须是陈述句的特点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你能把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同位角相等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写成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的形式吗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若两个角为同位角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则这两个角相等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983860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329773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一般地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我们把用语言、符号或式子表达的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可以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真假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陈述句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叫做命题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判断为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真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的语句是真命题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判断为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假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的语句是假命题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形式的命题中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p 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称为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命题的条件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q 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称为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命题的结论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93695" y="1983677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489105" y="2447775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1706241" y="1966810"/>
            <a:ext cx="11744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1701896" y="2430908"/>
            <a:ext cx="11731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2152635" y="2576253"/>
            <a:ext cx="3987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2147830" y="3040351"/>
            <a:ext cx="3983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769149" y="2576253"/>
            <a:ext cx="3987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6764344" y="3040351"/>
            <a:ext cx="3983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5219579" y="3200353"/>
            <a:ext cx="32958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5214735" y="3664451"/>
            <a:ext cx="3292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8619841" y="3200353"/>
            <a:ext cx="32958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8614997" y="3664451"/>
            <a:ext cx="3292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583423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9" grpId="0" animBg="1"/>
      <p:bldP spid="11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14031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命题中是假命题的是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的约数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对任意实数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对顶角相等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	D.0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不是奇数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对任意实数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为假命题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A,C,D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均为真命题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19652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556127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    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、充分条件与必要条件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797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给出下列命题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若整数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的倍数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则整数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的倍数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你能判断这两个命题的真假吗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命题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中的条件和结论有什么关系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命题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中的呢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61950" y="4090776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是真命题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是假命题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命题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中只要满足条件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整数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的倍数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必有结论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整数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的倍数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命题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中满足条件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不一定有结论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还可能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54071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-175351" y="781983"/>
            <a:ext cx="12004724" cy="3759944"/>
            <a:chOff x="-175351" y="1208335"/>
            <a:chExt cx="12004724" cy="3759944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208335"/>
              <a:ext cx="4948471" cy="6443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67970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充分条件与必要条件</a:t>
              </a:r>
              <a:endPara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NEU-BZ-S92" panose="02020503000000020003" pitchFamily="18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2363628"/>
                </p:ext>
              </p:extLst>
            </p:nvPr>
          </p:nvGraphicFramePr>
          <p:xfrm>
            <a:off x="-175351" y="1903566"/>
            <a:ext cx="12004724" cy="3064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9" name="文档" r:id="rId4" imgW="3935975" imgH="1004824" progId="Word.Document.12">
                    <p:embed/>
                  </p:oleObj>
                </mc:Choice>
                <mc:Fallback>
                  <p:oleObj name="文档" r:id="rId4" imgW="3935975" imgH="100482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-175351" y="1903566"/>
                          <a:ext cx="12004724" cy="30647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矩形 6"/>
          <p:cNvSpPr/>
          <p:nvPr/>
        </p:nvSpPr>
        <p:spPr>
          <a:xfrm>
            <a:off x="2736701" y="2217527"/>
            <a:ext cx="362543" cy="3162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417221" y="2217820"/>
            <a:ext cx="362543" cy="3162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853504" y="2751407"/>
            <a:ext cx="777145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797951" y="3284439"/>
            <a:ext cx="777145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97115" y="2759246"/>
            <a:ext cx="777145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61950" y="3888159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一般地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数学中的每一条判定定理都给出了相应数学结论成立的一个</a:t>
            </a:r>
            <a:r>
              <a:rPr lang="zh-CN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充分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每一条性质定理都给出了相应数学结论成立的一个</a:t>
            </a:r>
            <a:r>
              <a:rPr lang="zh-CN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必要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条件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15325" y="4543509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2910735" y="5007607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3327924" y="5119564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>
            <a:off x="3323334" y="5583662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104071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1151855"/>
            <a:ext cx="11728341" cy="1311746"/>
            <a:chOff x="361950" y="1151855"/>
            <a:chExt cx="11728341" cy="1311746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151855"/>
              <a:ext cx="10807700" cy="68326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</a:t>
              </a:r>
              <a:r>
                <a:rPr lang="zh-CN" altLang="zh-CN" i="1" u="sng" dirty="0">
                  <a:uFill>
                    <a:solidFill>
                      <a:srgbClr val="000000"/>
                    </a:solidFill>
                  </a:uFill>
                  <a:ea typeface="宋体" panose="02010600030101010101" pitchFamily="2" charset="-122"/>
                  <a:cs typeface="Times New Roman" panose="02020603050405020304" pitchFamily="18" charset="0"/>
                </a:rPr>
                <a:t>　　　　　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条件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4906712"/>
                </p:ext>
              </p:extLst>
            </p:nvPr>
          </p:nvGraphicFramePr>
          <p:xfrm>
            <a:off x="385233" y="1871935"/>
            <a:ext cx="11705058" cy="5916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7" name="文档" r:id="rId4" imgW="3837724" imgH="193989" progId="Word.Document.12">
                    <p:embed/>
                  </p:oleObj>
                </mc:Choice>
                <mc:Fallback>
                  <p:oleObj name="文档" r:id="rId4" imgW="3837724" imgH="19398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85233" y="1871935"/>
                          <a:ext cx="11705058" cy="59166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矩形 9"/>
          <p:cNvSpPr>
            <a:spLocks noChangeAspect="1"/>
          </p:cNvSpPr>
          <p:nvPr/>
        </p:nvSpPr>
        <p:spPr>
          <a:xfrm>
            <a:off x="361950" y="2556971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显然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成立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 err="1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⇒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的充分条件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 err="1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⇒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的必要条件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充分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必要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098741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59239"/>
            <a:ext cx="10807700" cy="49109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将命题改写成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的形式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改法唯一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举反例是判断一个命题是假命题的重要方法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的命题中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的充分条件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的充分条件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是唯一的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(5)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的必要条件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497341" y="2746789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145413" y="3337398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042328" y="3938651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913165" y="4505292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121077" y="5081356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15266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命题真假</a:t>
            </a:r>
            <a:r>
              <a:rPr lang="zh-CN" altLang="zh-CN" dirty="0"/>
              <a:t>的判断</a:t>
            </a: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61950" y="1871935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3048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把下列命题改写成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的形式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指出条件和结论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并判断命题的真假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两个周长相等的三角形面积相等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为正整数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x+m=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无实根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27503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若两个三角形的周长相等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则这两个三角形的面积相等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条件是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两个三角形的周长相等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结论是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这两个三角形的面积相等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是假命题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已知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为正整数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条件是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已知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为正整数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结论是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是假命题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x+m=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无实根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条件是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结论是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x+m=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无实根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是真命题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949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984419"/>
            <a:ext cx="10807700" cy="4228850"/>
            <a:chOff x="361950" y="682526"/>
            <a:chExt cx="10807700" cy="4228850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682526"/>
              <a:ext cx="10807700" cy="42288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en-US" dirty="0">
                  <a:solidFill>
                    <a:srgbClr val="000000"/>
                  </a:solidFill>
                  <a:latin typeface="黑体" panose="02010609060101010101" pitchFamily="49" charset="-122"/>
                  <a:cs typeface="Times New Roman" panose="02020603050405020304" pitchFamily="18" charset="0"/>
                </a:rPr>
                <a:t>反思感悟</a:t>
              </a:r>
              <a:endParaRPr lang="zh-CN" altLang="zh-CN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将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命题改写为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形式的方法及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原则</a:t>
              </a:r>
              <a:endParaRPr lang="en-US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>
                <a:solidFill>
                  <a:srgbClr val="000000"/>
                </a:solidFill>
                <a:effectLst/>
                <a:latin typeface="NEU-BZ-S92"/>
                <a:ea typeface="仿宋" panose="02010609060101010101" pitchFamily="49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 smtClean="0">
                <a:solidFill>
                  <a:srgbClr val="000000"/>
                </a:solidFill>
                <a:latin typeface="NEU-BZ-S92"/>
                <a:ea typeface="仿宋" panose="02010609060101010101" pitchFamily="49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>
                <a:solidFill>
                  <a:srgbClr val="000000"/>
                </a:solidFill>
                <a:effectLst/>
                <a:latin typeface="NEU-BZ-S92"/>
                <a:ea typeface="仿宋" panose="02010609060101010101" pitchFamily="49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 smtClean="0">
                <a:solidFill>
                  <a:srgbClr val="000000"/>
                </a:solidFill>
                <a:latin typeface="NEU-BZ-S92"/>
                <a:ea typeface="仿宋" panose="02010609060101010101" pitchFamily="49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>
                <a:solidFill>
                  <a:srgbClr val="000000"/>
                </a:solidFill>
                <a:effectLst/>
                <a:latin typeface="NEU-BZ-S92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" name="ZMG1TRA104.eps" descr="id:2147493059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800597" y="1956721"/>
              <a:ext cx="7272808" cy="28388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5636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345227"/>
            <a:ext cx="10807700" cy="30469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判断命题真假的策略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要判断一个命题是真命题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一般要有严格的证明或事实依据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比如根据已学过的定义、基本事实、定理证明或根据已知的正确结论推证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要判断一个命题是假命题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只要举一个反例即可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007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57765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指出下列命题的条件与结论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写成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的形式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并判断真假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平行四边形的两条对角线互相垂直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直角三角形的两个锐角互余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520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43292"/>
            <a:ext cx="10807700" cy="47632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条件是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四边形是平行四边形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结论是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四边形的两条对角线互相垂直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写成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的形式为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若四边形是平行四边形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则它的两条对角线互相垂直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是假命题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条件是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一个三角形是直角三角形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结论是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两个锐角互余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写成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的形式为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若一个三角形是直角三角形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则它的两个锐角互余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是真命题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条件是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结论是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写成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的形式为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是假命题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661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充分条件</a:t>
            </a:r>
            <a:r>
              <a:rPr lang="zh-CN" altLang="zh-CN" dirty="0"/>
              <a:t>与必要条件的判断</a:t>
            </a: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61950" y="1593735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3048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形式的命题中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哪些命题中的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的必要条件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若四边形为矩形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则这个四边形的两条对角线相等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若四边形的对角互补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则这个四边形是圆内接四边形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+b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1170890"/>
            <a:ext cx="10807700" cy="3581365"/>
            <a:chOff x="361950" y="1151855"/>
            <a:chExt cx="10807700" cy="3581365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1151855"/>
              <a:ext cx="10807700" cy="358136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66700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这是矩形的一条性质定理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 err="1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⇒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的必要条件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66700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这是圆内接四边形的一条判定定理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 err="1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⇒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</a:p>
            <a:p>
              <a:pPr indent="266700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的必要条件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66700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+b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a=b=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从而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a+b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 err="1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⇒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</a:p>
            <a:p>
              <a:pPr indent="266700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的必要条件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66700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(4)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3≠1,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不是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的必要条件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8" name="图片 7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646517" y="4275953"/>
              <a:ext cx="425446" cy="4295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08090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19807"/>
            <a:ext cx="10807700" cy="541071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充分条件与必要条件的判断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方法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一般地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要判断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形式的命题中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是否为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q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的充分条件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q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是否为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的必要条件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只需判断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“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dirty="0" err="1">
                <a:solidFill>
                  <a:srgbClr val="000000"/>
                </a:solidFill>
                <a:latin typeface="Cambria Math" panose="02040503050406030204" pitchFamily="18" charset="0"/>
                <a:ea typeface="NEU-BZ-S92" panose="02020503000000020003" pitchFamily="18" charset="-122"/>
                <a:cs typeface="Times New Roman" panose="02020603050405020304" pitchFamily="18" charset="0"/>
              </a:rPr>
              <a:t>⇒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是否成立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是否为真命题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如果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为真命题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那么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的充分条件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同时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的必要条件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如果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为假命题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那么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不是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的充分条件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同时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也不是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的必要条件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751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401781"/>
            <a:ext cx="10807700" cy="299043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命题判断法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如果命题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为真命题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那么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的充分条件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同时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的必要条件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如果命题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为假命题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那么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不是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的充分条件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同时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也不是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的必要条件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568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81983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下列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形式的命题中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哪些命题中的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的充分条件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都是偶数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a+b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是偶数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&gt;y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x&gt;y.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61950" y="3836053"/>
            <a:ext cx="10807700" cy="1865126"/>
            <a:chOff x="361950" y="3663763"/>
            <a:chExt cx="10807700" cy="1865126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3663763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由偶数的性质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知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 err="1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⇒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的充分条件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由集合的运算性质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知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 err="1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⇒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的充分条件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不是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的充分条件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6" name="图片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680917" y="5015069"/>
              <a:ext cx="425445" cy="4295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3657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充分条件</a:t>
            </a:r>
            <a:r>
              <a:rPr lang="zh-CN" altLang="zh-CN" dirty="0"/>
              <a:t>与必要条件的应用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295871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是否存在实数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x+p&lt;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x&lt;-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的充分条件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若存在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若不存在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请说明理由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61950" y="2526502"/>
            <a:ext cx="14416910" cy="3809929"/>
            <a:chOff x="361950" y="2454494"/>
            <a:chExt cx="14416910" cy="3809929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2454494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x+p&lt;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     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在数轴上表示出不等式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x&lt;-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由数轴可得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6012478"/>
                </p:ext>
              </p:extLst>
            </p:nvPr>
          </p:nvGraphicFramePr>
          <p:xfrm>
            <a:off x="3106901" y="2469315"/>
            <a:ext cx="11671959" cy="663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" name="文档" r:id="rId4" imgW="3826872" imgH="217424" progId="Word.Document.12">
                    <p:embed/>
                  </p:oleObj>
                </mc:Choice>
                <mc:Fallback>
                  <p:oleObj name="文档" r:id="rId4" imgW="3826872" imgH="21742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106901" y="2469315"/>
                          <a:ext cx="11671959" cy="66314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7" name="ZMG1TRA105.eps" descr="id:2147493087;FounderCES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3312765" y="3660803"/>
              <a:ext cx="5112568" cy="1286210"/>
            </a:xfrm>
            <a:prstGeom prst="rect">
              <a:avLst/>
            </a:prstGeom>
          </p:spPr>
        </p:pic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58128244"/>
                </p:ext>
              </p:extLst>
            </p:nvPr>
          </p:nvGraphicFramePr>
          <p:xfrm>
            <a:off x="436415" y="4991371"/>
            <a:ext cx="11671959" cy="663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" name="文档" r:id="rId8" imgW="3826872" imgH="217424" progId="Word.Document.12">
                    <p:embed/>
                  </p:oleObj>
                </mc:Choice>
                <mc:Fallback>
                  <p:oleObj name="文档" r:id="rId8" imgW="3826872" imgH="21742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36415" y="4991371"/>
                          <a:ext cx="11671959" cy="66314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361950" y="5637713"/>
              <a:ext cx="10807700" cy="6267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故当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x+p&lt;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x&lt;-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的充分条件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延伸探究H.eps" descr="id:2147492067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104853" y="785447"/>
            <a:ext cx="2740119" cy="499725"/>
          </a:xfrm>
          <a:prstGeom prst="rect">
            <a:avLst/>
          </a:prstGeom>
        </p:spPr>
      </p:pic>
      <p:sp>
        <p:nvSpPr>
          <p:cNvPr id="4" name="矩形 3"/>
          <p:cNvSpPr>
            <a:spLocks noChangeAspect="1"/>
          </p:cNvSpPr>
          <p:nvPr/>
        </p:nvSpPr>
        <p:spPr>
          <a:xfrm>
            <a:off x="361950" y="1292206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将本例条件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x+p&lt;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换为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x+p&gt;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其他条件不变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结果如何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361950" y="2517951"/>
            <a:ext cx="14406750" cy="3798160"/>
            <a:chOff x="361950" y="2476423"/>
            <a:chExt cx="14406750" cy="3798160"/>
          </a:xfrm>
        </p:grpSpPr>
        <p:sp>
          <p:nvSpPr>
            <p:cNvPr id="13" name="矩形 12"/>
            <p:cNvSpPr>
              <a:spLocks noChangeAspect="1"/>
            </p:cNvSpPr>
            <p:nvPr/>
          </p:nvSpPr>
          <p:spPr>
            <a:xfrm>
              <a:off x="361950" y="2476423"/>
              <a:ext cx="10807700" cy="119571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x+p&gt;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    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在数轴上表示出不等式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x&lt;-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由数轴可得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5523657"/>
                </p:ext>
              </p:extLst>
            </p:nvPr>
          </p:nvGraphicFramePr>
          <p:xfrm>
            <a:off x="3096741" y="2518955"/>
            <a:ext cx="11671959" cy="663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3" name="文档" r:id="rId5" imgW="3826872" imgH="217424" progId="Word.Document.12">
                    <p:embed/>
                  </p:oleObj>
                </mc:Choice>
                <mc:Fallback>
                  <p:oleObj name="文档" r:id="rId5" imgW="3826872" imgH="21742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096741" y="2518955"/>
                          <a:ext cx="11671959" cy="66314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5" name="ZMG1TRA106.eps" descr="id:2147493101;FounderCES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2952725" y="3744848"/>
              <a:ext cx="4824536" cy="1161422"/>
            </a:xfrm>
            <a:prstGeom prst="rect">
              <a:avLst/>
            </a:prstGeom>
          </p:spPr>
        </p:pic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3331052"/>
                </p:ext>
              </p:extLst>
            </p:nvPr>
          </p:nvGraphicFramePr>
          <p:xfrm>
            <a:off x="504453" y="4980937"/>
            <a:ext cx="11671959" cy="663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4" name="文档" r:id="rId9" imgW="3826872" imgH="217424" progId="Word.Document.12">
                    <p:embed/>
                  </p:oleObj>
                </mc:Choice>
                <mc:Fallback>
                  <p:oleObj name="文档" r:id="rId9" imgW="3826872" imgH="21742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04453" y="4980937"/>
                          <a:ext cx="11671959" cy="66314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361950" y="5647873"/>
              <a:ext cx="10807700" cy="6267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故当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8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x+p&gt;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x&lt;-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的充分条件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447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47799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本例若换为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是否存在实数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x+p&lt;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x&lt;-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的必要条件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若存在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若不存在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请说明理由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如何求解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61950" y="2468647"/>
            <a:ext cx="14478758" cy="3660878"/>
            <a:chOff x="361950" y="2438167"/>
            <a:chExt cx="14478758" cy="366087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2438167"/>
              <a:ext cx="10807700" cy="119571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x+p&lt;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     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在数轴上表示出不等式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x&lt;-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由数轴可得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9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6910798"/>
                </p:ext>
              </p:extLst>
            </p:nvPr>
          </p:nvGraphicFramePr>
          <p:xfrm>
            <a:off x="3168749" y="2448327"/>
            <a:ext cx="11671959" cy="663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3" name="文档" r:id="rId4" imgW="3826872" imgH="217424" progId="Word.Document.12">
                    <p:embed/>
                  </p:oleObj>
                </mc:Choice>
                <mc:Fallback>
                  <p:oleObj name="文档" r:id="rId4" imgW="3826872" imgH="21742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168749" y="2448327"/>
                          <a:ext cx="11671959" cy="66314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0" name="ZMG1TRA107.eps" descr="id:2147493108;FounderCES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2088629" y="3720137"/>
              <a:ext cx="5616624" cy="965916"/>
            </a:xfrm>
            <a:prstGeom prst="rect">
              <a:avLst/>
            </a:prstGeom>
          </p:spPr>
        </p:pic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8335293"/>
                </p:ext>
              </p:extLst>
            </p:nvPr>
          </p:nvGraphicFramePr>
          <p:xfrm>
            <a:off x="569798" y="4762415"/>
            <a:ext cx="11671959" cy="663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4" name="文档" r:id="rId8" imgW="3826872" imgH="217424" progId="Word.Document.12">
                    <p:embed/>
                  </p:oleObj>
                </mc:Choice>
                <mc:Fallback>
                  <p:oleObj name="文档" r:id="rId8" imgW="3826872" imgH="21742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569798" y="4762415"/>
                          <a:ext cx="11671959" cy="66314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5472335"/>
              <a:ext cx="10807700" cy="6267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所以不存在实数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使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x+p&lt;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x&lt;-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的必要条件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8636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511895"/>
            <a:ext cx="10807700" cy="30469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应用充分条件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或必要条件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求参数取值范围的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步骤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首先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根据条件的充分性或必要性将问题转化为集合之间的关系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然后构建关于参数的不等式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并求解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注意数形结合思想的应用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3282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61950" y="772151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304800"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因混淆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充分条件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必要条件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致错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3048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【典例】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使不等式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成立的一个充分条件是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	B.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	C.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en-US" altLang="zh-CN" i="1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3006600"/>
              </p:ext>
            </p:extLst>
          </p:nvPr>
        </p:nvGraphicFramePr>
        <p:xfrm>
          <a:off x="-86729" y="2572351"/>
          <a:ext cx="11705058" cy="728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" name="文档" r:id="rId4" imgW="3837724" imgH="238700" progId="Word.Document.12">
                  <p:embed/>
                </p:oleObj>
              </mc:Choice>
              <mc:Fallback>
                <p:oleObj name="文档" r:id="rId4" imgW="3837724" imgH="2387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86729" y="2572351"/>
                        <a:ext cx="11705058" cy="7280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>
            <a:spLocks noChangeAspect="1"/>
          </p:cNvSpPr>
          <p:nvPr/>
        </p:nvSpPr>
        <p:spPr>
          <a:xfrm>
            <a:off x="361950" y="3336165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出错的原因是什么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你如何改正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你如何防范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上述解法把充分条件与必要条件混淆了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注意本题的结论是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7498841"/>
              </p:ext>
            </p:extLst>
          </p:nvPr>
        </p:nvGraphicFramePr>
        <p:xfrm>
          <a:off x="-71611" y="873655"/>
          <a:ext cx="11705058" cy="1456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0" name="文档" r:id="rId4" imgW="3837724" imgH="477400" progId="Word.Document.12">
                  <p:embed/>
                </p:oleObj>
              </mc:Choice>
              <mc:Fallback>
                <p:oleObj name="文档" r:id="rId4" imgW="3837724" imgH="4774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71611" y="873655"/>
                        <a:ext cx="11705058" cy="14560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61950" y="2385823"/>
            <a:ext cx="1790683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61950" y="3096071"/>
            <a:ext cx="10807700" cy="24560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indent="26797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防范措施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 indent="26797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把握充分条件的概念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 err="1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⇒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的充分条件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797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分清题目中的条件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和结论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本题的条件是选项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结论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是</a:t>
            </a:r>
            <a:endParaRPr lang="en-US" altLang="zh-CN" dirty="0" smtClean="0">
              <a:solidFill>
                <a:srgbClr val="000000"/>
              </a:solidFill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791349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762532"/>
            <a:ext cx="10807700" cy="5501891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3048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使不等式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成立的一个必要条件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4800" algn="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A.2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	D.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的必要条件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51626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13905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下列命题中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是真命题的是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0}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不是空集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空集是任何集合的真子集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的根是自然数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 smtClean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中方程在实数范围内无解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是假命题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;B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中若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1,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x=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1,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是假命题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因空集是任何非空集合的真子集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是假命题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;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x=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0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的根是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x=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0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x=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5,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都是自然数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是真命题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.</a:t>
            </a:r>
            <a:endParaRPr lang="zh-CN" altLang="en-US" dirty="0">
              <a:latin typeface="+mn-lt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35358"/>
            <a:ext cx="10807700" cy="59450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对任意实数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给出下列命题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其中是真命题的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A.“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的充分条件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是无理数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是无理数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的必要条件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C.“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&gt;b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的充分条件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D.“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的必要条件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成立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是真命题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是无理数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是无理数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成立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是真命题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&gt;b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不一定成立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&lt;b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是假命题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成立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是真命题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7273205" y="5765713"/>
            <a:ext cx="2228495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ABD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174317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495718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角平分线上的点到角两边的距离相等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写成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的形式是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　　　　　　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填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”)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若一个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点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个角的平分线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则该点到这个角两边的距离相等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真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59754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537923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判断下列各题中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的什么条件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{1,2},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61950" y="2294151"/>
            <a:ext cx="10807700" cy="4228850"/>
            <a:chOff x="361950" y="2294151"/>
            <a:chExt cx="10807700" cy="4228850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2294151"/>
              <a:ext cx="10807700" cy="422885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9;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9,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x=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±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的充分条件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但不是必要条件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{1},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不一定有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因此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 err="1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⇒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en-US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的充分条件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但不是必要条件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5" name="图片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376661" y="5400327"/>
              <a:ext cx="425445" cy="4295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183438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07839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x|a-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&lt;x&lt;a+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4},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Q=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3},“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的必要条件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求实数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61950" y="2294151"/>
            <a:ext cx="11795217" cy="2962160"/>
            <a:chOff x="361950" y="2006119"/>
            <a:chExt cx="11795217" cy="2962160"/>
          </a:xfrm>
        </p:grpSpPr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2006119"/>
              <a:ext cx="10807700" cy="12741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+mn-lt"/>
                  <a:cs typeface="Times New Roman" panose="02020603050405020304" pitchFamily="18" charset="0"/>
                </a:rPr>
                <a:t>解</a:t>
              </a:r>
              <a:r>
                <a:rPr lang="en-US" altLang="zh-CN" i="1" dirty="0"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是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的必要条件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⊆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P.</a:t>
              </a:r>
              <a:endParaRPr lang="zh-CN" altLang="zh-CN" dirty="0">
                <a:solidFill>
                  <a:srgbClr val="000000"/>
                </a:solidFill>
                <a:effectLst/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8787142"/>
                </p:ext>
              </p:extLst>
            </p:nvPr>
          </p:nvGraphicFramePr>
          <p:xfrm>
            <a:off x="452109" y="3224463"/>
            <a:ext cx="11705058" cy="10040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2" name="文档" r:id="rId4" imgW="3837724" imgH="329204" progId="Word.Document.12">
                    <p:embed/>
                  </p:oleObj>
                </mc:Choice>
                <mc:Fallback>
                  <p:oleObj name="文档" r:id="rId4" imgW="3837724" imgH="32920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52109" y="3224463"/>
                          <a:ext cx="11705058" cy="100407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361950" y="4285015"/>
              <a:ext cx="6022803" cy="6832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即实数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的取值范围是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a|-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 panose="02020503000000020003" pitchFamily="18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 panose="02020503000000020003" pitchFamily="18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5}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846376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49</TotalTime>
  <Words>2414</Words>
  <Application>Microsoft Office PowerPoint</Application>
  <PresentationFormat>自定义</PresentationFormat>
  <Paragraphs>174</Paragraphs>
  <Slides>40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5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Arial</vt:lpstr>
      <vt:lpstr>Calibri</vt:lpstr>
      <vt:lpstr>Cambria Math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15</cp:revision>
  <dcterms:created xsi:type="dcterms:W3CDTF">2020-09-12T05:36:12Z</dcterms:created>
  <dcterms:modified xsi:type="dcterms:W3CDTF">2025-08-18T02:52:31Z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