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37" r:id="rId14"/>
    <p:sldId id="750" r:id="rId15"/>
    <p:sldId id="762" r:id="rId16"/>
    <p:sldId id="764" r:id="rId17"/>
    <p:sldId id="765" r:id="rId18"/>
    <p:sldId id="766" r:id="rId19"/>
    <p:sldId id="767" r:id="rId20"/>
    <p:sldId id="754" r:id="rId21"/>
    <p:sldId id="768" r:id="rId22"/>
    <p:sldId id="769" r:id="rId23"/>
    <p:sldId id="770" r:id="rId24"/>
    <p:sldId id="755" r:id="rId25"/>
    <p:sldId id="771" r:id="rId26"/>
    <p:sldId id="772" r:id="rId27"/>
    <p:sldId id="773" r:id="rId28"/>
    <p:sldId id="747" r:id="rId29"/>
    <p:sldId id="751" r:id="rId30"/>
    <p:sldId id="774" r:id="rId31"/>
    <p:sldId id="775" r:id="rId32"/>
    <p:sldId id="776" r:id="rId33"/>
    <p:sldId id="748" r:id="rId34"/>
    <p:sldId id="752" r:id="rId35"/>
    <p:sldId id="778" r:id="rId36"/>
    <p:sldId id="781" r:id="rId37"/>
    <p:sldId id="779" r:id="rId38"/>
    <p:sldId id="735" r:id="rId39"/>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38</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3.xml"/><Relationship Id="rId5" Type="http://schemas.openxmlformats.org/officeDocument/2006/relationships/slide" Target="slide28.xml"/><Relationship Id="rId4" Type="http://schemas.openxmlformats.org/officeDocument/2006/relationships/slide" Target="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8.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9.docx"/></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10.bin"/><Relationship Id="rId7" Type="http://schemas.openxmlformats.org/officeDocument/2006/relationships/package" Target="../embeddings/Microsoft_Word___11.docx"/><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11.bin"/><Relationship Id="rId5" Type="http://schemas.openxmlformats.org/officeDocument/2006/relationships/image" Target="../media/image13.emf"/><Relationship Id="rId4" Type="http://schemas.openxmlformats.org/officeDocument/2006/relationships/package" Target="../embeddings/Microsoft_Word___10.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5.emf"/><Relationship Id="rId4" Type="http://schemas.openxmlformats.org/officeDocument/2006/relationships/package" Target="../embeddings/Microsoft_Word___12.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6.emf"/><Relationship Id="rId4" Type="http://schemas.openxmlformats.org/officeDocument/2006/relationships/package" Target="../embeddings/Microsoft_Word___13.docx"/></Relationships>
</file>

<file path=ppt/slides/_rels/slide26.xml.rels><?xml version="1.0" encoding="UTF-8" standalone="yes"?>
<Relationships xmlns="http://schemas.openxmlformats.org/package/2006/relationships"><Relationship Id="rId8" Type="http://schemas.openxmlformats.org/officeDocument/2006/relationships/package" Target="../embeddings/Microsoft_Word___15.docx"/><Relationship Id="rId3" Type="http://schemas.openxmlformats.org/officeDocument/2006/relationships/image" Target="../media/image19.jpeg"/><Relationship Id="rId7"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17.emf"/><Relationship Id="rId5" Type="http://schemas.openxmlformats.org/officeDocument/2006/relationships/package" Target="../embeddings/Microsoft_Word___14.docx"/><Relationship Id="rId4" Type="http://schemas.openxmlformats.org/officeDocument/2006/relationships/oleObject" Target="../embeddings/oleObject14.bin"/><Relationship Id="rId9" Type="http://schemas.openxmlformats.org/officeDocument/2006/relationships/image" Target="../media/image1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6.bin"/><Relationship Id="rId7" Type="http://schemas.openxmlformats.org/officeDocument/2006/relationships/package" Target="../embeddings/Microsoft_Word___17.docx"/><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17.bin"/><Relationship Id="rId5" Type="http://schemas.openxmlformats.org/officeDocument/2006/relationships/image" Target="../media/image20.emf"/><Relationship Id="rId4" Type="http://schemas.openxmlformats.org/officeDocument/2006/relationships/package" Target="../embeddings/Microsoft_Word___16.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3.emf"/><Relationship Id="rId4" Type="http://schemas.openxmlformats.org/officeDocument/2006/relationships/package" Target="../embeddings/Microsoft_Word___19.doc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512456"/>
            <a:ext cx="10807700" cy="1015663"/>
          </a:xfrm>
          <a:prstGeom prst="rect">
            <a:avLst/>
          </a:prstGeom>
        </p:spPr>
        <p:txBody>
          <a:bodyPr>
            <a:spAutoFit/>
          </a:bodyPr>
          <a:lstStyle/>
          <a:p>
            <a:pPr algn="ctr"/>
            <a:r>
              <a:rPr lang="en-US" altLang="zh-CN" sz="6000" dirty="0" smtClean="0">
                <a:solidFill>
                  <a:srgbClr val="002060"/>
                </a:solidFill>
              </a:rPr>
              <a:t>1</a:t>
            </a:r>
            <a:r>
              <a:rPr lang="en-US" altLang="zh-CN" sz="6000" i="1" dirty="0" smtClean="0">
                <a:solidFill>
                  <a:srgbClr val="002060"/>
                </a:solidFill>
              </a:rPr>
              <a:t>.</a:t>
            </a:r>
            <a:r>
              <a:rPr lang="en-US" altLang="zh-CN" sz="6000" dirty="0" smtClean="0">
                <a:solidFill>
                  <a:srgbClr val="002060"/>
                </a:solidFill>
              </a:rPr>
              <a:t>4</a:t>
            </a:r>
            <a:r>
              <a:rPr lang="en-US" altLang="zh-CN" sz="6000" i="1" dirty="0" smtClean="0">
                <a:solidFill>
                  <a:srgbClr val="002060"/>
                </a:solidFill>
              </a:rPr>
              <a:t>.</a:t>
            </a:r>
            <a:r>
              <a:rPr lang="en-US" altLang="zh-CN" sz="6000" dirty="0" smtClean="0">
                <a:solidFill>
                  <a:srgbClr val="002060"/>
                </a:solidFill>
              </a:rPr>
              <a:t>2</a:t>
            </a:r>
            <a:r>
              <a:rPr lang="zh-CN" altLang="zh-CN" sz="6000" i="1" dirty="0">
                <a:solidFill>
                  <a:srgbClr val="002060"/>
                </a:solidFill>
              </a:rPr>
              <a:t>　</a:t>
            </a:r>
            <a:r>
              <a:rPr lang="zh-CN" altLang="zh-CN" sz="6000" dirty="0">
                <a:solidFill>
                  <a:srgbClr val="002060"/>
                </a:solidFill>
              </a:rPr>
              <a:t>充要条件</a:t>
            </a: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439887"/>
            <a:ext cx="10729192" cy="3273092"/>
            <a:chOff x="360437" y="1135493"/>
            <a:chExt cx="10729192" cy="3273092"/>
          </a:xfrm>
        </p:grpSpPr>
        <p:grpSp>
          <p:nvGrpSpPr>
            <p:cNvPr id="13" name="组合 12"/>
            <p:cNvGrpSpPr/>
            <p:nvPr/>
          </p:nvGrpSpPr>
          <p:grpSpPr>
            <a:xfrm>
              <a:off x="360437" y="1135493"/>
              <a:ext cx="10729192" cy="3273092"/>
              <a:chOff x="360437" y="1746631"/>
              <a:chExt cx="10729192" cy="2235566"/>
            </a:xfrm>
          </p:grpSpPr>
          <p:sp>
            <p:nvSpPr>
              <p:cNvPr id="2" name="圆角矩形 1"/>
              <p:cNvSpPr/>
              <p:nvPr/>
            </p:nvSpPr>
            <p:spPr>
              <a:xfrm>
                <a:off x="360437" y="1746631"/>
                <a:ext cx="10729192" cy="223556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947009"/>
                <a:ext cx="0" cy="1869745"/>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149081"/>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247935"/>
              <a:ext cx="8496944" cy="2990434"/>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en-US" dirty="0">
                  <a:solidFill>
                    <a:srgbClr val="000000"/>
                  </a:solidFill>
                  <a:ea typeface="宋体" panose="02010600030101010101" pitchFamily="2" charset="-122"/>
                  <a:cs typeface="Times New Roman" panose="02020603050405020304" pitchFamily="18" charset="0"/>
                </a:rPr>
                <a:t>通过对典型数学命题的梳理</a:t>
              </a:r>
              <a:r>
                <a:rPr lang="en-US" altLang="zh-CN" dirty="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理解充要条件的意义</a:t>
              </a:r>
              <a:r>
                <a:rPr lang="en-US" altLang="zh-CN" dirty="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理解数学定义与充要条件的关系</a:t>
              </a:r>
              <a:r>
                <a:rPr lang="en-US" altLang="zh-CN" dirty="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en-US" dirty="0">
                  <a:solidFill>
                    <a:srgbClr val="000000"/>
                  </a:solidFill>
                  <a:ea typeface="宋体" panose="02010600030101010101" pitchFamily="2" charset="-122"/>
                  <a:cs typeface="Times New Roman" panose="02020603050405020304" pitchFamily="18" charset="0"/>
                </a:rPr>
                <a:t>体会充要条件在表述数学内容和论证数学结论中的作用</a:t>
              </a:r>
              <a:r>
                <a:rPr lang="en-US" altLang="zh-CN" dirty="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en-US" dirty="0">
                  <a:solidFill>
                    <a:srgbClr val="000000"/>
                  </a:solidFill>
                  <a:ea typeface="宋体" panose="02010600030101010101" pitchFamily="2" charset="-122"/>
                  <a:cs typeface="Times New Roman" panose="02020603050405020304" pitchFamily="18" charset="0"/>
                </a:rPr>
                <a:t>提升逻辑推理与数学运算能力</a:t>
              </a:r>
              <a:r>
                <a:rPr lang="en-US" altLang="zh-CN" dirty="0">
                  <a:solidFill>
                    <a:srgbClr val="000000"/>
                  </a:solidFill>
                  <a:ea typeface="宋体" panose="02010600030101010101" pitchFamily="2" charset="-122"/>
                  <a:cs typeface="Times New Roman" panose="02020603050405020304" pitchFamily="18" charset="0"/>
                </a:rPr>
                <a:t>.</a:t>
              </a:r>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99469"/>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一、逆命题的概念</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给出以下两个命题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若一个数是负数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则它的平方是正数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若一个数的平方是正数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则它是负数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你能说出命题</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与命题</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的条件与结论有什么关系吗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命题</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的条件和结论与命题</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的条件和结论恰好互换了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488656"/>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将</a:t>
            </a:r>
            <a:r>
              <a:rPr lang="zh-CN" altLang="zh-CN" dirty="0">
                <a:solidFill>
                  <a:srgbClr val="000000"/>
                </a:solidFill>
                <a:ea typeface="宋体" panose="02010600030101010101" pitchFamily="2" charset="-122"/>
                <a:cs typeface="Times New Roman" panose="02020603050405020304" pitchFamily="18" charset="0"/>
              </a:rPr>
              <a:t>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中的条件</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和结论</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互换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就得到一个新的命题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若</a:t>
            </a:r>
            <a:r>
              <a:rPr lang="en-US" altLang="zh-CN" i="1" dirty="0">
                <a:ea typeface="宋体" panose="02010600030101010101" pitchFamily="2" charset="-122"/>
                <a:cs typeface="Times New Roman" panose="02020603050405020304" pitchFamily="18" charset="0"/>
              </a:rPr>
              <a:t>q</a:t>
            </a:r>
            <a:r>
              <a:rPr lang="en-US" altLang="zh-CN" dirty="0">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则</a:t>
            </a:r>
            <a:r>
              <a:rPr lang="en-US" altLang="zh-CN" i="1" dirty="0">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称这个命题为原命题的</a:t>
            </a:r>
            <a:r>
              <a:rPr lang="zh-CN" altLang="zh-CN" dirty="0">
                <a:ea typeface="宋体" panose="02010600030101010101" pitchFamily="2" charset="-122"/>
                <a:cs typeface="Times New Roman" panose="02020603050405020304" pitchFamily="18" charset="0"/>
              </a:rPr>
              <a:t>逆</a:t>
            </a:r>
            <a:r>
              <a:rPr lang="zh-CN" altLang="zh-CN" dirty="0">
                <a:solidFill>
                  <a:srgbClr val="000000"/>
                </a:solidFill>
                <a:ea typeface="宋体" panose="02010600030101010101" pitchFamily="2" charset="-122"/>
                <a:cs typeface="Times New Roman" panose="02020603050405020304" pitchFamily="18" charset="0"/>
              </a:rPr>
              <a:t>命题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B=B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的逆命题是</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B=B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1477515" y="2181707"/>
            <a:ext cx="129192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473237" y="2645805"/>
            <a:ext cx="1290463"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7169258" y="2138675"/>
            <a:ext cx="3987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7164453" y="2602773"/>
            <a:ext cx="39834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1752009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935831"/>
            <a:ext cx="12668398" cy="4254469"/>
            <a:chOff x="361950" y="1322659"/>
            <a:chExt cx="12668398" cy="4254469"/>
          </a:xfrm>
        </p:grpSpPr>
        <p:grpSp>
          <p:nvGrpSpPr>
            <p:cNvPr id="6" name="组合 5"/>
            <p:cNvGrpSpPr/>
            <p:nvPr/>
          </p:nvGrpSpPr>
          <p:grpSpPr>
            <a:xfrm>
              <a:off x="361950" y="1322659"/>
              <a:ext cx="12668398" cy="2456057"/>
              <a:chOff x="361950" y="1328726"/>
              <a:chExt cx="12668398" cy="2456057"/>
            </a:xfrm>
          </p:grpSpPr>
          <p:sp>
            <p:nvSpPr>
              <p:cNvPr id="4" name="矩形 3"/>
              <p:cNvSpPr>
                <a:spLocks noChangeAspect="1"/>
              </p:cNvSpPr>
              <p:nvPr/>
            </p:nvSpPr>
            <p:spPr>
              <a:xfrm>
                <a:off x="361950" y="1328726"/>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方正正中黑简体"/>
                    <a:cs typeface="Times New Roman" panose="02020603050405020304" pitchFamily="18" charset="0"/>
                  </a:rPr>
                  <a:t>二、充要条件</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给出以下两个</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形式的命题</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宋体" panose="02010600030101010101" pitchFamily="2" charset="-122"/>
                    <a:cs typeface="宋体" panose="02010600030101010101" pitchFamily="2" charset="-122"/>
                  </a:rPr>
                  <a:t>①</a:t>
                </a:r>
                <a:r>
                  <a:rPr lang="zh-CN" altLang="zh-CN" dirty="0" smtClean="0">
                    <a:solidFill>
                      <a:srgbClr val="000000"/>
                    </a:solidFill>
                    <a:latin typeface="+mn-lt"/>
                    <a:ea typeface="宋体" panose="02010600030101010101" pitchFamily="2" charset="-122"/>
                    <a:cs typeface="Times New Roman" panose="02020603050405020304" pitchFamily="18" charset="0"/>
                  </a:rPr>
                  <a:t>若</a:t>
                </a:r>
                <a:r>
                  <a:rPr lang="zh-CN" altLang="zh-CN" dirty="0">
                    <a:solidFill>
                      <a:srgbClr val="000000"/>
                    </a:solidFill>
                    <a:latin typeface="+mn-lt"/>
                    <a:ea typeface="宋体" panose="02010600030101010101" pitchFamily="2" charset="-122"/>
                    <a:cs typeface="Times New Roman" panose="02020603050405020304" pitchFamily="18" charset="0"/>
                  </a:rPr>
                  <a:t>两个三角形全等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则这两个三角形三边对应相等</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宋体" panose="02010600030101010101" pitchFamily="2" charset="-122"/>
                    <a:cs typeface="宋体" panose="02010600030101010101" pitchFamily="2" charset="-122"/>
                  </a:rPr>
                  <a:t>②</a:t>
                </a:r>
                <a:r>
                  <a:rPr lang="zh-CN" altLang="zh-CN" dirty="0" smtClean="0">
                    <a:solidFill>
                      <a:srgbClr val="000000"/>
                    </a:solidFill>
                    <a:latin typeface="+mn-lt"/>
                    <a:ea typeface="宋体" panose="02010600030101010101" pitchFamily="2" charset="-122"/>
                    <a:cs typeface="Times New Roman" panose="02020603050405020304" pitchFamily="18" charset="0"/>
                  </a:rPr>
                  <a:t>若</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则关于</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宋体" panose="02010600030101010101" pitchFamily="2" charset="-122"/>
                    <a:cs typeface="Times New Roman" panose="02020603050405020304" pitchFamily="18" charset="0"/>
                  </a:rPr>
                  <a:t>的方程</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+x+m=</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m</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宋体" panose="02010600030101010101" pitchFamily="2" charset="-122"/>
                    <a:cs typeface="Times New Roman" panose="02020603050405020304" pitchFamily="18" charset="0"/>
                  </a:rPr>
                  <a:t>有实数根</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38252675"/>
                  </p:ext>
                </p:extLst>
              </p:nvPr>
            </p:nvGraphicFramePr>
            <p:xfrm>
              <a:off x="1358389" y="3020714"/>
              <a:ext cx="11671959" cy="723429"/>
            </p:xfrm>
            <a:graphic>
              <a:graphicData uri="http://schemas.openxmlformats.org/presentationml/2006/ole">
                <mc:AlternateContent xmlns:mc="http://schemas.openxmlformats.org/markup-compatibility/2006">
                  <mc:Choice xmlns:v="urn:schemas-microsoft-com:vml" Requires="v">
                    <p:oleObj spid="_x0000_s2064" name="文档" r:id="rId4" imgW="3826872" imgH="237190" progId="Word.Document.12">
                      <p:embed/>
                    </p:oleObj>
                  </mc:Choice>
                  <mc:Fallback>
                    <p:oleObj name="文档" r:id="rId4" imgW="3826872" imgH="237190" progId="Word.Document.12">
                      <p:embed/>
                      <p:pic>
                        <p:nvPicPr>
                          <p:cNvPr id="0" name=""/>
                          <p:cNvPicPr/>
                          <p:nvPr/>
                        </p:nvPicPr>
                        <p:blipFill>
                          <a:blip r:embed="rId5"/>
                          <a:stretch>
                            <a:fillRect/>
                          </a:stretch>
                        </p:blipFill>
                        <p:spPr>
                          <a:xfrm>
                            <a:off x="1358389" y="3020714"/>
                            <a:ext cx="11671959" cy="723429"/>
                          </a:xfrm>
                          <a:prstGeom prst="rect">
                            <a:avLst/>
                          </a:prstGeom>
                        </p:spPr>
                      </p:pic>
                    </p:oleObj>
                  </mc:Fallback>
                </mc:AlternateContent>
              </a:graphicData>
            </a:graphic>
          </p:graphicFrame>
        </p:grpSp>
        <p:sp>
          <p:nvSpPr>
            <p:cNvPr id="8" name="矩形 7"/>
            <p:cNvSpPr>
              <a:spLocks noChangeAspect="1"/>
            </p:cNvSpPr>
            <p:nvPr/>
          </p:nvSpPr>
          <p:spPr>
            <a:xfrm>
              <a:off x="361950" y="3768556"/>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你能判断它们的真假吗</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你能写出它们的逆命题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并判断真假吗</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以上两个命题中</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zh-CN" altLang="zh-CN" dirty="0">
                  <a:solidFill>
                    <a:srgbClr val="000000"/>
                  </a:solidFill>
                  <a:latin typeface="+mn-lt"/>
                  <a:ea typeface="宋体" panose="02010600030101010101" pitchFamily="2" charset="-122"/>
                  <a:cs typeface="Times New Roman" panose="02020603050405020304" pitchFamily="18" charset="0"/>
                </a:rPr>
                <a:t>是</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zh-CN" altLang="zh-CN" dirty="0">
                  <a:solidFill>
                    <a:srgbClr val="000000"/>
                  </a:solidFill>
                  <a:latin typeface="+mn-lt"/>
                  <a:ea typeface="宋体" panose="02010600030101010101" pitchFamily="2" charset="-122"/>
                  <a:cs typeface="Times New Roman" panose="02020603050405020304" pitchFamily="18" charset="0"/>
                </a:rPr>
                <a:t>的什么条件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zh-CN" altLang="zh-CN" dirty="0">
                  <a:solidFill>
                    <a:srgbClr val="000000"/>
                  </a:solidFill>
                  <a:latin typeface="+mn-lt"/>
                  <a:ea typeface="宋体" panose="02010600030101010101" pitchFamily="2" charset="-122"/>
                  <a:cs typeface="Times New Roman" panose="02020603050405020304" pitchFamily="18" charset="0"/>
                </a:rPr>
                <a:t>是</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zh-CN" altLang="zh-CN" dirty="0">
                  <a:solidFill>
                    <a:srgbClr val="000000"/>
                  </a:solidFill>
                  <a:latin typeface="+mn-lt"/>
                  <a:ea typeface="宋体" panose="02010600030101010101" pitchFamily="2" charset="-122"/>
                  <a:cs typeface="Times New Roman" panose="02020603050405020304" pitchFamily="18" charset="0"/>
                </a:rPr>
                <a:t>的什么条件</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117946112"/>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79847"/>
            <a:ext cx="21384863" cy="4172296"/>
            <a:chOff x="361950" y="1079847"/>
            <a:chExt cx="21384863" cy="4172296"/>
          </a:xfrm>
        </p:grpSpPr>
        <p:sp>
          <p:nvSpPr>
            <p:cNvPr id="4" name="矩形 3"/>
            <p:cNvSpPr>
              <a:spLocks noChangeAspect="1"/>
            </p:cNvSpPr>
            <p:nvPr/>
          </p:nvSpPr>
          <p:spPr>
            <a:xfrm>
              <a:off x="361950" y="1079847"/>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提示</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宋体" panose="02010600030101010101" pitchFamily="2" charset="-122"/>
                </a:rPr>
                <a:t>①</a:t>
              </a:r>
              <a:r>
                <a:rPr lang="zh-CN" altLang="zh-CN" dirty="0">
                  <a:solidFill>
                    <a:srgbClr val="000000"/>
                  </a:solidFill>
                  <a:latin typeface="+mn-lt"/>
                  <a:ea typeface="楷体" panose="02010609060101010101" pitchFamily="49" charset="-122"/>
                  <a:cs typeface="Times New Roman" panose="02020603050405020304" pitchFamily="18" charset="0"/>
                </a:rPr>
                <a:t>真命题</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②</a:t>
              </a:r>
              <a:r>
                <a:rPr lang="zh-CN" altLang="zh-CN" dirty="0">
                  <a:solidFill>
                    <a:srgbClr val="000000"/>
                  </a:solidFill>
                  <a:latin typeface="+mn-lt"/>
                  <a:ea typeface="楷体" panose="02010609060101010101" pitchFamily="49" charset="-122"/>
                  <a:cs typeface="Times New Roman" panose="02020603050405020304" pitchFamily="18" charset="0"/>
                </a:rPr>
                <a:t>真命题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宋体" panose="02010600030101010101" pitchFamily="2" charset="-122"/>
                </a:rPr>
                <a:t>①</a:t>
              </a:r>
              <a:r>
                <a:rPr lang="zh-CN" altLang="zh-CN" dirty="0">
                  <a:solidFill>
                    <a:srgbClr val="000000"/>
                  </a:solidFill>
                  <a:latin typeface="+mn-lt"/>
                  <a:ea typeface="楷体" panose="02010609060101010101" pitchFamily="49" charset="-122"/>
                  <a:cs typeface="Times New Roman" panose="02020603050405020304" pitchFamily="18" charset="0"/>
                </a:rPr>
                <a:t>逆命题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若两个三角形的三边对应相等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则这两个三角形全等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是真命题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宋体" panose="02010600030101010101" pitchFamily="2" charset="-122"/>
                  <a:cs typeface="宋体" panose="02010600030101010101" pitchFamily="2" charset="-122"/>
                </a:rPr>
                <a:t>②</a:t>
              </a:r>
              <a:r>
                <a:rPr lang="zh-CN" altLang="zh-CN" dirty="0">
                  <a:solidFill>
                    <a:srgbClr val="000000"/>
                  </a:solidFill>
                  <a:latin typeface="+mn-lt"/>
                  <a:ea typeface="楷体" panose="02010609060101010101" pitchFamily="49" charset="-122"/>
                  <a:cs typeface="Times New Roman" panose="02020603050405020304" pitchFamily="18" charset="0"/>
                </a:rPr>
                <a:t>逆命题</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若关于</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楷体" panose="02010609060101010101" pitchFamily="49" charset="-122"/>
                  <a:cs typeface="Times New Roman" panose="02020603050405020304" pitchFamily="18" charset="0"/>
                </a:rPr>
                <a:t>的方程</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+x+m=</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m</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楷体" panose="02010609060101010101" pitchFamily="49" charset="-122"/>
                  <a:cs typeface="Times New Roman" panose="02020603050405020304" pitchFamily="18" charset="0"/>
                </a:rPr>
                <a:t>有实数根</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则</a:t>
              </a:r>
              <a:r>
                <a:rPr lang="en-US" altLang="zh-CN" dirty="0" smtClean="0">
                  <a:solidFill>
                    <a:srgbClr val="000000"/>
                  </a:solidFill>
                  <a:latin typeface="+mn-lt"/>
                  <a:ea typeface="楷体" panose="02010609060101010101" pitchFamily="49"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是真命题</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因为</a:t>
              </a:r>
              <a:r>
                <a:rPr lang="en-US" altLang="zh-CN" i="1" dirty="0" err="1">
                  <a:solidFill>
                    <a:srgbClr val="000000"/>
                  </a:solidFill>
                  <a:latin typeface="+mn-lt"/>
                  <a:ea typeface="宋体" panose="02010600030101010101" pitchFamily="2" charset="-122"/>
                  <a:cs typeface="Times New Roman" panose="02020603050405020304" pitchFamily="18" charset="0"/>
                </a:rPr>
                <a:t>p</a:t>
              </a:r>
              <a:r>
                <a:rPr lang="en-US" altLang="zh-CN" dirty="0" err="1">
                  <a:solidFill>
                    <a:srgbClr val="000000"/>
                  </a:solidFill>
                  <a:latin typeface="+mn-lt"/>
                  <a:ea typeface="NEU-BZ-S9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q</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且</a:t>
              </a:r>
              <a:r>
                <a:rPr lang="en-US" altLang="zh-CN" i="1" dirty="0" err="1">
                  <a:solidFill>
                    <a:srgbClr val="000000"/>
                  </a:solidFill>
                  <a:latin typeface="+mn-lt"/>
                  <a:ea typeface="宋体" panose="02010600030101010101" pitchFamily="2" charset="-122"/>
                  <a:cs typeface="Times New Roman" panose="02020603050405020304" pitchFamily="18" charset="0"/>
                </a:rPr>
                <a:t>q</a:t>
              </a:r>
              <a:r>
                <a:rPr lang="en-US" altLang="zh-CN" dirty="0" err="1">
                  <a:solidFill>
                    <a:srgbClr val="000000"/>
                  </a:solidFill>
                  <a:latin typeface="+mn-lt"/>
                  <a:ea typeface="NEU-BZ-S9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p</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所以</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zh-CN" altLang="zh-CN" dirty="0">
                  <a:solidFill>
                    <a:srgbClr val="000000"/>
                  </a:solidFill>
                  <a:latin typeface="+mn-lt"/>
                  <a:ea typeface="楷体" panose="02010609060101010101" pitchFamily="49" charset="-122"/>
                  <a:cs typeface="Times New Roman" panose="02020603050405020304" pitchFamily="18" charset="0"/>
                </a:rPr>
                <a:t>是</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zh-CN" altLang="zh-CN" dirty="0">
                  <a:solidFill>
                    <a:srgbClr val="000000"/>
                  </a:solidFill>
                  <a:latin typeface="+mn-lt"/>
                  <a:ea typeface="楷体" panose="02010609060101010101" pitchFamily="49" charset="-122"/>
                  <a:cs typeface="Times New Roman" panose="02020603050405020304" pitchFamily="18" charset="0"/>
                </a:rPr>
                <a:t>的充分条件也是必要条件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同理</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zh-CN" altLang="zh-CN" dirty="0">
                  <a:solidFill>
                    <a:srgbClr val="000000"/>
                  </a:solidFill>
                  <a:latin typeface="+mn-lt"/>
                  <a:ea typeface="楷体" panose="02010609060101010101" pitchFamily="49" charset="-122"/>
                  <a:cs typeface="Times New Roman" panose="02020603050405020304" pitchFamily="18" charset="0"/>
                </a:rPr>
                <a:t>是</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zh-CN" altLang="zh-CN" dirty="0">
                  <a:solidFill>
                    <a:srgbClr val="000000"/>
                  </a:solidFill>
                  <a:latin typeface="+mn-lt"/>
                  <a:ea typeface="楷体" panose="02010609060101010101" pitchFamily="49" charset="-122"/>
                  <a:cs typeface="Times New Roman" panose="02020603050405020304" pitchFamily="18" charset="0"/>
                </a:rPr>
                <a:t>的充分条件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也是必要条件</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2994090031"/>
                </p:ext>
              </p:extLst>
            </p:nvPr>
          </p:nvGraphicFramePr>
          <p:xfrm>
            <a:off x="10041755" y="2781963"/>
            <a:ext cx="11705058" cy="725836"/>
          </p:xfrm>
          <a:graphic>
            <a:graphicData uri="http://schemas.openxmlformats.org/presentationml/2006/ole">
              <mc:AlternateContent xmlns:mc="http://schemas.openxmlformats.org/markup-compatibility/2006">
                <mc:Choice xmlns:v="urn:schemas-microsoft-com:vml" Requires="v">
                  <p:oleObj spid="_x0000_s3088"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10041755" y="2781963"/>
                          <a:ext cx="11705058" cy="725836"/>
                        </a:xfrm>
                        <a:prstGeom prst="rect">
                          <a:avLst/>
                        </a:prstGeom>
                      </p:spPr>
                    </p:pic>
                  </p:oleObj>
                </mc:Fallback>
              </mc:AlternateContent>
            </a:graphicData>
          </a:graphic>
        </p:graphicFrame>
      </p:grpSp>
    </p:spTree>
    <p:extLst>
      <p:ext uri="{BB962C8B-B14F-4D97-AF65-F5344CB8AC3E}">
        <p14:creationId xmlns:p14="http://schemas.microsoft.com/office/powerpoint/2010/main" val="839525397"/>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43619" y="1220302"/>
            <a:ext cx="12004724" cy="3747977"/>
            <a:chOff x="-143619" y="1079847"/>
            <a:chExt cx="12004724" cy="3747977"/>
          </a:xfrm>
        </p:grpSpPr>
        <p:sp>
          <p:nvSpPr>
            <p:cNvPr id="3" name="矩形 2"/>
            <p:cNvSpPr>
              <a:spLocks noChangeAspect="1"/>
            </p:cNvSpPr>
            <p:nvPr/>
          </p:nvSpPr>
          <p:spPr>
            <a:xfrm>
              <a:off x="361950" y="1079847"/>
              <a:ext cx="2140330" cy="626710"/>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充要条件</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696156712"/>
                </p:ext>
              </p:extLst>
            </p:nvPr>
          </p:nvGraphicFramePr>
          <p:xfrm>
            <a:off x="-143619" y="1763111"/>
            <a:ext cx="12004724" cy="3064713"/>
          </p:xfrm>
          <a:graphic>
            <a:graphicData uri="http://schemas.openxmlformats.org/presentationml/2006/ole">
              <mc:AlternateContent xmlns:mc="http://schemas.openxmlformats.org/markup-compatibility/2006">
                <mc:Choice xmlns:v="urn:schemas-microsoft-com:vml" Requires="v">
                  <p:oleObj spid="_x0000_s4112" name="文档" r:id="rId4" imgW="3935975" imgH="1004824" progId="Word.Document.12">
                    <p:embed/>
                  </p:oleObj>
                </mc:Choice>
                <mc:Fallback>
                  <p:oleObj name="文档" r:id="rId4" imgW="3935975" imgH="1004824" progId="Word.Document.12">
                    <p:embed/>
                    <p:pic>
                      <p:nvPicPr>
                        <p:cNvPr id="0" name=""/>
                        <p:cNvPicPr/>
                        <p:nvPr/>
                      </p:nvPicPr>
                      <p:blipFill>
                        <a:blip r:embed="rId5"/>
                        <a:stretch>
                          <a:fillRect/>
                        </a:stretch>
                      </p:blipFill>
                      <p:spPr>
                        <a:xfrm>
                          <a:off x="-143619" y="1763111"/>
                          <a:ext cx="12004724" cy="3064713"/>
                        </a:xfrm>
                        <a:prstGeom prst="rect">
                          <a:avLst/>
                        </a:prstGeom>
                      </p:spPr>
                    </p:pic>
                  </p:oleObj>
                </mc:Fallback>
              </mc:AlternateContent>
            </a:graphicData>
          </a:graphic>
        </p:graphicFrame>
      </p:grpSp>
      <p:sp>
        <p:nvSpPr>
          <p:cNvPr id="6" name="矩形 5"/>
          <p:cNvSpPr/>
          <p:nvPr/>
        </p:nvSpPr>
        <p:spPr>
          <a:xfrm>
            <a:off x="4601540" y="2016815"/>
            <a:ext cx="398797"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295870" y="2016814"/>
            <a:ext cx="398797"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470185" y="2599956"/>
            <a:ext cx="398797" cy="347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165879" y="3177759"/>
            <a:ext cx="7771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497209" y="3181992"/>
            <a:ext cx="777145"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992459" y="3700033"/>
            <a:ext cx="160908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0370454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25872708"/>
              </p:ext>
            </p:extLst>
          </p:nvPr>
        </p:nvGraphicFramePr>
        <p:xfrm>
          <a:off x="425782" y="1079847"/>
          <a:ext cx="11671959" cy="991976"/>
        </p:xfrm>
        <a:graphic>
          <a:graphicData uri="http://schemas.openxmlformats.org/presentationml/2006/ole">
            <mc:AlternateContent xmlns:mc="http://schemas.openxmlformats.org/markup-compatibility/2006">
              <mc:Choice xmlns:v="urn:schemas-microsoft-com:vml" Requires="v">
                <p:oleObj spid="_x0000_s5150" name="文档" r:id="rId4" imgW="3826872" imgH="326316" progId="Word.Document.12">
                  <p:embed/>
                </p:oleObj>
              </mc:Choice>
              <mc:Fallback>
                <p:oleObj name="文档" r:id="rId4" imgW="3826872" imgH="326316" progId="Word.Document.12">
                  <p:embed/>
                  <p:pic>
                    <p:nvPicPr>
                      <p:cNvPr id="0" name=""/>
                      <p:cNvPicPr/>
                      <p:nvPr/>
                    </p:nvPicPr>
                    <p:blipFill>
                      <a:blip r:embed="rId5"/>
                      <a:stretch>
                        <a:fillRect/>
                      </a:stretch>
                    </p:blipFill>
                    <p:spPr>
                      <a:xfrm>
                        <a:off x="425782" y="1079847"/>
                        <a:ext cx="11671959" cy="991976"/>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91054994"/>
              </p:ext>
            </p:extLst>
          </p:nvPr>
        </p:nvGraphicFramePr>
        <p:xfrm>
          <a:off x="425782" y="2159967"/>
          <a:ext cx="11671959" cy="1982857"/>
        </p:xfrm>
        <a:graphic>
          <a:graphicData uri="http://schemas.openxmlformats.org/presentationml/2006/ole">
            <mc:AlternateContent xmlns:mc="http://schemas.openxmlformats.org/markup-compatibility/2006">
              <mc:Choice xmlns:v="urn:schemas-microsoft-com:vml" Requires="v">
                <p:oleObj spid="_x0000_s5151" name="文档" r:id="rId7" imgW="3826872" imgH="650117" progId="Word.Document.12">
                  <p:embed/>
                </p:oleObj>
              </mc:Choice>
              <mc:Fallback>
                <p:oleObj name="文档" r:id="rId7" imgW="3826872" imgH="650117" progId="Word.Document.12">
                  <p:embed/>
                  <p:pic>
                    <p:nvPicPr>
                      <p:cNvPr id="0" name=""/>
                      <p:cNvPicPr/>
                      <p:nvPr/>
                    </p:nvPicPr>
                    <p:blipFill>
                      <a:blip r:embed="rId8"/>
                      <a:stretch>
                        <a:fillRect/>
                      </a:stretch>
                    </p:blipFill>
                    <p:spPr>
                      <a:xfrm>
                        <a:off x="425782" y="2159967"/>
                        <a:ext cx="11671959" cy="1982857"/>
                      </a:xfrm>
                      <a:prstGeom prst="rect">
                        <a:avLst/>
                      </a:prstGeom>
                    </p:spPr>
                  </p:pic>
                </p:oleObj>
              </mc:Fallback>
            </mc:AlternateContent>
          </a:graphicData>
        </a:graphic>
      </p:graphicFrame>
      <p:sp>
        <p:nvSpPr>
          <p:cNvPr id="7" name="矩形 6"/>
          <p:cNvSpPr>
            <a:spLocks noChangeAspect="1"/>
          </p:cNvSpPr>
          <p:nvPr/>
        </p:nvSpPr>
        <p:spPr>
          <a:xfrm>
            <a:off x="397579" y="4259335"/>
            <a:ext cx="2071401"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充</a:t>
            </a:r>
            <a:r>
              <a:rPr lang="zh-CN" altLang="zh-CN" dirty="0" smtClean="0">
                <a:solidFill>
                  <a:srgbClr val="000000"/>
                </a:solidFill>
                <a:ea typeface="宋体" panose="02010600030101010101" pitchFamily="2" charset="-122"/>
                <a:cs typeface="Times New Roman" panose="02020603050405020304" pitchFamily="18" charset="0"/>
              </a:rPr>
              <a:t>要</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38075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55946"/>
            <a:ext cx="10807700" cy="432002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如果原命题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与其逆命题都为真命题</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的充要条件</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的充要条件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是唯一的</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的充要条件时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也可说成</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成立当且仅当</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成立</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2489844" y="342517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934681" y="4032175"/>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441557" y="4577300"/>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1077959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953135"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r>
              <a:rPr lang="zh-CN" altLang="zh-CN" dirty="0"/>
              <a:t>探究</a:t>
            </a:r>
            <a:r>
              <a:rPr lang="zh-CN" altLang="zh-CN" dirty="0" smtClean="0"/>
              <a:t>一</a:t>
            </a:r>
            <a:r>
              <a:rPr lang="en-US" altLang="zh-CN" dirty="0" smtClean="0"/>
              <a:t>  </a:t>
            </a:r>
            <a:r>
              <a:rPr lang="zh-CN" altLang="zh-CN" dirty="0" smtClean="0"/>
              <a:t>充分条件</a:t>
            </a:r>
            <a:r>
              <a:rPr lang="zh-CN" altLang="zh-CN" dirty="0"/>
              <a:t>、必要条件、充要条件的判断</a:t>
            </a:r>
          </a:p>
        </p:txBody>
      </p:sp>
      <p:grpSp>
        <p:nvGrpSpPr>
          <p:cNvPr id="6" name="组合 5"/>
          <p:cNvGrpSpPr/>
          <p:nvPr/>
        </p:nvGrpSpPr>
        <p:grpSpPr>
          <a:xfrm>
            <a:off x="361950" y="1367879"/>
            <a:ext cx="11775553" cy="4244883"/>
            <a:chOff x="361950" y="1367879"/>
            <a:chExt cx="11775553" cy="4244883"/>
          </a:xfrm>
        </p:grpSpPr>
        <p:sp>
          <p:nvSpPr>
            <p:cNvPr id="4" name="矩形 3"/>
            <p:cNvSpPr>
              <a:spLocks noChangeAspect="1"/>
            </p:cNvSpPr>
            <p:nvPr/>
          </p:nvSpPr>
          <p:spPr>
            <a:xfrm>
              <a:off x="361950" y="1367879"/>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cs typeface="Times New Roman" panose="02020603050405020304" pitchFamily="18" charset="0"/>
                </a:rPr>
                <a:t>【例</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在下列各题中</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判断</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zh-CN" altLang="zh-CN" dirty="0">
                  <a:solidFill>
                    <a:srgbClr val="000000"/>
                  </a:solidFill>
                  <a:latin typeface="+mn-lt"/>
                  <a:ea typeface="宋体" panose="02010600030101010101" pitchFamily="2" charset="-122"/>
                  <a:cs typeface="Times New Roman" panose="02020603050405020304" pitchFamily="18" charset="0"/>
                </a:rPr>
                <a:t>是</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zh-CN" altLang="zh-CN" dirty="0">
                  <a:solidFill>
                    <a:srgbClr val="000000"/>
                  </a:solidFill>
                  <a:latin typeface="+mn-lt"/>
                  <a:ea typeface="宋体" panose="02010600030101010101" pitchFamily="2" charset="-122"/>
                  <a:cs typeface="Times New Roman" panose="02020603050405020304" pitchFamily="18" charset="0"/>
                </a:rPr>
                <a:t>的什么条件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请用</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充分不必要条件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必要不充分条件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充要条件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既不充分也不必要条件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回答</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在</a:t>
              </a:r>
              <a:r>
                <a:rPr lang="en-US" altLang="zh-CN" dirty="0">
                  <a:solidFill>
                    <a:srgbClr val="000000"/>
                  </a:solidFill>
                  <a:latin typeface="+mn-lt"/>
                  <a:ea typeface="宋体" panose="02010600030101010101" pitchFamily="2" charset="-122"/>
                  <a:cs typeface="Cambria Math" panose="020405030504060302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ABC</a:t>
              </a:r>
              <a:r>
                <a:rPr lang="zh-CN" altLang="zh-CN" dirty="0">
                  <a:solidFill>
                    <a:srgbClr val="000000"/>
                  </a:solidFill>
                  <a:latin typeface="+mn-lt"/>
                  <a:ea typeface="宋体" panose="02010600030101010101" pitchFamily="2" charset="-122"/>
                  <a:cs typeface="Times New Roman" panose="02020603050405020304" pitchFamily="18" charset="0"/>
                </a:rPr>
                <a:t>中</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A&gt;</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q</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BC</a:t>
              </a:r>
              <a:r>
                <a:rPr lang="en-US" altLang="zh-CN" i="1" dirty="0">
                  <a:solidFill>
                    <a:srgbClr val="000000"/>
                  </a:solidFill>
                  <a:latin typeface="+mn-lt"/>
                  <a:ea typeface="宋体" panose="02010600030101010101" pitchFamily="2" charset="-122"/>
                  <a:cs typeface="Times New Roman" panose="02020603050405020304" pitchFamily="18" charset="0"/>
                </a:rPr>
                <a:t>&gt;AC</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对于实数</a:t>
              </a:r>
              <a:r>
                <a:rPr lang="en-US" altLang="zh-CN" i="1" dirty="0" err="1">
                  <a:solidFill>
                    <a:srgbClr val="000000"/>
                  </a:solidFill>
                  <a:latin typeface="+mn-lt"/>
                  <a:ea typeface="宋体" panose="02010600030101010101" pitchFamily="2" charset="-122"/>
                  <a:cs typeface="Times New Roman" panose="02020603050405020304" pitchFamily="18" charset="0"/>
                </a:rPr>
                <a:t>x</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y</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p</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且</a:t>
              </a:r>
              <a:r>
                <a:rPr lang="en-US" altLang="zh-CN" i="1" dirty="0">
                  <a:solidFill>
                    <a:srgbClr val="000000"/>
                  </a:solidFill>
                  <a:latin typeface="+mn-lt"/>
                  <a:ea typeface="宋体" panose="02010600030101010101" pitchFamily="2" charset="-122"/>
                  <a:cs typeface="Times New Roman" panose="02020603050405020304" pitchFamily="18" charset="0"/>
                </a:rPr>
                <a:t>y=</a:t>
              </a:r>
              <a:r>
                <a:rPr lang="en-US" altLang="zh-CN" dirty="0">
                  <a:solidFill>
                    <a:srgbClr val="000000"/>
                  </a:solidFill>
                  <a:latin typeface="+mn-lt"/>
                  <a:ea typeface="宋体" panose="02010600030101010101" pitchFamily="2" charset="-122"/>
                  <a:cs typeface="Times New Roman" panose="02020603050405020304" pitchFamily="18" charset="0"/>
                </a:rPr>
                <a:t>6,</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x+y=</a:t>
              </a:r>
              <a:r>
                <a:rPr lang="en-US" altLang="zh-CN" dirty="0">
                  <a:solidFill>
                    <a:srgbClr val="000000"/>
                  </a:solidFill>
                  <a:latin typeface="+mn-lt"/>
                  <a:ea typeface="宋体" panose="02010600030101010101" pitchFamily="2" charset="-122"/>
                  <a:cs typeface="Times New Roman" panose="02020603050405020304" pitchFamily="18" charset="0"/>
                </a:rPr>
                <a:t>8;</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p</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q</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676771420"/>
                </p:ext>
              </p:extLst>
            </p:nvPr>
          </p:nvGraphicFramePr>
          <p:xfrm>
            <a:off x="432445" y="4944114"/>
            <a:ext cx="11705058" cy="668648"/>
          </p:xfrm>
          <a:graphic>
            <a:graphicData uri="http://schemas.openxmlformats.org/presentationml/2006/ole">
              <mc:AlternateContent xmlns:mc="http://schemas.openxmlformats.org/markup-compatibility/2006">
                <mc:Choice xmlns:v="urn:schemas-microsoft-com:vml" Requires="v">
                  <p:oleObj spid="_x0000_s14345" name="文档" r:id="rId4" imgW="3837724" imgH="219229" progId="Word.Document.12">
                    <p:embed/>
                  </p:oleObj>
                </mc:Choice>
                <mc:Fallback>
                  <p:oleObj name="文档" r:id="rId4" imgW="3837724" imgH="219229" progId="Word.Document.12">
                    <p:embed/>
                    <p:pic>
                      <p:nvPicPr>
                        <p:cNvPr id="0" name=""/>
                        <p:cNvPicPr/>
                        <p:nvPr/>
                      </p:nvPicPr>
                      <p:blipFill>
                        <a:blip r:embed="rId5"/>
                        <a:stretch>
                          <a:fillRect/>
                        </a:stretch>
                      </p:blipFill>
                      <p:spPr>
                        <a:xfrm>
                          <a:off x="432445" y="4944114"/>
                          <a:ext cx="11705058" cy="668648"/>
                        </a:xfrm>
                        <a:prstGeom prst="rect">
                          <a:avLst/>
                        </a:prstGeom>
                      </p:spPr>
                    </p:pic>
                  </p:oleObj>
                </mc:Fallback>
              </mc:AlternateContent>
            </a:graphicData>
          </a:graphic>
        </p:graphicFrame>
      </p:grpSp>
      <p:sp>
        <p:nvSpPr>
          <p:cNvPr id="7" name="矩形 6"/>
          <p:cNvSpPr>
            <a:spLocks noChangeAspect="1"/>
          </p:cNvSpPr>
          <p:nvPr/>
        </p:nvSpPr>
        <p:spPr>
          <a:xfrm>
            <a:off x="361950" y="5613839"/>
            <a:ext cx="5750292"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分析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判断</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楷体" panose="02010609060101010101" pitchFamily="49" charset="-122"/>
                <a:cs typeface="Times New Roman" panose="02020603050405020304" pitchFamily="18" charset="0"/>
              </a:rPr>
              <a:t>是否成立</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893441500"/>
              </p:ext>
            </p:extLst>
          </p:nvPr>
        </p:nvGraphicFramePr>
        <p:xfrm>
          <a:off x="360437" y="616750"/>
          <a:ext cx="10640962" cy="5791689"/>
        </p:xfrm>
        <a:graphic>
          <a:graphicData uri="http://schemas.openxmlformats.org/presentationml/2006/ole">
            <mc:AlternateContent xmlns:mc="http://schemas.openxmlformats.org/markup-compatibility/2006">
              <mc:Choice xmlns:v="urn:schemas-microsoft-com:vml" Requires="v">
                <p:oleObj spid="_x0000_s15369" name="文档" r:id="rId4" imgW="3837724" imgH="2088806" progId="Word.Document.12">
                  <p:embed/>
                </p:oleObj>
              </mc:Choice>
              <mc:Fallback>
                <p:oleObj name="文档" r:id="rId4" imgW="3837724" imgH="2088806" progId="Word.Document.12">
                  <p:embed/>
                  <p:pic>
                    <p:nvPicPr>
                      <p:cNvPr id="0" name=""/>
                      <p:cNvPicPr/>
                      <p:nvPr/>
                    </p:nvPicPr>
                    <p:blipFill>
                      <a:blip r:embed="rId5"/>
                      <a:stretch>
                        <a:fillRect/>
                      </a:stretch>
                    </p:blipFill>
                    <p:spPr>
                      <a:xfrm>
                        <a:off x="360437" y="616750"/>
                        <a:ext cx="10640962" cy="5791689"/>
                      </a:xfrm>
                      <a:prstGeom prst="rect">
                        <a:avLst/>
                      </a:prstGeom>
                    </p:spPr>
                  </p:pic>
                </p:oleObj>
              </mc:Fallback>
            </mc:AlternateContent>
          </a:graphicData>
        </a:graphic>
      </p:graphicFrame>
    </p:spTree>
    <p:extLst>
      <p:ext uri="{BB962C8B-B14F-4D97-AF65-F5344CB8AC3E}">
        <p14:creationId xmlns:p14="http://schemas.microsoft.com/office/powerpoint/2010/main" val="43095755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27461"/>
            <a:ext cx="10807700" cy="4228850"/>
            <a:chOff x="361950" y="863823"/>
            <a:chExt cx="10807700" cy="4228850"/>
          </a:xfrm>
        </p:grpSpPr>
        <p:sp>
          <p:nvSpPr>
            <p:cNvPr id="2" name="矩形 1"/>
            <p:cNvSpPr>
              <a:spLocks noChangeAspect="1"/>
            </p:cNvSpPr>
            <p:nvPr/>
          </p:nvSpPr>
          <p:spPr>
            <a:xfrm>
              <a:off x="361950" y="863823"/>
              <a:ext cx="10807700" cy="4228850"/>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pPr>
              <a:r>
                <a:rPr lang="zh-CN" altLang="zh-CN" dirty="0" smtClean="0">
                  <a:solidFill>
                    <a:srgbClr val="000000"/>
                  </a:solidFill>
                  <a:ea typeface="仿宋" panose="02010609060101010101" pitchFamily="49" charset="-122"/>
                  <a:cs typeface="Times New Roman" panose="02020603050405020304" pitchFamily="18" charset="0"/>
                </a:rPr>
                <a:t>判断</a:t>
              </a:r>
              <a:r>
                <a:rPr lang="zh-CN" altLang="zh-CN" dirty="0">
                  <a:solidFill>
                    <a:srgbClr val="000000"/>
                  </a:solidFill>
                  <a:ea typeface="仿宋" panose="02010609060101010101" pitchFamily="49" charset="-122"/>
                  <a:cs typeface="Times New Roman" panose="02020603050405020304" pitchFamily="18" charset="0"/>
                </a:rPr>
                <a:t>充分条件、必要条件和充要条件的方法</a:t>
              </a:r>
              <a:r>
                <a:rPr lang="en-US" altLang="zh-CN" dirty="0">
                  <a:solidFill>
                    <a:srgbClr val="000000"/>
                  </a:solidFill>
                  <a:ea typeface="仿宋" panose="02010609060101010101" pitchFamily="49" charset="-122"/>
                </a:rPr>
                <a:t/>
              </a:r>
              <a:br>
                <a:rPr lang="en-US" altLang="zh-CN" dirty="0">
                  <a:solidFill>
                    <a:srgbClr val="000000"/>
                  </a:solidFill>
                  <a:ea typeface="仿宋" panose="02010609060101010101" pitchFamily="49" charset="-122"/>
                </a:rPr>
              </a:b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定义法</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a:t>
              </a:r>
              <a:r>
                <a:rPr lang="en-US" altLang="zh-CN" i="1" dirty="0" smtClean="0">
                  <a:solidFill>
                    <a:srgbClr val="000000"/>
                  </a:solidFill>
                  <a:ea typeface="宋体" panose="02010600030101010101" pitchFamily="2" charset="-122"/>
                  <a:cs typeface="Times New Roman" panose="02020603050405020304" pitchFamily="18" charset="0"/>
                </a:rPr>
                <a:t>q      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仿宋" panose="02010609060101010101" pitchFamily="49" charset="-122"/>
                  <a:cs typeface="Times New Roman" panose="02020603050405020304" pitchFamily="18" charset="0"/>
                </a:rPr>
                <a:t>的充分不必要条件</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但</a:t>
              </a:r>
              <a:r>
                <a:rPr lang="en-US" altLang="zh-CN" i="1" dirty="0" smtClean="0">
                  <a:solidFill>
                    <a:srgbClr val="000000"/>
                  </a:solidFill>
                  <a:ea typeface="宋体" panose="02010600030101010101" pitchFamily="2" charset="-122"/>
                  <a:cs typeface="Times New Roman" panose="02020603050405020304" pitchFamily="18" charset="0"/>
                </a:rPr>
                <a:t>p      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仿宋" panose="02010609060101010101" pitchFamily="49" charset="-122"/>
                  <a:cs typeface="Times New Roman" panose="02020603050405020304" pitchFamily="18" charset="0"/>
                </a:rPr>
                <a:t>的必要不充分条件</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仿宋" panose="02010609060101010101" pitchFamily="49" charset="-122"/>
                  <a:cs typeface="Times New Roman" panose="02020603050405020304" pitchFamily="18" charset="0"/>
                </a:rPr>
                <a:t>的充要条件</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仿宋" panose="02010609060101010101" pitchFamily="49" charset="-122"/>
                  <a:cs typeface="Times New Roman" panose="02020603050405020304" pitchFamily="18" charset="0"/>
                </a:rPr>
                <a:t/>
              </a:r>
              <a:br>
                <a:rPr lang="en-US" altLang="zh-CN" dirty="0">
                  <a:solidFill>
                    <a:srgbClr val="000000"/>
                  </a:solidFill>
                  <a:ea typeface="仿宋" panose="02010609060101010101" pitchFamily="49" charset="-122"/>
                  <a:cs typeface="Times New Roman" panose="02020603050405020304" pitchFamily="18" charset="0"/>
                </a:rPr>
              </a:br>
              <a:r>
                <a:rPr lang="zh-CN" altLang="zh-CN" dirty="0">
                  <a:solidFill>
                    <a:srgbClr val="000000"/>
                  </a:solidFill>
                  <a:latin typeface="NEU-BZ-S92"/>
                  <a:ea typeface="宋体" panose="02010600030101010101" pitchFamily="2" charset="-122"/>
                  <a:cs typeface="宋体" panose="02010600030101010101" pitchFamily="2" charset="-122"/>
                </a:rPr>
                <a:t>④</a:t>
              </a:r>
              <a:r>
                <a:rPr lang="zh-CN" altLang="zh-CN" dirty="0">
                  <a:solidFill>
                    <a:srgbClr val="000000"/>
                  </a:solidFill>
                  <a:ea typeface="仿宋" panose="02010609060101010101" pitchFamily="49" charset="-122"/>
                  <a:cs typeface="Times New Roman" panose="02020603050405020304" pitchFamily="18" charset="0"/>
                </a:rPr>
                <a:t>若</a:t>
              </a:r>
              <a:r>
                <a:rPr lang="en-US" altLang="zh-CN" i="1" dirty="0" smtClean="0">
                  <a:solidFill>
                    <a:srgbClr val="000000"/>
                  </a:solidFill>
                  <a:ea typeface="宋体" panose="02010600030101010101" pitchFamily="2" charset="-122"/>
                  <a:cs typeface="Times New Roman" panose="02020603050405020304" pitchFamily="18" charset="0"/>
                </a:rPr>
                <a:t>p      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q      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仿宋"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仿宋" panose="02010609060101010101" pitchFamily="49" charset="-122"/>
                  <a:cs typeface="Times New Roman" panose="02020603050405020304" pitchFamily="18" charset="0"/>
                </a:rPr>
                <a:t>的既不充分也不必要条件</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14" name="图片 13"/>
            <p:cNvPicPr/>
            <p:nvPr/>
          </p:nvPicPr>
          <p:blipFill>
            <a:blip r:embed="rId2"/>
            <a:stretch>
              <a:fillRect/>
            </a:stretch>
          </p:blipFill>
          <p:spPr>
            <a:xfrm>
              <a:off x="2808709" y="2808039"/>
              <a:ext cx="432048" cy="436243"/>
            </a:xfrm>
            <a:prstGeom prst="rect">
              <a:avLst/>
            </a:prstGeom>
            <a:ln>
              <a:solidFill>
                <a:schemeClr val="tx1"/>
              </a:solidFill>
            </a:ln>
          </p:spPr>
        </p:pic>
        <p:pic>
          <p:nvPicPr>
            <p:cNvPr id="15" name="图片 14"/>
            <p:cNvPicPr/>
            <p:nvPr/>
          </p:nvPicPr>
          <p:blipFill>
            <a:blip r:embed="rId2"/>
            <a:stretch>
              <a:fillRect/>
            </a:stretch>
          </p:blipFill>
          <p:spPr>
            <a:xfrm>
              <a:off x="2824771" y="3389740"/>
              <a:ext cx="432048" cy="436243"/>
            </a:xfrm>
            <a:prstGeom prst="rect">
              <a:avLst/>
            </a:prstGeom>
            <a:ln>
              <a:solidFill>
                <a:schemeClr val="tx1"/>
              </a:solidFill>
            </a:ln>
          </p:spPr>
        </p:pic>
        <p:pic>
          <p:nvPicPr>
            <p:cNvPr id="16" name="图片 15"/>
            <p:cNvPicPr/>
            <p:nvPr/>
          </p:nvPicPr>
          <p:blipFill>
            <a:blip r:embed="rId2"/>
            <a:stretch>
              <a:fillRect/>
            </a:stretch>
          </p:blipFill>
          <p:spPr>
            <a:xfrm>
              <a:off x="1584573" y="4536231"/>
              <a:ext cx="432048" cy="436243"/>
            </a:xfrm>
            <a:prstGeom prst="rect">
              <a:avLst/>
            </a:prstGeom>
            <a:ln>
              <a:solidFill>
                <a:schemeClr val="tx1"/>
              </a:solidFill>
            </a:ln>
          </p:spPr>
        </p:pic>
        <p:pic>
          <p:nvPicPr>
            <p:cNvPr id="17" name="图片 16"/>
            <p:cNvPicPr/>
            <p:nvPr/>
          </p:nvPicPr>
          <p:blipFill>
            <a:blip r:embed="rId2"/>
            <a:stretch>
              <a:fillRect/>
            </a:stretch>
          </p:blipFill>
          <p:spPr>
            <a:xfrm>
              <a:off x="3068403" y="4555936"/>
              <a:ext cx="432048" cy="436243"/>
            </a:xfrm>
            <a:prstGeom prst="rect">
              <a:avLst/>
            </a:prstGeom>
            <a:ln>
              <a:solidFill>
                <a:schemeClr val="tx1"/>
              </a:solidFill>
            </a:ln>
          </p:spPr>
        </p:pic>
      </p:grpSp>
    </p:spTree>
    <p:extLst>
      <p:ext uri="{BB962C8B-B14F-4D97-AF65-F5344CB8AC3E}">
        <p14:creationId xmlns:p14="http://schemas.microsoft.com/office/powerpoint/2010/main" val="377067966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81983"/>
            <a:ext cx="10807700" cy="683264"/>
          </a:xfrm>
          <a:prstGeom prst="rect">
            <a:avLst/>
          </a:prstGeom>
        </p:spPr>
        <p:txBody>
          <a:bodyPr>
            <a:spAutoFit/>
          </a:bodyPr>
          <a:lstStyle/>
          <a:p>
            <a:pPr>
              <a:lnSpc>
                <a:spcPct val="120000"/>
              </a:lnSpc>
            </a:pPr>
            <a:r>
              <a:rPr lang="en-US" altLang="zh-CN" dirty="0">
                <a:solidFill>
                  <a:srgbClr val="000000"/>
                </a:solidFill>
                <a:ea typeface="宋体" panose="02010600030101010101" pitchFamily="2" charset="-122"/>
              </a:rPr>
              <a:t>(2)</a:t>
            </a:r>
            <a:r>
              <a:rPr lang="zh-CN" altLang="zh-CN" dirty="0">
                <a:solidFill>
                  <a:srgbClr val="000000"/>
                </a:solidFill>
                <a:ea typeface="仿宋" panose="02010609060101010101" pitchFamily="49" charset="-122"/>
                <a:cs typeface="Times New Roman" panose="02020603050405020304" pitchFamily="18" charset="0"/>
              </a:rPr>
              <a:t>命题法</a:t>
            </a:r>
            <a:r>
              <a:rPr lang="en-US" altLang="zh-CN" dirty="0" smtClean="0">
                <a:solidFill>
                  <a:srgbClr val="000000"/>
                </a:solidFill>
                <a:ea typeface="宋体" panose="02010600030101010101" pitchFamily="2" charset="-122"/>
              </a:rPr>
              <a:t>:</a:t>
            </a:r>
            <a:endParaRPr lang="zh-CN" altLang="en-US" dirty="0"/>
          </a:p>
        </p:txBody>
      </p:sp>
      <p:graphicFrame>
        <p:nvGraphicFramePr>
          <p:cNvPr id="2" name="对象 1"/>
          <p:cNvGraphicFramePr>
            <a:graphicFrameLocks noChangeAspect="1"/>
          </p:cNvGraphicFramePr>
          <p:nvPr>
            <p:extLst>
              <p:ext uri="{D42A27DB-BD31-4B8C-83A1-F6EECF244321}">
                <p14:modId xmlns:p14="http://schemas.microsoft.com/office/powerpoint/2010/main" val="1604176232"/>
              </p:ext>
            </p:extLst>
          </p:nvPr>
        </p:nvGraphicFramePr>
        <p:xfrm>
          <a:off x="648469" y="1424133"/>
          <a:ext cx="10782967" cy="4985173"/>
        </p:xfrm>
        <a:graphic>
          <a:graphicData uri="http://schemas.openxmlformats.org/presentationml/2006/ole">
            <mc:AlternateContent xmlns:mc="http://schemas.openxmlformats.org/markup-compatibility/2006">
              <mc:Choice xmlns:v="urn:schemas-microsoft-com:vml" Requires="v">
                <p:oleObj spid="_x0000_s16393" name="文档" r:id="rId4" imgW="3535399" imgH="1634483" progId="Word.Document.12">
                  <p:embed/>
                </p:oleObj>
              </mc:Choice>
              <mc:Fallback>
                <p:oleObj name="文档" r:id="rId4" imgW="3535399" imgH="1634483" progId="Word.Document.12">
                  <p:embed/>
                  <p:pic>
                    <p:nvPicPr>
                      <p:cNvPr id="0" name=""/>
                      <p:cNvPicPr/>
                      <p:nvPr/>
                    </p:nvPicPr>
                    <p:blipFill>
                      <a:blip r:embed="rId5"/>
                      <a:stretch>
                        <a:fillRect/>
                      </a:stretch>
                    </p:blipFill>
                    <p:spPr>
                      <a:xfrm>
                        <a:off x="648469" y="1424133"/>
                        <a:ext cx="10782967" cy="4985173"/>
                      </a:xfrm>
                      <a:prstGeom prst="rect">
                        <a:avLst/>
                      </a:prstGeom>
                    </p:spPr>
                  </p:pic>
                </p:oleObj>
              </mc:Fallback>
            </mc:AlternateContent>
          </a:graphicData>
        </a:graphic>
      </p:graphicFrame>
    </p:spTree>
    <p:extLst>
      <p:ext uri="{BB962C8B-B14F-4D97-AF65-F5344CB8AC3E}">
        <p14:creationId xmlns:p14="http://schemas.microsoft.com/office/powerpoint/2010/main" val="24520147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5627" y="1079847"/>
            <a:ext cx="12004724" cy="4738858"/>
            <a:chOff x="-215627" y="1079847"/>
            <a:chExt cx="12004724" cy="4738858"/>
          </a:xfrm>
        </p:grpSpPr>
        <p:sp>
          <p:nvSpPr>
            <p:cNvPr id="2" name="矩形 1"/>
            <p:cNvSpPr>
              <a:spLocks noChangeAspect="1"/>
            </p:cNvSpPr>
            <p:nvPr/>
          </p:nvSpPr>
          <p:spPr>
            <a:xfrm>
              <a:off x="361950" y="1079847"/>
              <a:ext cx="2137124"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集合法</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980260627"/>
                </p:ext>
              </p:extLst>
            </p:nvPr>
          </p:nvGraphicFramePr>
          <p:xfrm>
            <a:off x="-215627" y="1763111"/>
            <a:ext cx="12004724" cy="4055594"/>
          </p:xfrm>
          <a:graphic>
            <a:graphicData uri="http://schemas.openxmlformats.org/presentationml/2006/ole">
              <mc:AlternateContent xmlns:mc="http://schemas.openxmlformats.org/markup-compatibility/2006">
                <mc:Choice xmlns:v="urn:schemas-microsoft-com:vml" Requires="v">
                  <p:oleObj spid="_x0000_s6160" name="文档" r:id="rId4" imgW="3935975" imgH="1329703" progId="Word.Document.12">
                    <p:embed/>
                  </p:oleObj>
                </mc:Choice>
                <mc:Fallback>
                  <p:oleObj name="文档" r:id="rId4" imgW="3935975" imgH="1329703" progId="Word.Document.12">
                    <p:embed/>
                    <p:pic>
                      <p:nvPicPr>
                        <p:cNvPr id="0" name=""/>
                        <p:cNvPicPr/>
                        <p:nvPr/>
                      </p:nvPicPr>
                      <p:blipFill>
                        <a:blip r:embed="rId5"/>
                        <a:stretch>
                          <a:fillRect/>
                        </a:stretch>
                      </p:blipFill>
                      <p:spPr>
                        <a:xfrm>
                          <a:off x="-215627" y="1763111"/>
                          <a:ext cx="12004724" cy="4055594"/>
                        </a:xfrm>
                        <a:prstGeom prst="rect">
                          <a:avLst/>
                        </a:prstGeom>
                      </p:spPr>
                    </p:pic>
                  </p:oleObj>
                </mc:Fallback>
              </mc:AlternateContent>
            </a:graphicData>
          </a:graphic>
        </p:graphicFrame>
      </p:grpSp>
    </p:spTree>
    <p:extLst>
      <p:ext uri="{BB962C8B-B14F-4D97-AF65-F5344CB8AC3E}">
        <p14:creationId xmlns:p14="http://schemas.microsoft.com/office/powerpoint/2010/main" val="88207529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充分不必要条件</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必要不充分条件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充要条件</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既不充分也不必要条件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则当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但当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楷体" panose="02010609060101010101" pitchFamily="49" charset="-122"/>
                <a:cs typeface="Times New Roman" panose="02020603050405020304" pitchFamily="18" charset="0"/>
              </a:rPr>
              <a:t>不一定成立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答案</a:t>
            </a:r>
            <a:r>
              <a:rPr lang="en-US" altLang="zh-CN" dirty="0" smtClean="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6150671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953135"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充要条件</a:t>
            </a:r>
            <a:r>
              <a:rPr lang="zh-CN" altLang="zh-CN" dirty="0"/>
              <a:t>的证明</a:t>
            </a:r>
          </a:p>
        </p:txBody>
      </p:sp>
      <p:sp>
        <p:nvSpPr>
          <p:cNvPr id="2" name="矩形 1"/>
          <p:cNvSpPr>
            <a:spLocks noChangeAspect="1"/>
          </p:cNvSpPr>
          <p:nvPr/>
        </p:nvSpPr>
        <p:spPr>
          <a:xfrm>
            <a:off x="361950" y="1727919"/>
            <a:ext cx="10807700" cy="3046988"/>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求证</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a+b+c</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是关于</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的方程</a:t>
            </a:r>
            <a:r>
              <a:rPr lang="en-US" altLang="zh-CN" i="1" dirty="0">
                <a:solidFill>
                  <a:srgbClr val="000000"/>
                </a:solidFill>
                <a:ea typeface="宋体" panose="02010600030101010101" pitchFamily="2" charset="-122"/>
              </a:rPr>
              <a:t>ax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+bx+c=</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有一个根为</a:t>
            </a: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的充要条件</a:t>
            </a:r>
            <a:r>
              <a:rPr lang="en-US" altLang="zh-CN" i="1" dirty="0">
                <a:solidFill>
                  <a:srgbClr val="000000"/>
                </a:solidFill>
                <a:ea typeface="宋体" panose="02010600030101010101" pitchFamily="2" charset="-122"/>
              </a:rPr>
              <a:t>.</a:t>
            </a:r>
            <a:endParaRPr lang="zh-CN" altLang="en-US" dirty="0"/>
          </a:p>
          <a:p>
            <a:pPr>
              <a:lnSpc>
                <a:spcPct val="120000"/>
              </a:lnSpc>
            </a:pPr>
            <a:r>
              <a:rPr lang="zh-CN" altLang="zh-CN" dirty="0" smtClean="0">
                <a:latin typeface="Arial" panose="020B0604020202020204" pitchFamily="34" charset="0"/>
                <a:cs typeface="Times New Roman" panose="02020603050405020304" pitchFamily="18" charset="0"/>
              </a:rPr>
              <a:t>分析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rPr>
              <a:t>p</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a+b+c=</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q</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关于</a:t>
            </a:r>
            <a:r>
              <a:rPr lang="en-US" altLang="zh-CN" i="1" dirty="0">
                <a:solidFill>
                  <a:srgbClr val="000000"/>
                </a:solidFill>
                <a:ea typeface="宋体" panose="02010600030101010101" pitchFamily="2" charset="-122"/>
              </a:rPr>
              <a:t>x</a:t>
            </a:r>
            <a:r>
              <a:rPr lang="zh-CN" altLang="zh-CN" dirty="0">
                <a:solidFill>
                  <a:srgbClr val="000000"/>
                </a:solidFill>
                <a:ea typeface="楷体" panose="02010609060101010101" pitchFamily="49" charset="-122"/>
                <a:cs typeface="Times New Roman" panose="02020603050405020304" pitchFamily="18" charset="0"/>
              </a:rPr>
              <a:t>的方程</a:t>
            </a:r>
            <a:r>
              <a:rPr lang="en-US" altLang="zh-CN" i="1" dirty="0">
                <a:solidFill>
                  <a:srgbClr val="000000"/>
                </a:solidFill>
                <a:ea typeface="宋体" panose="02010600030101010101" pitchFamily="2" charset="-122"/>
              </a:rPr>
              <a:t>ax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+bx+c=</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有一个根为</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要证明</a:t>
            </a:r>
            <a:r>
              <a:rPr lang="en-US" altLang="zh-CN" i="1" dirty="0">
                <a:solidFill>
                  <a:srgbClr val="000000"/>
                </a:solidFill>
                <a:ea typeface="宋体" panose="02010600030101010101" pitchFamily="2" charset="-122"/>
              </a:rPr>
              <a:t>p</a:t>
            </a:r>
            <a:r>
              <a:rPr lang="zh-CN" altLang="zh-CN" dirty="0">
                <a:solidFill>
                  <a:srgbClr val="000000"/>
                </a:solidFill>
                <a:ea typeface="楷体"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rPr>
              <a:t>q</a:t>
            </a:r>
            <a:r>
              <a:rPr lang="zh-CN" altLang="zh-CN" dirty="0">
                <a:solidFill>
                  <a:srgbClr val="000000"/>
                </a:solidFill>
                <a:ea typeface="楷体" panose="02010609060101010101" pitchFamily="49" charset="-122"/>
                <a:cs typeface="Times New Roman" panose="02020603050405020304" pitchFamily="18" charset="0"/>
              </a:rPr>
              <a:t>的充要条件</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只需分别证明充分性</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p</a:t>
            </a:r>
            <a:r>
              <a:rPr lang="en-US" altLang="zh-CN" dirty="0" err="1">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en-US" altLang="zh-CN" i="1" dirty="0" err="1">
                <a:solidFill>
                  <a:srgbClr val="000000"/>
                </a:solidFill>
                <a:ea typeface="宋体" panose="02010600030101010101" pitchFamily="2" charset="-122"/>
              </a:rPr>
              <a:t>q</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和必要性</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q</a:t>
            </a:r>
            <a:r>
              <a:rPr lang="en-US" altLang="zh-CN" dirty="0" err="1">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en-US" altLang="zh-CN" i="1" dirty="0" err="1">
                <a:solidFill>
                  <a:srgbClr val="000000"/>
                </a:solidFill>
                <a:ea typeface="宋体" panose="02010600030101010101" pitchFamily="2" charset="-122"/>
              </a:rPr>
              <a:t>p</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成立</a:t>
            </a:r>
            <a:r>
              <a:rPr lang="en-US" altLang="zh-CN" i="1" dirty="0" smtClean="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43401"/>
            <a:ext cx="10807700" cy="541071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证明</a:t>
            </a:r>
            <a:r>
              <a:rPr lang="en-US" altLang="zh-CN" dirty="0" smtClean="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充分性</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err="1">
                <a:solidFill>
                  <a:srgbClr val="000000"/>
                </a:solidFill>
                <a:latin typeface="+mn-lt"/>
                <a:ea typeface="宋体" panose="02010600030101010101" pitchFamily="2" charset="-122"/>
                <a:cs typeface="Times New Roman" panose="02020603050405020304" pitchFamily="18" charset="0"/>
              </a:rPr>
              <a:t>a+b+c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c=-a-b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代入方程</a:t>
            </a:r>
            <a:r>
              <a:rPr lang="en-US" altLang="zh-CN" i="1" dirty="0">
                <a:solidFill>
                  <a:srgbClr val="000000"/>
                </a:solidFill>
                <a:latin typeface="+mn-lt"/>
                <a:ea typeface="宋体" panose="02010600030101010101" pitchFamily="2" charset="-122"/>
                <a:cs typeface="Times New Roman" panose="02020603050405020304" pitchFamily="18" charset="0"/>
              </a:rPr>
              <a:t>ax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+bx+c=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可得</a:t>
            </a:r>
            <a:r>
              <a:rPr lang="en-US" altLang="zh-CN" i="1" dirty="0">
                <a:solidFill>
                  <a:srgbClr val="000000"/>
                </a:solidFill>
                <a:latin typeface="+mn-lt"/>
                <a:ea typeface="宋体" panose="02010600030101010101" pitchFamily="2" charset="-122"/>
                <a:cs typeface="Times New Roman" panose="02020603050405020304" pitchFamily="18" charset="0"/>
              </a:rPr>
              <a:t>ax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+bx-a-b=</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即</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err="1">
                <a:solidFill>
                  <a:srgbClr val="000000"/>
                </a:solidFill>
                <a:latin typeface="+mn-lt"/>
                <a:ea typeface="宋体" panose="02010600030101010101" pitchFamily="2" charset="-122"/>
                <a:cs typeface="Times New Roman" panose="02020603050405020304" pitchFamily="18" charset="0"/>
              </a:rPr>
              <a:t>ax+a+b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故关于</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楷体" panose="02010609060101010101" pitchFamily="49" charset="-122"/>
                <a:cs typeface="Times New Roman" panose="02020603050405020304" pitchFamily="18" charset="0"/>
              </a:rPr>
              <a:t>的方程</a:t>
            </a:r>
            <a:r>
              <a:rPr lang="en-US" altLang="zh-CN" i="1" dirty="0">
                <a:solidFill>
                  <a:srgbClr val="000000"/>
                </a:solidFill>
                <a:latin typeface="+mn-lt"/>
                <a:ea typeface="宋体" panose="02010600030101010101" pitchFamily="2" charset="-122"/>
                <a:cs typeface="Times New Roman" panose="02020603050405020304" pitchFamily="18" charset="0"/>
              </a:rPr>
              <a:t>ax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+bx+c=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有一个根为</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必要性</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关于</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zh-CN" altLang="zh-CN" dirty="0">
                <a:solidFill>
                  <a:srgbClr val="000000"/>
                </a:solidFill>
                <a:latin typeface="+mn-lt"/>
                <a:ea typeface="楷体" panose="02010609060101010101" pitchFamily="49" charset="-122"/>
                <a:cs typeface="Times New Roman" panose="02020603050405020304" pitchFamily="18" charset="0"/>
              </a:rPr>
              <a:t>的方程</a:t>
            </a:r>
            <a:r>
              <a:rPr lang="en-US" altLang="zh-CN" i="1" dirty="0">
                <a:solidFill>
                  <a:srgbClr val="000000"/>
                </a:solidFill>
                <a:latin typeface="+mn-lt"/>
                <a:ea typeface="宋体" panose="02010600030101010101" pitchFamily="2" charset="-122"/>
                <a:cs typeface="Times New Roman" panose="02020603050405020304" pitchFamily="18" charset="0"/>
              </a:rPr>
              <a:t>ax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+bx+c=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有一个根为</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i="1" dirty="0" smtClean="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满足方程</a:t>
            </a:r>
            <a:r>
              <a:rPr lang="en-US" altLang="zh-CN" i="1" dirty="0">
                <a:solidFill>
                  <a:srgbClr val="000000"/>
                </a:solidFill>
                <a:latin typeface="+mn-lt"/>
                <a:ea typeface="宋体" panose="02010600030101010101" pitchFamily="2" charset="-122"/>
                <a:cs typeface="Times New Roman" panose="02020603050405020304" pitchFamily="18" charset="0"/>
              </a:rPr>
              <a:t>ax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+bx+c=</a:t>
            </a:r>
            <a:r>
              <a:rPr lang="en-US" altLang="zh-CN" dirty="0">
                <a:solidFill>
                  <a:srgbClr val="000000"/>
                </a:solidFill>
                <a:latin typeface="+mn-lt"/>
                <a:ea typeface="宋体" panose="02010600030101010101" pitchFamily="2" charset="-122"/>
                <a:cs typeface="Times New Roman" panose="02020603050405020304" pitchFamily="18" charset="0"/>
              </a:rPr>
              <a:t>0,</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i="1" dirty="0" err="1">
                <a:solidFill>
                  <a:srgbClr val="000000"/>
                </a:solidFill>
                <a:latin typeface="+mn-lt"/>
                <a:ea typeface="宋体" panose="02010600030101010101" pitchFamily="2" charset="-122"/>
                <a:cs typeface="Times New Roman" panose="02020603050405020304" pitchFamily="18" charset="0"/>
              </a:rPr>
              <a:t>a+b+c</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pPr>
            <a:r>
              <a:rPr lang="zh-CN" altLang="zh-CN" dirty="0">
                <a:solidFill>
                  <a:srgbClr val="000000"/>
                </a:solidFill>
                <a:ea typeface="楷体" panose="02010609060101010101" pitchFamily="49" charset="-122"/>
                <a:cs typeface="Times New Roman" panose="02020603050405020304" pitchFamily="18" charset="0"/>
              </a:rPr>
              <a:t>综上可得</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a+b+c</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是方程</a:t>
            </a:r>
            <a:r>
              <a:rPr lang="en-US" altLang="zh-CN" i="1" dirty="0">
                <a:solidFill>
                  <a:srgbClr val="000000"/>
                </a:solidFill>
                <a:ea typeface="宋体" panose="02010600030101010101" pitchFamily="2" charset="-122"/>
              </a:rPr>
              <a:t>ax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+bx+c=</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有一个根为</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的充要条件</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218021739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89243"/>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有关</a:t>
            </a:r>
            <a:r>
              <a:rPr lang="zh-CN" altLang="zh-CN" dirty="0">
                <a:solidFill>
                  <a:srgbClr val="000000"/>
                </a:solidFill>
                <a:ea typeface="仿宋" panose="02010609060101010101" pitchFamily="49" charset="-122"/>
                <a:cs typeface="Times New Roman" panose="02020603050405020304" pitchFamily="18" charset="0"/>
              </a:rPr>
              <a:t>充要条件的证明问题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要分清哪个是条件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哪个是结论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条件</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结论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是证明命题的充分性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结论</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是证明命题的必要性</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证明要分两个环节</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一是证明充分性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二是证明必要性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1668147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56127"/>
            <a:ext cx="10807700" cy="123527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求证</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ac&lt;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是关于</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Times New Roman" panose="02020603050405020304" pitchFamily="18" charset="0"/>
              </a:rPr>
              <a:t>的一元二次方程</a:t>
            </a:r>
            <a:r>
              <a:rPr lang="en-US" altLang="zh-CN" i="1" dirty="0">
                <a:solidFill>
                  <a:srgbClr val="000000"/>
                </a:solidFill>
                <a:ea typeface="宋体" panose="02010600030101010101" pitchFamily="2" charset="-122"/>
              </a:rPr>
              <a:t>ax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+bx+c=</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有两异号实根的充要条件</a:t>
            </a:r>
            <a:r>
              <a:rPr lang="en-US" altLang="zh-CN" i="1" dirty="0" smtClean="0">
                <a:solidFill>
                  <a:srgbClr val="000000"/>
                </a:solidFill>
                <a:ea typeface="宋体" panose="02010600030101010101" pitchFamily="2" charset="-122"/>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0" name="组合 9"/>
          <p:cNvGrpSpPr/>
          <p:nvPr/>
        </p:nvGrpSpPr>
        <p:grpSpPr>
          <a:xfrm>
            <a:off x="361950" y="1697556"/>
            <a:ext cx="11729962" cy="4819781"/>
            <a:chOff x="361950" y="1697556"/>
            <a:chExt cx="11729962" cy="4819781"/>
          </a:xfrm>
        </p:grpSpPr>
        <p:sp>
          <p:nvSpPr>
            <p:cNvPr id="7" name="矩形 6"/>
            <p:cNvSpPr>
              <a:spLocks noChangeAspect="1"/>
            </p:cNvSpPr>
            <p:nvPr/>
          </p:nvSpPr>
          <p:spPr>
            <a:xfrm>
              <a:off x="361950" y="1697556"/>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证明</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必要性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因为方程</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有两异号实根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即一正根和一负根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Δ=b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ac&gt;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    &lt;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为方程的两根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ac&lt;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充分性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ac&lt;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可推得</a:t>
              </a:r>
              <a:r>
                <a:rPr lang="en-US" altLang="zh-CN" i="1" dirty="0">
                  <a:solidFill>
                    <a:srgbClr val="000000"/>
                  </a:solidFill>
                  <a:ea typeface="宋体" panose="02010600030101010101" pitchFamily="2" charset="-122"/>
                  <a:cs typeface="Times New Roman" panose="02020603050405020304" pitchFamily="18" charset="0"/>
                </a:rPr>
                <a:t>Δ=b</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ac&gt;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及</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   &lt;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为方程的两根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故方程</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有两个不相等的实根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且两根异号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即方程</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有两异号实根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综上可得</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ac&lt;</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是方程</a:t>
              </a:r>
              <a:r>
                <a:rPr lang="en-US" altLang="zh-CN" i="1" dirty="0">
                  <a:solidFill>
                    <a:srgbClr val="000000"/>
                  </a:solidFill>
                  <a:ea typeface="宋体" panose="02010600030101010101" pitchFamily="2" charset="-122"/>
                </a:rPr>
                <a:t>ax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+bx+c=</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有两异号实根的充要条件</a:t>
              </a:r>
              <a:r>
                <a:rPr lang="en-US" altLang="zh-CN" i="1" dirty="0">
                  <a:solidFill>
                    <a:srgbClr val="000000"/>
                  </a:solidFill>
                  <a:ea typeface="宋体" panose="02010600030101010101" pitchFamily="2" charset="-122"/>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616340220"/>
                </p:ext>
              </p:extLst>
            </p:nvPr>
          </p:nvGraphicFramePr>
          <p:xfrm>
            <a:off x="1381142" y="2271356"/>
            <a:ext cx="8769315" cy="653875"/>
          </p:xfrm>
          <a:graphic>
            <a:graphicData uri="http://schemas.openxmlformats.org/presentationml/2006/ole">
              <mc:AlternateContent xmlns:mc="http://schemas.openxmlformats.org/markup-compatibility/2006">
                <mc:Choice xmlns:v="urn:schemas-microsoft-com:vml" Requires="v">
                  <p:oleObj spid="_x0000_s7194" name="文档" r:id="rId4" imgW="3826872" imgH="285347" progId="Word.Document.12">
                    <p:embed/>
                  </p:oleObj>
                </mc:Choice>
                <mc:Fallback>
                  <p:oleObj name="文档" r:id="rId4" imgW="3826872" imgH="285347" progId="Word.Document.12">
                    <p:embed/>
                    <p:pic>
                      <p:nvPicPr>
                        <p:cNvPr id="0" name=""/>
                        <p:cNvPicPr/>
                        <p:nvPr/>
                      </p:nvPicPr>
                      <p:blipFill>
                        <a:blip r:embed="rId5"/>
                        <a:stretch>
                          <a:fillRect/>
                        </a:stretch>
                      </p:blipFill>
                      <p:spPr>
                        <a:xfrm>
                          <a:off x="1381142" y="2271356"/>
                          <a:ext cx="8769315" cy="6538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49797651"/>
                </p:ext>
              </p:extLst>
            </p:nvPr>
          </p:nvGraphicFramePr>
          <p:xfrm>
            <a:off x="3322597" y="3464653"/>
            <a:ext cx="8769315" cy="653875"/>
          </p:xfrm>
          <a:graphic>
            <a:graphicData uri="http://schemas.openxmlformats.org/presentationml/2006/ole">
              <mc:AlternateContent xmlns:mc="http://schemas.openxmlformats.org/markup-compatibility/2006">
                <mc:Choice xmlns:v="urn:schemas-microsoft-com:vml" Requires="v">
                  <p:oleObj spid="_x0000_s7195" name="文档" r:id="rId7" imgW="3826872" imgH="285347" progId="Word.Document.12">
                    <p:embed/>
                  </p:oleObj>
                </mc:Choice>
                <mc:Fallback>
                  <p:oleObj name="文档" r:id="rId7" imgW="3826872" imgH="285347" progId="Word.Document.12">
                    <p:embed/>
                    <p:pic>
                      <p:nvPicPr>
                        <p:cNvPr id="0" name=""/>
                        <p:cNvPicPr/>
                        <p:nvPr/>
                      </p:nvPicPr>
                      <p:blipFill>
                        <a:blip r:embed="rId8"/>
                        <a:stretch>
                          <a:fillRect/>
                        </a:stretch>
                      </p:blipFill>
                      <p:spPr>
                        <a:xfrm>
                          <a:off x="3322597" y="3464653"/>
                          <a:ext cx="8769315" cy="653875"/>
                        </a:xfrm>
                        <a:prstGeom prst="rect">
                          <a:avLst/>
                        </a:prstGeom>
                      </p:spPr>
                    </p:pic>
                  </p:oleObj>
                </mc:Fallback>
              </mc:AlternateContent>
            </a:graphicData>
          </a:graphic>
        </p:graphicFrame>
      </p:grpSp>
    </p:spTree>
    <p:extLst>
      <p:ext uri="{BB962C8B-B14F-4D97-AF65-F5344CB8AC3E}">
        <p14:creationId xmlns:p14="http://schemas.microsoft.com/office/powerpoint/2010/main" val="87915080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953135" y="719807"/>
            <a:ext cx="9488422"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探求</a:t>
            </a:r>
            <a:r>
              <a:rPr lang="zh-CN" altLang="zh-CN" dirty="0"/>
              <a:t>充要条件</a:t>
            </a:r>
          </a:p>
        </p:txBody>
      </p:sp>
      <p:grpSp>
        <p:nvGrpSpPr>
          <p:cNvPr id="7" name="组合 6"/>
          <p:cNvGrpSpPr/>
          <p:nvPr/>
        </p:nvGrpSpPr>
        <p:grpSpPr>
          <a:xfrm>
            <a:off x="361950" y="2288852"/>
            <a:ext cx="11504106" cy="1383283"/>
            <a:chOff x="361950" y="1295871"/>
            <a:chExt cx="11504106" cy="1383283"/>
          </a:xfrm>
        </p:grpSpPr>
        <p:sp>
          <p:nvSpPr>
            <p:cNvPr id="5" name="矩形 4"/>
            <p:cNvSpPr>
              <a:spLocks noChangeAspect="1"/>
            </p:cNvSpPr>
            <p:nvPr/>
          </p:nvSpPr>
          <p:spPr>
            <a:xfrm>
              <a:off x="361950" y="1404959"/>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en-US" dirty="0" smtClean="0">
                  <a:solidFill>
                    <a:srgbClr val="000000"/>
                  </a:solidFill>
                  <a:ea typeface="宋体" panose="02010600030101010101" pitchFamily="2" charset="-122"/>
                  <a:cs typeface="Times New Roman" panose="02020603050405020304" pitchFamily="18" charset="0"/>
                </a:rPr>
                <a:t>已知</a:t>
              </a:r>
              <a:r>
                <a:rPr lang="zh-CN" altLang="zh-CN" dirty="0" smtClean="0">
                  <a:solidFill>
                    <a:srgbClr val="000000"/>
                  </a:solidFill>
                  <a:ea typeface="宋体" panose="02010600030101010101" pitchFamily="2" charset="-122"/>
                  <a:cs typeface="Times New Roman" panose="02020603050405020304" pitchFamily="18" charset="0"/>
                </a:rPr>
                <a:t>非</a:t>
              </a:r>
              <a:r>
                <a:rPr lang="zh-CN" altLang="zh-CN" dirty="0">
                  <a:solidFill>
                    <a:srgbClr val="000000"/>
                  </a:solidFill>
                  <a:ea typeface="宋体" panose="02010600030101010101" pitchFamily="2" charset="-122"/>
                  <a:cs typeface="Times New Roman" panose="02020603050405020304" pitchFamily="18" charset="0"/>
                </a:rPr>
                <a:t>零实数</a:t>
              </a:r>
              <a:r>
                <a:rPr lang="en-US" altLang="zh-CN" i="1" dirty="0" err="1" smtClean="0">
                  <a:solidFill>
                    <a:srgbClr val="000000"/>
                  </a:solidFill>
                  <a:ea typeface="宋体" panose="02010600030101010101" pitchFamily="2" charset="-122"/>
                  <a:cs typeface="Times New Roman" panose="02020603050405020304" pitchFamily="18" charset="0"/>
                </a:rPr>
                <a:t>x</a:t>
              </a:r>
              <a:r>
                <a:rPr lang="en-US" altLang="zh-CN" dirty="0" err="1" smtClean="0">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y</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smtClean="0">
                  <a:solidFill>
                    <a:srgbClr val="000000"/>
                  </a:solidFill>
                  <a:ea typeface="宋体" panose="02010600030101010101" pitchFamily="2" charset="-122"/>
                  <a:cs typeface="Times New Roman" panose="02020603050405020304" pitchFamily="18" charset="0"/>
                </a:rPr>
                <a:t>x</a:t>
              </a:r>
              <a:r>
                <a:rPr lang="en-US" altLang="zh-CN" i="1" dirty="0" smtClean="0">
                  <a:solidFill>
                    <a:srgbClr val="000000"/>
                  </a:solidFill>
                  <a:ea typeface="宋体" panose="02010600030101010101" pitchFamily="2" charset="-122"/>
                  <a:cs typeface="Times New Roman" panose="02020603050405020304" pitchFamily="18" charset="0"/>
                </a:rPr>
                <a:t>&gt;y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试探求</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充要条件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并加以证明</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146288856"/>
                </p:ext>
              </p:extLst>
            </p:nvPr>
          </p:nvGraphicFramePr>
          <p:xfrm>
            <a:off x="3096741" y="1295871"/>
            <a:ext cx="8769315" cy="788932"/>
          </p:xfrm>
          <a:graphic>
            <a:graphicData uri="http://schemas.openxmlformats.org/presentationml/2006/ole">
              <mc:AlternateContent xmlns:mc="http://schemas.openxmlformats.org/markup-compatibility/2006">
                <mc:Choice xmlns:v="urn:schemas-microsoft-com:vml" Requires="v">
                  <p:oleObj spid="_x0000_s8205" name="文档" r:id="rId4" imgW="3826872" imgH="344285" progId="Word.Document.12">
                    <p:embed/>
                  </p:oleObj>
                </mc:Choice>
                <mc:Fallback>
                  <p:oleObj name="文档" r:id="rId4" imgW="3826872" imgH="344285" progId="Word.Document.12">
                    <p:embed/>
                    <p:pic>
                      <p:nvPicPr>
                        <p:cNvPr id="0" name=""/>
                        <p:cNvPicPr/>
                        <p:nvPr/>
                      </p:nvPicPr>
                      <p:blipFill>
                        <a:blip r:embed="rId5"/>
                        <a:stretch>
                          <a:fillRect/>
                        </a:stretch>
                      </p:blipFill>
                      <p:spPr>
                        <a:xfrm>
                          <a:off x="3096741" y="1295871"/>
                          <a:ext cx="8769315" cy="788932"/>
                        </a:xfrm>
                        <a:prstGeom prst="rect">
                          <a:avLst/>
                        </a:prstGeom>
                      </p:spPr>
                    </p:pic>
                  </p:oleObj>
                </mc:Fallback>
              </mc:AlternateContent>
            </a:graphicData>
          </a:graphic>
        </p:graphicFrame>
      </p:gr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37768974"/>
              </p:ext>
            </p:extLst>
          </p:nvPr>
        </p:nvGraphicFramePr>
        <p:xfrm>
          <a:off x="355600" y="817563"/>
          <a:ext cx="11660188" cy="5218112"/>
        </p:xfrm>
        <a:graphic>
          <a:graphicData uri="http://schemas.openxmlformats.org/presentationml/2006/ole">
            <mc:AlternateContent xmlns:mc="http://schemas.openxmlformats.org/markup-compatibility/2006">
              <mc:Choice xmlns:v="urn:schemas-microsoft-com:vml" Requires="v">
                <p:oleObj spid="_x0000_s9229" name="文档" r:id="rId4" imgW="3826872" imgH="1716395" progId="Word.Document.12">
                  <p:embed/>
                </p:oleObj>
              </mc:Choice>
              <mc:Fallback>
                <p:oleObj name="文档" r:id="rId4" imgW="3826872" imgH="1716395" progId="Word.Document.12">
                  <p:embed/>
                  <p:pic>
                    <p:nvPicPr>
                      <p:cNvPr id="0" name=""/>
                      <p:cNvPicPr/>
                      <p:nvPr/>
                    </p:nvPicPr>
                    <p:blipFill>
                      <a:blip r:embed="rId5"/>
                      <a:stretch>
                        <a:fillRect/>
                      </a:stretch>
                    </p:blipFill>
                    <p:spPr>
                      <a:xfrm>
                        <a:off x="355600" y="817563"/>
                        <a:ext cx="11660188" cy="5218112"/>
                      </a:xfrm>
                      <a:prstGeom prst="rect">
                        <a:avLst/>
                      </a:prstGeom>
                    </p:spPr>
                  </p:pic>
                </p:oleObj>
              </mc:Fallback>
            </mc:AlternateContent>
          </a:graphicData>
        </a:graphic>
      </p:graphicFrame>
    </p:spTree>
    <p:extLst>
      <p:ext uri="{BB962C8B-B14F-4D97-AF65-F5344CB8AC3E}">
        <p14:creationId xmlns:p14="http://schemas.microsoft.com/office/powerpoint/2010/main" val="9739586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延伸探究H.eps" descr="id:2147492067;FounderCES"/>
          <p:cNvPicPr/>
          <p:nvPr/>
        </p:nvPicPr>
        <p:blipFill>
          <a:blip r:embed="rId3"/>
          <a:stretch>
            <a:fillRect/>
          </a:stretch>
        </p:blipFill>
        <p:spPr>
          <a:xfrm>
            <a:off x="4104853" y="818127"/>
            <a:ext cx="2740119" cy="499725"/>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1030274979"/>
              </p:ext>
            </p:extLst>
          </p:nvPr>
        </p:nvGraphicFramePr>
        <p:xfrm>
          <a:off x="360437" y="1410391"/>
          <a:ext cx="11671959" cy="793583"/>
        </p:xfrm>
        <a:graphic>
          <a:graphicData uri="http://schemas.openxmlformats.org/presentationml/2006/ole">
            <mc:AlternateContent xmlns:mc="http://schemas.openxmlformats.org/markup-compatibility/2006">
              <mc:Choice xmlns:v="urn:schemas-microsoft-com:vml" Requires="v">
                <p:oleObj spid="_x0000_s10264" name="文档" r:id="rId5" imgW="3826872" imgH="260191" progId="Word.Document.12">
                  <p:embed/>
                </p:oleObj>
              </mc:Choice>
              <mc:Fallback>
                <p:oleObj name="文档" r:id="rId5" imgW="3826872" imgH="260191" progId="Word.Document.12">
                  <p:embed/>
                  <p:pic>
                    <p:nvPicPr>
                      <p:cNvPr id="0" name=""/>
                      <p:cNvPicPr/>
                      <p:nvPr/>
                    </p:nvPicPr>
                    <p:blipFill>
                      <a:blip r:embed="rId6"/>
                      <a:stretch>
                        <a:fillRect/>
                      </a:stretch>
                    </p:blipFill>
                    <p:spPr>
                      <a:xfrm>
                        <a:off x="360437" y="1410391"/>
                        <a:ext cx="11671959" cy="79358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073496722"/>
              </p:ext>
            </p:extLst>
          </p:nvPr>
        </p:nvGraphicFramePr>
        <p:xfrm>
          <a:off x="355600" y="2281238"/>
          <a:ext cx="11660188" cy="3506787"/>
        </p:xfrm>
        <a:graphic>
          <a:graphicData uri="http://schemas.openxmlformats.org/presentationml/2006/ole">
            <mc:AlternateContent xmlns:mc="http://schemas.openxmlformats.org/markup-compatibility/2006">
              <mc:Choice xmlns:v="urn:schemas-microsoft-com:vml" Requires="v">
                <p:oleObj spid="_x0000_s10265" name="文档" r:id="rId8" imgW="3826872" imgH="1155404" progId="Word.Document.12">
                  <p:embed/>
                </p:oleObj>
              </mc:Choice>
              <mc:Fallback>
                <p:oleObj name="文档" r:id="rId8" imgW="3826872" imgH="1155404" progId="Word.Document.12">
                  <p:embed/>
                  <p:pic>
                    <p:nvPicPr>
                      <p:cNvPr id="0" name=""/>
                      <p:cNvPicPr/>
                      <p:nvPr/>
                    </p:nvPicPr>
                    <p:blipFill>
                      <a:blip r:embed="rId9"/>
                      <a:stretch>
                        <a:fillRect/>
                      </a:stretch>
                    </p:blipFill>
                    <p:spPr>
                      <a:xfrm>
                        <a:off x="355600" y="2281238"/>
                        <a:ext cx="11660188" cy="3506787"/>
                      </a:xfrm>
                      <a:prstGeom prst="rect">
                        <a:avLst/>
                      </a:prstGeom>
                    </p:spPr>
                  </p:pic>
                </p:oleObj>
              </mc:Fallback>
            </mc:AlternateContent>
          </a:graphicData>
        </a:graphic>
      </p:graphicFrame>
    </p:spTree>
    <p:extLst>
      <p:ext uri="{BB962C8B-B14F-4D97-AF65-F5344CB8AC3E}">
        <p14:creationId xmlns:p14="http://schemas.microsoft.com/office/powerpoint/2010/main" val="14889355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96176"/>
            <a:ext cx="10807700" cy="3637919"/>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探求</a:t>
            </a:r>
            <a:r>
              <a:rPr lang="zh-CN" altLang="zh-CN" dirty="0">
                <a:solidFill>
                  <a:srgbClr val="000000"/>
                </a:solidFill>
                <a:ea typeface="仿宋" panose="02010609060101010101" pitchFamily="49" charset="-122"/>
                <a:cs typeface="Times New Roman" panose="02020603050405020304" pitchFamily="18" charset="0"/>
              </a:rPr>
              <a:t>充要条件的方法</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方法一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先由结论寻找使之成立的条件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再由条件来验证它成立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即保证必要性和充分性都成立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方法二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变换命题为其等价命题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使每一步都可逆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直接得到使结论成立的充要条件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2521863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29773"/>
            <a:ext cx="10807700" cy="2990434"/>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等价转化思想在充要条件中的应用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等价转化思想是把未知解的问题转化到已有知识范围内可解的问题的一种重要的思想方法</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通过不断地转化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将不熟悉、不规范、复杂的问题转化成熟悉、规范甚至模式化、简单的问题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719807"/>
            <a:ext cx="15480207" cy="1355890"/>
            <a:chOff x="361950" y="1418679"/>
            <a:chExt cx="15480207" cy="1355890"/>
          </a:xfrm>
        </p:grpSpPr>
        <p:sp>
          <p:nvSpPr>
            <p:cNvPr id="4" name="矩形 3"/>
            <p:cNvSpPr>
              <a:spLocks noChangeAspect="1"/>
            </p:cNvSpPr>
            <p:nvPr/>
          </p:nvSpPr>
          <p:spPr>
            <a:xfrm>
              <a:off x="361950" y="1556928"/>
              <a:ext cx="10807700" cy="121764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rPr>
                <a:t>p</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     </a:t>
              </a:r>
              <a:r>
                <a:rPr lang="en-US" altLang="zh-CN" dirty="0" smtClean="0">
                  <a:solidFill>
                    <a:srgbClr val="000000"/>
                  </a:solidFill>
                  <a:ea typeface="宋体" panose="02010600030101010101" pitchFamily="2" charset="-122"/>
                </a:rPr>
                <a:t>    </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q</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-m</a:t>
              </a:r>
              <a:r>
                <a:rPr lang="en-US" altLang="zh-CN" dirty="0">
                  <a:solidFill>
                    <a:srgbClr val="000000"/>
                  </a:solidFill>
                  <a:latin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rPr>
                <a:t>x</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+m</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m&gt;</a:t>
              </a:r>
              <a:r>
                <a:rPr lang="en-US" altLang="zh-CN" dirty="0">
                  <a:solidFill>
                    <a:srgbClr val="000000"/>
                  </a:solidFill>
                  <a:ea typeface="宋体" panose="02010600030101010101" pitchFamily="2" charset="-122"/>
                </a:rPr>
                <a:t>0),</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rPr>
                <a:t>q</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rPr>
                <a:t>p</a:t>
              </a:r>
              <a:r>
                <a:rPr lang="zh-CN" altLang="zh-CN" dirty="0">
                  <a:solidFill>
                    <a:srgbClr val="000000"/>
                  </a:solidFill>
                  <a:ea typeface="宋体" panose="02010600030101010101" pitchFamily="2" charset="-122"/>
                  <a:cs typeface="Times New Roman" panose="02020603050405020304" pitchFamily="18" charset="0"/>
                </a:rPr>
                <a:t>的必要不充分条件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rPr>
                <a:t>m</a:t>
              </a:r>
              <a:r>
                <a:rPr lang="zh-CN" altLang="zh-CN" dirty="0">
                  <a:solidFill>
                    <a:srgbClr val="000000"/>
                  </a:solidFill>
                  <a:ea typeface="宋体" panose="02010600030101010101" pitchFamily="2" charset="-122"/>
                  <a:cs typeface="Times New Roman" panose="02020603050405020304" pitchFamily="18" charset="0"/>
                </a:rPr>
                <a:t>的取值范围为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rPr>
                <a:t>.</a:t>
              </a:r>
              <a:r>
                <a:rPr lang="en-US" altLang="zh-CN" i="1" dirty="0">
                  <a:solidFill>
                    <a:srgbClr val="000000"/>
                  </a:solidFill>
                  <a:latin typeface="宋体" panose="02010600030101010101" pitchFamily="2" charset="-122"/>
                  <a:cs typeface="Times New Roman" panose="02020603050405020304" pitchFamily="18" charset="0"/>
                </a:rPr>
                <a:t> </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99847096"/>
                </p:ext>
              </p:extLst>
            </p:nvPr>
          </p:nvGraphicFramePr>
          <p:xfrm>
            <a:off x="4170198" y="1418679"/>
            <a:ext cx="11671959" cy="811120"/>
          </p:xfrm>
          <a:graphic>
            <a:graphicData uri="http://schemas.openxmlformats.org/presentationml/2006/ole">
              <mc:AlternateContent xmlns:mc="http://schemas.openxmlformats.org/markup-compatibility/2006">
                <mc:Choice xmlns:v="urn:schemas-microsoft-com:vml" Requires="v">
                  <p:oleObj spid="_x0000_s11286" name="文档" r:id="rId4" imgW="3826872" imgH="265941" progId="Word.Document.12">
                    <p:embed/>
                  </p:oleObj>
                </mc:Choice>
                <mc:Fallback>
                  <p:oleObj name="文档" r:id="rId4" imgW="3826872" imgH="265941" progId="Word.Document.12">
                    <p:embed/>
                    <p:pic>
                      <p:nvPicPr>
                        <p:cNvPr id="0" name=""/>
                        <p:cNvPicPr/>
                        <p:nvPr/>
                      </p:nvPicPr>
                      <p:blipFill>
                        <a:blip r:embed="rId5"/>
                        <a:stretch>
                          <a:fillRect/>
                        </a:stretch>
                      </p:blipFill>
                      <p:spPr>
                        <a:xfrm>
                          <a:off x="4170198" y="1418679"/>
                          <a:ext cx="11671959" cy="811120"/>
                        </a:xfrm>
                        <a:prstGeom prst="rect">
                          <a:avLst/>
                        </a:prstGeom>
                      </p:spPr>
                    </p:pic>
                  </p:oleObj>
                </mc:Fallback>
              </mc:AlternateContent>
            </a:graphicData>
          </a:graphic>
        </p:graphicFrame>
      </p:grpSp>
      <p:sp>
        <p:nvSpPr>
          <p:cNvPr id="7" name="矩形 6"/>
          <p:cNvSpPr>
            <a:spLocks noChangeAspect="1"/>
          </p:cNvSpPr>
          <p:nvPr/>
        </p:nvSpPr>
        <p:spPr>
          <a:xfrm>
            <a:off x="361950" y="2084294"/>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审题视角</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对题目中的条件进行化简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等价转化</a:t>
            </a:r>
            <a:r>
              <a:rPr lang="zh-CN" altLang="zh-CN" dirty="0" smtClean="0">
                <a:solidFill>
                  <a:srgbClr val="000000"/>
                </a:solidFill>
                <a:ea typeface="宋体" panose="02010600030101010101" pitchFamily="2" charset="-122"/>
                <a:cs typeface="Times New Roman" panose="02020603050405020304" pitchFamily="18" charset="0"/>
              </a:rPr>
              <a:t>为</a:t>
            </a:r>
            <a:r>
              <a:rPr lang="zh-CN" altLang="en-US" dirty="0" smtClean="0">
                <a:solidFill>
                  <a:srgbClr val="000000"/>
                </a:solidFill>
                <a:ea typeface="宋体" panose="02010600030101010101" pitchFamily="2" charset="-122"/>
                <a:cs typeface="Times New Roman" panose="02020603050405020304" pitchFamily="18" charset="0"/>
              </a:rPr>
              <a:t>求</a:t>
            </a:r>
            <a:r>
              <a:rPr lang="zh-CN" altLang="zh-CN" dirty="0" smtClean="0">
                <a:solidFill>
                  <a:srgbClr val="000000"/>
                </a:solidFill>
                <a:ea typeface="宋体" panose="02010600030101010101" pitchFamily="2" charset="-122"/>
                <a:cs typeface="Times New Roman" panose="02020603050405020304" pitchFamily="18" charset="0"/>
              </a:rPr>
              <a:t>不等式</a:t>
            </a:r>
            <a:r>
              <a:rPr lang="zh-CN" altLang="zh-CN" dirty="0">
                <a:solidFill>
                  <a:srgbClr val="000000"/>
                </a:solidFill>
                <a:ea typeface="宋体" panose="02010600030101010101" pitchFamily="2" charset="-122"/>
                <a:cs typeface="Times New Roman" panose="02020603050405020304" pitchFamily="18" charset="0"/>
              </a:rPr>
              <a:t>的解集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再将充分条件、必要条件和集合间的关系进行等价转化</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1" name="组合 10"/>
          <p:cNvGrpSpPr/>
          <p:nvPr/>
        </p:nvGrpSpPr>
        <p:grpSpPr>
          <a:xfrm>
            <a:off x="361950" y="3916608"/>
            <a:ext cx="12894582" cy="2399503"/>
            <a:chOff x="361950" y="3422712"/>
            <a:chExt cx="12894582" cy="2399503"/>
          </a:xfrm>
        </p:grpSpPr>
        <p:sp>
          <p:nvSpPr>
            <p:cNvPr id="9" name="矩形 8"/>
            <p:cNvSpPr>
              <a:spLocks noChangeAspect="1"/>
            </p:cNvSpPr>
            <p:nvPr/>
          </p:nvSpPr>
          <p:spPr>
            <a:xfrm>
              <a:off x="361950" y="3422712"/>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的必要不充分条件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的充分不必要条件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对应的集合为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36307241"/>
                </p:ext>
              </p:extLst>
            </p:nvPr>
          </p:nvGraphicFramePr>
          <p:xfrm>
            <a:off x="1584573" y="4454063"/>
            <a:ext cx="11671959" cy="811120"/>
          </p:xfrm>
          <a:graphic>
            <a:graphicData uri="http://schemas.openxmlformats.org/presentationml/2006/ole">
              <mc:AlternateContent xmlns:mc="http://schemas.openxmlformats.org/markup-compatibility/2006">
                <mc:Choice xmlns:v="urn:schemas-microsoft-com:vml" Requires="v">
                  <p:oleObj spid="_x0000_s11287" name="文档" r:id="rId7" imgW="3826872" imgH="265941" progId="Word.Document.12">
                    <p:embed/>
                  </p:oleObj>
                </mc:Choice>
                <mc:Fallback>
                  <p:oleObj name="文档" r:id="rId7" imgW="3826872" imgH="265941" progId="Word.Document.12">
                    <p:embed/>
                    <p:pic>
                      <p:nvPicPr>
                        <p:cNvPr id="0" name=""/>
                        <p:cNvPicPr/>
                        <p:nvPr/>
                      </p:nvPicPr>
                      <p:blipFill>
                        <a:blip r:embed="rId8"/>
                        <a:stretch>
                          <a:fillRect/>
                        </a:stretch>
                      </p:blipFill>
                      <p:spPr>
                        <a:xfrm>
                          <a:off x="1584573" y="4454063"/>
                          <a:ext cx="11671959" cy="811120"/>
                        </a:xfrm>
                        <a:prstGeom prst="rect">
                          <a:avLst/>
                        </a:prstGeom>
                      </p:spPr>
                    </p:pic>
                  </p:oleObj>
                </mc:Fallback>
              </mc:AlternateContent>
            </a:graphicData>
          </a:graphic>
        </p:graphicFrame>
      </p:grpSp>
    </p:spTree>
    <p:extLst>
      <p:ext uri="{BB962C8B-B14F-4D97-AF65-F5344CB8AC3E}">
        <p14:creationId xmlns:p14="http://schemas.microsoft.com/office/powerpoint/2010/main" val="343110691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a:spLocks noChangeAspect="1"/>
          </p:cNvSpPr>
          <p:nvPr/>
        </p:nvSpPr>
        <p:spPr>
          <a:xfrm>
            <a:off x="361950" y="5374967"/>
            <a:ext cx="2916183"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m|m</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0" name="矩形 9"/>
          <p:cNvSpPr>
            <a:spLocks noChangeAspect="1"/>
          </p:cNvSpPr>
          <p:nvPr/>
        </p:nvSpPr>
        <p:spPr>
          <a:xfrm>
            <a:off x="361950" y="815503"/>
            <a:ext cx="10807700" cy="2417137"/>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对应的集合为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m&gt;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的充分不必要条件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知</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latin typeface="Cambria Math" panose="02040503050406030204" pitchFamily="18" charset="0"/>
                <a:ea typeface="NEU-BZ-S92" panose="02020503000000020003" pitchFamily="18"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917496097"/>
              </p:ext>
            </p:extLst>
          </p:nvPr>
        </p:nvGraphicFramePr>
        <p:xfrm>
          <a:off x="432445" y="3232640"/>
          <a:ext cx="11671959" cy="1481937"/>
        </p:xfrm>
        <a:graphic>
          <a:graphicData uri="http://schemas.openxmlformats.org/presentationml/2006/ole">
            <mc:AlternateContent xmlns:mc="http://schemas.openxmlformats.org/markup-compatibility/2006">
              <mc:Choice xmlns:v="urn:schemas-microsoft-com:vml" Requires="v">
                <p:oleObj spid="_x0000_s12299" name="文档" r:id="rId4" imgW="3826872" imgH="485881" progId="Word.Document.12">
                  <p:embed/>
                </p:oleObj>
              </mc:Choice>
              <mc:Fallback>
                <p:oleObj name="文档" r:id="rId4" imgW="3826872" imgH="485881" progId="Word.Document.12">
                  <p:embed/>
                  <p:pic>
                    <p:nvPicPr>
                      <p:cNvPr id="0" name=""/>
                      <p:cNvPicPr/>
                      <p:nvPr/>
                    </p:nvPicPr>
                    <p:blipFill>
                      <a:blip r:embed="rId5"/>
                      <a:stretch>
                        <a:fillRect/>
                      </a:stretch>
                    </p:blipFill>
                    <p:spPr>
                      <a:xfrm>
                        <a:off x="432445" y="3232640"/>
                        <a:ext cx="11671959" cy="1481937"/>
                      </a:xfrm>
                      <a:prstGeom prst="rect">
                        <a:avLst/>
                      </a:prstGeom>
                    </p:spPr>
                  </p:pic>
                </p:oleObj>
              </mc:Fallback>
            </mc:AlternateContent>
          </a:graphicData>
        </a:graphic>
      </p:graphicFrame>
      <p:sp>
        <p:nvSpPr>
          <p:cNvPr id="14" name="矩形 13"/>
          <p:cNvSpPr>
            <a:spLocks noChangeAspect="1"/>
          </p:cNvSpPr>
          <p:nvPr/>
        </p:nvSpPr>
        <p:spPr>
          <a:xfrm>
            <a:off x="361950" y="4739516"/>
            <a:ext cx="10807700" cy="64434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故实数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的取值范围为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m|m</a:t>
            </a:r>
            <a:r>
              <a:rPr lang="en-US" altLang="zh-CN"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84403989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583903"/>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方法点睛</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本题中既有对题目条件的化简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又有充分条件、必要条件和集合间关系的转化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将不熟悉的充分条件、必要条件转化为熟悉的集合间的关系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注意逻辑推理和数学运算素养的提升</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1174567573"/>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42898"/>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已知命题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假设其逆命题为真命题</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的</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充分条件</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必要条件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充要条件</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既不充分也不必要条件</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原命题的逆命题为</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若</a:t>
            </a:r>
            <a:r>
              <a:rPr lang="en-US" altLang="zh-CN" i="1" dirty="0">
                <a:solidFill>
                  <a:srgbClr val="000000"/>
                </a:solidFill>
                <a:ea typeface="宋体" panose="02010600030101010101" pitchFamily="2" charset="-122"/>
              </a:rPr>
              <a:t>q</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rPr>
              <a:t>p</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是真命题</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err="1">
                <a:solidFill>
                  <a:srgbClr val="000000"/>
                </a:solidFill>
                <a:ea typeface="宋体" panose="02010600030101010101" pitchFamily="2" charset="-122"/>
              </a:rPr>
              <a:t>q</a:t>
            </a:r>
            <a:r>
              <a:rPr lang="en-US" altLang="zh-CN" dirty="0" err="1">
                <a:solidFill>
                  <a:srgbClr val="000000"/>
                </a:solidFill>
                <a:latin typeface="Cambria Math" panose="02040503050406030204" pitchFamily="18" charset="0"/>
                <a:ea typeface="NEU-BZ-S92"/>
                <a:cs typeface="Times New Roman" panose="02020603050405020304" pitchFamily="18" charset="0"/>
              </a:rPr>
              <a:t>⇒</a:t>
            </a:r>
            <a:r>
              <a:rPr lang="en-US" altLang="zh-CN" i="1" dirty="0" err="1">
                <a:solidFill>
                  <a:srgbClr val="000000"/>
                </a:solidFill>
                <a:ea typeface="宋体" panose="02010600030101010101" pitchFamily="2" charset="-122"/>
              </a:rPr>
              <a:t>p</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rPr>
              <a:t>p</a:t>
            </a:r>
            <a:r>
              <a:rPr lang="zh-CN" altLang="zh-CN" dirty="0">
                <a:solidFill>
                  <a:srgbClr val="000000"/>
                </a:solidFill>
                <a:ea typeface="楷体"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rPr>
              <a:t>q</a:t>
            </a:r>
            <a:r>
              <a:rPr lang="zh-CN" altLang="zh-CN" dirty="0">
                <a:solidFill>
                  <a:srgbClr val="000000"/>
                </a:solidFill>
                <a:ea typeface="楷体" panose="02010609060101010101" pitchFamily="49" charset="-122"/>
                <a:cs typeface="Times New Roman" panose="02020603050405020304" pitchFamily="18" charset="0"/>
              </a:rPr>
              <a:t>的必要条件</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mx+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的图象关于直线</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对称的充要条件</a:t>
            </a:r>
            <a:r>
              <a:rPr lang="zh-CN" altLang="zh-CN" dirty="0" smtClean="0">
                <a:solidFill>
                  <a:srgbClr val="000000"/>
                </a:solidFill>
                <a:ea typeface="宋体" panose="02010600030101010101" pitchFamily="2" charset="-122"/>
                <a:cs typeface="Times New Roman" panose="02020603050405020304" pitchFamily="18" charset="0"/>
              </a:rPr>
              <a:t>是</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	</a:t>
            </a: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	</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err="1" smtClean="0">
                <a:solidFill>
                  <a:srgbClr val="000000"/>
                </a:solidFill>
                <a:ea typeface="宋体" panose="02010600030101010101" pitchFamily="2" charset="-122"/>
                <a:cs typeface="Times New Roman" panose="02020603050405020304" pitchFamily="18" charset="0"/>
              </a:rPr>
              <a:t>C.</a:t>
            </a:r>
            <a:r>
              <a:rPr lang="en-US" altLang="zh-CN" i="1" dirty="0" err="1" smtClean="0">
                <a:solidFill>
                  <a:srgbClr val="000000"/>
                </a:solidFill>
                <a:ea typeface="宋体" panose="02010600030101010101" pitchFamily="2" charset="-122"/>
                <a:cs typeface="Times New Roman" panose="02020603050405020304" pitchFamily="18" charset="0"/>
              </a:rPr>
              <a:t>m</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err="1">
                <a:solidFill>
                  <a:srgbClr val="000000"/>
                </a:solidFill>
                <a:ea typeface="宋体" panose="02010600030101010101" pitchFamily="2" charset="-122"/>
                <a:cs typeface="Times New Roman" panose="02020603050405020304" pitchFamily="18" charset="0"/>
              </a:rPr>
              <a:t>D.</a:t>
            </a:r>
            <a:r>
              <a:rPr lang="en-US" altLang="zh-CN" i="1" dirty="0" err="1">
                <a:solidFill>
                  <a:srgbClr val="000000"/>
                </a:solidFill>
                <a:ea typeface="宋体" panose="02010600030101010101" pitchFamily="2" charset="-122"/>
                <a:cs typeface="Times New Roman" panose="02020603050405020304" pitchFamily="18" charset="0"/>
              </a:rPr>
              <a:t>m</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mx+</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得其图象的对称轴</a:t>
            </a:r>
            <a:r>
              <a:rPr lang="zh-CN" altLang="zh-CN" dirty="0" smtClean="0">
                <a:solidFill>
                  <a:srgbClr val="000000"/>
                </a:solidFill>
                <a:ea typeface="楷体" panose="02010609060101010101" pitchFamily="49" charset="-122"/>
                <a:cs typeface="Times New Roman" panose="02020603050405020304" pitchFamily="18" charset="0"/>
              </a:rPr>
              <a:t>为</a:t>
            </a:r>
            <a:r>
              <a:rPr lang="zh-CN" altLang="en-US" dirty="0" smtClean="0">
                <a:solidFill>
                  <a:srgbClr val="000000"/>
                </a:solidFill>
                <a:ea typeface="楷体" panose="02010609060101010101" pitchFamily="49" charset="-122"/>
                <a:cs typeface="Times New Roman" panose="02020603050405020304" pitchFamily="18" charset="0"/>
              </a:rPr>
              <a:t>直线</a:t>
            </a:r>
            <a:r>
              <a:rPr lang="en-US" altLang="zh-CN" i="1" dirty="0" smtClean="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由</a:t>
            </a:r>
            <a:r>
              <a:rPr lang="zh-CN" altLang="zh-CN" dirty="0">
                <a:solidFill>
                  <a:srgbClr val="000000"/>
                </a:solidFill>
                <a:ea typeface="楷体" panose="02010609060101010101" pitchFamily="49" charset="-122"/>
                <a:cs typeface="Times New Roman" panose="02020603050405020304" pitchFamily="18" charset="0"/>
              </a:rPr>
              <a:t>题意得</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故</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646449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9128"/>
            <a:ext cx="10807700" cy="5945089"/>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已知集合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{1,2,3},</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是</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的</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充分不必要条件</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必要不充分条件</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C.</a:t>
            </a:r>
            <a:r>
              <a:rPr lang="zh-CN" altLang="zh-CN" dirty="0">
                <a:solidFill>
                  <a:srgbClr val="000000"/>
                </a:solidFill>
                <a:latin typeface="+mn-lt"/>
                <a:ea typeface="宋体" panose="02010600030101010101" pitchFamily="2" charset="-122"/>
                <a:cs typeface="Times New Roman" panose="02020603050405020304" pitchFamily="18" charset="0"/>
              </a:rPr>
              <a:t>充要条件</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latin typeface="+mn-lt"/>
                <a:ea typeface="宋体" panose="02010600030101010101" pitchFamily="2" charset="-122"/>
                <a:cs typeface="Times New Roman" panose="02020603050405020304" pitchFamily="18" charset="0"/>
              </a:rPr>
              <a:t>D.</a:t>
            </a:r>
            <a:r>
              <a:rPr lang="zh-CN" altLang="zh-CN" dirty="0">
                <a:solidFill>
                  <a:srgbClr val="000000"/>
                </a:solidFill>
                <a:latin typeface="+mn-lt"/>
                <a:ea typeface="宋体" panose="02010600030101010101" pitchFamily="2" charset="-122"/>
                <a:cs typeface="Times New Roman" panose="02020603050405020304" pitchFamily="18" charset="0"/>
              </a:rPr>
              <a:t>既不充分也不必要条件</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{1,2,3},</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且</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楷体" panose="02010609060101010101" pitchFamily="49" charset="-122"/>
                <a:cs typeface="Times New Roman" panose="02020603050405020304" pitchFamily="18" charset="0"/>
              </a:rPr>
              <a:t>或</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是</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B</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的充分不必要条件</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9683748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0" dur="500"/>
                                        <p:tgtEl>
                                          <p:spTgt spid="2">
                                            <p:txEl>
                                              <p:pRg st="6" end="6"/>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3" dur="500"/>
                                        <p:tgtEl>
                                          <p:spTgt spid="2">
                                            <p:txEl>
                                              <p:pRg st="7" end="7"/>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6" dur="500"/>
                                        <p:tgtEl>
                                          <p:spTgt spid="2">
                                            <p:txEl>
                                              <p:pRg st="8"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animEffect transition="in" filter="randombar(horizontal)">
                                      <p:cBhvr>
                                        <p:cTn id="21"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36134"/>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p</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&lt;x-a&lt;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q</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宋体" panose="02010600030101010101" pitchFamily="2"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的充分不必要条件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10" name="组合 9"/>
          <p:cNvGrpSpPr/>
          <p:nvPr/>
        </p:nvGrpSpPr>
        <p:grpSpPr>
          <a:xfrm>
            <a:off x="361950" y="1963607"/>
            <a:ext cx="10807700" cy="4016121"/>
            <a:chOff x="361950" y="1934111"/>
            <a:chExt cx="10807700" cy="4016121"/>
          </a:xfrm>
        </p:grpSpPr>
        <p:sp>
          <p:nvSpPr>
            <p:cNvPr id="5" name="矩形 4"/>
            <p:cNvSpPr>
              <a:spLocks noChangeAspect="1"/>
            </p:cNvSpPr>
            <p:nvPr/>
          </p:nvSpPr>
          <p:spPr>
            <a:xfrm>
              <a:off x="361950" y="1934111"/>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err="1">
                  <a:solidFill>
                    <a:srgbClr val="000000"/>
                  </a:solidFill>
                  <a:ea typeface="宋体" panose="02010600030101010101" pitchFamily="2" charset="-122"/>
                  <a:cs typeface="Times New Roman" panose="02020603050405020304" pitchFamily="18" charset="0"/>
                </a:rPr>
                <a:t>q</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楷体" panose="02010609060101010101" pitchFamily="49" charset="-122"/>
                  <a:cs typeface="Times New Roman" panose="02020603050405020304" pitchFamily="18" charset="0"/>
                </a:rPr>
                <a:t>对应的集合分别为</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&lt;x&lt;a+</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q</a:t>
              </a:r>
              <a:r>
                <a:rPr lang="zh-CN" altLang="zh-CN" dirty="0">
                  <a:solidFill>
                    <a:srgbClr val="000000"/>
                  </a:solidFill>
                  <a:ea typeface="楷体" panose="02010609060101010101" pitchFamily="49" charset="-122"/>
                  <a:cs typeface="Times New Roman" panose="02020603050405020304" pitchFamily="18" charset="0"/>
                </a:rPr>
                <a:t>是</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楷体" panose="02010609060101010101" pitchFamily="49" charset="-122"/>
                  <a:cs typeface="Times New Roman" panose="02020603050405020304" pitchFamily="18" charset="0"/>
                </a:rPr>
                <a:t>的充分不必要条件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则有</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898637326"/>
                </p:ext>
              </p:extLst>
            </p:nvPr>
          </p:nvGraphicFramePr>
          <p:xfrm>
            <a:off x="533832" y="3728519"/>
            <a:ext cx="10607329" cy="1004072"/>
          </p:xfrm>
          <a:graphic>
            <a:graphicData uri="http://schemas.openxmlformats.org/presentationml/2006/ole">
              <mc:AlternateContent xmlns:mc="http://schemas.openxmlformats.org/markup-compatibility/2006">
                <mc:Choice xmlns:v="urn:schemas-microsoft-com:vml" Requires="v">
                  <p:oleObj spid="_x0000_s17417" name="文档" r:id="rId4" imgW="3477813" imgH="329204" progId="Word.Document.12">
                    <p:embed/>
                  </p:oleObj>
                </mc:Choice>
                <mc:Fallback>
                  <p:oleObj name="文档" r:id="rId4" imgW="3477813" imgH="329204" progId="Word.Document.12">
                    <p:embed/>
                    <p:pic>
                      <p:nvPicPr>
                        <p:cNvPr id="0" name=""/>
                        <p:cNvPicPr/>
                        <p:nvPr/>
                      </p:nvPicPr>
                      <p:blipFill>
                        <a:blip r:embed="rId5"/>
                        <a:stretch>
                          <a:fillRect/>
                        </a:stretch>
                      </p:blipFill>
                      <p:spPr>
                        <a:xfrm>
                          <a:off x="533832" y="3728519"/>
                          <a:ext cx="10607329" cy="1004072"/>
                        </a:xfrm>
                        <a:prstGeom prst="rect">
                          <a:avLst/>
                        </a:prstGeom>
                      </p:spPr>
                    </p:pic>
                  </p:oleObj>
                </mc:Fallback>
              </mc:AlternateContent>
            </a:graphicData>
          </a:graphic>
        </p:graphicFrame>
        <p:sp>
          <p:nvSpPr>
            <p:cNvPr id="9" name="矩形 8"/>
            <p:cNvSpPr>
              <a:spLocks noChangeAspect="1"/>
            </p:cNvSpPr>
            <p:nvPr/>
          </p:nvSpPr>
          <p:spPr>
            <a:xfrm>
              <a:off x="361950" y="4732591"/>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经检验</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满足</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的取值范围为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25509636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154</TotalTime>
  <Words>1518</Words>
  <Application>Microsoft Office PowerPoint</Application>
  <PresentationFormat>自定义</PresentationFormat>
  <Paragraphs>125</Paragraphs>
  <Slides>38</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3"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17</cp:revision>
  <dcterms:created xsi:type="dcterms:W3CDTF">2020-09-12T05:36:12Z</dcterms:created>
  <dcterms:modified xsi:type="dcterms:W3CDTF">2025-08-18T02:53:35Z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