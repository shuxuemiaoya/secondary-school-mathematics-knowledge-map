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731" r:id="rId2"/>
    <p:sldId id="753" r:id="rId3"/>
    <p:sldId id="736" r:id="rId4"/>
    <p:sldId id="744" r:id="rId5"/>
    <p:sldId id="746" r:id="rId6"/>
    <p:sldId id="749" r:id="rId7"/>
    <p:sldId id="756" r:id="rId8"/>
    <p:sldId id="757" r:id="rId9"/>
    <p:sldId id="758" r:id="rId10"/>
    <p:sldId id="759" r:id="rId11"/>
    <p:sldId id="760" r:id="rId12"/>
    <p:sldId id="737" r:id="rId13"/>
    <p:sldId id="750" r:id="rId14"/>
    <p:sldId id="761" r:id="rId15"/>
    <p:sldId id="762" r:id="rId16"/>
    <p:sldId id="763" r:id="rId17"/>
    <p:sldId id="764" r:id="rId18"/>
    <p:sldId id="765" r:id="rId19"/>
    <p:sldId id="754" r:id="rId20"/>
    <p:sldId id="767" r:id="rId21"/>
    <p:sldId id="768" r:id="rId22"/>
    <p:sldId id="769" r:id="rId23"/>
    <p:sldId id="770" r:id="rId24"/>
    <p:sldId id="755" r:id="rId25"/>
    <p:sldId id="771" r:id="rId26"/>
    <p:sldId id="772" r:id="rId27"/>
    <p:sldId id="747" r:id="rId28"/>
    <p:sldId id="751" r:id="rId29"/>
    <p:sldId id="773" r:id="rId30"/>
    <p:sldId id="774" r:id="rId31"/>
    <p:sldId id="775" r:id="rId32"/>
    <p:sldId id="776" r:id="rId33"/>
    <p:sldId id="748" r:id="rId34"/>
    <p:sldId id="752" r:id="rId35"/>
    <p:sldId id="777" r:id="rId36"/>
    <p:sldId id="778" r:id="rId37"/>
    <p:sldId id="779" r:id="rId38"/>
    <p:sldId id="735" r:id="rId39"/>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84"/>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38</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3.xml"/><Relationship Id="rId5" Type="http://schemas.openxmlformats.org/officeDocument/2006/relationships/slide" Target="slide27.xml"/><Relationship Id="rId4"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2.emf"/><Relationship Id="rId4" Type="http://schemas.openxmlformats.org/officeDocument/2006/relationships/package" Target="../embeddings/Microsoft_Word___10.docx"/></Relationships>
</file>

<file path=ppt/slides/_rels/slide21.xml.rels><?xml version="1.0" encoding="UTF-8" standalone="yes"?>
<Relationships xmlns="http://schemas.openxmlformats.org/package/2006/relationships"><Relationship Id="rId8" Type="http://schemas.openxmlformats.org/officeDocument/2006/relationships/package" Target="../embeddings/Microsoft_Word___12.docx"/><Relationship Id="rId3" Type="http://schemas.openxmlformats.org/officeDocument/2006/relationships/image" Target="../media/image15.jpeg"/><Relationship Id="rId7"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13.emf"/><Relationship Id="rId5" Type="http://schemas.openxmlformats.org/officeDocument/2006/relationships/package" Target="../embeddings/Microsoft_Word___11.docx"/><Relationship Id="rId4" Type="http://schemas.openxmlformats.org/officeDocument/2006/relationships/oleObject" Target="../embeddings/oleObject11.bin"/><Relationship Id="rId9" Type="http://schemas.openxmlformats.org/officeDocument/2006/relationships/image" Target="../media/image14.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14.bin"/><Relationship Id="rId5" Type="http://schemas.openxmlformats.org/officeDocument/2006/relationships/image" Target="../media/image16.emf"/><Relationship Id="rId4" Type="http://schemas.openxmlformats.org/officeDocument/2006/relationships/package" Target="../embeddings/Microsoft_Word___13.docx"/></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18.emf"/><Relationship Id="rId4" Type="http://schemas.openxmlformats.org/officeDocument/2006/relationships/package" Target="../embeddings/Microsoft_Word___15.docx"/></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19.emf"/><Relationship Id="rId4" Type="http://schemas.openxmlformats.org/officeDocument/2006/relationships/package" Target="../embeddings/Microsoft_Word___16.docx"/></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0.emf"/><Relationship Id="rId4" Type="http://schemas.openxmlformats.org/officeDocument/2006/relationships/package" Target="../embeddings/Microsoft_Word___17.docx"/></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21.emf"/><Relationship Id="rId4" Type="http://schemas.openxmlformats.org/officeDocument/2006/relationships/package" Target="../embeddings/Microsoft_Word___18.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19.bin"/><Relationship Id="rId7" Type="http://schemas.openxmlformats.org/officeDocument/2006/relationships/package" Target="../embeddings/Microsoft_Word___20.docx"/><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20.bin"/><Relationship Id="rId5" Type="http://schemas.openxmlformats.org/officeDocument/2006/relationships/image" Target="../media/image22.emf"/><Relationship Id="rId4" Type="http://schemas.openxmlformats.org/officeDocument/2006/relationships/package" Target="../embeddings/Microsoft_Word___19.docx"/></Relationships>
</file>

<file path=ppt/slides/_rels/slide35.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21.bin"/><Relationship Id="rId7" Type="http://schemas.openxmlformats.org/officeDocument/2006/relationships/package" Target="../embeddings/Microsoft_Word___22.docx"/><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22.bin"/><Relationship Id="rId5" Type="http://schemas.openxmlformats.org/officeDocument/2006/relationships/image" Target="../media/image24.emf"/><Relationship Id="rId4" Type="http://schemas.openxmlformats.org/officeDocument/2006/relationships/package" Target="../embeddings/Microsoft_Word___21.docx"/></Relationships>
</file>

<file path=ppt/slides/_rels/slide36.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3.bin"/><Relationship Id="rId7" Type="http://schemas.openxmlformats.org/officeDocument/2006/relationships/package" Target="../embeddings/Microsoft_Word___24.docx"/><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oleObject" Target="../embeddings/oleObject24.bin"/><Relationship Id="rId11" Type="http://schemas.openxmlformats.org/officeDocument/2006/relationships/image" Target="../media/image28.emf"/><Relationship Id="rId5" Type="http://schemas.openxmlformats.org/officeDocument/2006/relationships/image" Target="../media/image26.emf"/><Relationship Id="rId10" Type="http://schemas.openxmlformats.org/officeDocument/2006/relationships/package" Target="../embeddings/Microsoft_Word___25.docx"/><Relationship Id="rId4" Type="http://schemas.openxmlformats.org/officeDocument/2006/relationships/package" Target="../embeddings/Microsoft_Word___23.docx"/><Relationship Id="rId9" Type="http://schemas.openxmlformats.org/officeDocument/2006/relationships/oleObject" Target="../embeddings/oleObject25.bin"/></Relationships>
</file>

<file path=ppt/slides/_rels/slide37.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6.bin"/><Relationship Id="rId7" Type="http://schemas.openxmlformats.org/officeDocument/2006/relationships/package" Target="../embeddings/Microsoft_Word___27.docx"/><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oleObject" Target="../embeddings/oleObject27.bin"/><Relationship Id="rId5" Type="http://schemas.openxmlformats.org/officeDocument/2006/relationships/image" Target="../media/image29.emf"/><Relationship Id="rId4" Type="http://schemas.openxmlformats.org/officeDocument/2006/relationships/package" Target="../embeddings/Microsoft_Word___26.docx"/></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101901" y="2011883"/>
            <a:ext cx="11303743" cy="2308324"/>
          </a:xfrm>
          <a:prstGeom prst="rect">
            <a:avLst/>
          </a:prstGeom>
        </p:spPr>
        <p:txBody>
          <a:bodyPr wrap="square">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2.1</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等式性质与不等式性质</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第</a:t>
            </a:r>
            <a:r>
              <a:rPr lang="en-US" altLang="zh-CN" sz="6000" dirty="0">
                <a:solidFill>
                  <a:srgbClr val="002060"/>
                </a:solidFill>
                <a:ea typeface="宋体" panose="02010600030101010101" pitchFamily="2" charset="-122"/>
                <a:cs typeface="Times New Roman" panose="02020603050405020304" pitchFamily="18" charset="0"/>
              </a:rPr>
              <a:t>2</a:t>
            </a:r>
            <a:r>
              <a:rPr lang="zh-CN" altLang="zh-CN" sz="6000" dirty="0">
                <a:solidFill>
                  <a:srgbClr val="002060"/>
                </a:solidFill>
                <a:latin typeface="Arial" panose="020B0604020202020204" pitchFamily="34" charset="0"/>
                <a:cs typeface="Times New Roman" panose="02020603050405020304" pitchFamily="18" charset="0"/>
              </a:rPr>
              <a:t>课时</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等式性质与不等式性质</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893035"/>
            <a:ext cx="10729192" cy="2596834"/>
            <a:chOff x="360437" y="2023644"/>
            <a:chExt cx="10729192" cy="2596834"/>
          </a:xfrm>
        </p:grpSpPr>
        <p:grpSp>
          <p:nvGrpSpPr>
            <p:cNvPr id="13" name="组合 12"/>
            <p:cNvGrpSpPr/>
            <p:nvPr/>
          </p:nvGrpSpPr>
          <p:grpSpPr>
            <a:xfrm>
              <a:off x="360437" y="2023644"/>
              <a:ext cx="10729192" cy="2596834"/>
              <a:chOff x="360437" y="2353251"/>
              <a:chExt cx="10729192" cy="1773673"/>
            </a:xfrm>
          </p:grpSpPr>
          <p:sp>
            <p:nvSpPr>
              <p:cNvPr id="2" name="圆角矩形 1"/>
              <p:cNvSpPr/>
              <p:nvPr/>
            </p:nvSpPr>
            <p:spPr>
              <a:xfrm>
                <a:off x="360437" y="2353251"/>
                <a:ext cx="10729192" cy="177367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379317"/>
                <a:ext cx="0" cy="1699769"/>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2094216"/>
              <a:ext cx="8496944" cy="2456057"/>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梳理等式的性质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掌握不等式的性质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掌握不等式性质的简单应用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体会学习不等式性质的必要性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逻辑推理</a:t>
              </a:r>
              <a:r>
                <a:rPr lang="zh-CN" altLang="zh-CN" dirty="0">
                  <a:solidFill>
                    <a:srgbClr val="000000"/>
                  </a:solidFill>
                  <a:ea typeface="楷体" panose="02010609060101010101" pitchFamily="49" charset="-122"/>
                  <a:cs typeface="Times New Roman" panose="02020603050405020304" pitchFamily="18" charset="0"/>
                </a:rPr>
                <a:t>和数学运算素养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79847"/>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等式的性质与不等式的性质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你能说出等式有哪些基本性质吗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性质</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如果</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b=a</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性质</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如果</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性质</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如果</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那么</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性质</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如果</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ac=</a:t>
            </a:r>
            <a:r>
              <a:rPr lang="en-US" altLang="zh-CN" i="1" dirty="0" err="1">
                <a:solidFill>
                  <a:srgbClr val="000000"/>
                </a:solidFill>
                <a:ea typeface="宋体" panose="02010600030101010101" pitchFamily="2" charset="-122"/>
                <a:cs typeface="Times New Roman" panose="02020603050405020304" pitchFamily="18" charset="0"/>
              </a:rPr>
              <a:t>bc</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61119174"/>
              </p:ext>
            </p:extLst>
          </p:nvPr>
        </p:nvGraphicFramePr>
        <p:xfrm>
          <a:off x="425782" y="4608239"/>
          <a:ext cx="11671959" cy="734391"/>
        </p:xfrm>
        <a:graphic>
          <a:graphicData uri="http://schemas.openxmlformats.org/presentationml/2006/ole">
            <mc:AlternateContent xmlns:mc="http://schemas.openxmlformats.org/markup-compatibility/2006">
              <mc:Choice xmlns:v="urn:schemas-microsoft-com:vml" Requires="v">
                <p:oleObj spid="_x0000_s1044" name="文档" r:id="rId4" imgW="3826872" imgH="240784" progId="Word.Document.12">
                  <p:embed/>
                </p:oleObj>
              </mc:Choice>
              <mc:Fallback>
                <p:oleObj name="文档" r:id="rId4" imgW="3826872" imgH="240784" progId="Word.Document.12">
                  <p:embed/>
                  <p:pic>
                    <p:nvPicPr>
                      <p:cNvPr id="0" name=""/>
                      <p:cNvPicPr/>
                      <p:nvPr/>
                    </p:nvPicPr>
                    <p:blipFill>
                      <a:blip r:embed="rId5"/>
                      <a:stretch>
                        <a:fillRect/>
                      </a:stretch>
                    </p:blipFill>
                    <p:spPr>
                      <a:xfrm>
                        <a:off x="425782" y="4608239"/>
                        <a:ext cx="11671959" cy="734391"/>
                      </a:xfrm>
                      <a:prstGeom prst="rect">
                        <a:avLst/>
                      </a:prstGeom>
                    </p:spPr>
                  </p:pic>
                </p:oleObj>
              </mc:Fallback>
            </mc:AlternateContent>
          </a:graphicData>
        </a:graphic>
      </p:graphicFrame>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3" dur="500"/>
                                        <p:tgtEl>
                                          <p:spTgt spid="2">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6" dur="500"/>
                                        <p:tgtEl>
                                          <p:spTgt spid="2">
                                            <p:txEl>
                                              <p:pRg st="5" end="5"/>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randombar(horizont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86344"/>
            <a:ext cx="10807700" cy="3637919"/>
          </a:xfrm>
          <a:prstGeom prst="rect">
            <a:avLst/>
          </a:prstGeom>
        </p:spPr>
        <p:txBody>
          <a:bodyPr>
            <a:spAutoFit/>
          </a:bodyPr>
          <a:lstStyle/>
          <a:p>
            <a:pPr indent="267970">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2</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类比等式的基本性质</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你能猜想到不等式的哪些基本性质</a:t>
            </a:r>
            <a:r>
              <a:rPr lang="en-US" altLang="zh-CN" dirty="0" smtClean="0">
                <a:solidFill>
                  <a:srgbClr val="000000"/>
                </a:solidFill>
                <a:latin typeface="+mn-lt"/>
                <a:ea typeface="宋体" panose="02010600030101010101" pitchFamily="2" charset="-122"/>
                <a:cs typeface="Times New Roman" panose="02020603050405020304" pitchFamily="18" charset="0"/>
              </a:rPr>
              <a:t>?</a:t>
            </a:r>
            <a:endParaRPr lang="zh-CN" altLang="zh-CN" dirty="0" smtClean="0">
              <a:solidFill>
                <a:srgbClr val="000000"/>
              </a:solidFill>
              <a:latin typeface="+mn-lt"/>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提示</a:t>
            </a:r>
            <a:r>
              <a:rPr lang="en-US" altLang="zh-CN" dirty="0">
                <a:latin typeface="+mn-lt"/>
                <a:cs typeface="Times New Roman" panose="02020603050405020304" pitchFamily="18" charset="0"/>
              </a:rPr>
              <a:t>:</a:t>
            </a:r>
            <a:r>
              <a:rPr lang="zh-CN" altLang="zh-CN" dirty="0" smtClean="0">
                <a:solidFill>
                  <a:srgbClr val="000000"/>
                </a:solidFill>
                <a:latin typeface="+mn-lt"/>
                <a:ea typeface="楷体" panose="02010609060101010101" pitchFamily="49" charset="-122"/>
                <a:cs typeface="Times New Roman" panose="02020603050405020304" pitchFamily="18" charset="0"/>
              </a:rPr>
              <a:t>性质</a:t>
            </a:r>
            <a:r>
              <a:rPr lang="en-US" altLang="zh-CN" dirty="0" smtClean="0">
                <a:solidFill>
                  <a:srgbClr val="000000"/>
                </a:solidFill>
                <a:latin typeface="+mn-lt"/>
                <a:ea typeface="宋体" panose="02010600030101010101" pitchFamily="2" charset="-122"/>
                <a:cs typeface="Times New Roman" panose="02020603050405020304" pitchFamily="18" charset="0"/>
              </a:rPr>
              <a:t>1</a:t>
            </a:r>
            <a:r>
              <a:rPr lang="zh-CN" altLang="zh-CN" i="1" dirty="0" smtClean="0">
                <a:solidFill>
                  <a:srgbClr val="000000"/>
                </a:solidFill>
                <a:latin typeface="+mn-lt"/>
                <a:ea typeface="宋体" panose="02010600030101010101" pitchFamily="2" charset="-122"/>
                <a:cs typeface="Times New Roman" panose="02020603050405020304" pitchFamily="18" charset="0"/>
              </a:rPr>
              <a:t>　</a:t>
            </a:r>
            <a:r>
              <a:rPr lang="zh-CN" altLang="zh-CN" dirty="0" smtClean="0">
                <a:solidFill>
                  <a:srgbClr val="000000"/>
                </a:solidFill>
                <a:latin typeface="+mn-lt"/>
                <a:ea typeface="楷体" panose="02010609060101010101" pitchFamily="49" charset="-122"/>
                <a:cs typeface="Times New Roman" panose="02020603050405020304" pitchFamily="18" charset="0"/>
              </a:rPr>
              <a:t>如果</a:t>
            </a:r>
            <a:r>
              <a:rPr lang="en-US" altLang="zh-CN" i="1" dirty="0" smtClean="0">
                <a:solidFill>
                  <a:srgbClr val="000000"/>
                </a:solidFill>
                <a:latin typeface="+mn-lt"/>
                <a:ea typeface="宋体" panose="02010600030101010101" pitchFamily="2" charset="-122"/>
                <a:cs typeface="Times New Roman" panose="02020603050405020304" pitchFamily="18" charset="0"/>
              </a:rPr>
              <a:t>a&gt;b</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楷体" panose="02010609060101010101" pitchFamily="49" charset="-122"/>
                <a:cs typeface="Times New Roman" panose="02020603050405020304" pitchFamily="18" charset="0"/>
              </a:rPr>
              <a:t>那么</a:t>
            </a:r>
            <a:r>
              <a:rPr lang="en-US" altLang="zh-CN" i="1" dirty="0" smtClean="0">
                <a:solidFill>
                  <a:srgbClr val="000000"/>
                </a:solidFill>
                <a:latin typeface="+mn-lt"/>
                <a:ea typeface="宋体" panose="02010600030101010101" pitchFamily="2" charset="-122"/>
                <a:cs typeface="Times New Roman" panose="02020603050405020304" pitchFamily="18" charset="0"/>
              </a:rPr>
              <a:t>b&lt;a</a:t>
            </a:r>
            <a:r>
              <a:rPr lang="en-US" altLang="zh-CN" dirty="0" smtClean="0">
                <a:solidFill>
                  <a:srgbClr val="000000"/>
                </a:solidFill>
                <a:latin typeface="+mn-lt"/>
                <a:ea typeface="宋体" panose="02010600030101010101" pitchFamily="2" charset="-122"/>
                <a:cs typeface="Times New Roman" panose="02020603050405020304" pitchFamily="18" charset="0"/>
              </a:rPr>
              <a:t>;</a:t>
            </a:r>
            <a:endParaRPr lang="zh-CN" altLang="zh-CN" dirty="0" smtClean="0">
              <a:solidFill>
                <a:srgbClr val="000000"/>
              </a:solidFill>
              <a:latin typeface="+mn-lt"/>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solidFill>
                  <a:srgbClr val="000000"/>
                </a:solidFill>
                <a:latin typeface="+mn-lt"/>
                <a:ea typeface="楷体" panose="02010609060101010101" pitchFamily="49" charset="-122"/>
                <a:cs typeface="Times New Roman" panose="02020603050405020304" pitchFamily="18" charset="0"/>
              </a:rPr>
              <a:t>性质</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zh-CN" altLang="zh-CN" dirty="0">
                <a:solidFill>
                  <a:srgbClr val="000000"/>
                </a:solidFill>
                <a:latin typeface="+mn-lt"/>
                <a:ea typeface="楷体" panose="02010609060101010101" pitchFamily="49" charset="-122"/>
                <a:cs typeface="Times New Roman" panose="02020603050405020304" pitchFamily="18" charset="0"/>
              </a:rPr>
              <a:t>如果</a:t>
            </a:r>
            <a:r>
              <a:rPr lang="en-US" altLang="zh-CN" i="1" dirty="0">
                <a:solidFill>
                  <a:srgbClr val="000000"/>
                </a:solidFill>
                <a:latin typeface="+mn-lt"/>
                <a:ea typeface="宋体" panose="02010600030101010101" pitchFamily="2" charset="-122"/>
                <a:cs typeface="Times New Roman" panose="02020603050405020304" pitchFamily="18" charset="0"/>
              </a:rPr>
              <a:t>a&gt;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宋体" panose="02010600030101010101" pitchFamily="2" charset="-122"/>
                <a:cs typeface="Times New Roman" panose="02020603050405020304" pitchFamily="18" charset="0"/>
              </a:rPr>
              <a:t>&gt;c</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那么</a:t>
            </a:r>
            <a:r>
              <a:rPr lang="en-US" altLang="zh-CN" i="1" dirty="0">
                <a:solidFill>
                  <a:srgbClr val="000000"/>
                </a:solidFill>
                <a:latin typeface="+mn-lt"/>
                <a:ea typeface="宋体" panose="02010600030101010101" pitchFamily="2" charset="-122"/>
                <a:cs typeface="Times New Roman" panose="02020603050405020304" pitchFamily="18" charset="0"/>
              </a:rPr>
              <a:t>a&gt;c</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性质</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zh-CN" altLang="zh-CN" dirty="0">
                <a:solidFill>
                  <a:srgbClr val="000000"/>
                </a:solidFill>
                <a:latin typeface="+mn-lt"/>
                <a:ea typeface="楷体" panose="02010609060101010101" pitchFamily="49" charset="-122"/>
                <a:cs typeface="Times New Roman" panose="02020603050405020304" pitchFamily="18" charset="0"/>
              </a:rPr>
              <a:t>如果</a:t>
            </a:r>
            <a:r>
              <a:rPr lang="en-US" altLang="zh-CN" i="1" dirty="0">
                <a:solidFill>
                  <a:srgbClr val="000000"/>
                </a:solidFill>
                <a:latin typeface="+mn-lt"/>
                <a:ea typeface="宋体" panose="02010600030101010101" pitchFamily="2" charset="-122"/>
                <a:cs typeface="Times New Roman" panose="02020603050405020304" pitchFamily="18" charset="0"/>
              </a:rPr>
              <a:t>a&gt;b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那么</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i="1" dirty="0" err="1">
                <a:solidFill>
                  <a:srgbClr val="000000"/>
                </a:solidFill>
                <a:latin typeface="+mn-lt"/>
                <a:ea typeface="方正书宋_GBK" panose="03000509000000000000" pitchFamily="65"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i="1" dirty="0" err="1">
                <a:solidFill>
                  <a:srgbClr val="000000"/>
                </a:solidFill>
                <a:latin typeface="+mn-lt"/>
                <a:ea typeface="方正书宋_GBK" panose="03000509000000000000" pitchFamily="65"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性质</a:t>
            </a: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zh-CN" altLang="zh-CN" dirty="0">
                <a:solidFill>
                  <a:srgbClr val="000000"/>
                </a:solidFill>
                <a:latin typeface="+mn-lt"/>
                <a:ea typeface="楷体" panose="02010609060101010101" pitchFamily="49" charset="-122"/>
                <a:cs typeface="Times New Roman" panose="02020603050405020304" pitchFamily="18" charset="0"/>
              </a:rPr>
              <a:t>如果</a:t>
            </a:r>
            <a:r>
              <a:rPr lang="en-US" altLang="zh-CN" i="1" dirty="0">
                <a:solidFill>
                  <a:srgbClr val="000000"/>
                </a:solidFill>
                <a:latin typeface="+mn-lt"/>
                <a:ea typeface="宋体" panose="02010600030101010101" pitchFamily="2" charset="-122"/>
                <a:cs typeface="Times New Roman" panose="02020603050405020304" pitchFamily="18" charset="0"/>
              </a:rPr>
              <a:t>a&gt;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那么</a:t>
            </a:r>
            <a:r>
              <a:rPr lang="en-US" altLang="zh-CN" i="1" dirty="0">
                <a:solidFill>
                  <a:srgbClr val="000000"/>
                </a:solidFill>
                <a:latin typeface="+mn-lt"/>
                <a:ea typeface="宋体" panose="02010600030101010101" pitchFamily="2" charset="-122"/>
                <a:cs typeface="Times New Roman" panose="02020603050405020304" pitchFamily="18" charset="0"/>
              </a:rPr>
              <a:t>ac&gt;</a:t>
            </a:r>
            <a:r>
              <a:rPr lang="en-US" altLang="zh-CN" i="1" dirty="0" err="1">
                <a:solidFill>
                  <a:srgbClr val="000000"/>
                </a:solidFill>
                <a:latin typeface="+mn-lt"/>
                <a:ea typeface="宋体" panose="02010600030101010101" pitchFamily="2" charset="-122"/>
                <a:cs typeface="Times New Roman" panose="02020603050405020304" pitchFamily="18" charset="0"/>
              </a:rPr>
              <a:t>bc</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楷体" panose="02010609060101010101" pitchFamily="49" charset="-122"/>
                <a:cs typeface="Times New Roman" panose="02020603050405020304" pitchFamily="18" charset="0"/>
              </a:rPr>
              <a:t>              </a:t>
            </a:r>
            <a:r>
              <a:rPr lang="zh-CN" altLang="zh-CN" dirty="0" smtClean="0">
                <a:solidFill>
                  <a:srgbClr val="000000"/>
                </a:solidFill>
                <a:latin typeface="+mn-lt"/>
                <a:ea typeface="楷体" panose="02010609060101010101" pitchFamily="49" charset="-122"/>
                <a:cs typeface="Times New Roman" panose="02020603050405020304" pitchFamily="18" charset="0"/>
              </a:rPr>
              <a:t>如果</a:t>
            </a:r>
            <a:r>
              <a:rPr lang="en-US" altLang="zh-CN" i="1" dirty="0">
                <a:solidFill>
                  <a:srgbClr val="000000"/>
                </a:solidFill>
                <a:latin typeface="+mn-lt"/>
                <a:ea typeface="宋体" panose="02010600030101010101" pitchFamily="2" charset="-122"/>
                <a:cs typeface="Times New Roman" panose="02020603050405020304" pitchFamily="18" charset="0"/>
              </a:rPr>
              <a:t>a&gt;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i="1" dirty="0">
                <a:solidFill>
                  <a:srgbClr val="000000"/>
                </a:solidFill>
                <a:latin typeface="+mn-lt"/>
                <a:ea typeface="宋体" panose="02010600030101010101" pitchFamily="2" charset="-122"/>
                <a:cs typeface="Times New Roman" panose="02020603050405020304" pitchFamily="18" charset="0"/>
              </a:rPr>
              <a:t>&lt;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那么</a:t>
            </a:r>
            <a:r>
              <a:rPr lang="en-US" altLang="zh-CN" i="1" dirty="0">
                <a:solidFill>
                  <a:srgbClr val="000000"/>
                </a:solidFill>
                <a:latin typeface="+mn-lt"/>
                <a:ea typeface="宋体" panose="02010600030101010101" pitchFamily="2" charset="-122"/>
                <a:cs typeface="Times New Roman" panose="02020603050405020304" pitchFamily="18" charset="0"/>
              </a:rPr>
              <a:t>ac&lt;</a:t>
            </a:r>
            <a:r>
              <a:rPr lang="en-US" altLang="zh-CN" i="1" dirty="0" err="1">
                <a:solidFill>
                  <a:srgbClr val="000000"/>
                </a:solidFill>
                <a:latin typeface="+mn-lt"/>
                <a:ea typeface="宋体" panose="02010600030101010101" pitchFamily="2" charset="-122"/>
                <a:cs typeface="Times New Roman" panose="02020603050405020304" pitchFamily="18" charset="0"/>
              </a:rPr>
              <a:t>bc</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36995872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6" dur="500"/>
                                        <p:tgtEl>
                                          <p:spTgt spid="2">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9"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50130" y="819338"/>
            <a:ext cx="11843815" cy="5517093"/>
            <a:chOff x="-250130" y="819338"/>
            <a:chExt cx="11843815" cy="5517093"/>
          </a:xfrm>
        </p:grpSpPr>
        <p:sp>
          <p:nvSpPr>
            <p:cNvPr id="2" name="矩形 1"/>
            <p:cNvSpPr>
              <a:spLocks noChangeAspect="1"/>
            </p:cNvSpPr>
            <p:nvPr/>
          </p:nvSpPr>
          <p:spPr>
            <a:xfrm>
              <a:off x="361950" y="819338"/>
              <a:ext cx="595035" cy="631711"/>
            </a:xfrm>
            <a:prstGeom prst="rect">
              <a:avLst/>
            </a:prstGeom>
          </p:spPr>
          <p:txBody>
            <a:bodyPr wrap="none">
              <a:spAutoFit/>
            </a:bodyPr>
            <a:lstStyle/>
            <a:p>
              <a:pPr>
                <a:lnSpc>
                  <a:spcPct val="120000"/>
                </a:lnSpc>
              </a:pPr>
              <a:r>
                <a:rPr lang="en-US" altLang="zh-CN" dirty="0">
                  <a:solidFill>
                    <a:srgbClr val="000000"/>
                  </a:solidFill>
                  <a:ea typeface="宋体" panose="02010600030101010101" pitchFamily="2" charset="-122"/>
                </a:rPr>
                <a:t>3</a:t>
              </a:r>
              <a:r>
                <a:rPr lang="en-US" altLang="zh-CN" i="1" dirty="0" smtClean="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rPr>
                <a:t> </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3987933266"/>
                </p:ext>
              </p:extLst>
            </p:nvPr>
          </p:nvGraphicFramePr>
          <p:xfrm>
            <a:off x="-250130" y="1502602"/>
            <a:ext cx="11843815" cy="4833829"/>
          </p:xfrm>
          <a:graphic>
            <a:graphicData uri="http://schemas.openxmlformats.org/presentationml/2006/ole">
              <mc:AlternateContent xmlns:mc="http://schemas.openxmlformats.org/markup-compatibility/2006">
                <mc:Choice xmlns:v="urn:schemas-microsoft-com:vml" Requires="v">
                  <p:oleObj spid="_x0000_s2068" name="文档" r:id="rId4" imgW="3883218" imgH="1584862" progId="Word.Document.12">
                    <p:embed/>
                  </p:oleObj>
                </mc:Choice>
                <mc:Fallback>
                  <p:oleObj name="文档" r:id="rId4" imgW="3883218" imgH="1584862" progId="Word.Document.12">
                    <p:embed/>
                    <p:pic>
                      <p:nvPicPr>
                        <p:cNvPr id="0" name=""/>
                        <p:cNvPicPr/>
                        <p:nvPr/>
                      </p:nvPicPr>
                      <p:blipFill>
                        <a:blip r:embed="rId5"/>
                        <a:stretch>
                          <a:fillRect/>
                        </a:stretch>
                      </p:blipFill>
                      <p:spPr>
                        <a:xfrm>
                          <a:off x="-250130" y="1502602"/>
                          <a:ext cx="11843815" cy="4833829"/>
                        </a:xfrm>
                        <a:prstGeom prst="rect">
                          <a:avLst/>
                        </a:prstGeom>
                      </p:spPr>
                    </p:pic>
                  </p:oleObj>
                </mc:Fallback>
              </mc:AlternateContent>
            </a:graphicData>
          </a:graphic>
        </p:graphicFrame>
      </p:grpSp>
      <p:sp>
        <p:nvSpPr>
          <p:cNvPr id="6" name="矩形 5"/>
          <p:cNvSpPr/>
          <p:nvPr/>
        </p:nvSpPr>
        <p:spPr>
          <a:xfrm>
            <a:off x="5833045" y="2213757"/>
            <a:ext cx="70649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481117" y="2736031"/>
            <a:ext cx="70649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468529" y="3357213"/>
            <a:ext cx="29962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800426" y="4086500"/>
            <a:ext cx="29962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822739" y="4943688"/>
            <a:ext cx="29962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3808694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960532302"/>
              </p:ext>
            </p:extLst>
          </p:nvPr>
        </p:nvGraphicFramePr>
        <p:xfrm>
          <a:off x="-215627" y="1439887"/>
          <a:ext cx="11844910" cy="4196992"/>
        </p:xfrm>
        <a:graphic>
          <a:graphicData uri="http://schemas.openxmlformats.org/presentationml/2006/ole">
            <mc:AlternateContent xmlns:mc="http://schemas.openxmlformats.org/markup-compatibility/2006">
              <mc:Choice xmlns:v="urn:schemas-microsoft-com:vml" Requires="v">
                <p:oleObj spid="_x0000_s3092" name="文档" r:id="rId4" imgW="3883577" imgH="1376063" progId="Word.Document.12">
                  <p:embed/>
                </p:oleObj>
              </mc:Choice>
              <mc:Fallback>
                <p:oleObj name="文档" r:id="rId4" imgW="3883577" imgH="1376063" progId="Word.Document.12">
                  <p:embed/>
                  <p:pic>
                    <p:nvPicPr>
                      <p:cNvPr id="0" name=""/>
                      <p:cNvPicPr/>
                      <p:nvPr/>
                    </p:nvPicPr>
                    <p:blipFill>
                      <a:blip r:embed="rId5"/>
                      <a:stretch>
                        <a:fillRect/>
                      </a:stretch>
                    </p:blipFill>
                    <p:spPr>
                      <a:xfrm>
                        <a:off x="-215627" y="1439887"/>
                        <a:ext cx="11844910" cy="4196992"/>
                      </a:xfrm>
                      <a:prstGeom prst="rect">
                        <a:avLst/>
                      </a:prstGeom>
                    </p:spPr>
                  </p:pic>
                </p:oleObj>
              </mc:Fallback>
            </mc:AlternateContent>
          </a:graphicData>
        </a:graphic>
      </p:graphicFrame>
      <p:sp>
        <p:nvSpPr>
          <p:cNvPr id="3" name="矩形 2"/>
          <p:cNvSpPr/>
          <p:nvPr/>
        </p:nvSpPr>
        <p:spPr>
          <a:xfrm>
            <a:off x="7057181" y="2292147"/>
            <a:ext cx="32958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600971" y="3166507"/>
            <a:ext cx="32958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232819" y="3893716"/>
            <a:ext cx="112167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3425891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52207"/>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b&lt;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&lt;c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则下列不等式一定成立的是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smtClean="0">
                <a:solidFill>
                  <a:srgbClr val="000000"/>
                </a:solidFill>
                <a:ea typeface="宋体" panose="02010600030101010101" pitchFamily="2" charset="-122"/>
                <a:cs typeface="Times New Roman" panose="02020603050405020304" pitchFamily="18" charset="0"/>
              </a:rPr>
              <a:t>A.</a:t>
            </a:r>
            <a:r>
              <a:rPr lang="en-US" altLang="zh-CN" i="1" dirty="0" err="1" smtClean="0">
                <a:solidFill>
                  <a:srgbClr val="000000"/>
                </a:solidFill>
                <a:ea typeface="宋体" panose="02010600030101010101" pitchFamily="2" charset="-122"/>
                <a:cs typeface="Times New Roman" panose="02020603050405020304" pitchFamily="18" charset="0"/>
              </a:rPr>
              <a:t>a</a:t>
            </a:r>
            <a:r>
              <a:rPr lang="en-US" altLang="zh-CN" i="1" dirty="0" smtClean="0">
                <a:solidFill>
                  <a:srgbClr val="000000"/>
                </a:solidFill>
                <a:ea typeface="宋体" panose="02010600030101010101" pitchFamily="2" charset="-122"/>
                <a:cs typeface="Times New Roman" panose="02020603050405020304" pitchFamily="18" charset="0"/>
              </a:rPr>
              <a:t>-c&gt;b-d</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B.</a:t>
            </a:r>
            <a:r>
              <a:rPr lang="en-US" altLang="zh-CN" i="1" dirty="0" smtClean="0">
                <a:solidFill>
                  <a:srgbClr val="000000"/>
                </a:solidFill>
                <a:ea typeface="宋体" panose="02010600030101010101" pitchFamily="2" charset="-122"/>
                <a:cs typeface="Times New Roman" panose="02020603050405020304" pitchFamily="18" charset="0"/>
              </a:rPr>
              <a:t>ac&gt;</a:t>
            </a:r>
            <a:r>
              <a:rPr lang="en-US" altLang="zh-CN" i="1" dirty="0" err="1" smtClean="0">
                <a:solidFill>
                  <a:srgbClr val="000000"/>
                </a:solidFill>
                <a:ea typeface="宋体" panose="02010600030101010101" pitchFamily="2" charset="-122"/>
                <a:cs typeface="Times New Roman" panose="02020603050405020304" pitchFamily="18" charset="0"/>
              </a:rPr>
              <a:t>bd</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smtClean="0">
                <a:solidFill>
                  <a:srgbClr val="000000"/>
                </a:solidFill>
                <a:ea typeface="宋体" panose="02010600030101010101" pitchFamily="2" charset="-122"/>
                <a:cs typeface="Times New Roman" panose="02020603050405020304" pitchFamily="18" charset="0"/>
              </a:rPr>
              <a:t>C.</a:t>
            </a:r>
            <a:r>
              <a:rPr lang="en-US" altLang="zh-CN" i="1" dirty="0" err="1" smtClean="0">
                <a:solidFill>
                  <a:srgbClr val="000000"/>
                </a:solidFill>
                <a:ea typeface="宋体" panose="02010600030101010101" pitchFamily="2" charset="-122"/>
                <a:cs typeface="Times New Roman" panose="02020603050405020304" pitchFamily="18" charset="0"/>
              </a:rPr>
              <a:t>a+c</a:t>
            </a:r>
            <a:r>
              <a:rPr lang="en-US" altLang="zh-CN" i="1" dirty="0" smtClean="0">
                <a:solidFill>
                  <a:srgbClr val="000000"/>
                </a:solidFill>
                <a:ea typeface="宋体" panose="02010600030101010101" pitchFamily="2" charset="-122"/>
                <a:cs typeface="Times New Roman" panose="02020603050405020304" pitchFamily="18" charset="0"/>
              </a:rPr>
              <a:t>&gt;</a:t>
            </a:r>
            <a:r>
              <a:rPr lang="en-US" altLang="zh-CN" i="1" dirty="0" err="1" smtClean="0">
                <a:solidFill>
                  <a:srgbClr val="000000"/>
                </a:solidFill>
                <a:ea typeface="宋体" panose="02010600030101010101" pitchFamily="2" charset="-122"/>
                <a:cs typeface="Times New Roman" panose="02020603050405020304" pitchFamily="18" charset="0"/>
              </a:rPr>
              <a:t>b+d</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err="1" smtClean="0">
                <a:solidFill>
                  <a:srgbClr val="000000"/>
                </a:solidFill>
                <a:ea typeface="宋体" panose="02010600030101010101" pitchFamily="2" charset="-122"/>
                <a:cs typeface="Times New Roman" panose="02020603050405020304" pitchFamily="18" charset="0"/>
              </a:rPr>
              <a:t>D.</a:t>
            </a:r>
            <a:r>
              <a:rPr lang="en-US" altLang="zh-CN" i="1" dirty="0" err="1" smtClean="0">
                <a:solidFill>
                  <a:srgbClr val="000000"/>
                </a:solidFill>
                <a:ea typeface="宋体" panose="02010600030101010101" pitchFamily="2" charset="-122"/>
                <a:cs typeface="Times New Roman" panose="02020603050405020304" pitchFamily="18" charset="0"/>
              </a:rPr>
              <a:t>a+d</a:t>
            </a:r>
            <a:r>
              <a:rPr lang="en-US" altLang="zh-CN" i="1" dirty="0" smtClean="0">
                <a:solidFill>
                  <a:srgbClr val="000000"/>
                </a:solidFill>
                <a:ea typeface="宋体" panose="02010600030101010101" pitchFamily="2" charset="-122"/>
                <a:cs typeface="Times New Roman" panose="02020603050405020304" pitchFamily="18" charset="0"/>
              </a:rPr>
              <a:t>&gt;</a:t>
            </a:r>
            <a:r>
              <a:rPr lang="en-US" altLang="zh-CN" i="1" dirty="0" err="1" smtClean="0">
                <a:solidFill>
                  <a:srgbClr val="000000"/>
                </a:solidFill>
                <a:ea typeface="宋体" panose="02010600030101010101" pitchFamily="2" charset="-122"/>
                <a:cs typeface="Times New Roman" panose="02020603050405020304" pitchFamily="18" charset="0"/>
              </a:rPr>
              <a:t>b+c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如果</a:t>
            </a:r>
            <a:r>
              <a:rPr lang="en-US" altLang="zh-CN" i="1" dirty="0">
                <a:solidFill>
                  <a:srgbClr val="000000"/>
                </a:solidFill>
                <a:ea typeface="宋体" panose="02010600030101010101" pitchFamily="2" charset="-122"/>
                <a:cs typeface="Times New Roman" panose="02020603050405020304" pitchFamily="18" charset="0"/>
              </a:rPr>
              <a:t>a&gt;b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那么下列不等式一定成立的是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smtClean="0">
                <a:solidFill>
                  <a:srgbClr val="000000"/>
                </a:solidFill>
                <a:ea typeface="宋体" panose="02010600030101010101" pitchFamily="2" charset="-122"/>
                <a:cs typeface="Times New Roman" panose="02020603050405020304" pitchFamily="18" charset="0"/>
              </a:rPr>
              <a:t>A.</a:t>
            </a:r>
            <a:r>
              <a:rPr lang="en-US" altLang="zh-CN" i="1" dirty="0" err="1" smtClean="0">
                <a:solidFill>
                  <a:srgbClr val="000000"/>
                </a:solidFill>
                <a:ea typeface="宋体" panose="02010600030101010101" pitchFamily="2" charset="-122"/>
                <a:cs typeface="Times New Roman" panose="02020603050405020304" pitchFamily="18" charset="0"/>
              </a:rPr>
              <a:t>c</a:t>
            </a:r>
            <a:r>
              <a:rPr lang="en-US" altLang="zh-CN" i="1" dirty="0" smtClean="0">
                <a:solidFill>
                  <a:srgbClr val="000000"/>
                </a:solidFill>
                <a:ea typeface="宋体" panose="02010600030101010101" pitchFamily="2" charset="-122"/>
                <a:cs typeface="Times New Roman" panose="02020603050405020304" pitchFamily="18" charset="0"/>
              </a:rPr>
              <a:t>-a&gt;c-b</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smtClean="0">
                <a:solidFill>
                  <a:srgbClr val="000000"/>
                </a:solidFill>
                <a:ea typeface="宋体" panose="02010600030101010101" pitchFamily="2" charset="-122"/>
                <a:cs typeface="Times New Roman" panose="02020603050405020304" pitchFamily="18" charset="0"/>
              </a:rPr>
              <a:t>C.</a:t>
            </a:r>
            <a:r>
              <a:rPr lang="en-US" altLang="zh-CN" i="1" dirty="0" err="1" smtClean="0">
                <a:solidFill>
                  <a:srgbClr val="000000"/>
                </a:solidFill>
                <a:ea typeface="宋体" panose="02010600030101010101" pitchFamily="2" charset="-122"/>
                <a:cs typeface="Times New Roman" panose="02020603050405020304" pitchFamily="18" charset="0"/>
              </a:rPr>
              <a:t>a+c</a:t>
            </a:r>
            <a:r>
              <a:rPr lang="en-US" altLang="zh-CN" i="1" dirty="0" smtClean="0">
                <a:solidFill>
                  <a:srgbClr val="000000"/>
                </a:solidFill>
                <a:ea typeface="宋体" panose="02010600030101010101" pitchFamily="2" charset="-122"/>
                <a:cs typeface="Times New Roman" panose="02020603050405020304" pitchFamily="18" charset="0"/>
              </a:rPr>
              <a:t>&gt;</a:t>
            </a:r>
            <a:r>
              <a:rPr lang="en-US" altLang="zh-CN" i="1" dirty="0" err="1" smtClean="0">
                <a:solidFill>
                  <a:srgbClr val="000000"/>
                </a:solidFill>
                <a:ea typeface="宋体" panose="02010600030101010101" pitchFamily="2" charset="-122"/>
                <a:cs typeface="Times New Roman" panose="02020603050405020304" pitchFamily="18" charset="0"/>
              </a:rPr>
              <a:t>b+c</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D.</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baseline="30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&gt;b</a:t>
            </a:r>
            <a:r>
              <a:rPr lang="en-US" altLang="zh-CN" baseline="30000" dirty="0" smtClean="0">
                <a:solidFill>
                  <a:srgbClr val="000000"/>
                </a:solidFill>
                <a:ea typeface="宋体" panose="02010600030101010101" pitchFamily="2" charset="-122"/>
                <a:cs typeface="Times New Roman" panose="02020603050405020304" pitchFamily="18" charset="0"/>
              </a:rPr>
              <a:t>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b&lt;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&lt;c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利用性质</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err="1">
                <a:solidFill>
                  <a:srgbClr val="000000"/>
                </a:solidFill>
                <a:ea typeface="宋体" panose="02010600030101010101" pitchFamily="2" charset="-122"/>
                <a:cs typeface="Times New Roman" panose="02020603050405020304" pitchFamily="18" charset="0"/>
              </a:rPr>
              <a:t>b+d</a:t>
            </a:r>
            <a:r>
              <a:rPr lang="en-US" altLang="zh-CN" i="1" dirty="0">
                <a:solidFill>
                  <a:srgbClr val="000000"/>
                </a:solidFill>
                <a:ea typeface="宋体" panose="02010600030101010101" pitchFamily="2" charset="-122"/>
                <a:cs typeface="Times New Roman" panose="02020603050405020304" pitchFamily="18" charset="0"/>
              </a:rPr>
              <a:t>&lt;</a:t>
            </a:r>
            <a:r>
              <a:rPr lang="en-US" altLang="zh-CN" i="1" dirty="0" err="1">
                <a:solidFill>
                  <a:srgbClr val="000000"/>
                </a:solidFill>
                <a:ea typeface="宋体" panose="02010600030101010101" pitchFamily="2" charset="-122"/>
                <a:cs typeface="Times New Roman" panose="02020603050405020304" pitchFamily="18" charset="0"/>
              </a:rPr>
              <a:t>a+c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a&gt;b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利用性质</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err="1">
                <a:solidFill>
                  <a:srgbClr val="000000"/>
                </a:solidFill>
                <a:ea typeface="宋体" panose="02010600030101010101" pitchFamily="2" charset="-122"/>
                <a:cs typeface="Times New Roman" panose="02020603050405020304" pitchFamily="18" charset="0"/>
              </a:rPr>
              <a:t>a+c</a:t>
            </a:r>
            <a:r>
              <a:rPr lang="en-US" altLang="zh-CN" i="1" dirty="0">
                <a:solidFill>
                  <a:srgbClr val="000000"/>
                </a:solidFill>
                <a:ea typeface="宋体" panose="02010600030101010101" pitchFamily="2" charset="-122"/>
                <a:cs typeface="Times New Roman" panose="02020603050405020304" pitchFamily="18" charset="0"/>
              </a:rPr>
              <a:t>&gt;</a:t>
            </a:r>
            <a:r>
              <a:rPr lang="en-US" altLang="zh-CN" i="1" dirty="0" err="1">
                <a:solidFill>
                  <a:srgbClr val="000000"/>
                </a:solidFill>
                <a:ea typeface="宋体" panose="02010600030101010101" pitchFamily="2" charset="-122"/>
                <a:cs typeface="Times New Roman" panose="02020603050405020304" pitchFamily="18" charset="0"/>
              </a:rPr>
              <a:t>b+c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(1)C</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(2)C</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7334603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0" dur="500"/>
                                        <p:tgtEl>
                                          <p:spTgt spid="2">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Effect transition="in" filter="randombar(horizontal)">
                                      <p:cBhvr>
                                        <p:cTn id="15"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841700"/>
            <a:ext cx="11745623" cy="4980843"/>
            <a:chOff x="361950" y="779524"/>
            <a:chExt cx="11745623" cy="4980843"/>
          </a:xfrm>
        </p:grpSpPr>
        <p:sp>
          <p:nvSpPr>
            <p:cNvPr id="3" name="矩形 2"/>
            <p:cNvSpPr>
              <a:spLocks noChangeAspect="1"/>
            </p:cNvSpPr>
            <p:nvPr/>
          </p:nvSpPr>
          <p:spPr>
            <a:xfrm>
              <a:off x="361950" y="779524"/>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372115139"/>
                </p:ext>
              </p:extLst>
            </p:nvPr>
          </p:nvGraphicFramePr>
          <p:xfrm>
            <a:off x="435614" y="2589331"/>
            <a:ext cx="11671959" cy="3171036"/>
          </p:xfrm>
          <a:graphic>
            <a:graphicData uri="http://schemas.openxmlformats.org/presentationml/2006/ole">
              <mc:AlternateContent xmlns:mc="http://schemas.openxmlformats.org/markup-compatibility/2006">
                <mc:Choice xmlns:v="urn:schemas-microsoft-com:vml" Requires="v">
                  <p:oleObj spid="_x0000_s4116" name="文档" r:id="rId4" imgW="3826872" imgH="1039684" progId="Word.Document.12">
                    <p:embed/>
                  </p:oleObj>
                </mc:Choice>
                <mc:Fallback>
                  <p:oleObj name="文档" r:id="rId4" imgW="3826872" imgH="1039684" progId="Word.Document.12">
                    <p:embed/>
                    <p:pic>
                      <p:nvPicPr>
                        <p:cNvPr id="0" name=""/>
                        <p:cNvPicPr/>
                        <p:nvPr/>
                      </p:nvPicPr>
                      <p:blipFill>
                        <a:blip r:embed="rId5"/>
                        <a:stretch>
                          <a:fillRect/>
                        </a:stretch>
                      </p:blipFill>
                      <p:spPr>
                        <a:xfrm>
                          <a:off x="435614" y="2589331"/>
                          <a:ext cx="11671959" cy="3171036"/>
                        </a:xfrm>
                        <a:prstGeom prst="rect">
                          <a:avLst/>
                        </a:prstGeom>
                      </p:spPr>
                    </p:pic>
                  </p:oleObj>
                </mc:Fallback>
              </mc:AlternateContent>
            </a:graphicData>
          </a:graphic>
        </p:graphicFrame>
      </p:grpSp>
      <p:sp>
        <p:nvSpPr>
          <p:cNvPr id="6" name="矩形 5"/>
          <p:cNvSpPr/>
          <p:nvPr/>
        </p:nvSpPr>
        <p:spPr>
          <a:xfrm>
            <a:off x="3816821" y="267886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297541" y="3888159"/>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350500" y="4464223"/>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5494516" y="5256311"/>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0195498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利用</a:t>
            </a:r>
            <a:r>
              <a:rPr lang="zh-CN" altLang="zh-CN" dirty="0"/>
              <a:t>不等式的性质判断命题的真假</a:t>
            </a:r>
          </a:p>
        </p:txBody>
      </p:sp>
      <p:grpSp>
        <p:nvGrpSpPr>
          <p:cNvPr id="6" name="组合 5"/>
          <p:cNvGrpSpPr/>
          <p:nvPr/>
        </p:nvGrpSpPr>
        <p:grpSpPr>
          <a:xfrm>
            <a:off x="361950" y="1689813"/>
            <a:ext cx="14262734" cy="2990434"/>
            <a:chOff x="361950" y="1689813"/>
            <a:chExt cx="14262734" cy="2990434"/>
          </a:xfrm>
        </p:grpSpPr>
        <p:sp>
          <p:nvSpPr>
            <p:cNvPr id="4" name="矩形 3"/>
            <p:cNvSpPr>
              <a:spLocks noChangeAspect="1"/>
            </p:cNvSpPr>
            <p:nvPr/>
          </p:nvSpPr>
          <p:spPr>
            <a:xfrm>
              <a:off x="361950" y="1689813"/>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判断下列四个命题的真假</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a&lt;b&lt;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a&gt;b&gt;c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则有</a:t>
              </a:r>
              <a:r>
                <a:rPr lang="en-US" altLang="zh-CN" i="1" dirty="0" err="1">
                  <a:solidFill>
                    <a:srgbClr val="000000"/>
                  </a:solidFill>
                  <a:ea typeface="宋体" panose="02010600030101010101" pitchFamily="2" charset="-122"/>
                  <a:cs typeface="Times New Roman" panose="02020603050405020304" pitchFamily="18" charset="0"/>
                </a:rPr>
                <a:t>a|c</a:t>
              </a:r>
              <a:r>
                <a:rPr lang="en-US" altLang="zh-CN" i="1" dirty="0">
                  <a:solidFill>
                    <a:srgbClr val="000000"/>
                  </a:solidFill>
                  <a:ea typeface="宋体" panose="02010600030101010101" pitchFamily="2" charset="-122"/>
                  <a:cs typeface="Times New Roman" panose="02020603050405020304" pitchFamily="18" charset="0"/>
                </a:rPr>
                <a:t>|&gt;</a:t>
              </a:r>
              <a:r>
                <a:rPr lang="en-US" altLang="zh-CN" i="1" dirty="0" err="1">
                  <a:solidFill>
                    <a:srgbClr val="000000"/>
                  </a:solidFill>
                  <a:ea typeface="宋体" panose="02010600030101010101" pitchFamily="2" charset="-122"/>
                  <a:cs typeface="Times New Roman" panose="02020603050405020304" pitchFamily="18" charset="0"/>
                </a:rPr>
                <a:t>b|c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&lt;d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则有</a:t>
              </a:r>
              <a:r>
                <a:rPr lang="en-US" altLang="zh-CN" i="1" dirty="0">
                  <a:solidFill>
                    <a:srgbClr val="000000"/>
                  </a:solidFill>
                  <a:ea typeface="宋体" panose="02010600030101010101" pitchFamily="2" charset="-122"/>
                  <a:cs typeface="Times New Roman" panose="02020603050405020304" pitchFamily="18" charset="0"/>
                </a:rPr>
                <a:t>a-c&gt;b-d</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b&lt;a&lt;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err="1">
                  <a:solidFill>
                    <a:srgbClr val="000000"/>
                  </a:solidFill>
                  <a:ea typeface="宋体" panose="02010600030101010101" pitchFamily="2" charset="-122"/>
                  <a:cs typeface="Times New Roman" panose="02020603050405020304" pitchFamily="18" charset="0"/>
                </a:rPr>
                <a:t>N,</a:t>
              </a:r>
              <a:r>
                <a:rPr lang="en-US" altLang="zh-CN" i="1" dirty="0" err="1">
                  <a:solidFill>
                    <a:srgbClr val="000000"/>
                  </a:solidFill>
                  <a:ea typeface="宋体" panose="02010600030101010101" pitchFamily="2" charset="-122"/>
                  <a:cs typeface="Times New Roman" panose="02020603050405020304" pitchFamily="18" charset="0"/>
                </a:rPr>
                <a:t>n</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为奇数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则有</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n</a:t>
              </a:r>
              <a:r>
                <a:rPr lang="en-US" altLang="zh-CN" i="1" dirty="0">
                  <a:solidFill>
                    <a:srgbClr val="000000"/>
                  </a:solidFill>
                  <a:ea typeface="宋体" panose="02010600030101010101" pitchFamily="2" charset="-122"/>
                  <a:cs typeface="Times New Roman" panose="02020603050405020304" pitchFamily="18" charset="0"/>
                </a:rPr>
                <a:t>&gt;b</a:t>
              </a:r>
              <a:r>
                <a:rPr lang="en-US" altLang="zh-CN" i="1" baseline="30000" dirty="0">
                  <a:solidFill>
                    <a:srgbClr val="000000"/>
                  </a:solidFill>
                  <a:ea typeface="宋体" panose="02010600030101010101" pitchFamily="2" charset="-122"/>
                  <a:cs typeface="Times New Roman" panose="02020603050405020304" pitchFamily="18" charset="0"/>
                </a:rPr>
                <a:t>n</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29989742"/>
                </p:ext>
              </p:extLst>
            </p:nvPr>
          </p:nvGraphicFramePr>
          <p:xfrm>
            <a:off x="2952725" y="2221815"/>
            <a:ext cx="11671959" cy="725622"/>
          </p:xfrm>
          <a:graphic>
            <a:graphicData uri="http://schemas.openxmlformats.org/presentationml/2006/ole">
              <mc:AlternateContent xmlns:mc="http://schemas.openxmlformats.org/markup-compatibility/2006">
                <mc:Choice xmlns:v="urn:schemas-microsoft-com:vml" Requires="v">
                  <p:oleObj spid="_x0000_s5140" name="文档" r:id="rId4" imgW="3826872" imgH="237909" progId="Word.Document.12">
                    <p:embed/>
                  </p:oleObj>
                </mc:Choice>
                <mc:Fallback>
                  <p:oleObj name="文档" r:id="rId4" imgW="3826872" imgH="237909" progId="Word.Document.12">
                    <p:embed/>
                    <p:pic>
                      <p:nvPicPr>
                        <p:cNvPr id="0" name=""/>
                        <p:cNvPicPr/>
                        <p:nvPr/>
                      </p:nvPicPr>
                      <p:blipFill>
                        <a:blip r:embed="rId5"/>
                        <a:stretch>
                          <a:fillRect/>
                        </a:stretch>
                      </p:blipFill>
                      <p:spPr>
                        <a:xfrm>
                          <a:off x="2952725" y="2221815"/>
                          <a:ext cx="11671959" cy="725622"/>
                        </a:xfrm>
                        <a:prstGeom prst="rect">
                          <a:avLst/>
                        </a:prstGeom>
                      </p:spPr>
                    </p:pic>
                  </p:oleObj>
                </mc:Fallback>
              </mc:AlternateContent>
            </a:graphicData>
          </a:graphic>
        </p:graphicFrame>
      </p:gr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916167"/>
            <a:ext cx="11742454" cy="4536504"/>
            <a:chOff x="361950" y="935831"/>
            <a:chExt cx="11742454" cy="4536504"/>
          </a:xfrm>
        </p:grpSpPr>
        <p:graphicFrame>
          <p:nvGraphicFramePr>
            <p:cNvPr id="2" name="对象 1"/>
            <p:cNvGraphicFramePr>
              <a:graphicFrameLocks noChangeAspect="1"/>
            </p:cNvGraphicFramePr>
            <p:nvPr>
              <p:extLst>
                <p:ext uri="{D42A27DB-BD31-4B8C-83A1-F6EECF244321}">
                  <p14:modId xmlns:p14="http://schemas.microsoft.com/office/powerpoint/2010/main" val="2779317891"/>
                </p:ext>
              </p:extLst>
            </p:nvPr>
          </p:nvGraphicFramePr>
          <p:xfrm>
            <a:off x="432445" y="935831"/>
            <a:ext cx="11671959" cy="1451245"/>
          </p:xfrm>
          <a:graphic>
            <a:graphicData uri="http://schemas.openxmlformats.org/presentationml/2006/ole">
              <mc:AlternateContent xmlns:mc="http://schemas.openxmlformats.org/markup-compatibility/2006">
                <mc:Choice xmlns:v="urn:schemas-microsoft-com:vml" Requires="v">
                  <p:oleObj spid="_x0000_s6164" name="文档" r:id="rId4" imgW="3826872" imgH="475818" progId="Word.Document.12">
                    <p:embed/>
                  </p:oleObj>
                </mc:Choice>
                <mc:Fallback>
                  <p:oleObj name="文档" r:id="rId4" imgW="3826872" imgH="475818" progId="Word.Document.12">
                    <p:embed/>
                    <p:pic>
                      <p:nvPicPr>
                        <p:cNvPr id="0" name=""/>
                        <p:cNvPicPr/>
                        <p:nvPr/>
                      </p:nvPicPr>
                      <p:blipFill>
                        <a:blip r:embed="rId5"/>
                        <a:stretch>
                          <a:fillRect/>
                        </a:stretch>
                      </p:blipFill>
                      <p:spPr>
                        <a:xfrm>
                          <a:off x="432445" y="935831"/>
                          <a:ext cx="11671959" cy="1451245"/>
                        </a:xfrm>
                        <a:prstGeom prst="rect">
                          <a:avLst/>
                        </a:prstGeom>
                      </p:spPr>
                    </p:pic>
                  </p:oleObj>
                </mc:Fallback>
              </mc:AlternateContent>
            </a:graphicData>
          </a:graphic>
        </p:graphicFrame>
        <p:sp>
          <p:nvSpPr>
            <p:cNvPr id="7" name="矩形 6"/>
            <p:cNvSpPr>
              <a:spLocks noChangeAspect="1"/>
            </p:cNvSpPr>
            <p:nvPr/>
          </p:nvSpPr>
          <p:spPr>
            <a:xfrm>
              <a:off x="361950" y="2481901"/>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该命题是假命题</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a&gt;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|c|&gt;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err="1">
                  <a:solidFill>
                    <a:srgbClr val="000000"/>
                  </a:solidFill>
                  <a:latin typeface="+mn-lt"/>
                  <a:ea typeface="宋体" panose="02010600030101010101" pitchFamily="2" charset="-122"/>
                  <a:cs typeface="Times New Roman" panose="02020603050405020304" pitchFamily="18" charset="0"/>
                </a:rPr>
                <a:t>a|c</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i="1" dirty="0" err="1">
                  <a:solidFill>
                    <a:srgbClr val="000000"/>
                  </a:solidFill>
                  <a:latin typeface="+mn-lt"/>
                  <a:ea typeface="宋体" panose="02010600030101010101" pitchFamily="2" charset="-122"/>
                  <a:cs typeface="Times New Roman" panose="02020603050405020304" pitchFamily="18" charset="0"/>
                </a:rPr>
                <a:t>b|c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err="1">
                  <a:solidFill>
                    <a:srgbClr val="000000"/>
                  </a:solidFill>
                  <a:latin typeface="+mn-lt"/>
                  <a:ea typeface="宋体" panose="02010600030101010101" pitchFamily="2" charset="-122"/>
                  <a:cs typeface="Times New Roman" panose="02020603050405020304" pitchFamily="18" charset="0"/>
                </a:rPr>
                <a:t>a|c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该命题是假命题</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27012822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35831"/>
            <a:ext cx="10807700" cy="419076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c&lt;d</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-c&gt;-d.</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又</a:t>
            </a:r>
            <a:r>
              <a:rPr lang="en-US" altLang="zh-CN" i="1" dirty="0">
                <a:solidFill>
                  <a:srgbClr val="000000"/>
                </a:solidFill>
                <a:latin typeface="+mn-lt"/>
                <a:ea typeface="宋体" panose="02010600030101010101" pitchFamily="2" charset="-122"/>
                <a:cs typeface="Times New Roman" panose="02020603050405020304" pitchFamily="18" charset="0"/>
              </a:rPr>
              <a:t>a&gt;b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&gt;b+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-d</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即</a:t>
            </a:r>
            <a:r>
              <a:rPr lang="en-US" altLang="zh-CN" i="1" dirty="0">
                <a:solidFill>
                  <a:srgbClr val="000000"/>
                </a:solidFill>
                <a:latin typeface="+mn-lt"/>
                <a:ea typeface="宋体" panose="02010600030101010101" pitchFamily="2" charset="-122"/>
                <a:cs typeface="Times New Roman" panose="02020603050405020304" pitchFamily="18" charset="0"/>
              </a:rPr>
              <a:t>a-c&gt;b-d.</a:t>
            </a:r>
            <a:r>
              <a:rPr lang="zh-CN" altLang="zh-CN" i="1" dirty="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该命题是真命题</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b&lt;a&lt;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-b&gt;-a&gt;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baseline="30000" dirty="0">
                <a:solidFill>
                  <a:srgbClr val="000000"/>
                </a:solidFill>
                <a:latin typeface="+mn-lt"/>
                <a:ea typeface="宋体" panose="02010600030101010101" pitchFamily="2" charset="-122"/>
                <a:cs typeface="Times New Roman" panose="02020603050405020304" pitchFamily="18" charset="0"/>
              </a:rPr>
              <a:t>n</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baseline="30000" dirty="0">
                <a:solidFill>
                  <a:srgbClr val="000000"/>
                </a:solidFill>
                <a:latin typeface="+mn-lt"/>
                <a:ea typeface="宋体" panose="02010600030101010101" pitchFamily="2" charset="-122"/>
                <a:cs typeface="Times New Roman" panose="02020603050405020304" pitchFamily="18" charset="0"/>
              </a:rPr>
              <a:t>n</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n</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err="1">
                <a:solidFill>
                  <a:srgbClr val="000000"/>
                </a:solidFill>
                <a:latin typeface="+mn-lt"/>
                <a:ea typeface="宋体" panose="02010600030101010101" pitchFamily="2" charset="-122"/>
                <a:cs typeface="Times New Roman" panose="02020603050405020304" pitchFamily="18" charset="0"/>
              </a:rPr>
              <a:t>N,</a:t>
            </a:r>
            <a:r>
              <a:rPr lang="en-US" altLang="zh-CN" i="1" dirty="0" err="1">
                <a:solidFill>
                  <a:srgbClr val="000000"/>
                </a:solidFill>
                <a:latin typeface="+mn-lt"/>
                <a:ea typeface="宋体" panose="02010600030101010101" pitchFamily="2" charset="-122"/>
                <a:cs typeface="Times New Roman" panose="02020603050405020304" pitchFamily="18" charset="0"/>
              </a:rPr>
              <a:t>n</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n</a:t>
            </a:r>
            <a:r>
              <a:rPr lang="zh-CN" altLang="zh-CN" dirty="0">
                <a:solidFill>
                  <a:srgbClr val="000000"/>
                </a:solidFill>
                <a:latin typeface="+mn-lt"/>
                <a:ea typeface="楷体" panose="02010609060101010101" pitchFamily="49" charset="-122"/>
                <a:cs typeface="Times New Roman" panose="02020603050405020304" pitchFamily="18" charset="0"/>
              </a:rPr>
              <a:t>为奇数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i="1" baseline="30000" dirty="0" err="1">
                <a:solidFill>
                  <a:srgbClr val="000000"/>
                </a:solidFill>
                <a:latin typeface="+mn-lt"/>
                <a:ea typeface="宋体" panose="02010600030101010101" pitchFamily="2" charset="-122"/>
                <a:cs typeface="Times New Roman" panose="02020603050405020304" pitchFamily="18" charset="0"/>
              </a:rPr>
              <a:t>n</a:t>
            </a:r>
            <a:r>
              <a:rPr lang="en-US" altLang="zh-CN" i="1" dirty="0">
                <a:solidFill>
                  <a:srgbClr val="000000"/>
                </a:solidFill>
                <a:latin typeface="+mn-lt"/>
                <a:ea typeface="宋体" panose="02010600030101010101" pitchFamily="2" charset="-122"/>
                <a:cs typeface="Times New Roman" panose="02020603050405020304" pitchFamily="18" charset="0"/>
              </a:rPr>
              <a:t>&gt;-a</a:t>
            </a:r>
            <a:r>
              <a:rPr lang="en-US" altLang="zh-CN" i="1" baseline="30000" dirty="0">
                <a:solidFill>
                  <a:srgbClr val="000000"/>
                </a:solidFill>
                <a:latin typeface="+mn-lt"/>
                <a:ea typeface="宋体" panose="02010600030101010101" pitchFamily="2" charset="-122"/>
                <a:cs typeface="Times New Roman" panose="02020603050405020304" pitchFamily="18" charset="0"/>
              </a:rPr>
              <a:t>n</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i="1" baseline="30000" dirty="0">
                <a:solidFill>
                  <a:srgbClr val="000000"/>
                </a:solidFill>
                <a:latin typeface="+mn-lt"/>
                <a:ea typeface="宋体" panose="02010600030101010101" pitchFamily="2" charset="-122"/>
                <a:cs typeface="Times New Roman" panose="02020603050405020304" pitchFamily="18" charset="0"/>
              </a:rPr>
              <a:t>n</a:t>
            </a:r>
            <a:r>
              <a:rPr lang="en-US" altLang="zh-CN" i="1" dirty="0">
                <a:solidFill>
                  <a:srgbClr val="000000"/>
                </a:solidFill>
                <a:latin typeface="+mn-lt"/>
                <a:ea typeface="宋体" panose="02010600030101010101" pitchFamily="2" charset="-122"/>
                <a:cs typeface="Times New Roman" panose="02020603050405020304" pitchFamily="18" charset="0"/>
              </a:rPr>
              <a:t>&gt;b</a:t>
            </a:r>
            <a:r>
              <a:rPr lang="en-US" altLang="zh-CN" i="1" baseline="30000" dirty="0">
                <a:solidFill>
                  <a:srgbClr val="000000"/>
                </a:solidFill>
                <a:latin typeface="+mn-lt"/>
                <a:ea typeface="宋体" panose="02010600030101010101" pitchFamily="2" charset="-122"/>
                <a:cs typeface="Times New Roman" panose="02020603050405020304" pitchFamily="18" charset="0"/>
              </a:rPr>
              <a:t>n</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该命题是真命题</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42941811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95871"/>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运用不等式的性质判断命题的真假时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要注意不等式成立的</a:t>
            </a:r>
            <a:r>
              <a:rPr lang="zh-CN" altLang="zh-CN" dirty="0" smtClean="0">
                <a:solidFill>
                  <a:srgbClr val="000000"/>
                </a:solidFill>
                <a:ea typeface="仿宋" panose="02010609060101010101" pitchFamily="49" charset="-122"/>
                <a:cs typeface="Times New Roman" panose="02020603050405020304" pitchFamily="18" charset="0"/>
              </a:rPr>
              <a:t>条件</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解有关不等式的选择题时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也可采用特殊值法进行排除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注意取值一定要遵循如下原则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一是满足题设条件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二是取值要简单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便于验证计算</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400222856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6421" y="1434243"/>
            <a:ext cx="10953229" cy="2885964"/>
            <a:chOff x="216421" y="1434243"/>
            <a:chExt cx="10953229" cy="2885964"/>
          </a:xfrm>
        </p:grpSpPr>
        <p:sp>
          <p:nvSpPr>
            <p:cNvPr id="2" name="矩形 1"/>
            <p:cNvSpPr>
              <a:spLocks noChangeAspect="1"/>
            </p:cNvSpPr>
            <p:nvPr/>
          </p:nvSpPr>
          <p:spPr>
            <a:xfrm>
              <a:off x="361950" y="1434243"/>
              <a:ext cx="10807700" cy="1274195"/>
            </a:xfrm>
            <a:prstGeom prst="rect">
              <a:avLst/>
            </a:prstGeom>
          </p:spPr>
          <p:txBody>
            <a:bodyPr>
              <a:spAutoFit/>
            </a:bodyPr>
            <a:lstStyle/>
            <a:p>
              <a:pPr indent="304800">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满足</a:t>
              </a:r>
              <a:r>
                <a:rPr lang="en-US" altLang="zh-CN" i="1" dirty="0">
                  <a:solidFill>
                    <a:srgbClr val="000000"/>
                  </a:solidFill>
                  <a:ea typeface="宋体" panose="02010600030101010101" pitchFamily="2" charset="-122"/>
                  <a:cs typeface="Times New Roman" panose="02020603050405020304" pitchFamily="18" charset="0"/>
                </a:rPr>
                <a:t>c&lt;b&lt;a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ac&lt;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则下列</a:t>
              </a:r>
              <a:r>
                <a:rPr lang="zh-CN" altLang="zh-CN" dirty="0" smtClean="0">
                  <a:solidFill>
                    <a:srgbClr val="000000"/>
                  </a:solidFill>
                  <a:ea typeface="宋体" panose="02010600030101010101" pitchFamily="2" charset="-122"/>
                  <a:cs typeface="Times New Roman" panose="02020603050405020304" pitchFamily="18" charset="0"/>
                </a:rPr>
                <a:t>不等式成立</a:t>
              </a:r>
              <a:r>
                <a:rPr lang="zh-CN" altLang="zh-CN" dirty="0">
                  <a:solidFill>
                    <a:srgbClr val="000000"/>
                  </a:solidFill>
                  <a:ea typeface="宋体" panose="02010600030101010101" pitchFamily="2" charset="-122"/>
                  <a:cs typeface="Times New Roman" panose="02020603050405020304" pitchFamily="18" charset="0"/>
                </a:rPr>
                <a:t>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925206308"/>
                </p:ext>
              </p:extLst>
            </p:nvPr>
          </p:nvGraphicFramePr>
          <p:xfrm>
            <a:off x="216421" y="2651884"/>
            <a:ext cx="10607329" cy="1668323"/>
          </p:xfrm>
          <a:graphic>
            <a:graphicData uri="http://schemas.openxmlformats.org/presentationml/2006/ole">
              <mc:AlternateContent xmlns:mc="http://schemas.openxmlformats.org/markup-compatibility/2006">
                <mc:Choice xmlns:v="urn:schemas-microsoft-com:vml" Requires="v">
                  <p:oleObj spid="_x0000_s7188" name="文档" r:id="rId4" imgW="3477813" imgH="546991" progId="Word.Document.12">
                    <p:embed/>
                  </p:oleObj>
                </mc:Choice>
                <mc:Fallback>
                  <p:oleObj name="文档" r:id="rId4" imgW="3477813" imgH="546991" progId="Word.Document.12">
                    <p:embed/>
                    <p:pic>
                      <p:nvPicPr>
                        <p:cNvPr id="0" name=""/>
                        <p:cNvPicPr/>
                        <p:nvPr/>
                      </p:nvPicPr>
                      <p:blipFill>
                        <a:blip r:embed="rId5"/>
                        <a:stretch>
                          <a:fillRect/>
                        </a:stretch>
                      </p:blipFill>
                      <p:spPr>
                        <a:xfrm>
                          <a:off x="216421" y="2651884"/>
                          <a:ext cx="10607329" cy="1668323"/>
                        </a:xfrm>
                        <a:prstGeom prst="rect">
                          <a:avLst/>
                        </a:prstGeom>
                      </p:spPr>
                    </p:pic>
                  </p:oleObj>
                </mc:Fallback>
              </mc:AlternateContent>
            </a:graphicData>
          </a:graphic>
        </p:graphicFrame>
      </p:grpSp>
    </p:spTree>
    <p:extLst>
      <p:ext uri="{BB962C8B-B14F-4D97-AF65-F5344CB8AC3E}">
        <p14:creationId xmlns:p14="http://schemas.microsoft.com/office/powerpoint/2010/main" val="176283845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57818733"/>
              </p:ext>
            </p:extLst>
          </p:nvPr>
        </p:nvGraphicFramePr>
        <p:xfrm>
          <a:off x="-71611" y="822033"/>
          <a:ext cx="10607329" cy="4274734"/>
        </p:xfrm>
        <a:graphic>
          <a:graphicData uri="http://schemas.openxmlformats.org/presentationml/2006/ole">
            <mc:AlternateContent xmlns:mc="http://schemas.openxmlformats.org/markup-compatibility/2006">
              <mc:Choice xmlns:v="urn:schemas-microsoft-com:vml" Requires="v">
                <p:oleObj spid="_x0000_s8212" name="文档" r:id="rId4" imgW="3477813" imgH="1401552" progId="Word.Document.12">
                  <p:embed/>
                </p:oleObj>
              </mc:Choice>
              <mc:Fallback>
                <p:oleObj name="文档" r:id="rId4" imgW="3477813" imgH="1401552" progId="Word.Document.12">
                  <p:embed/>
                  <p:pic>
                    <p:nvPicPr>
                      <p:cNvPr id="0" name=""/>
                      <p:cNvPicPr/>
                      <p:nvPr/>
                    </p:nvPicPr>
                    <p:blipFill>
                      <a:blip r:embed="rId5"/>
                      <a:stretch>
                        <a:fillRect/>
                      </a:stretch>
                    </p:blipFill>
                    <p:spPr>
                      <a:xfrm>
                        <a:off x="-71611" y="822033"/>
                        <a:ext cx="10607329" cy="4274734"/>
                      </a:xfrm>
                      <a:prstGeom prst="rect">
                        <a:avLst/>
                      </a:prstGeom>
                    </p:spPr>
                  </p:pic>
                </p:oleObj>
              </mc:Fallback>
            </mc:AlternateContent>
          </a:graphicData>
        </a:graphic>
      </p:graphicFrame>
      <p:sp>
        <p:nvSpPr>
          <p:cNvPr id="3" name="矩形 2"/>
          <p:cNvSpPr>
            <a:spLocks noChangeAspect="1"/>
          </p:cNvSpPr>
          <p:nvPr/>
        </p:nvSpPr>
        <p:spPr>
          <a:xfrm>
            <a:off x="361950" y="5096767"/>
            <a:ext cx="2385268" cy="683264"/>
          </a:xfrm>
          <a:prstGeom prst="rect">
            <a:avLst/>
          </a:prstGeom>
        </p:spPr>
        <p:txBody>
          <a:bodyPr wrap="none">
            <a:spAutoFit/>
          </a:bodyPr>
          <a:lstStyle/>
          <a:p>
            <a:pPr indent="267970">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ABD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6392057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利用</a:t>
            </a:r>
            <a:r>
              <a:rPr lang="zh-CN" altLang="zh-CN" dirty="0"/>
              <a:t>不等式的性质证明不等式</a:t>
            </a:r>
          </a:p>
        </p:txBody>
      </p:sp>
      <p:grpSp>
        <p:nvGrpSpPr>
          <p:cNvPr id="6" name="组合 5"/>
          <p:cNvGrpSpPr/>
          <p:nvPr/>
        </p:nvGrpSpPr>
        <p:grpSpPr>
          <a:xfrm>
            <a:off x="361950" y="1940606"/>
            <a:ext cx="11886470" cy="1512168"/>
            <a:chOff x="361950" y="1871935"/>
            <a:chExt cx="11886470" cy="1512168"/>
          </a:xfrm>
        </p:grpSpPr>
        <p:sp>
          <p:nvSpPr>
            <p:cNvPr id="4" name="矩形 3"/>
            <p:cNvSpPr>
              <a:spLocks noChangeAspect="1"/>
            </p:cNvSpPr>
            <p:nvPr/>
          </p:nvSpPr>
          <p:spPr>
            <a:xfrm>
              <a:off x="361950" y="1871935"/>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a&gt;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e</a:t>
              </a:r>
              <a:r>
                <a:rPr lang="en-US" altLang="zh-CN" i="1" dirty="0">
                  <a:solidFill>
                    <a:srgbClr val="000000"/>
                  </a:solidFill>
                  <a:ea typeface="宋体" panose="02010600030101010101" pitchFamily="2" charset="-122"/>
                  <a:cs typeface="Times New Roman" panose="02020603050405020304" pitchFamily="18" charset="0"/>
                </a:rPr>
                <a:t>&gt;</a:t>
              </a:r>
              <a:r>
                <a:rPr lang="en-US" altLang="zh-CN" i="1" dirty="0" err="1">
                  <a:solidFill>
                    <a:srgbClr val="000000"/>
                  </a:solidFill>
                  <a:ea typeface="宋体" panose="02010600030101010101" pitchFamily="2" charset="-122"/>
                  <a:cs typeface="Times New Roman" panose="02020603050405020304" pitchFamily="18" charset="0"/>
                </a:rPr>
                <a:t>f</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求证</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f-ac&lt;e-</a:t>
              </a:r>
              <a:r>
                <a:rPr lang="en-US" altLang="zh-CN" i="1" dirty="0" err="1">
                  <a:solidFill>
                    <a:srgbClr val="000000"/>
                  </a:solidFill>
                  <a:ea typeface="宋体" panose="02010600030101010101" pitchFamily="2" charset="-122"/>
                  <a:cs typeface="Times New Roman" panose="02020603050405020304" pitchFamily="18" charset="0"/>
                </a:rPr>
                <a:t>bc</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50496310"/>
                </p:ext>
              </p:extLst>
            </p:nvPr>
          </p:nvGraphicFramePr>
          <p:xfrm>
            <a:off x="576461" y="2533525"/>
            <a:ext cx="11671959" cy="850578"/>
          </p:xfrm>
          <a:graphic>
            <a:graphicData uri="http://schemas.openxmlformats.org/presentationml/2006/ole">
              <mc:AlternateContent xmlns:mc="http://schemas.openxmlformats.org/markup-compatibility/2006">
                <mc:Choice xmlns:v="urn:schemas-microsoft-com:vml" Requires="v">
                  <p:oleObj spid="_x0000_s10259" name="文档" r:id="rId4" imgW="3826872" imgH="278878" progId="Word.Document.12">
                    <p:embed/>
                  </p:oleObj>
                </mc:Choice>
                <mc:Fallback>
                  <p:oleObj name="文档" r:id="rId4" imgW="3826872" imgH="278878" progId="Word.Document.12">
                    <p:embed/>
                    <p:pic>
                      <p:nvPicPr>
                        <p:cNvPr id="0" name=""/>
                        <p:cNvPicPr/>
                        <p:nvPr/>
                      </p:nvPicPr>
                      <p:blipFill>
                        <a:blip r:embed="rId5"/>
                        <a:stretch>
                          <a:fillRect/>
                        </a:stretch>
                      </p:blipFill>
                      <p:spPr>
                        <a:xfrm>
                          <a:off x="576461" y="2533525"/>
                          <a:ext cx="11671959" cy="850578"/>
                        </a:xfrm>
                        <a:prstGeom prst="rect">
                          <a:avLst/>
                        </a:prstGeom>
                      </p:spPr>
                    </p:pic>
                  </p:oleObj>
                </mc:Fallback>
              </mc:AlternateContent>
            </a:graphicData>
          </a:graphic>
        </p:graphicFrame>
      </p:grpSp>
      <p:sp>
        <p:nvSpPr>
          <p:cNvPr id="7" name="矩形 6"/>
          <p:cNvSpPr>
            <a:spLocks noChangeAspect="1"/>
          </p:cNvSpPr>
          <p:nvPr/>
        </p:nvSpPr>
        <p:spPr>
          <a:xfrm>
            <a:off x="361950" y="3534614"/>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根据条件选择合适的不等式的基本性质证明有关不等式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39047263"/>
              </p:ext>
            </p:extLst>
          </p:nvPr>
        </p:nvGraphicFramePr>
        <p:xfrm>
          <a:off x="504453" y="1007839"/>
          <a:ext cx="11671959" cy="4740661"/>
        </p:xfrm>
        <a:graphic>
          <a:graphicData uri="http://schemas.openxmlformats.org/presentationml/2006/ole">
            <mc:AlternateContent xmlns:mc="http://schemas.openxmlformats.org/markup-compatibility/2006">
              <mc:Choice xmlns:v="urn:schemas-microsoft-com:vml" Requires="v">
                <p:oleObj spid="_x0000_s11283" name="文档" r:id="rId4" imgW="3826872" imgH="1554315" progId="Word.Document.12">
                  <p:embed/>
                </p:oleObj>
              </mc:Choice>
              <mc:Fallback>
                <p:oleObj name="文档" r:id="rId4" imgW="3826872" imgH="1554315" progId="Word.Document.12">
                  <p:embed/>
                  <p:pic>
                    <p:nvPicPr>
                      <p:cNvPr id="0" name=""/>
                      <p:cNvPicPr/>
                      <p:nvPr/>
                    </p:nvPicPr>
                    <p:blipFill>
                      <a:blip r:embed="rId5"/>
                      <a:stretch>
                        <a:fillRect/>
                      </a:stretch>
                    </p:blipFill>
                    <p:spPr>
                      <a:xfrm>
                        <a:off x="504453" y="1007839"/>
                        <a:ext cx="11671959" cy="4740661"/>
                      </a:xfrm>
                      <a:prstGeom prst="rect">
                        <a:avLst/>
                      </a:prstGeom>
                    </p:spPr>
                  </p:pic>
                </p:oleObj>
              </mc:Fallback>
            </mc:AlternateContent>
          </a:graphicData>
        </a:graphic>
      </p:graphicFrame>
    </p:spTree>
    <p:extLst>
      <p:ext uri="{BB962C8B-B14F-4D97-AF65-F5344CB8AC3E}">
        <p14:creationId xmlns:p14="http://schemas.microsoft.com/office/powerpoint/2010/main" val="124557140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延伸探究H.eps" descr="id:2147492067;FounderCES"/>
          <p:cNvPicPr/>
          <p:nvPr/>
        </p:nvPicPr>
        <p:blipFill>
          <a:blip r:embed="rId3"/>
          <a:stretch>
            <a:fillRect/>
          </a:stretch>
        </p:blipFill>
        <p:spPr>
          <a:xfrm>
            <a:off x="4062812" y="998007"/>
            <a:ext cx="2740119" cy="499725"/>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2636322351"/>
              </p:ext>
            </p:extLst>
          </p:nvPr>
        </p:nvGraphicFramePr>
        <p:xfrm>
          <a:off x="660400" y="1605886"/>
          <a:ext cx="11671959" cy="760697"/>
        </p:xfrm>
        <a:graphic>
          <a:graphicData uri="http://schemas.openxmlformats.org/presentationml/2006/ole">
            <mc:AlternateContent xmlns:mc="http://schemas.openxmlformats.org/markup-compatibility/2006">
              <mc:Choice xmlns:v="urn:schemas-microsoft-com:vml" Requires="v">
                <p:oleObj spid="_x0000_s12324" name="文档" r:id="rId5" imgW="3826872" imgH="249409" progId="Word.Document.12">
                  <p:embed/>
                </p:oleObj>
              </mc:Choice>
              <mc:Fallback>
                <p:oleObj name="文档" r:id="rId5" imgW="3826872" imgH="249409" progId="Word.Document.12">
                  <p:embed/>
                  <p:pic>
                    <p:nvPicPr>
                      <p:cNvPr id="0" name=""/>
                      <p:cNvPicPr/>
                      <p:nvPr/>
                    </p:nvPicPr>
                    <p:blipFill>
                      <a:blip r:embed="rId6"/>
                      <a:stretch>
                        <a:fillRect/>
                      </a:stretch>
                    </p:blipFill>
                    <p:spPr>
                      <a:xfrm>
                        <a:off x="660400" y="1605886"/>
                        <a:ext cx="11671959" cy="76069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143653733"/>
              </p:ext>
            </p:extLst>
          </p:nvPr>
        </p:nvGraphicFramePr>
        <p:xfrm>
          <a:off x="660400" y="2428327"/>
          <a:ext cx="11671959" cy="2633943"/>
        </p:xfrm>
        <a:graphic>
          <a:graphicData uri="http://schemas.openxmlformats.org/presentationml/2006/ole">
            <mc:AlternateContent xmlns:mc="http://schemas.openxmlformats.org/markup-compatibility/2006">
              <mc:Choice xmlns:v="urn:schemas-microsoft-com:vml" Requires="v">
                <p:oleObj spid="_x0000_s12325" name="文档" r:id="rId8" imgW="3826872" imgH="863588" progId="Word.Document.12">
                  <p:embed/>
                </p:oleObj>
              </mc:Choice>
              <mc:Fallback>
                <p:oleObj name="文档" r:id="rId8" imgW="3826872" imgH="863588" progId="Word.Document.12">
                  <p:embed/>
                  <p:pic>
                    <p:nvPicPr>
                      <p:cNvPr id="0" name=""/>
                      <p:cNvPicPr/>
                      <p:nvPr/>
                    </p:nvPicPr>
                    <p:blipFill>
                      <a:blip r:embed="rId9"/>
                      <a:stretch>
                        <a:fillRect/>
                      </a:stretch>
                    </p:blipFill>
                    <p:spPr>
                      <a:xfrm>
                        <a:off x="660400" y="2428327"/>
                        <a:ext cx="11671959" cy="2633943"/>
                      </a:xfrm>
                      <a:prstGeom prst="rect">
                        <a:avLst/>
                      </a:prstGeom>
                    </p:spPr>
                  </p:pic>
                </p:oleObj>
              </mc:Fallback>
            </mc:AlternateContent>
          </a:graphicData>
        </a:graphic>
      </p:graphicFrame>
    </p:spTree>
    <p:extLst>
      <p:ext uri="{BB962C8B-B14F-4D97-AF65-F5344CB8AC3E}">
        <p14:creationId xmlns:p14="http://schemas.microsoft.com/office/powerpoint/2010/main" val="2509854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04504"/>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用</a:t>
            </a:r>
            <a:r>
              <a:rPr lang="zh-CN" altLang="zh-CN" dirty="0">
                <a:solidFill>
                  <a:srgbClr val="000000"/>
                </a:solidFill>
                <a:ea typeface="仿宋" panose="02010609060101010101" pitchFamily="49" charset="-122"/>
                <a:cs typeface="Times New Roman" panose="02020603050405020304" pitchFamily="18" charset="0"/>
              </a:rPr>
              <a:t>不等式的性质进行证明时要善于寻找欲证不等式与已知条件的关系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利用相应的不等式性质证明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要注意观察一个不等式是不是在某个已知条件的两边同乘</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仿宋" panose="02010609060101010101" pitchFamily="49" charset="-122"/>
                <a:cs typeface="Times New Roman" panose="02020603050405020304" pitchFamily="18" charset="0"/>
              </a:rPr>
              <a:t>或</a:t>
            </a:r>
            <a:r>
              <a:rPr lang="zh-CN" altLang="zh-CN" dirty="0" smtClean="0">
                <a:solidFill>
                  <a:srgbClr val="000000"/>
                </a:solidFill>
                <a:ea typeface="仿宋" panose="02010609060101010101" pitchFamily="49" charset="-122"/>
                <a:cs typeface="Times New Roman" panose="02020603050405020304" pitchFamily="18" charset="0"/>
              </a:rPr>
              <a:t>除以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a:t>
            </a:r>
            <a:r>
              <a:rPr lang="zh-CN" altLang="zh-CN" dirty="0" smtClean="0">
                <a:solidFill>
                  <a:srgbClr val="000000"/>
                </a:solidFill>
                <a:ea typeface="仿宋" panose="02010609060101010101" pitchFamily="49" charset="-122"/>
                <a:cs typeface="Times New Roman" panose="02020603050405020304" pitchFamily="18" charset="0"/>
              </a:rPr>
              <a:t>个</a:t>
            </a:r>
            <a:r>
              <a:rPr lang="zh-CN" altLang="en-US" dirty="0" smtClean="0">
                <a:solidFill>
                  <a:srgbClr val="000000"/>
                </a:solidFill>
                <a:ea typeface="仿宋" panose="02010609060101010101" pitchFamily="49" charset="-122"/>
                <a:cs typeface="Times New Roman" panose="02020603050405020304" pitchFamily="18" charset="0"/>
              </a:rPr>
              <a:t>不为</a:t>
            </a:r>
            <a:r>
              <a:rPr lang="en-US" altLang="zh-CN" dirty="0" smtClean="0">
                <a:solidFill>
                  <a:srgbClr val="000000"/>
                </a:solidFill>
                <a:ea typeface="仿宋" panose="02010609060101010101" pitchFamily="49" charset="-122"/>
                <a:cs typeface="Times New Roman" panose="02020603050405020304" pitchFamily="18" charset="0"/>
              </a:rPr>
              <a:t>0</a:t>
            </a:r>
            <a:r>
              <a:rPr lang="zh-CN" altLang="en-US" dirty="0" smtClean="0">
                <a:solidFill>
                  <a:srgbClr val="000000"/>
                </a:solidFill>
                <a:ea typeface="仿宋" panose="02010609060101010101" pitchFamily="49" charset="-122"/>
                <a:cs typeface="Times New Roman" panose="02020603050405020304" pitchFamily="18" charset="0"/>
              </a:rPr>
              <a:t>的</a:t>
            </a:r>
            <a:r>
              <a:rPr lang="zh-CN" altLang="zh-CN" dirty="0" smtClean="0">
                <a:solidFill>
                  <a:srgbClr val="000000"/>
                </a:solidFill>
                <a:ea typeface="仿宋" panose="02010609060101010101" pitchFamily="49" charset="-122"/>
                <a:cs typeface="Times New Roman" panose="02020603050405020304" pitchFamily="18" charset="0"/>
              </a:rPr>
              <a:t>常数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一个不等式是不是某两个同向不等式相加得到的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一个不等式是不是将一个不等式的两边取了倒数而得到的等等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240832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673735441"/>
              </p:ext>
            </p:extLst>
          </p:nvPr>
        </p:nvGraphicFramePr>
        <p:xfrm>
          <a:off x="432445" y="1223863"/>
          <a:ext cx="11671959" cy="734391"/>
        </p:xfrm>
        <a:graphic>
          <a:graphicData uri="http://schemas.openxmlformats.org/presentationml/2006/ole">
            <mc:AlternateContent xmlns:mc="http://schemas.openxmlformats.org/markup-compatibility/2006">
              <mc:Choice xmlns:v="urn:schemas-microsoft-com:vml" Requires="v">
                <p:oleObj spid="_x0000_s13344" name="文档" r:id="rId4" imgW="3826872" imgH="240784" progId="Word.Document.12">
                  <p:embed/>
                </p:oleObj>
              </mc:Choice>
              <mc:Fallback>
                <p:oleObj name="文档" r:id="rId4" imgW="3826872" imgH="240784" progId="Word.Document.12">
                  <p:embed/>
                  <p:pic>
                    <p:nvPicPr>
                      <p:cNvPr id="0" name=""/>
                      <p:cNvPicPr/>
                      <p:nvPr/>
                    </p:nvPicPr>
                    <p:blipFill>
                      <a:blip r:embed="rId5"/>
                      <a:stretch>
                        <a:fillRect/>
                      </a:stretch>
                    </p:blipFill>
                    <p:spPr>
                      <a:xfrm>
                        <a:off x="432445" y="1223863"/>
                        <a:ext cx="11671959" cy="734391"/>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626329385"/>
              </p:ext>
            </p:extLst>
          </p:nvPr>
        </p:nvGraphicFramePr>
        <p:xfrm>
          <a:off x="432445" y="2087954"/>
          <a:ext cx="11671959" cy="2592293"/>
        </p:xfrm>
        <a:graphic>
          <a:graphicData uri="http://schemas.openxmlformats.org/presentationml/2006/ole">
            <mc:AlternateContent xmlns:mc="http://schemas.openxmlformats.org/markup-compatibility/2006">
              <mc:Choice xmlns:v="urn:schemas-microsoft-com:vml" Requires="v">
                <p:oleObj spid="_x0000_s13345" name="文档" r:id="rId7" imgW="3826872" imgH="849932" progId="Word.Document.12">
                  <p:embed/>
                </p:oleObj>
              </mc:Choice>
              <mc:Fallback>
                <p:oleObj name="文档" r:id="rId7" imgW="3826872" imgH="849932" progId="Word.Document.12">
                  <p:embed/>
                  <p:pic>
                    <p:nvPicPr>
                      <p:cNvPr id="0" name=""/>
                      <p:cNvPicPr/>
                      <p:nvPr/>
                    </p:nvPicPr>
                    <p:blipFill>
                      <a:blip r:embed="rId8"/>
                      <a:stretch>
                        <a:fillRect/>
                      </a:stretch>
                    </p:blipFill>
                    <p:spPr>
                      <a:xfrm>
                        <a:off x="432445" y="2087954"/>
                        <a:ext cx="11671959" cy="2592293"/>
                      </a:xfrm>
                      <a:prstGeom prst="rect">
                        <a:avLst/>
                      </a:prstGeom>
                    </p:spPr>
                  </p:pic>
                </p:oleObj>
              </mc:Fallback>
            </mc:AlternateContent>
          </a:graphicData>
        </a:graphic>
      </p:graphicFrame>
    </p:spTree>
    <p:extLst>
      <p:ext uri="{BB962C8B-B14F-4D97-AF65-F5344CB8AC3E}">
        <p14:creationId xmlns:p14="http://schemas.microsoft.com/office/powerpoint/2010/main" val="347059389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探究</a:t>
            </a:r>
            <a:r>
              <a:rPr lang="zh-CN" altLang="zh-CN" dirty="0" smtClean="0"/>
              <a:t>三</a:t>
            </a:r>
            <a:r>
              <a:rPr lang="en-US" altLang="zh-CN" dirty="0" smtClean="0"/>
              <a:t>  </a:t>
            </a:r>
            <a:r>
              <a:rPr lang="zh-CN" altLang="zh-CN" dirty="0" smtClean="0"/>
              <a:t>利用</a:t>
            </a:r>
            <a:r>
              <a:rPr lang="zh-CN" altLang="zh-CN" dirty="0"/>
              <a:t>不等式的性质求代数式的取值范围</a:t>
            </a:r>
          </a:p>
        </p:txBody>
      </p:sp>
      <p:sp>
        <p:nvSpPr>
          <p:cNvPr id="2" name="矩形 1"/>
          <p:cNvSpPr>
            <a:spLocks noChangeAspect="1"/>
          </p:cNvSpPr>
          <p:nvPr/>
        </p:nvSpPr>
        <p:spPr>
          <a:xfrm>
            <a:off x="361950" y="1799927"/>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4,2</a:t>
            </a:r>
            <a:r>
              <a:rPr lang="en-US" altLang="zh-CN" i="1" dirty="0">
                <a:solidFill>
                  <a:srgbClr val="000000"/>
                </a:solidFill>
                <a:ea typeface="宋体" panose="02010600030101010101" pitchFamily="2" charset="-122"/>
                <a:cs typeface="Times New Roman" panose="02020603050405020304" pitchFamily="18" charset="0"/>
              </a:rPr>
              <a:t>&lt;y&lt;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x-y</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4,2</a:t>
            </a:r>
            <a:r>
              <a:rPr lang="en-US" altLang="zh-CN" i="1" dirty="0">
                <a:solidFill>
                  <a:srgbClr val="000000"/>
                </a:solidFill>
                <a:ea typeface="宋体" panose="02010600030101010101" pitchFamily="2" charset="-122"/>
                <a:cs typeface="Times New Roman" panose="02020603050405020304" pitchFamily="18" charset="0"/>
              </a:rPr>
              <a:t>&lt;y&lt;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&lt;-y&lt;-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&lt;x-y&lt;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4,2</a:t>
            </a:r>
            <a:r>
              <a:rPr lang="en-US" altLang="zh-CN" i="1" dirty="0">
                <a:solidFill>
                  <a:srgbClr val="000000"/>
                </a:solidFill>
                <a:ea typeface="宋体" panose="02010600030101010101" pitchFamily="2" charset="-122"/>
                <a:cs typeface="Times New Roman" panose="02020603050405020304" pitchFamily="18" charset="0"/>
              </a:rPr>
              <a:t>&lt;y&lt;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x&lt;</a:t>
            </a:r>
            <a:r>
              <a:rPr lang="en-US" altLang="zh-CN" dirty="0">
                <a:solidFill>
                  <a:srgbClr val="000000"/>
                </a:solidFill>
                <a:ea typeface="宋体" panose="02010600030101010101" pitchFamily="2" charset="-122"/>
                <a:cs typeface="Times New Roman" panose="02020603050405020304" pitchFamily="18" charset="0"/>
              </a:rPr>
              <a:t>12,4</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y&lt;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y&lt;</a:t>
            </a:r>
            <a:r>
              <a:rPr lang="en-US" altLang="zh-CN" dirty="0">
                <a:solidFill>
                  <a:srgbClr val="000000"/>
                </a:solidFill>
                <a:ea typeface="宋体" panose="02010600030101010101" pitchFamily="2" charset="-122"/>
                <a:cs typeface="Times New Roman" panose="02020603050405020304" pitchFamily="18" charset="0"/>
              </a:rPr>
              <a:t>18</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延伸探究H.eps" descr="id:2147492067;FounderCES"/>
          <p:cNvPicPr/>
          <p:nvPr/>
        </p:nvPicPr>
        <p:blipFill>
          <a:blip r:embed="rId2"/>
          <a:stretch>
            <a:fillRect/>
          </a:stretch>
        </p:blipFill>
        <p:spPr>
          <a:xfrm>
            <a:off x="4062812" y="709975"/>
            <a:ext cx="2740119" cy="499725"/>
          </a:xfrm>
          <a:prstGeom prst="rect">
            <a:avLst/>
          </a:prstGeom>
        </p:spPr>
      </p:pic>
      <p:sp>
        <p:nvSpPr>
          <p:cNvPr id="5" name="矩形 4"/>
          <p:cNvSpPr>
            <a:spLocks noChangeAspect="1"/>
          </p:cNvSpPr>
          <p:nvPr/>
        </p:nvSpPr>
        <p:spPr>
          <a:xfrm>
            <a:off x="361950" y="1237474"/>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将本例条件改为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&lt;x&lt;y&lt;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x-y</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&lt;y&lt;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&lt;-y&lt;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&lt;x-y&lt;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又</a:t>
            </a:r>
            <a:r>
              <a:rPr lang="en-US" altLang="zh-CN" i="1" dirty="0" smtClean="0">
                <a:solidFill>
                  <a:srgbClr val="000000"/>
                </a:solidFill>
                <a:ea typeface="宋体" panose="02010600030101010101" pitchFamily="2" charset="-122"/>
                <a:cs typeface="Times New Roman" panose="02020603050405020304" pitchFamily="18" charset="0"/>
              </a:rPr>
              <a:t>x&lt;y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x-y&lt;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&lt;x-y&lt;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6" name="矩形 5"/>
          <p:cNvSpPr>
            <a:spLocks noChangeAspect="1"/>
          </p:cNvSpPr>
          <p:nvPr/>
        </p:nvSpPr>
        <p:spPr>
          <a:xfrm>
            <a:off x="288429" y="3050571"/>
            <a:ext cx="10807700" cy="3046988"/>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利用几个不等式的取值范围来确定某代数式的取值范围是一类常见的综合问题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解题时要紧扣不等式的基本性质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不能直接将几个已知不等式相加减或相乘除</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注意提升逻辑推理和数学运算能力</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4268818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776688"/>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y&gt;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x+y&gt;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err="1">
                <a:solidFill>
                  <a:srgbClr val="000000"/>
                </a:solidFill>
                <a:ea typeface="宋体" panose="02010600030101010101" pitchFamily="2" charset="-122"/>
                <a:cs typeface="Times New Roman" panose="02020603050405020304" pitchFamily="18" charset="0"/>
              </a:rPr>
              <a:t>xy</a:t>
            </a:r>
            <a:r>
              <a:rPr lang="en-US" altLang="zh-CN" i="1" dirty="0">
                <a:solidFill>
                  <a:srgbClr val="000000"/>
                </a:solidFill>
                <a:ea typeface="宋体" panose="02010600030101010101" pitchFamily="2" charset="-122"/>
                <a:cs typeface="Times New Roman" panose="02020603050405020304" pitchFamily="18" charset="0"/>
              </a:rPr>
              <a:t>&gt;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(2)2</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0170027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676904"/>
            <a:ext cx="11664950" cy="5653905"/>
            <a:chOff x="361950" y="696568"/>
            <a:chExt cx="11664950" cy="5653905"/>
          </a:xfrm>
        </p:grpSpPr>
        <p:sp>
          <p:nvSpPr>
            <p:cNvPr id="3" name="矩形 2"/>
            <p:cNvSpPr>
              <a:spLocks noChangeAspect="1"/>
            </p:cNvSpPr>
            <p:nvPr/>
          </p:nvSpPr>
          <p:spPr>
            <a:xfrm>
              <a:off x="361950" y="696568"/>
              <a:ext cx="10807700" cy="2456057"/>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错用不等式的性质致错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【典例】</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且</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求</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NEU-BZ-S92"/>
                  <a:ea typeface="宋体" panose="02010600030101010101" pitchFamily="2" charset="-122"/>
                  <a:cs typeface="宋体" panose="02010600030101010101" pitchFamily="2" charset="-122"/>
                </a:rPr>
                <a:t>①</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latin typeface="NEU-BZ-S92"/>
                  <a:ea typeface="宋体" panose="02010600030101010101" pitchFamily="2" charset="-122"/>
                  <a:cs typeface="宋体" panose="02010600030101010101" pitchFamily="2" charset="-122"/>
                </a:rPr>
                <a:t>②</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499518915"/>
                </p:ext>
              </p:extLst>
            </p:nvPr>
          </p:nvGraphicFramePr>
          <p:xfrm>
            <a:off x="365125" y="3085127"/>
            <a:ext cx="11661775" cy="1968500"/>
          </p:xfrm>
          <a:graphic>
            <a:graphicData uri="http://schemas.openxmlformats.org/presentationml/2006/ole">
              <mc:AlternateContent xmlns:mc="http://schemas.openxmlformats.org/markup-compatibility/2006">
                <mc:Choice xmlns:v="urn:schemas-microsoft-com:vml" Requires="v">
                  <p:oleObj spid="_x0000_s14352" name="文档" r:id="rId4" imgW="3837724" imgH="649034" progId="Word.Document.12">
                    <p:embed/>
                  </p:oleObj>
                </mc:Choice>
                <mc:Fallback>
                  <p:oleObj name="文档" r:id="rId4" imgW="3837724" imgH="649034" progId="Word.Document.12">
                    <p:embed/>
                    <p:pic>
                      <p:nvPicPr>
                        <p:cNvPr id="0" name=""/>
                        <p:cNvPicPr/>
                        <p:nvPr/>
                      </p:nvPicPr>
                      <p:blipFill>
                        <a:blip r:embed="rId5"/>
                        <a:stretch>
                          <a:fillRect/>
                        </a:stretch>
                      </p:blipFill>
                      <p:spPr>
                        <a:xfrm>
                          <a:off x="365125" y="3085127"/>
                          <a:ext cx="11661775" cy="1968500"/>
                        </a:xfrm>
                        <a:prstGeom prst="rect">
                          <a:avLst/>
                        </a:prstGeom>
                      </p:spPr>
                    </p:pic>
                  </p:oleObj>
                </mc:Fallback>
              </mc:AlternateContent>
            </a:graphicData>
          </a:graphic>
        </p:graphicFrame>
        <p:sp>
          <p:nvSpPr>
            <p:cNvPr id="5" name="矩形 4"/>
            <p:cNvSpPr>
              <a:spLocks noChangeAspect="1"/>
            </p:cNvSpPr>
            <p:nvPr/>
          </p:nvSpPr>
          <p:spPr>
            <a:xfrm>
              <a:off x="361950" y="5076278"/>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以上</a:t>
              </a:r>
              <a:r>
                <a:rPr lang="zh-CN" altLang="zh-CN" dirty="0">
                  <a:solidFill>
                    <a:srgbClr val="000000"/>
                  </a:solidFill>
                  <a:ea typeface="宋体" panose="02010600030101010101" pitchFamily="2" charset="-122"/>
                  <a:cs typeface="Times New Roman" panose="02020603050405020304" pitchFamily="18" charset="0"/>
                </a:rPr>
                <a:t>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1109629"/>
            <a:ext cx="18151166" cy="4228850"/>
            <a:chOff x="361950" y="1084015"/>
            <a:chExt cx="18151166" cy="4228850"/>
          </a:xfrm>
        </p:grpSpPr>
        <p:sp>
          <p:nvSpPr>
            <p:cNvPr id="7" name="矩形 6"/>
            <p:cNvSpPr>
              <a:spLocks noChangeAspect="1"/>
            </p:cNvSpPr>
            <p:nvPr/>
          </p:nvSpPr>
          <p:spPr>
            <a:xfrm>
              <a:off x="361950" y="1084015"/>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上面的解法看上去似乎每一步都是合情合理的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但实际上答案是错误的</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 为什么</a:t>
              </a:r>
              <a:r>
                <a:rPr lang="zh-CN" altLang="zh-CN" dirty="0">
                  <a:solidFill>
                    <a:srgbClr val="000000"/>
                  </a:solidFill>
                  <a:ea typeface="楷体" panose="02010609060101010101" pitchFamily="49" charset="-122"/>
                  <a:cs typeface="Times New Roman" panose="02020603050405020304" pitchFamily="18" charset="0"/>
                </a:rPr>
                <a:t>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我们先看不等式</a:t>
              </a: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b </a:t>
              </a:r>
              <a:r>
                <a:rPr lang="en-US" altLang="zh-CN" dirty="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什么时候取等号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由上述解题过程可知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才取等号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而此时</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不满足</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是不能等于</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同理可验证</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也不能等于</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出现上述错误的原因是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同向不等式两边分别相加所得不等式与原不等式同向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这一性质是单向的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用它来做变形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是非同解变形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因此结论是错误的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354759509"/>
                </p:ext>
              </p:extLst>
            </p:nvPr>
          </p:nvGraphicFramePr>
          <p:xfrm>
            <a:off x="6841157" y="2180287"/>
            <a:ext cx="11671959" cy="723429"/>
          </p:xfrm>
          <a:graphic>
            <a:graphicData uri="http://schemas.openxmlformats.org/presentationml/2006/ole">
              <mc:AlternateContent xmlns:mc="http://schemas.openxmlformats.org/markup-compatibility/2006">
                <mc:Choice xmlns:v="urn:schemas-microsoft-com:vml" Requires="v">
                  <p:oleObj spid="_x0000_s15376" name="文档" r:id="rId4" imgW="3826872" imgH="237190" progId="Word.Document.12">
                    <p:embed/>
                  </p:oleObj>
                </mc:Choice>
                <mc:Fallback>
                  <p:oleObj name="文档" r:id="rId4" imgW="3826872" imgH="237190" progId="Word.Document.12">
                    <p:embed/>
                    <p:pic>
                      <p:nvPicPr>
                        <p:cNvPr id="0" name=""/>
                        <p:cNvPicPr/>
                        <p:nvPr/>
                      </p:nvPicPr>
                      <p:blipFill>
                        <a:blip r:embed="rId5"/>
                        <a:stretch>
                          <a:fillRect/>
                        </a:stretch>
                      </p:blipFill>
                      <p:spPr>
                        <a:xfrm>
                          <a:off x="6841157" y="2180287"/>
                          <a:ext cx="11671959" cy="723429"/>
                        </a:xfrm>
                        <a:prstGeom prst="rect">
                          <a:avLst/>
                        </a:prstGeom>
                      </p:spPr>
                    </p:pic>
                  </p:oleObj>
                </mc:Fallback>
              </mc:AlternateContent>
            </a:graphicData>
          </a:graphic>
        </p:graphicFrame>
      </p:grpSp>
    </p:spTree>
    <p:extLst>
      <p:ext uri="{BB962C8B-B14F-4D97-AF65-F5344CB8AC3E}">
        <p14:creationId xmlns:p14="http://schemas.microsoft.com/office/powerpoint/2010/main" val="2508037938"/>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73311029"/>
              </p:ext>
            </p:extLst>
          </p:nvPr>
        </p:nvGraphicFramePr>
        <p:xfrm>
          <a:off x="495300" y="1011238"/>
          <a:ext cx="11660188" cy="4475162"/>
        </p:xfrm>
        <a:graphic>
          <a:graphicData uri="http://schemas.openxmlformats.org/presentationml/2006/ole">
            <mc:AlternateContent xmlns:mc="http://schemas.openxmlformats.org/markup-compatibility/2006">
              <mc:Choice xmlns:v="urn:schemas-microsoft-com:vml" Requires="v">
                <p:oleObj spid="_x0000_s16400" name="文档" r:id="rId4" imgW="3837724" imgH="1477633" progId="Word.Document.12">
                  <p:embed/>
                </p:oleObj>
              </mc:Choice>
              <mc:Fallback>
                <p:oleObj name="文档" r:id="rId4" imgW="3837724" imgH="1477633" progId="Word.Document.12">
                  <p:embed/>
                  <p:pic>
                    <p:nvPicPr>
                      <p:cNvPr id="0" name=""/>
                      <p:cNvPicPr/>
                      <p:nvPr/>
                    </p:nvPicPr>
                    <p:blipFill>
                      <a:blip r:embed="rId5"/>
                      <a:stretch>
                        <a:fillRect/>
                      </a:stretch>
                    </p:blipFill>
                    <p:spPr>
                      <a:xfrm>
                        <a:off x="495300" y="1011238"/>
                        <a:ext cx="11660188" cy="4475162"/>
                      </a:xfrm>
                      <a:prstGeom prst="rect">
                        <a:avLst/>
                      </a:prstGeom>
                    </p:spPr>
                  </p:pic>
                </p:oleObj>
              </mc:Fallback>
            </mc:AlternateContent>
          </a:graphicData>
        </a:graphic>
      </p:graphicFrame>
    </p:spTree>
    <p:extLst>
      <p:ext uri="{BB962C8B-B14F-4D97-AF65-F5344CB8AC3E}">
        <p14:creationId xmlns:p14="http://schemas.microsoft.com/office/powerpoint/2010/main" val="4040228288"/>
      </p:ext>
    </p:extLst>
  </p:cSld>
  <p:clrMapOvr>
    <a:masterClrMapping/>
  </p:clrMapOvr>
  <p:transition spd="slow">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27461"/>
            <a:ext cx="10807700" cy="4228850"/>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防范措施</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建立待求取值范围的整体与已知取值范围的整体的关系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利用不等式的性质进行运算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求得待求的取值范围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同向</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异向</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不等式的两边可以相加</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减</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但这种转化不是等价变形</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如果在解题过程中多次使用这种转化</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就有可能扩大其取值范围</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所以选用不等式的性质求代数式的取值范围时要谨慎</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必要时改换求解的思路和方法</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2570755875"/>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00143"/>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a:t>
            </a:r>
            <a:r>
              <a:rPr lang="en-US" altLang="zh-CN" i="1" dirty="0" err="1">
                <a:solidFill>
                  <a:srgbClr val="000000"/>
                </a:solidFill>
                <a:ea typeface="宋体" panose="02010600030101010101" pitchFamily="2" charset="-122"/>
                <a:cs typeface="Times New Roman" panose="02020603050405020304" pitchFamily="18" charset="0"/>
              </a:rPr>
              <a:t>x+y</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4,2</a:t>
            </a:r>
            <a:r>
              <a:rPr lang="en-US" altLang="zh-CN" i="1" dirty="0">
                <a:solidFill>
                  <a:srgbClr val="000000"/>
                </a:solidFill>
                <a:ea typeface="宋体" panose="02010600030101010101" pitchFamily="2" charset="-122"/>
                <a:cs typeface="Times New Roman" panose="02020603050405020304" pitchFamily="18" charset="0"/>
              </a:rPr>
              <a:t>&lt;x-y&lt;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求</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635632311"/>
              </p:ext>
            </p:extLst>
          </p:nvPr>
        </p:nvGraphicFramePr>
        <p:xfrm>
          <a:off x="648469" y="1370709"/>
          <a:ext cx="11671959" cy="4802042"/>
        </p:xfrm>
        <a:graphic>
          <a:graphicData uri="http://schemas.openxmlformats.org/presentationml/2006/ole">
            <mc:AlternateContent xmlns:mc="http://schemas.openxmlformats.org/markup-compatibility/2006">
              <mc:Choice xmlns:v="urn:schemas-microsoft-com:vml" Requires="v">
                <p:oleObj spid="_x0000_s17423" name="文档" r:id="rId4" imgW="3837724" imgH="1579675" progId="Word.Document.12">
                  <p:embed/>
                </p:oleObj>
              </mc:Choice>
              <mc:Fallback>
                <p:oleObj name="文档" r:id="rId4" imgW="3837724" imgH="1579675" progId="Word.Document.12">
                  <p:embed/>
                  <p:pic>
                    <p:nvPicPr>
                      <p:cNvPr id="0" name=""/>
                      <p:cNvPicPr/>
                      <p:nvPr/>
                    </p:nvPicPr>
                    <p:blipFill>
                      <a:blip r:embed="rId5"/>
                      <a:stretch>
                        <a:fillRect/>
                      </a:stretch>
                    </p:blipFill>
                    <p:spPr>
                      <a:xfrm>
                        <a:off x="648469" y="1370709"/>
                        <a:ext cx="11671959" cy="4802042"/>
                      </a:xfrm>
                      <a:prstGeom prst="rect">
                        <a:avLst/>
                      </a:prstGeom>
                    </p:spPr>
                  </p:pic>
                </p:oleObj>
              </mc:Fallback>
            </mc:AlternateContent>
          </a:graphicData>
        </a:graphic>
      </p:graphicFrame>
    </p:spTree>
    <p:extLst>
      <p:ext uri="{BB962C8B-B14F-4D97-AF65-F5344CB8AC3E}">
        <p14:creationId xmlns:p14="http://schemas.microsoft.com/office/powerpoint/2010/main" val="131896627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18966677"/>
              </p:ext>
            </p:extLst>
          </p:nvPr>
        </p:nvGraphicFramePr>
        <p:xfrm>
          <a:off x="516384" y="1161687"/>
          <a:ext cx="11671959" cy="1252848"/>
        </p:xfrm>
        <a:graphic>
          <a:graphicData uri="http://schemas.openxmlformats.org/presentationml/2006/ole">
            <mc:AlternateContent xmlns:mc="http://schemas.openxmlformats.org/markup-compatibility/2006">
              <mc:Choice xmlns:v="urn:schemas-microsoft-com:vml" Requires="v">
                <p:oleObj spid="_x0000_s18458" name="文档" r:id="rId4" imgW="3826872" imgH="410770" progId="Word.Document.12">
                  <p:embed/>
                </p:oleObj>
              </mc:Choice>
              <mc:Fallback>
                <p:oleObj name="文档" r:id="rId4" imgW="3826872" imgH="410770" progId="Word.Document.12">
                  <p:embed/>
                  <p:pic>
                    <p:nvPicPr>
                      <p:cNvPr id="0" name=""/>
                      <p:cNvPicPr/>
                      <p:nvPr/>
                    </p:nvPicPr>
                    <p:blipFill>
                      <a:blip r:embed="rId5"/>
                      <a:stretch>
                        <a:fillRect/>
                      </a:stretch>
                    </p:blipFill>
                    <p:spPr>
                      <a:xfrm>
                        <a:off x="516384" y="1161687"/>
                        <a:ext cx="11671959" cy="125284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815628645"/>
              </p:ext>
            </p:extLst>
          </p:nvPr>
        </p:nvGraphicFramePr>
        <p:xfrm>
          <a:off x="515938" y="2523291"/>
          <a:ext cx="11661775" cy="1968500"/>
        </p:xfrm>
        <a:graphic>
          <a:graphicData uri="http://schemas.openxmlformats.org/presentationml/2006/ole">
            <mc:AlternateContent xmlns:mc="http://schemas.openxmlformats.org/markup-compatibility/2006">
              <mc:Choice xmlns:v="urn:schemas-microsoft-com:vml" Requires="v">
                <p:oleObj spid="_x0000_s18459" name="文档" r:id="rId7" imgW="3837724" imgH="649755" progId="Word.Document.12">
                  <p:embed/>
                </p:oleObj>
              </mc:Choice>
              <mc:Fallback>
                <p:oleObj name="文档" r:id="rId7" imgW="3837724" imgH="649755" progId="Word.Document.12">
                  <p:embed/>
                  <p:pic>
                    <p:nvPicPr>
                      <p:cNvPr id="0" name=""/>
                      <p:cNvPicPr/>
                      <p:nvPr/>
                    </p:nvPicPr>
                    <p:blipFill>
                      <a:blip r:embed="rId8"/>
                      <a:stretch>
                        <a:fillRect/>
                      </a:stretch>
                    </p:blipFill>
                    <p:spPr>
                      <a:xfrm>
                        <a:off x="515938" y="2523291"/>
                        <a:ext cx="11661775" cy="1968500"/>
                      </a:xfrm>
                      <a:prstGeom prst="rect">
                        <a:avLst/>
                      </a:prstGeom>
                    </p:spPr>
                  </p:pic>
                </p:oleObj>
              </mc:Fallback>
            </mc:AlternateContent>
          </a:graphicData>
        </a:graphic>
      </p:graphicFrame>
      <p:sp>
        <p:nvSpPr>
          <p:cNvPr id="4" name="矩形 3"/>
          <p:cNvSpPr>
            <a:spLocks noChangeAspect="1"/>
          </p:cNvSpPr>
          <p:nvPr/>
        </p:nvSpPr>
        <p:spPr>
          <a:xfrm>
            <a:off x="432445" y="4530535"/>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647799"/>
            <a:ext cx="11233560" cy="1808572"/>
            <a:chOff x="361950" y="1556928"/>
            <a:chExt cx="11233560" cy="1808572"/>
          </a:xfrm>
        </p:grpSpPr>
        <p:sp>
          <p:nvSpPr>
            <p:cNvPr id="3" name="矩形 2"/>
            <p:cNvSpPr>
              <a:spLocks noChangeAspect="1"/>
            </p:cNvSpPr>
            <p:nvPr/>
          </p:nvSpPr>
          <p:spPr>
            <a:xfrm>
              <a:off x="361950" y="1556928"/>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下列命题中是真命题的是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smtClean="0">
                  <a:solidFill>
                    <a:srgbClr val="000000"/>
                  </a:solidFill>
                  <a:ea typeface="宋体" panose="02010600030101010101" pitchFamily="2" charset="-122"/>
                  <a:cs typeface="Times New Roman" panose="02020603050405020304" pitchFamily="18" charset="0"/>
                </a:rPr>
                <a:t>ac</a:t>
              </a:r>
              <a:r>
                <a:rPr lang="en-US" altLang="zh-CN" baseline="30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&gt;bc</a:t>
              </a:r>
              <a:r>
                <a:rPr lang="en-US" altLang="zh-CN" baseline="30000" dirty="0" smtClean="0">
                  <a:solidFill>
                    <a:srgbClr val="000000"/>
                  </a:solidFill>
                  <a:ea typeface="宋体" panose="02010600030101010101" pitchFamily="2" charset="-122"/>
                  <a:cs typeface="Times New Roman" panose="02020603050405020304" pitchFamily="18" charset="0"/>
                </a:rPr>
                <a:t>2</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&gt;b</a:t>
              </a:r>
              <a:r>
                <a:rPr lang="en-US" altLang="zh-CN" baseline="30000" dirty="0">
                  <a:solidFill>
                    <a:srgbClr val="000000"/>
                  </a:solidFill>
                  <a:ea typeface="宋体" panose="02010600030101010101" pitchFamily="2" charset="-122"/>
                  <a:cs typeface="Times New Roman" panose="02020603050405020304" pitchFamily="18" charset="0"/>
                </a:rPr>
                <a:t>4</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&gt;b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a&gt;b&gt;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124914792"/>
                </p:ext>
              </p:extLst>
            </p:nvPr>
          </p:nvGraphicFramePr>
          <p:xfrm>
            <a:off x="3600797" y="2701154"/>
            <a:ext cx="7994713" cy="655749"/>
          </p:xfrm>
          <a:graphic>
            <a:graphicData uri="http://schemas.openxmlformats.org/presentationml/2006/ole">
              <mc:AlternateContent xmlns:mc="http://schemas.openxmlformats.org/markup-compatibility/2006">
                <mc:Choice xmlns:v="urn:schemas-microsoft-com:vml" Requires="v">
                  <p:oleObj spid="_x0000_s19482" name="文档" r:id="rId4" imgW="3837724" imgH="314781" progId="Word.Document.12">
                    <p:embed/>
                  </p:oleObj>
                </mc:Choice>
                <mc:Fallback>
                  <p:oleObj name="文档" r:id="rId4" imgW="3837724" imgH="314781" progId="Word.Document.12">
                    <p:embed/>
                    <p:pic>
                      <p:nvPicPr>
                        <p:cNvPr id="0" name=""/>
                        <p:cNvPicPr/>
                        <p:nvPr/>
                      </p:nvPicPr>
                      <p:blipFill>
                        <a:blip r:embed="rId5"/>
                        <a:stretch>
                          <a:fillRect/>
                        </a:stretch>
                      </p:blipFill>
                      <p:spPr>
                        <a:xfrm>
                          <a:off x="3600797" y="2701154"/>
                          <a:ext cx="7994713" cy="655749"/>
                        </a:xfrm>
                        <a:prstGeom prst="rect">
                          <a:avLst/>
                        </a:prstGeom>
                      </p:spPr>
                    </p:pic>
                  </p:oleObj>
                </mc:Fallback>
              </mc:AlternateContent>
            </a:graphicData>
          </a:graphic>
        </p:graphicFrame>
      </p:grpSp>
      <p:grpSp>
        <p:nvGrpSpPr>
          <p:cNvPr id="11" name="组合 10"/>
          <p:cNvGrpSpPr/>
          <p:nvPr/>
        </p:nvGrpSpPr>
        <p:grpSpPr>
          <a:xfrm>
            <a:off x="361950" y="2472620"/>
            <a:ext cx="11775553" cy="3791803"/>
            <a:chOff x="361950" y="2472620"/>
            <a:chExt cx="11775553" cy="3791803"/>
          </a:xfrm>
        </p:grpSpPr>
        <p:sp>
          <p:nvSpPr>
            <p:cNvPr id="9" name="矩形 8"/>
            <p:cNvSpPr>
              <a:spLocks noChangeAspect="1"/>
            </p:cNvSpPr>
            <p:nvPr/>
          </p:nvSpPr>
          <p:spPr>
            <a:xfrm>
              <a:off x="361950" y="2472620"/>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i="1" dirty="0" smtClean="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有</a:t>
              </a:r>
              <a:r>
                <a:rPr lang="en-US" altLang="zh-CN" i="1" dirty="0">
                  <a:solidFill>
                    <a:srgbClr val="000000"/>
                  </a:solidFill>
                  <a:latin typeface="+mn-lt"/>
                  <a:ea typeface="宋体" panose="02010600030101010101" pitchFamily="2" charset="-122"/>
                  <a:cs typeface="Times New Roman" panose="02020603050405020304" pitchFamily="18" charset="0"/>
                </a:rPr>
                <a:t>ac</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=bc</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a:t>
              </a: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为假命题</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a&gt;|b|</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i="1" dirty="0" smtClean="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baseline="30000"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&gt;|b|</a:t>
              </a:r>
              <a:r>
                <a:rPr lang="en-US" altLang="zh-CN" baseline="30000"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baseline="30000" dirty="0">
                  <a:solidFill>
                    <a:srgbClr val="000000"/>
                  </a:solidFill>
                  <a:latin typeface="+mn-lt"/>
                  <a:ea typeface="宋体" panose="02010600030101010101" pitchFamily="2" charset="-122"/>
                  <a:cs typeface="Times New Roman" panose="02020603050405020304" pitchFamily="18" charset="0"/>
                </a:rPr>
                <a:t>4</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a:t>
              </a:r>
              <a:r>
                <a:rPr lang="en-US" altLang="zh-CN"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楷体" panose="02010609060101010101" pitchFamily="49" charset="-122"/>
                  <a:cs typeface="Times New Roman" panose="02020603050405020304" pitchFamily="18" charset="0"/>
                </a:rPr>
                <a:t>为真命题</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|a|&gt;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楷体" panose="02010609060101010101" pitchFamily="49" charset="-122"/>
                  <a:cs typeface="Times New Roman" panose="02020603050405020304" pitchFamily="18" charset="0"/>
                </a:rPr>
                <a:t>不一定为正数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有</a:t>
              </a:r>
              <a:r>
                <a:rPr lang="en-US" altLang="zh-CN" i="1" dirty="0">
                  <a:solidFill>
                    <a:srgbClr val="000000"/>
                  </a:solidFill>
                  <a:latin typeface="+mn-lt"/>
                  <a:ea typeface="宋体" panose="02010600030101010101" pitchFamily="2" charset="-122"/>
                  <a:cs typeface="Times New Roman" panose="02020603050405020304" pitchFamily="18" charset="0"/>
                </a:rPr>
                <a:t>|a|&gt;b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但</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&lt;b</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latin typeface="+mn-lt"/>
                  <a:ea typeface="楷体" panose="02010609060101010101" pitchFamily="49" charset="-122"/>
                  <a:cs typeface="Times New Roman" panose="02020603050405020304" pitchFamily="18" charset="0"/>
                </a:rPr>
                <a:t>故</a:t>
              </a: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楷体" panose="02010609060101010101" pitchFamily="49" charset="-122"/>
                  <a:cs typeface="Times New Roman" panose="02020603050405020304" pitchFamily="18" charset="0"/>
                </a:rPr>
                <a:t>为假命题</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a&gt;b&gt;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a-b&gt;</a:t>
              </a:r>
              <a:r>
                <a:rPr lang="en-US" altLang="zh-CN" dirty="0">
                  <a:solidFill>
                    <a:srgbClr val="000000"/>
                  </a:solidFill>
                  <a:latin typeface="+mn-lt"/>
                  <a:ea typeface="宋体" panose="02010600030101010101" pitchFamily="2" charset="-122"/>
                  <a:cs typeface="Times New Roman" panose="02020603050405020304" pitchFamily="18" charset="0"/>
                </a:rPr>
                <a:t>0,</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954519988"/>
                </p:ext>
              </p:extLst>
            </p:nvPr>
          </p:nvGraphicFramePr>
          <p:xfrm>
            <a:off x="432445" y="5433011"/>
            <a:ext cx="11705058" cy="831412"/>
          </p:xfrm>
          <a:graphic>
            <a:graphicData uri="http://schemas.openxmlformats.org/presentationml/2006/ole">
              <mc:AlternateContent xmlns:mc="http://schemas.openxmlformats.org/markup-compatibility/2006">
                <mc:Choice xmlns:v="urn:schemas-microsoft-com:vml" Requires="v">
                  <p:oleObj spid="_x0000_s19483" name="文档" r:id="rId7" imgW="3837724" imgH="272594" progId="Word.Document.12">
                    <p:embed/>
                  </p:oleObj>
                </mc:Choice>
                <mc:Fallback>
                  <p:oleObj name="文档" r:id="rId7" imgW="3837724" imgH="272594" progId="Word.Document.12">
                    <p:embed/>
                    <p:pic>
                      <p:nvPicPr>
                        <p:cNvPr id="0" name=""/>
                        <p:cNvPicPr/>
                        <p:nvPr/>
                      </p:nvPicPr>
                      <p:blipFill>
                        <a:blip r:embed="rId8"/>
                        <a:stretch>
                          <a:fillRect/>
                        </a:stretch>
                      </p:blipFill>
                      <p:spPr>
                        <a:xfrm>
                          <a:off x="432445" y="5433011"/>
                          <a:ext cx="11705058" cy="831412"/>
                        </a:xfrm>
                        <a:prstGeom prst="rect">
                          <a:avLst/>
                        </a:prstGeom>
                      </p:spPr>
                    </p:pic>
                  </p:oleObj>
                </mc:Fallback>
              </mc:AlternateContent>
            </a:graphicData>
          </a:graphic>
        </p:graphicFrame>
      </p:grpSp>
      <p:sp>
        <p:nvSpPr>
          <p:cNvPr id="12" name="矩形 11"/>
          <p:cNvSpPr>
            <a:spLocks noChangeAspect="1"/>
          </p:cNvSpPr>
          <p:nvPr/>
        </p:nvSpPr>
        <p:spPr>
          <a:xfrm>
            <a:off x="8926388" y="5416762"/>
            <a:ext cx="1818126" cy="626710"/>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4180223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25583"/>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的取值范围是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又</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17252285"/>
              </p:ext>
            </p:extLst>
          </p:nvPr>
        </p:nvGraphicFramePr>
        <p:xfrm>
          <a:off x="432446" y="3252921"/>
          <a:ext cx="11671959" cy="725622"/>
        </p:xfrm>
        <a:graphic>
          <a:graphicData uri="http://schemas.openxmlformats.org/presentationml/2006/ole">
            <mc:AlternateContent xmlns:mc="http://schemas.openxmlformats.org/markup-compatibility/2006">
              <mc:Choice xmlns:v="urn:schemas-microsoft-com:vml" Requires="v">
                <p:oleObj spid="_x0000_s20515" name="文档" r:id="rId4" imgW="3826872" imgH="237909" progId="Word.Document.12">
                  <p:embed/>
                </p:oleObj>
              </mc:Choice>
              <mc:Fallback>
                <p:oleObj name="文档" r:id="rId4" imgW="3826872" imgH="237909" progId="Word.Document.12">
                  <p:embed/>
                  <p:pic>
                    <p:nvPicPr>
                      <p:cNvPr id="0" name=""/>
                      <p:cNvPicPr/>
                      <p:nvPr/>
                    </p:nvPicPr>
                    <p:blipFill>
                      <a:blip r:embed="rId5"/>
                      <a:stretch>
                        <a:fillRect/>
                      </a:stretch>
                    </p:blipFill>
                    <p:spPr>
                      <a:xfrm>
                        <a:off x="432446" y="3252921"/>
                        <a:ext cx="11671959" cy="72562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012645530"/>
              </p:ext>
            </p:extLst>
          </p:nvPr>
        </p:nvGraphicFramePr>
        <p:xfrm>
          <a:off x="432445" y="4122577"/>
          <a:ext cx="11671959" cy="725622"/>
        </p:xfrm>
        <a:graphic>
          <a:graphicData uri="http://schemas.openxmlformats.org/presentationml/2006/ole">
            <mc:AlternateContent xmlns:mc="http://schemas.openxmlformats.org/markup-compatibility/2006">
              <mc:Choice xmlns:v="urn:schemas-microsoft-com:vml" Requires="v">
                <p:oleObj spid="_x0000_s20516" name="文档" r:id="rId7" imgW="3826872" imgH="237909" progId="Word.Document.12">
                  <p:embed/>
                </p:oleObj>
              </mc:Choice>
              <mc:Fallback>
                <p:oleObj name="文档" r:id="rId7" imgW="3826872" imgH="237909" progId="Word.Document.12">
                  <p:embed/>
                  <p:pic>
                    <p:nvPicPr>
                      <p:cNvPr id="0" name=""/>
                      <p:cNvPicPr/>
                      <p:nvPr/>
                    </p:nvPicPr>
                    <p:blipFill>
                      <a:blip r:embed="rId8"/>
                      <a:stretch>
                        <a:fillRect/>
                      </a:stretch>
                    </p:blipFill>
                    <p:spPr>
                      <a:xfrm>
                        <a:off x="432445" y="4122577"/>
                        <a:ext cx="11671959" cy="72562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521998320"/>
              </p:ext>
            </p:extLst>
          </p:nvPr>
        </p:nvGraphicFramePr>
        <p:xfrm>
          <a:off x="432444" y="4992233"/>
          <a:ext cx="11671959" cy="725622"/>
        </p:xfrm>
        <a:graphic>
          <a:graphicData uri="http://schemas.openxmlformats.org/presentationml/2006/ole">
            <mc:AlternateContent xmlns:mc="http://schemas.openxmlformats.org/markup-compatibility/2006">
              <mc:Choice xmlns:v="urn:schemas-microsoft-com:vml" Requires="v">
                <p:oleObj spid="_x0000_s20517" name="文档" r:id="rId10" imgW="3826872" imgH="237909" progId="Word.Document.12">
                  <p:embed/>
                </p:oleObj>
              </mc:Choice>
              <mc:Fallback>
                <p:oleObj name="文档" r:id="rId10" imgW="3826872" imgH="237909" progId="Word.Document.12">
                  <p:embed/>
                  <p:pic>
                    <p:nvPicPr>
                      <p:cNvPr id="0" name=""/>
                      <p:cNvPicPr/>
                      <p:nvPr/>
                    </p:nvPicPr>
                    <p:blipFill>
                      <a:blip r:embed="rId11"/>
                      <a:stretch>
                        <a:fillRect/>
                      </a:stretch>
                    </p:blipFill>
                    <p:spPr>
                      <a:xfrm>
                        <a:off x="432444" y="4992233"/>
                        <a:ext cx="11671959" cy="725622"/>
                      </a:xfrm>
                      <a:prstGeom prst="rect">
                        <a:avLst/>
                      </a:prstGeom>
                    </p:spPr>
                  </p:pic>
                </p:oleObj>
              </mc:Fallback>
            </mc:AlternateContent>
          </a:graphicData>
        </a:graphic>
      </p:graphicFrame>
    </p:spTree>
    <p:extLst>
      <p:ext uri="{BB962C8B-B14F-4D97-AF65-F5344CB8AC3E}">
        <p14:creationId xmlns:p14="http://schemas.microsoft.com/office/powerpoint/2010/main" val="188863075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randombar(horizont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randombar(horizontal)">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944291956"/>
              </p:ext>
            </p:extLst>
          </p:nvPr>
        </p:nvGraphicFramePr>
        <p:xfrm>
          <a:off x="432445" y="1439887"/>
          <a:ext cx="11671959" cy="828658"/>
        </p:xfrm>
        <a:graphic>
          <a:graphicData uri="http://schemas.openxmlformats.org/presentationml/2006/ole">
            <mc:AlternateContent xmlns:mc="http://schemas.openxmlformats.org/markup-compatibility/2006">
              <mc:Choice xmlns:v="urn:schemas-microsoft-com:vml" Requires="v">
                <p:oleObj spid="_x0000_s21528" name="文档" r:id="rId4" imgW="3826872" imgH="271691" progId="Word.Document.12">
                  <p:embed/>
                </p:oleObj>
              </mc:Choice>
              <mc:Fallback>
                <p:oleObj name="文档" r:id="rId4" imgW="3826872" imgH="271691" progId="Word.Document.12">
                  <p:embed/>
                  <p:pic>
                    <p:nvPicPr>
                      <p:cNvPr id="0" name=""/>
                      <p:cNvPicPr/>
                      <p:nvPr/>
                    </p:nvPicPr>
                    <p:blipFill>
                      <a:blip r:embed="rId5"/>
                      <a:stretch>
                        <a:fillRect/>
                      </a:stretch>
                    </p:blipFill>
                    <p:spPr>
                      <a:xfrm>
                        <a:off x="432445" y="1439887"/>
                        <a:ext cx="11671959" cy="82865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568830027"/>
              </p:ext>
            </p:extLst>
          </p:nvPr>
        </p:nvGraphicFramePr>
        <p:xfrm>
          <a:off x="432445" y="2354848"/>
          <a:ext cx="11671959" cy="2175772"/>
        </p:xfrm>
        <a:graphic>
          <a:graphicData uri="http://schemas.openxmlformats.org/presentationml/2006/ole">
            <mc:AlternateContent xmlns:mc="http://schemas.openxmlformats.org/markup-compatibility/2006">
              <mc:Choice xmlns:v="urn:schemas-microsoft-com:vml" Requires="v">
                <p:oleObj spid="_x0000_s21529" name="文档" r:id="rId7" imgW="3826872" imgH="713368" progId="Word.Document.12">
                  <p:embed/>
                </p:oleObj>
              </mc:Choice>
              <mc:Fallback>
                <p:oleObj name="文档" r:id="rId7" imgW="3826872" imgH="713368" progId="Word.Document.12">
                  <p:embed/>
                  <p:pic>
                    <p:nvPicPr>
                      <p:cNvPr id="0" name=""/>
                      <p:cNvPicPr/>
                      <p:nvPr/>
                    </p:nvPicPr>
                    <p:blipFill>
                      <a:blip r:embed="rId8"/>
                      <a:stretch>
                        <a:fillRect/>
                      </a:stretch>
                    </p:blipFill>
                    <p:spPr>
                      <a:xfrm>
                        <a:off x="432445" y="2354848"/>
                        <a:ext cx="11671959" cy="2175772"/>
                      </a:xfrm>
                      <a:prstGeom prst="rect">
                        <a:avLst/>
                      </a:prstGeom>
                    </p:spPr>
                  </p:pic>
                </p:oleObj>
              </mc:Fallback>
            </mc:AlternateContent>
          </a:graphicData>
        </a:graphic>
      </p:graphicFrame>
    </p:spTree>
    <p:extLst>
      <p:ext uri="{BB962C8B-B14F-4D97-AF65-F5344CB8AC3E}">
        <p14:creationId xmlns:p14="http://schemas.microsoft.com/office/powerpoint/2010/main" val="358767197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72</TotalTime>
  <Words>1217</Words>
  <Application>Microsoft Office PowerPoint</Application>
  <PresentationFormat>自定义</PresentationFormat>
  <Paragraphs>109</Paragraphs>
  <Slides>38</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3"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22</cp:revision>
  <dcterms:created xsi:type="dcterms:W3CDTF">2020-09-12T05:36:12Z</dcterms:created>
  <dcterms:modified xsi:type="dcterms:W3CDTF">2025-08-18T03:05:06Z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