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1"/>
  </p:notesMasterIdLst>
  <p:sldIdLst>
    <p:sldId id="731" r:id="rId2"/>
    <p:sldId id="753" r:id="rId3"/>
    <p:sldId id="736" r:id="rId4"/>
    <p:sldId id="744" r:id="rId5"/>
    <p:sldId id="746" r:id="rId6"/>
    <p:sldId id="749" r:id="rId7"/>
    <p:sldId id="757" r:id="rId8"/>
    <p:sldId id="758" r:id="rId9"/>
    <p:sldId id="759" r:id="rId10"/>
    <p:sldId id="761" r:id="rId11"/>
    <p:sldId id="762" r:id="rId12"/>
    <p:sldId id="763" r:id="rId13"/>
    <p:sldId id="764" r:id="rId14"/>
    <p:sldId id="765" r:id="rId15"/>
    <p:sldId id="737" r:id="rId16"/>
    <p:sldId id="750" r:id="rId17"/>
    <p:sldId id="768" r:id="rId18"/>
    <p:sldId id="770" r:id="rId19"/>
    <p:sldId id="754" r:id="rId20"/>
    <p:sldId id="771" r:id="rId21"/>
    <p:sldId id="772" r:id="rId22"/>
    <p:sldId id="773" r:id="rId23"/>
    <p:sldId id="755" r:id="rId24"/>
    <p:sldId id="774" r:id="rId25"/>
    <p:sldId id="775" r:id="rId26"/>
    <p:sldId id="776" r:id="rId27"/>
    <p:sldId id="777" r:id="rId28"/>
    <p:sldId id="747" r:id="rId29"/>
    <p:sldId id="751" r:id="rId30"/>
    <p:sldId id="778" r:id="rId31"/>
    <p:sldId id="779" r:id="rId32"/>
    <p:sldId id="780" r:id="rId33"/>
    <p:sldId id="748" r:id="rId34"/>
    <p:sldId id="752" r:id="rId35"/>
    <p:sldId id="781" r:id="rId36"/>
    <p:sldId id="782" r:id="rId37"/>
    <p:sldId id="783" r:id="rId38"/>
    <p:sldId id="784" r:id="rId39"/>
    <p:sldId id="735" r:id="rId40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39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3.xml"/><Relationship Id="rId5" Type="http://schemas.openxmlformats.org/officeDocument/2006/relationships/slide" Target="slide28.xml"/><Relationship Id="rId4" Type="http://schemas.openxmlformats.org/officeDocument/2006/relationships/slide" Target="slide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3.docx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oleObject" Target="../embeddings/oleObject4.bin"/><Relationship Id="rId7" Type="http://schemas.openxmlformats.org/officeDocument/2006/relationships/package" Target="../embeddings/Microsoft_Word___5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4.docx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6.docx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7.docx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0.emf"/><Relationship Id="rId5" Type="http://schemas.openxmlformats.org/officeDocument/2006/relationships/package" Target="../embeddings/Microsoft_Word___8.docx"/><Relationship Id="rId4" Type="http://schemas.openxmlformats.org/officeDocument/2006/relationships/oleObject" Target="../embeddings/oleObject8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oleObject" Target="../embeddings/oleObject9.bin"/><Relationship Id="rId7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9.docx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11.docx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2.docx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oleObject" Target="../embeddings/oleObject13.bin"/><Relationship Id="rId7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3.docx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5.docx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oleObject" Target="../embeddings/oleObject16.bin"/><Relationship Id="rId7" Type="http://schemas.openxmlformats.org/officeDocument/2006/relationships/package" Target="../embeddings/Microsoft_Word___1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22.emf"/><Relationship Id="rId5" Type="http://schemas.openxmlformats.org/officeDocument/2006/relationships/image" Target="../media/image20.emf"/><Relationship Id="rId10" Type="http://schemas.openxmlformats.org/officeDocument/2006/relationships/package" Target="../embeddings/Microsoft_Word___18.docx"/><Relationship Id="rId4" Type="http://schemas.openxmlformats.org/officeDocument/2006/relationships/package" Target="../embeddings/Microsoft_Word___16.docx"/><Relationship Id="rId9" Type="http://schemas.openxmlformats.org/officeDocument/2006/relationships/oleObject" Target="../embeddings/oleObject18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288429" y="2011883"/>
            <a:ext cx="10943703" cy="19205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5400" dirty="0">
                <a:solidFill>
                  <a:srgbClr val="002060"/>
                </a:solidFill>
                <a:latin typeface="+mj-ea"/>
                <a:ea typeface="+mj-ea"/>
                <a:cs typeface="Times New Roman" panose="02020603050405020304" pitchFamily="18" charset="0"/>
              </a:rPr>
              <a:t>2.1</a:t>
            </a:r>
            <a:r>
              <a:rPr lang="zh-CN" altLang="zh-CN" sz="5400" dirty="0">
                <a:solidFill>
                  <a:srgbClr val="002060"/>
                </a:solidFill>
                <a:latin typeface="+mj-ea"/>
                <a:ea typeface="+mj-ea"/>
                <a:cs typeface="Times New Roman" panose="02020603050405020304" pitchFamily="18" charset="0"/>
              </a:rPr>
              <a:t>　等式性质与不等式性质</a:t>
            </a:r>
          </a:p>
          <a:p>
            <a:pPr algn="ctr"/>
            <a:r>
              <a:rPr lang="zh-CN" altLang="zh-CN" sz="5400" dirty="0">
                <a:solidFill>
                  <a:srgbClr val="002060"/>
                </a:solidFill>
                <a:latin typeface="+mj-ea"/>
                <a:ea typeface="+mj-ea"/>
              </a:rPr>
              <a:t>第</a:t>
            </a:r>
            <a:r>
              <a:rPr lang="en-US" altLang="zh-CN" sz="5400" dirty="0">
                <a:solidFill>
                  <a:srgbClr val="002060"/>
                </a:solidFill>
                <a:latin typeface="+mj-ea"/>
                <a:ea typeface="+mj-ea"/>
              </a:rPr>
              <a:t>1</a:t>
            </a:r>
            <a:r>
              <a:rPr lang="zh-CN" altLang="zh-CN" sz="5400" dirty="0">
                <a:solidFill>
                  <a:srgbClr val="002060"/>
                </a:solidFill>
                <a:latin typeface="+mj-ea"/>
                <a:ea typeface="+mj-ea"/>
              </a:rPr>
              <a:t>课时　不等关系与比较大小</a:t>
            </a: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919452"/>
            <a:ext cx="10729192" cy="4975099"/>
            <a:chOff x="360437" y="791816"/>
            <a:chExt cx="10729192" cy="4975099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791816"/>
              <a:ext cx="10729192" cy="4975099"/>
              <a:chOff x="360437" y="1511896"/>
              <a:chExt cx="10729192" cy="3398060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511896"/>
                <a:ext cx="10729192" cy="3398060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552690"/>
                <a:ext cx="0" cy="3312368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865294"/>
              <a:ext cx="8496944" cy="48197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通过具体情境感受在现实世界和日常生活中存在着大量的不等关系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了解不等式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的实际背景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理解不等式的概念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学习用不等式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来描述不等关系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了解不等式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是研究不等关系的数学工具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理解不等式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对于刻画不等关系的意义和价值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提升数学抽象和数学运算能力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95455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方正正中黑简体"/>
                <a:cs typeface="Times New Roman" panose="02020603050405020304" pitchFamily="18" charset="0"/>
              </a:rPr>
              <a:t>一、不等式与不等关系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给出下列问题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今天的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天气预报</a:t>
            </a:r>
            <a:r>
              <a:rPr lang="zh-CN" altLang="en-US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显示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明天早晨的最低温度为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7 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℃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白天的最高温度为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13 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℃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某火腿肠的质量检查规定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每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100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克火腿肠中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淀粉含量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不能超过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20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克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防腐剂含量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f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不能超过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5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克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.</a:t>
            </a:r>
            <a:endParaRPr lang="zh-CN" altLang="en-US" dirty="0">
              <a:latin typeface="+mn-lt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你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能用不等式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组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表示上述两个问题的不等关系吗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61950" y="4771919"/>
            <a:ext cx="11714163" cy="1638028"/>
            <a:chOff x="361950" y="1655911"/>
            <a:chExt cx="11714163" cy="163802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1655911"/>
              <a:ext cx="10807700" cy="68326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+mn-lt"/>
                  <a:cs typeface="Times New Roman" panose="02020603050405020304" pitchFamily="18" charset="0"/>
                </a:rPr>
                <a:t>提示</a:t>
              </a:r>
              <a:r>
                <a:rPr lang="en-US" altLang="zh-CN" dirty="0">
                  <a:latin typeface="+mn-lt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设</a:t>
              </a:r>
              <a:r>
                <a:rPr lang="zh-CN" altLang="zh-CN" dirty="0" smtClean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明</a:t>
              </a:r>
              <a:r>
                <a:rPr lang="zh-CN" altLang="en-US" dirty="0" smtClean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天</a:t>
              </a:r>
              <a:r>
                <a:rPr lang="zh-CN" altLang="zh-CN" dirty="0" smtClean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白天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的气温为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7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13(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单位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℃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7304289"/>
                </p:ext>
              </p:extLst>
            </p:nvPr>
          </p:nvGraphicFramePr>
          <p:xfrm>
            <a:off x="430213" y="2347789"/>
            <a:ext cx="11645900" cy="946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3" name="文档" r:id="rId4" imgW="3928207" imgH="319129" progId="Word.Document.12">
                    <p:embed/>
                  </p:oleObj>
                </mc:Choice>
                <mc:Fallback>
                  <p:oleObj name="文档" r:id="rId4" imgW="3928207" imgH="31912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0213" y="2347789"/>
                          <a:ext cx="11645900" cy="9461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2592015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经常用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不等式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来研究含有不等关系的问题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常用的不等号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≠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800013" y="2664023"/>
            <a:ext cx="120675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2795668" y="3128121"/>
            <a:ext cx="120538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320549" y="3236283"/>
            <a:ext cx="3220691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1316205" y="3700381"/>
            <a:ext cx="321705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686720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79847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某高速公路对行驶的各种车辆的最大限速为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120 km/h,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正常行驶过程中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同一车道上的车间距不得小于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50 m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则车辆的行驶速度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v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单位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:km/h)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和车间距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单位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:m)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用不等式表示为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3885292"/>
              </p:ext>
            </p:extLst>
          </p:nvPr>
        </p:nvGraphicFramePr>
        <p:xfrm>
          <a:off x="388938" y="2891086"/>
          <a:ext cx="11645900" cy="138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" name="文档" r:id="rId4" imgW="3826872" imgH="456052" progId="Word.Document.12">
                  <p:embed/>
                </p:oleObj>
              </mc:Choice>
              <mc:Fallback>
                <p:oleObj name="文档" r:id="rId4" imgW="3826872" imgH="45605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8938" y="2891086"/>
                        <a:ext cx="11645900" cy="1387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61950" y="4320207"/>
            <a:ext cx="10807700" cy="64434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03611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99202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二、两个实数大小关系的基本事实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想一想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怎样比较两个实数的大小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用作差法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61950" y="2564328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对于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任意的实数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有以下基本事实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a&gt;b</a:t>
            </a:r>
            <a:r>
              <a:rPr lang="en-US" altLang="zh-CN" dirty="0" smtClean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a-b&gt;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0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a=b</a:t>
            </a:r>
            <a:r>
              <a:rPr lang="en-US" altLang="zh-CN" dirty="0" smtClean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a-b=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0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a&lt;b</a:t>
            </a:r>
            <a:r>
              <a:rPr lang="en-US" altLang="zh-CN" dirty="0" smtClean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a-b&lt;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0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从这三条基本事实可知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要比较两个实数的大小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可以转化为比较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它们的差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的大小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565951" y="3217699"/>
            <a:ext cx="106770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1561545" y="3681797"/>
            <a:ext cx="106649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547930" y="3804521"/>
            <a:ext cx="106770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1543524" y="4268619"/>
            <a:ext cx="106649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560338" y="4376296"/>
            <a:ext cx="106770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1555932" y="4840394"/>
            <a:ext cx="106649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285783" y="5566446"/>
            <a:ext cx="159493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1281377" y="6030544"/>
            <a:ext cx="159313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3298098" y="5566446"/>
            <a:ext cx="20464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3293184" y="6030544"/>
            <a:ext cx="20441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946385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655911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的大小关系为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2)(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1),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56608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33279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方正正中黑简体"/>
                <a:cs typeface="Times New Roman" panose="02020603050405020304" pitchFamily="18" charset="0"/>
              </a:rPr>
              <a:t>三、不等式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 panose="02020503000000020003" pitchFamily="18" charset="-122"/>
                <a:cs typeface="Times New Roman" panose="02020603050405020304" pitchFamily="18" charset="0"/>
              </a:rPr>
              <a:t>∀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R,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+b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ab</a:t>
            </a:r>
            <a:endParaRPr lang="zh-CN" altLang="en-US" dirty="0"/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【问题思考】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分别以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为直角边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做四个全等的直角三角形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并将这四个直角三角形拼成正方形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则正方形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的边长为</a:t>
            </a:r>
            <a:endParaRPr lang="zh-CN" altLang="en-US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7536346"/>
              </p:ext>
            </p:extLst>
          </p:nvPr>
        </p:nvGraphicFramePr>
        <p:xfrm>
          <a:off x="432445" y="2880047"/>
          <a:ext cx="11671959" cy="5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文档" r:id="rId4" imgW="3826872" imgH="181127" progId="Word.Document.12">
                  <p:embed/>
                </p:oleObj>
              </mc:Choice>
              <mc:Fallback>
                <p:oleObj name="文档" r:id="rId4" imgW="3826872" imgH="18112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2880047"/>
                        <a:ext cx="11671959" cy="552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>
            <a:spLocks noChangeAspect="1"/>
          </p:cNvSpPr>
          <p:nvPr/>
        </p:nvSpPr>
        <p:spPr>
          <a:xfrm>
            <a:off x="361950" y="3436447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根据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拼成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你能从中得到一个什么样的不等关系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当中间的四边形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EFGH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缩为一点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即四个直角三角形变为等腰直角三角形时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可以得到什么结论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结合问题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你有什么发现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你能用两个实数大小关系的基本事实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证明上述发现吗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80710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561251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由正方形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的面积大于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个直角三角形的面积和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得到不等式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+b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+b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(1)(2),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+b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+b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+b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当且仅当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等号成立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29379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1225659"/>
            <a:ext cx="11784966" cy="1947565"/>
            <a:chOff x="361950" y="935831"/>
            <a:chExt cx="11784966" cy="1947565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935831"/>
              <a:ext cx="10807700" cy="12741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一般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∀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R,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有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30000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+b</a:t>
              </a:r>
              <a:r>
                <a:rPr lang="en-US" altLang="zh-CN" baseline="30000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 </a:t>
              </a:r>
              <a:r>
                <a:rPr lang="en-US" altLang="zh-CN" dirty="0" smtClean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≥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当且仅当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 smtClean="0">
                  <a:ea typeface="宋体" panose="02010600030101010101" pitchFamily="2" charset="-122"/>
                  <a:cs typeface="Times New Roman" panose="02020603050405020304" pitchFamily="18" charset="0"/>
                </a:rPr>
                <a:t>a=b 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等号成立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+y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xy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的最大值是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68572276"/>
                </p:ext>
              </p:extLst>
            </p:nvPr>
          </p:nvGraphicFramePr>
          <p:xfrm>
            <a:off x="474957" y="2159967"/>
            <a:ext cx="11671959" cy="7234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4" name="文档" r:id="rId4" imgW="3826872" imgH="237190" progId="Word.Document.12">
                    <p:embed/>
                  </p:oleObj>
                </mc:Choice>
                <mc:Fallback>
                  <p:oleObj name="文档" r:id="rId4" imgW="3826872" imgH="23719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74957" y="2159967"/>
                          <a:ext cx="11671959" cy="72342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1283235"/>
              </p:ext>
            </p:extLst>
          </p:nvPr>
        </p:nvGraphicFramePr>
        <p:xfrm>
          <a:off x="387844" y="3251715"/>
          <a:ext cx="11671959" cy="790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5" name="文档" r:id="rId7" imgW="3826872" imgH="259112" progId="Word.Document.12">
                  <p:embed/>
                </p:oleObj>
              </mc:Choice>
              <mc:Fallback>
                <p:oleObj name="文档" r:id="rId7" imgW="3826872" imgH="2591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7844" y="3251715"/>
                        <a:ext cx="11671959" cy="7902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spect="1"/>
          </p:cNvSpPr>
          <p:nvPr/>
        </p:nvSpPr>
        <p:spPr>
          <a:xfrm>
            <a:off x="256585" y="4068991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993312" y="1268691"/>
            <a:ext cx="58388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4988613" y="1732789"/>
            <a:ext cx="58321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8002633" y="1268691"/>
            <a:ext cx="7771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7998043" y="1732789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620220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70015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两个实数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之间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有且只有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三种关系中的一种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不大于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用不等式表示为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比较两个实数的大小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只能用作差法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74607" y="3506835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417221" y="4170943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561237" y="4716068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306724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9980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用</a:t>
            </a:r>
            <a:r>
              <a:rPr lang="zh-CN" altLang="zh-CN" dirty="0"/>
              <a:t>不等式</a:t>
            </a:r>
            <a:r>
              <a:rPr lang="en-US" altLang="zh-CN" dirty="0"/>
              <a:t>(</a:t>
            </a:r>
            <a:r>
              <a:rPr lang="zh-CN" altLang="zh-CN" dirty="0"/>
              <a:t>组</a:t>
            </a:r>
            <a:r>
              <a:rPr lang="en-US" altLang="zh-CN" dirty="0"/>
              <a:t>)</a:t>
            </a:r>
            <a:r>
              <a:rPr lang="zh-CN" altLang="zh-CN" dirty="0"/>
              <a:t>表示不等关系</a:t>
            </a: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61950" y="1655911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3048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已知某列车的速度为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单位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:km/h),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这个速度的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倍再加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100 km/h,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不超过民航飞机的最低速度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单位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:km/h)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列车的速度已经超过了普通客车速度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单位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:km/h)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请你用不等式表示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的关系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latin typeface="+mn-lt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题意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的关系为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的关系为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63823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用不等式表示不等关系时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要注意体会关键词的含义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如本例中的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……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之间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不足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不超过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对于实际问题不要漏掉隐含条件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常见的文字语言与数学符号的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转换</a:t>
            </a:r>
            <a:endParaRPr lang="en-US" altLang="zh-CN" dirty="0" smtClean="0">
              <a:solidFill>
                <a:srgbClr val="000000"/>
              </a:solidFill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5029513"/>
              </p:ext>
            </p:extLst>
          </p:nvPr>
        </p:nvGraphicFramePr>
        <p:xfrm>
          <a:off x="-156655" y="3836212"/>
          <a:ext cx="11844910" cy="25002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8" name="文档" r:id="rId4" imgW="3883577" imgH="819744" progId="Word.Document.12">
                  <p:embed/>
                </p:oleObj>
              </mc:Choice>
              <mc:Fallback>
                <p:oleObj name="文档" r:id="rId4" imgW="3883577" imgH="8197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156655" y="3836212"/>
                        <a:ext cx="11844910" cy="25002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816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975610"/>
            <a:ext cx="10807700" cy="43200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用不等式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组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表示下列关系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为非负数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为实数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而且大于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不大于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6;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的平方和不小于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而且不大于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(3)2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+y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718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用作</a:t>
            </a:r>
            <a:r>
              <a:rPr lang="zh-CN" altLang="zh-CN" dirty="0"/>
              <a:t>差法比较两数</a:t>
            </a:r>
            <a:r>
              <a:rPr lang="en-US" altLang="zh-CN" dirty="0"/>
              <a:t>(</a:t>
            </a:r>
            <a:r>
              <a:rPr lang="zh-CN" altLang="zh-CN" dirty="0"/>
              <a:t>式</a:t>
            </a:r>
            <a:r>
              <a:rPr lang="en-US" altLang="zh-CN" dirty="0"/>
              <a:t>)</a:t>
            </a:r>
            <a:r>
              <a:rPr lang="zh-CN" altLang="zh-CN" dirty="0"/>
              <a:t>的大小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377711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比较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的大小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用作差法比较大小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作差后利用因式分解判断符号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4213471"/>
              </p:ext>
            </p:extLst>
          </p:nvPr>
        </p:nvGraphicFramePr>
        <p:xfrm>
          <a:off x="432445" y="2652684"/>
          <a:ext cx="11671959" cy="3402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2" name="文档" r:id="rId4" imgW="3826872" imgH="1115513" progId="Word.Document.12">
                  <p:embed/>
                </p:oleObj>
              </mc:Choice>
              <mc:Fallback>
                <p:oleObj name="文档" r:id="rId4" imgW="3826872" imgH="111551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2652684"/>
                        <a:ext cx="11671959" cy="34023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延伸探究H.eps" descr="id:2147492067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062812" y="759135"/>
            <a:ext cx="2740119" cy="499725"/>
          </a:xfrm>
          <a:prstGeom prst="rect">
            <a:avLst/>
          </a:prstGeom>
        </p:spPr>
      </p:pic>
      <p:sp>
        <p:nvSpPr>
          <p:cNvPr id="4" name="矩形 3"/>
          <p:cNvSpPr>
            <a:spLocks noChangeAspect="1"/>
          </p:cNvSpPr>
          <p:nvPr/>
        </p:nvSpPr>
        <p:spPr>
          <a:xfrm>
            <a:off x="361950" y="1263191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将例题中的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改为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试比较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的大小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61950" y="1901431"/>
            <a:ext cx="11671959" cy="3925322"/>
            <a:chOff x="361950" y="1862103"/>
            <a:chExt cx="11671959" cy="3925322"/>
          </a:xfrm>
        </p:grpSpPr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1862103"/>
              <a:ext cx="10807700" cy="12741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+mn-lt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+mn-lt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-x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x+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1)(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-x+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1),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1379085"/>
                </p:ext>
              </p:extLst>
            </p:nvPr>
          </p:nvGraphicFramePr>
          <p:xfrm>
            <a:off x="361950" y="3060117"/>
            <a:ext cx="11671959" cy="8418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16" name="文档" r:id="rId5" imgW="3826872" imgH="276003" progId="Word.Document.12">
                    <p:embed/>
                  </p:oleObj>
                </mc:Choice>
                <mc:Fallback>
                  <p:oleObj name="文档" r:id="rId5" imgW="3826872" imgH="27600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61950" y="3060117"/>
                          <a:ext cx="11671959" cy="84180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361950" y="3922299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x&gt;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,(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1)(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-x+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,(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1)(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-x+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x&lt;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,(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1)(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-x+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x.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1904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05287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 一般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涉及两个代数式比较大小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常用作差法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作差法比较两个数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的大小的基本步骤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21Q02.eps" descr="id:2147523013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1656581" y="2468180"/>
            <a:ext cx="7344816" cy="387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051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8561202"/>
              </p:ext>
            </p:extLst>
          </p:nvPr>
        </p:nvGraphicFramePr>
        <p:xfrm>
          <a:off x="288429" y="791815"/>
          <a:ext cx="11671959" cy="8286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2" name="文档" r:id="rId4" imgW="3826872" imgH="271691" progId="Word.Document.12">
                  <p:embed/>
                </p:oleObj>
              </mc:Choice>
              <mc:Fallback>
                <p:oleObj name="文档" r:id="rId4" imgW="3826872" imgH="27169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29" y="791815"/>
                        <a:ext cx="11671959" cy="8286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6122607"/>
              </p:ext>
            </p:extLst>
          </p:nvPr>
        </p:nvGraphicFramePr>
        <p:xfrm>
          <a:off x="357188" y="1619250"/>
          <a:ext cx="11645900" cy="414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3" name="文档" r:id="rId7" imgW="3826872" imgH="1362766" progId="Word.Document.12">
                  <p:embed/>
                </p:oleObj>
              </mc:Choice>
              <mc:Fallback>
                <p:oleObj name="文档" r:id="rId7" imgW="3826872" imgH="136276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7188" y="1619250"/>
                        <a:ext cx="11645900" cy="414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51606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实际</a:t>
            </a:r>
            <a:r>
              <a:rPr lang="zh-CN" altLang="zh-CN" dirty="0"/>
              <a:t>应用题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689813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某单位组织职工去某地参观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学习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需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包车前往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甲车队说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若领队买一张全票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则其余人可享受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折优惠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乙车队说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你们属团体票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按原价的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折优惠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车队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的原价、车型都是一样的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试根据该单位去的人数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比较两车队的收费哪家更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优惠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870318"/>
            <a:ext cx="11735791" cy="4658571"/>
            <a:chOff x="361950" y="726302"/>
            <a:chExt cx="11735791" cy="4658571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726302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 smtClean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设该单位职工有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n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n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N</a:t>
              </a:r>
              <a:r>
                <a:rPr lang="en-US" altLang="zh-CN" i="1" baseline="30000" dirty="0">
                  <a:solidFill>
                    <a:srgbClr val="000000"/>
                  </a:solidFill>
                  <a:ea typeface="宋体" panose="02010600030101010101" pitchFamily="2" charset="-122"/>
                </a:rPr>
                <a:t>*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全票价为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元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/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选甲车队需花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y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选乙车队需花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y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元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endParaRPr lang="zh-CN" altLang="en-US" dirty="0"/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2927666"/>
                </p:ext>
              </p:extLst>
            </p:nvPr>
          </p:nvGraphicFramePr>
          <p:xfrm>
            <a:off x="425782" y="2017912"/>
            <a:ext cx="11671959" cy="1463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3" name="文档" r:id="rId4" imgW="3826872" imgH="479771" progId="Word.Document.12">
                    <p:embed/>
                  </p:oleObj>
                </mc:Choice>
                <mc:Fallback>
                  <p:oleObj name="文档" r:id="rId4" imgW="3826872" imgH="47977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25782" y="2017912"/>
                          <a:ext cx="11671959" cy="146330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3519747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=y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&lt;y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&gt;y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en-US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当该单位去的人数为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两车队收费相同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人数大于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选甲车队更优惠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人数小于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选乙车队更优惠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2346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52207"/>
            <a:ext cx="10807700" cy="541071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本题采用先建模再比较的方法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这是解答此类实际问题的常用方法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解决实际问题的关键是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理解每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一个名词的含义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留意每个数字出现的意义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注意实际意义对变量取值范围的限制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解决决策优化型的实际问题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首先要确定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制约决策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优化的关键量是哪一个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然后确定在各种决策下该量分别是多少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最后用作差法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或其他方法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比较它们的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大小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提升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数学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建模、逻辑推理与数学运算素养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517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463957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建筑设计规定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民用住宅的窗户面积必须小于地板面积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但按采光标准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窗户面积与地板面积的比值应不小于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10%,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且这个比值越大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住宅的采光条件就越好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同时增加相等的窗户面积和地板面积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住宅的采光条件是变好了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还是变坏了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请说明理由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215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8063847"/>
              </p:ext>
            </p:extLst>
          </p:nvPr>
        </p:nvGraphicFramePr>
        <p:xfrm>
          <a:off x="504825" y="1227138"/>
          <a:ext cx="11661775" cy="3817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7" name="文档" r:id="rId4" imgW="3837724" imgH="1259125" progId="Word.Document.12">
                  <p:embed/>
                </p:oleObj>
              </mc:Choice>
              <mc:Fallback>
                <p:oleObj name="文档" r:id="rId4" imgW="3837724" imgH="125912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825" y="1227138"/>
                        <a:ext cx="11661775" cy="3817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0333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29639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因忽视配方法在判断符号中的应用致错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【典例】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ab-b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的大小关系是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大小关系不确定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错解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A-B=a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ab+b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+b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的大小关系不确定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:D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你如何防范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4521851"/>
              </p:ext>
            </p:extLst>
          </p:nvPr>
        </p:nvGraphicFramePr>
        <p:xfrm>
          <a:off x="360437" y="1286039"/>
          <a:ext cx="11671959" cy="1376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2" name="文档" r:id="rId4" imgW="3826872" imgH="451380" progId="Word.Document.12">
                  <p:embed/>
                </p:oleObj>
              </mc:Choice>
              <mc:Fallback>
                <p:oleObj name="文档" r:id="rId4" imgW="3826872" imgH="4513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286039"/>
                        <a:ext cx="11671959" cy="13767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2040269"/>
              </p:ext>
            </p:extLst>
          </p:nvPr>
        </p:nvGraphicFramePr>
        <p:xfrm>
          <a:off x="360436" y="2717642"/>
          <a:ext cx="11671959" cy="1376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3" name="文档" r:id="rId7" imgW="3826872" imgH="451380" progId="Word.Document.12">
                  <p:embed/>
                </p:oleObj>
              </mc:Choice>
              <mc:Fallback>
                <p:oleObj name="文档" r:id="rId7" imgW="3826872" imgH="4513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0436" y="2717642"/>
                        <a:ext cx="11671959" cy="13767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31371" y="4203175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798362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489243"/>
            <a:ext cx="10807700" cy="30469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防范措施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用作差法比较两个数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的大小时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其关键是变形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一般采用配方、因式分解、通分、有理化等方法变形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这样有利于定号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注意提升逻辑推理和数学运算能力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15960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98007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-x+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+x-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的大小关系是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&gt;y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B.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=y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&lt;y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D.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随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值变化而变化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-y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&gt;y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59575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42978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下</a:t>
            </a:r>
            <a:r>
              <a:rPr lang="zh-CN" altLang="en-US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列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能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表示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的和是非正数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的不等式为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m+n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	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m+n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	C.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m+n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	D.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m+n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M=x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N=-x-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的大小关系是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M&gt;N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B.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M=N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M&lt;N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D.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的取值有关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4023915"/>
              </p:ext>
            </p:extLst>
          </p:nvPr>
        </p:nvGraphicFramePr>
        <p:xfrm>
          <a:off x="432445" y="4284454"/>
          <a:ext cx="11671959" cy="8418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4" name="文档" r:id="rId4" imgW="3826872" imgH="276003" progId="Word.Document.12">
                  <p:embed/>
                </p:oleObj>
              </mc:Choice>
              <mc:Fallback>
                <p:oleObj name="文档" r:id="rId4" imgW="3826872" imgH="27600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4284454"/>
                        <a:ext cx="11671959" cy="8418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5178607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7773145"/>
              </p:ext>
            </p:extLst>
          </p:nvPr>
        </p:nvGraphicFramePr>
        <p:xfrm>
          <a:off x="660400" y="1027503"/>
          <a:ext cx="11671959" cy="725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8" name="文档" r:id="rId4" imgW="3826872" imgH="237909" progId="Word.Document.12">
                  <p:embed/>
                </p:oleObj>
              </mc:Choice>
              <mc:Fallback>
                <p:oleObj name="文档" r:id="rId4" imgW="3826872" imgH="2379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0400" y="1027503"/>
                        <a:ext cx="11671959" cy="7256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9163393"/>
              </p:ext>
            </p:extLst>
          </p:nvPr>
        </p:nvGraphicFramePr>
        <p:xfrm>
          <a:off x="660400" y="1829423"/>
          <a:ext cx="11671959" cy="2347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9" name="文档" r:id="rId7" imgW="3826872" imgH="769790" progId="Word.Document.12">
                  <p:embed/>
                </p:oleObj>
              </mc:Choice>
              <mc:Fallback>
                <p:oleObj name="文档" r:id="rId7" imgW="3826872" imgH="76979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0400" y="1829423"/>
                        <a:ext cx="11671959" cy="23478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74757"/>
              </p:ext>
            </p:extLst>
          </p:nvPr>
        </p:nvGraphicFramePr>
        <p:xfrm>
          <a:off x="660400" y="4262321"/>
          <a:ext cx="11671959" cy="725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0" name="文档" r:id="rId10" imgW="3826872" imgH="237909" progId="Word.Document.12">
                  <p:embed/>
                </p:oleObj>
              </mc:Choice>
              <mc:Fallback>
                <p:oleObj name="文档" r:id="rId10" imgW="3826872" imgH="2379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60400" y="4262321"/>
                        <a:ext cx="11671959" cy="7256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708653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17671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某单位的甲、乙、丙三人到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城出差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在安排住宿时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有三种住宿方案可供他们选择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三人同住一个套间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二人住标准间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双人间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、一人住单间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三人各住一个单间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若宾馆方面对套间、标准间及单间的标价分别为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160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同时对客户实行打折优惠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但这三类房间的折扣率各不相同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50%,65%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85%,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三种住宿方案中最经济的是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种方案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828127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473789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若选择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方案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则需支付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50%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150(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若选择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方案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则需支付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160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65%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85%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155(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若选择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方案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则需支付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85%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153(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所以选择第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套方案最经济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92810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62956"/>
            <a:ext cx="10807700" cy="47632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分别写出满足下列条件的不等关系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一个两位数的个位数字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比十位数字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且这个两位数小于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某电脑用户计划用不超过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元的资金购买单价分别为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元的单片软件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片和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元的盒装磁盘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根据需要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软件至少买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磁盘至少买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y&gt;x&gt;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0,9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x+y&lt;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2,60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500,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64958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93</TotalTime>
  <Words>1915</Words>
  <Application>Microsoft Office PowerPoint</Application>
  <PresentationFormat>自定义</PresentationFormat>
  <Paragraphs>130</Paragraphs>
  <Slides>39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4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Arial</vt:lpstr>
      <vt:lpstr>Calibri</vt:lpstr>
      <vt:lpstr>Cambria Math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25</cp:revision>
  <dcterms:created xsi:type="dcterms:W3CDTF">2020-09-12T05:36:12Z</dcterms:created>
  <dcterms:modified xsi:type="dcterms:W3CDTF">2025-08-18T03:02:53Z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