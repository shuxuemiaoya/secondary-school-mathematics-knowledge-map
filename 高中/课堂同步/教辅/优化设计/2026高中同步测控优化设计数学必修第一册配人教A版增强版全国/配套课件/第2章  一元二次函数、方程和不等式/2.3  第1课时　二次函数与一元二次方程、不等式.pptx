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wav" ContentType="audio/x-wav"/>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
  </p:notesMasterIdLst>
  <p:sldIdLst>
    <p:sldId id="731" r:id="rId2"/>
    <p:sldId id="753" r:id="rId3"/>
    <p:sldId id="736" r:id="rId4"/>
    <p:sldId id="744" r:id="rId5"/>
    <p:sldId id="746" r:id="rId6"/>
    <p:sldId id="749" r:id="rId7"/>
    <p:sldId id="756" r:id="rId8"/>
    <p:sldId id="757" r:id="rId9"/>
    <p:sldId id="758" r:id="rId10"/>
    <p:sldId id="759" r:id="rId11"/>
    <p:sldId id="760" r:id="rId12"/>
    <p:sldId id="761" r:id="rId13"/>
    <p:sldId id="762" r:id="rId14"/>
    <p:sldId id="737" r:id="rId15"/>
    <p:sldId id="750" r:id="rId16"/>
    <p:sldId id="763" r:id="rId17"/>
    <p:sldId id="764" r:id="rId18"/>
    <p:sldId id="765" r:id="rId19"/>
    <p:sldId id="766" r:id="rId20"/>
    <p:sldId id="767" r:id="rId21"/>
    <p:sldId id="768" r:id="rId22"/>
    <p:sldId id="769" r:id="rId23"/>
    <p:sldId id="754" r:id="rId24"/>
    <p:sldId id="770" r:id="rId25"/>
    <p:sldId id="771" r:id="rId26"/>
    <p:sldId id="772" r:id="rId27"/>
    <p:sldId id="773" r:id="rId28"/>
    <p:sldId id="755" r:id="rId29"/>
    <p:sldId id="774" r:id="rId30"/>
    <p:sldId id="775" r:id="rId31"/>
    <p:sldId id="776" r:id="rId32"/>
    <p:sldId id="747" r:id="rId33"/>
    <p:sldId id="751" r:id="rId34"/>
    <p:sldId id="777" r:id="rId35"/>
    <p:sldId id="778" r:id="rId36"/>
    <p:sldId id="779" r:id="rId37"/>
    <p:sldId id="780" r:id="rId38"/>
    <p:sldId id="781" r:id="rId39"/>
    <p:sldId id="782" r:id="rId40"/>
    <p:sldId id="748" r:id="rId41"/>
    <p:sldId id="752" r:id="rId42"/>
    <p:sldId id="783" r:id="rId43"/>
    <p:sldId id="785" r:id="rId44"/>
    <p:sldId id="786" r:id="rId45"/>
    <p:sldId id="735" r:id="rId46"/>
  </p:sldIdLst>
  <p:sldSz cx="11522075" cy="6480175"/>
  <p:notesSz cx="6858000" cy="9144000"/>
  <p:defaultTextStyle>
    <a:defPPr>
      <a:defRPr lang="zh-CN"/>
    </a:defPPr>
    <a:lvl1pPr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1pPr>
    <a:lvl2pPr marL="4572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2pPr>
    <a:lvl3pPr marL="9144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3pPr>
    <a:lvl4pPr marL="13716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4pPr>
    <a:lvl5pPr marL="18288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059">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FF9933"/>
    <a:srgbClr val="FF3399"/>
    <a:srgbClr val="FF7C80"/>
    <a:srgbClr val="FFFFFF"/>
    <a:srgbClr val="C6A7DD"/>
    <a:srgbClr val="9E5ECE"/>
    <a:srgbClr val="D60093"/>
    <a:srgbClr val="934BC9"/>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591" autoAdjust="0"/>
  </p:normalViewPr>
  <p:slideViewPr>
    <p:cSldViewPr>
      <p:cViewPr varScale="1">
        <p:scale>
          <a:sx n="97" d="100"/>
          <a:sy n="97" d="100"/>
        </p:scale>
        <p:origin x="504" y="78"/>
      </p:cViewPr>
      <p:guideLst>
        <p:guide orient="horz" pos="2059"/>
        <p:guide pos="3629"/>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image" Target="../media/image1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image" Target="../media/image20.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image" Target="../media/image29.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381000" y="685800"/>
            <a:ext cx="6096000" cy="342900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noProof="1" dirty="0">
                <a:ea typeface="黑体" panose="02010609060101010101" pitchFamily="49" charset="-122"/>
              </a:defRPr>
            </a:lvl1pPr>
          </a:lstStyle>
          <a:p>
            <a:fld id="{A64CA497-71E0-4184-919F-D45F39379D11}" type="slidenum">
              <a:rPr lang="zh-CN" altLang="en-US"/>
              <a:pPr/>
              <a:t>‹#›</a:t>
            </a:fld>
            <a:endParaRPr lang="zh-CN" altLang="en-US">
              <a:ea typeface="黑体" panose="02010609060101010101" pitchFamily="49" charset="-122"/>
            </a:endParaRPr>
          </a:p>
        </p:txBody>
      </p:sp>
    </p:spTree>
    <p:extLst>
      <p:ext uri="{BB962C8B-B14F-4D97-AF65-F5344CB8AC3E}">
        <p14:creationId xmlns:p14="http://schemas.microsoft.com/office/powerpoint/2010/main" val="1747822530"/>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4CA497-71E0-4184-919F-D45F39379D11}" type="slidenum">
              <a:rPr lang="zh-CN" altLang="en-US" smtClean="0"/>
              <a:pPr/>
              <a:t>45</a:t>
            </a:fld>
            <a:endParaRPr lang="zh-CN" altLang="en-US">
              <a:ea typeface="黑体" panose="02010609060101010101" pitchFamily="49" charset="-122"/>
            </a:endParaRPr>
          </a:p>
        </p:txBody>
      </p:sp>
    </p:spTree>
    <p:extLst>
      <p:ext uri="{BB962C8B-B14F-4D97-AF65-F5344CB8AC3E}">
        <p14:creationId xmlns:p14="http://schemas.microsoft.com/office/powerpoint/2010/main" val="858147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196167"/>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pattFill prst="lgGrid">
          <a:fgClr>
            <a:schemeClr val="bg2">
              <a:lumMod val="90000"/>
            </a:schemeClr>
          </a:fgClr>
          <a:bgClr>
            <a:schemeClr val="bg1"/>
          </a:bgClr>
        </a:pattFill>
        <a:effectLst/>
      </p:bgPr>
    </p:bg>
    <p:spTree>
      <p:nvGrpSpPr>
        <p:cNvPr id="1" name=""/>
        <p:cNvGrpSpPr/>
        <p:nvPr/>
      </p:nvGrpSpPr>
      <p:grpSpPr>
        <a:xfrm>
          <a:off x="0" y="0"/>
          <a:ext cx="0" cy="0"/>
          <a:chOff x="0" y="0"/>
          <a:chExt cx="0" cy="0"/>
        </a:xfrm>
      </p:grpSpPr>
      <p:sp>
        <p:nvSpPr>
          <p:cNvPr id="8" name="云形标注 7"/>
          <p:cNvSpPr/>
          <p:nvPr userDrawn="1"/>
        </p:nvSpPr>
        <p:spPr>
          <a:xfrm>
            <a:off x="8868398" y="132726"/>
            <a:ext cx="2460413" cy="136045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6600" dirty="0" smtClean="0">
                <a:solidFill>
                  <a:srgbClr val="FF0000"/>
                </a:solidFill>
              </a:rPr>
              <a:t>   </a:t>
            </a:r>
            <a:r>
              <a:rPr lang="zh-CN" altLang="en-US" sz="8800"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3392716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1"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pattFill prst="pct5">
          <a:fgClr>
            <a:schemeClr val="bg2">
              <a:lumMod val="75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10820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4695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03702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894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gradFill>
          <a:gsLst>
            <a:gs pos="61000">
              <a:schemeClr val="bg2">
                <a:lumMod val="90000"/>
              </a:schemeClr>
            </a:gs>
            <a:gs pos="100000">
              <a:schemeClr val="bg2">
                <a:lumMod val="50000"/>
              </a:schemeClr>
            </a:gs>
            <a:gs pos="0">
              <a:schemeClr val="bg2">
                <a:lumMod val="50000"/>
              </a:schemeClr>
            </a:gs>
            <a:gs pos="40000">
              <a:schemeClr val="bg2">
                <a:lumMod val="90000"/>
              </a:schemeClr>
            </a:gs>
          </a:gsLst>
          <a:lin ang="5400000" scaled="1"/>
        </a:gradFill>
        <a:effectLst/>
      </p:bgPr>
    </p:bg>
    <p:spTree>
      <p:nvGrpSpPr>
        <p:cNvPr id="1" name=""/>
        <p:cNvGrpSpPr/>
        <p:nvPr/>
      </p:nvGrpSpPr>
      <p:grpSpPr>
        <a:xfrm>
          <a:off x="0" y="0"/>
          <a:ext cx="0" cy="0"/>
          <a:chOff x="0" y="0"/>
          <a:chExt cx="0" cy="0"/>
        </a:xfrm>
      </p:grpSpPr>
      <p:sp>
        <p:nvSpPr>
          <p:cNvPr id="2" name="矩形 1"/>
          <p:cNvSpPr/>
          <p:nvPr userDrawn="1"/>
        </p:nvSpPr>
        <p:spPr>
          <a:xfrm>
            <a:off x="801617" y="1129203"/>
            <a:ext cx="10071988" cy="3046988"/>
          </a:xfrm>
          <a:prstGeom prst="rect">
            <a:avLst/>
          </a:prstGeom>
          <a:noFill/>
        </p:spPr>
        <p:txBody>
          <a:bodyPr wrap="none" lIns="91440" tIns="45720" rIns="91440" bIns="45720">
            <a:spAutoFit/>
          </a:bodyPr>
          <a:lstStyle/>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十年寒窗磨利剑，</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一朝折桂展宏图！</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26079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audio" Target="../media/audio1.wav"/><Relationship Id="rId5" Type="http://schemas.openxmlformats.org/officeDocument/2006/relationships/slideLayout" Target="../slideLayouts/slideLayout5.xml"/><Relationship Id="rId10" Type="http://schemas.openxmlformats.org/officeDocument/2006/relationships/slide" Target="../slides/slide4.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1" y="36116"/>
            <a:ext cx="11522075" cy="611683"/>
            <a:chOff x="-1" y="36116"/>
            <a:chExt cx="11522075" cy="611683"/>
          </a:xfrm>
        </p:grpSpPr>
        <p:sp>
          <p:nvSpPr>
            <p:cNvPr id="7" name="矩形 6"/>
            <p:cNvSpPr/>
            <p:nvPr userDrawn="1"/>
          </p:nvSpPr>
          <p:spPr>
            <a:xfrm>
              <a:off x="-1" y="359767"/>
              <a:ext cx="11522075" cy="288032"/>
            </a:xfrm>
            <a:prstGeom prst="rect">
              <a:avLst/>
            </a:prstGeom>
            <a:gradFill flip="none" rotWithShape="1">
              <a:gsLst>
                <a:gs pos="65000">
                  <a:schemeClr val="bg2">
                    <a:lumMod val="90000"/>
                  </a:schemeClr>
                </a:gs>
                <a:gs pos="38000">
                  <a:schemeClr val="bg2">
                    <a:lumMod val="75000"/>
                  </a:schemeClr>
                </a:gs>
                <a:gs pos="1000">
                  <a:srgbClr val="0070C0"/>
                </a:gs>
                <a:gs pos="10000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88429" y="36116"/>
              <a:ext cx="576064" cy="576064"/>
            </a:xfrm>
            <a:prstGeom prst="rect">
              <a:avLst/>
            </a:prstGeom>
          </p:spPr>
        </p:pic>
      </p:grpSp>
      <p:sp>
        <p:nvSpPr>
          <p:cNvPr id="9" name="矩形 8"/>
          <p:cNvSpPr/>
          <p:nvPr userDrawn="1"/>
        </p:nvSpPr>
        <p:spPr>
          <a:xfrm>
            <a:off x="-9728" y="6404527"/>
            <a:ext cx="11522074" cy="72008"/>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2">
                    <a:lumMod val="50000"/>
                  </a:schemeClr>
                </a:solidFill>
              </a:ln>
              <a:solidFill>
                <a:schemeClr val="bg2">
                  <a:lumMod val="50000"/>
                </a:schemeClr>
              </a:solidFill>
            </a:endParaRPr>
          </a:p>
        </p:txBody>
      </p:sp>
      <p:sp>
        <p:nvSpPr>
          <p:cNvPr id="10" name="云形标注 9">
            <a:hlinkClick r:id="rId10" action="ppaction://hlinksldjump">
              <a:snd r:embed="rId11" name="camera.wav"/>
            </a:hlinkClick>
          </p:cNvPr>
          <p:cNvSpPr/>
          <p:nvPr userDrawn="1"/>
        </p:nvSpPr>
        <p:spPr>
          <a:xfrm>
            <a:off x="10441557" y="42551"/>
            <a:ext cx="864096" cy="43204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smtClean="0"/>
              <a:t>  </a:t>
            </a:r>
            <a:r>
              <a:rPr lang="zh-CN" altLang="en-US"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1345586147"/>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97" r:id="rId3"/>
    <p:sldLayoutId id="2147483690" r:id="rId4"/>
    <p:sldLayoutId id="2147483691" r:id="rId5"/>
    <p:sldLayoutId id="2147483692" r:id="rId6"/>
    <p:sldLayoutId id="2147483694" r:id="rId7"/>
  </p:sldLayoutIdLst>
  <p:timing>
    <p:tnLst>
      <p:par>
        <p:cTn id="1" dur="indefinite" restart="never" nodeType="tmRoot"/>
      </p:par>
    </p:tnLst>
  </p:timing>
  <p:txStyles>
    <p:titleStyle>
      <a:lvl1pPr algn="ctr" rtl="0" eaLnBrk="1" fontAlgn="base" hangingPunct="1">
        <a:spcBef>
          <a:spcPct val="0"/>
        </a:spcBef>
        <a:spcAft>
          <a:spcPct val="0"/>
        </a:spcAft>
        <a:defRPr sz="4158" kern="1200">
          <a:solidFill>
            <a:schemeClr val="tx1"/>
          </a:solidFill>
          <a:latin typeface="+mj-lt"/>
          <a:ea typeface="+mj-ea"/>
          <a:cs typeface="+mj-cs"/>
        </a:defRPr>
      </a:lvl1pPr>
      <a:lvl2pPr algn="ctr" rtl="0" eaLnBrk="1" fontAlgn="base" hangingPunct="1">
        <a:spcBef>
          <a:spcPct val="0"/>
        </a:spcBef>
        <a:spcAft>
          <a:spcPct val="0"/>
        </a:spcAft>
        <a:defRPr sz="4158">
          <a:solidFill>
            <a:schemeClr val="tx1"/>
          </a:solidFill>
          <a:latin typeface="Arial" charset="0"/>
          <a:ea typeface="黑体" pitchFamily="2" charset="-122"/>
        </a:defRPr>
      </a:lvl2pPr>
      <a:lvl3pPr algn="ctr" rtl="0" eaLnBrk="1" fontAlgn="base" hangingPunct="1">
        <a:spcBef>
          <a:spcPct val="0"/>
        </a:spcBef>
        <a:spcAft>
          <a:spcPct val="0"/>
        </a:spcAft>
        <a:defRPr sz="4158">
          <a:solidFill>
            <a:schemeClr val="tx1"/>
          </a:solidFill>
          <a:latin typeface="Arial" charset="0"/>
          <a:ea typeface="黑体" pitchFamily="2" charset="-122"/>
        </a:defRPr>
      </a:lvl3pPr>
      <a:lvl4pPr algn="ctr" rtl="0" eaLnBrk="1" fontAlgn="base" hangingPunct="1">
        <a:spcBef>
          <a:spcPct val="0"/>
        </a:spcBef>
        <a:spcAft>
          <a:spcPct val="0"/>
        </a:spcAft>
        <a:defRPr sz="4158">
          <a:solidFill>
            <a:schemeClr val="tx1"/>
          </a:solidFill>
          <a:latin typeface="Arial" charset="0"/>
          <a:ea typeface="黑体" pitchFamily="2" charset="-122"/>
        </a:defRPr>
      </a:lvl4pPr>
      <a:lvl5pPr algn="ctr" rtl="0" eaLnBrk="1" fontAlgn="base" hangingPunct="1">
        <a:spcBef>
          <a:spcPct val="0"/>
        </a:spcBef>
        <a:spcAft>
          <a:spcPct val="0"/>
        </a:spcAft>
        <a:defRPr sz="4158">
          <a:solidFill>
            <a:schemeClr val="tx1"/>
          </a:solidFill>
          <a:latin typeface="Arial" charset="0"/>
          <a:ea typeface="黑体" pitchFamily="2" charset="-122"/>
        </a:defRPr>
      </a:lvl5pPr>
      <a:lvl6pPr marL="432008" algn="ctr" rtl="0" eaLnBrk="1" fontAlgn="base" hangingPunct="1">
        <a:spcBef>
          <a:spcPct val="0"/>
        </a:spcBef>
        <a:spcAft>
          <a:spcPct val="0"/>
        </a:spcAft>
        <a:defRPr sz="4158">
          <a:solidFill>
            <a:schemeClr val="tx1"/>
          </a:solidFill>
          <a:latin typeface="Arial" charset="0"/>
          <a:ea typeface="黑体" pitchFamily="2" charset="-122"/>
        </a:defRPr>
      </a:lvl6pPr>
      <a:lvl7pPr marL="864017" algn="ctr" rtl="0" eaLnBrk="1" fontAlgn="base" hangingPunct="1">
        <a:spcBef>
          <a:spcPct val="0"/>
        </a:spcBef>
        <a:spcAft>
          <a:spcPct val="0"/>
        </a:spcAft>
        <a:defRPr sz="4158">
          <a:solidFill>
            <a:schemeClr val="tx1"/>
          </a:solidFill>
          <a:latin typeface="Arial" charset="0"/>
          <a:ea typeface="黑体" pitchFamily="2" charset="-122"/>
        </a:defRPr>
      </a:lvl7pPr>
      <a:lvl8pPr marL="1296025" algn="ctr" rtl="0" eaLnBrk="1" fontAlgn="base" hangingPunct="1">
        <a:spcBef>
          <a:spcPct val="0"/>
        </a:spcBef>
        <a:spcAft>
          <a:spcPct val="0"/>
        </a:spcAft>
        <a:defRPr sz="4158">
          <a:solidFill>
            <a:schemeClr val="tx1"/>
          </a:solidFill>
          <a:latin typeface="Arial" charset="0"/>
          <a:ea typeface="黑体" pitchFamily="2" charset="-122"/>
        </a:defRPr>
      </a:lvl8pPr>
      <a:lvl9pPr marL="1728033" algn="ctr" rtl="0" eaLnBrk="1" fontAlgn="base" hangingPunct="1">
        <a:spcBef>
          <a:spcPct val="0"/>
        </a:spcBef>
        <a:spcAft>
          <a:spcPct val="0"/>
        </a:spcAft>
        <a:defRPr sz="4158">
          <a:solidFill>
            <a:schemeClr val="tx1"/>
          </a:solidFill>
          <a:latin typeface="Arial" charset="0"/>
          <a:ea typeface="黑体" pitchFamily="2" charset="-122"/>
        </a:defRPr>
      </a:lvl9pPr>
    </p:titleStyle>
    <p:bodyStyle>
      <a:lvl1pPr marL="324006" indent="-324006" algn="l" rtl="0" eaLnBrk="1" fontAlgn="base" hangingPunct="1">
        <a:spcBef>
          <a:spcPct val="20000"/>
        </a:spcBef>
        <a:spcAft>
          <a:spcPct val="0"/>
        </a:spcAft>
        <a:buFont typeface="Arial" charset="0"/>
        <a:buChar char="•"/>
        <a:defRPr sz="3024" kern="1200">
          <a:solidFill>
            <a:schemeClr val="tx1"/>
          </a:solidFill>
          <a:latin typeface="+mn-lt"/>
          <a:ea typeface="+mn-ea"/>
          <a:cs typeface="+mn-cs"/>
        </a:defRPr>
      </a:lvl1pPr>
      <a:lvl2pPr marL="702013" indent="-270005" algn="l" rtl="0" eaLnBrk="1" fontAlgn="base" hangingPunct="1">
        <a:spcBef>
          <a:spcPct val="20000"/>
        </a:spcBef>
        <a:spcAft>
          <a:spcPct val="0"/>
        </a:spcAft>
        <a:buFont typeface="Arial" charset="0"/>
        <a:buChar char="–"/>
        <a:defRPr sz="2646" kern="1200">
          <a:solidFill>
            <a:schemeClr val="tx1"/>
          </a:solidFill>
          <a:latin typeface="+mn-lt"/>
          <a:ea typeface="+mn-ea"/>
          <a:cs typeface="+mn-cs"/>
        </a:defRPr>
      </a:lvl2pPr>
      <a:lvl3pPr marL="1080021" indent="-216004" algn="l" rtl="0" eaLnBrk="1" fontAlgn="base" hangingPunct="1">
        <a:spcBef>
          <a:spcPct val="20000"/>
        </a:spcBef>
        <a:spcAft>
          <a:spcPct val="0"/>
        </a:spcAft>
        <a:buFont typeface="Arial" charset="0"/>
        <a:buChar char="•"/>
        <a:defRPr sz="2268" kern="1200">
          <a:solidFill>
            <a:schemeClr val="tx1"/>
          </a:solidFill>
          <a:latin typeface="+mn-lt"/>
          <a:ea typeface="+mn-ea"/>
          <a:cs typeface="+mn-cs"/>
        </a:defRPr>
      </a:lvl3pPr>
      <a:lvl4pPr marL="1512029"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4pPr>
      <a:lvl5pPr marL="1944037"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5pPr>
      <a:lvl6pPr marL="2376046"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6pPr>
      <a:lvl7pPr marL="2808054"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7pPr>
      <a:lvl8pPr marL="3240062"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8pPr>
      <a:lvl9pPr marL="3672070"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9pPr>
    </p:bodyStyle>
    <p:otherStyle>
      <a:defPPr>
        <a:defRPr lang="zh-CN"/>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 Target="slide5.xml"/><Relationship Id="rId1" Type="http://schemas.openxmlformats.org/officeDocument/2006/relationships/slideLayout" Target="../slideLayouts/slideLayout3.xml"/><Relationship Id="rId6" Type="http://schemas.openxmlformats.org/officeDocument/2006/relationships/slide" Target="slide40.xml"/><Relationship Id="rId5" Type="http://schemas.openxmlformats.org/officeDocument/2006/relationships/slide" Target="slide32.xml"/><Relationship Id="rId4" Type="http://schemas.openxmlformats.org/officeDocument/2006/relationships/slide" Target="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6" Type="http://schemas.openxmlformats.org/officeDocument/2006/relationships/image" Target="../media/image4.jpeg"/><Relationship Id="rId5" Type="http://schemas.openxmlformats.org/officeDocument/2006/relationships/image" Target="../media/image3.emf"/><Relationship Id="rId4" Type="http://schemas.openxmlformats.org/officeDocument/2006/relationships/package" Target="../embeddings/Microsoft_Word___1.docx"/></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5.xml"/><Relationship Id="rId1" Type="http://schemas.openxmlformats.org/officeDocument/2006/relationships/vmlDrawing" Target="../drawings/vmlDrawing2.vml"/><Relationship Id="rId5" Type="http://schemas.openxmlformats.org/officeDocument/2006/relationships/image" Target="../media/image5.emf"/><Relationship Id="rId4" Type="http://schemas.openxmlformats.org/officeDocument/2006/relationships/package" Target="../embeddings/Microsoft_Word___2.docx"/></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5.xml"/><Relationship Id="rId1" Type="http://schemas.openxmlformats.org/officeDocument/2006/relationships/vmlDrawing" Target="../drawings/vmlDrawing3.vml"/><Relationship Id="rId5" Type="http://schemas.openxmlformats.org/officeDocument/2006/relationships/image" Target="../media/image6.emf"/><Relationship Id="rId4" Type="http://schemas.openxmlformats.org/officeDocument/2006/relationships/package" Target="../embeddings/Microsoft_Word___3.docx"/></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5.xml"/><Relationship Id="rId1" Type="http://schemas.openxmlformats.org/officeDocument/2006/relationships/vmlDrawing" Target="../drawings/vmlDrawing4.vml"/><Relationship Id="rId5" Type="http://schemas.openxmlformats.org/officeDocument/2006/relationships/image" Target="../media/image7.emf"/><Relationship Id="rId4" Type="http://schemas.openxmlformats.org/officeDocument/2006/relationships/package" Target="../embeddings/Microsoft_Word___4.docx"/></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4.xml"/><Relationship Id="rId1" Type="http://schemas.openxmlformats.org/officeDocument/2006/relationships/vmlDrawing" Target="../drawings/vmlDrawing5.vml"/><Relationship Id="rId6" Type="http://schemas.openxmlformats.org/officeDocument/2006/relationships/image" Target="../media/image8.emf"/><Relationship Id="rId5" Type="http://schemas.openxmlformats.org/officeDocument/2006/relationships/package" Target="../embeddings/Microsoft_Word___5.docx"/><Relationship Id="rId4" Type="http://schemas.openxmlformats.org/officeDocument/2006/relationships/oleObject" Target="../embeddings/oleObject5.bin"/></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4.xml"/><Relationship Id="rId1" Type="http://schemas.openxmlformats.org/officeDocument/2006/relationships/vmlDrawing" Target="../drawings/vmlDrawing6.vml"/><Relationship Id="rId6" Type="http://schemas.openxmlformats.org/officeDocument/2006/relationships/image" Target="../media/image11.jpeg"/><Relationship Id="rId5" Type="http://schemas.openxmlformats.org/officeDocument/2006/relationships/image" Target="../media/image10.emf"/><Relationship Id="rId4" Type="http://schemas.openxmlformats.org/officeDocument/2006/relationships/package" Target="../embeddings/Microsoft_Word___6.docx"/></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xml"/><Relationship Id="rId1" Type="http://schemas.openxmlformats.org/officeDocument/2006/relationships/vmlDrawing" Target="../drawings/vmlDrawing7.vml"/><Relationship Id="rId6" Type="http://schemas.openxmlformats.org/officeDocument/2006/relationships/image" Target="../media/image13.jpeg"/><Relationship Id="rId5" Type="http://schemas.openxmlformats.org/officeDocument/2006/relationships/image" Target="../media/image12.emf"/><Relationship Id="rId4" Type="http://schemas.openxmlformats.org/officeDocument/2006/relationships/package" Target="../embeddings/Microsoft_Word___7.docx"/></Relationships>
</file>

<file path=ppt/slides/_rels/slide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oleObject" Target="../embeddings/oleObject8.bin"/><Relationship Id="rId7" Type="http://schemas.openxmlformats.org/officeDocument/2006/relationships/package" Target="../embeddings/Microsoft_Word___9.docx"/><Relationship Id="rId2" Type="http://schemas.openxmlformats.org/officeDocument/2006/relationships/slideLayout" Target="../slideLayouts/slideLayout4.xml"/><Relationship Id="rId1" Type="http://schemas.openxmlformats.org/officeDocument/2006/relationships/vmlDrawing" Target="../drawings/vmlDrawing8.vml"/><Relationship Id="rId6" Type="http://schemas.openxmlformats.org/officeDocument/2006/relationships/oleObject" Target="../embeddings/oleObject9.bin"/><Relationship Id="rId5" Type="http://schemas.openxmlformats.org/officeDocument/2006/relationships/image" Target="../media/image15.emf"/><Relationship Id="rId4" Type="http://schemas.openxmlformats.org/officeDocument/2006/relationships/package" Target="../embeddings/Microsoft_Word___8.docx"/></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4.xml"/><Relationship Id="rId1" Type="http://schemas.openxmlformats.org/officeDocument/2006/relationships/vmlDrawing" Target="../drawings/vmlDrawing9.vml"/><Relationship Id="rId5" Type="http://schemas.openxmlformats.org/officeDocument/2006/relationships/image" Target="../media/image17.emf"/><Relationship Id="rId4" Type="http://schemas.openxmlformats.org/officeDocument/2006/relationships/package" Target="../embeddings/Microsoft_Word___10.docx"/></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4.xml"/><Relationship Id="rId1" Type="http://schemas.openxmlformats.org/officeDocument/2006/relationships/vmlDrawing" Target="../drawings/vmlDrawing10.vml"/><Relationship Id="rId5" Type="http://schemas.openxmlformats.org/officeDocument/2006/relationships/image" Target="../media/image18.emf"/><Relationship Id="rId4" Type="http://schemas.openxmlformats.org/officeDocument/2006/relationships/package" Target="../embeddings/Microsoft_Word___11.docx"/></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4.xml"/><Relationship Id="rId1" Type="http://schemas.openxmlformats.org/officeDocument/2006/relationships/vmlDrawing" Target="../drawings/vmlDrawing11.vml"/><Relationship Id="rId5" Type="http://schemas.openxmlformats.org/officeDocument/2006/relationships/image" Target="../media/image19.emf"/><Relationship Id="rId4" Type="http://schemas.openxmlformats.org/officeDocument/2006/relationships/package" Target="../embeddings/Microsoft_Word___12.docx"/></Relationships>
</file>

<file path=ppt/slides/_rels/slide27.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oleObject" Target="../embeddings/oleObject13.bin"/><Relationship Id="rId7" Type="http://schemas.openxmlformats.org/officeDocument/2006/relationships/package" Target="../embeddings/Microsoft_Word___14.docx"/><Relationship Id="rId2" Type="http://schemas.openxmlformats.org/officeDocument/2006/relationships/slideLayout" Target="../slideLayouts/slideLayout4.xml"/><Relationship Id="rId1" Type="http://schemas.openxmlformats.org/officeDocument/2006/relationships/vmlDrawing" Target="../drawings/vmlDrawing12.vml"/><Relationship Id="rId6" Type="http://schemas.openxmlformats.org/officeDocument/2006/relationships/oleObject" Target="../embeddings/oleObject14.bin"/><Relationship Id="rId5" Type="http://schemas.openxmlformats.org/officeDocument/2006/relationships/image" Target="../media/image20.emf"/><Relationship Id="rId4" Type="http://schemas.openxmlformats.org/officeDocument/2006/relationships/package" Target="../embeddings/Microsoft_Word___13.docx"/></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4.xml"/><Relationship Id="rId1" Type="http://schemas.openxmlformats.org/officeDocument/2006/relationships/vmlDrawing" Target="../drawings/vmlDrawing13.vml"/><Relationship Id="rId5" Type="http://schemas.openxmlformats.org/officeDocument/2006/relationships/image" Target="../media/image23.emf"/><Relationship Id="rId4" Type="http://schemas.openxmlformats.org/officeDocument/2006/relationships/package" Target="../embeddings/Microsoft_Word___15.docx"/></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4.xml"/><Relationship Id="rId1" Type="http://schemas.openxmlformats.org/officeDocument/2006/relationships/vmlDrawing" Target="../drawings/vmlDrawing14.vml"/><Relationship Id="rId5" Type="http://schemas.openxmlformats.org/officeDocument/2006/relationships/image" Target="../media/image24.emf"/><Relationship Id="rId4" Type="http://schemas.openxmlformats.org/officeDocument/2006/relationships/package" Target="../embeddings/Microsoft_Word___16.docx"/></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4.xml"/><Relationship Id="rId1" Type="http://schemas.openxmlformats.org/officeDocument/2006/relationships/vmlDrawing" Target="../drawings/vmlDrawing15.vml"/><Relationship Id="rId5" Type="http://schemas.openxmlformats.org/officeDocument/2006/relationships/image" Target="../media/image25.emf"/><Relationship Id="rId4" Type="http://schemas.openxmlformats.org/officeDocument/2006/relationships/package" Target="../embeddings/Microsoft_Word___17.docx"/></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4.xml"/><Relationship Id="rId1" Type="http://schemas.openxmlformats.org/officeDocument/2006/relationships/vmlDrawing" Target="../drawings/vmlDrawing16.vml"/><Relationship Id="rId5" Type="http://schemas.openxmlformats.org/officeDocument/2006/relationships/image" Target="../media/image26.emf"/><Relationship Id="rId4" Type="http://schemas.openxmlformats.org/officeDocument/2006/relationships/package" Target="../embeddings/Microsoft_Word___18.docx"/></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4.xml"/><Relationship Id="rId1" Type="http://schemas.openxmlformats.org/officeDocument/2006/relationships/vmlDrawing" Target="../drawings/vmlDrawing17.vml"/><Relationship Id="rId5" Type="http://schemas.openxmlformats.org/officeDocument/2006/relationships/image" Target="../media/image27.emf"/><Relationship Id="rId4" Type="http://schemas.openxmlformats.org/officeDocument/2006/relationships/package" Target="../embeddings/Microsoft_Word___19.docx"/></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4.xml"/><Relationship Id="rId1" Type="http://schemas.openxmlformats.org/officeDocument/2006/relationships/vmlDrawing" Target="../drawings/vmlDrawing18.vml"/><Relationship Id="rId5" Type="http://schemas.openxmlformats.org/officeDocument/2006/relationships/image" Target="../media/image28.emf"/><Relationship Id="rId4" Type="http://schemas.openxmlformats.org/officeDocument/2006/relationships/package" Target="../embeddings/Microsoft_Word___20.docx"/></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8" Type="http://schemas.openxmlformats.org/officeDocument/2006/relationships/image" Target="../media/image30.emf"/><Relationship Id="rId3" Type="http://schemas.openxmlformats.org/officeDocument/2006/relationships/oleObject" Target="../embeddings/oleObject21.bin"/><Relationship Id="rId7" Type="http://schemas.openxmlformats.org/officeDocument/2006/relationships/package" Target="../embeddings/Microsoft_Word___22.docx"/><Relationship Id="rId2" Type="http://schemas.openxmlformats.org/officeDocument/2006/relationships/slideLayout" Target="../slideLayouts/slideLayout4.xml"/><Relationship Id="rId1" Type="http://schemas.openxmlformats.org/officeDocument/2006/relationships/vmlDrawing" Target="../drawings/vmlDrawing19.vml"/><Relationship Id="rId6" Type="http://schemas.openxmlformats.org/officeDocument/2006/relationships/oleObject" Target="../embeddings/oleObject22.bin"/><Relationship Id="rId5" Type="http://schemas.openxmlformats.org/officeDocument/2006/relationships/image" Target="../media/image29.emf"/><Relationship Id="rId4" Type="http://schemas.openxmlformats.org/officeDocument/2006/relationships/package" Target="../embeddings/Microsoft_Word___21.docx"/></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4.xml"/><Relationship Id="rId1" Type="http://schemas.openxmlformats.org/officeDocument/2006/relationships/vmlDrawing" Target="../drawings/vmlDrawing20.vml"/><Relationship Id="rId5" Type="http://schemas.openxmlformats.org/officeDocument/2006/relationships/image" Target="../media/image31.emf"/><Relationship Id="rId4" Type="http://schemas.openxmlformats.org/officeDocument/2006/relationships/package" Target="../embeddings/Microsoft_Word___23.docx"/></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133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0" name="矩形 9"/>
          <p:cNvSpPr>
            <a:spLocks noChangeAspect="1"/>
          </p:cNvSpPr>
          <p:nvPr/>
        </p:nvSpPr>
        <p:spPr>
          <a:xfrm>
            <a:off x="164077" y="2240915"/>
            <a:ext cx="11160125" cy="1791260"/>
          </a:xfrm>
          <a:prstGeom prst="rect">
            <a:avLst/>
          </a:prstGeom>
        </p:spPr>
        <p:txBody>
          <a:bodyPr wrap="square">
            <a:spAutoFit/>
          </a:bodyPr>
          <a:lstStyle/>
          <a:p>
            <a:pPr algn="ctr">
              <a:lnSpc>
                <a:spcPct val="120000"/>
              </a:lnSpc>
              <a:spcAft>
                <a:spcPts val="0"/>
              </a:spcAft>
              <a:tabLst>
                <a:tab pos="1029335" algn="l"/>
                <a:tab pos="1850390" algn="l"/>
                <a:tab pos="2538095" algn="l"/>
                <a:tab pos="3221990" algn="l"/>
              </a:tabLst>
            </a:pPr>
            <a:r>
              <a:rPr lang="en-US" altLang="zh-CN" sz="4800" dirty="0">
                <a:solidFill>
                  <a:srgbClr val="000000"/>
                </a:solidFill>
                <a:ea typeface="宋体" panose="02010600030101010101" pitchFamily="2" charset="-122"/>
                <a:cs typeface="Times New Roman" panose="02020603050405020304" pitchFamily="18" charset="0"/>
              </a:rPr>
              <a:t>2.3</a:t>
            </a:r>
            <a:r>
              <a:rPr lang="zh-CN" altLang="zh-CN" sz="4800" dirty="0">
                <a:solidFill>
                  <a:srgbClr val="000000"/>
                </a:solidFill>
                <a:ea typeface="宋体" panose="02010600030101010101" pitchFamily="2" charset="-122"/>
                <a:cs typeface="Times New Roman" panose="02020603050405020304" pitchFamily="18" charset="0"/>
              </a:rPr>
              <a:t>　</a:t>
            </a:r>
            <a:r>
              <a:rPr lang="zh-CN" altLang="zh-CN" sz="4800" dirty="0">
                <a:solidFill>
                  <a:srgbClr val="000000"/>
                </a:solidFill>
                <a:latin typeface="Arial" panose="020B0604020202020204" pitchFamily="34" charset="0"/>
                <a:cs typeface="Times New Roman" panose="02020603050405020304" pitchFamily="18" charset="0"/>
              </a:rPr>
              <a:t>二次函数与一元二次方程、不等式</a:t>
            </a:r>
            <a:endParaRPr lang="zh-CN" altLang="zh-CN" sz="4800"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r>
              <a:rPr lang="zh-CN" altLang="zh-CN" sz="4400" dirty="0">
                <a:solidFill>
                  <a:srgbClr val="000000"/>
                </a:solidFill>
                <a:latin typeface="Arial" panose="020B0604020202020204" pitchFamily="34" charset="0"/>
                <a:cs typeface="Times New Roman" panose="02020603050405020304" pitchFamily="18" charset="0"/>
              </a:rPr>
              <a:t>第</a:t>
            </a:r>
            <a:r>
              <a:rPr lang="en-US" altLang="zh-CN" sz="4400" dirty="0">
                <a:solidFill>
                  <a:srgbClr val="000000"/>
                </a:solidFill>
                <a:ea typeface="宋体" panose="02010600030101010101" pitchFamily="2" charset="-122"/>
                <a:cs typeface="Times New Roman" panose="02020603050405020304" pitchFamily="18" charset="0"/>
              </a:rPr>
              <a:t>1</a:t>
            </a:r>
            <a:r>
              <a:rPr lang="zh-CN" altLang="zh-CN" sz="4400" dirty="0">
                <a:solidFill>
                  <a:srgbClr val="000000"/>
                </a:solidFill>
                <a:latin typeface="Arial" panose="020B0604020202020204" pitchFamily="34" charset="0"/>
                <a:cs typeface="Times New Roman" panose="02020603050405020304" pitchFamily="18" charset="0"/>
              </a:rPr>
              <a:t>课时</a:t>
            </a:r>
            <a:r>
              <a:rPr lang="zh-CN" altLang="zh-CN" sz="4400" i="1" dirty="0">
                <a:solidFill>
                  <a:srgbClr val="000000"/>
                </a:solidFill>
                <a:ea typeface="宋体" panose="02010600030101010101" pitchFamily="2" charset="-122"/>
                <a:cs typeface="Times New Roman" panose="02020603050405020304" pitchFamily="18" charset="0"/>
              </a:rPr>
              <a:t>　</a:t>
            </a:r>
            <a:r>
              <a:rPr lang="zh-CN" altLang="zh-CN" sz="4400" dirty="0">
                <a:solidFill>
                  <a:srgbClr val="000000"/>
                </a:solidFill>
                <a:latin typeface="Arial" panose="020B0604020202020204" pitchFamily="34" charset="0"/>
                <a:cs typeface="Times New Roman" panose="02020603050405020304" pitchFamily="18" charset="0"/>
              </a:rPr>
              <a:t>二次函数与一元二次方程、不等式</a:t>
            </a:r>
            <a:endParaRPr lang="zh-CN" altLang="zh-CN" sz="44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542335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0437" y="791815"/>
            <a:ext cx="10729192" cy="5060491"/>
            <a:chOff x="360437" y="791815"/>
            <a:chExt cx="10729192" cy="5060491"/>
          </a:xfrm>
        </p:grpSpPr>
        <p:grpSp>
          <p:nvGrpSpPr>
            <p:cNvPr id="13" name="组合 12"/>
            <p:cNvGrpSpPr/>
            <p:nvPr/>
          </p:nvGrpSpPr>
          <p:grpSpPr>
            <a:xfrm>
              <a:off x="360437" y="791815"/>
              <a:ext cx="10729192" cy="5060491"/>
              <a:chOff x="360437" y="1511895"/>
              <a:chExt cx="10729192" cy="3456384"/>
            </a:xfrm>
          </p:grpSpPr>
          <p:sp>
            <p:nvSpPr>
              <p:cNvPr id="2" name="圆角矩形 1"/>
              <p:cNvSpPr/>
              <p:nvPr/>
            </p:nvSpPr>
            <p:spPr>
              <a:xfrm>
                <a:off x="360437" y="1511895"/>
                <a:ext cx="10729192" cy="345638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12" name="直接连接符 11"/>
              <p:cNvCxnSpPr/>
              <p:nvPr/>
            </p:nvCxnSpPr>
            <p:spPr>
              <a:xfrm>
                <a:off x="2448669" y="1573017"/>
                <a:ext cx="0" cy="3312368"/>
              </a:xfrm>
              <a:prstGeom prst="line">
                <a:avLst/>
              </a:prstGeom>
            </p:spPr>
            <p:style>
              <a:lnRef idx="3">
                <a:schemeClr val="accent4"/>
              </a:lnRef>
              <a:fillRef idx="0">
                <a:schemeClr val="accent4"/>
              </a:fillRef>
              <a:effectRef idx="2">
                <a:schemeClr val="accent4"/>
              </a:effectRef>
              <a:fontRef idx="minor">
                <a:schemeClr val="tx1"/>
              </a:fontRef>
            </p:style>
          </p:cxnSp>
        </p:grpSp>
        <p:sp>
          <p:nvSpPr>
            <p:cNvPr id="14" name="矩形 13"/>
            <p:cNvSpPr>
              <a:spLocks noChangeAspect="1"/>
            </p:cNvSpPr>
            <p:nvPr/>
          </p:nvSpPr>
          <p:spPr>
            <a:xfrm>
              <a:off x="360437" y="2447999"/>
              <a:ext cx="2086719" cy="1195712"/>
            </a:xfrm>
            <a:prstGeom prst="rect">
              <a:avLst/>
            </a:prstGeom>
          </p:spPr>
          <p:txBody>
            <a:bodyPr wrap="squar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课标定位</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素养阐释</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5" name="矩形 14"/>
            <p:cNvSpPr>
              <a:spLocks noChangeAspect="1"/>
            </p:cNvSpPr>
            <p:nvPr/>
          </p:nvSpPr>
          <p:spPr>
            <a:xfrm>
              <a:off x="2552207" y="925999"/>
              <a:ext cx="8496944" cy="4819781"/>
            </a:xfrm>
            <a:prstGeom prst="rect">
              <a:avLst/>
            </a:prstGeom>
          </p:spPr>
          <p:txBody>
            <a:bodyPr wrap="square">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会结合二次函数的图象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判断一元二次方程实数根的存在性及实数根的个数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了解函数的零点与方程根的关系</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能借助二次函数求解一元二次不等式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并能用集合表示一元二次不等式的解集</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借助二次函数的图象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了解一元二次不等式与相应函数、方程的联系</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4</a:t>
              </a:r>
              <a:r>
                <a:rPr lang="en-US" altLang="zh-CN" i="1"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提升逻辑推理与数学运算素养</a:t>
              </a:r>
              <a:r>
                <a:rPr lang="en-US" altLang="zh-CN" i="1" dirty="0">
                  <a:solidFill>
                    <a:srgbClr val="000000"/>
                  </a:solidFill>
                  <a:ea typeface="宋体" panose="02010600030101010101" pitchFamily="2" charset="-122"/>
                </a:rPr>
                <a:t>.</a:t>
              </a:r>
              <a:endParaRPr lang="zh-CN" altLang="en-US" dirty="0"/>
            </a:p>
          </p:txBody>
        </p:sp>
      </p:grpSp>
    </p:spTree>
    <p:extLst>
      <p:ext uri="{BB962C8B-B14F-4D97-AF65-F5344CB8AC3E}">
        <p14:creationId xmlns:p14="http://schemas.microsoft.com/office/powerpoint/2010/main" val="34307408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图文框 2">
            <a:hlinkClick r:id="rId2" action="ppaction://hlinksldjump">
              <a:snd r:embed="rId3" name="chimes.wav"/>
            </a:hlinkClick>
          </p:cNvPr>
          <p:cNvSpPr/>
          <p:nvPr/>
        </p:nvSpPr>
        <p:spPr>
          <a:xfrm>
            <a:off x="1728589" y="503783"/>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自主</a:t>
            </a:r>
            <a:r>
              <a:rPr lang="zh-CN" altLang="zh-CN" sz="4400" dirty="0" smtClean="0">
                <a:solidFill>
                  <a:srgbClr val="0070C0"/>
                </a:solidFill>
                <a:latin typeface="华文新魏" panose="02010800040101010101" pitchFamily="2" charset="-122"/>
                <a:ea typeface="华文新魏" panose="02010800040101010101" pitchFamily="2" charset="-122"/>
              </a:rPr>
              <a:t>预习</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新知</a:t>
            </a:r>
            <a:r>
              <a:rPr lang="zh-CN" altLang="zh-CN" sz="4400" dirty="0">
                <a:solidFill>
                  <a:srgbClr val="0070C0"/>
                </a:solidFill>
                <a:latin typeface="华文新魏" panose="02010800040101010101" pitchFamily="2" charset="-122"/>
                <a:ea typeface="华文新魏" panose="02010800040101010101" pitchFamily="2" charset="-122"/>
              </a:rPr>
              <a:t>导学</a:t>
            </a:r>
          </a:p>
        </p:txBody>
      </p:sp>
      <p:sp>
        <p:nvSpPr>
          <p:cNvPr id="4" name="图文框 3">
            <a:hlinkClick r:id="rId4" action="ppaction://hlinksldjump">
              <a:snd r:embed="rId3" name="chimes.wav"/>
            </a:hlinkClick>
          </p:cNvPr>
          <p:cNvSpPr/>
          <p:nvPr/>
        </p:nvSpPr>
        <p:spPr>
          <a:xfrm>
            <a:off x="1728589" y="1871935"/>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合作</a:t>
            </a:r>
            <a:r>
              <a:rPr lang="zh-CN" altLang="zh-CN" sz="4400" dirty="0" smtClean="0">
                <a:solidFill>
                  <a:srgbClr val="0070C0"/>
                </a:solidFill>
                <a:latin typeface="华文新魏" panose="02010800040101010101" pitchFamily="2" charset="-122"/>
                <a:ea typeface="华文新魏" panose="02010800040101010101" pitchFamily="2" charset="-122"/>
              </a:rPr>
              <a:t>探究</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释疑</a:t>
            </a:r>
            <a:r>
              <a:rPr lang="zh-CN" altLang="zh-CN" sz="4400" dirty="0">
                <a:solidFill>
                  <a:srgbClr val="0070C0"/>
                </a:solidFill>
                <a:latin typeface="华文新魏" panose="02010800040101010101" pitchFamily="2" charset="-122"/>
                <a:ea typeface="华文新魏" panose="02010800040101010101" pitchFamily="2" charset="-122"/>
              </a:rPr>
              <a:t>解惑</a:t>
            </a:r>
          </a:p>
        </p:txBody>
      </p:sp>
      <p:sp>
        <p:nvSpPr>
          <p:cNvPr id="7" name="图文框 6">
            <a:hlinkClick r:id="rId5" action="ppaction://hlinksldjump">
              <a:snd r:embed="rId3" name="chimes.wav"/>
            </a:hlinkClick>
          </p:cNvPr>
          <p:cNvSpPr/>
          <p:nvPr/>
        </p:nvSpPr>
        <p:spPr>
          <a:xfrm>
            <a:off x="1728589" y="3279437"/>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易</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错</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辨</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析</a:t>
            </a:r>
            <a:endParaRPr lang="zh-CN" altLang="zh-CN" sz="4400" dirty="0">
              <a:solidFill>
                <a:srgbClr val="0070C0"/>
              </a:solidFill>
              <a:latin typeface="华文新魏" panose="02010800040101010101" pitchFamily="2" charset="-122"/>
              <a:ea typeface="华文新魏" panose="02010800040101010101" pitchFamily="2" charset="-122"/>
            </a:endParaRPr>
          </a:p>
        </p:txBody>
      </p:sp>
      <p:sp>
        <p:nvSpPr>
          <p:cNvPr id="8" name="图文框 7">
            <a:hlinkClick r:id="rId6" action="ppaction://hlinksldjump">
              <a:snd r:embed="rId3" name="chimes.wav"/>
            </a:hlinkClick>
          </p:cNvPr>
          <p:cNvSpPr/>
          <p:nvPr/>
        </p:nvSpPr>
        <p:spPr>
          <a:xfrm>
            <a:off x="1728589" y="4647589"/>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随</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堂</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练</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习</a:t>
            </a:r>
            <a:endParaRPr lang="zh-CN" altLang="zh-CN" sz="44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621409961"/>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虚尾箭头 3"/>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自主</a:t>
            </a:r>
            <a:r>
              <a:rPr lang="zh-CN" altLang="zh-CN" sz="6600" dirty="0">
                <a:solidFill>
                  <a:srgbClr val="0070C0"/>
                </a:solidFill>
                <a:latin typeface="华文新魏" panose="02010800040101010101" pitchFamily="2" charset="-122"/>
                <a:ea typeface="华文新魏" panose="02010800040101010101" pitchFamily="2" charset="-122"/>
              </a:rPr>
              <a:t>预习</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新知导学</a:t>
            </a:r>
          </a:p>
        </p:txBody>
      </p:sp>
    </p:spTree>
    <p:extLst>
      <p:ext uri="{BB962C8B-B14F-4D97-AF65-F5344CB8AC3E}">
        <p14:creationId xmlns:p14="http://schemas.microsoft.com/office/powerpoint/2010/main" val="27222246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762039"/>
            <a:ext cx="10807700" cy="5410712"/>
          </a:xfrm>
          <a:prstGeom prst="rect">
            <a:avLst/>
          </a:prstGeom>
        </p:spPr>
        <p:txBody>
          <a:bodyPr>
            <a:spAutoFit/>
          </a:bodyPr>
          <a:lstStyle/>
          <a:p>
            <a:pPr indent="355600">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方正正中黑简体"/>
                <a:cs typeface="Times New Roman" panose="02020603050405020304" pitchFamily="18" charset="0"/>
              </a:rPr>
              <a:t>一、一元二次不等式</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7970">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给出下面四个不等式</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宋体" panose="02010600030101010101" pitchFamily="2" charset="-122"/>
                <a:cs typeface="宋体" panose="02010600030101010101" pitchFamily="2" charset="-122"/>
              </a:rPr>
              <a:t>①</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0;</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NEU-BZ-S92"/>
                <a:ea typeface="宋体" panose="02010600030101010101" pitchFamily="2" charset="-122"/>
                <a:cs typeface="宋体" panose="02010600030101010101" pitchFamily="2" charset="-122"/>
              </a:rPr>
              <a:t>②</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6</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宋体" panose="02010600030101010101" pitchFamily="2" charset="-122"/>
                <a:cs typeface="宋体" panose="02010600030101010101" pitchFamily="2" charset="-122"/>
              </a:rPr>
              <a:t>③</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4</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	</a:t>
            </a:r>
            <a:r>
              <a:rPr lang="zh-CN" altLang="zh-CN" dirty="0">
                <a:solidFill>
                  <a:srgbClr val="000000"/>
                </a:solidFill>
                <a:latin typeface="NEU-BZ-S92"/>
                <a:ea typeface="宋体" panose="02010600030101010101" pitchFamily="2" charset="-122"/>
                <a:cs typeface="宋体" panose="02010600030101010101" pitchFamily="2" charset="-122"/>
              </a:rPr>
              <a:t>④</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以上四个不等式中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每个不等式含有几个未知数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未知数的最高次数是多少</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在上述不等式</a:t>
            </a:r>
            <a:r>
              <a:rPr lang="zh-CN" altLang="zh-CN" dirty="0">
                <a:solidFill>
                  <a:srgbClr val="000000"/>
                </a:solidFill>
                <a:latin typeface="NEU-BZ-S92"/>
                <a:ea typeface="宋体" panose="02010600030101010101" pitchFamily="2" charset="-122"/>
                <a:cs typeface="宋体" panose="02010600030101010101" pitchFamily="2" charset="-122"/>
              </a:rPr>
              <a:t>①②</a:t>
            </a:r>
            <a:r>
              <a:rPr lang="zh-CN" altLang="zh-CN" dirty="0">
                <a:solidFill>
                  <a:srgbClr val="000000"/>
                </a:solidFill>
                <a:ea typeface="宋体" panose="02010600030101010101" pitchFamily="2" charset="-122"/>
                <a:cs typeface="Times New Roman" panose="02020603050405020304" pitchFamily="18" charset="0"/>
              </a:rPr>
              <a:t>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对应方程</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的实数根是什么</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smtClean="0">
                <a:latin typeface="Arial" panose="020B0604020202020204" pitchFamily="34" charset="0"/>
                <a:cs typeface="Times New Roman" panose="02020603050405020304" pitchFamily="18" charset="0"/>
              </a:rPr>
              <a:t>提示</a:t>
            </a:r>
            <a:r>
              <a:rPr lang="en-US" altLang="zh-CN" dirty="0" smtClean="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smtClean="0">
                <a:solidFill>
                  <a:srgbClr val="000000"/>
                </a:solidFill>
                <a:ea typeface="宋体" panose="02010600030101010101" pitchFamily="2" charset="-122"/>
                <a:cs typeface="Times New Roman" panose="02020603050405020304" pitchFamily="18" charset="0"/>
              </a:rPr>
              <a:t>)</a:t>
            </a:r>
            <a:r>
              <a:rPr lang="zh-CN" altLang="en-US" dirty="0">
                <a:solidFill>
                  <a:srgbClr val="000000"/>
                </a:solidFill>
                <a:ea typeface="楷体" panose="02010609060101010101" pitchFamily="49" charset="-122"/>
                <a:cs typeface="Times New Roman" panose="02020603050405020304" pitchFamily="18" charset="0"/>
              </a:rPr>
              <a:t>每个不等式</a:t>
            </a:r>
            <a:r>
              <a:rPr lang="zh-CN" altLang="zh-CN" dirty="0" smtClean="0">
                <a:solidFill>
                  <a:srgbClr val="000000"/>
                </a:solidFill>
                <a:ea typeface="楷体" panose="02010609060101010101" pitchFamily="49" charset="-122"/>
                <a:cs typeface="Times New Roman" panose="02020603050405020304" pitchFamily="18" charset="0"/>
              </a:rPr>
              <a:t>含有</a:t>
            </a:r>
            <a:r>
              <a:rPr lang="zh-CN" altLang="zh-CN" dirty="0">
                <a:solidFill>
                  <a:srgbClr val="000000"/>
                </a:solidFill>
                <a:ea typeface="楷体" panose="02010609060101010101" pitchFamily="49" charset="-122"/>
                <a:cs typeface="Times New Roman" panose="02020603050405020304" pitchFamily="18" charset="0"/>
              </a:rPr>
              <a:t>一个未知数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未知数的最高次数是</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6428917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randombar(horizontal)">
                                      <p:cBhvr>
                                        <p:cTn id="7" dur="500"/>
                                        <p:tgtEl>
                                          <p:spTgt spid="3">
                                            <p:txEl>
                                              <p:pRg st="6" end="6"/>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7" end="7"/>
                                            </p:txEl>
                                          </p:spTgt>
                                        </p:tgtEl>
                                        <p:attrNameLst>
                                          <p:attrName>style.visibility</p:attrName>
                                        </p:attrNameLst>
                                      </p:cBhvr>
                                      <p:to>
                                        <p:strVal val="visible"/>
                                      </p:to>
                                    </p:set>
                                    <p:animEffect transition="in" filter="randombar(horizontal)">
                                      <p:cBhvr>
                                        <p:cTn id="1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027461"/>
            <a:ext cx="10807700" cy="422885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一般地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我们把只含有</a:t>
            </a:r>
            <a:r>
              <a:rPr lang="zh-CN" altLang="zh-CN" dirty="0">
                <a:ea typeface="宋体" panose="02010600030101010101" pitchFamily="2" charset="-122"/>
                <a:cs typeface="Times New Roman" panose="02020603050405020304" pitchFamily="18" charset="0"/>
              </a:rPr>
              <a:t>一个</a:t>
            </a:r>
            <a:r>
              <a:rPr lang="zh-CN" altLang="zh-CN" dirty="0">
                <a:solidFill>
                  <a:srgbClr val="000000"/>
                </a:solidFill>
                <a:ea typeface="宋体" panose="02010600030101010101" pitchFamily="2" charset="-122"/>
                <a:cs typeface="Times New Roman" panose="02020603050405020304" pitchFamily="18" charset="0"/>
              </a:rPr>
              <a:t>未知数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并且未知数的最高次数是</a:t>
            </a:r>
            <a:r>
              <a:rPr lang="en-US" altLang="zh-CN" dirty="0">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的不等式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称为一元二次不等式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一元二次不等式的一般形式是</a:t>
            </a:r>
            <a:r>
              <a:rPr lang="en-US" altLang="zh-CN" i="1" dirty="0">
                <a:ea typeface="宋体" panose="02010600030101010101" pitchFamily="2" charset="-122"/>
                <a:cs typeface="Times New Roman" panose="02020603050405020304" pitchFamily="18" charset="0"/>
              </a:rPr>
              <a:t>ax</a:t>
            </a:r>
            <a:r>
              <a:rPr lang="en-US" altLang="zh-CN" baseline="30000" dirty="0">
                <a:ea typeface="宋体" panose="02010600030101010101" pitchFamily="2" charset="-122"/>
                <a:cs typeface="Times New Roman" panose="02020603050405020304" pitchFamily="18" charset="0"/>
              </a:rPr>
              <a:t>2</a:t>
            </a:r>
            <a:r>
              <a:rPr lang="en-US" altLang="zh-CN" i="1" dirty="0">
                <a:ea typeface="宋体" panose="02010600030101010101" pitchFamily="2" charset="-122"/>
                <a:cs typeface="Times New Roman" panose="02020603050405020304" pitchFamily="18" charset="0"/>
              </a:rPr>
              <a:t>+bx+c&gt;</a:t>
            </a:r>
            <a:r>
              <a:rPr lang="en-US" altLang="zh-CN" dirty="0">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或</a:t>
            </a:r>
            <a:r>
              <a:rPr lang="en-US" altLang="zh-CN" i="1" dirty="0">
                <a:ea typeface="宋体" panose="02010600030101010101" pitchFamily="2" charset="-122"/>
                <a:cs typeface="Times New Roman" panose="02020603050405020304" pitchFamily="18" charset="0"/>
              </a:rPr>
              <a:t>ax</a:t>
            </a:r>
            <a:r>
              <a:rPr lang="en-US" altLang="zh-CN" baseline="30000" dirty="0">
                <a:ea typeface="宋体" panose="02010600030101010101" pitchFamily="2" charset="-122"/>
                <a:cs typeface="Times New Roman" panose="02020603050405020304" pitchFamily="18" charset="0"/>
              </a:rPr>
              <a:t>2</a:t>
            </a:r>
            <a:r>
              <a:rPr lang="en-US" altLang="zh-CN" i="1" dirty="0">
                <a:ea typeface="宋体" panose="02010600030101010101" pitchFamily="2" charset="-122"/>
                <a:cs typeface="Times New Roman" panose="02020603050405020304" pitchFamily="18" charset="0"/>
              </a:rPr>
              <a:t>+bx+c&lt;</a:t>
            </a:r>
            <a:r>
              <a:rPr lang="en-US" altLang="zh-CN" dirty="0">
                <a:ea typeface="宋体" panose="02010600030101010101" pitchFamily="2" charset="-122"/>
                <a:cs typeface="Times New Roman" panose="02020603050405020304" pitchFamily="18" charset="0"/>
              </a:rPr>
              <a:t>0</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其中</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均为常数</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一般地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对于二次函数</a:t>
            </a:r>
            <a:r>
              <a:rPr lang="en-US" altLang="zh-CN" i="1" dirty="0">
                <a:solidFill>
                  <a:srgbClr val="000000"/>
                </a:solidFill>
                <a:ea typeface="宋体" panose="02010600030101010101" pitchFamily="2" charset="-122"/>
                <a:cs typeface="Times New Roman" panose="02020603050405020304" pitchFamily="18" charset="0"/>
              </a:rPr>
              <a:t>y=ax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+bx+c</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我们把使</a:t>
            </a:r>
            <a:r>
              <a:rPr lang="en-US" altLang="zh-CN" i="1" dirty="0">
                <a:solidFill>
                  <a:srgbClr val="000000"/>
                </a:solidFill>
                <a:ea typeface="宋体" panose="02010600030101010101" pitchFamily="2" charset="-122"/>
                <a:cs typeface="Times New Roman" panose="02020603050405020304" pitchFamily="18" charset="0"/>
              </a:rPr>
              <a:t>ax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+bx+c=</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的</a:t>
            </a:r>
            <a:r>
              <a:rPr lang="zh-CN" altLang="zh-CN" dirty="0">
                <a:ea typeface="宋体" panose="02010600030101010101" pitchFamily="2" charset="-122"/>
                <a:cs typeface="Times New Roman" panose="02020603050405020304" pitchFamily="18" charset="0"/>
              </a:rPr>
              <a:t>实数</a:t>
            </a:r>
            <a:r>
              <a:rPr lang="en-US" altLang="zh-CN" i="1" dirty="0">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叫做二次函数</a:t>
            </a:r>
            <a:r>
              <a:rPr lang="en-US" altLang="zh-CN" i="1" dirty="0">
                <a:solidFill>
                  <a:srgbClr val="000000"/>
                </a:solidFill>
                <a:ea typeface="宋体" panose="02010600030101010101" pitchFamily="2" charset="-122"/>
                <a:cs typeface="Times New Roman" panose="02020603050405020304" pitchFamily="18" charset="0"/>
              </a:rPr>
              <a:t>y=ax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+bx+c</a:t>
            </a:r>
            <a:r>
              <a:rPr lang="zh-CN" altLang="zh-CN" dirty="0">
                <a:solidFill>
                  <a:srgbClr val="000000"/>
                </a:solidFill>
                <a:ea typeface="宋体" panose="02010600030101010101" pitchFamily="2" charset="-122"/>
                <a:cs typeface="Times New Roman" panose="02020603050405020304" pitchFamily="18" charset="0"/>
              </a:rPr>
              <a:t>的零点</a:t>
            </a:r>
            <a:r>
              <a:rPr lang="en-US" altLang="zh-CN" i="1" dirty="0" smtClean="0">
                <a:solidFill>
                  <a:srgbClr val="000000"/>
                </a:solidFill>
                <a:ea typeface="宋体" panose="02010600030101010101" pitchFamily="2" charset="-122"/>
                <a:cs typeface="Times New Roman" panose="02020603050405020304" pitchFamily="18" charset="0"/>
              </a:rPr>
              <a:t>.</a:t>
            </a:r>
            <a:endParaRPr lang="en-US"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二次函数</a:t>
            </a:r>
            <a:r>
              <a:rPr lang="en-US" altLang="zh-CN" i="1" dirty="0">
                <a:solidFill>
                  <a:srgbClr val="000000"/>
                </a:solidFill>
                <a:ea typeface="宋体" panose="02010600030101010101" pitchFamily="2" charset="-122"/>
                <a:cs typeface="Times New Roman" panose="02020603050405020304" pitchFamily="18" charset="0"/>
              </a:rPr>
              <a:t>y=x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的零点是</a:t>
            </a:r>
            <a:r>
              <a:rPr lang="en-US" altLang="zh-CN" i="1" dirty="0">
                <a:uFill>
                  <a:solidFill>
                    <a:srgbClr val="000000"/>
                  </a:solidFill>
                </a:uFill>
                <a:ea typeface="宋体" panose="02010600030101010101" pitchFamily="2" charset="-122"/>
                <a:cs typeface="Times New Roman" panose="02020603050405020304" pitchFamily="18" charset="0"/>
              </a:rPr>
              <a:t>x=</a:t>
            </a:r>
            <a:r>
              <a:rPr lang="en-US" altLang="zh-CN" dirty="0">
                <a:uFill>
                  <a:solidFill>
                    <a:srgbClr val="000000"/>
                  </a:solidFill>
                </a:u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4" name="矩形 3"/>
          <p:cNvSpPr/>
          <p:nvPr/>
        </p:nvSpPr>
        <p:spPr>
          <a:xfrm>
            <a:off x="5023221" y="1088652"/>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5018631" y="1552750"/>
            <a:ext cx="776265" cy="0"/>
          </a:xfrm>
          <a:prstGeom prst="line">
            <a:avLst/>
          </a:prstGeom>
        </p:spPr>
        <p:style>
          <a:lnRef idx="2">
            <a:schemeClr val="dk1"/>
          </a:lnRef>
          <a:fillRef idx="0">
            <a:schemeClr val="dk1"/>
          </a:fillRef>
          <a:effectRef idx="1">
            <a:schemeClr val="dk1"/>
          </a:effectRef>
          <a:fontRef idx="minor">
            <a:schemeClr val="tx1"/>
          </a:fontRef>
        </p:style>
      </p:cxnSp>
      <p:sp>
        <p:nvSpPr>
          <p:cNvPr id="6" name="矩形 5"/>
          <p:cNvSpPr/>
          <p:nvPr/>
        </p:nvSpPr>
        <p:spPr>
          <a:xfrm>
            <a:off x="1274564" y="1664716"/>
            <a:ext cx="186043"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1269639" y="2128814"/>
            <a:ext cx="185832" cy="0"/>
          </a:xfrm>
          <a:prstGeom prst="line">
            <a:avLst/>
          </a:prstGeom>
        </p:spPr>
        <p:style>
          <a:lnRef idx="2">
            <a:schemeClr val="dk1"/>
          </a:lnRef>
          <a:fillRef idx="0">
            <a:schemeClr val="dk1"/>
          </a:fillRef>
          <a:effectRef idx="1">
            <a:schemeClr val="dk1"/>
          </a:effectRef>
          <a:fontRef idx="minor">
            <a:schemeClr val="tx1"/>
          </a:fontRef>
        </p:style>
      </p:cxnSp>
      <p:sp>
        <p:nvSpPr>
          <p:cNvPr id="8" name="矩形 7"/>
          <p:cNvSpPr/>
          <p:nvPr/>
        </p:nvSpPr>
        <p:spPr>
          <a:xfrm>
            <a:off x="6225359" y="2241004"/>
            <a:ext cx="2022989"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6221366" y="2705102"/>
            <a:ext cx="2020699" cy="0"/>
          </a:xfrm>
          <a:prstGeom prst="line">
            <a:avLst/>
          </a:prstGeom>
        </p:spPr>
        <p:style>
          <a:lnRef idx="2">
            <a:schemeClr val="dk1"/>
          </a:lnRef>
          <a:fillRef idx="0">
            <a:schemeClr val="dk1"/>
          </a:fillRef>
          <a:effectRef idx="1">
            <a:schemeClr val="dk1"/>
          </a:effectRef>
          <a:fontRef idx="minor">
            <a:schemeClr val="tx1"/>
          </a:fontRef>
        </p:style>
      </p:cxnSp>
      <p:sp>
        <p:nvSpPr>
          <p:cNvPr id="10" name="矩形 9"/>
          <p:cNvSpPr/>
          <p:nvPr/>
        </p:nvSpPr>
        <p:spPr>
          <a:xfrm>
            <a:off x="8658947" y="2253608"/>
            <a:ext cx="1998000"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8654954" y="2717706"/>
            <a:ext cx="2020699" cy="0"/>
          </a:xfrm>
          <a:prstGeom prst="line">
            <a:avLst/>
          </a:prstGeom>
        </p:spPr>
        <p:style>
          <a:lnRef idx="2">
            <a:schemeClr val="dk1"/>
          </a:lnRef>
          <a:fillRef idx="0">
            <a:schemeClr val="dk1"/>
          </a:fillRef>
          <a:effectRef idx="1">
            <a:schemeClr val="dk1"/>
          </a:effectRef>
          <a:fontRef idx="minor">
            <a:schemeClr val="tx1"/>
          </a:fontRef>
        </p:style>
      </p:cxnSp>
      <p:sp>
        <p:nvSpPr>
          <p:cNvPr id="14" name="矩形 13"/>
          <p:cNvSpPr/>
          <p:nvPr/>
        </p:nvSpPr>
        <p:spPr>
          <a:xfrm>
            <a:off x="453196" y="4019464"/>
            <a:ext cx="1034378"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448751" y="4483562"/>
            <a:ext cx="1033209" cy="0"/>
          </a:xfrm>
          <a:prstGeom prst="line">
            <a:avLst/>
          </a:prstGeom>
        </p:spPr>
        <p:style>
          <a:lnRef idx="2">
            <a:schemeClr val="dk1"/>
          </a:lnRef>
          <a:fillRef idx="0">
            <a:schemeClr val="dk1"/>
          </a:fillRef>
          <a:effectRef idx="1">
            <a:schemeClr val="dk1"/>
          </a:effectRef>
          <a:fontRef idx="minor">
            <a:schemeClr val="tx1"/>
          </a:fontRef>
        </p:style>
      </p:cxnSp>
      <p:sp>
        <p:nvSpPr>
          <p:cNvPr id="16" name="矩形 15"/>
          <p:cNvSpPr/>
          <p:nvPr/>
        </p:nvSpPr>
        <p:spPr>
          <a:xfrm>
            <a:off x="5718525" y="4583662"/>
            <a:ext cx="642268"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p:cNvCxnSpPr/>
          <p:nvPr/>
        </p:nvCxnSpPr>
        <p:spPr>
          <a:xfrm>
            <a:off x="5713859" y="5047760"/>
            <a:ext cx="641541"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295172613"/>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4"/>
                                        </p:tgtEl>
                                      </p:cBhvr>
                                    </p:animEffect>
                                    <p:set>
                                      <p:cBhvr>
                                        <p:cTn id="27" dur="1" fill="hold">
                                          <p:stCondLst>
                                            <p:cond delay="499"/>
                                          </p:stCondLst>
                                        </p:cTn>
                                        <p:tgtEl>
                                          <p:spTgt spid="14"/>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4" presetClass="exit" presetSubtype="10" fill="hold" grpId="0" nodeType="clickEffect">
                                  <p:stCondLst>
                                    <p:cond delay="0"/>
                                  </p:stCondLst>
                                  <p:childTnLst>
                                    <p:animEffect transition="out" filter="randombar(horizontal)">
                                      <p:cBhvr>
                                        <p:cTn id="31" dur="500"/>
                                        <p:tgtEl>
                                          <p:spTgt spid="16"/>
                                        </p:tgtEl>
                                      </p:cBhvr>
                                    </p:animEffect>
                                    <p:set>
                                      <p:cBhvr>
                                        <p:cTn id="32"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P spid="14" grpId="0" animBg="1"/>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156655" y="680479"/>
            <a:ext cx="11844910" cy="5075249"/>
            <a:chOff x="-156655" y="680479"/>
            <a:chExt cx="11844910" cy="5075249"/>
          </a:xfrm>
        </p:grpSpPr>
        <p:sp>
          <p:nvSpPr>
            <p:cNvPr id="2" name="矩形 1"/>
            <p:cNvSpPr>
              <a:spLocks noChangeAspect="1"/>
            </p:cNvSpPr>
            <p:nvPr/>
          </p:nvSpPr>
          <p:spPr>
            <a:xfrm>
              <a:off x="361950" y="680479"/>
              <a:ext cx="10807700" cy="127419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二、二次函数与一元二次方程、不等式的解的对应关系</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1</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函数</a:t>
              </a:r>
              <a:r>
                <a:rPr lang="en-US" altLang="zh-CN" i="1" dirty="0">
                  <a:solidFill>
                    <a:srgbClr val="000000"/>
                  </a:solidFill>
                  <a:ea typeface="宋体" panose="02010600030101010101" pitchFamily="2" charset="-122"/>
                </a:rPr>
                <a:t>y=x</a:t>
              </a:r>
              <a:r>
                <a:rPr lang="en-US" altLang="zh-CN" baseline="30000" dirty="0">
                  <a:solidFill>
                    <a:srgbClr val="000000"/>
                  </a:solidFill>
                  <a:ea typeface="宋体" panose="02010600030101010101" pitchFamily="2" charset="-122"/>
                </a:rPr>
                <a:t>2</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6</a:t>
              </a:r>
              <a:r>
                <a:rPr lang="zh-CN" altLang="zh-CN" dirty="0">
                  <a:solidFill>
                    <a:srgbClr val="000000"/>
                  </a:solidFill>
                  <a:ea typeface="宋体" panose="02010600030101010101" pitchFamily="2" charset="-122"/>
                  <a:cs typeface="Times New Roman" panose="02020603050405020304" pitchFamily="18" charset="0"/>
                </a:rPr>
                <a:t>的图象及部分对应值表</a:t>
              </a:r>
              <a:r>
                <a:rPr lang="zh-CN" altLang="zh-CN" dirty="0" smtClean="0">
                  <a:solidFill>
                    <a:srgbClr val="000000"/>
                  </a:solidFill>
                  <a:ea typeface="宋体" panose="02010600030101010101" pitchFamily="2" charset="-122"/>
                  <a:cs typeface="Times New Roman" panose="02020603050405020304" pitchFamily="18" charset="0"/>
                </a:rPr>
                <a:t>如</a:t>
              </a:r>
              <a:r>
                <a:rPr lang="zh-CN" altLang="en-US" dirty="0" smtClean="0">
                  <a:solidFill>
                    <a:srgbClr val="000000"/>
                  </a:solidFill>
                  <a:ea typeface="宋体" panose="02010600030101010101" pitchFamily="2" charset="-122"/>
                  <a:cs typeface="Times New Roman" panose="02020603050405020304" pitchFamily="18" charset="0"/>
                </a:rPr>
                <a:t>下</a:t>
              </a:r>
              <a:r>
                <a:rPr lang="zh-CN" altLang="zh-CN" dirty="0" smtClean="0">
                  <a:solidFill>
                    <a:srgbClr val="000000"/>
                  </a:solidFill>
                  <a:ea typeface="宋体" panose="02010600030101010101" pitchFamily="2" charset="-122"/>
                  <a:cs typeface="Times New Roman" panose="02020603050405020304" pitchFamily="18" charset="0"/>
                </a:rPr>
                <a:t>所</a:t>
              </a:r>
              <a:r>
                <a:rPr lang="zh-CN" altLang="zh-CN" dirty="0">
                  <a:solidFill>
                    <a:srgbClr val="000000"/>
                  </a:solidFill>
                  <a:ea typeface="宋体" panose="02010600030101010101" pitchFamily="2" charset="-122"/>
                  <a:cs typeface="Times New Roman" panose="02020603050405020304" pitchFamily="18" charset="0"/>
                </a:rPr>
                <a:t>示</a:t>
              </a:r>
              <a:r>
                <a:rPr lang="en-US" altLang="zh-CN" i="1" dirty="0">
                  <a:solidFill>
                    <a:srgbClr val="000000"/>
                  </a:solidFill>
                  <a:ea typeface="宋体" panose="02010600030101010101" pitchFamily="2" charset="-122"/>
                </a:rPr>
                <a:t>.</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188179910"/>
                </p:ext>
              </p:extLst>
            </p:nvPr>
          </p:nvGraphicFramePr>
          <p:xfrm>
            <a:off x="-156655" y="1902987"/>
            <a:ext cx="11844910" cy="1853515"/>
          </p:xfrm>
          <a:graphic>
            <a:graphicData uri="http://schemas.openxmlformats.org/presentationml/2006/ole">
              <mc:AlternateContent xmlns:mc="http://schemas.openxmlformats.org/markup-compatibility/2006">
                <mc:Choice xmlns:v="urn:schemas-microsoft-com:vml" Requires="v">
                  <p:oleObj spid="_x0000_s1050" name="文档" r:id="rId4" imgW="3883577" imgH="607710" progId="Word.Document.12">
                    <p:embed/>
                  </p:oleObj>
                </mc:Choice>
                <mc:Fallback>
                  <p:oleObj name="文档" r:id="rId4" imgW="3883577" imgH="607710" progId="Word.Document.12">
                    <p:embed/>
                    <p:pic>
                      <p:nvPicPr>
                        <p:cNvPr id="0" name=""/>
                        <p:cNvPicPr/>
                        <p:nvPr/>
                      </p:nvPicPr>
                      <p:blipFill>
                        <a:blip r:embed="rId5"/>
                        <a:stretch>
                          <a:fillRect/>
                        </a:stretch>
                      </p:blipFill>
                      <p:spPr>
                        <a:xfrm>
                          <a:off x="-156655" y="1902987"/>
                          <a:ext cx="11844910" cy="1853515"/>
                        </a:xfrm>
                        <a:prstGeom prst="rect">
                          <a:avLst/>
                        </a:prstGeom>
                      </p:spPr>
                    </p:pic>
                  </p:oleObj>
                </mc:Fallback>
              </mc:AlternateContent>
            </a:graphicData>
          </a:graphic>
        </p:graphicFrame>
        <p:pic>
          <p:nvPicPr>
            <p:cNvPr id="5" name="ZMG1TRA124.eps" descr="id:2147494059;FounderCES"/>
            <p:cNvPicPr/>
            <p:nvPr/>
          </p:nvPicPr>
          <p:blipFill>
            <a:blip r:embed="rId6"/>
            <a:stretch>
              <a:fillRect/>
            </a:stretch>
          </p:blipFill>
          <p:spPr>
            <a:xfrm>
              <a:off x="4320877" y="3168079"/>
              <a:ext cx="2520280" cy="2587649"/>
            </a:xfrm>
            <a:prstGeom prst="rect">
              <a:avLst/>
            </a:prstGeom>
          </p:spPr>
        </p:pic>
      </p:grpSp>
    </p:spTree>
    <p:extLst>
      <p:ext uri="{BB962C8B-B14F-4D97-AF65-F5344CB8AC3E}">
        <p14:creationId xmlns:p14="http://schemas.microsoft.com/office/powerpoint/2010/main" val="733516500"/>
      </p:ext>
    </p:extLst>
  </p:cSld>
  <p:clrMapOvr>
    <a:masterClrMapping/>
  </p:clrMapOvr>
  <p:transition spd="slow">
    <p:wheel spokes="1"/>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2007579"/>
            <a:ext cx="10807700" cy="186512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根据图表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你能说出方程</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的解吗</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你能说出不等式</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的解集吗</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呢</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en-US" altLang="zh-CN" i="1" dirty="0">
                <a:solidFill>
                  <a:srgbClr val="000000"/>
                </a:solidFill>
                <a:ea typeface="宋体" panose="02010600030101010101" pitchFamily="2" charset="-122"/>
              </a:rPr>
              <a:t>x</a:t>
            </a:r>
            <a:r>
              <a:rPr lang="en-US" altLang="zh-CN" baseline="-25000" dirty="0">
                <a:solidFill>
                  <a:srgbClr val="000000"/>
                </a:solidFill>
                <a:ea typeface="宋体" panose="02010600030101010101" pitchFamily="2" charset="-122"/>
              </a:rPr>
              <a:t>1</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2,</a:t>
            </a:r>
            <a:r>
              <a:rPr lang="en-US" altLang="zh-CN" i="1" dirty="0">
                <a:solidFill>
                  <a:srgbClr val="000000"/>
                </a:solidFill>
                <a:ea typeface="宋体" panose="02010600030101010101" pitchFamily="2" charset="-122"/>
              </a:rPr>
              <a:t>x</a:t>
            </a:r>
            <a:r>
              <a:rPr lang="en-US" altLang="zh-CN" baseline="-25000" dirty="0">
                <a:solidFill>
                  <a:srgbClr val="000000"/>
                </a:solidFill>
                <a:ea typeface="宋体" panose="02010600030101010101" pitchFamily="2" charset="-122"/>
              </a:rPr>
              <a:t>2</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3;{</a:t>
            </a:r>
            <a:r>
              <a:rPr lang="en-US" altLang="zh-CN" i="1" dirty="0" err="1">
                <a:solidFill>
                  <a:srgbClr val="000000"/>
                </a:solidFill>
                <a:ea typeface="宋体" panose="02010600030101010101" pitchFamily="2" charset="-122"/>
              </a:rPr>
              <a:t>x|x</a:t>
            </a:r>
            <a:r>
              <a:rPr lang="en-US" altLang="zh-CN" i="1" dirty="0">
                <a:solidFill>
                  <a:srgbClr val="000000"/>
                </a:solidFill>
                <a:ea typeface="宋体" panose="02010600030101010101" pitchFamily="2" charset="-122"/>
              </a:rPr>
              <a:t>&lt;-</a:t>
            </a:r>
            <a:r>
              <a:rPr lang="en-US" altLang="zh-CN" dirty="0">
                <a:solidFill>
                  <a:srgbClr val="000000"/>
                </a:solidFill>
                <a:ea typeface="宋体" panose="02010600030101010101" pitchFamily="2" charset="-122"/>
              </a:rPr>
              <a:t>2,</a:t>
            </a:r>
            <a:r>
              <a:rPr lang="zh-CN" altLang="zh-CN" dirty="0">
                <a:solidFill>
                  <a:srgbClr val="000000"/>
                </a:solidFill>
                <a:ea typeface="楷体" panose="02010609060101010101" pitchFamily="49" charset="-122"/>
                <a:cs typeface="Times New Roman" panose="02020603050405020304" pitchFamily="18" charset="0"/>
              </a:rPr>
              <a:t>或</a:t>
            </a:r>
            <a:r>
              <a:rPr lang="en-US" altLang="zh-CN" i="1" dirty="0">
                <a:solidFill>
                  <a:srgbClr val="000000"/>
                </a:solidFill>
                <a:ea typeface="宋体" panose="02010600030101010101" pitchFamily="2" charset="-122"/>
              </a:rPr>
              <a:t>x&gt;</a:t>
            </a:r>
            <a:r>
              <a:rPr lang="en-US" altLang="zh-CN" dirty="0">
                <a:solidFill>
                  <a:srgbClr val="000000"/>
                </a:solidFill>
                <a:ea typeface="宋体" panose="02010600030101010101" pitchFamily="2" charset="-122"/>
              </a:rPr>
              <a:t>3};{</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2</a:t>
            </a:r>
            <a:r>
              <a:rPr lang="en-US" altLang="zh-CN" i="1" dirty="0">
                <a:solidFill>
                  <a:srgbClr val="000000"/>
                </a:solidFill>
                <a:ea typeface="宋体" panose="02010600030101010101" pitchFamily="2" charset="-122"/>
              </a:rPr>
              <a:t>&lt;x&lt;</a:t>
            </a:r>
            <a:r>
              <a:rPr lang="en-US" altLang="zh-CN" dirty="0">
                <a:solidFill>
                  <a:srgbClr val="000000"/>
                </a:solidFill>
                <a:ea typeface="宋体" panose="02010600030101010101" pitchFamily="2" charset="-122"/>
              </a:rPr>
              <a:t>3</a:t>
            </a:r>
            <a:r>
              <a:rPr lang="en-US" altLang="zh-CN" dirty="0" smtClean="0">
                <a:solidFill>
                  <a:srgbClr val="000000"/>
                </a:solidFill>
                <a:ea typeface="宋体" panose="02010600030101010101" pitchFamily="2" charset="-122"/>
              </a:rPr>
              <a:t>}</a:t>
            </a:r>
            <a:r>
              <a:rPr lang="en-US" altLang="zh-CN" i="1" dirty="0" smtClean="0">
                <a:solidFill>
                  <a:srgbClr val="000000"/>
                </a:solidFill>
                <a:ea typeface="宋体" panose="02010600030101010101" pitchFamily="2" charset="-122"/>
              </a:rPr>
              <a:t>.</a:t>
            </a:r>
            <a:endParaRPr lang="zh-CN" altLang="en-US" dirty="0"/>
          </a:p>
        </p:txBody>
      </p:sp>
    </p:spTree>
    <p:extLst>
      <p:ext uri="{BB962C8B-B14F-4D97-AF65-F5344CB8AC3E}">
        <p14:creationId xmlns:p14="http://schemas.microsoft.com/office/powerpoint/2010/main" val="1834348896"/>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94763"/>
            <a:ext cx="595035" cy="631711"/>
          </a:xfrm>
          <a:prstGeom prst="rect">
            <a:avLst/>
          </a:prstGeom>
        </p:spPr>
        <p:txBody>
          <a:bodyPr wrap="none">
            <a:spAutoFit/>
          </a:bodyPr>
          <a:lstStyle/>
          <a:p>
            <a:pPr>
              <a:lnSpc>
                <a:spcPct val="120000"/>
              </a:lnSpc>
            </a:pPr>
            <a:r>
              <a:rPr lang="en-US" altLang="zh-CN" dirty="0">
                <a:solidFill>
                  <a:srgbClr val="000000"/>
                </a:solidFill>
                <a:ea typeface="宋体" panose="02010600030101010101" pitchFamily="2" charset="-122"/>
              </a:rPr>
              <a:t>2</a:t>
            </a:r>
            <a:r>
              <a:rPr lang="en-US" altLang="zh-CN" i="1" dirty="0" smtClean="0">
                <a:solidFill>
                  <a:srgbClr val="000000"/>
                </a:solidFill>
                <a:ea typeface="宋体" panose="02010600030101010101" pitchFamily="2" charset="-122"/>
              </a:rPr>
              <a:t>.</a:t>
            </a:r>
            <a:r>
              <a:rPr lang="en-US" altLang="zh-CN" dirty="0" smtClean="0">
                <a:solidFill>
                  <a:srgbClr val="000000"/>
                </a:solidFill>
                <a:ea typeface="宋体" panose="02010600030101010101" pitchFamily="2" charset="-122"/>
              </a:rPr>
              <a:t> </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2883530981"/>
              </p:ext>
            </p:extLst>
          </p:nvPr>
        </p:nvGraphicFramePr>
        <p:xfrm>
          <a:off x="215900" y="1473200"/>
          <a:ext cx="11198225" cy="4711700"/>
        </p:xfrm>
        <a:graphic>
          <a:graphicData uri="http://schemas.openxmlformats.org/presentationml/2006/ole">
            <mc:AlternateContent xmlns:mc="http://schemas.openxmlformats.org/markup-compatibility/2006">
              <mc:Choice xmlns:v="urn:schemas-microsoft-com:vml" Requires="v">
                <p:oleObj spid="_x0000_s2074" name="文档" r:id="rId4" imgW="4054783" imgH="1703458" progId="Word.Document.12">
                  <p:embed/>
                </p:oleObj>
              </mc:Choice>
              <mc:Fallback>
                <p:oleObj name="文档" r:id="rId4" imgW="4054783" imgH="1703458" progId="Word.Document.12">
                  <p:embed/>
                  <p:pic>
                    <p:nvPicPr>
                      <p:cNvPr id="0" name=""/>
                      <p:cNvPicPr/>
                      <p:nvPr/>
                    </p:nvPicPr>
                    <p:blipFill>
                      <a:blip r:embed="rId5"/>
                      <a:stretch>
                        <a:fillRect/>
                      </a:stretch>
                    </p:blipFill>
                    <p:spPr>
                      <a:xfrm>
                        <a:off x="215900" y="1473200"/>
                        <a:ext cx="11198225" cy="4711700"/>
                      </a:xfrm>
                      <a:prstGeom prst="rect">
                        <a:avLst/>
                      </a:prstGeom>
                    </p:spPr>
                  </p:pic>
                </p:oleObj>
              </mc:Fallback>
            </mc:AlternateContent>
          </a:graphicData>
        </a:graphic>
      </p:graphicFrame>
    </p:spTree>
    <p:extLst>
      <p:ext uri="{BB962C8B-B14F-4D97-AF65-F5344CB8AC3E}">
        <p14:creationId xmlns:p14="http://schemas.microsoft.com/office/powerpoint/2010/main" val="4223239978"/>
      </p:ext>
    </p:extLst>
  </p:cSld>
  <p:clrMapOvr>
    <a:masterClrMapping/>
  </p:clrMapOvr>
  <p:transition spd="slow">
    <p:wheel spokes="1"/>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1105333697"/>
              </p:ext>
            </p:extLst>
          </p:nvPr>
        </p:nvGraphicFramePr>
        <p:xfrm>
          <a:off x="-359643" y="1449140"/>
          <a:ext cx="12004724" cy="3653323"/>
        </p:xfrm>
        <a:graphic>
          <a:graphicData uri="http://schemas.openxmlformats.org/presentationml/2006/ole">
            <mc:AlternateContent xmlns:mc="http://schemas.openxmlformats.org/markup-compatibility/2006">
              <mc:Choice xmlns:v="urn:schemas-microsoft-com:vml" Requires="v">
                <p:oleObj spid="_x0000_s3098" name="文档" r:id="rId4" imgW="3935975" imgH="1196373" progId="Word.Document.12">
                  <p:embed/>
                </p:oleObj>
              </mc:Choice>
              <mc:Fallback>
                <p:oleObj name="文档" r:id="rId4" imgW="3935975" imgH="1196373" progId="Word.Document.12">
                  <p:embed/>
                  <p:pic>
                    <p:nvPicPr>
                      <p:cNvPr id="0" name=""/>
                      <p:cNvPicPr/>
                      <p:nvPr/>
                    </p:nvPicPr>
                    <p:blipFill>
                      <a:blip r:embed="rId5"/>
                      <a:stretch>
                        <a:fillRect/>
                      </a:stretch>
                    </p:blipFill>
                    <p:spPr>
                      <a:xfrm>
                        <a:off x="-359643" y="1449140"/>
                        <a:ext cx="12004724" cy="3653323"/>
                      </a:xfrm>
                      <a:prstGeom prst="rect">
                        <a:avLst/>
                      </a:prstGeom>
                    </p:spPr>
                  </p:pic>
                </p:oleObj>
              </mc:Fallback>
            </mc:AlternateContent>
          </a:graphicData>
        </a:graphic>
      </p:graphicFrame>
      <p:sp>
        <p:nvSpPr>
          <p:cNvPr id="4" name="矩形 3"/>
          <p:cNvSpPr/>
          <p:nvPr/>
        </p:nvSpPr>
        <p:spPr>
          <a:xfrm>
            <a:off x="3732485" y="2221564"/>
            <a:ext cx="1950242" cy="92401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3728388" y="3146686"/>
            <a:ext cx="1948034" cy="0"/>
          </a:xfrm>
          <a:prstGeom prst="line">
            <a:avLst/>
          </a:prstGeom>
        </p:spPr>
        <p:style>
          <a:lnRef idx="2">
            <a:schemeClr val="dk1"/>
          </a:lnRef>
          <a:fillRef idx="0">
            <a:schemeClr val="dk1"/>
          </a:fillRef>
          <a:effectRef idx="1">
            <a:schemeClr val="dk1"/>
          </a:effectRef>
          <a:fontRef idx="minor">
            <a:schemeClr val="tx1"/>
          </a:fontRef>
        </p:style>
      </p:cxnSp>
      <p:sp>
        <p:nvSpPr>
          <p:cNvPr id="7" name="矩形 6"/>
          <p:cNvSpPr/>
          <p:nvPr/>
        </p:nvSpPr>
        <p:spPr>
          <a:xfrm>
            <a:off x="3748414" y="3484508"/>
            <a:ext cx="1947672"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3744317" y="3948606"/>
            <a:ext cx="1945467"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574150862"/>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31148"/>
            <a:ext cx="10807700" cy="600164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3</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a:t>
            </a:r>
            <a:r>
              <a:rPr lang="zh-CN" altLang="zh-CN" dirty="0">
                <a:solidFill>
                  <a:srgbClr val="000000"/>
                </a:solidFill>
                <a:latin typeface="+mn-lt"/>
                <a:ea typeface="宋体" panose="02010600030101010101" pitchFamily="2" charset="-122"/>
                <a:cs typeface="Times New Roman" panose="02020603050405020304" pitchFamily="18" charset="0"/>
              </a:rPr>
              <a:t>不等式</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dirty="0">
                <a:solidFill>
                  <a:srgbClr val="000000"/>
                </a:solidFill>
                <a:latin typeface="+mn-lt"/>
                <a:ea typeface="方正书宋_GBK" panose="03000509000000000000" pitchFamily="65"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a:t>
            </a:r>
            <a:r>
              <a:rPr lang="zh-CN" altLang="zh-CN" dirty="0">
                <a:solidFill>
                  <a:srgbClr val="000000"/>
                </a:solidFill>
                <a:latin typeface="+mn-lt"/>
                <a:ea typeface="宋体" panose="02010600030101010101" pitchFamily="2" charset="-122"/>
                <a:cs typeface="Times New Roman" panose="02020603050405020304" pitchFamily="18" charset="0"/>
              </a:rPr>
              <a:t>的解集是</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en-US" altLang="zh-CN" dirty="0" smtClean="0">
                <a:solidFill>
                  <a:srgbClr val="000000"/>
                </a:solidFill>
                <a:latin typeface="+mn-lt"/>
                <a:ea typeface="宋体" panose="02010600030101010101" pitchFamily="2" charset="-122"/>
                <a:cs typeface="Times New Roman" panose="02020603050405020304" pitchFamily="18" charset="0"/>
              </a:rPr>
              <a:t>)</a:t>
            </a:r>
            <a:endParaRPr lang="en-US"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x|x</a:t>
            </a:r>
            <a:r>
              <a:rPr lang="en-US" altLang="zh-CN" dirty="0">
                <a:solidFill>
                  <a:srgbClr val="000000"/>
                </a:solidFill>
                <a:latin typeface="+mn-lt"/>
                <a:ea typeface="NEU-BZ-S92" panose="02020503000000020003" pitchFamily="18"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	</a:t>
            </a:r>
            <a:r>
              <a:rPr lang="en-US" altLang="zh-CN" dirty="0" smtClean="0">
                <a:solidFill>
                  <a:srgbClr val="000000"/>
                </a:solidFill>
                <a:latin typeface="+mn-lt"/>
                <a:ea typeface="宋体" panose="02010600030101010101" pitchFamily="2" charset="-122"/>
                <a:cs typeface="Times New Roman" panose="02020603050405020304" pitchFamily="18" charset="0"/>
              </a:rPr>
              <a:t>		B</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x|x</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ea"/>
                <a:ea typeface="+mn-ea"/>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latin typeface="+mn-lt"/>
                <a:ea typeface="宋体" panose="02010600030101010101" pitchFamily="2" charset="-122"/>
                <a:cs typeface="Times New Roman" panose="02020603050405020304" pitchFamily="18" charset="0"/>
              </a:rPr>
              <a:t>C</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dirty="0">
                <a:solidFill>
                  <a:srgbClr val="000000"/>
                </a:solidFill>
                <a:latin typeface="+mn-lt"/>
                <a:ea typeface="方正书宋_GBK" panose="03000509000000000000" pitchFamily="65"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方正书宋_GBK" panose="03000509000000000000" pitchFamily="65"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	</a:t>
            </a:r>
            <a:r>
              <a:rPr lang="en-US" altLang="zh-CN" dirty="0" smtClean="0">
                <a:solidFill>
                  <a:srgbClr val="000000"/>
                </a:solidFill>
                <a:latin typeface="+mn-lt"/>
                <a:ea typeface="宋体" panose="02010600030101010101" pitchFamily="2" charset="-122"/>
                <a:cs typeface="Times New Roman" panose="02020603050405020304" pitchFamily="18" charset="0"/>
              </a:rPr>
              <a:t>	D</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x|x</a:t>
            </a:r>
            <a:r>
              <a:rPr lang="en-US" altLang="zh-CN" dirty="0">
                <a:solidFill>
                  <a:srgbClr val="000000"/>
                </a:solidFill>
                <a:latin typeface="+mn-lt"/>
                <a:ea typeface="方正书宋_GBK" panose="03000509000000000000" pitchFamily="65"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(2)</a:t>
            </a:r>
            <a:r>
              <a:rPr lang="zh-CN" altLang="zh-CN" dirty="0">
                <a:solidFill>
                  <a:srgbClr val="000000"/>
                </a:solidFill>
                <a:latin typeface="+mn-lt"/>
                <a:ea typeface="宋体" panose="02010600030101010101" pitchFamily="2" charset="-122"/>
                <a:cs typeface="Times New Roman" panose="02020603050405020304" pitchFamily="18" charset="0"/>
              </a:rPr>
              <a:t>不等式</a:t>
            </a: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方正书宋_GBK" panose="03000509000000000000" pitchFamily="65"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a:t>
            </a:r>
            <a:r>
              <a:rPr lang="zh-CN" altLang="zh-CN" dirty="0">
                <a:solidFill>
                  <a:srgbClr val="000000"/>
                </a:solidFill>
                <a:latin typeface="+mn-lt"/>
                <a:ea typeface="宋体" panose="02010600030101010101" pitchFamily="2" charset="-122"/>
                <a:cs typeface="Times New Roman" panose="02020603050405020304" pitchFamily="18" charset="0"/>
              </a:rPr>
              <a:t>的解集为</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NEU-BZ-S9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	</a:t>
            </a:r>
            <a:r>
              <a:rPr lang="en-US" altLang="zh-CN" dirty="0" smtClean="0">
                <a:solidFill>
                  <a:srgbClr val="000000"/>
                </a:solidFill>
                <a:latin typeface="+mn-lt"/>
                <a:ea typeface="宋体" panose="02010600030101010101" pitchFamily="2" charset="-122"/>
                <a:cs typeface="Times New Roman" panose="02020603050405020304" pitchFamily="18" charset="0"/>
              </a:rPr>
              <a:t>			B.R</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C.{</a:t>
            </a:r>
            <a:r>
              <a:rPr lang="en-US" altLang="zh-CN" i="1" dirty="0">
                <a:solidFill>
                  <a:srgbClr val="000000"/>
                </a:solidFill>
                <a:latin typeface="+mn-lt"/>
                <a:ea typeface="宋体" panose="02010600030101010101" pitchFamily="2" charset="-122"/>
                <a:cs typeface="Times New Roman" panose="02020603050405020304" pitchFamily="18" charset="0"/>
              </a:rPr>
              <a:t>x|x</a:t>
            </a:r>
            <a:r>
              <a:rPr lang="en-US" altLang="zh-CN" dirty="0">
                <a:solidFill>
                  <a:srgbClr val="000000"/>
                </a:solidFill>
                <a:latin typeface="+mn-lt"/>
                <a:ea typeface="宋体" panose="02010600030101010101" pitchFamily="2" charset="-122"/>
                <a:cs typeface="Times New Roman" panose="02020603050405020304" pitchFamily="18" charset="0"/>
              </a:rPr>
              <a:t>≠1}	</a:t>
            </a:r>
            <a:r>
              <a:rPr lang="en-US" altLang="zh-CN" dirty="0" smtClean="0">
                <a:solidFill>
                  <a:srgbClr val="000000"/>
                </a:solidFill>
                <a:latin typeface="+mn-lt"/>
                <a:ea typeface="宋体" panose="02010600030101010101" pitchFamily="2" charset="-122"/>
                <a:cs typeface="Times New Roman" panose="02020603050405020304" pitchFamily="18" charset="0"/>
              </a:rPr>
              <a:t>		D</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x|x</a:t>
            </a:r>
            <a:r>
              <a:rPr lang="en-US" altLang="zh-CN" i="1" dirty="0">
                <a:solidFill>
                  <a:srgbClr val="000000"/>
                </a:solidFill>
                <a:latin typeface="+mn-lt"/>
                <a:ea typeface="宋体" panose="02010600030101010101" pitchFamily="2" charset="-122"/>
                <a:cs typeface="Times New Roman" panose="02020603050405020304" pitchFamily="18" charset="0"/>
              </a:rPr>
              <a:t>&gt;</a:t>
            </a:r>
            <a:r>
              <a:rPr lang="en-US" altLang="zh-CN" dirty="0">
                <a:solidFill>
                  <a:srgbClr val="000000"/>
                </a:solidFill>
                <a:latin typeface="+mn-lt"/>
                <a:ea typeface="宋体" panose="02010600030101010101" pitchFamily="2" charset="-122"/>
                <a:cs typeface="Times New Roman" panose="02020603050405020304" pitchFamily="18" charset="0"/>
              </a:rPr>
              <a:t>1,</a:t>
            </a:r>
            <a:r>
              <a:rPr lang="zh-CN" altLang="zh-CN" dirty="0">
                <a:solidFill>
                  <a:srgbClr val="000000"/>
                </a:solidFill>
                <a:latin typeface="+mn-lt"/>
                <a:ea typeface="宋体" panose="02010600030101010101" pitchFamily="2" charset="-122"/>
                <a:cs typeface="Times New Roman" panose="02020603050405020304" pitchFamily="18" charset="0"/>
              </a:rPr>
              <a:t>或</a:t>
            </a:r>
            <a:r>
              <a:rPr lang="en-US" altLang="zh-CN" i="1" dirty="0">
                <a:solidFill>
                  <a:srgbClr val="000000"/>
                </a:solidFill>
                <a:latin typeface="+mn-lt"/>
                <a:ea typeface="宋体" panose="02010600030101010101" pitchFamily="2" charset="-122"/>
                <a:cs typeface="Times New Roman" panose="02020603050405020304" pitchFamily="18" charset="0"/>
              </a:rPr>
              <a:t>x&lt;-</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dirty="0" smtClean="0">
                <a:solidFill>
                  <a:srgbClr val="000000"/>
                </a:solidFill>
                <a:latin typeface="+mn-lt"/>
                <a:ea typeface="宋体" panose="02010600030101010101" pitchFamily="2" charset="-122"/>
                <a:cs typeface="Times New Roman" panose="02020603050405020304" pitchFamily="18" charset="0"/>
              </a:rPr>
              <a:t>}</a:t>
            </a:r>
            <a:endParaRPr lang="en-US"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latin typeface="+mn-lt"/>
                <a:cs typeface="Times New Roman" panose="02020603050405020304" pitchFamily="18" charset="0"/>
              </a:rPr>
              <a:t>解析</a:t>
            </a:r>
            <a:r>
              <a:rPr lang="en-US" altLang="zh-CN" dirty="0" smtClean="0">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a:t>
            </a:r>
            <a:r>
              <a:rPr lang="zh-CN" altLang="zh-CN" dirty="0">
                <a:solidFill>
                  <a:srgbClr val="000000"/>
                </a:solidFill>
                <a:latin typeface="+mn-lt"/>
                <a:ea typeface="楷体" panose="02010609060101010101" pitchFamily="49" charset="-122"/>
                <a:cs typeface="Times New Roman" panose="02020603050405020304" pitchFamily="18" charset="0"/>
              </a:rPr>
              <a:t>令</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0,</a:t>
            </a:r>
            <a:r>
              <a:rPr lang="zh-CN" altLang="zh-CN" dirty="0">
                <a:solidFill>
                  <a:srgbClr val="000000"/>
                </a:solidFill>
                <a:latin typeface="+mn-lt"/>
                <a:ea typeface="楷体" panose="02010609060101010101" pitchFamily="49" charset="-122"/>
                <a:cs typeface="Times New Roman" panose="02020603050405020304" pitchFamily="18" charset="0"/>
              </a:rPr>
              <a:t>其两根分别为</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baseline="-25000"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baseline="-25000"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dirty="0" smtClean="0">
                <a:solidFill>
                  <a:srgbClr val="000000"/>
                </a:solidFill>
                <a:latin typeface="+mn-lt"/>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zh-CN" altLang="zh-CN" dirty="0" smtClean="0">
                <a:solidFill>
                  <a:srgbClr val="000000"/>
                </a:solidFill>
                <a:latin typeface="+mn-lt"/>
                <a:ea typeface="楷体" panose="02010609060101010101" pitchFamily="49" charset="-122"/>
                <a:cs typeface="Times New Roman" panose="02020603050405020304" pitchFamily="18" charset="0"/>
              </a:rPr>
              <a:t>故</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dirty="0">
                <a:solidFill>
                  <a:srgbClr val="000000"/>
                </a:solidFill>
                <a:latin typeface="+mn-lt"/>
                <a:ea typeface="方正书宋_GBK" panose="03000509000000000000" pitchFamily="65"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a:t>
            </a:r>
            <a:r>
              <a:rPr lang="zh-CN" altLang="zh-CN" dirty="0">
                <a:solidFill>
                  <a:srgbClr val="000000"/>
                </a:solidFill>
                <a:latin typeface="+mn-lt"/>
                <a:ea typeface="楷体" panose="02010609060101010101" pitchFamily="49" charset="-122"/>
                <a:cs typeface="Times New Roman" panose="02020603050405020304" pitchFamily="18" charset="0"/>
              </a:rPr>
              <a:t>的解集为</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dirty="0">
                <a:solidFill>
                  <a:srgbClr val="000000"/>
                </a:solidFill>
                <a:latin typeface="+mn-lt"/>
                <a:ea typeface="方正书宋_GBK" panose="03000509000000000000" pitchFamily="65"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方正书宋_GBK" panose="03000509000000000000" pitchFamily="65"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dirty="0" smtClean="0">
                <a:solidFill>
                  <a:srgbClr val="000000"/>
                </a:solidFill>
                <a:latin typeface="+mn-lt"/>
                <a:ea typeface="宋体" panose="02010600030101010101" pitchFamily="2" charset="-122"/>
                <a:cs typeface="Times New Roman" panose="02020603050405020304" pitchFamily="18" charset="0"/>
              </a:rPr>
              <a:t>}</a:t>
            </a:r>
            <a:r>
              <a:rPr lang="en-US" altLang="zh-CN" i="1" dirty="0" smtClean="0">
                <a:solidFill>
                  <a:srgbClr val="000000"/>
                </a:solidFill>
                <a:latin typeface="+mn-lt"/>
                <a:ea typeface="宋体" panose="02010600030101010101" pitchFamily="2" charset="-122"/>
                <a:cs typeface="Times New Roman" panose="02020603050405020304" pitchFamily="18" charset="0"/>
              </a:rPr>
              <a:t>.</a:t>
            </a:r>
            <a:endParaRPr lang="en-US" altLang="zh-CN" dirty="0" smtClean="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方正书宋_GBK" panose="03000509000000000000" pitchFamily="65"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a:t>
            </a:r>
            <a:r>
              <a:rPr lang="zh-CN" altLang="zh-CN" i="1"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dirty="0">
                <a:solidFill>
                  <a:srgbClr val="000000"/>
                </a:solidFill>
                <a:latin typeface="+mn-lt"/>
                <a:ea typeface="方正书宋_GBK" panose="03000509000000000000" pitchFamily="65"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0</a:t>
            </a:r>
            <a:r>
              <a:rPr lang="en-US" altLang="zh-CN" dirty="0" smtClean="0">
                <a:solidFill>
                  <a:srgbClr val="000000"/>
                </a:solidFill>
                <a:latin typeface="+mn-lt"/>
                <a:ea typeface="宋体" panose="02010600030101010101" pitchFamily="2" charset="-122"/>
                <a:cs typeface="Times New Roman" panose="02020603050405020304" pitchFamily="18" charset="0"/>
              </a:rPr>
              <a:t>,</a:t>
            </a:r>
            <a:endParaRPr lang="en-US" altLang="zh-CN" dirty="0" smtClean="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latin typeface="+mn-lt"/>
                <a:ea typeface="楷体" panose="02010609060101010101" pitchFamily="49" charset="-122"/>
                <a:cs typeface="Times New Roman" panose="02020603050405020304" pitchFamily="18" charset="0"/>
              </a:rPr>
              <a:t>即</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dirty="0">
                <a:solidFill>
                  <a:srgbClr val="000000"/>
                </a:solidFill>
                <a:latin typeface="+mn-lt"/>
                <a:ea typeface="方正书宋_GBK" panose="03000509000000000000" pitchFamily="65"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0,</a:t>
            </a:r>
            <a:r>
              <a:rPr lang="zh-CN" altLang="zh-CN" dirty="0">
                <a:solidFill>
                  <a:srgbClr val="000000"/>
                </a:solidFill>
                <a:latin typeface="+mn-lt"/>
                <a:ea typeface="楷体" panose="02010609060101010101" pitchFamily="49" charset="-122"/>
                <a:cs typeface="Times New Roman" panose="02020603050405020304" pitchFamily="18" charset="0"/>
              </a:rPr>
              <a:t>故</a:t>
            </a: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方正书宋_GBK" panose="03000509000000000000" pitchFamily="65"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baseline="30000"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a:t>
            </a:r>
            <a:r>
              <a:rPr lang="zh-CN" altLang="zh-CN" dirty="0">
                <a:solidFill>
                  <a:srgbClr val="000000"/>
                </a:solidFill>
                <a:latin typeface="+mn-lt"/>
                <a:ea typeface="楷体" panose="02010609060101010101" pitchFamily="49" charset="-122"/>
                <a:cs typeface="Times New Roman" panose="02020603050405020304" pitchFamily="18" charset="0"/>
              </a:rPr>
              <a:t>的解集为</a:t>
            </a:r>
            <a:r>
              <a:rPr lang="en-US" altLang="zh-CN" dirty="0">
                <a:solidFill>
                  <a:srgbClr val="000000"/>
                </a:solidFill>
                <a:latin typeface="+mn-lt"/>
                <a:ea typeface="宋体" panose="02010600030101010101" pitchFamily="2" charset="-122"/>
                <a:cs typeface="Times New Roman" panose="02020603050405020304" pitchFamily="18" charset="0"/>
              </a:rPr>
              <a:t>R</a:t>
            </a:r>
            <a:r>
              <a:rPr lang="en-US" altLang="zh-CN" i="1" dirty="0" smtClean="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p:txBody>
      </p:sp>
      <p:sp>
        <p:nvSpPr>
          <p:cNvPr id="4" name="矩形 3"/>
          <p:cNvSpPr>
            <a:spLocks noChangeAspect="1"/>
          </p:cNvSpPr>
          <p:nvPr/>
        </p:nvSpPr>
        <p:spPr>
          <a:xfrm>
            <a:off x="7129189" y="5760367"/>
            <a:ext cx="3185487"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(1)C</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2)B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179361992"/>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animEffect transition="in" filter="randombar(horizontal)">
                                      <p:cBhvr>
                                        <p:cTn id="7" dur="500"/>
                                        <p:tgtEl>
                                          <p:spTgt spid="2">
                                            <p:txEl>
                                              <p:pRg st="6" end="6"/>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7" end="7"/>
                                            </p:txEl>
                                          </p:spTgt>
                                        </p:tgtEl>
                                        <p:attrNameLst>
                                          <p:attrName>style.visibility</p:attrName>
                                        </p:attrNameLst>
                                      </p:cBhvr>
                                      <p:to>
                                        <p:strVal val="visible"/>
                                      </p:to>
                                    </p:set>
                                    <p:animEffect transition="in" filter="randombar(horizontal)">
                                      <p:cBhvr>
                                        <p:cTn id="10" dur="500"/>
                                        <p:tgtEl>
                                          <p:spTgt spid="2">
                                            <p:txEl>
                                              <p:pRg st="7" end="7"/>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8" end="8"/>
                                            </p:txEl>
                                          </p:spTgt>
                                        </p:tgtEl>
                                        <p:attrNameLst>
                                          <p:attrName>style.visibility</p:attrName>
                                        </p:attrNameLst>
                                      </p:cBhvr>
                                      <p:to>
                                        <p:strVal val="visible"/>
                                      </p:to>
                                    </p:set>
                                    <p:animEffect transition="in" filter="randombar(horizontal)">
                                      <p:cBhvr>
                                        <p:cTn id="13" dur="500"/>
                                        <p:tgtEl>
                                          <p:spTgt spid="2">
                                            <p:txEl>
                                              <p:pRg st="8" end="8"/>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2">
                                            <p:txEl>
                                              <p:pRg st="9" end="9"/>
                                            </p:txEl>
                                          </p:spTgt>
                                        </p:tgtEl>
                                        <p:attrNameLst>
                                          <p:attrName>style.visibility</p:attrName>
                                        </p:attrNameLst>
                                      </p:cBhvr>
                                      <p:to>
                                        <p:strVal val="visible"/>
                                      </p:to>
                                    </p:set>
                                    <p:animEffect transition="in" filter="randombar(horizontal)">
                                      <p:cBhvr>
                                        <p:cTn id="16" dur="500"/>
                                        <p:tgtEl>
                                          <p:spTgt spid="2">
                                            <p:txEl>
                                              <p:pRg st="9" end="9"/>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randombar(horizontal)">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811448"/>
            <a:ext cx="11814462" cy="4948919"/>
            <a:chOff x="361950" y="739440"/>
            <a:chExt cx="11814462" cy="4948919"/>
          </a:xfrm>
        </p:grpSpPr>
        <p:sp>
          <p:nvSpPr>
            <p:cNvPr id="3" name="矩形 2"/>
            <p:cNvSpPr>
              <a:spLocks noChangeAspect="1"/>
            </p:cNvSpPr>
            <p:nvPr/>
          </p:nvSpPr>
          <p:spPr>
            <a:xfrm>
              <a:off x="361950" y="739440"/>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【思考辨析】</a:t>
              </a:r>
              <a:r>
                <a:rPr lang="zh-CN" altLang="zh-CN" dirty="0">
                  <a:solidFill>
                    <a:srgbClr val="000000"/>
                  </a:solidFill>
                  <a:latin typeface="NEU-BZ-S92"/>
                  <a:ea typeface="Arial" panose="020B0604020202020204" pitchFamily="34" charset="0"/>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判断下列说法是否正确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正确的在后面的括号内打</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错误的打</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45136011"/>
                </p:ext>
              </p:extLst>
            </p:nvPr>
          </p:nvGraphicFramePr>
          <p:xfrm>
            <a:off x="504453" y="2548012"/>
            <a:ext cx="11671959" cy="3140347"/>
          </p:xfrm>
          <a:graphic>
            <a:graphicData uri="http://schemas.openxmlformats.org/presentationml/2006/ole">
              <mc:AlternateContent xmlns:mc="http://schemas.openxmlformats.org/markup-compatibility/2006">
                <mc:Choice xmlns:v="urn:schemas-microsoft-com:vml" Requires="v">
                  <p:oleObj spid="_x0000_s4122" name="文档" r:id="rId4" imgW="3826872" imgH="1029622" progId="Word.Document.12">
                    <p:embed/>
                  </p:oleObj>
                </mc:Choice>
                <mc:Fallback>
                  <p:oleObj name="文档" r:id="rId4" imgW="3826872" imgH="1029622" progId="Word.Document.12">
                    <p:embed/>
                    <p:pic>
                      <p:nvPicPr>
                        <p:cNvPr id="0" name=""/>
                        <p:cNvPicPr/>
                        <p:nvPr/>
                      </p:nvPicPr>
                      <p:blipFill>
                        <a:blip r:embed="rId5"/>
                        <a:stretch>
                          <a:fillRect/>
                        </a:stretch>
                      </p:blipFill>
                      <p:spPr>
                        <a:xfrm>
                          <a:off x="504453" y="2548012"/>
                          <a:ext cx="11671959" cy="3140347"/>
                        </a:xfrm>
                        <a:prstGeom prst="rect">
                          <a:avLst/>
                        </a:prstGeom>
                      </p:spPr>
                    </p:pic>
                  </p:oleObj>
                </mc:Fallback>
              </mc:AlternateContent>
            </a:graphicData>
          </a:graphic>
        </p:graphicFrame>
      </p:grpSp>
      <p:sp>
        <p:nvSpPr>
          <p:cNvPr id="6" name="矩形 5"/>
          <p:cNvSpPr/>
          <p:nvPr/>
        </p:nvSpPr>
        <p:spPr>
          <a:xfrm>
            <a:off x="8497341" y="2630388"/>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145413" y="3250845"/>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5283255" y="3965605"/>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3168749" y="5223692"/>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84660230"/>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合作</a:t>
            </a:r>
            <a:r>
              <a:rPr lang="zh-CN" altLang="zh-CN" sz="6600" dirty="0">
                <a:solidFill>
                  <a:srgbClr val="0070C0"/>
                </a:solidFill>
                <a:latin typeface="华文新魏" panose="02010800040101010101" pitchFamily="2" charset="-122"/>
                <a:ea typeface="华文新魏" panose="02010800040101010101" pitchFamily="2" charset="-122"/>
              </a:rPr>
              <a:t>探究</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释疑解惑</a:t>
            </a:r>
          </a:p>
        </p:txBody>
      </p:sp>
    </p:spTree>
    <p:extLst>
      <p:ext uri="{BB962C8B-B14F-4D97-AF65-F5344CB8AC3E}">
        <p14:creationId xmlns:p14="http://schemas.microsoft.com/office/powerpoint/2010/main" val="9169604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719807"/>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一</a:t>
            </a:r>
            <a:r>
              <a:rPr lang="en-US" altLang="zh-CN" dirty="0" smtClean="0"/>
              <a:t>  </a:t>
            </a:r>
            <a:r>
              <a:rPr lang="zh-CN" altLang="zh-CN" dirty="0" smtClean="0"/>
              <a:t>解</a:t>
            </a:r>
            <a:r>
              <a:rPr lang="zh-CN" altLang="zh-CN" dirty="0"/>
              <a:t>一元二次不等式</a:t>
            </a:r>
          </a:p>
        </p:txBody>
      </p:sp>
      <p:sp>
        <p:nvSpPr>
          <p:cNvPr id="2" name="矩形 1"/>
          <p:cNvSpPr>
            <a:spLocks noChangeAspect="1"/>
          </p:cNvSpPr>
          <p:nvPr/>
        </p:nvSpPr>
        <p:spPr>
          <a:xfrm>
            <a:off x="361950" y="2007579"/>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解不等式</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(1)2</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0;</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0;</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(3)4</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	(4)</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0264129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7849269" y="1655888"/>
            <a:ext cx="2777466" cy="3633103"/>
            <a:chOff x="4433563" y="2732045"/>
            <a:chExt cx="2777466" cy="3633103"/>
          </a:xfrm>
        </p:grpSpPr>
        <p:pic>
          <p:nvPicPr>
            <p:cNvPr id="5" name="ZMG1TRA127.eps" descr="id:2147494088;FounderCES"/>
            <p:cNvPicPr/>
            <p:nvPr/>
          </p:nvPicPr>
          <p:blipFill>
            <a:blip r:embed="rId3"/>
            <a:stretch>
              <a:fillRect/>
            </a:stretch>
          </p:blipFill>
          <p:spPr>
            <a:xfrm>
              <a:off x="4433563" y="2732045"/>
              <a:ext cx="2777466" cy="3028322"/>
            </a:xfrm>
            <a:prstGeom prst="rect">
              <a:avLst/>
            </a:prstGeom>
          </p:spPr>
        </p:pic>
        <p:sp>
          <p:nvSpPr>
            <p:cNvPr id="6" name="矩形 5"/>
            <p:cNvSpPr>
              <a:spLocks noChangeAspect="1"/>
            </p:cNvSpPr>
            <p:nvPr/>
          </p:nvSpPr>
          <p:spPr>
            <a:xfrm>
              <a:off x="5153338" y="5760367"/>
              <a:ext cx="1215397" cy="604781"/>
            </a:xfrm>
            <a:prstGeom prst="rect">
              <a:avLst/>
            </a:prstGeom>
          </p:spPr>
          <p:txBody>
            <a:bodyPr wrap="none">
              <a:spAutoFit/>
            </a:bodyPr>
            <a:lstStyle/>
            <a:p>
              <a:pPr algn="ct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图</a:t>
              </a:r>
              <a:r>
                <a:rPr lang="zh-CN" altLang="zh-CN" dirty="0" smtClean="0">
                  <a:solidFill>
                    <a:srgbClr val="000000"/>
                  </a:solidFill>
                  <a:latin typeface="NEU-BZ-S92"/>
                  <a:ea typeface="宋体" panose="02010600030101010101" pitchFamily="2" charset="-122"/>
                  <a:cs typeface="宋体" panose="02010600030101010101" pitchFamily="2" charset="-122"/>
                </a:rPr>
                <a:t>①</a:t>
              </a:r>
              <a:r>
                <a:rPr lang="en-US" altLang="zh-CN" dirty="0" smtClean="0">
                  <a:solidFill>
                    <a:srgbClr val="000000"/>
                  </a:solidFill>
                  <a:latin typeface="NEU-BZ-S92"/>
                  <a:ea typeface="宋体" panose="02010600030101010101" pitchFamily="2" charset="-122"/>
                  <a:cs typeface="宋体" panose="02010600030101010101" pitchFamily="2" charset="-122"/>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
        <p:nvSpPr>
          <p:cNvPr id="2" name="矩形 1"/>
          <p:cNvSpPr>
            <a:spLocks noChangeAspect="1"/>
          </p:cNvSpPr>
          <p:nvPr/>
        </p:nvSpPr>
        <p:spPr>
          <a:xfrm>
            <a:off x="361950" y="896503"/>
            <a:ext cx="10807700" cy="121764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对于方程</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因为</a:t>
            </a:r>
            <a:r>
              <a:rPr lang="en-US" altLang="zh-CN" i="1" dirty="0">
                <a:solidFill>
                  <a:srgbClr val="000000"/>
                </a:solidFill>
                <a:ea typeface="宋体" panose="02010600030101010101" pitchFamily="2" charset="-122"/>
                <a:cs typeface="Times New Roman" panose="02020603050405020304" pitchFamily="18" charset="0"/>
              </a:rPr>
              <a:t>Δ&gt;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所以它有两个不相等的实数根</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1928408810"/>
              </p:ext>
            </p:extLst>
          </p:nvPr>
        </p:nvGraphicFramePr>
        <p:xfrm>
          <a:off x="462135" y="2125782"/>
          <a:ext cx="10607329" cy="3049610"/>
        </p:xfrm>
        <a:graphic>
          <a:graphicData uri="http://schemas.openxmlformats.org/presentationml/2006/ole">
            <mc:AlternateContent xmlns:mc="http://schemas.openxmlformats.org/markup-compatibility/2006">
              <mc:Choice xmlns:v="urn:schemas-microsoft-com:vml" Requires="v">
                <p:oleObj spid="_x0000_s5146" name="文档" r:id="rId5" imgW="3477813" imgH="999872" progId="Word.Document.12">
                  <p:embed/>
                </p:oleObj>
              </mc:Choice>
              <mc:Fallback>
                <p:oleObj name="文档" r:id="rId5" imgW="3477813" imgH="999872" progId="Word.Document.12">
                  <p:embed/>
                  <p:pic>
                    <p:nvPicPr>
                      <p:cNvPr id="0" name=""/>
                      <p:cNvPicPr/>
                      <p:nvPr/>
                    </p:nvPicPr>
                    <p:blipFill>
                      <a:blip r:embed="rId6"/>
                      <a:stretch>
                        <a:fillRect/>
                      </a:stretch>
                    </p:blipFill>
                    <p:spPr>
                      <a:xfrm>
                        <a:off x="462135" y="2125782"/>
                        <a:ext cx="10607329" cy="3049610"/>
                      </a:xfrm>
                      <a:prstGeom prst="rect">
                        <a:avLst/>
                      </a:prstGeom>
                    </p:spPr>
                  </p:pic>
                </p:oleObj>
              </mc:Fallback>
            </mc:AlternateContent>
          </a:graphicData>
        </a:graphic>
      </p:graphicFrame>
    </p:spTree>
    <p:extLst>
      <p:ext uri="{BB962C8B-B14F-4D97-AF65-F5344CB8AC3E}">
        <p14:creationId xmlns:p14="http://schemas.microsoft.com/office/powerpoint/2010/main" val="176006358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361950" y="752238"/>
            <a:ext cx="11730038" cy="5283437"/>
            <a:chOff x="361950" y="618303"/>
            <a:chExt cx="11730038" cy="5283437"/>
          </a:xfrm>
        </p:grpSpPr>
        <p:sp>
          <p:nvSpPr>
            <p:cNvPr id="2" name="矩形 1"/>
            <p:cNvSpPr>
              <a:spLocks noChangeAspect="1"/>
            </p:cNvSpPr>
            <p:nvPr/>
          </p:nvSpPr>
          <p:spPr>
            <a:xfrm>
              <a:off x="361950" y="647799"/>
              <a:ext cx="10807700" cy="2399503"/>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原不等式可化为</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对于方程</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zh-CN" altLang="zh-CN" dirty="0" smtClean="0">
                  <a:solidFill>
                    <a:srgbClr val="000000"/>
                  </a:solidFill>
                  <a:ea typeface="楷体" panose="02010609060101010101" pitchFamily="49" charset="-122"/>
                  <a:cs typeface="Times New Roman" panose="02020603050405020304" pitchFamily="18" charset="0"/>
                </a:rPr>
                <a:t>因为</a:t>
              </a:r>
              <a:r>
                <a:rPr lang="en-US" altLang="zh-CN" i="1" dirty="0">
                  <a:solidFill>
                    <a:srgbClr val="000000"/>
                  </a:solidFill>
                  <a:ea typeface="宋体" panose="02010600030101010101" pitchFamily="2" charset="-122"/>
                  <a:cs typeface="Times New Roman" panose="02020603050405020304" pitchFamily="18" charset="0"/>
                </a:rPr>
                <a:t>Δ=</a:t>
              </a:r>
              <a:r>
                <a:rPr lang="en-US" altLang="zh-CN" dirty="0">
                  <a:solidFill>
                    <a:srgbClr val="000000"/>
                  </a:solidFill>
                  <a:ea typeface="宋体" panose="02010600030101010101" pitchFamily="2" charset="-122"/>
                  <a:cs typeface="Times New Roman" panose="02020603050405020304" pitchFamily="18" charset="0"/>
                </a:rPr>
                <a:t>36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12</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0</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zh-CN" altLang="zh-CN" dirty="0" smtClean="0">
                  <a:solidFill>
                    <a:srgbClr val="000000"/>
                  </a:solidFill>
                  <a:ea typeface="楷体" panose="02010609060101010101" pitchFamily="49" charset="-122"/>
                  <a:cs typeface="Times New Roman" panose="02020603050405020304" pitchFamily="18" charset="0"/>
                </a:rPr>
                <a:t>所以</a:t>
              </a:r>
              <a:r>
                <a:rPr lang="zh-CN" altLang="zh-CN" dirty="0">
                  <a:solidFill>
                    <a:srgbClr val="000000"/>
                  </a:solidFill>
                  <a:ea typeface="楷体" panose="02010609060101010101" pitchFamily="49" charset="-122"/>
                  <a:cs typeface="Times New Roman" panose="02020603050405020304" pitchFamily="18" charset="0"/>
                </a:rPr>
                <a:t>它有两个不相等的实数根</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372232594"/>
                </p:ext>
              </p:extLst>
            </p:nvPr>
          </p:nvGraphicFramePr>
          <p:xfrm>
            <a:off x="430213" y="3028365"/>
            <a:ext cx="11661775" cy="2873375"/>
          </p:xfrm>
          <a:graphic>
            <a:graphicData uri="http://schemas.openxmlformats.org/presentationml/2006/ole">
              <mc:AlternateContent xmlns:mc="http://schemas.openxmlformats.org/markup-compatibility/2006">
                <mc:Choice xmlns:v="urn:schemas-microsoft-com:vml" Requires="v">
                  <p:oleObj spid="_x0000_s6170" name="文档" r:id="rId4" imgW="3837724" imgH="947589" progId="Word.Document.12">
                    <p:embed/>
                  </p:oleObj>
                </mc:Choice>
                <mc:Fallback>
                  <p:oleObj name="文档" r:id="rId4" imgW="3837724" imgH="947589" progId="Word.Document.12">
                    <p:embed/>
                    <p:pic>
                      <p:nvPicPr>
                        <p:cNvPr id="0" name=""/>
                        <p:cNvPicPr/>
                        <p:nvPr/>
                      </p:nvPicPr>
                      <p:blipFill>
                        <a:blip r:embed="rId5"/>
                        <a:stretch>
                          <a:fillRect/>
                        </a:stretch>
                      </p:blipFill>
                      <p:spPr>
                        <a:xfrm>
                          <a:off x="430213" y="3028365"/>
                          <a:ext cx="11661775" cy="2873375"/>
                        </a:xfrm>
                        <a:prstGeom prst="rect">
                          <a:avLst/>
                        </a:prstGeom>
                      </p:spPr>
                    </p:pic>
                  </p:oleObj>
                </mc:Fallback>
              </mc:AlternateContent>
            </a:graphicData>
          </a:graphic>
        </p:graphicFrame>
        <p:pic>
          <p:nvPicPr>
            <p:cNvPr id="8" name="ZMG1TRA128.eps" descr="id:2147494095;FounderCES"/>
            <p:cNvPicPr/>
            <p:nvPr/>
          </p:nvPicPr>
          <p:blipFill>
            <a:blip r:embed="rId6"/>
            <a:stretch>
              <a:fillRect/>
            </a:stretch>
          </p:blipFill>
          <p:spPr>
            <a:xfrm>
              <a:off x="8077479" y="618303"/>
              <a:ext cx="2373032" cy="3115765"/>
            </a:xfrm>
            <a:prstGeom prst="rect">
              <a:avLst/>
            </a:prstGeom>
          </p:spPr>
        </p:pic>
        <p:sp>
          <p:nvSpPr>
            <p:cNvPr id="9" name="矩形 8"/>
            <p:cNvSpPr>
              <a:spLocks noChangeAspect="1"/>
            </p:cNvSpPr>
            <p:nvPr/>
          </p:nvSpPr>
          <p:spPr>
            <a:xfrm>
              <a:off x="8786314" y="3734068"/>
              <a:ext cx="1215397" cy="683264"/>
            </a:xfrm>
            <a:prstGeom prst="rect">
              <a:avLst/>
            </a:prstGeom>
          </p:spPr>
          <p:txBody>
            <a:bodyPr wrap="none">
              <a:spAutoFit/>
            </a:bodyPr>
            <a:lstStyle/>
            <a:p>
              <a:pPr algn="ct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图</a:t>
              </a:r>
              <a:r>
                <a:rPr lang="zh-CN" altLang="zh-CN" dirty="0" smtClean="0">
                  <a:solidFill>
                    <a:srgbClr val="000000"/>
                  </a:solidFill>
                  <a:latin typeface="NEU-BZ-S92"/>
                  <a:ea typeface="宋体" panose="02010600030101010101" pitchFamily="2" charset="-122"/>
                  <a:cs typeface="宋体" panose="02010600030101010101" pitchFamily="2" charset="-122"/>
                </a:rPr>
                <a:t>②</a:t>
              </a:r>
              <a:r>
                <a:rPr lang="en-US" altLang="zh-CN" dirty="0" smtClean="0">
                  <a:solidFill>
                    <a:srgbClr val="000000"/>
                  </a:solidFill>
                  <a:latin typeface="NEU-BZ-S92"/>
                  <a:ea typeface="宋体" panose="02010600030101010101" pitchFamily="2" charset="-122"/>
                  <a:cs typeface="宋体" panose="02010600030101010101" pitchFamily="2" charset="-122"/>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278031287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834715160"/>
              </p:ext>
            </p:extLst>
          </p:nvPr>
        </p:nvGraphicFramePr>
        <p:xfrm>
          <a:off x="432445" y="690939"/>
          <a:ext cx="10607329" cy="1992748"/>
        </p:xfrm>
        <a:graphic>
          <a:graphicData uri="http://schemas.openxmlformats.org/presentationml/2006/ole">
            <mc:AlternateContent xmlns:mc="http://schemas.openxmlformats.org/markup-compatibility/2006">
              <mc:Choice xmlns:v="urn:schemas-microsoft-com:vml" Requires="v">
                <p:oleObj spid="_x0000_s7194" name="文档" r:id="rId4" imgW="3477813" imgH="653360" progId="Word.Document.12">
                  <p:embed/>
                </p:oleObj>
              </mc:Choice>
              <mc:Fallback>
                <p:oleObj name="文档" r:id="rId4" imgW="3477813" imgH="653360" progId="Word.Document.12">
                  <p:embed/>
                  <p:pic>
                    <p:nvPicPr>
                      <p:cNvPr id="0" name=""/>
                      <p:cNvPicPr/>
                      <p:nvPr/>
                    </p:nvPicPr>
                    <p:blipFill>
                      <a:blip r:embed="rId5"/>
                      <a:stretch>
                        <a:fillRect/>
                      </a:stretch>
                    </p:blipFill>
                    <p:spPr>
                      <a:xfrm>
                        <a:off x="432445" y="690939"/>
                        <a:ext cx="10607329" cy="1992748"/>
                      </a:xfrm>
                      <a:prstGeom prst="rect">
                        <a:avLst/>
                      </a:prstGeom>
                    </p:spPr>
                  </p:pic>
                </p:oleObj>
              </mc:Fallback>
            </mc:AlternateContent>
          </a:graphicData>
        </a:graphic>
      </p:graphicFrame>
      <p:grpSp>
        <p:nvGrpSpPr>
          <p:cNvPr id="8" name="组合 7"/>
          <p:cNvGrpSpPr/>
          <p:nvPr/>
        </p:nvGrpSpPr>
        <p:grpSpPr>
          <a:xfrm>
            <a:off x="3888829" y="2506991"/>
            <a:ext cx="3024336" cy="3930944"/>
            <a:chOff x="3888829" y="2477495"/>
            <a:chExt cx="3024336" cy="3930944"/>
          </a:xfrm>
        </p:grpSpPr>
        <p:pic>
          <p:nvPicPr>
            <p:cNvPr id="9" name="ZMG1TRA129.eps" descr="id:2147494102;FounderCES"/>
            <p:cNvPicPr/>
            <p:nvPr/>
          </p:nvPicPr>
          <p:blipFill>
            <a:blip r:embed="rId6"/>
            <a:stretch>
              <a:fillRect/>
            </a:stretch>
          </p:blipFill>
          <p:spPr>
            <a:xfrm>
              <a:off x="3888829" y="2477495"/>
              <a:ext cx="3024336" cy="3340722"/>
            </a:xfrm>
            <a:prstGeom prst="rect">
              <a:avLst/>
            </a:prstGeom>
          </p:spPr>
        </p:pic>
        <p:sp>
          <p:nvSpPr>
            <p:cNvPr id="10" name="矩形 9"/>
            <p:cNvSpPr>
              <a:spLocks noChangeAspect="1"/>
            </p:cNvSpPr>
            <p:nvPr/>
          </p:nvSpPr>
          <p:spPr>
            <a:xfrm>
              <a:off x="5000335" y="5803658"/>
              <a:ext cx="1008609" cy="604781"/>
            </a:xfrm>
            <a:prstGeom prst="rect">
              <a:avLst/>
            </a:prstGeom>
          </p:spPr>
          <p:txBody>
            <a:bodyPr wrap="none">
              <a:spAutoFit/>
            </a:bodyPr>
            <a:lstStyle/>
            <a:p>
              <a:pPr algn="ct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图</a:t>
              </a:r>
              <a:r>
                <a:rPr lang="zh-CN" altLang="zh-CN" dirty="0">
                  <a:solidFill>
                    <a:srgbClr val="000000"/>
                  </a:solidFill>
                  <a:latin typeface="NEU-BZ-S92"/>
                  <a:ea typeface="宋体" panose="02010600030101010101" pitchFamily="2" charset="-122"/>
                  <a:cs typeface="宋体" panose="02010600030101010101" pitchFamily="2" charset="-122"/>
                </a:rPr>
                <a:t>③</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21812924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1950" y="575791"/>
            <a:ext cx="10807700" cy="6001643"/>
            <a:chOff x="361950" y="575791"/>
            <a:chExt cx="10807700" cy="6001643"/>
          </a:xfrm>
        </p:grpSpPr>
        <p:sp>
          <p:nvSpPr>
            <p:cNvPr id="2" name="矩形 1"/>
            <p:cNvSpPr>
              <a:spLocks noChangeAspect="1"/>
            </p:cNvSpPr>
            <p:nvPr/>
          </p:nvSpPr>
          <p:spPr>
            <a:xfrm>
              <a:off x="361950" y="575791"/>
              <a:ext cx="10807700" cy="6001643"/>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对于方程</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因为</a:t>
              </a:r>
              <a:r>
                <a:rPr lang="en-US" altLang="zh-CN" i="1" dirty="0">
                  <a:solidFill>
                    <a:srgbClr val="000000"/>
                  </a:solidFill>
                  <a:ea typeface="宋体" panose="02010600030101010101" pitchFamily="2" charset="-122"/>
                  <a:cs typeface="Times New Roman" panose="02020603050405020304" pitchFamily="18" charset="0"/>
                </a:rPr>
                <a:t>Δ&lt;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所以方程</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无实数根</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楷体" panose="02010609060101010101" pitchFamily="49" charset="-122"/>
                  <a:cs typeface="Times New Roman" panose="02020603050405020304" pitchFamily="18" charset="0"/>
                </a:rPr>
                <a:t>画</a:t>
              </a:r>
              <a:r>
                <a:rPr lang="zh-CN" altLang="zh-CN" dirty="0">
                  <a:solidFill>
                    <a:srgbClr val="000000"/>
                  </a:solidFill>
                  <a:ea typeface="楷体" panose="02010609060101010101" pitchFamily="49" charset="-122"/>
                  <a:cs typeface="Times New Roman" panose="02020603050405020304" pitchFamily="18" charset="0"/>
                </a:rPr>
                <a:t>出二次函数</a:t>
              </a:r>
              <a:r>
                <a:rPr lang="en-US" altLang="zh-CN" i="1" dirty="0">
                  <a:solidFill>
                    <a:srgbClr val="000000"/>
                  </a:solidFill>
                  <a:ea typeface="宋体" panose="02010600030101010101" pitchFamily="2" charset="-122"/>
                  <a:cs typeface="Times New Roman" panose="02020603050405020304" pitchFamily="18" charset="0"/>
                </a:rPr>
                <a:t>y=x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的图象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图</a:t>
              </a:r>
              <a:r>
                <a:rPr lang="zh-CN" altLang="zh-CN" dirty="0">
                  <a:solidFill>
                    <a:srgbClr val="000000"/>
                  </a:solidFill>
                  <a:latin typeface="NEU-BZ-S92"/>
                  <a:ea typeface="宋体" panose="02010600030101010101" pitchFamily="2" charset="-122"/>
                  <a:cs typeface="宋体" panose="02010600030101010101" pitchFamily="2" charset="-122"/>
                </a:rPr>
                <a:t>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结合图象得不等式</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的解集为</a:t>
              </a:r>
              <a:r>
                <a:rPr lang="en-US" altLang="zh-CN" dirty="0">
                  <a:solidFill>
                    <a:srgbClr val="000000"/>
                  </a:solidFill>
                  <a:ea typeface="宋体" panose="02010600030101010101" pitchFamily="2" charset="-122"/>
                  <a:cs typeface="Times New Roman" panose="02020603050405020304" pitchFamily="18" charset="0"/>
                </a:rPr>
                <a:t>R</a:t>
              </a:r>
              <a:r>
                <a:rPr lang="en-US" altLang="zh-CN" i="1"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endParaRPr lang="en-US" altLang="zh-CN" i="1" dirty="0">
                <a:solidFill>
                  <a:srgbClr val="000000"/>
                </a:solidFill>
                <a:latin typeface="NEU-BZ-S92"/>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endParaRPr lang="en-US" altLang="zh-CN" i="1" dirty="0" smtClean="0">
                <a:solidFill>
                  <a:srgbClr val="000000"/>
                </a:solidFill>
                <a:latin typeface="NEU-BZ-S92"/>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endParaRPr lang="en-US" altLang="zh-CN" i="1" dirty="0">
                <a:solidFill>
                  <a:srgbClr val="000000"/>
                </a:solidFill>
                <a:latin typeface="NEU-BZ-S92"/>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endParaRPr lang="en-US" altLang="zh-CN" i="1" dirty="0" smtClean="0">
                <a:solidFill>
                  <a:srgbClr val="000000"/>
                </a:solidFill>
                <a:latin typeface="NEU-BZ-S92"/>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endParaRPr lang="en-US" altLang="zh-CN" i="1" dirty="0">
                <a:solidFill>
                  <a:srgbClr val="000000"/>
                </a:solidFill>
                <a:latin typeface="NEU-BZ-S92"/>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图</a:t>
              </a:r>
              <a:r>
                <a:rPr lang="zh-CN" altLang="zh-CN" dirty="0">
                  <a:solidFill>
                    <a:srgbClr val="000000"/>
                  </a:solidFill>
                  <a:latin typeface="NEU-BZ-S92"/>
                  <a:ea typeface="宋体" panose="02010600030101010101" pitchFamily="2" charset="-122"/>
                  <a:cs typeface="宋体" panose="02010600030101010101" pitchFamily="2" charset="-122"/>
                </a:rPr>
                <a:t>④</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8" name="ZMG1TRA130.eps" descr="id:2147494109;FounderCES"/>
            <p:cNvPicPr/>
            <p:nvPr/>
          </p:nvPicPr>
          <p:blipFill>
            <a:blip r:embed="rId2"/>
            <a:stretch>
              <a:fillRect/>
            </a:stretch>
          </p:blipFill>
          <p:spPr>
            <a:xfrm>
              <a:off x="4340541" y="2456374"/>
              <a:ext cx="3096344" cy="3376001"/>
            </a:xfrm>
            <a:prstGeom prst="rect">
              <a:avLst/>
            </a:prstGeom>
          </p:spPr>
        </p:pic>
      </p:grpSp>
    </p:spTree>
    <p:extLst>
      <p:ext uri="{BB962C8B-B14F-4D97-AF65-F5344CB8AC3E}">
        <p14:creationId xmlns:p14="http://schemas.microsoft.com/office/powerpoint/2010/main" val="273916559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97" y="546295"/>
            <a:ext cx="11519767" cy="6001643"/>
          </a:xfrm>
          <a:prstGeom prst="rect">
            <a:avLst/>
          </a:prstGeom>
        </p:spPr>
        <p:txBody>
          <a:bodyPr wrap="square">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在解一元二次不等式时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仿宋" panose="02010609060101010101" pitchFamily="49" charset="-122"/>
                <a:cs typeface="Times New Roman" panose="02020603050405020304" pitchFamily="18" charset="0"/>
              </a:rPr>
              <a:t>需求</a:t>
            </a:r>
            <a:r>
              <a:rPr lang="zh-CN" altLang="en-US" dirty="0" smtClean="0">
                <a:solidFill>
                  <a:srgbClr val="000000"/>
                </a:solidFill>
                <a:ea typeface="仿宋" panose="02010609060101010101" pitchFamily="49" charset="-122"/>
                <a:cs typeface="Times New Roman" panose="02020603050405020304" pitchFamily="18" charset="0"/>
              </a:rPr>
              <a:t>出</a:t>
            </a:r>
            <a:r>
              <a:rPr lang="zh-CN" altLang="zh-CN" dirty="0" smtClean="0">
                <a:solidFill>
                  <a:srgbClr val="000000"/>
                </a:solidFill>
                <a:ea typeface="仿宋" panose="02010609060101010101" pitchFamily="49" charset="-122"/>
                <a:cs typeface="Times New Roman" panose="02020603050405020304" pitchFamily="18" charset="0"/>
              </a:rPr>
              <a:t>所</a:t>
            </a:r>
            <a:r>
              <a:rPr lang="zh-CN" altLang="zh-CN" dirty="0">
                <a:solidFill>
                  <a:srgbClr val="000000"/>
                </a:solidFill>
                <a:ea typeface="仿宋" panose="02010609060101010101" pitchFamily="49" charset="-122"/>
                <a:cs typeface="Times New Roman" panose="02020603050405020304" pitchFamily="18" charset="0"/>
              </a:rPr>
              <a:t>对应的一元二次方程的根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可借用求根公式法或因式分解法求解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并根据数形结合写出解集</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解不含参数的一元二次不等式的一般步骤</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通过对不等式的变形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使不等式右侧为</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仿宋" panose="02010609060101010101" pitchFamily="49" charset="-122"/>
                <a:cs typeface="Times New Roman" panose="02020603050405020304" pitchFamily="18" charset="0"/>
              </a:rPr>
              <a:t>使二次项系数为正</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对不等式左侧因式分解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若不易分解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则计算对应方程的判别式</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仿宋" panose="02010609060101010101" pitchFamily="49" charset="-122"/>
                <a:cs typeface="Times New Roman" panose="02020603050405020304" pitchFamily="18" charset="0"/>
              </a:rPr>
              <a:t>求出相应的一元二次方程的根或根据判别式说明方程无实数根</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仿宋" panose="02010609060101010101" pitchFamily="49" charset="-122"/>
                <a:cs typeface="Times New Roman" panose="02020603050405020304" pitchFamily="18" charset="0"/>
              </a:rPr>
              <a:t>根据一元二次方程根的情况画出对应的二次函数图象的草图</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仿宋" panose="02010609060101010101" pitchFamily="49" charset="-122"/>
                <a:cs typeface="Times New Roman" panose="02020603050405020304" pitchFamily="18" charset="0"/>
              </a:rPr>
              <a:t>根据图象写出不等式的解集</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31065757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560664"/>
            <a:ext cx="10807700" cy="239950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求下列一元二次不等式的解集</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x&gt;</a:t>
            </a:r>
            <a:r>
              <a:rPr lang="en-US" altLang="zh-CN" dirty="0">
                <a:solidFill>
                  <a:srgbClr val="000000"/>
                </a:solidFill>
                <a:ea typeface="宋体" panose="02010600030101010101" pitchFamily="2" charset="-122"/>
                <a:cs typeface="Times New Roman" panose="02020603050405020304" pitchFamily="18" charset="0"/>
              </a:rPr>
              <a:t>6;</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9</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8</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4043876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16799"/>
            <a:ext cx="10807700" cy="600164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由</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x&gt;</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楷体" panose="02010609060101010101" pitchFamily="49" charset="-122"/>
                <a:cs typeface="Times New Roman" panose="02020603050405020304" pitchFamily="18" charset="0"/>
              </a:rPr>
              <a:t>得</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对于方程</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因为</a:t>
            </a:r>
            <a:r>
              <a:rPr lang="en-US" altLang="zh-CN" i="1" dirty="0">
                <a:solidFill>
                  <a:srgbClr val="000000"/>
                </a:solidFill>
                <a:ea typeface="宋体" panose="02010600030101010101" pitchFamily="2" charset="-122"/>
                <a:cs typeface="Times New Roman" panose="02020603050405020304" pitchFamily="18" charset="0"/>
              </a:rPr>
              <a:t>Δ&gt;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所以它有两个不相等的实数根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解得</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所以原不等式的解集为</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x|x</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或</a:t>
            </a:r>
            <a:r>
              <a:rPr lang="en-US" altLang="zh-CN" i="1" dirty="0">
                <a:solidFill>
                  <a:srgbClr val="000000"/>
                </a:solidFill>
                <a:ea typeface="宋体" panose="02010600030101010101" pitchFamily="2" charset="-122"/>
                <a:cs typeface="Times New Roman" panose="02020603050405020304" pitchFamily="18" charset="0"/>
              </a:rPr>
              <a:t>x&gt;</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由</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9</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得</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3)</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故原不等式的解集为</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x|x</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i="1" dirty="0" smtClean="0">
                <a:solidFill>
                  <a:srgbClr val="000000"/>
                </a:solidFill>
                <a:ea typeface="宋体" panose="02010600030101010101" pitchFamily="2" charset="-122"/>
                <a:cs typeface="Times New Roman" panose="02020603050405020304" pitchFamily="18" charset="0"/>
              </a:rPr>
              <a:t>.</a:t>
            </a:r>
            <a:endParaRPr lang="en-US"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原不等式可化为</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8</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0</a:t>
            </a:r>
            <a:r>
              <a:rPr lang="en-US" altLang="zh-CN" dirty="0" smtClean="0">
                <a:solidFill>
                  <a:srgbClr val="000000"/>
                </a:solidFill>
                <a:ea typeface="宋体" panose="02010600030101010101" pitchFamily="2" charset="-122"/>
                <a:cs typeface="Times New Roman" panose="02020603050405020304" pitchFamily="18" charset="0"/>
              </a:rPr>
              <a:t>,</a:t>
            </a:r>
            <a:endParaRPr lang="en-US" altLang="zh-CN" dirty="0" smtClean="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smtClean="0">
                <a:solidFill>
                  <a:srgbClr val="000000"/>
                </a:solidFill>
                <a:ea typeface="楷体" panose="02010609060101010101" pitchFamily="49" charset="-122"/>
                <a:cs typeface="Times New Roman" panose="02020603050405020304" pitchFamily="18" charset="0"/>
              </a:rPr>
              <a:t>对于</a:t>
            </a:r>
            <a:r>
              <a:rPr lang="zh-CN" altLang="zh-CN" dirty="0">
                <a:solidFill>
                  <a:srgbClr val="000000"/>
                </a:solidFill>
                <a:ea typeface="楷体" panose="02010609060101010101" pitchFamily="49" charset="-122"/>
                <a:cs typeface="Times New Roman" panose="02020603050405020304" pitchFamily="18" charset="0"/>
              </a:rPr>
              <a:t>方程</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8</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dirty="0" smtClean="0">
                <a:solidFill>
                  <a:srgbClr val="000000"/>
                </a:solidFill>
                <a:ea typeface="宋体" panose="02010600030101010101" pitchFamily="2" charset="-122"/>
                <a:cs typeface="Times New Roman" panose="02020603050405020304" pitchFamily="18" charset="0"/>
              </a:rPr>
              <a:t>,</a:t>
            </a:r>
            <a:endParaRPr lang="en-US" altLang="zh-CN" dirty="0" smtClean="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smtClean="0">
                <a:solidFill>
                  <a:srgbClr val="000000"/>
                </a:solidFill>
                <a:ea typeface="楷体" panose="02010609060101010101" pitchFamily="49" charset="-122"/>
                <a:cs typeface="Times New Roman" panose="02020603050405020304" pitchFamily="18" charset="0"/>
              </a:rPr>
              <a:t>由于</a:t>
            </a:r>
            <a:r>
              <a:rPr lang="en-US" altLang="zh-CN" i="1" dirty="0">
                <a:solidFill>
                  <a:srgbClr val="000000"/>
                </a:solidFill>
                <a:ea typeface="宋体" panose="02010600030101010101" pitchFamily="2" charset="-122"/>
                <a:cs typeface="Times New Roman" panose="02020603050405020304" pitchFamily="18" charset="0"/>
              </a:rPr>
              <a:t>Δ&gt;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则方程</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8</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有两个不等的实根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即</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dirty="0" smtClean="0">
                <a:solidFill>
                  <a:srgbClr val="000000"/>
                </a:solidFill>
                <a:ea typeface="宋体" panose="02010600030101010101" pitchFamily="2" charset="-122"/>
                <a:cs typeface="Times New Roman" panose="02020603050405020304" pitchFamily="18" charset="0"/>
              </a:rPr>
              <a:t>,</a:t>
            </a:r>
            <a:endParaRPr lang="en-US" altLang="zh-CN" dirty="0" smtClean="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smtClean="0">
                <a:solidFill>
                  <a:srgbClr val="000000"/>
                </a:solidFill>
                <a:ea typeface="楷体" panose="02010609060101010101" pitchFamily="49" charset="-122"/>
                <a:cs typeface="Times New Roman" panose="02020603050405020304" pitchFamily="18" charset="0"/>
              </a:rPr>
              <a:t>故</a:t>
            </a:r>
            <a:r>
              <a:rPr lang="zh-CN" altLang="zh-CN" dirty="0">
                <a:solidFill>
                  <a:srgbClr val="000000"/>
                </a:solidFill>
                <a:ea typeface="楷体" panose="02010609060101010101" pitchFamily="49" charset="-122"/>
                <a:cs typeface="Times New Roman" panose="02020603050405020304" pitchFamily="18" charset="0"/>
              </a:rPr>
              <a:t>原不等式的解集为</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&lt;x&lt;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256363513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1047423"/>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二</a:t>
            </a:r>
            <a:r>
              <a:rPr lang="en-US" altLang="zh-CN" dirty="0" smtClean="0"/>
              <a:t>  </a:t>
            </a:r>
            <a:r>
              <a:rPr lang="zh-CN" altLang="zh-CN" dirty="0" smtClean="0"/>
              <a:t>简单</a:t>
            </a:r>
            <a:r>
              <a:rPr lang="zh-CN" altLang="zh-CN" dirty="0"/>
              <a:t>分式不等式的解法</a:t>
            </a:r>
          </a:p>
        </p:txBody>
      </p:sp>
      <p:graphicFrame>
        <p:nvGraphicFramePr>
          <p:cNvPr id="2" name="对象 1"/>
          <p:cNvGraphicFramePr>
            <a:graphicFrameLocks noChangeAspect="1"/>
          </p:cNvGraphicFramePr>
          <p:nvPr>
            <p:extLst>
              <p:ext uri="{D42A27DB-BD31-4B8C-83A1-F6EECF244321}">
                <p14:modId xmlns:p14="http://schemas.microsoft.com/office/powerpoint/2010/main" val="1335993093"/>
              </p:ext>
            </p:extLst>
          </p:nvPr>
        </p:nvGraphicFramePr>
        <p:xfrm>
          <a:off x="452109" y="1787167"/>
          <a:ext cx="11671959" cy="1286829"/>
        </p:xfrm>
        <a:graphic>
          <a:graphicData uri="http://schemas.openxmlformats.org/presentationml/2006/ole">
            <mc:AlternateContent xmlns:mc="http://schemas.openxmlformats.org/markup-compatibility/2006">
              <mc:Choice xmlns:v="urn:schemas-microsoft-com:vml" Requires="v">
                <p:oleObj spid="_x0000_s8240" name="文档" r:id="rId4" imgW="3826872" imgH="421911" progId="Word.Document.12">
                  <p:embed/>
                </p:oleObj>
              </mc:Choice>
              <mc:Fallback>
                <p:oleObj name="文档" r:id="rId4" imgW="3826872" imgH="421911" progId="Word.Document.12">
                  <p:embed/>
                  <p:pic>
                    <p:nvPicPr>
                      <p:cNvPr id="0" name=""/>
                      <p:cNvPicPr/>
                      <p:nvPr/>
                    </p:nvPicPr>
                    <p:blipFill>
                      <a:blip r:embed="rId5"/>
                      <a:stretch>
                        <a:fillRect/>
                      </a:stretch>
                    </p:blipFill>
                    <p:spPr>
                      <a:xfrm>
                        <a:off x="452109" y="1787167"/>
                        <a:ext cx="11671959" cy="1286829"/>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440806233"/>
              </p:ext>
            </p:extLst>
          </p:nvPr>
        </p:nvGraphicFramePr>
        <p:xfrm>
          <a:off x="452108" y="3145487"/>
          <a:ext cx="11671959" cy="1812960"/>
        </p:xfrm>
        <a:graphic>
          <a:graphicData uri="http://schemas.openxmlformats.org/presentationml/2006/ole">
            <mc:AlternateContent xmlns:mc="http://schemas.openxmlformats.org/markup-compatibility/2006">
              <mc:Choice xmlns:v="urn:schemas-microsoft-com:vml" Requires="v">
                <p:oleObj spid="_x0000_s8241" name="文档" r:id="rId7" imgW="3826872" imgH="594413" progId="Word.Document.12">
                  <p:embed/>
                </p:oleObj>
              </mc:Choice>
              <mc:Fallback>
                <p:oleObj name="文档" r:id="rId7" imgW="3826872" imgH="594413" progId="Word.Document.12">
                  <p:embed/>
                  <p:pic>
                    <p:nvPicPr>
                      <p:cNvPr id="0" name=""/>
                      <p:cNvPicPr/>
                      <p:nvPr/>
                    </p:nvPicPr>
                    <p:blipFill>
                      <a:blip r:embed="rId8"/>
                      <a:stretch>
                        <a:fillRect/>
                      </a:stretch>
                    </p:blipFill>
                    <p:spPr>
                      <a:xfrm>
                        <a:off x="452108" y="3145487"/>
                        <a:ext cx="11671959" cy="1812960"/>
                      </a:xfrm>
                      <a:prstGeom prst="rect">
                        <a:avLst/>
                      </a:prstGeom>
                    </p:spPr>
                  </p:pic>
                </p:oleObj>
              </mc:Fallback>
            </mc:AlternateContent>
          </a:graphicData>
        </a:graphic>
      </p:graphicFrame>
    </p:spTree>
    <p:extLst>
      <p:ext uri="{BB962C8B-B14F-4D97-AF65-F5344CB8AC3E}">
        <p14:creationId xmlns:p14="http://schemas.microsoft.com/office/powerpoint/2010/main" val="25849948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对象 6"/>
          <p:cNvGraphicFramePr>
            <a:graphicFrameLocks noChangeAspect="1"/>
          </p:cNvGraphicFramePr>
          <p:nvPr>
            <p:extLst>
              <p:ext uri="{D42A27DB-BD31-4B8C-83A1-F6EECF244321}">
                <p14:modId xmlns:p14="http://schemas.microsoft.com/office/powerpoint/2010/main" val="1742532405"/>
              </p:ext>
            </p:extLst>
          </p:nvPr>
        </p:nvGraphicFramePr>
        <p:xfrm>
          <a:off x="504825" y="1227138"/>
          <a:ext cx="11661775" cy="3754437"/>
        </p:xfrm>
        <a:graphic>
          <a:graphicData uri="http://schemas.openxmlformats.org/presentationml/2006/ole">
            <mc:AlternateContent xmlns:mc="http://schemas.openxmlformats.org/markup-compatibility/2006">
              <mc:Choice xmlns:v="urn:schemas-microsoft-com:vml" Requires="v">
                <p:oleObj spid="_x0000_s9241" name="文档" r:id="rId4" imgW="3837724" imgH="1240375" progId="Word.Document.12">
                  <p:embed/>
                </p:oleObj>
              </mc:Choice>
              <mc:Fallback>
                <p:oleObj name="文档" r:id="rId4" imgW="3837724" imgH="1240375" progId="Word.Document.12">
                  <p:embed/>
                  <p:pic>
                    <p:nvPicPr>
                      <p:cNvPr id="0" name=""/>
                      <p:cNvPicPr/>
                      <p:nvPr/>
                    </p:nvPicPr>
                    <p:blipFill>
                      <a:blip r:embed="rId5"/>
                      <a:stretch>
                        <a:fillRect/>
                      </a:stretch>
                    </p:blipFill>
                    <p:spPr>
                      <a:xfrm>
                        <a:off x="504825" y="1227138"/>
                        <a:ext cx="11661775" cy="3754437"/>
                      </a:xfrm>
                      <a:prstGeom prst="rect">
                        <a:avLst/>
                      </a:prstGeom>
                    </p:spPr>
                  </p:pic>
                </p:oleObj>
              </mc:Fallback>
            </mc:AlternateContent>
          </a:graphicData>
        </a:graphic>
      </p:graphicFrame>
    </p:spTree>
    <p:extLst>
      <p:ext uri="{BB962C8B-B14F-4D97-AF65-F5344CB8AC3E}">
        <p14:creationId xmlns:p14="http://schemas.microsoft.com/office/powerpoint/2010/main" val="266150753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218564629"/>
              </p:ext>
            </p:extLst>
          </p:nvPr>
        </p:nvGraphicFramePr>
        <p:xfrm>
          <a:off x="504825" y="1439887"/>
          <a:ext cx="11661775" cy="3065462"/>
        </p:xfrm>
        <a:graphic>
          <a:graphicData uri="http://schemas.openxmlformats.org/presentationml/2006/ole">
            <mc:AlternateContent xmlns:mc="http://schemas.openxmlformats.org/markup-compatibility/2006">
              <mc:Choice xmlns:v="urn:schemas-microsoft-com:vml" Requires="v">
                <p:oleObj spid="_x0000_s10265" name="文档" r:id="rId4" imgW="3837724" imgH="1013574" progId="Word.Document.12">
                  <p:embed/>
                </p:oleObj>
              </mc:Choice>
              <mc:Fallback>
                <p:oleObj name="文档" r:id="rId4" imgW="3837724" imgH="1013574" progId="Word.Document.12">
                  <p:embed/>
                  <p:pic>
                    <p:nvPicPr>
                      <p:cNvPr id="0" name=""/>
                      <p:cNvPicPr/>
                      <p:nvPr/>
                    </p:nvPicPr>
                    <p:blipFill>
                      <a:blip r:embed="rId5"/>
                      <a:stretch>
                        <a:fillRect/>
                      </a:stretch>
                    </p:blipFill>
                    <p:spPr>
                      <a:xfrm>
                        <a:off x="504825" y="1439887"/>
                        <a:ext cx="11661775" cy="3065462"/>
                      </a:xfrm>
                      <a:prstGeom prst="rect">
                        <a:avLst/>
                      </a:prstGeom>
                    </p:spPr>
                  </p:pic>
                </p:oleObj>
              </mc:Fallback>
            </mc:AlternateContent>
          </a:graphicData>
        </a:graphic>
      </p:graphicFrame>
    </p:spTree>
    <p:extLst>
      <p:ext uri="{BB962C8B-B14F-4D97-AF65-F5344CB8AC3E}">
        <p14:creationId xmlns:p14="http://schemas.microsoft.com/office/powerpoint/2010/main" val="35022994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503783"/>
            <a:ext cx="9230412" cy="1274195"/>
          </a:xfrm>
          <a:prstGeom prst="rect">
            <a:avLst/>
          </a:prstGeom>
        </p:spPr>
        <p:txBody>
          <a:bodyPr wrap="none">
            <a:spAutoFit/>
          </a:bodyPr>
          <a:lstStyle/>
          <a:p>
            <a:pPr>
              <a:lnSpc>
                <a:spcPct val="120000"/>
              </a:lnSpc>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分式不等式的同解变形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设</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25000"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分别是关于</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仿宋" panose="02010609060101010101" pitchFamily="49" charset="-122"/>
                <a:cs typeface="Times New Roman" panose="02020603050405020304" pitchFamily="18" charset="0"/>
              </a:rPr>
              <a:t>的整式</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888832193"/>
              </p:ext>
            </p:extLst>
          </p:nvPr>
        </p:nvGraphicFramePr>
        <p:xfrm>
          <a:off x="577850" y="1692275"/>
          <a:ext cx="9932988" cy="5265738"/>
        </p:xfrm>
        <a:graphic>
          <a:graphicData uri="http://schemas.openxmlformats.org/presentationml/2006/ole">
            <mc:AlternateContent xmlns:mc="http://schemas.openxmlformats.org/markup-compatibility/2006">
              <mc:Choice xmlns:v="urn:schemas-microsoft-com:vml" Requires="v">
                <p:oleObj spid="_x0000_s11289" name="文档" r:id="rId4" imgW="3935975" imgH="2093384" progId="Word.Document.12">
                  <p:embed/>
                </p:oleObj>
              </mc:Choice>
              <mc:Fallback>
                <p:oleObj name="文档" r:id="rId4" imgW="3935975" imgH="2093384" progId="Word.Document.12">
                  <p:embed/>
                  <p:pic>
                    <p:nvPicPr>
                      <p:cNvPr id="0" name=""/>
                      <p:cNvPicPr/>
                      <p:nvPr/>
                    </p:nvPicPr>
                    <p:blipFill>
                      <a:blip r:embed="rId5"/>
                      <a:stretch>
                        <a:fillRect/>
                      </a:stretch>
                    </p:blipFill>
                    <p:spPr>
                      <a:xfrm>
                        <a:off x="577850" y="1692275"/>
                        <a:ext cx="9932988" cy="5265738"/>
                      </a:xfrm>
                      <a:prstGeom prst="rect">
                        <a:avLst/>
                      </a:prstGeom>
                    </p:spPr>
                  </p:pic>
                </p:oleObj>
              </mc:Fallback>
            </mc:AlternateContent>
          </a:graphicData>
        </a:graphic>
      </p:graphicFrame>
    </p:spTree>
    <p:extLst>
      <p:ext uri="{BB962C8B-B14F-4D97-AF65-F5344CB8AC3E}">
        <p14:creationId xmlns:p14="http://schemas.microsoft.com/office/powerpoint/2010/main" val="359792490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815667565"/>
              </p:ext>
            </p:extLst>
          </p:nvPr>
        </p:nvGraphicFramePr>
        <p:xfrm>
          <a:off x="360437" y="790698"/>
          <a:ext cx="11671959" cy="1361364"/>
        </p:xfrm>
        <a:graphic>
          <a:graphicData uri="http://schemas.openxmlformats.org/presentationml/2006/ole">
            <mc:AlternateContent xmlns:mc="http://schemas.openxmlformats.org/markup-compatibility/2006">
              <mc:Choice xmlns:v="urn:schemas-microsoft-com:vml" Requires="v">
                <p:oleObj spid="_x0000_s12334" name="文档" r:id="rId4" imgW="3826872" imgH="446349" progId="Word.Document.12">
                  <p:embed/>
                </p:oleObj>
              </mc:Choice>
              <mc:Fallback>
                <p:oleObj name="文档" r:id="rId4" imgW="3826872" imgH="446349" progId="Word.Document.12">
                  <p:embed/>
                  <p:pic>
                    <p:nvPicPr>
                      <p:cNvPr id="0" name=""/>
                      <p:cNvPicPr/>
                      <p:nvPr/>
                    </p:nvPicPr>
                    <p:blipFill>
                      <a:blip r:embed="rId5"/>
                      <a:stretch>
                        <a:fillRect/>
                      </a:stretch>
                    </p:blipFill>
                    <p:spPr>
                      <a:xfrm>
                        <a:off x="360437" y="790698"/>
                        <a:ext cx="11671959" cy="1361364"/>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824180255"/>
              </p:ext>
            </p:extLst>
          </p:nvPr>
        </p:nvGraphicFramePr>
        <p:xfrm>
          <a:off x="355600" y="2177811"/>
          <a:ext cx="11660188" cy="3808412"/>
        </p:xfrm>
        <a:graphic>
          <a:graphicData uri="http://schemas.openxmlformats.org/presentationml/2006/ole">
            <mc:AlternateContent xmlns:mc="http://schemas.openxmlformats.org/markup-compatibility/2006">
              <mc:Choice xmlns:v="urn:schemas-microsoft-com:vml" Requires="v">
                <p:oleObj spid="_x0000_s12335" name="文档" r:id="rId7" imgW="3826872" imgH="1256749" progId="Word.Document.12">
                  <p:embed/>
                </p:oleObj>
              </mc:Choice>
              <mc:Fallback>
                <p:oleObj name="文档" r:id="rId7" imgW="3826872" imgH="1256749" progId="Word.Document.12">
                  <p:embed/>
                  <p:pic>
                    <p:nvPicPr>
                      <p:cNvPr id="0" name=""/>
                      <p:cNvPicPr/>
                      <p:nvPr/>
                    </p:nvPicPr>
                    <p:blipFill>
                      <a:blip r:embed="rId8"/>
                      <a:stretch>
                        <a:fillRect/>
                      </a:stretch>
                    </p:blipFill>
                    <p:spPr>
                      <a:xfrm>
                        <a:off x="355600" y="2177811"/>
                        <a:ext cx="11660188" cy="3808412"/>
                      </a:xfrm>
                      <a:prstGeom prst="rect">
                        <a:avLst/>
                      </a:prstGeom>
                    </p:spPr>
                  </p:pic>
                </p:oleObj>
              </mc:Fallback>
            </mc:AlternateContent>
          </a:graphicData>
        </a:graphic>
      </p:graphicFrame>
    </p:spTree>
    <p:extLst>
      <p:ext uri="{BB962C8B-B14F-4D97-AF65-F5344CB8AC3E}">
        <p14:creationId xmlns:p14="http://schemas.microsoft.com/office/powerpoint/2010/main" val="318162219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719807"/>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三</a:t>
            </a:r>
            <a:r>
              <a:rPr lang="en-US" altLang="zh-CN" dirty="0" smtClean="0"/>
              <a:t>  </a:t>
            </a:r>
            <a:r>
              <a:rPr lang="zh-CN" altLang="zh-CN" dirty="0" smtClean="0"/>
              <a:t>解</a:t>
            </a:r>
            <a:r>
              <a:rPr lang="zh-CN" altLang="zh-CN" dirty="0"/>
              <a:t>含参数的一元二次不等式</a:t>
            </a:r>
          </a:p>
        </p:txBody>
      </p:sp>
      <p:sp>
        <p:nvSpPr>
          <p:cNvPr id="2" name="矩形 1"/>
          <p:cNvSpPr>
            <a:spLocks noChangeAspect="1"/>
          </p:cNvSpPr>
          <p:nvPr/>
        </p:nvSpPr>
        <p:spPr>
          <a:xfrm>
            <a:off x="361950" y="1175449"/>
            <a:ext cx="10807700" cy="541071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解关于</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的不等式</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ax-</a:t>
            </a:r>
            <a:r>
              <a:rPr lang="en-US" altLang="zh-CN" dirty="0">
                <a:solidFill>
                  <a:srgbClr val="000000"/>
                </a:solidFill>
                <a:ea typeface="宋体" panose="02010600030101010101" pitchFamily="2" charset="-122"/>
                <a:cs typeface="Times New Roman" panose="02020603050405020304" pitchFamily="18" charset="0"/>
              </a:rPr>
              <a:t>8</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不等式</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ax-</a:t>
            </a:r>
            <a:r>
              <a:rPr lang="en-US" altLang="zh-CN" dirty="0">
                <a:solidFill>
                  <a:srgbClr val="000000"/>
                </a:solidFill>
                <a:ea typeface="宋体" panose="02010600030101010101" pitchFamily="2" charset="-122"/>
                <a:cs typeface="Times New Roman" panose="02020603050405020304" pitchFamily="18" charset="0"/>
              </a:rPr>
              <a:t>8</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可化为</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方程</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ax-</a:t>
            </a:r>
            <a:r>
              <a:rPr lang="en-US" altLang="zh-CN" dirty="0">
                <a:solidFill>
                  <a:srgbClr val="000000"/>
                </a:solidFill>
                <a:ea typeface="宋体" panose="02010600030101010101" pitchFamily="2" charset="-122"/>
                <a:cs typeface="Times New Roman" panose="02020603050405020304" pitchFamily="18" charset="0"/>
              </a:rPr>
              <a:t>8</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的两根为</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即</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不等式</a:t>
            </a:r>
            <a:r>
              <a:rPr lang="zh-CN" altLang="zh-CN" dirty="0">
                <a:solidFill>
                  <a:srgbClr val="000000"/>
                </a:solidFill>
                <a:ea typeface="楷体" panose="02010609060101010101" pitchFamily="49" charset="-122"/>
                <a:cs typeface="Times New Roman" panose="02020603050405020304" pitchFamily="18" charset="0"/>
              </a:rPr>
              <a:t>即为</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解集为</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即</a:t>
            </a:r>
            <a:r>
              <a:rPr lang="en-US" altLang="zh-CN" i="1" dirty="0">
                <a:solidFill>
                  <a:srgbClr val="000000"/>
                </a:solidFill>
                <a:ea typeface="宋体" panose="02010600030101010101" pitchFamily="2" charset="-122"/>
                <a:cs typeface="Times New Roman" panose="02020603050405020304" pitchFamily="18" charset="0"/>
              </a:rPr>
              <a:t>a&lt;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smtClean="0">
                <a:solidFill>
                  <a:srgbClr val="000000"/>
                </a:solidFill>
                <a:ea typeface="宋体" panose="02010600030101010101" pitchFamily="2" charset="-122"/>
                <a:cs typeface="Times New Roman" panose="02020603050405020304" pitchFamily="18" charset="0"/>
              </a:rPr>
              <a:t>,</a:t>
            </a:r>
            <a:r>
              <a:rPr lang="zh-CN" altLang="en-US" dirty="0">
                <a:solidFill>
                  <a:srgbClr val="000000"/>
                </a:solidFill>
                <a:ea typeface="楷体" panose="02010609060101010101" pitchFamily="49" charset="-122"/>
                <a:cs typeface="Times New Roman" panose="02020603050405020304" pitchFamily="18" charset="0"/>
              </a:rPr>
              <a:t>得</a:t>
            </a:r>
            <a:r>
              <a:rPr lang="en-US" altLang="zh-CN" dirty="0" smtClean="0">
                <a:solidFill>
                  <a:srgbClr val="000000"/>
                </a:solidFill>
                <a:ea typeface="宋体" panose="02010600030101010101" pitchFamily="2" charset="-122"/>
                <a:cs typeface="Times New Roman" panose="02020603050405020304" pitchFamily="18" charset="0"/>
              </a:rPr>
              <a:t>4</a:t>
            </a:r>
            <a:r>
              <a:rPr lang="en-US" altLang="zh-CN" i="1" dirty="0" smtClean="0">
                <a:solidFill>
                  <a:srgbClr val="000000"/>
                </a:solidFill>
                <a:ea typeface="宋体" panose="02010600030101010101" pitchFamily="2" charset="-122"/>
                <a:cs typeface="Times New Roman" panose="02020603050405020304" pitchFamily="18" charset="0"/>
              </a:rPr>
              <a:t>a&lt;x</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a&lt;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即</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smtClean="0">
                <a:solidFill>
                  <a:srgbClr val="000000"/>
                </a:solidFill>
                <a:ea typeface="宋体" panose="02010600030101010101" pitchFamily="2" charset="-122"/>
                <a:cs typeface="Times New Roman" panose="02020603050405020304" pitchFamily="18" charset="0"/>
              </a:rPr>
              <a:t>,</a:t>
            </a:r>
            <a:r>
              <a:rPr lang="zh-CN" altLang="en-US" dirty="0">
                <a:solidFill>
                  <a:srgbClr val="000000"/>
                </a:solidFill>
                <a:ea typeface="楷体" panose="02010609060101010101" pitchFamily="49" charset="-122"/>
                <a:cs typeface="Times New Roman" panose="02020603050405020304" pitchFamily="18" charset="0"/>
              </a:rPr>
              <a:t>得</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a&lt;x&lt;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综上所述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原不等式的解集为</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a&lt;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原不等式的解集为</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a&lt;x&lt;-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原不等式的解集为</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a&lt;x&lt;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69560770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0" dur="500"/>
                                        <p:tgtEl>
                                          <p:spTgt spid="2">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3" dur="500"/>
                                        <p:tgtEl>
                                          <p:spTgt spid="2">
                                            <p:txEl>
                                              <p:pRg st="3" end="3"/>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6" dur="500"/>
                                        <p:tgtEl>
                                          <p:spTgt spid="2">
                                            <p:txEl>
                                              <p:pRg st="4" end="4"/>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animEffect transition="in" filter="randombar(horizontal)">
                                      <p:cBhvr>
                                        <p:cTn id="19" dur="500"/>
                                        <p:tgtEl>
                                          <p:spTgt spid="2">
                                            <p:txEl>
                                              <p:pRg st="5" end="5"/>
                                            </p:txEl>
                                          </p:spTgt>
                                        </p:tgtEl>
                                      </p:cBhvr>
                                    </p:animEffect>
                                  </p:childTnLst>
                                </p:cTn>
                              </p:par>
                              <p:par>
                                <p:cTn id="20" presetID="14" presetClass="entr" presetSubtype="10" fill="hold" nodeType="withEffect">
                                  <p:stCondLst>
                                    <p:cond delay="0"/>
                                  </p:stCondLst>
                                  <p:childTnLst>
                                    <p:set>
                                      <p:cBhvr>
                                        <p:cTn id="21" dur="1" fill="hold">
                                          <p:stCondLst>
                                            <p:cond delay="0"/>
                                          </p:stCondLst>
                                        </p:cTn>
                                        <p:tgtEl>
                                          <p:spTgt spid="2">
                                            <p:txEl>
                                              <p:pRg st="6" end="6"/>
                                            </p:txEl>
                                          </p:spTgt>
                                        </p:tgtEl>
                                        <p:attrNameLst>
                                          <p:attrName>style.visibility</p:attrName>
                                        </p:attrNameLst>
                                      </p:cBhvr>
                                      <p:to>
                                        <p:strVal val="visible"/>
                                      </p:to>
                                    </p:set>
                                    <p:animEffect transition="in" filter="randombar(horizontal)">
                                      <p:cBhvr>
                                        <p:cTn id="22" dur="500"/>
                                        <p:tgtEl>
                                          <p:spTgt spid="2">
                                            <p:txEl>
                                              <p:pRg st="6" end="6"/>
                                            </p:txEl>
                                          </p:spTgt>
                                        </p:tgtEl>
                                      </p:cBhvr>
                                    </p:animEffect>
                                  </p:childTnLst>
                                </p:cTn>
                              </p:par>
                              <p:par>
                                <p:cTn id="23" presetID="14" presetClass="entr" presetSubtype="10" fill="hold" nodeType="with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animEffect transition="in" filter="randombar(horizontal)">
                                      <p:cBhvr>
                                        <p:cTn id="25"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延伸探究H.eps" descr="id:2147492067;FounderCES"/>
          <p:cNvPicPr/>
          <p:nvPr/>
        </p:nvPicPr>
        <p:blipFill>
          <a:blip r:embed="rId2"/>
          <a:stretch>
            <a:fillRect/>
          </a:stretch>
        </p:blipFill>
        <p:spPr>
          <a:xfrm>
            <a:off x="4062812" y="978861"/>
            <a:ext cx="2740119" cy="499725"/>
          </a:xfrm>
          <a:prstGeom prst="rect">
            <a:avLst/>
          </a:prstGeom>
        </p:spPr>
      </p:pic>
      <p:sp>
        <p:nvSpPr>
          <p:cNvPr id="5" name="矩形 4"/>
          <p:cNvSpPr>
            <a:spLocks noChangeAspect="1"/>
          </p:cNvSpPr>
          <p:nvPr/>
        </p:nvSpPr>
        <p:spPr>
          <a:xfrm>
            <a:off x="361950" y="1550594"/>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将本例不等式改为</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求此不等式的解集</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a:t>
            </a:r>
            <a:r>
              <a:rPr lang="en-US" altLang="zh-CN" dirty="0" smtClean="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原不等式化为</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1)(</a:t>
            </a:r>
            <a:r>
              <a:rPr lang="en-US" altLang="zh-CN" i="1" dirty="0">
                <a:solidFill>
                  <a:srgbClr val="000000"/>
                </a:solidFill>
                <a:ea typeface="宋体" panose="02010600030101010101" pitchFamily="2" charset="-122"/>
              </a:rPr>
              <a:t>x-a</a:t>
            </a:r>
            <a:r>
              <a:rPr lang="en-US" altLang="zh-CN" dirty="0">
                <a:solidFill>
                  <a:srgbClr val="000000"/>
                </a:solidFill>
                <a:ea typeface="宋体" panose="02010600030101010101" pitchFamily="2" charset="-122"/>
              </a:rPr>
              <a:t>)</a:t>
            </a:r>
            <a:r>
              <a:rPr lang="en-US" altLang="zh-CN" dirty="0">
                <a:solidFill>
                  <a:srgbClr val="000000"/>
                </a:solidFill>
                <a:latin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rPr>
              <a:t>0,</a:t>
            </a:r>
            <a:r>
              <a:rPr lang="zh-CN" altLang="zh-CN" dirty="0">
                <a:solidFill>
                  <a:srgbClr val="000000"/>
                </a:solidFill>
                <a:ea typeface="楷体" panose="02010609060101010101" pitchFamily="49" charset="-122"/>
                <a:cs typeface="Times New Roman" panose="02020603050405020304" pitchFamily="18" charset="0"/>
              </a:rPr>
              <a:t>相应方程的两根为</a:t>
            </a:r>
            <a:r>
              <a:rPr lang="en-US" altLang="zh-CN" i="1" dirty="0">
                <a:solidFill>
                  <a:srgbClr val="000000"/>
                </a:solidFill>
                <a:ea typeface="宋体" panose="02010600030101010101" pitchFamily="2" charset="-122"/>
              </a:rPr>
              <a:t>x</a:t>
            </a:r>
            <a:r>
              <a:rPr lang="en-US" altLang="zh-CN" baseline="-25000" dirty="0">
                <a:solidFill>
                  <a:srgbClr val="000000"/>
                </a:solidFill>
                <a:ea typeface="宋体" panose="02010600030101010101" pitchFamily="2" charset="-122"/>
              </a:rPr>
              <a:t>1</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1,</a:t>
            </a:r>
            <a:r>
              <a:rPr lang="en-US" altLang="zh-CN" i="1" dirty="0">
                <a:solidFill>
                  <a:srgbClr val="000000"/>
                </a:solidFill>
                <a:ea typeface="宋体" panose="02010600030101010101" pitchFamily="2" charset="-122"/>
              </a:rPr>
              <a:t>x</a:t>
            </a:r>
            <a:r>
              <a:rPr lang="en-US" altLang="zh-CN" baseline="-25000" dirty="0">
                <a:solidFill>
                  <a:srgbClr val="000000"/>
                </a:solidFill>
                <a:ea typeface="宋体" panose="02010600030101010101" pitchFamily="2" charset="-122"/>
              </a:rPr>
              <a:t>2</a:t>
            </a:r>
            <a:r>
              <a:rPr lang="en-US" altLang="zh-CN" i="1" dirty="0">
                <a:solidFill>
                  <a:srgbClr val="000000"/>
                </a:solidFill>
                <a:ea typeface="宋体" panose="02010600030101010101" pitchFamily="2" charset="-122"/>
              </a:rPr>
              <a:t>=a</a:t>
            </a:r>
            <a:r>
              <a:rPr lang="en-US" altLang="zh-CN" dirty="0" smtClean="0">
                <a:solidFill>
                  <a:srgbClr val="000000"/>
                </a:solidFill>
                <a:ea typeface="宋体" panose="02010600030101010101" pitchFamily="2" charset="-122"/>
              </a:rPr>
              <a:t>,</a:t>
            </a: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楷体" panose="02010609060101010101" pitchFamily="49" charset="-122"/>
                <a:cs typeface="Times New Roman" panose="02020603050405020304" pitchFamily="18" charset="0"/>
              </a:rPr>
              <a:t>故</a:t>
            </a:r>
            <a:r>
              <a:rPr lang="zh-CN" altLang="zh-CN" dirty="0">
                <a:solidFill>
                  <a:srgbClr val="000000"/>
                </a:solidFill>
                <a:ea typeface="楷体" panose="02010609060101010101" pitchFamily="49" charset="-122"/>
                <a:cs typeface="Times New Roman" panose="02020603050405020304" pitchFamily="18" charset="0"/>
              </a:rPr>
              <a:t>应比较</a:t>
            </a:r>
            <a:r>
              <a:rPr lang="en-US" altLang="zh-CN" dirty="0">
                <a:solidFill>
                  <a:srgbClr val="000000"/>
                </a:solidFill>
                <a:ea typeface="宋体" panose="02010600030101010101" pitchFamily="2" charset="-122"/>
              </a:rPr>
              <a:t>1</a:t>
            </a:r>
            <a:r>
              <a:rPr lang="zh-CN" altLang="zh-CN" dirty="0">
                <a:solidFill>
                  <a:srgbClr val="000000"/>
                </a:solidFill>
                <a:ea typeface="楷体" panose="02010609060101010101" pitchFamily="49" charset="-122"/>
                <a:cs typeface="Times New Roman" panose="02020603050405020304" pitchFamily="18" charset="0"/>
              </a:rPr>
              <a:t>与</a:t>
            </a:r>
            <a:r>
              <a:rPr lang="en-US" altLang="zh-CN" i="1" dirty="0">
                <a:solidFill>
                  <a:srgbClr val="000000"/>
                </a:solidFill>
                <a:ea typeface="宋体" panose="02010600030101010101" pitchFamily="2" charset="-122"/>
              </a:rPr>
              <a:t>a</a:t>
            </a:r>
            <a:r>
              <a:rPr lang="zh-CN" altLang="zh-CN" dirty="0">
                <a:solidFill>
                  <a:srgbClr val="000000"/>
                </a:solidFill>
                <a:ea typeface="楷体" panose="02010609060101010101" pitchFamily="49" charset="-122"/>
                <a:cs typeface="Times New Roman" panose="02020603050405020304" pitchFamily="18" charset="0"/>
              </a:rPr>
              <a:t>的大小</a:t>
            </a:r>
            <a:r>
              <a:rPr lang="en-US" altLang="zh-CN" i="1" dirty="0">
                <a:solidFill>
                  <a:srgbClr val="000000"/>
                </a:solidFill>
                <a:ea typeface="宋体" panose="02010600030101010101" pitchFamily="2" charset="-122"/>
              </a:rPr>
              <a:t>.</a:t>
            </a:r>
            <a:r>
              <a:rPr lang="zh-CN" altLang="zh-CN" dirty="0" smtClean="0">
                <a:solidFill>
                  <a:srgbClr val="000000"/>
                </a:solidFill>
                <a:ea typeface="楷体" panose="02010609060101010101" pitchFamily="49" charset="-122"/>
                <a:cs typeface="Times New Roman" panose="02020603050405020304" pitchFamily="18" charset="0"/>
              </a:rPr>
              <a:t>故</a:t>
            </a:r>
            <a:r>
              <a:rPr lang="zh-CN" altLang="zh-CN" dirty="0">
                <a:solidFill>
                  <a:srgbClr val="000000"/>
                </a:solidFill>
                <a:ea typeface="楷体" panose="02010609060101010101" pitchFamily="49" charset="-122"/>
                <a:cs typeface="Times New Roman" panose="02020603050405020304" pitchFamily="18" charset="0"/>
              </a:rPr>
              <a:t>应比较</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与</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楷体" panose="02010609060101010101" pitchFamily="49" charset="-122"/>
                <a:cs typeface="Times New Roman" panose="02020603050405020304" pitchFamily="18" charset="0"/>
              </a:rPr>
              <a:t>的大小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原不等式的解集为</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x|x</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或</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err="1">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原不等式的解集为</a:t>
            </a:r>
            <a:r>
              <a:rPr lang="en-US" altLang="zh-CN" dirty="0">
                <a:solidFill>
                  <a:srgbClr val="000000"/>
                </a:solidFill>
                <a:ea typeface="宋体" panose="02010600030101010101" pitchFamily="2" charset="-122"/>
                <a:cs typeface="Times New Roman" panose="02020603050405020304" pitchFamily="18" charset="0"/>
              </a:rPr>
              <a:t>R</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a&lt;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原不等式的解集为</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x|x</a:t>
            </a:r>
            <a:r>
              <a:rPr lang="en-US" altLang="zh-CN" dirty="0" err="1">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或</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37280543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randombar(horizontal)">
                                      <p:cBhvr>
                                        <p:cTn id="7" dur="500"/>
                                        <p:tgtEl>
                                          <p:spTgt spid="5">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0" dur="500"/>
                                        <p:tgtEl>
                                          <p:spTgt spid="5">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Effect transition="in" filter="randombar(horizontal)">
                                      <p:cBhvr>
                                        <p:cTn id="13" dur="500"/>
                                        <p:tgtEl>
                                          <p:spTgt spid="5">
                                            <p:txEl>
                                              <p:pRg st="3" end="3"/>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5">
                                            <p:txEl>
                                              <p:pRg st="4" end="4"/>
                                            </p:txEl>
                                          </p:spTgt>
                                        </p:tgtEl>
                                        <p:attrNameLst>
                                          <p:attrName>style.visibility</p:attrName>
                                        </p:attrNameLst>
                                      </p:cBhvr>
                                      <p:to>
                                        <p:strVal val="visible"/>
                                      </p:to>
                                    </p:set>
                                    <p:animEffect transition="in" filter="randombar(horizontal)">
                                      <p:cBhvr>
                                        <p:cTn id="16" dur="500"/>
                                        <p:tgtEl>
                                          <p:spTgt spid="5">
                                            <p:txEl>
                                              <p:pRg st="4" end="4"/>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animEffect transition="in" filter="randombar(horizontal)">
                                      <p:cBhvr>
                                        <p:cTn id="19"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742504"/>
            <a:ext cx="10807700" cy="5482591"/>
          </a:xfrm>
          <a:prstGeom prst="rect">
            <a:avLst/>
          </a:prstGeom>
          <a:ln>
            <a:solidFill>
              <a:schemeClr val="tx1"/>
            </a:solidFill>
          </a:ln>
        </p:spPr>
        <p:txBody>
          <a:bodyPr>
            <a:spAutoFit/>
          </a:bodyPr>
          <a:lstStyle/>
          <a:p>
            <a:pPr>
              <a:lnSpc>
                <a:spcPct val="11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1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本例中不等式对应的方程有实根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只是两根的大小由参数的取值范围决定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故按根的大小讨论参数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1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解含参数的一元二次不等式时的讨论原则</a:t>
            </a:r>
            <a:r>
              <a:rPr lang="en-US" altLang="zh-CN" dirty="0" smtClean="0">
                <a:solidFill>
                  <a:srgbClr val="000000"/>
                </a:solidFill>
                <a:ea typeface="宋体" panose="02010600030101010101" pitchFamily="2" charset="-122"/>
                <a:cs typeface="Times New Roman" panose="02020603050405020304" pitchFamily="18" charset="0"/>
              </a:rPr>
              <a:t>:</a:t>
            </a:r>
            <a:endParaRPr lang="en-US"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10000"/>
              </a:lnSpc>
            </a:pPr>
            <a:r>
              <a:rPr lang="en-US" altLang="zh-CN" dirty="0">
                <a:solidFill>
                  <a:srgbClr val="000000"/>
                </a:solidFill>
                <a:ea typeface="宋体" panose="02010600030101010101" pitchFamily="2" charset="-122"/>
              </a:rPr>
              <a:t>(1)</a:t>
            </a:r>
            <a:r>
              <a:rPr lang="zh-CN" altLang="zh-CN" dirty="0">
                <a:solidFill>
                  <a:srgbClr val="000000"/>
                </a:solidFill>
                <a:ea typeface="仿宋" panose="02010609060101010101" pitchFamily="49" charset="-122"/>
                <a:cs typeface="Times New Roman" panose="02020603050405020304" pitchFamily="18" charset="0"/>
              </a:rPr>
              <a:t>若二次项系数含有参数</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则需先对二次项系数分等于</a:t>
            </a:r>
            <a:r>
              <a:rPr lang="en-US" altLang="zh-CN" dirty="0">
                <a:solidFill>
                  <a:srgbClr val="000000"/>
                </a:solidFill>
                <a:ea typeface="宋体" panose="02010600030101010101" pitchFamily="2" charset="-122"/>
              </a:rPr>
              <a:t>0</a:t>
            </a:r>
            <a:r>
              <a:rPr lang="zh-CN" altLang="zh-CN" dirty="0">
                <a:solidFill>
                  <a:srgbClr val="000000"/>
                </a:solidFill>
                <a:ea typeface="仿宋" panose="02010609060101010101" pitchFamily="49" charset="-122"/>
                <a:cs typeface="Times New Roman" panose="02020603050405020304" pitchFamily="18" charset="0"/>
              </a:rPr>
              <a:t>与不等于</a:t>
            </a:r>
            <a:r>
              <a:rPr lang="en-US" altLang="zh-CN" dirty="0">
                <a:solidFill>
                  <a:srgbClr val="000000"/>
                </a:solidFill>
                <a:ea typeface="宋体" panose="02010600030101010101" pitchFamily="2" charset="-122"/>
              </a:rPr>
              <a:t>0</a:t>
            </a:r>
            <a:r>
              <a:rPr lang="zh-CN" altLang="zh-CN" dirty="0">
                <a:solidFill>
                  <a:srgbClr val="000000"/>
                </a:solidFill>
                <a:ea typeface="仿宋" panose="02010609060101010101" pitchFamily="49" charset="-122"/>
                <a:cs typeface="Times New Roman" panose="02020603050405020304" pitchFamily="18" charset="0"/>
              </a:rPr>
              <a:t>两种情况进行讨论</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当二次项系数不为</a:t>
            </a:r>
            <a:r>
              <a:rPr lang="en-US" altLang="zh-CN" dirty="0">
                <a:solidFill>
                  <a:srgbClr val="000000"/>
                </a:solidFill>
                <a:ea typeface="宋体" panose="02010600030101010101" pitchFamily="2" charset="-122"/>
              </a:rPr>
              <a:t>0</a:t>
            </a:r>
            <a:r>
              <a:rPr lang="zh-CN" altLang="zh-CN" dirty="0">
                <a:solidFill>
                  <a:srgbClr val="000000"/>
                </a:solidFill>
                <a:ea typeface="仿宋"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再按大于</a:t>
            </a:r>
            <a:r>
              <a:rPr lang="en-US" altLang="zh-CN" dirty="0">
                <a:solidFill>
                  <a:srgbClr val="000000"/>
                </a:solidFill>
                <a:ea typeface="宋体" panose="02010600030101010101" pitchFamily="2" charset="-122"/>
              </a:rPr>
              <a:t>0</a:t>
            </a:r>
            <a:r>
              <a:rPr lang="zh-CN" altLang="zh-CN" dirty="0">
                <a:solidFill>
                  <a:srgbClr val="000000"/>
                </a:solidFill>
                <a:ea typeface="仿宋" panose="02010609060101010101" pitchFamily="49" charset="-122"/>
                <a:cs typeface="Times New Roman" panose="02020603050405020304" pitchFamily="18" charset="0"/>
              </a:rPr>
              <a:t>或小于</a:t>
            </a:r>
            <a:r>
              <a:rPr lang="en-US" altLang="zh-CN" dirty="0">
                <a:solidFill>
                  <a:srgbClr val="000000"/>
                </a:solidFill>
                <a:ea typeface="宋体" panose="02010600030101010101" pitchFamily="2" charset="-122"/>
              </a:rPr>
              <a:t>0</a:t>
            </a:r>
            <a:r>
              <a:rPr lang="zh-CN" altLang="zh-CN" dirty="0">
                <a:solidFill>
                  <a:srgbClr val="000000"/>
                </a:solidFill>
                <a:ea typeface="仿宋" panose="02010609060101010101" pitchFamily="49" charset="-122"/>
                <a:cs typeface="Times New Roman" panose="02020603050405020304" pitchFamily="18" charset="0"/>
              </a:rPr>
              <a:t>讨论</a:t>
            </a:r>
            <a:r>
              <a:rPr lang="en-US" altLang="zh-CN" i="1" dirty="0">
                <a:solidFill>
                  <a:srgbClr val="000000"/>
                </a:solidFill>
                <a:ea typeface="宋体" panose="02010600030101010101" pitchFamily="2" charset="-122"/>
              </a:rPr>
              <a:t>.</a:t>
            </a:r>
            <a:endParaRPr lang="zh-CN" altLang="en-US" dirty="0"/>
          </a:p>
          <a:p>
            <a:pPr>
              <a:lnSpc>
                <a:spcPct val="11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若不等式对应的一元二次方程根的情况不确定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则需对其判别式</a:t>
            </a:r>
            <a:r>
              <a:rPr lang="en-US" altLang="zh-CN" i="1" dirty="0">
                <a:solidFill>
                  <a:srgbClr val="000000"/>
                </a:solidFill>
                <a:ea typeface="宋体" panose="02010600030101010101" pitchFamily="2" charset="-122"/>
                <a:cs typeface="Times New Roman" panose="02020603050405020304" pitchFamily="18" charset="0"/>
              </a:rPr>
              <a:t>Δ</a:t>
            </a:r>
            <a:r>
              <a:rPr lang="zh-CN" altLang="zh-CN" dirty="0">
                <a:solidFill>
                  <a:srgbClr val="000000"/>
                </a:solidFill>
                <a:ea typeface="仿宋" panose="02010609060101010101" pitchFamily="49" charset="-122"/>
                <a:cs typeface="Times New Roman" panose="02020603050405020304" pitchFamily="18" charset="0"/>
              </a:rPr>
              <a:t>进行讨论</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1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仿宋" panose="02010609060101010101" pitchFamily="49" charset="-122"/>
                <a:cs typeface="Times New Roman" panose="02020603050405020304" pitchFamily="18" charset="0"/>
              </a:rPr>
              <a:t>若求出的根中含有参数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则应对两根的大小进行讨论</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96143725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25768"/>
            <a:ext cx="10807700" cy="62671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解关于</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的不等式</a:t>
            </a:r>
            <a:r>
              <a:rPr lang="en-US" altLang="zh-CN" i="1" dirty="0">
                <a:solidFill>
                  <a:srgbClr val="000000"/>
                </a:solidFill>
                <a:ea typeface="宋体" panose="02010600030101010101" pitchFamily="2" charset="-122"/>
                <a:cs typeface="Times New Roman" panose="02020603050405020304" pitchFamily="18" charset="0"/>
              </a:rPr>
              <a:t>ax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-x&gt;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012762843"/>
              </p:ext>
            </p:extLst>
          </p:nvPr>
        </p:nvGraphicFramePr>
        <p:xfrm>
          <a:off x="581025" y="1441450"/>
          <a:ext cx="11661775" cy="4637088"/>
        </p:xfrm>
        <a:graphic>
          <a:graphicData uri="http://schemas.openxmlformats.org/presentationml/2006/ole">
            <mc:AlternateContent xmlns:mc="http://schemas.openxmlformats.org/markup-compatibility/2006">
              <mc:Choice xmlns:v="urn:schemas-microsoft-com:vml" Requires="v">
                <p:oleObj spid="_x0000_s13335" name="文档" r:id="rId4" imgW="3837724" imgH="1531358" progId="Word.Document.12">
                  <p:embed/>
                </p:oleObj>
              </mc:Choice>
              <mc:Fallback>
                <p:oleObj name="文档" r:id="rId4" imgW="3837724" imgH="1531358" progId="Word.Document.12">
                  <p:embed/>
                  <p:pic>
                    <p:nvPicPr>
                      <p:cNvPr id="0" name=""/>
                      <p:cNvPicPr/>
                      <p:nvPr/>
                    </p:nvPicPr>
                    <p:blipFill>
                      <a:blip r:embed="rId5"/>
                      <a:stretch>
                        <a:fillRect/>
                      </a:stretch>
                    </p:blipFill>
                    <p:spPr>
                      <a:xfrm>
                        <a:off x="581025" y="1441450"/>
                        <a:ext cx="11661775" cy="4637088"/>
                      </a:xfrm>
                      <a:prstGeom prst="rect">
                        <a:avLst/>
                      </a:prstGeom>
                    </p:spPr>
                  </p:pic>
                </p:oleObj>
              </mc:Fallback>
            </mc:AlternateContent>
          </a:graphicData>
        </a:graphic>
      </p:graphicFrame>
    </p:spTree>
    <p:extLst>
      <p:ext uri="{BB962C8B-B14F-4D97-AF65-F5344CB8AC3E}">
        <p14:creationId xmlns:p14="http://schemas.microsoft.com/office/powerpoint/2010/main" val="11461083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易</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错</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辨</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析</a:t>
            </a:r>
          </a:p>
        </p:txBody>
      </p:sp>
    </p:spTree>
    <p:extLst>
      <p:ext uri="{BB962C8B-B14F-4D97-AF65-F5344CB8AC3E}">
        <p14:creationId xmlns:p14="http://schemas.microsoft.com/office/powerpoint/2010/main" val="416199044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61950" y="726302"/>
            <a:ext cx="11919569" cy="5518457"/>
            <a:chOff x="361950" y="726302"/>
            <a:chExt cx="11919569" cy="5518457"/>
          </a:xfrm>
        </p:grpSpPr>
        <p:grpSp>
          <p:nvGrpSpPr>
            <p:cNvPr id="5" name="组合 4"/>
            <p:cNvGrpSpPr/>
            <p:nvPr/>
          </p:nvGrpSpPr>
          <p:grpSpPr>
            <a:xfrm>
              <a:off x="361950" y="726302"/>
              <a:ext cx="10807700" cy="5518457"/>
              <a:chOff x="361950" y="726302"/>
              <a:chExt cx="10807700" cy="5518457"/>
            </a:xfrm>
          </p:grpSpPr>
          <p:sp>
            <p:nvSpPr>
              <p:cNvPr id="2" name="矩形 1"/>
              <p:cNvSpPr>
                <a:spLocks noChangeAspect="1"/>
              </p:cNvSpPr>
              <p:nvPr/>
            </p:nvSpPr>
            <p:spPr>
              <a:xfrm>
                <a:off x="361950" y="726302"/>
                <a:ext cx="10807700" cy="1217641"/>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忽视对参数的分类讨论致错</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【典例】</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解关于</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的不等式</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ax+</a:t>
                </a:r>
                <a:r>
                  <a:rPr lang="en-US" altLang="zh-CN" dirty="0">
                    <a:solidFill>
                      <a:srgbClr val="000000"/>
                    </a:solidFill>
                    <a:ea typeface="宋体" panose="02010600030101010101" pitchFamily="2" charset="-122"/>
                    <a:cs typeface="Times New Roman" panose="02020603050405020304" pitchFamily="18" charset="0"/>
                  </a:rPr>
                  <a:t>3</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R)</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4" name="矩形 3"/>
              <p:cNvSpPr>
                <a:spLocks noChangeAspect="1"/>
              </p:cNvSpPr>
              <p:nvPr/>
            </p:nvSpPr>
            <p:spPr>
              <a:xfrm>
                <a:off x="361950" y="5027118"/>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以上解答过程中都有哪些错误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出错的原因是什么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你如何改正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你如何防范</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graphicFrame>
          <p:nvGraphicFramePr>
            <p:cNvPr id="6" name="对象 5"/>
            <p:cNvGraphicFramePr>
              <a:graphicFrameLocks noChangeAspect="1"/>
            </p:cNvGraphicFramePr>
            <p:nvPr>
              <p:extLst>
                <p:ext uri="{D42A27DB-BD31-4B8C-83A1-F6EECF244321}">
                  <p14:modId xmlns:p14="http://schemas.microsoft.com/office/powerpoint/2010/main" val="778277389"/>
                </p:ext>
              </p:extLst>
            </p:nvPr>
          </p:nvGraphicFramePr>
          <p:xfrm>
            <a:off x="576461" y="1921379"/>
            <a:ext cx="11705058" cy="2984724"/>
          </p:xfrm>
          <a:graphic>
            <a:graphicData uri="http://schemas.openxmlformats.org/presentationml/2006/ole">
              <mc:AlternateContent xmlns:mc="http://schemas.openxmlformats.org/markup-compatibility/2006">
                <mc:Choice xmlns:v="urn:schemas-microsoft-com:vml" Requires="v">
                  <p:oleObj spid="_x0000_s14358" name="文档" r:id="rId4" imgW="3837724" imgH="978598" progId="Word.Document.12">
                    <p:embed/>
                  </p:oleObj>
                </mc:Choice>
                <mc:Fallback>
                  <p:oleObj name="文档" r:id="rId4" imgW="3837724" imgH="978598" progId="Word.Document.12">
                    <p:embed/>
                    <p:pic>
                      <p:nvPicPr>
                        <p:cNvPr id="0" name=""/>
                        <p:cNvPicPr/>
                        <p:nvPr/>
                      </p:nvPicPr>
                      <p:blipFill>
                        <a:blip r:embed="rId5"/>
                        <a:stretch>
                          <a:fillRect/>
                        </a:stretch>
                      </p:blipFill>
                      <p:spPr>
                        <a:xfrm>
                          <a:off x="576461" y="1921379"/>
                          <a:ext cx="11705058" cy="2984724"/>
                        </a:xfrm>
                        <a:prstGeom prst="rect">
                          <a:avLst/>
                        </a:prstGeom>
                      </p:spPr>
                    </p:pic>
                  </p:oleObj>
                </mc:Fallback>
              </mc:AlternateContent>
            </a:graphicData>
          </a:graphic>
        </p:graphicFrame>
      </p:grpSp>
    </p:spTree>
    <p:extLst>
      <p:ext uri="{BB962C8B-B14F-4D97-AF65-F5344CB8AC3E}">
        <p14:creationId xmlns:p14="http://schemas.microsoft.com/office/powerpoint/2010/main" val="2343944478"/>
      </p:ext>
    </p:extLst>
  </p:cSld>
  <p:clrMapOvr>
    <a:masterClrMapping/>
  </p:clrMapOvr>
  <p:transition spd="slow">
    <p:randomBar dir="vert"/>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spect="1"/>
          </p:cNvSpPr>
          <p:nvPr/>
        </p:nvSpPr>
        <p:spPr>
          <a:xfrm>
            <a:off x="361950" y="2447999"/>
            <a:ext cx="10807700" cy="1217641"/>
          </a:xfrm>
          <a:prstGeom prst="rect">
            <a:avLst/>
          </a:prstGeom>
        </p:spPr>
        <p:txBody>
          <a:bodyPr>
            <a:spAutoFit/>
          </a:bodyPr>
          <a:lstStyle/>
          <a:p>
            <a:pPr>
              <a:lnSpc>
                <a:spcPct val="120000"/>
              </a:lnSpc>
            </a:pPr>
            <a:r>
              <a:rPr lang="zh-CN" altLang="zh-CN" dirty="0">
                <a:latin typeface="Arial" panose="020B0604020202020204" pitchFamily="34" charset="0"/>
                <a:cs typeface="Times New Roman" panose="02020603050405020304" pitchFamily="18" charset="0"/>
              </a:rPr>
              <a:t>提示</a:t>
            </a:r>
            <a:r>
              <a:rPr lang="en-US" altLang="zh-CN" dirty="0" smtClean="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错解中没有考虑到一元二次方程没有实数根和有两个相等实数根的情况</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导致错误</a:t>
            </a:r>
            <a:endParaRPr lang="zh-CN" altLang="en-US" dirty="0"/>
          </a:p>
        </p:txBody>
      </p:sp>
    </p:spTree>
    <p:extLst>
      <p:ext uri="{BB962C8B-B14F-4D97-AF65-F5344CB8AC3E}">
        <p14:creationId xmlns:p14="http://schemas.microsoft.com/office/powerpoint/2010/main" val="3744607608"/>
      </p:ext>
    </p:extLst>
  </p:cSld>
  <p:clrMapOvr>
    <a:masterClrMapping/>
  </p:clrMapOvr>
  <p:transition spd="slow">
    <p:randomBar dir="vert"/>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262744327"/>
              </p:ext>
            </p:extLst>
          </p:nvPr>
        </p:nvGraphicFramePr>
        <p:xfrm>
          <a:off x="360437" y="809649"/>
          <a:ext cx="11618913" cy="5238750"/>
        </p:xfrm>
        <a:graphic>
          <a:graphicData uri="http://schemas.openxmlformats.org/presentationml/2006/ole">
            <mc:AlternateContent xmlns:mc="http://schemas.openxmlformats.org/markup-compatibility/2006">
              <mc:Choice xmlns:v="urn:schemas-microsoft-com:vml" Requires="v">
                <p:oleObj spid="_x0000_s15382" name="文档" r:id="rId4" imgW="3837724" imgH="1733280" progId="Word.Document.12">
                  <p:embed/>
                </p:oleObj>
              </mc:Choice>
              <mc:Fallback>
                <p:oleObj name="文档" r:id="rId4" imgW="3837724" imgH="1733280" progId="Word.Document.12">
                  <p:embed/>
                  <p:pic>
                    <p:nvPicPr>
                      <p:cNvPr id="0" name=""/>
                      <p:cNvPicPr/>
                      <p:nvPr/>
                    </p:nvPicPr>
                    <p:blipFill>
                      <a:blip r:embed="rId5"/>
                      <a:stretch>
                        <a:fillRect/>
                      </a:stretch>
                    </p:blipFill>
                    <p:spPr>
                      <a:xfrm>
                        <a:off x="360437" y="809649"/>
                        <a:ext cx="11618913" cy="5238750"/>
                      </a:xfrm>
                      <a:prstGeom prst="rect">
                        <a:avLst/>
                      </a:prstGeom>
                    </p:spPr>
                  </p:pic>
                </p:oleObj>
              </mc:Fallback>
            </mc:AlternateContent>
          </a:graphicData>
        </a:graphic>
      </p:graphicFrame>
    </p:spTree>
    <p:extLst>
      <p:ext uri="{BB962C8B-B14F-4D97-AF65-F5344CB8AC3E}">
        <p14:creationId xmlns:p14="http://schemas.microsoft.com/office/powerpoint/2010/main" val="711648942"/>
      </p:ext>
    </p:extLst>
  </p:cSld>
  <p:clrMapOvr>
    <a:masterClrMapping/>
  </p:clrMapOvr>
  <p:transition spd="slow">
    <p:randomBar dir="vert"/>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560015681"/>
              </p:ext>
            </p:extLst>
          </p:nvPr>
        </p:nvGraphicFramePr>
        <p:xfrm>
          <a:off x="288429" y="2159967"/>
          <a:ext cx="11671959" cy="1982857"/>
        </p:xfrm>
        <a:graphic>
          <a:graphicData uri="http://schemas.openxmlformats.org/presentationml/2006/ole">
            <mc:AlternateContent xmlns:mc="http://schemas.openxmlformats.org/markup-compatibility/2006">
              <mc:Choice xmlns:v="urn:schemas-microsoft-com:vml" Requires="v">
                <p:oleObj spid="_x0000_s16406" name="文档" r:id="rId4" imgW="3826872" imgH="650117" progId="Word.Document.12">
                  <p:embed/>
                </p:oleObj>
              </mc:Choice>
              <mc:Fallback>
                <p:oleObj name="文档" r:id="rId4" imgW="3826872" imgH="650117" progId="Word.Document.12">
                  <p:embed/>
                  <p:pic>
                    <p:nvPicPr>
                      <p:cNvPr id="0" name=""/>
                      <p:cNvPicPr/>
                      <p:nvPr/>
                    </p:nvPicPr>
                    <p:blipFill>
                      <a:blip r:embed="rId5"/>
                      <a:stretch>
                        <a:fillRect/>
                      </a:stretch>
                    </p:blipFill>
                    <p:spPr>
                      <a:xfrm>
                        <a:off x="288429" y="2159967"/>
                        <a:ext cx="11671959" cy="1982857"/>
                      </a:xfrm>
                      <a:prstGeom prst="rect">
                        <a:avLst/>
                      </a:prstGeom>
                    </p:spPr>
                  </p:pic>
                </p:oleObj>
              </mc:Fallback>
            </mc:AlternateContent>
          </a:graphicData>
        </a:graphic>
      </p:graphicFrame>
    </p:spTree>
    <p:extLst>
      <p:ext uri="{BB962C8B-B14F-4D97-AF65-F5344CB8AC3E}">
        <p14:creationId xmlns:p14="http://schemas.microsoft.com/office/powerpoint/2010/main" val="718747622"/>
      </p:ext>
    </p:extLst>
  </p:cSld>
  <p:clrMapOvr>
    <a:masterClrMapping/>
  </p:clrMapOvr>
  <p:transition spd="slow">
    <p:randomBar dir="vert"/>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436899"/>
            <a:ext cx="10807700" cy="3046988"/>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防范措施</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求解含参数的一元二次不等式时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如果相应方程的根的情况不确定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那么应对方程根的情况进行讨论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以确定不等式的解集</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2</a:t>
            </a:r>
            <a:r>
              <a:rPr lang="en-US" altLang="zh-CN" i="1"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提升逻辑推理和数学运算素养</a:t>
            </a:r>
            <a:r>
              <a:rPr lang="en-US" altLang="zh-CN" i="1" dirty="0">
                <a:solidFill>
                  <a:srgbClr val="000000"/>
                </a:solidFill>
                <a:ea typeface="宋体" panose="02010600030101010101" pitchFamily="2" charset="-122"/>
              </a:rPr>
              <a:t>.</a:t>
            </a:r>
            <a:endParaRPr lang="zh-CN" altLang="en-US" dirty="0"/>
          </a:p>
        </p:txBody>
      </p:sp>
    </p:spTree>
    <p:extLst>
      <p:ext uri="{BB962C8B-B14F-4D97-AF65-F5344CB8AC3E}">
        <p14:creationId xmlns:p14="http://schemas.microsoft.com/office/powerpoint/2010/main" val="805705213"/>
      </p:ext>
    </p:extLst>
  </p:cSld>
  <p:clrMapOvr>
    <a:masterClrMapping/>
  </p:clrMapOvr>
  <p:transition spd="slow">
    <p:randomBar dir="vert"/>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19807"/>
            <a:ext cx="10807700" cy="62671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解关于</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的不等式</a:t>
            </a:r>
            <a:r>
              <a:rPr lang="en-US" altLang="zh-CN" i="1" dirty="0">
                <a:solidFill>
                  <a:srgbClr val="000000"/>
                </a:solidFill>
                <a:ea typeface="宋体" panose="02010600030101010101" pitchFamily="2" charset="-122"/>
                <a:cs typeface="Times New Roman" panose="02020603050405020304" pitchFamily="18" charset="0"/>
              </a:rPr>
              <a:t>ax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022195629"/>
              </p:ext>
            </p:extLst>
          </p:nvPr>
        </p:nvGraphicFramePr>
        <p:xfrm>
          <a:off x="635000" y="1383878"/>
          <a:ext cx="11617325" cy="4808537"/>
        </p:xfrm>
        <a:graphic>
          <a:graphicData uri="http://schemas.openxmlformats.org/presentationml/2006/ole">
            <mc:AlternateContent xmlns:mc="http://schemas.openxmlformats.org/markup-compatibility/2006">
              <mc:Choice xmlns:v="urn:schemas-microsoft-com:vml" Requires="v">
                <p:oleObj spid="_x0000_s17430" name="文档" r:id="rId4" imgW="3826872" imgH="1589175" progId="Word.Document.12">
                  <p:embed/>
                </p:oleObj>
              </mc:Choice>
              <mc:Fallback>
                <p:oleObj name="文档" r:id="rId4" imgW="3826872" imgH="1589175" progId="Word.Document.12">
                  <p:embed/>
                  <p:pic>
                    <p:nvPicPr>
                      <p:cNvPr id="0" name=""/>
                      <p:cNvPicPr/>
                      <p:nvPr/>
                    </p:nvPicPr>
                    <p:blipFill>
                      <a:blip r:embed="rId5"/>
                      <a:stretch>
                        <a:fillRect/>
                      </a:stretch>
                    </p:blipFill>
                    <p:spPr>
                      <a:xfrm>
                        <a:off x="635000" y="1383878"/>
                        <a:ext cx="11617325" cy="4808537"/>
                      </a:xfrm>
                      <a:prstGeom prst="rect">
                        <a:avLst/>
                      </a:prstGeom>
                    </p:spPr>
                  </p:pic>
                </p:oleObj>
              </mc:Fallback>
            </mc:AlternateContent>
          </a:graphicData>
        </a:graphic>
      </p:graphicFrame>
    </p:spTree>
    <p:extLst>
      <p:ext uri="{BB962C8B-B14F-4D97-AF65-F5344CB8AC3E}">
        <p14:creationId xmlns:p14="http://schemas.microsoft.com/office/powerpoint/2010/main" val="151510659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943751634"/>
              </p:ext>
            </p:extLst>
          </p:nvPr>
        </p:nvGraphicFramePr>
        <p:xfrm>
          <a:off x="432445" y="1439887"/>
          <a:ext cx="11671959" cy="3316820"/>
        </p:xfrm>
        <a:graphic>
          <a:graphicData uri="http://schemas.openxmlformats.org/presentationml/2006/ole">
            <mc:AlternateContent xmlns:mc="http://schemas.openxmlformats.org/markup-compatibility/2006">
              <mc:Choice xmlns:v="urn:schemas-microsoft-com:vml" Requires="v">
                <p:oleObj spid="_x0000_s18454" name="文档" r:id="rId4" imgW="3826872" imgH="1087482" progId="Word.Document.12">
                  <p:embed/>
                </p:oleObj>
              </mc:Choice>
              <mc:Fallback>
                <p:oleObj name="文档" r:id="rId4" imgW="3826872" imgH="1087482" progId="Word.Document.12">
                  <p:embed/>
                  <p:pic>
                    <p:nvPicPr>
                      <p:cNvPr id="0" name=""/>
                      <p:cNvPicPr/>
                      <p:nvPr/>
                    </p:nvPicPr>
                    <p:blipFill>
                      <a:blip r:embed="rId5"/>
                      <a:stretch>
                        <a:fillRect/>
                      </a:stretch>
                    </p:blipFill>
                    <p:spPr>
                      <a:xfrm>
                        <a:off x="432445" y="1439887"/>
                        <a:ext cx="11671959" cy="3316820"/>
                      </a:xfrm>
                      <a:prstGeom prst="rect">
                        <a:avLst/>
                      </a:prstGeom>
                    </p:spPr>
                  </p:pic>
                </p:oleObj>
              </mc:Fallback>
            </mc:AlternateContent>
          </a:graphicData>
        </a:graphic>
      </p:graphicFrame>
    </p:spTree>
    <p:extLst>
      <p:ext uri="{BB962C8B-B14F-4D97-AF65-F5344CB8AC3E}">
        <p14:creationId xmlns:p14="http://schemas.microsoft.com/office/powerpoint/2010/main" val="1921739199"/>
      </p:ext>
    </p:extLst>
  </p:cSld>
  <p:clrMapOvr>
    <a:masterClrMapping/>
  </p:clrMapOvr>
  <p:transition spd="slow">
    <p:randomBar dir="vert"/>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367879"/>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随</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堂</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练</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习</a:t>
            </a:r>
          </a:p>
        </p:txBody>
      </p:sp>
    </p:spTree>
    <p:extLst>
      <p:ext uri="{BB962C8B-B14F-4D97-AF65-F5344CB8AC3E}">
        <p14:creationId xmlns:p14="http://schemas.microsoft.com/office/powerpoint/2010/main" val="40755146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103926254"/>
              </p:ext>
            </p:extLst>
          </p:nvPr>
        </p:nvGraphicFramePr>
        <p:xfrm>
          <a:off x="660400" y="1079847"/>
          <a:ext cx="11671959" cy="1977376"/>
        </p:xfrm>
        <a:graphic>
          <a:graphicData uri="http://schemas.openxmlformats.org/presentationml/2006/ole">
            <mc:AlternateContent xmlns:mc="http://schemas.openxmlformats.org/markup-compatibility/2006">
              <mc:Choice xmlns:v="urn:schemas-microsoft-com:vml" Requires="v">
                <p:oleObj spid="_x0000_s19496" name="文档" r:id="rId4" imgW="3826872" imgH="648320" progId="Word.Document.12">
                  <p:embed/>
                </p:oleObj>
              </mc:Choice>
              <mc:Fallback>
                <p:oleObj name="文档" r:id="rId4" imgW="3826872" imgH="648320" progId="Word.Document.12">
                  <p:embed/>
                  <p:pic>
                    <p:nvPicPr>
                      <p:cNvPr id="0" name=""/>
                      <p:cNvPicPr/>
                      <p:nvPr/>
                    </p:nvPicPr>
                    <p:blipFill>
                      <a:blip r:embed="rId5"/>
                      <a:stretch>
                        <a:fillRect/>
                      </a:stretch>
                    </p:blipFill>
                    <p:spPr>
                      <a:xfrm>
                        <a:off x="660400" y="1079847"/>
                        <a:ext cx="11671959" cy="1977376"/>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573360282"/>
              </p:ext>
            </p:extLst>
          </p:nvPr>
        </p:nvGraphicFramePr>
        <p:xfrm>
          <a:off x="655638" y="3162300"/>
          <a:ext cx="11661775" cy="1216025"/>
        </p:xfrm>
        <a:graphic>
          <a:graphicData uri="http://schemas.openxmlformats.org/presentationml/2006/ole">
            <mc:AlternateContent xmlns:mc="http://schemas.openxmlformats.org/markup-compatibility/2006">
              <mc:Choice xmlns:v="urn:schemas-microsoft-com:vml" Requires="v">
                <p:oleObj spid="_x0000_s19497" name="文档" r:id="rId7" imgW="3837724" imgH="403122" progId="Word.Document.12">
                  <p:embed/>
                </p:oleObj>
              </mc:Choice>
              <mc:Fallback>
                <p:oleObj name="文档" r:id="rId7" imgW="3837724" imgH="403122" progId="Word.Document.12">
                  <p:embed/>
                  <p:pic>
                    <p:nvPicPr>
                      <p:cNvPr id="0" name=""/>
                      <p:cNvPicPr/>
                      <p:nvPr/>
                    </p:nvPicPr>
                    <p:blipFill>
                      <a:blip r:embed="rId8"/>
                      <a:stretch>
                        <a:fillRect/>
                      </a:stretch>
                    </p:blipFill>
                    <p:spPr>
                      <a:xfrm>
                        <a:off x="655638" y="3162300"/>
                        <a:ext cx="11661775" cy="1216025"/>
                      </a:xfrm>
                      <a:prstGeom prst="rect">
                        <a:avLst/>
                      </a:prstGeom>
                    </p:spPr>
                  </p:pic>
                </p:oleObj>
              </mc:Fallback>
            </mc:AlternateContent>
          </a:graphicData>
        </a:graphic>
      </p:graphicFrame>
      <p:sp>
        <p:nvSpPr>
          <p:cNvPr id="4" name="矩形 3"/>
          <p:cNvSpPr>
            <a:spLocks noChangeAspect="1"/>
          </p:cNvSpPr>
          <p:nvPr/>
        </p:nvSpPr>
        <p:spPr>
          <a:xfrm>
            <a:off x="596125" y="4419199"/>
            <a:ext cx="1521570"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B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62406242"/>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spect="1"/>
          </p:cNvSpPr>
          <p:nvPr/>
        </p:nvSpPr>
        <p:spPr>
          <a:xfrm>
            <a:off x="361950" y="1223863"/>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a&lt;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则关于</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的不等式</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ax-</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的解集是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x|x</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或</a:t>
            </a:r>
            <a:r>
              <a:rPr lang="en-US" altLang="zh-CN" i="1" dirty="0">
                <a:solidFill>
                  <a:srgbClr val="000000"/>
                </a:solidFill>
                <a:ea typeface="宋体" panose="02010600030101010101" pitchFamily="2" charset="-122"/>
                <a:cs typeface="Times New Roman" panose="02020603050405020304" pitchFamily="18" charset="0"/>
              </a:rPr>
              <a:t>x&lt;-a</a:t>
            </a:r>
            <a:r>
              <a:rPr lang="en-US" altLang="zh-CN" dirty="0">
                <a:solidFill>
                  <a:srgbClr val="000000"/>
                </a:solidFill>
                <a:ea typeface="宋体" panose="02010600030101010101" pitchFamily="2" charset="-122"/>
                <a:cs typeface="Times New Roman" panose="02020603050405020304" pitchFamily="18" charset="0"/>
              </a:rPr>
              <a:t>}	B.{</a:t>
            </a:r>
            <a:r>
              <a:rPr lang="en-US" altLang="zh-CN" i="1" dirty="0" err="1">
                <a:solidFill>
                  <a:srgbClr val="000000"/>
                </a:solidFill>
                <a:ea typeface="宋体" panose="02010600030101010101" pitchFamily="2" charset="-122"/>
                <a:cs typeface="Times New Roman" panose="02020603050405020304" pitchFamily="18" charset="0"/>
              </a:rPr>
              <a:t>x|x</a:t>
            </a:r>
            <a:r>
              <a:rPr lang="en-US" altLang="zh-CN" i="1" dirty="0">
                <a:solidFill>
                  <a:srgbClr val="000000"/>
                </a:solidFill>
                <a:ea typeface="宋体" panose="02010600030101010101" pitchFamily="2" charset="-122"/>
                <a:cs typeface="Times New Roman" panose="02020603050405020304" pitchFamily="18" charset="0"/>
              </a:rPr>
              <a:t>&gt;-a</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或</a:t>
            </a:r>
            <a:r>
              <a:rPr lang="en-US" altLang="zh-CN" i="1" dirty="0">
                <a:solidFill>
                  <a:srgbClr val="000000"/>
                </a:solidFill>
                <a:ea typeface="宋体" panose="02010600030101010101" pitchFamily="2" charset="-122"/>
                <a:cs typeface="Times New Roman" panose="02020603050405020304" pitchFamily="18" charset="0"/>
              </a:rPr>
              <a:t>x&lt;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a&lt;x&lt;-a</a:t>
            </a:r>
            <a:r>
              <a:rPr lang="en-US" altLang="zh-CN" dirty="0">
                <a:solidFill>
                  <a:srgbClr val="000000"/>
                </a:solidFill>
                <a:ea typeface="宋体" panose="02010600030101010101" pitchFamily="2" charset="-122"/>
                <a:cs typeface="Times New Roman" panose="02020603050405020304" pitchFamily="18" charset="0"/>
              </a:rPr>
              <a:t>}	D.{</a:t>
            </a:r>
            <a:r>
              <a:rPr lang="en-US" altLang="zh-CN" i="1" dirty="0">
                <a:solidFill>
                  <a:srgbClr val="000000"/>
                </a:solidFill>
                <a:ea typeface="宋体" panose="02010600030101010101" pitchFamily="2" charset="-122"/>
                <a:cs typeface="Times New Roman" panose="02020603050405020304" pitchFamily="18" charset="0"/>
              </a:rPr>
              <a:t>x|-a&lt;x&lt;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由题可</a:t>
            </a:r>
            <a:r>
              <a:rPr lang="zh-CN" altLang="zh-CN" dirty="0" smtClean="0">
                <a:solidFill>
                  <a:srgbClr val="000000"/>
                </a:solidFill>
                <a:ea typeface="楷体" panose="02010609060101010101" pitchFamily="49" charset="-122"/>
                <a:cs typeface="Times New Roman" panose="02020603050405020304" pitchFamily="18" charset="0"/>
              </a:rPr>
              <a:t>得</a:t>
            </a:r>
            <a:r>
              <a:rPr lang="en-US" altLang="zh-CN" dirty="0" smtClean="0">
                <a:solidFill>
                  <a:srgbClr val="000000"/>
                </a:solidFill>
                <a:ea typeface="楷体" panose="02010609060101010101" pitchFamily="49"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x+a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i="1" dirty="0">
                <a:solidFill>
                  <a:srgbClr val="000000"/>
                </a:solidFill>
                <a:latin typeface="NEU-BZ-S92"/>
                <a:ea typeface="宋体" panose="02010600030101010101" pitchFamily="2" charset="-122"/>
                <a:cs typeface="宋体" panose="02010600030101010101" pitchFamily="2" charset="-122"/>
              </a:rPr>
              <a:t>∵</a:t>
            </a:r>
            <a:r>
              <a:rPr lang="en-US" altLang="zh-CN" i="1" dirty="0">
                <a:solidFill>
                  <a:srgbClr val="000000"/>
                </a:solidFill>
                <a:ea typeface="宋体" panose="02010600030101010101" pitchFamily="2" charset="-122"/>
                <a:cs typeface="Times New Roman" panose="02020603050405020304" pitchFamily="18" charset="0"/>
              </a:rPr>
              <a:t>a&lt;</a:t>
            </a:r>
            <a:r>
              <a:rPr lang="en-US" altLang="zh-CN" dirty="0">
                <a:solidFill>
                  <a:srgbClr val="000000"/>
                </a:solidFill>
                <a:ea typeface="宋体" panose="02010600030101010101" pitchFamily="2" charset="-122"/>
                <a:cs typeface="Times New Roman" panose="02020603050405020304" pitchFamily="18" charset="0"/>
              </a:rPr>
              <a:t>0,</a:t>
            </a:r>
            <a:r>
              <a:rPr lang="zh-CN" altLang="zh-CN" i="1"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a&lt;-a</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latin typeface="NEU-BZ-S92"/>
                <a:ea typeface="宋体" panose="02010600030101010101" pitchFamily="2" charset="-122"/>
                <a:cs typeface="宋体" panose="02010600030101010101" pitchFamily="2" charset="-122"/>
              </a:rPr>
              <a:t>∴</a:t>
            </a:r>
            <a:r>
              <a:rPr lang="en-US" altLang="zh-CN" i="1" dirty="0">
                <a:solidFill>
                  <a:srgbClr val="000000"/>
                </a:solidFill>
                <a:ea typeface="宋体" panose="02010600030101010101" pitchFamily="2" charset="-122"/>
                <a:cs typeface="Times New Roman" panose="02020603050405020304" pitchFamily="18" charset="0"/>
              </a:rPr>
              <a:t>x&gt;-a</a:t>
            </a:r>
            <a:r>
              <a:rPr lang="zh-CN" altLang="zh-CN" dirty="0">
                <a:solidFill>
                  <a:srgbClr val="000000"/>
                </a:solidFill>
                <a:ea typeface="楷体" panose="02010609060101010101" pitchFamily="49" charset="-122"/>
                <a:cs typeface="Times New Roman" panose="02020603050405020304" pitchFamily="18" charset="0"/>
              </a:rPr>
              <a:t>或</a:t>
            </a:r>
            <a:r>
              <a:rPr lang="en-US" altLang="zh-CN" i="1" dirty="0">
                <a:solidFill>
                  <a:srgbClr val="000000"/>
                </a:solidFill>
                <a:ea typeface="宋体" panose="02010600030101010101" pitchFamily="2" charset="-122"/>
                <a:cs typeface="Times New Roman" panose="02020603050405020304" pitchFamily="18" charset="0"/>
              </a:rPr>
              <a:t>x&lt;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B</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377157603"/>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randombar(horizontal)">
                                      <p:cBhvr>
                                        <p:cTn id="7" dur="500"/>
                                        <p:tgtEl>
                                          <p:spTgt spid="5">
                                            <p:txEl>
                                              <p:pRg st="3" end="3"/>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5">
                                            <p:txEl>
                                              <p:pRg st="4" end="4"/>
                                            </p:txEl>
                                          </p:spTgt>
                                        </p:tgtEl>
                                        <p:attrNameLst>
                                          <p:attrName>style.visibility</p:attrName>
                                        </p:attrNameLst>
                                      </p:cBhvr>
                                      <p:to>
                                        <p:strVal val="visible"/>
                                      </p:to>
                                    </p:set>
                                    <p:animEffect transition="in" filter="randombar(horizontal)">
                                      <p:cBhvr>
                                        <p:cTn id="10" dur="500"/>
                                        <p:tgtEl>
                                          <p:spTgt spid="5">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animEffect transition="in" filter="randombar(horizontal)">
                                      <p:cBhvr>
                                        <p:cTn id="15"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26324052"/>
              </p:ext>
            </p:extLst>
          </p:nvPr>
        </p:nvGraphicFramePr>
        <p:xfrm>
          <a:off x="504453" y="1799927"/>
          <a:ext cx="11671959" cy="767273"/>
        </p:xfrm>
        <a:graphic>
          <a:graphicData uri="http://schemas.openxmlformats.org/presentationml/2006/ole">
            <mc:AlternateContent xmlns:mc="http://schemas.openxmlformats.org/markup-compatibility/2006">
              <mc:Choice xmlns:v="urn:schemas-microsoft-com:vml" Requires="v">
                <p:oleObj spid="_x0000_s21524" name="文档" r:id="rId4" imgW="3837724" imgH="252402" progId="Word.Document.12">
                  <p:embed/>
                </p:oleObj>
              </mc:Choice>
              <mc:Fallback>
                <p:oleObj name="文档" r:id="rId4" imgW="3837724" imgH="252402" progId="Word.Document.12">
                  <p:embed/>
                  <p:pic>
                    <p:nvPicPr>
                      <p:cNvPr id="0" name=""/>
                      <p:cNvPicPr/>
                      <p:nvPr/>
                    </p:nvPicPr>
                    <p:blipFill>
                      <a:blip r:embed="rId5"/>
                      <a:stretch>
                        <a:fillRect/>
                      </a:stretch>
                    </p:blipFill>
                    <p:spPr>
                      <a:xfrm>
                        <a:off x="504453" y="1799927"/>
                        <a:ext cx="11671959" cy="767273"/>
                      </a:xfrm>
                      <a:prstGeom prst="rect">
                        <a:avLst/>
                      </a:prstGeom>
                    </p:spPr>
                  </p:pic>
                </p:oleObj>
              </mc:Fallback>
            </mc:AlternateContent>
          </a:graphicData>
        </a:graphic>
      </p:graphicFrame>
      <p:sp>
        <p:nvSpPr>
          <p:cNvPr id="6" name="矩形 5"/>
          <p:cNvSpPr>
            <a:spLocks noChangeAspect="1"/>
          </p:cNvSpPr>
          <p:nvPr/>
        </p:nvSpPr>
        <p:spPr>
          <a:xfrm>
            <a:off x="361950" y="2592015"/>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原不等式等价于</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0</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楷体" panose="02010609060101010101" pitchFamily="49" charset="-122"/>
                <a:cs typeface="Times New Roman" panose="02020603050405020304" pitchFamily="18" charset="0"/>
              </a:rPr>
              <a:t>故</a:t>
            </a:r>
            <a:r>
              <a:rPr lang="zh-CN" altLang="zh-CN" dirty="0">
                <a:solidFill>
                  <a:srgbClr val="000000"/>
                </a:solidFill>
                <a:ea typeface="楷体" panose="02010609060101010101" pitchFamily="49" charset="-122"/>
                <a:cs typeface="Times New Roman" panose="02020603050405020304" pitchFamily="18" charset="0"/>
              </a:rPr>
              <a:t>原不等式的解集为</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&lt;x&lt;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&lt;x&lt;</a:t>
            </a:r>
            <a:r>
              <a:rPr lang="en-US" altLang="zh-CN" dirty="0">
                <a:solidFill>
                  <a:srgbClr val="000000"/>
                </a:solidFill>
                <a:ea typeface="宋体" panose="02010600030101010101" pitchFamily="2" charset="-122"/>
                <a:cs typeface="Times New Roman" panose="02020603050405020304" pitchFamily="18" charset="0"/>
              </a:rPr>
              <a:t>4}</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656617299"/>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randombar(horizontal)">
                                      <p:cBhvr>
                                        <p:cTn id="7" dur="500"/>
                                        <p:tgtEl>
                                          <p:spTgt spid="6">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randombar(horizontal)">
                                      <p:cBhvr>
                                        <p:cTn id="10" dur="500"/>
                                        <p:tgtEl>
                                          <p:spTgt spid="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randombar(horizontal)">
                                      <p:cBhvr>
                                        <p:cTn id="15"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36753"/>
            <a:ext cx="10807700" cy="541071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4</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解不等式</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(9</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0;</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(2)16</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原不等式等价于</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9)</a:t>
            </a:r>
            <a:r>
              <a:rPr lang="en-US" altLang="zh-CN" i="1" dirty="0">
                <a:solidFill>
                  <a:srgbClr val="000000"/>
                </a:solidFill>
                <a:ea typeface="宋体" panose="02010600030101010101" pitchFamily="2" charset="-122"/>
                <a:cs typeface="Times New Roman" panose="02020603050405020304" pitchFamily="18" charset="0"/>
              </a:rPr>
              <a:t>&lt;</a:t>
            </a:r>
            <a:r>
              <a:rPr lang="en-US" altLang="zh-CN" dirty="0">
                <a:solidFill>
                  <a:srgbClr val="000000"/>
                </a:solidFill>
                <a:ea typeface="宋体" panose="02010600030101010101" pitchFamily="2" charset="-122"/>
                <a:cs typeface="Times New Roman" panose="02020603050405020304" pitchFamily="18" charset="0"/>
              </a:rPr>
              <a:t>0,</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因为方程</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9)</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的两根为</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且二次函数</a:t>
            </a:r>
            <a:r>
              <a:rPr lang="en-US" altLang="zh-CN" i="1" dirty="0">
                <a:solidFill>
                  <a:srgbClr val="000000"/>
                </a:solidFill>
                <a:ea typeface="宋体" panose="02010600030101010101" pitchFamily="2" charset="-122"/>
                <a:cs typeface="Times New Roman" panose="02020603050405020304" pitchFamily="18" charset="0"/>
              </a:rPr>
              <a:t>y=x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9)</a:t>
            </a:r>
            <a:r>
              <a:rPr lang="zh-CN" altLang="zh-CN" dirty="0">
                <a:solidFill>
                  <a:srgbClr val="000000"/>
                </a:solidFill>
                <a:ea typeface="楷体" panose="02010609060101010101" pitchFamily="49" charset="-122"/>
                <a:cs typeface="Times New Roman" panose="02020603050405020304" pitchFamily="18" charset="0"/>
              </a:rPr>
              <a:t>的图象开口向上</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所以原不等式的解集为</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&lt;x&lt;</a:t>
            </a:r>
            <a:r>
              <a:rPr lang="en-US" altLang="zh-CN" dirty="0">
                <a:solidFill>
                  <a:srgbClr val="000000"/>
                </a:solidFill>
                <a:ea typeface="宋体" panose="02010600030101010101" pitchFamily="2" charset="-122"/>
                <a:cs typeface="Times New Roman" panose="02020603050405020304" pitchFamily="18" charset="0"/>
              </a:rPr>
              <a:t>9}</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原不等式等价于</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16</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即</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16,</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故原不等式的解集为</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x|x</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或</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9090237"/>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0" dur="500"/>
                                        <p:tgtEl>
                                          <p:spTgt spid="2">
                                            <p:txEl>
                                              <p:pRg st="4" end="4"/>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animEffect transition="in" filter="randombar(horizontal)">
                                      <p:cBhvr>
                                        <p:cTn id="13" dur="500"/>
                                        <p:tgtEl>
                                          <p:spTgt spid="2">
                                            <p:txEl>
                                              <p:pRg st="5" end="5"/>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2">
                                            <p:txEl>
                                              <p:pRg st="6" end="6"/>
                                            </p:txEl>
                                          </p:spTgt>
                                        </p:tgtEl>
                                        <p:attrNameLst>
                                          <p:attrName>style.visibility</p:attrName>
                                        </p:attrNameLst>
                                      </p:cBhvr>
                                      <p:to>
                                        <p:strVal val="visible"/>
                                      </p:to>
                                    </p:set>
                                    <p:animEffect transition="in" filter="randombar(horizontal)">
                                      <p:cBhvr>
                                        <p:cTn id="16" dur="500"/>
                                        <p:tgtEl>
                                          <p:spTgt spid="2">
                                            <p:txEl>
                                              <p:pRg st="6" end="6"/>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animEffect transition="in" filter="randombar(horizontal)">
                                      <p:cBhvr>
                                        <p:cTn id="19" dur="500"/>
                                        <p:tgtEl>
                                          <p:spTgt spid="2">
                                            <p:txEl>
                                              <p:pRg st="7" end="7"/>
                                            </p:txEl>
                                          </p:spTgt>
                                        </p:tgtEl>
                                      </p:cBhvr>
                                    </p:animEffect>
                                  </p:childTnLst>
                                </p:cTn>
                              </p:par>
                              <p:par>
                                <p:cTn id="20" presetID="14" presetClass="entr" presetSubtype="10" fill="hold" nodeType="withEffect">
                                  <p:stCondLst>
                                    <p:cond delay="0"/>
                                  </p:stCondLst>
                                  <p:childTnLst>
                                    <p:set>
                                      <p:cBhvr>
                                        <p:cTn id="21" dur="1" fill="hold">
                                          <p:stCondLst>
                                            <p:cond delay="0"/>
                                          </p:stCondLst>
                                        </p:cTn>
                                        <p:tgtEl>
                                          <p:spTgt spid="2">
                                            <p:txEl>
                                              <p:pRg st="8" end="8"/>
                                            </p:txEl>
                                          </p:spTgt>
                                        </p:tgtEl>
                                        <p:attrNameLst>
                                          <p:attrName>style.visibility</p:attrName>
                                        </p:attrNameLst>
                                      </p:cBhvr>
                                      <p:to>
                                        <p:strVal val="visible"/>
                                      </p:to>
                                    </p:set>
                                    <p:animEffect transition="in" filter="randombar(horizontal)">
                                      <p:cBhvr>
                                        <p:cTn id="22"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0819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专业教辅课件Q:251490010">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演示文稿3" id="{7F1B58FA-3D69-4926-A2BA-EEBABBAD5E6B}" vid="{76CC91B4-AC1E-4E21-9BDB-923C2B156DC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新教材 高中同步</Template>
  <TotalTime>51</TotalTime>
  <Words>1411</Words>
  <Application>Microsoft Office PowerPoint</Application>
  <PresentationFormat>自定义</PresentationFormat>
  <Paragraphs>141</Paragraphs>
  <Slides>45</Slides>
  <Notes>1</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45</vt:i4>
      </vt:variant>
    </vt:vector>
  </HeadingPairs>
  <TitlesOfParts>
    <vt:vector size="60" baseType="lpstr">
      <vt:lpstr>NEU-BZ-S92</vt:lpstr>
      <vt:lpstr>方正书宋_GBK</vt:lpstr>
      <vt:lpstr>方正正中黑简体</vt:lpstr>
      <vt:lpstr>仿宋</vt:lpstr>
      <vt:lpstr>黑体</vt:lpstr>
      <vt:lpstr>华文新魏</vt:lpstr>
      <vt:lpstr>楷体</vt:lpstr>
      <vt:lpstr>隶书</vt:lpstr>
      <vt:lpstr>宋体</vt:lpstr>
      <vt:lpstr>Arial</vt:lpstr>
      <vt:lpstr>Calibri</vt:lpstr>
      <vt:lpstr>Cambria Math</vt:lpstr>
      <vt:lpstr>Times New Roman</vt:lpstr>
      <vt:lpstr>专业教辅课件Q:251490010</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Microsoft</cp:lastModifiedBy>
  <cp:revision>27</cp:revision>
  <dcterms:created xsi:type="dcterms:W3CDTF">2020-09-12T05:36:12Z</dcterms:created>
  <dcterms:modified xsi:type="dcterms:W3CDTF">2025-08-18T03:17:58Z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0008007650000000000001024140</vt:lpwstr>
  </property>
  <property fmtid="{D5CDD505-2E9C-101B-9397-08002B2CF9AE}" pid="3" name="KSOProductBuildVer">
    <vt:lpwstr>2052-10.1.0.7698</vt:lpwstr>
  </property>
</Properties>
</file>