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731" r:id="rId2"/>
    <p:sldId id="753" r:id="rId3"/>
    <p:sldId id="744" r:id="rId4"/>
    <p:sldId id="746" r:id="rId5"/>
    <p:sldId id="749" r:id="rId6"/>
    <p:sldId id="756" r:id="rId7"/>
    <p:sldId id="758" r:id="rId8"/>
    <p:sldId id="759" r:id="rId9"/>
    <p:sldId id="760" r:id="rId10"/>
    <p:sldId id="823" r:id="rId11"/>
    <p:sldId id="762" r:id="rId12"/>
    <p:sldId id="763" r:id="rId13"/>
    <p:sldId id="764" r:id="rId14"/>
    <p:sldId id="737" r:id="rId15"/>
    <p:sldId id="750" r:id="rId16"/>
    <p:sldId id="765" r:id="rId17"/>
    <p:sldId id="766" r:id="rId18"/>
    <p:sldId id="767" r:id="rId19"/>
    <p:sldId id="768" r:id="rId20"/>
    <p:sldId id="769" r:id="rId21"/>
    <p:sldId id="803" r:id="rId22"/>
    <p:sldId id="804" r:id="rId23"/>
    <p:sldId id="770" r:id="rId24"/>
    <p:sldId id="771" r:id="rId25"/>
    <p:sldId id="772" r:id="rId26"/>
    <p:sldId id="773" r:id="rId27"/>
    <p:sldId id="774" r:id="rId28"/>
    <p:sldId id="775" r:id="rId29"/>
    <p:sldId id="776" r:id="rId30"/>
    <p:sldId id="777" r:id="rId31"/>
    <p:sldId id="778" r:id="rId32"/>
    <p:sldId id="779" r:id="rId33"/>
    <p:sldId id="780" r:id="rId34"/>
    <p:sldId id="781" r:id="rId35"/>
    <p:sldId id="782" r:id="rId36"/>
    <p:sldId id="783" r:id="rId37"/>
    <p:sldId id="784" r:id="rId38"/>
    <p:sldId id="785" r:id="rId39"/>
    <p:sldId id="786" r:id="rId40"/>
    <p:sldId id="787" r:id="rId41"/>
    <p:sldId id="788" r:id="rId42"/>
    <p:sldId id="757" r:id="rId43"/>
    <p:sldId id="805" r:id="rId44"/>
    <p:sldId id="827" r:id="rId45"/>
    <p:sldId id="806" r:id="rId46"/>
    <p:sldId id="821" r:id="rId47"/>
    <p:sldId id="807" r:id="rId48"/>
    <p:sldId id="808" r:id="rId49"/>
    <p:sldId id="825" r:id="rId50"/>
    <p:sldId id="826" r:id="rId51"/>
    <p:sldId id="824" r:id="rId52"/>
    <p:sldId id="811" r:id="rId53"/>
    <p:sldId id="812" r:id="rId54"/>
    <p:sldId id="814" r:id="rId55"/>
    <p:sldId id="815" r:id="rId56"/>
    <p:sldId id="816" r:id="rId57"/>
    <p:sldId id="817" r:id="rId58"/>
    <p:sldId id="818" r:id="rId59"/>
    <p:sldId id="819" r:id="rId60"/>
    <p:sldId id="735" r:id="rId61"/>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96" autoAdjust="0"/>
    <p:restoredTop sz="94591" autoAdjust="0"/>
  </p:normalViewPr>
  <p:slideViewPr>
    <p:cSldViewPr>
      <p:cViewPr varScale="1">
        <p:scale>
          <a:sx n="97" d="100"/>
          <a:sy n="97" d="100"/>
        </p:scale>
        <p:origin x="480"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60</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4.xml"/><Relationship Id="rId1" Type="http://schemas.openxmlformats.org/officeDocument/2006/relationships/slideLayout" Target="../slideLayouts/slideLayout3.xml"/><Relationship Id="rId4"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7.emf"/><Relationship Id="rId4" Type="http://schemas.openxmlformats.org/officeDocument/2006/relationships/package" Target="../embeddings/Microsoft_Word___11.docx"/></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4.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22.emf"/><Relationship Id="rId4" Type="http://schemas.openxmlformats.org/officeDocument/2006/relationships/package" Target="../embeddings/Microsoft_Word___12.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23.emf"/><Relationship Id="rId4" Type="http://schemas.openxmlformats.org/officeDocument/2006/relationships/package" Target="../embeddings/Microsoft_Word___13.docx"/></Relationships>
</file>

<file path=ppt/slides/_rels/slide31.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5.bin"/><Relationship Id="rId7" Type="http://schemas.openxmlformats.org/officeDocument/2006/relationships/package" Target="../embeddings/Microsoft_Word___16.docx"/><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16.bin"/><Relationship Id="rId5" Type="http://schemas.openxmlformats.org/officeDocument/2006/relationships/image" Target="../media/image25.emf"/><Relationship Id="rId4" Type="http://schemas.openxmlformats.org/officeDocument/2006/relationships/package" Target="../embeddings/Microsoft_Word___15.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7.emf"/><Relationship Id="rId4" Type="http://schemas.openxmlformats.org/officeDocument/2006/relationships/package" Target="../embeddings/Microsoft_Word___17.docx"/></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8.emf"/><Relationship Id="rId4" Type="http://schemas.openxmlformats.org/officeDocument/2006/relationships/package" Target="../embeddings/Microsoft_Word___18.docx"/></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30.jpeg"/><Relationship Id="rId5" Type="http://schemas.openxmlformats.org/officeDocument/2006/relationships/image" Target="../media/image29.emf"/><Relationship Id="rId4" Type="http://schemas.openxmlformats.org/officeDocument/2006/relationships/package" Target="../embeddings/Microsoft_Word___19.docx"/></Relationships>
</file>

<file path=ppt/slides/_rels/slide36.xml.rels><?xml version="1.0" encoding="UTF-8" standalone="yes"?>
<Relationships xmlns="http://schemas.openxmlformats.org/package/2006/relationships"><Relationship Id="rId8" Type="http://schemas.openxmlformats.org/officeDocument/2006/relationships/package" Target="../embeddings/Microsoft_Word___21.docx"/><Relationship Id="rId3" Type="http://schemas.openxmlformats.org/officeDocument/2006/relationships/oleObject" Target="../embeddings/oleObject20.bin"/><Relationship Id="rId7"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33.jpeg"/><Relationship Id="rId5" Type="http://schemas.openxmlformats.org/officeDocument/2006/relationships/image" Target="../media/image31.emf"/><Relationship Id="rId4" Type="http://schemas.openxmlformats.org/officeDocument/2006/relationships/package" Target="../embeddings/Microsoft_Word___20.docx"/><Relationship Id="rId9" Type="http://schemas.openxmlformats.org/officeDocument/2006/relationships/image" Target="../media/image32.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34.emf"/><Relationship Id="rId4" Type="http://schemas.openxmlformats.org/officeDocument/2006/relationships/package" Target="../embeddings/Microsoft_Word___22.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35.emf"/><Relationship Id="rId4" Type="http://schemas.openxmlformats.org/officeDocument/2006/relationships/package" Target="../embeddings/Microsoft_Word___23.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20.vml"/><Relationship Id="rId5" Type="http://schemas.openxmlformats.org/officeDocument/2006/relationships/image" Target="../media/image36.emf"/><Relationship Id="rId4" Type="http://schemas.openxmlformats.org/officeDocument/2006/relationships/package" Target="../embeddings/Microsoft_Word___24.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21.vml"/><Relationship Id="rId5" Type="http://schemas.openxmlformats.org/officeDocument/2006/relationships/image" Target="../media/image37.emf"/><Relationship Id="rId4" Type="http://schemas.openxmlformats.org/officeDocument/2006/relationships/package" Target="../embeddings/Microsoft_Word___25.docx"/></Relationships>
</file>

<file path=ppt/slides/_rels/slide41.xml.rels><?xml version="1.0" encoding="UTF-8" standalone="yes"?>
<Relationships xmlns="http://schemas.openxmlformats.org/package/2006/relationships"><Relationship Id="rId8" Type="http://schemas.openxmlformats.org/officeDocument/2006/relationships/package" Target="../embeddings/Microsoft_Word___27.docx"/><Relationship Id="rId3" Type="http://schemas.openxmlformats.org/officeDocument/2006/relationships/oleObject" Target="../embeddings/oleObject26.bin"/><Relationship Id="rId7" Type="http://schemas.openxmlformats.org/officeDocument/2006/relationships/oleObject" Target="../embeddings/oleObject27.bin"/><Relationship Id="rId2" Type="http://schemas.openxmlformats.org/officeDocument/2006/relationships/slideLayout" Target="../slideLayouts/slideLayout4.xml"/><Relationship Id="rId1" Type="http://schemas.openxmlformats.org/officeDocument/2006/relationships/vmlDrawing" Target="../drawings/vmlDrawing22.vml"/><Relationship Id="rId6" Type="http://schemas.openxmlformats.org/officeDocument/2006/relationships/image" Target="../media/image40.jpeg"/><Relationship Id="rId5" Type="http://schemas.openxmlformats.org/officeDocument/2006/relationships/image" Target="../media/image38.emf"/><Relationship Id="rId4" Type="http://schemas.openxmlformats.org/officeDocument/2006/relationships/package" Target="../embeddings/Microsoft_Word___26.docx"/><Relationship Id="rId9" Type="http://schemas.openxmlformats.org/officeDocument/2006/relationships/image" Target="../media/image39.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4.xml"/><Relationship Id="rId1" Type="http://schemas.openxmlformats.org/officeDocument/2006/relationships/vmlDrawing" Target="../drawings/vmlDrawing23.vml"/><Relationship Id="rId5" Type="http://schemas.openxmlformats.org/officeDocument/2006/relationships/image" Target="../media/image45.emf"/><Relationship Id="rId4" Type="http://schemas.openxmlformats.org/officeDocument/2006/relationships/package" Target="../embeddings/Microsoft_Word___28.docx"/></Relationships>
</file>

<file path=ppt/slides/_rels/slide49.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29.bin"/><Relationship Id="rId7" Type="http://schemas.openxmlformats.org/officeDocument/2006/relationships/package" Target="../embeddings/Microsoft_Word___30.docx"/><Relationship Id="rId2" Type="http://schemas.openxmlformats.org/officeDocument/2006/relationships/slideLayout" Target="../slideLayouts/slideLayout4.xml"/><Relationship Id="rId1" Type="http://schemas.openxmlformats.org/officeDocument/2006/relationships/vmlDrawing" Target="../drawings/vmlDrawing24.vml"/><Relationship Id="rId6" Type="http://schemas.openxmlformats.org/officeDocument/2006/relationships/oleObject" Target="../embeddings/oleObject30.bin"/><Relationship Id="rId5" Type="http://schemas.openxmlformats.org/officeDocument/2006/relationships/image" Target="../media/image46.emf"/><Relationship Id="rId4" Type="http://schemas.openxmlformats.org/officeDocument/2006/relationships/package" Target="../embeddings/Microsoft_Word___29.docx"/></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48.emf"/><Relationship Id="rId4" Type="http://schemas.openxmlformats.org/officeDocument/2006/relationships/package" Target="../embeddings/Microsoft_Word___31.docx"/></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image" Target="../media/image50.jpeg"/><Relationship Id="rId5" Type="http://schemas.openxmlformats.org/officeDocument/2006/relationships/image" Target="../media/image49.emf"/><Relationship Id="rId4" Type="http://schemas.openxmlformats.org/officeDocument/2006/relationships/package" Target="../embeddings/Microsoft_Word___32.docx"/></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27.vml"/><Relationship Id="rId5" Type="http://schemas.openxmlformats.org/officeDocument/2006/relationships/image" Target="../media/image51.emf"/><Relationship Id="rId4" Type="http://schemas.openxmlformats.org/officeDocument/2006/relationships/package" Target="../embeddings/Microsoft_Word___33.docx"/></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4.xml"/><Relationship Id="rId1" Type="http://schemas.openxmlformats.org/officeDocument/2006/relationships/vmlDrawing" Target="../drawings/vmlDrawing28.vml"/><Relationship Id="rId5" Type="http://schemas.openxmlformats.org/officeDocument/2006/relationships/image" Target="../media/image52.emf"/><Relationship Id="rId4" Type="http://schemas.openxmlformats.org/officeDocument/2006/relationships/package" Target="../embeddings/Microsoft_Word___34.docx"/></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29.vml"/><Relationship Id="rId5" Type="http://schemas.openxmlformats.org/officeDocument/2006/relationships/image" Target="../media/image53.emf"/><Relationship Id="rId4" Type="http://schemas.openxmlformats.org/officeDocument/2006/relationships/package" Target="../embeddings/Microsoft_Word___35.docx"/></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56.jpeg"/><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image" Target="../media/image55.jpeg"/><Relationship Id="rId5" Type="http://schemas.openxmlformats.org/officeDocument/2006/relationships/image" Target="../media/image54.emf"/><Relationship Id="rId4" Type="http://schemas.openxmlformats.org/officeDocument/2006/relationships/package" Target="../embeddings/Microsoft_Word___36.docx"/></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31.vml"/><Relationship Id="rId5" Type="http://schemas.openxmlformats.org/officeDocument/2006/relationships/image" Target="../media/image57.emf"/><Relationship Id="rId4" Type="http://schemas.openxmlformats.org/officeDocument/2006/relationships/package" Target="../embeddings/Microsoft_Word___37.docx"/></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32.vml"/><Relationship Id="rId5" Type="http://schemas.openxmlformats.org/officeDocument/2006/relationships/image" Target="../media/image58.emf"/><Relationship Id="rId4" Type="http://schemas.openxmlformats.org/officeDocument/2006/relationships/package" Target="../embeddings/Microsoft_Word___38.docx"/></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33.vml"/><Relationship Id="rId5" Type="http://schemas.openxmlformats.org/officeDocument/2006/relationships/image" Target="../media/image59.emf"/><Relationship Id="rId4" Type="http://schemas.openxmlformats.org/officeDocument/2006/relationships/package" Target="../embeddings/Microsoft_Word___39.docx"/></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577796"/>
            <a:ext cx="10807700" cy="109433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4</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指数函数与对数函数</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122386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知识梳理</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构建体系</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4" name="图文框 3">
            <a:hlinkClick r:id="rId4" action="ppaction://hlinksldjump">
              <a:snd r:embed="rId3" name="chimes.wav"/>
            </a:hlinkClick>
          </p:cNvPr>
          <p:cNvSpPr/>
          <p:nvPr/>
        </p:nvSpPr>
        <p:spPr>
          <a:xfrm>
            <a:off x="1728589" y="302406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专题归纳</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核心突破</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知识梳理</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构建体系</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知识网络</a:t>
            </a:r>
          </a:p>
        </p:txBody>
      </p:sp>
      <p:pic>
        <p:nvPicPr>
          <p:cNvPr id="4" name="23N02.eps" descr="id:2147529873;FounderCES"/>
          <p:cNvPicPr/>
          <p:nvPr/>
        </p:nvPicPr>
        <p:blipFill>
          <a:blip r:embed="rId2"/>
          <a:stretch>
            <a:fillRect/>
          </a:stretch>
        </p:blipFill>
        <p:spPr>
          <a:xfrm>
            <a:off x="2931043" y="706791"/>
            <a:ext cx="5278266" cy="5637006"/>
          </a:xfrm>
          <a:prstGeom prst="rect">
            <a:avLst/>
          </a:prstGeom>
        </p:spPr>
      </p:pic>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要点梳理</a:t>
            </a:r>
          </a:p>
        </p:txBody>
      </p:sp>
      <p:sp>
        <p:nvSpPr>
          <p:cNvPr id="5" name="矩形 4"/>
          <p:cNvSpPr>
            <a:spLocks noChangeAspect="1"/>
          </p:cNvSpPr>
          <p:nvPr/>
        </p:nvSpPr>
        <p:spPr>
          <a:xfrm>
            <a:off x="361950" y="1689606"/>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根式与分数指数幂有怎样的关系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指数与对数间又有怎样的关系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428831847"/>
              </p:ext>
            </p:extLst>
          </p:nvPr>
        </p:nvGraphicFramePr>
        <p:xfrm>
          <a:off x="412781" y="2918600"/>
          <a:ext cx="11705058" cy="1329599"/>
        </p:xfrm>
        <a:graphic>
          <a:graphicData uri="http://schemas.openxmlformats.org/presentationml/2006/ole">
            <mc:AlternateContent xmlns:mc="http://schemas.openxmlformats.org/markup-compatibility/2006">
              <mc:Choice xmlns:v="urn:schemas-microsoft-com:vml" Requires="v">
                <p:oleObj spid="_x0000_s1042" name="文档" r:id="rId4" imgW="3837724" imgH="435934" progId="Word.Document.12">
                  <p:embed/>
                </p:oleObj>
              </mc:Choice>
              <mc:Fallback>
                <p:oleObj name="文档" r:id="rId4" imgW="3837724" imgH="435934" progId="Word.Document.12">
                  <p:embed/>
                  <p:pic>
                    <p:nvPicPr>
                      <p:cNvPr id="0" name=""/>
                      <p:cNvPicPr/>
                      <p:nvPr/>
                    </p:nvPicPr>
                    <p:blipFill>
                      <a:blip r:embed="rId5"/>
                      <a:stretch>
                        <a:fillRect/>
                      </a:stretch>
                    </p:blipFill>
                    <p:spPr>
                      <a:xfrm>
                        <a:off x="412781" y="2918600"/>
                        <a:ext cx="11705058" cy="1329599"/>
                      </a:xfrm>
                      <a:prstGeom prst="rect">
                        <a:avLst/>
                      </a:prstGeom>
                    </p:spPr>
                  </p:pic>
                </p:oleObj>
              </mc:Fallback>
            </mc:AlternateContent>
          </a:graphicData>
        </a:graphic>
      </p:graphicFrame>
    </p:spTree>
    <p:extLst>
      <p:ext uri="{BB962C8B-B14F-4D97-AF65-F5344CB8AC3E}">
        <p14:creationId xmlns:p14="http://schemas.microsoft.com/office/powerpoint/2010/main" val="4030868992"/>
      </p:ext>
    </p:extLst>
  </p:cSld>
  <p:clrMapOvr>
    <a:masterClrMapping/>
  </p:clrMapOvr>
  <p:transition spd="slow">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39887"/>
            <a:ext cx="10807700" cy="626710"/>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指数与对数的运算性质有哪些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4121468008"/>
              </p:ext>
            </p:extLst>
          </p:nvPr>
        </p:nvGraphicFramePr>
        <p:xfrm>
          <a:off x="293633" y="2094832"/>
          <a:ext cx="10944332" cy="2585415"/>
        </p:xfrm>
        <a:graphic>
          <a:graphicData uri="http://schemas.openxmlformats.org/presentationml/2006/ole">
            <mc:AlternateContent xmlns:mc="http://schemas.openxmlformats.org/markup-compatibility/2006">
              <mc:Choice xmlns:v="urn:schemas-microsoft-com:vml" Requires="v">
                <p:oleObj spid="_x0000_s2067" name="文档" r:id="rId4" imgW="3947136" imgH="932445" progId="Word.Document.12">
                  <p:embed/>
                </p:oleObj>
              </mc:Choice>
              <mc:Fallback>
                <p:oleObj name="文档" r:id="rId4" imgW="3947136" imgH="932445" progId="Word.Document.12">
                  <p:embed/>
                  <p:pic>
                    <p:nvPicPr>
                      <p:cNvPr id="0" name=""/>
                      <p:cNvPicPr/>
                      <p:nvPr/>
                    </p:nvPicPr>
                    <p:blipFill>
                      <a:blip r:embed="rId5"/>
                      <a:stretch>
                        <a:fillRect/>
                      </a:stretch>
                    </p:blipFill>
                    <p:spPr>
                      <a:xfrm>
                        <a:off x="293633" y="2094832"/>
                        <a:ext cx="10944332" cy="2585415"/>
                      </a:xfrm>
                      <a:prstGeom prst="rect">
                        <a:avLst/>
                      </a:prstGeom>
                    </p:spPr>
                  </p:pic>
                </p:oleObj>
              </mc:Fallback>
            </mc:AlternateContent>
          </a:graphicData>
        </a:graphic>
      </p:graphicFrame>
      <p:sp>
        <p:nvSpPr>
          <p:cNvPr id="7" name="矩形 6"/>
          <p:cNvSpPr/>
          <p:nvPr/>
        </p:nvSpPr>
        <p:spPr>
          <a:xfrm>
            <a:off x="2952725" y="2780584"/>
            <a:ext cx="117447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2948380" y="3137953"/>
            <a:ext cx="1173148"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2968044" y="3195685"/>
            <a:ext cx="117447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2963699" y="3553054"/>
            <a:ext cx="1173148"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2988451" y="3639970"/>
            <a:ext cx="1174476"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984106" y="3997339"/>
            <a:ext cx="1173148"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7868933" y="2744994"/>
            <a:ext cx="2212584"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7864588" y="3102363"/>
            <a:ext cx="2210082"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6121077" y="3137953"/>
            <a:ext cx="936104" cy="5699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6116732" y="3717380"/>
            <a:ext cx="935045" cy="0"/>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7459733" y="3795284"/>
            <a:ext cx="1397648"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7455388" y="4132989"/>
            <a:ext cx="139606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5139292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965327"/>
            <a:ext cx="5743880"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换底公式及常用结论有哪些</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96654605"/>
              </p:ext>
            </p:extLst>
          </p:nvPr>
        </p:nvGraphicFramePr>
        <p:xfrm>
          <a:off x="432445" y="1626236"/>
          <a:ext cx="11705058" cy="3401531"/>
        </p:xfrm>
        <a:graphic>
          <a:graphicData uri="http://schemas.openxmlformats.org/presentationml/2006/ole">
            <mc:AlternateContent xmlns:mc="http://schemas.openxmlformats.org/markup-compatibility/2006">
              <mc:Choice xmlns:v="urn:schemas-microsoft-com:vml" Requires="v">
                <p:oleObj spid="_x0000_s3090" name="文档" r:id="rId4" imgW="3837724" imgH="1115256" progId="Word.Document.12">
                  <p:embed/>
                </p:oleObj>
              </mc:Choice>
              <mc:Fallback>
                <p:oleObj name="文档" r:id="rId4" imgW="3837724" imgH="1115256" progId="Word.Document.12">
                  <p:embed/>
                  <p:pic>
                    <p:nvPicPr>
                      <p:cNvPr id="0" name=""/>
                      <p:cNvPicPr/>
                      <p:nvPr/>
                    </p:nvPicPr>
                    <p:blipFill>
                      <a:blip r:embed="rId5"/>
                      <a:stretch>
                        <a:fillRect/>
                      </a:stretch>
                    </p:blipFill>
                    <p:spPr>
                      <a:xfrm>
                        <a:off x="432445" y="1626236"/>
                        <a:ext cx="11705058" cy="3401531"/>
                      </a:xfrm>
                      <a:prstGeom prst="rect">
                        <a:avLst/>
                      </a:prstGeom>
                    </p:spPr>
                  </p:pic>
                </p:oleObj>
              </mc:Fallback>
            </mc:AlternateContent>
          </a:graphicData>
        </a:graphic>
      </p:graphicFrame>
    </p:spTree>
    <p:extLst>
      <p:ext uri="{BB962C8B-B14F-4D97-AF65-F5344CB8AC3E}">
        <p14:creationId xmlns:p14="http://schemas.microsoft.com/office/powerpoint/2010/main" val="213323231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647799"/>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指数函数与对数函数的定义域、值域、图象、性质是怎样的</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2" name="表格 1"/>
          <p:cNvGraphicFramePr>
            <a:graphicFrameLocks noGrp="1" noChangeAspect="1"/>
          </p:cNvGraphicFramePr>
          <p:nvPr>
            <p:extLst>
              <p:ext uri="{D42A27DB-BD31-4B8C-83A1-F6EECF244321}">
                <p14:modId xmlns:p14="http://schemas.microsoft.com/office/powerpoint/2010/main" val="3494487629"/>
              </p:ext>
            </p:extLst>
          </p:nvPr>
        </p:nvGraphicFramePr>
        <p:xfrm>
          <a:off x="361950" y="1875272"/>
          <a:ext cx="10807701" cy="4389120"/>
        </p:xfrm>
        <a:graphic>
          <a:graphicData uri="http://schemas.openxmlformats.org/drawingml/2006/table">
            <a:tbl>
              <a:tblPr firstRow="1" firstCol="1" bandRow="1"/>
              <a:tblGrid>
                <a:gridCol w="1798687"/>
                <a:gridCol w="4536504"/>
                <a:gridCol w="4472510"/>
              </a:tblGrid>
              <a:tr h="0">
                <a:tc>
                  <a:txBody>
                    <a:bodyPr/>
                    <a:lstStyle/>
                    <a:p>
                      <a:pPr>
                        <a:spcAft>
                          <a:spcPts val="0"/>
                        </a:spcAft>
                        <a:tabLst>
                          <a:tab pos="1188085" algn="l"/>
                          <a:tab pos="2163445" algn="l"/>
                          <a:tab pos="3142615" algn="l"/>
                          <a:tab pos="4190365" algn="l"/>
                        </a:tabLst>
                      </a:pP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函数</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指数函数</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a:t>
                      </a:r>
                      <a:r>
                        <a:rPr lang="en-US" sz="3200" i="1" baseline="300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对数函数</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3200" dirty="0" err="1"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log</a:t>
                      </a:r>
                      <a:r>
                        <a:rPr lang="en-US" sz="3200" i="1" baseline="-25000" dirty="0" err="1"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i="1" dirty="0" err="1"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3200" dirty="0" smtClean="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3200" i="1"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定义域</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值域</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单调性</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时为</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增函数</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spcAft>
                          <a:spcPts val="0"/>
                        </a:spcAft>
                        <a:tabLst>
                          <a:tab pos="1188085" algn="l"/>
                          <a:tab pos="2163445" algn="l"/>
                          <a:tab pos="3142615" algn="l"/>
                          <a:tab pos="4190365" algn="l"/>
                        </a:tabLst>
                      </a:pPr>
                      <a:r>
                        <a:rPr lang="zh-CN"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&lt;a&lt;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时为</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减函数</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时为</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增函数</a:t>
                      </a:r>
                      <a:r>
                        <a:rPr lang="en-US"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a:spcAft>
                          <a:spcPts val="0"/>
                        </a:spcAft>
                        <a:tabLst>
                          <a:tab pos="1188085" algn="l"/>
                          <a:tab pos="2163445" algn="l"/>
                          <a:tab pos="3142615" algn="l"/>
                          <a:tab pos="4190365" algn="l"/>
                        </a:tabLst>
                      </a:pPr>
                      <a:r>
                        <a:rPr lang="zh-CN" sz="32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&lt;a&lt;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时为</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减函数</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奇偶性</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非奇非偶</a:t>
                      </a: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函数</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非奇非偶</a:t>
                      </a: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函数</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图象特征</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图象始终在</a:t>
                      </a:r>
                      <a:r>
                        <a:rPr lang="en-US" sz="3200" i="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轴</a:t>
                      </a: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上方</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恒过定点</a:t>
                      </a:r>
                      <a:r>
                        <a:rPr lang="en-US"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图象始终在</a:t>
                      </a:r>
                      <a:r>
                        <a:rPr lang="en-US" sz="3200"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轴</a:t>
                      </a: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右方</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恒过定点</a:t>
                      </a:r>
                      <a:r>
                        <a:rPr lang="en-US"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7" name="矩形 26"/>
          <p:cNvSpPr/>
          <p:nvPr/>
        </p:nvSpPr>
        <p:spPr>
          <a:xfrm>
            <a:off x="2183485" y="2880047"/>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2179313" y="3311465"/>
            <a:ext cx="1639395" cy="0"/>
          </a:xfrm>
          <a:prstGeom prst="line">
            <a:avLst/>
          </a:prstGeom>
        </p:spPr>
        <p:style>
          <a:lnRef idx="2">
            <a:schemeClr val="dk1"/>
          </a:lnRef>
          <a:fillRef idx="0">
            <a:schemeClr val="dk1"/>
          </a:fillRef>
          <a:effectRef idx="1">
            <a:schemeClr val="dk1"/>
          </a:effectRef>
          <a:fontRef idx="minor">
            <a:schemeClr val="tx1"/>
          </a:fontRef>
        </p:style>
      </p:cxnSp>
      <p:sp>
        <p:nvSpPr>
          <p:cNvPr id="31" name="矩形 30"/>
          <p:cNvSpPr/>
          <p:nvPr/>
        </p:nvSpPr>
        <p:spPr>
          <a:xfrm>
            <a:off x="6716805" y="2872307"/>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a:off x="6712633" y="3303725"/>
            <a:ext cx="1639395" cy="0"/>
          </a:xfrm>
          <a:prstGeom prst="line">
            <a:avLst/>
          </a:prstGeom>
        </p:spPr>
        <p:style>
          <a:lnRef idx="2">
            <a:schemeClr val="dk1"/>
          </a:lnRef>
          <a:fillRef idx="0">
            <a:schemeClr val="dk1"/>
          </a:fillRef>
          <a:effectRef idx="1">
            <a:schemeClr val="dk1"/>
          </a:effectRef>
          <a:fontRef idx="minor">
            <a:schemeClr val="tx1"/>
          </a:fontRef>
        </p:style>
      </p:cxnSp>
      <p:sp>
        <p:nvSpPr>
          <p:cNvPr id="33" name="矩形 32"/>
          <p:cNvSpPr/>
          <p:nvPr/>
        </p:nvSpPr>
        <p:spPr>
          <a:xfrm>
            <a:off x="2183485" y="3371717"/>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2179313" y="3803135"/>
            <a:ext cx="1639395" cy="0"/>
          </a:xfrm>
          <a:prstGeom prst="line">
            <a:avLst/>
          </a:prstGeom>
        </p:spPr>
        <p:style>
          <a:lnRef idx="2">
            <a:schemeClr val="dk1"/>
          </a:lnRef>
          <a:fillRef idx="0">
            <a:schemeClr val="dk1"/>
          </a:fillRef>
          <a:effectRef idx="1">
            <a:schemeClr val="dk1"/>
          </a:effectRef>
          <a:fontRef idx="minor">
            <a:schemeClr val="tx1"/>
          </a:fontRef>
        </p:style>
      </p:cxnSp>
      <p:sp>
        <p:nvSpPr>
          <p:cNvPr id="35" name="矩形 34"/>
          <p:cNvSpPr/>
          <p:nvPr/>
        </p:nvSpPr>
        <p:spPr>
          <a:xfrm>
            <a:off x="6716805" y="3363977"/>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a:off x="6712633" y="3795395"/>
            <a:ext cx="1639395" cy="0"/>
          </a:xfrm>
          <a:prstGeom prst="line">
            <a:avLst/>
          </a:prstGeom>
        </p:spPr>
        <p:style>
          <a:lnRef idx="2">
            <a:schemeClr val="dk1"/>
          </a:lnRef>
          <a:fillRef idx="0">
            <a:schemeClr val="dk1"/>
          </a:fillRef>
          <a:effectRef idx="1">
            <a:schemeClr val="dk1"/>
          </a:effectRef>
          <a:fontRef idx="minor">
            <a:schemeClr val="tx1"/>
          </a:fontRef>
        </p:style>
      </p:cxnSp>
      <p:sp>
        <p:nvSpPr>
          <p:cNvPr id="37" name="矩形 36"/>
          <p:cNvSpPr/>
          <p:nvPr/>
        </p:nvSpPr>
        <p:spPr>
          <a:xfrm>
            <a:off x="4104854" y="3853276"/>
            <a:ext cx="1224136"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4100681" y="4284694"/>
            <a:ext cx="1222750" cy="0"/>
          </a:xfrm>
          <a:prstGeom prst="line">
            <a:avLst/>
          </a:prstGeom>
        </p:spPr>
        <p:style>
          <a:lnRef idx="2">
            <a:schemeClr val="dk1"/>
          </a:lnRef>
          <a:fillRef idx="0">
            <a:schemeClr val="dk1"/>
          </a:fillRef>
          <a:effectRef idx="1">
            <a:schemeClr val="dk1"/>
          </a:effectRef>
          <a:fontRef idx="minor">
            <a:schemeClr val="tx1"/>
          </a:fontRef>
        </p:style>
      </p:cxnSp>
      <p:sp>
        <p:nvSpPr>
          <p:cNvPr id="39" name="矩形 38"/>
          <p:cNvSpPr/>
          <p:nvPr/>
        </p:nvSpPr>
        <p:spPr>
          <a:xfrm>
            <a:off x="4608909" y="4333692"/>
            <a:ext cx="1224136"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p:nvPr/>
        </p:nvCxnSpPr>
        <p:spPr>
          <a:xfrm>
            <a:off x="4604736" y="4765110"/>
            <a:ext cx="1222750" cy="0"/>
          </a:xfrm>
          <a:prstGeom prst="line">
            <a:avLst/>
          </a:prstGeom>
        </p:spPr>
        <p:style>
          <a:lnRef idx="2">
            <a:schemeClr val="dk1"/>
          </a:lnRef>
          <a:fillRef idx="0">
            <a:schemeClr val="dk1"/>
          </a:fillRef>
          <a:effectRef idx="1">
            <a:schemeClr val="dk1"/>
          </a:effectRef>
          <a:fontRef idx="minor">
            <a:schemeClr val="tx1"/>
          </a:fontRef>
        </p:style>
      </p:cxnSp>
      <p:sp>
        <p:nvSpPr>
          <p:cNvPr id="41" name="矩形 40"/>
          <p:cNvSpPr/>
          <p:nvPr/>
        </p:nvSpPr>
        <p:spPr>
          <a:xfrm>
            <a:off x="8641357" y="3846152"/>
            <a:ext cx="1224136"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8637184" y="4277570"/>
            <a:ext cx="1222750" cy="0"/>
          </a:xfrm>
          <a:prstGeom prst="line">
            <a:avLst/>
          </a:prstGeom>
        </p:spPr>
        <p:style>
          <a:lnRef idx="2">
            <a:schemeClr val="dk1"/>
          </a:lnRef>
          <a:fillRef idx="0">
            <a:schemeClr val="dk1"/>
          </a:fillRef>
          <a:effectRef idx="1">
            <a:schemeClr val="dk1"/>
          </a:effectRef>
          <a:fontRef idx="minor">
            <a:schemeClr val="tx1"/>
          </a:fontRef>
        </p:style>
      </p:cxnSp>
      <p:sp>
        <p:nvSpPr>
          <p:cNvPr id="43" name="矩形 42"/>
          <p:cNvSpPr/>
          <p:nvPr/>
        </p:nvSpPr>
        <p:spPr>
          <a:xfrm>
            <a:off x="9145412" y="4326568"/>
            <a:ext cx="1224136"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nvCxnSpPr>
        <p:spPr>
          <a:xfrm>
            <a:off x="9141239" y="4757986"/>
            <a:ext cx="1222750" cy="0"/>
          </a:xfrm>
          <a:prstGeom prst="line">
            <a:avLst/>
          </a:prstGeom>
        </p:spPr>
        <p:style>
          <a:lnRef idx="2">
            <a:schemeClr val="dk1"/>
          </a:lnRef>
          <a:fillRef idx="0">
            <a:schemeClr val="dk1"/>
          </a:fillRef>
          <a:effectRef idx="1">
            <a:schemeClr val="dk1"/>
          </a:effectRef>
          <a:fontRef idx="minor">
            <a:schemeClr val="tx1"/>
          </a:fontRef>
        </p:style>
      </p:cxnSp>
      <p:sp>
        <p:nvSpPr>
          <p:cNvPr id="45" name="矩形 44"/>
          <p:cNvSpPr/>
          <p:nvPr/>
        </p:nvSpPr>
        <p:spPr>
          <a:xfrm>
            <a:off x="2222813" y="4814431"/>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p:cNvCxnSpPr/>
          <p:nvPr/>
        </p:nvCxnSpPr>
        <p:spPr>
          <a:xfrm>
            <a:off x="2218641" y="5245849"/>
            <a:ext cx="1639395" cy="0"/>
          </a:xfrm>
          <a:prstGeom prst="line">
            <a:avLst/>
          </a:prstGeom>
        </p:spPr>
        <p:style>
          <a:lnRef idx="2">
            <a:schemeClr val="dk1"/>
          </a:lnRef>
          <a:fillRef idx="0">
            <a:schemeClr val="dk1"/>
          </a:fillRef>
          <a:effectRef idx="1">
            <a:schemeClr val="dk1"/>
          </a:effectRef>
          <a:fontRef idx="minor">
            <a:schemeClr val="tx1"/>
          </a:fontRef>
        </p:style>
      </p:cxnSp>
      <p:sp>
        <p:nvSpPr>
          <p:cNvPr id="47" name="矩形 46"/>
          <p:cNvSpPr/>
          <p:nvPr/>
        </p:nvSpPr>
        <p:spPr>
          <a:xfrm>
            <a:off x="6722465" y="4819016"/>
            <a:ext cx="1641253"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p:cNvCxnSpPr/>
          <p:nvPr/>
        </p:nvCxnSpPr>
        <p:spPr>
          <a:xfrm>
            <a:off x="6718293" y="5250434"/>
            <a:ext cx="1639395" cy="0"/>
          </a:xfrm>
          <a:prstGeom prst="line">
            <a:avLst/>
          </a:prstGeom>
        </p:spPr>
        <p:style>
          <a:lnRef idx="2">
            <a:schemeClr val="dk1"/>
          </a:lnRef>
          <a:fillRef idx="0">
            <a:schemeClr val="dk1"/>
          </a:fillRef>
          <a:effectRef idx="1">
            <a:schemeClr val="dk1"/>
          </a:effectRef>
          <a:fontRef idx="minor">
            <a:schemeClr val="tx1"/>
          </a:fontRef>
        </p:style>
      </p:cxnSp>
      <p:sp>
        <p:nvSpPr>
          <p:cNvPr id="49" name="矩形 48"/>
          <p:cNvSpPr/>
          <p:nvPr/>
        </p:nvSpPr>
        <p:spPr>
          <a:xfrm>
            <a:off x="4248869" y="5313238"/>
            <a:ext cx="576064"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a:off x="4244696" y="5744656"/>
            <a:ext cx="575412" cy="0"/>
          </a:xfrm>
          <a:prstGeom prst="line">
            <a:avLst/>
          </a:prstGeom>
        </p:spPr>
        <p:style>
          <a:lnRef idx="2">
            <a:schemeClr val="dk1"/>
          </a:lnRef>
          <a:fillRef idx="0">
            <a:schemeClr val="dk1"/>
          </a:fillRef>
          <a:effectRef idx="1">
            <a:schemeClr val="dk1"/>
          </a:effectRef>
          <a:fontRef idx="minor">
            <a:schemeClr val="tx1"/>
          </a:fontRef>
        </p:style>
      </p:cxnSp>
      <p:sp>
        <p:nvSpPr>
          <p:cNvPr id="51" name="矩形 50"/>
          <p:cNvSpPr/>
          <p:nvPr/>
        </p:nvSpPr>
        <p:spPr>
          <a:xfrm>
            <a:off x="3847334" y="5812369"/>
            <a:ext cx="843415"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p:cNvCxnSpPr/>
          <p:nvPr/>
        </p:nvCxnSpPr>
        <p:spPr>
          <a:xfrm>
            <a:off x="3843312" y="6243787"/>
            <a:ext cx="842460" cy="0"/>
          </a:xfrm>
          <a:prstGeom prst="line">
            <a:avLst/>
          </a:prstGeom>
        </p:spPr>
        <p:style>
          <a:lnRef idx="2">
            <a:schemeClr val="dk1"/>
          </a:lnRef>
          <a:fillRef idx="0">
            <a:schemeClr val="dk1"/>
          </a:fillRef>
          <a:effectRef idx="1">
            <a:schemeClr val="dk1"/>
          </a:effectRef>
          <a:fontRef idx="minor">
            <a:schemeClr val="tx1"/>
          </a:fontRef>
        </p:style>
      </p:cxnSp>
      <p:sp>
        <p:nvSpPr>
          <p:cNvPr id="53" name="矩形 52"/>
          <p:cNvSpPr/>
          <p:nvPr/>
        </p:nvSpPr>
        <p:spPr>
          <a:xfrm>
            <a:off x="8760975" y="5324923"/>
            <a:ext cx="576064" cy="4303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p:cNvCxnSpPr/>
          <p:nvPr/>
        </p:nvCxnSpPr>
        <p:spPr>
          <a:xfrm>
            <a:off x="8756802" y="5756341"/>
            <a:ext cx="575412" cy="0"/>
          </a:xfrm>
          <a:prstGeom prst="line">
            <a:avLst/>
          </a:prstGeom>
        </p:spPr>
        <p:style>
          <a:lnRef idx="2">
            <a:schemeClr val="dk1"/>
          </a:lnRef>
          <a:fillRef idx="0">
            <a:schemeClr val="dk1"/>
          </a:fillRef>
          <a:effectRef idx="1">
            <a:schemeClr val="dk1"/>
          </a:effectRef>
          <a:fontRef idx="minor">
            <a:schemeClr val="tx1"/>
          </a:fontRef>
        </p:style>
      </p:cxnSp>
      <p:sp>
        <p:nvSpPr>
          <p:cNvPr id="55" name="矩形 54"/>
          <p:cNvSpPr/>
          <p:nvPr/>
        </p:nvSpPr>
        <p:spPr>
          <a:xfrm>
            <a:off x="8359440" y="5843613"/>
            <a:ext cx="843415" cy="3911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355418" y="6235808"/>
            <a:ext cx="84246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4562248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31"/>
                                        </p:tgtEl>
                                      </p:cBhvr>
                                    </p:animEffect>
                                    <p:set>
                                      <p:cBhvr>
                                        <p:cTn id="12" dur="1" fill="hold">
                                          <p:stCondLst>
                                            <p:cond delay="499"/>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33"/>
                                        </p:tgtEl>
                                      </p:cBhvr>
                                    </p:animEffect>
                                    <p:set>
                                      <p:cBhvr>
                                        <p:cTn id="17" dur="1" fill="hold">
                                          <p:stCondLst>
                                            <p:cond delay="499"/>
                                          </p:stCondLst>
                                        </p:cTn>
                                        <p:tgtEl>
                                          <p:spTgt spid="3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35"/>
                                        </p:tgtEl>
                                      </p:cBhvr>
                                    </p:animEffect>
                                    <p:set>
                                      <p:cBhvr>
                                        <p:cTn id="22" dur="1" fill="hold">
                                          <p:stCondLst>
                                            <p:cond delay="499"/>
                                          </p:stCondLst>
                                        </p:cTn>
                                        <p:tgtEl>
                                          <p:spTgt spid="3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37"/>
                                        </p:tgtEl>
                                      </p:cBhvr>
                                    </p:animEffect>
                                    <p:set>
                                      <p:cBhvr>
                                        <p:cTn id="27" dur="1" fill="hold">
                                          <p:stCondLst>
                                            <p:cond delay="499"/>
                                          </p:stCondLst>
                                        </p:cTn>
                                        <p:tgtEl>
                                          <p:spTgt spid="3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39"/>
                                        </p:tgtEl>
                                      </p:cBhvr>
                                    </p:animEffect>
                                    <p:set>
                                      <p:cBhvr>
                                        <p:cTn id="32" dur="1" fill="hold">
                                          <p:stCondLst>
                                            <p:cond delay="499"/>
                                          </p:stCondLst>
                                        </p:cTn>
                                        <p:tgtEl>
                                          <p:spTgt spid="3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41"/>
                                        </p:tgtEl>
                                      </p:cBhvr>
                                    </p:animEffect>
                                    <p:set>
                                      <p:cBhvr>
                                        <p:cTn id="37" dur="1" fill="hold">
                                          <p:stCondLst>
                                            <p:cond delay="499"/>
                                          </p:stCondLst>
                                        </p:cTn>
                                        <p:tgtEl>
                                          <p:spTgt spid="4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43"/>
                                        </p:tgtEl>
                                      </p:cBhvr>
                                    </p:animEffect>
                                    <p:set>
                                      <p:cBhvr>
                                        <p:cTn id="42" dur="1" fill="hold">
                                          <p:stCondLst>
                                            <p:cond delay="499"/>
                                          </p:stCondLst>
                                        </p:cTn>
                                        <p:tgtEl>
                                          <p:spTgt spid="4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4" presetClass="exit" presetSubtype="10" fill="hold" grpId="0" nodeType="clickEffect">
                                  <p:stCondLst>
                                    <p:cond delay="0"/>
                                  </p:stCondLst>
                                  <p:childTnLst>
                                    <p:animEffect transition="out" filter="randombar(horizontal)">
                                      <p:cBhvr>
                                        <p:cTn id="46" dur="500"/>
                                        <p:tgtEl>
                                          <p:spTgt spid="45"/>
                                        </p:tgtEl>
                                      </p:cBhvr>
                                    </p:animEffect>
                                    <p:set>
                                      <p:cBhvr>
                                        <p:cTn id="47" dur="1" fill="hold">
                                          <p:stCondLst>
                                            <p:cond delay="499"/>
                                          </p:stCondLst>
                                        </p:cTn>
                                        <p:tgtEl>
                                          <p:spTgt spid="4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4" presetClass="exit" presetSubtype="10" fill="hold" grpId="0" nodeType="clickEffect">
                                  <p:stCondLst>
                                    <p:cond delay="0"/>
                                  </p:stCondLst>
                                  <p:childTnLst>
                                    <p:animEffect transition="out" filter="randombar(horizontal)">
                                      <p:cBhvr>
                                        <p:cTn id="51" dur="500"/>
                                        <p:tgtEl>
                                          <p:spTgt spid="47"/>
                                        </p:tgtEl>
                                      </p:cBhvr>
                                    </p:animEffect>
                                    <p:set>
                                      <p:cBhvr>
                                        <p:cTn id="52" dur="1" fill="hold">
                                          <p:stCondLst>
                                            <p:cond delay="499"/>
                                          </p:stCondLst>
                                        </p:cTn>
                                        <p:tgtEl>
                                          <p:spTgt spid="4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4" presetClass="exit" presetSubtype="10" fill="hold" grpId="0" nodeType="clickEffect">
                                  <p:stCondLst>
                                    <p:cond delay="0"/>
                                  </p:stCondLst>
                                  <p:childTnLst>
                                    <p:animEffect transition="out" filter="randombar(horizontal)">
                                      <p:cBhvr>
                                        <p:cTn id="56" dur="500"/>
                                        <p:tgtEl>
                                          <p:spTgt spid="49"/>
                                        </p:tgtEl>
                                      </p:cBhvr>
                                    </p:animEffect>
                                    <p:set>
                                      <p:cBhvr>
                                        <p:cTn id="57" dur="1" fill="hold">
                                          <p:stCondLst>
                                            <p:cond delay="499"/>
                                          </p:stCondLst>
                                        </p:cTn>
                                        <p:tgtEl>
                                          <p:spTgt spid="49"/>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4" presetClass="exit" presetSubtype="10" fill="hold" grpId="0" nodeType="clickEffect">
                                  <p:stCondLst>
                                    <p:cond delay="0"/>
                                  </p:stCondLst>
                                  <p:childTnLst>
                                    <p:animEffect transition="out" filter="randombar(horizontal)">
                                      <p:cBhvr>
                                        <p:cTn id="61" dur="500"/>
                                        <p:tgtEl>
                                          <p:spTgt spid="51"/>
                                        </p:tgtEl>
                                      </p:cBhvr>
                                    </p:animEffect>
                                    <p:set>
                                      <p:cBhvr>
                                        <p:cTn id="62" dur="1" fill="hold">
                                          <p:stCondLst>
                                            <p:cond delay="499"/>
                                          </p:stCondLst>
                                        </p:cTn>
                                        <p:tgtEl>
                                          <p:spTgt spid="5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4" presetClass="exit" presetSubtype="10" fill="hold" grpId="0" nodeType="clickEffect">
                                  <p:stCondLst>
                                    <p:cond delay="0"/>
                                  </p:stCondLst>
                                  <p:childTnLst>
                                    <p:animEffect transition="out" filter="randombar(horizontal)">
                                      <p:cBhvr>
                                        <p:cTn id="66" dur="500"/>
                                        <p:tgtEl>
                                          <p:spTgt spid="53"/>
                                        </p:tgtEl>
                                      </p:cBhvr>
                                    </p:animEffect>
                                    <p:set>
                                      <p:cBhvr>
                                        <p:cTn id="67" dur="1" fill="hold">
                                          <p:stCondLst>
                                            <p:cond delay="499"/>
                                          </p:stCondLst>
                                        </p:cTn>
                                        <p:tgtEl>
                                          <p:spTgt spid="5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4" presetClass="exit" presetSubtype="10" fill="hold" grpId="0" nodeType="clickEffect">
                                  <p:stCondLst>
                                    <p:cond delay="0"/>
                                  </p:stCondLst>
                                  <p:childTnLst>
                                    <p:animEffect transition="out" filter="randombar(horizontal)">
                                      <p:cBhvr>
                                        <p:cTn id="71" dur="500"/>
                                        <p:tgtEl>
                                          <p:spTgt spid="55"/>
                                        </p:tgtEl>
                                      </p:cBhvr>
                                    </p:animEffect>
                                    <p:set>
                                      <p:cBhvr>
                                        <p:cTn id="72" dur="1" fill="hold">
                                          <p:stCondLst>
                                            <p:cond delay="499"/>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noChangeAspect="1"/>
          </p:cNvGraphicFramePr>
          <p:nvPr>
            <p:extLst>
              <p:ext uri="{D42A27DB-BD31-4B8C-83A1-F6EECF244321}">
                <p14:modId xmlns:p14="http://schemas.microsoft.com/office/powerpoint/2010/main" val="3048617518"/>
              </p:ext>
            </p:extLst>
          </p:nvPr>
        </p:nvGraphicFramePr>
        <p:xfrm>
          <a:off x="361950" y="1875272"/>
          <a:ext cx="10807701" cy="2438400"/>
        </p:xfrm>
        <a:graphic>
          <a:graphicData uri="http://schemas.openxmlformats.org/drawingml/2006/table">
            <a:tbl>
              <a:tblPr firstRow="1" firstCol="1" bandRow="1"/>
              <a:tblGrid>
                <a:gridCol w="2590775"/>
                <a:gridCol w="3744416"/>
                <a:gridCol w="4472510"/>
              </a:tblGrid>
              <a:tr h="0">
                <a:tc>
                  <a:txBody>
                    <a:bodyPr/>
                    <a:lstStyle/>
                    <a:p>
                      <a:pPr>
                        <a:spcAft>
                          <a:spcPts val="0"/>
                        </a:spcAft>
                        <a:tabLst>
                          <a:tab pos="1188085" algn="l"/>
                          <a:tab pos="2163445" algn="l"/>
                          <a:tab pos="3142615" algn="l"/>
                          <a:tab pos="4190365" algn="l"/>
                        </a:tabLst>
                      </a:pP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函数</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指数函数</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a:t>
                      </a:r>
                      <a:r>
                        <a:rPr lang="en-US" sz="3200" i="1" baseline="30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对数函数</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log</a:t>
                      </a:r>
                      <a:r>
                        <a:rPr lang="en-US" sz="32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当</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a&gt;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32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时在</a:t>
                      </a: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第一</a:t>
                      </a:r>
                      <a:r>
                        <a:rPr lang="zh-CN" sz="32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象限的</a:t>
                      </a:r>
                      <a:r>
                        <a:rPr lang="zh-CN" sz="32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增长速度</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增长越来越</a:t>
                      </a:r>
                      <a:r>
                        <a:rPr lang="zh-CN" sz="32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快</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增长越来越</a:t>
                      </a:r>
                      <a:r>
                        <a:rPr lang="zh-CN" sz="32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慢</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23" name="矩形 22"/>
          <p:cNvSpPr/>
          <p:nvPr/>
        </p:nvSpPr>
        <p:spPr>
          <a:xfrm>
            <a:off x="5060621" y="3341591"/>
            <a:ext cx="484392"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5067034" y="3784644"/>
            <a:ext cx="473955"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8795205" y="3344083"/>
            <a:ext cx="484392"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8801618" y="3787136"/>
            <a:ext cx="47395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7448070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5"/>
                                        </p:tgtEl>
                                      </p:cBhvr>
                                    </p:animEffect>
                                    <p:set>
                                      <p:cBhvr>
                                        <p:cTn id="12"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56417"/>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函数的零点是什么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函数的零点、方程的根、函数的图象之间的关系是什么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使得</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的实数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叫做函数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的零点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的零点即为方程</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的实数根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亦即</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smtClean="0">
                <a:solidFill>
                  <a:srgbClr val="000000"/>
                </a:solidFill>
                <a:ea typeface="楷体" panose="02010609060101010101" pitchFamily="49" charset="-122"/>
                <a:cs typeface="Times New Roman" panose="02020603050405020304" pitchFamily="18" charset="0"/>
              </a:rPr>
              <a:t>轴</a:t>
            </a:r>
            <a:r>
              <a:rPr lang="zh-CN" altLang="en-US" dirty="0" smtClean="0">
                <a:solidFill>
                  <a:srgbClr val="000000"/>
                </a:solidFill>
                <a:ea typeface="楷体" panose="02010609060101010101" pitchFamily="49" charset="-122"/>
                <a:cs typeface="Times New Roman" panose="02020603050405020304" pitchFamily="18" charset="0"/>
              </a:rPr>
              <a:t>公共</a:t>
            </a:r>
            <a:r>
              <a:rPr lang="zh-CN" altLang="zh-CN" dirty="0" smtClean="0">
                <a:solidFill>
                  <a:srgbClr val="000000"/>
                </a:solidFill>
                <a:ea typeface="楷体" panose="02010609060101010101" pitchFamily="49" charset="-122"/>
                <a:cs typeface="Times New Roman" panose="02020603050405020304" pitchFamily="18" charset="0"/>
              </a:rPr>
              <a:t>点</a:t>
            </a:r>
            <a:r>
              <a:rPr lang="zh-CN" altLang="zh-CN" dirty="0">
                <a:solidFill>
                  <a:srgbClr val="000000"/>
                </a:solidFill>
                <a:ea typeface="楷体" panose="02010609060101010101" pitchFamily="49" charset="-122"/>
                <a:cs typeface="Times New Roman" panose="02020603050405020304" pitchFamily="18" charset="0"/>
              </a:rPr>
              <a:t>的横坐标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一次函数、指数函数、对数函数的增长特点分别是什么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一次函数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保持固定的增长速度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指数函数</a:t>
            </a:r>
            <a:r>
              <a:rPr lang="en-US" altLang="zh-CN" i="1" dirty="0">
                <a:solidFill>
                  <a:srgbClr val="000000"/>
                </a:solidFill>
                <a:ea typeface="宋体" panose="02010600030101010101" pitchFamily="2" charset="-122"/>
                <a:cs typeface="Times New Roman" panose="02020603050405020304" pitchFamily="18" charset="0"/>
              </a:rPr>
              <a:t>y=a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的增长速度越来越快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对数函数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的增长速度越来越慢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4803257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657631"/>
            <a:ext cx="11814462" cy="5702674"/>
            <a:chOff x="361950" y="719807"/>
            <a:chExt cx="11814462" cy="5702674"/>
          </a:xfrm>
        </p:grpSpPr>
        <p:sp>
          <p:nvSpPr>
            <p:cNvPr id="3" name="矩形 2"/>
            <p:cNvSpPr>
              <a:spLocks noChangeAspect="1"/>
            </p:cNvSpPr>
            <p:nvPr/>
          </p:nvSpPr>
          <p:spPr>
            <a:xfrm>
              <a:off x="361950" y="719807"/>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83830530"/>
                </p:ext>
              </p:extLst>
            </p:nvPr>
          </p:nvGraphicFramePr>
          <p:xfrm>
            <a:off x="504453" y="2533367"/>
            <a:ext cx="11671959" cy="1982857"/>
          </p:xfrm>
          <a:graphic>
            <a:graphicData uri="http://schemas.openxmlformats.org/presentationml/2006/ole">
              <mc:AlternateContent xmlns:mc="http://schemas.openxmlformats.org/markup-compatibility/2006">
                <mc:Choice xmlns:v="urn:schemas-microsoft-com:vml" Requires="v">
                  <p:oleObj spid="_x0000_s6163" name="文档" r:id="rId4" imgW="3826872" imgH="650117" progId="Word.Document.12">
                    <p:embed/>
                  </p:oleObj>
                </mc:Choice>
                <mc:Fallback>
                  <p:oleObj name="文档" r:id="rId4" imgW="3826872" imgH="650117" progId="Word.Document.12">
                    <p:embed/>
                    <p:pic>
                      <p:nvPicPr>
                        <p:cNvPr id="0" name=""/>
                        <p:cNvPicPr/>
                        <p:nvPr/>
                      </p:nvPicPr>
                      <p:blipFill>
                        <a:blip r:embed="rId5"/>
                        <a:stretch>
                          <a:fillRect/>
                        </a:stretch>
                      </p:blipFill>
                      <p:spPr>
                        <a:xfrm>
                          <a:off x="504453" y="2533367"/>
                          <a:ext cx="11671959" cy="1982857"/>
                        </a:xfrm>
                        <a:prstGeom prst="rect">
                          <a:avLst/>
                        </a:prstGeom>
                      </p:spPr>
                    </p:pic>
                  </p:oleObj>
                </mc:Fallback>
              </mc:AlternateContent>
            </a:graphicData>
          </a:graphic>
        </p:graphicFrame>
        <p:sp>
          <p:nvSpPr>
            <p:cNvPr id="5" name="矩形 4"/>
            <p:cNvSpPr>
              <a:spLocks noChangeAspect="1"/>
            </p:cNvSpPr>
            <p:nvPr/>
          </p:nvSpPr>
          <p:spPr>
            <a:xfrm>
              <a:off x="361950" y="4557355"/>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err="1">
                  <a:solidFill>
                    <a:srgbClr val="000000"/>
                  </a:solidFill>
                  <a:ea typeface="宋体" panose="02010600030101010101" pitchFamily="2" charset="-122"/>
                  <a:cs typeface="Times New Roman" panose="02020603050405020304" pitchFamily="18" charset="0"/>
                </a:rPr>
                <a:t>lg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lg</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lg</a:t>
              </a:r>
              <a:r>
                <a:rPr lang="en-US" altLang="zh-CN"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ab</a:t>
              </a:r>
              <a:r>
                <a:rPr lang="zh-CN" altLang="zh-CN" dirty="0" smtClean="0">
                  <a:solidFill>
                    <a:srgbClr val="000000"/>
                  </a:solidFill>
                  <a:ea typeface="宋体" panose="02010600030101010101" pitchFamily="2" charset="-122"/>
                  <a:cs typeface="Times New Roman" panose="02020603050405020304" pitchFamily="18" charset="0"/>
                </a:rPr>
                <a:t>的最小值</a:t>
              </a:r>
              <a:r>
                <a:rPr lang="zh-CN" altLang="zh-CN" dirty="0">
                  <a:solidFill>
                    <a:srgbClr val="000000"/>
                  </a:solidFill>
                  <a:ea typeface="宋体" panose="02010600030101010101" pitchFamily="2" charset="-122"/>
                  <a:cs typeface="Times New Roman" panose="02020603050405020304" pitchFamily="18" charset="0"/>
                </a:rPr>
                <a:t>为</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7" name="矩形 6"/>
          <p:cNvSpPr/>
          <p:nvPr/>
        </p:nvSpPr>
        <p:spPr>
          <a:xfrm>
            <a:off x="8065293" y="278621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816821" y="3749024"/>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824020" y="4593486"/>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222102" y="516797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654756" y="579685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142595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1151855"/>
            <a:ext cx="11794798" cy="3944986"/>
            <a:chOff x="361950" y="1511895"/>
            <a:chExt cx="11794798" cy="3944986"/>
          </a:xfrm>
        </p:grpSpPr>
        <p:sp>
          <p:nvSpPr>
            <p:cNvPr id="2" name="矩形 1"/>
            <p:cNvSpPr>
              <a:spLocks noChangeAspect="1"/>
            </p:cNvSpPr>
            <p:nvPr/>
          </p:nvSpPr>
          <p:spPr>
            <a:xfrm>
              <a:off x="361950" y="1511895"/>
              <a:ext cx="10807700" cy="68326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的最小值等于</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174392780"/>
                </p:ext>
              </p:extLst>
            </p:nvPr>
          </p:nvGraphicFramePr>
          <p:xfrm>
            <a:off x="484789" y="2219857"/>
            <a:ext cx="11671959" cy="732198"/>
          </p:xfrm>
          <a:graphic>
            <a:graphicData uri="http://schemas.openxmlformats.org/presentationml/2006/ole">
              <mc:AlternateContent xmlns:mc="http://schemas.openxmlformats.org/markup-compatibility/2006">
                <mc:Choice xmlns:v="urn:schemas-microsoft-com:vml" Requires="v">
                  <p:oleObj spid="_x0000_s7187" name="文档" r:id="rId4" imgW="3826872" imgH="240065" progId="Word.Document.12">
                    <p:embed/>
                  </p:oleObj>
                </mc:Choice>
                <mc:Fallback>
                  <p:oleObj name="文档" r:id="rId4" imgW="3826872" imgH="240065" progId="Word.Document.12">
                    <p:embed/>
                    <p:pic>
                      <p:nvPicPr>
                        <p:cNvPr id="0" name=""/>
                        <p:cNvPicPr/>
                        <p:nvPr/>
                      </p:nvPicPr>
                      <p:blipFill>
                        <a:blip r:embed="rId5"/>
                        <a:stretch>
                          <a:fillRect/>
                        </a:stretch>
                      </p:blipFill>
                      <p:spPr>
                        <a:xfrm>
                          <a:off x="484789" y="2219857"/>
                          <a:ext cx="11671959" cy="732198"/>
                        </a:xfrm>
                        <a:prstGeom prst="rect">
                          <a:avLst/>
                        </a:prstGeom>
                      </p:spPr>
                    </p:pic>
                  </p:oleObj>
                </mc:Fallback>
              </mc:AlternateContent>
            </a:graphicData>
          </a:graphic>
        </p:graphicFrame>
        <p:sp>
          <p:nvSpPr>
            <p:cNvPr id="8" name="矩形 7"/>
            <p:cNvSpPr>
              <a:spLocks noChangeAspect="1"/>
            </p:cNvSpPr>
            <p:nvPr/>
          </p:nvSpPr>
          <p:spPr>
            <a:xfrm>
              <a:off x="361950" y="3000824"/>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内单调递减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若偶函数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个零点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则其零点之和等于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减小的速度越来越慢</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6" name="矩形 5"/>
          <p:cNvSpPr/>
          <p:nvPr/>
        </p:nvSpPr>
        <p:spPr>
          <a:xfrm>
            <a:off x="8158812" y="129587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433445" y="1817836"/>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944613" y="336258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950900" y="3884094"/>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438732" y="450529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072664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专题归纳</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核心突破</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288429" y="677295"/>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专题整合</a:t>
            </a:r>
          </a:p>
        </p:txBody>
      </p:sp>
      <p:sp>
        <p:nvSpPr>
          <p:cNvPr id="2" name="矩形 1"/>
          <p:cNvSpPr>
            <a:spLocks noChangeAspect="1"/>
          </p:cNvSpPr>
          <p:nvPr/>
        </p:nvSpPr>
        <p:spPr>
          <a:xfrm>
            <a:off x="361950" y="1547420"/>
            <a:ext cx="4814138"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专题一</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指数与对数</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运算</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00699825"/>
              </p:ext>
            </p:extLst>
          </p:nvPr>
        </p:nvGraphicFramePr>
        <p:xfrm>
          <a:off x="261123" y="2257668"/>
          <a:ext cx="11671959" cy="562304"/>
        </p:xfrm>
        <a:graphic>
          <a:graphicData uri="http://schemas.openxmlformats.org/presentationml/2006/ole">
            <mc:AlternateContent xmlns:mc="http://schemas.openxmlformats.org/markup-compatibility/2006">
              <mc:Choice xmlns:v="urn:schemas-microsoft-com:vml" Requires="v">
                <p:oleObj spid="_x0000_s8222" name="文档" r:id="rId4" imgW="3826872" imgH="184362" progId="Word.Document.12">
                  <p:embed/>
                </p:oleObj>
              </mc:Choice>
              <mc:Fallback>
                <p:oleObj name="文档" r:id="rId4" imgW="3826872" imgH="184362" progId="Word.Document.12">
                  <p:embed/>
                  <p:pic>
                    <p:nvPicPr>
                      <p:cNvPr id="0" name=""/>
                      <p:cNvPicPr/>
                      <p:nvPr/>
                    </p:nvPicPr>
                    <p:blipFill>
                      <a:blip r:embed="rId5"/>
                      <a:stretch>
                        <a:fillRect/>
                      </a:stretch>
                    </p:blipFill>
                    <p:spPr>
                      <a:xfrm>
                        <a:off x="261123" y="2257668"/>
                        <a:ext cx="11671959" cy="56230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42195467"/>
              </p:ext>
            </p:extLst>
          </p:nvPr>
        </p:nvGraphicFramePr>
        <p:xfrm>
          <a:off x="368180" y="2905740"/>
          <a:ext cx="11671959" cy="1990531"/>
        </p:xfrm>
        <a:graphic>
          <a:graphicData uri="http://schemas.openxmlformats.org/presentationml/2006/ole">
            <mc:AlternateContent xmlns:mc="http://schemas.openxmlformats.org/markup-compatibility/2006">
              <mc:Choice xmlns:v="urn:schemas-microsoft-com:vml" Requires="v">
                <p:oleObj spid="_x0000_s8223" name="文档" r:id="rId7" imgW="3826872" imgH="652633" progId="Word.Document.12">
                  <p:embed/>
                </p:oleObj>
              </mc:Choice>
              <mc:Fallback>
                <p:oleObj name="文档" r:id="rId7" imgW="3826872" imgH="652633" progId="Word.Document.12">
                  <p:embed/>
                  <p:pic>
                    <p:nvPicPr>
                      <p:cNvPr id="0" name=""/>
                      <p:cNvPicPr/>
                      <p:nvPr/>
                    </p:nvPicPr>
                    <p:blipFill>
                      <a:blip r:embed="rId8"/>
                      <a:stretch>
                        <a:fillRect/>
                      </a:stretch>
                    </p:blipFill>
                    <p:spPr>
                      <a:xfrm>
                        <a:off x="368180" y="2905740"/>
                        <a:ext cx="11671959" cy="1990531"/>
                      </a:xfrm>
                      <a:prstGeom prst="rect">
                        <a:avLst/>
                      </a:prstGeom>
                    </p:spPr>
                  </p:pic>
                </p:oleObj>
              </mc:Fallback>
            </mc:AlternateContent>
          </a:graphicData>
        </a:graphic>
      </p:graphicFrame>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指数</a:t>
            </a:r>
            <a:r>
              <a:rPr lang="zh-CN" altLang="zh-CN" dirty="0">
                <a:solidFill>
                  <a:srgbClr val="000000"/>
                </a:solidFill>
                <a:ea typeface="仿宋" panose="02010609060101010101" pitchFamily="49" charset="-122"/>
                <a:cs typeface="Times New Roman" panose="02020603050405020304" pitchFamily="18" charset="0"/>
              </a:rPr>
              <a:t>、对数运算应遵循的原则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ea typeface="仿宋" panose="02010609060101010101" pitchFamily="49" charset="-122"/>
                <a:cs typeface="Times New Roman" panose="02020603050405020304" pitchFamily="18" charset="0"/>
              </a:rPr>
              <a:t>指数运算首先要注意化简顺序</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一般把负指数转化为正指数</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根式转化为分数指数幂</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其次若出现分式</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则要注意对分子、分母因式分解以达到约分的目的</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对数运算要注意公式应用过程中范围的变化</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前后要</a:t>
            </a:r>
            <a:r>
              <a:rPr lang="zh-CN" altLang="zh-CN" dirty="0" smtClean="0">
                <a:solidFill>
                  <a:srgbClr val="000000"/>
                </a:solidFill>
                <a:ea typeface="仿宋" panose="02010609060101010101" pitchFamily="49" charset="-122"/>
                <a:cs typeface="Times New Roman" panose="02020603050405020304" pitchFamily="18" charset="0"/>
              </a:rPr>
              <a:t>等价</a:t>
            </a:r>
            <a:r>
              <a:rPr lang="en-US" altLang="zh-CN" i="1" dirty="0" smtClean="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42017475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42422689"/>
              </p:ext>
            </p:extLst>
          </p:nvPr>
        </p:nvGraphicFramePr>
        <p:xfrm>
          <a:off x="432445" y="1943943"/>
          <a:ext cx="11671959" cy="1781173"/>
        </p:xfrm>
        <a:graphic>
          <a:graphicData uri="http://schemas.openxmlformats.org/presentationml/2006/ole">
            <mc:AlternateContent xmlns:mc="http://schemas.openxmlformats.org/markup-compatibility/2006">
              <mc:Choice xmlns:v="urn:schemas-microsoft-com:vml" Requires="v">
                <p:oleObj spid="_x0000_s9232" name="文档" r:id="rId4" imgW="3826872" imgH="583991" progId="Word.Document.12">
                  <p:embed/>
                </p:oleObj>
              </mc:Choice>
              <mc:Fallback>
                <p:oleObj name="文档" r:id="rId4" imgW="3826872" imgH="583991" progId="Word.Document.12">
                  <p:embed/>
                  <p:pic>
                    <p:nvPicPr>
                      <p:cNvPr id="0" name=""/>
                      <p:cNvPicPr/>
                      <p:nvPr/>
                    </p:nvPicPr>
                    <p:blipFill>
                      <a:blip r:embed="rId5"/>
                      <a:stretch>
                        <a:fillRect/>
                      </a:stretch>
                    </p:blipFill>
                    <p:spPr>
                      <a:xfrm>
                        <a:off x="432445" y="1943943"/>
                        <a:ext cx="11671959" cy="1781173"/>
                      </a:xfrm>
                      <a:prstGeom prst="rect">
                        <a:avLst/>
                      </a:prstGeom>
                    </p:spPr>
                  </p:pic>
                </p:oleObj>
              </mc:Fallback>
            </mc:AlternateContent>
          </a:graphicData>
        </a:graphic>
      </p:graphicFrame>
    </p:spTree>
    <p:extLst>
      <p:ext uri="{BB962C8B-B14F-4D97-AF65-F5344CB8AC3E}">
        <p14:creationId xmlns:p14="http://schemas.microsoft.com/office/powerpoint/2010/main" val="42602507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510527170"/>
              </p:ext>
            </p:extLst>
          </p:nvPr>
        </p:nvGraphicFramePr>
        <p:xfrm>
          <a:off x="576461" y="791815"/>
          <a:ext cx="11671959" cy="5040994"/>
        </p:xfrm>
        <a:graphic>
          <a:graphicData uri="http://schemas.openxmlformats.org/presentationml/2006/ole">
            <mc:AlternateContent xmlns:mc="http://schemas.openxmlformats.org/markup-compatibility/2006">
              <mc:Choice xmlns:v="urn:schemas-microsoft-com:vml" Requires="v">
                <p:oleObj spid="_x0000_s10256" name="文档" r:id="rId4" imgW="3826872" imgH="1652785" progId="Word.Document.12">
                  <p:embed/>
                </p:oleObj>
              </mc:Choice>
              <mc:Fallback>
                <p:oleObj name="文档" r:id="rId4" imgW="3826872" imgH="1652785" progId="Word.Document.12">
                  <p:embed/>
                  <p:pic>
                    <p:nvPicPr>
                      <p:cNvPr id="0" name=""/>
                      <p:cNvPicPr/>
                      <p:nvPr/>
                    </p:nvPicPr>
                    <p:blipFill>
                      <a:blip r:embed="rId5"/>
                      <a:stretch>
                        <a:fillRect/>
                      </a:stretch>
                    </p:blipFill>
                    <p:spPr>
                      <a:xfrm>
                        <a:off x="576461" y="791815"/>
                        <a:ext cx="11671959" cy="5040994"/>
                      </a:xfrm>
                      <a:prstGeom prst="rect">
                        <a:avLst/>
                      </a:prstGeom>
                    </p:spPr>
                  </p:pic>
                </p:oleObj>
              </mc:Fallback>
            </mc:AlternateContent>
          </a:graphicData>
        </a:graphic>
      </p:graphicFrame>
    </p:spTree>
    <p:extLst>
      <p:ext uri="{BB962C8B-B14F-4D97-AF65-F5344CB8AC3E}">
        <p14:creationId xmlns:p14="http://schemas.microsoft.com/office/powerpoint/2010/main" val="192172188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11435"/>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专题二</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指数函数与对数函数的图象变换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作出下列函数的图象</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21875631"/>
              </p:ext>
            </p:extLst>
          </p:nvPr>
        </p:nvGraphicFramePr>
        <p:xfrm>
          <a:off x="452109" y="2605031"/>
          <a:ext cx="11705058" cy="737932"/>
        </p:xfrm>
        <a:graphic>
          <a:graphicData uri="http://schemas.openxmlformats.org/presentationml/2006/ole">
            <mc:AlternateContent xmlns:mc="http://schemas.openxmlformats.org/markup-compatibility/2006">
              <mc:Choice xmlns:v="urn:schemas-microsoft-com:vml" Requires="v">
                <p:oleObj spid="_x0000_s32778" name="文档" r:id="rId4" imgW="3837724" imgH="241945" progId="Word.Document.12">
                  <p:embed/>
                </p:oleObj>
              </mc:Choice>
              <mc:Fallback>
                <p:oleObj name="文档" r:id="rId4" imgW="3837724" imgH="241945" progId="Word.Document.12">
                  <p:embed/>
                  <p:pic>
                    <p:nvPicPr>
                      <p:cNvPr id="0" name=""/>
                      <p:cNvPicPr/>
                      <p:nvPr/>
                    </p:nvPicPr>
                    <p:blipFill>
                      <a:blip r:embed="rId5"/>
                      <a:stretch>
                        <a:fillRect/>
                      </a:stretch>
                    </p:blipFill>
                    <p:spPr>
                      <a:xfrm>
                        <a:off x="452109" y="2605031"/>
                        <a:ext cx="11705058" cy="737932"/>
                      </a:xfrm>
                      <a:prstGeom prst="rect">
                        <a:avLst/>
                      </a:prstGeom>
                    </p:spPr>
                  </p:pic>
                </p:oleObj>
              </mc:Fallback>
            </mc:AlternateContent>
          </a:graphicData>
        </a:graphic>
      </p:graphicFrame>
      <p:sp>
        <p:nvSpPr>
          <p:cNvPr id="8" name="矩形 7"/>
          <p:cNvSpPr>
            <a:spLocks noChangeAspect="1"/>
          </p:cNvSpPr>
          <p:nvPr/>
        </p:nvSpPr>
        <p:spPr>
          <a:xfrm>
            <a:off x="361950" y="3432872"/>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的图象可由</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的图象经过如下变换而得到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先画出函数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再将函数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的图象向下平移</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个单位长度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然后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轴上方的图象不变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轴下方的图象翻折到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轴上方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就得到所求函数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8065175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5979522"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函数图象的画法如图</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所示</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2" name="组合 11"/>
          <p:cNvGrpSpPr/>
          <p:nvPr/>
        </p:nvGrpSpPr>
        <p:grpSpPr>
          <a:xfrm>
            <a:off x="1028756" y="1687672"/>
            <a:ext cx="9196777" cy="3370740"/>
            <a:chOff x="1028756" y="1719626"/>
            <a:chExt cx="9196777" cy="3370740"/>
          </a:xfrm>
        </p:grpSpPr>
        <p:pic>
          <p:nvPicPr>
            <p:cNvPr id="4" name="21E05.eps" descr="id:2147495658;FounderCES"/>
            <p:cNvPicPr/>
            <p:nvPr/>
          </p:nvPicPr>
          <p:blipFill>
            <a:blip r:embed="rId2"/>
            <a:stretch>
              <a:fillRect/>
            </a:stretch>
          </p:blipFill>
          <p:spPr>
            <a:xfrm>
              <a:off x="1028756" y="1719626"/>
              <a:ext cx="2592288" cy="2672589"/>
            </a:xfrm>
            <a:prstGeom prst="rect">
              <a:avLst/>
            </a:prstGeom>
          </p:spPr>
        </p:pic>
        <p:pic>
          <p:nvPicPr>
            <p:cNvPr id="5" name="21E06.eps" descr="id:2147495665;FounderCES"/>
            <p:cNvPicPr/>
            <p:nvPr/>
          </p:nvPicPr>
          <p:blipFill>
            <a:blip r:embed="rId3"/>
            <a:stretch>
              <a:fillRect/>
            </a:stretch>
          </p:blipFill>
          <p:spPr>
            <a:xfrm>
              <a:off x="4125100" y="1799927"/>
              <a:ext cx="2672589" cy="2592288"/>
            </a:xfrm>
            <a:prstGeom prst="rect">
              <a:avLst/>
            </a:prstGeom>
          </p:spPr>
        </p:pic>
        <p:pic>
          <p:nvPicPr>
            <p:cNvPr id="6" name="21E07.eps" descr="id:2147495672;FounderCES"/>
            <p:cNvPicPr/>
            <p:nvPr/>
          </p:nvPicPr>
          <p:blipFill>
            <a:blip r:embed="rId4"/>
            <a:stretch>
              <a:fillRect/>
            </a:stretch>
          </p:blipFill>
          <p:spPr>
            <a:xfrm>
              <a:off x="7301745" y="1799927"/>
              <a:ext cx="2923788" cy="2592288"/>
            </a:xfrm>
            <a:prstGeom prst="rect">
              <a:avLst/>
            </a:prstGeom>
          </p:spPr>
        </p:pic>
        <p:sp>
          <p:nvSpPr>
            <p:cNvPr id="7" name="矩形 6"/>
            <p:cNvSpPr>
              <a:spLocks noChangeAspect="1"/>
            </p:cNvSpPr>
            <p:nvPr/>
          </p:nvSpPr>
          <p:spPr>
            <a:xfrm>
              <a:off x="1656581" y="4485585"/>
              <a:ext cx="1215397"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en-US" altLang="zh-CN" dirty="0" smtClean="0">
                  <a:solidFill>
                    <a:srgbClr val="000000"/>
                  </a:solidFill>
                  <a:latin typeface="NEU-BZ-S92"/>
                  <a:ea typeface="宋体" panose="02010600030101010101" pitchFamily="2" charset="-122"/>
                  <a:cs typeface="宋体" panose="02010600030101010101" pitchFamily="2" charset="-122"/>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8" name="矩形 7"/>
            <p:cNvSpPr>
              <a:spLocks noChangeAspect="1"/>
            </p:cNvSpPr>
            <p:nvPr/>
          </p:nvSpPr>
          <p:spPr>
            <a:xfrm>
              <a:off x="4957089" y="4485585"/>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9" name="矩形 8"/>
            <p:cNvSpPr>
              <a:spLocks noChangeAspect="1"/>
            </p:cNvSpPr>
            <p:nvPr/>
          </p:nvSpPr>
          <p:spPr>
            <a:xfrm>
              <a:off x="8259334" y="4485585"/>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664652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extLst>
              <p:ext uri="{D42A27DB-BD31-4B8C-83A1-F6EECF244321}">
                <p14:modId xmlns:p14="http://schemas.microsoft.com/office/powerpoint/2010/main" val="106346087"/>
              </p:ext>
            </p:extLst>
          </p:nvPr>
        </p:nvGraphicFramePr>
        <p:xfrm>
          <a:off x="412781" y="1096224"/>
          <a:ext cx="10607329" cy="3574191"/>
        </p:xfrm>
        <a:graphic>
          <a:graphicData uri="http://schemas.openxmlformats.org/presentationml/2006/ole">
            <mc:AlternateContent xmlns:mc="http://schemas.openxmlformats.org/markup-compatibility/2006">
              <mc:Choice xmlns:v="urn:schemas-microsoft-com:vml" Requires="v">
                <p:oleObj spid="_x0000_s33802" name="文档" r:id="rId4" imgW="3477813" imgH="1171866" progId="Word.Document.12">
                  <p:embed/>
                </p:oleObj>
              </mc:Choice>
              <mc:Fallback>
                <p:oleObj name="文档" r:id="rId4" imgW="3477813" imgH="1171866" progId="Word.Document.12">
                  <p:embed/>
                  <p:pic>
                    <p:nvPicPr>
                      <p:cNvPr id="0" name=""/>
                      <p:cNvPicPr/>
                      <p:nvPr/>
                    </p:nvPicPr>
                    <p:blipFill>
                      <a:blip r:embed="rId5"/>
                      <a:stretch>
                        <a:fillRect/>
                      </a:stretch>
                    </p:blipFill>
                    <p:spPr>
                      <a:xfrm>
                        <a:off x="412781" y="1096224"/>
                        <a:ext cx="10607329" cy="3574191"/>
                      </a:xfrm>
                      <a:prstGeom prst="rect">
                        <a:avLst/>
                      </a:prstGeom>
                    </p:spPr>
                  </p:pic>
                </p:oleObj>
              </mc:Fallback>
            </mc:AlternateContent>
          </a:graphicData>
        </a:graphic>
      </p:graphicFrame>
    </p:spTree>
    <p:extLst>
      <p:ext uri="{BB962C8B-B14F-4D97-AF65-F5344CB8AC3E}">
        <p14:creationId xmlns:p14="http://schemas.microsoft.com/office/powerpoint/2010/main" val="67862491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08509" y="1511895"/>
            <a:ext cx="9558869" cy="2895835"/>
            <a:chOff x="1148507" y="2029153"/>
            <a:chExt cx="9558869" cy="2895835"/>
          </a:xfrm>
        </p:grpSpPr>
        <p:grpSp>
          <p:nvGrpSpPr>
            <p:cNvPr id="12" name="组合 11"/>
            <p:cNvGrpSpPr/>
            <p:nvPr/>
          </p:nvGrpSpPr>
          <p:grpSpPr>
            <a:xfrm>
              <a:off x="1759975" y="4320207"/>
              <a:ext cx="8033510" cy="604781"/>
              <a:chOff x="1759975" y="4485585"/>
              <a:chExt cx="8033510" cy="604781"/>
            </a:xfrm>
          </p:grpSpPr>
          <p:sp>
            <p:nvSpPr>
              <p:cNvPr id="7" name="矩形 6"/>
              <p:cNvSpPr>
                <a:spLocks noChangeAspect="1"/>
              </p:cNvSpPr>
              <p:nvPr/>
            </p:nvSpPr>
            <p:spPr>
              <a:xfrm>
                <a:off x="1759975" y="4485585"/>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④</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8" name="矩形 7"/>
              <p:cNvSpPr>
                <a:spLocks noChangeAspect="1"/>
              </p:cNvSpPr>
              <p:nvPr/>
            </p:nvSpPr>
            <p:spPr>
              <a:xfrm>
                <a:off x="4957089" y="4485585"/>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9" name="矩形 8"/>
              <p:cNvSpPr>
                <a:spLocks noChangeAspect="1"/>
              </p:cNvSpPr>
              <p:nvPr/>
            </p:nvSpPr>
            <p:spPr>
              <a:xfrm>
                <a:off x="8784876" y="4485585"/>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pic>
          <p:nvPicPr>
            <p:cNvPr id="10" name="21E08.eps" descr="id:2147495679;FounderCES"/>
            <p:cNvPicPr/>
            <p:nvPr/>
          </p:nvPicPr>
          <p:blipFill>
            <a:blip r:embed="rId2"/>
            <a:stretch>
              <a:fillRect/>
            </a:stretch>
          </p:blipFill>
          <p:spPr>
            <a:xfrm>
              <a:off x="1148507" y="2084089"/>
              <a:ext cx="2596306" cy="2092102"/>
            </a:xfrm>
            <a:prstGeom prst="rect">
              <a:avLst/>
            </a:prstGeom>
          </p:spPr>
        </p:pic>
        <p:pic>
          <p:nvPicPr>
            <p:cNvPr id="11" name="21E09.eps" descr="id:2147495686;FounderCES"/>
            <p:cNvPicPr/>
            <p:nvPr/>
          </p:nvPicPr>
          <p:blipFill>
            <a:blip r:embed="rId3"/>
            <a:stretch>
              <a:fillRect/>
            </a:stretch>
          </p:blipFill>
          <p:spPr>
            <a:xfrm>
              <a:off x="3960837" y="2084089"/>
              <a:ext cx="3191767" cy="2053317"/>
            </a:xfrm>
            <a:prstGeom prst="rect">
              <a:avLst/>
            </a:prstGeom>
          </p:spPr>
        </p:pic>
        <p:pic>
          <p:nvPicPr>
            <p:cNvPr id="13" name="21E10.eps" descr="id:2147495693;FounderCES"/>
            <p:cNvPicPr/>
            <p:nvPr/>
          </p:nvPicPr>
          <p:blipFill>
            <a:blip r:embed="rId4"/>
            <a:stretch>
              <a:fillRect/>
            </a:stretch>
          </p:blipFill>
          <p:spPr>
            <a:xfrm>
              <a:off x="7561237" y="2029153"/>
              <a:ext cx="3146139" cy="2142295"/>
            </a:xfrm>
            <a:prstGeom prst="rect">
              <a:avLst/>
            </a:prstGeom>
          </p:spPr>
        </p:pic>
      </p:grpSp>
    </p:spTree>
    <p:extLst>
      <p:ext uri="{BB962C8B-B14F-4D97-AF65-F5344CB8AC3E}">
        <p14:creationId xmlns:p14="http://schemas.microsoft.com/office/powerpoint/2010/main" val="1673936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43111"/>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常见的函数图象的变换有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平移变换</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翻折变换</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对称变换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平移变换</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的图象可由</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的图象向左</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或向右</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平移</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个单位长度得到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的图象可由</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的图象向上</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或向下</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平移</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个单位长度得到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翻折变换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要画</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只需将</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的图象在</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轴下方部分沿</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轴翻折到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轴的上方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其他部分不变</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是一个偶函数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图象与</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的图象完全一样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其图象与</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时的图象关于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仿宋" panose="02010609060101010101" pitchFamily="49" charset="-122"/>
                <a:cs typeface="Times New Roman" panose="02020603050405020304" pitchFamily="18" charset="0"/>
              </a:rPr>
              <a:t>轴对称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42958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01781"/>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对称变换</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的图象与</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轴对称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的图象与</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的图象关于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仿宋" panose="02010609060101010101" pitchFamily="49" charset="-122"/>
                <a:cs typeface="Times New Roman" panose="02020603050405020304" pitchFamily="18" charset="0"/>
              </a:rPr>
              <a:t>轴对称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的图象与</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的图象关于原点中心对称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掌握这些变换方法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一些稍复杂的函数图象都可以看作是由基本初等函数的图象变换而来</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1437936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47799"/>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smtClean="0">
                <a:solidFill>
                  <a:srgbClr val="000000"/>
                </a:solidFill>
                <a:ea typeface="宋体" panose="02010600030101010101" pitchFamily="2" charset="-122"/>
                <a:cs typeface="Times New Roman" panose="02020603050405020304" pitchFamily="18" charset="0"/>
              </a:rPr>
              <a:t>且</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f</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在同一平面直角坐标系内的大致图象是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G1TRA164.eps" descr="id:2147510643;FounderCES"/>
          <p:cNvPicPr/>
          <p:nvPr/>
        </p:nvPicPr>
        <p:blipFill>
          <a:blip r:embed="rId2"/>
          <a:stretch>
            <a:fillRect/>
          </a:stretch>
        </p:blipFill>
        <p:spPr>
          <a:xfrm>
            <a:off x="3816821" y="1943403"/>
            <a:ext cx="5328592" cy="4383196"/>
          </a:xfrm>
          <a:prstGeom prst="rect">
            <a:avLst/>
          </a:prstGeom>
        </p:spPr>
      </p:pic>
    </p:spTree>
    <p:extLst>
      <p:ext uri="{BB962C8B-B14F-4D97-AF65-F5344CB8AC3E}">
        <p14:creationId xmlns:p14="http://schemas.microsoft.com/office/powerpoint/2010/main" val="31009069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848696"/>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上为减函数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内单调递减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内单调递增</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1322816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70890"/>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专题三</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指数函数与对数函数的性质及其应用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奇函数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a:t>
            </a:r>
            <a:r>
              <a:rPr lang="zh-CN" altLang="zh-CN" dirty="0">
                <a:solidFill>
                  <a:srgbClr val="000000"/>
                </a:solidFill>
                <a:ea typeface="宋体" panose="02010600030101010101" pitchFamily="2" charset="-122"/>
                <a:cs typeface="Times New Roman" panose="02020603050405020304" pitchFamily="18" charset="0"/>
              </a:rPr>
              <a:t>内单调递增</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奇函数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a:t>
            </a:r>
            <a:r>
              <a:rPr lang="zh-CN" altLang="zh-CN" dirty="0">
                <a:solidFill>
                  <a:srgbClr val="000000"/>
                </a:solidFill>
                <a:ea typeface="宋体" panose="02010600030101010101" pitchFamily="2" charset="-122"/>
                <a:cs typeface="Times New Roman" panose="02020603050405020304" pitchFamily="18" charset="0"/>
              </a:rPr>
              <a:t>内单调递减</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(0,2)</a:t>
            </a:r>
            <a:r>
              <a:rPr lang="zh-CN" altLang="zh-CN" dirty="0">
                <a:solidFill>
                  <a:srgbClr val="000000"/>
                </a:solidFill>
                <a:ea typeface="宋体" panose="02010600030101010101" pitchFamily="2" charset="-122"/>
                <a:cs typeface="Times New Roman" panose="02020603050405020304" pitchFamily="18" charset="0"/>
              </a:rPr>
              <a:t>内单调递增</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(0,2)</a:t>
            </a:r>
            <a:r>
              <a:rPr lang="zh-CN" altLang="zh-CN" dirty="0">
                <a:solidFill>
                  <a:srgbClr val="000000"/>
                </a:solidFill>
                <a:ea typeface="宋体" panose="02010600030101010101" pitchFamily="2" charset="-122"/>
                <a:cs typeface="Times New Roman" panose="02020603050405020304" pitchFamily="18" charset="0"/>
              </a:rPr>
              <a:t>内单调递减</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56481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79847"/>
            <a:ext cx="11742454" cy="3424071"/>
            <a:chOff x="361950" y="1151855"/>
            <a:chExt cx="11742454" cy="3424071"/>
          </a:xfrm>
        </p:grpSpPr>
        <p:sp>
          <p:nvSpPr>
            <p:cNvPr id="3" name="矩形 2"/>
            <p:cNvSpPr>
              <a:spLocks noChangeAspect="1"/>
            </p:cNvSpPr>
            <p:nvPr/>
          </p:nvSpPr>
          <p:spPr>
            <a:xfrm>
              <a:off x="361950" y="1151855"/>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的定义域为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是奇函数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74282841"/>
                </p:ext>
              </p:extLst>
            </p:nvPr>
          </p:nvGraphicFramePr>
          <p:xfrm>
            <a:off x="432445" y="2379328"/>
            <a:ext cx="11671959" cy="2196598"/>
          </p:xfrm>
          <a:graphic>
            <a:graphicData uri="http://schemas.openxmlformats.org/presentationml/2006/ole">
              <mc:AlternateContent xmlns:mc="http://schemas.openxmlformats.org/markup-compatibility/2006">
                <mc:Choice xmlns:v="urn:schemas-microsoft-com:vml" Requires="v">
                  <p:oleObj spid="_x0000_s11280" name="文档" r:id="rId4" imgW="3826872" imgH="720196" progId="Word.Document.12">
                    <p:embed/>
                  </p:oleObj>
                </mc:Choice>
                <mc:Fallback>
                  <p:oleObj name="文档" r:id="rId4" imgW="3826872" imgH="720196" progId="Word.Document.12">
                    <p:embed/>
                    <p:pic>
                      <p:nvPicPr>
                        <p:cNvPr id="0" name=""/>
                        <p:cNvPicPr/>
                        <p:nvPr/>
                      </p:nvPicPr>
                      <p:blipFill>
                        <a:blip r:embed="rId5"/>
                        <a:stretch>
                          <a:fillRect/>
                        </a:stretch>
                      </p:blipFill>
                      <p:spPr>
                        <a:xfrm>
                          <a:off x="432445" y="2379328"/>
                          <a:ext cx="11671959" cy="2196598"/>
                        </a:xfrm>
                        <a:prstGeom prst="rect">
                          <a:avLst/>
                        </a:prstGeom>
                      </p:spPr>
                    </p:pic>
                  </p:oleObj>
                </mc:Fallback>
              </mc:AlternateContent>
            </a:graphicData>
          </a:graphic>
        </p:graphicFrame>
      </p:grpSp>
      <p:sp>
        <p:nvSpPr>
          <p:cNvPr id="6" name="矩形 5"/>
          <p:cNvSpPr>
            <a:spLocks noChangeAspect="1"/>
          </p:cNvSpPr>
          <p:nvPr/>
        </p:nvSpPr>
        <p:spPr>
          <a:xfrm>
            <a:off x="361950" y="4573047"/>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286858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92142"/>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判断</a:t>
            </a:r>
            <a:r>
              <a:rPr lang="zh-CN" altLang="zh-CN" dirty="0">
                <a:solidFill>
                  <a:srgbClr val="000000"/>
                </a:solidFill>
                <a:ea typeface="仿宋" panose="02010609060101010101" pitchFamily="49" charset="-122"/>
                <a:cs typeface="Times New Roman" panose="02020603050405020304" pitchFamily="18" charset="0"/>
              </a:rPr>
              <a:t>函数的奇偶性时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应首先确定函数的定义域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然后根据奇函数和偶函数的定义进行判断</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对于指数型和对数型的复合函数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其单调性应根据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同增异减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的规则进行判断</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18687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659326734"/>
              </p:ext>
            </p:extLst>
          </p:nvPr>
        </p:nvGraphicFramePr>
        <p:xfrm>
          <a:off x="360437" y="683181"/>
          <a:ext cx="11671959" cy="2249210"/>
        </p:xfrm>
        <a:graphic>
          <a:graphicData uri="http://schemas.openxmlformats.org/presentationml/2006/ole">
            <mc:AlternateContent xmlns:mc="http://schemas.openxmlformats.org/markup-compatibility/2006">
              <mc:Choice xmlns:v="urn:schemas-microsoft-com:vml" Requires="v">
                <p:oleObj spid="_x0000_s12320" name="文档" r:id="rId4" imgW="3826872" imgH="737446" progId="Word.Document.12">
                  <p:embed/>
                </p:oleObj>
              </mc:Choice>
              <mc:Fallback>
                <p:oleObj name="文档" r:id="rId4" imgW="3826872" imgH="737446" progId="Word.Document.12">
                  <p:embed/>
                  <p:pic>
                    <p:nvPicPr>
                      <p:cNvPr id="0" name=""/>
                      <p:cNvPicPr/>
                      <p:nvPr/>
                    </p:nvPicPr>
                    <p:blipFill>
                      <a:blip r:embed="rId5"/>
                      <a:stretch>
                        <a:fillRect/>
                      </a:stretch>
                    </p:blipFill>
                    <p:spPr>
                      <a:xfrm>
                        <a:off x="360437" y="683181"/>
                        <a:ext cx="11671959" cy="224921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00613716"/>
              </p:ext>
            </p:extLst>
          </p:nvPr>
        </p:nvGraphicFramePr>
        <p:xfrm>
          <a:off x="355600" y="3001963"/>
          <a:ext cx="11617325" cy="3313112"/>
        </p:xfrm>
        <a:graphic>
          <a:graphicData uri="http://schemas.openxmlformats.org/presentationml/2006/ole">
            <mc:AlternateContent xmlns:mc="http://schemas.openxmlformats.org/markup-compatibility/2006">
              <mc:Choice xmlns:v="urn:schemas-microsoft-com:vml" Requires="v">
                <p:oleObj spid="_x0000_s12321" name="文档" r:id="rId7" imgW="3837724" imgH="1097588" progId="Word.Document.12">
                  <p:embed/>
                </p:oleObj>
              </mc:Choice>
              <mc:Fallback>
                <p:oleObj name="文档" r:id="rId7" imgW="3837724" imgH="1097588" progId="Word.Document.12">
                  <p:embed/>
                  <p:pic>
                    <p:nvPicPr>
                      <p:cNvPr id="0" name=""/>
                      <p:cNvPicPr/>
                      <p:nvPr/>
                    </p:nvPicPr>
                    <p:blipFill>
                      <a:blip r:embed="rId8"/>
                      <a:stretch>
                        <a:fillRect/>
                      </a:stretch>
                    </p:blipFill>
                    <p:spPr>
                      <a:xfrm>
                        <a:off x="355600" y="3001963"/>
                        <a:ext cx="11617325" cy="3313112"/>
                      </a:xfrm>
                      <a:prstGeom prst="rect">
                        <a:avLst/>
                      </a:prstGeom>
                    </p:spPr>
                  </p:pic>
                </p:oleObj>
              </mc:Fallback>
            </mc:AlternateContent>
          </a:graphicData>
        </a:graphic>
      </p:graphicFrame>
    </p:spTree>
    <p:extLst>
      <p:ext uri="{BB962C8B-B14F-4D97-AF65-F5344CB8AC3E}">
        <p14:creationId xmlns:p14="http://schemas.microsoft.com/office/powerpoint/2010/main" val="19027103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89308303"/>
              </p:ext>
            </p:extLst>
          </p:nvPr>
        </p:nvGraphicFramePr>
        <p:xfrm>
          <a:off x="504453" y="988175"/>
          <a:ext cx="11671959" cy="3685111"/>
        </p:xfrm>
        <a:graphic>
          <a:graphicData uri="http://schemas.openxmlformats.org/presentationml/2006/ole">
            <mc:AlternateContent xmlns:mc="http://schemas.openxmlformats.org/markup-compatibility/2006">
              <mc:Choice xmlns:v="urn:schemas-microsoft-com:vml" Requires="v">
                <p:oleObj spid="_x0000_s13342" name="文档" r:id="rId4" imgW="3826872" imgH="1208233" progId="Word.Document.12">
                  <p:embed/>
                </p:oleObj>
              </mc:Choice>
              <mc:Fallback>
                <p:oleObj name="文档" r:id="rId4" imgW="3826872" imgH="1208233" progId="Word.Document.12">
                  <p:embed/>
                  <p:pic>
                    <p:nvPicPr>
                      <p:cNvPr id="0" name=""/>
                      <p:cNvPicPr/>
                      <p:nvPr/>
                    </p:nvPicPr>
                    <p:blipFill>
                      <a:blip r:embed="rId5"/>
                      <a:stretch>
                        <a:fillRect/>
                      </a:stretch>
                    </p:blipFill>
                    <p:spPr>
                      <a:xfrm>
                        <a:off x="504453" y="988175"/>
                        <a:ext cx="11671959" cy="3685111"/>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18850141"/>
              </p:ext>
            </p:extLst>
          </p:nvPr>
        </p:nvGraphicFramePr>
        <p:xfrm>
          <a:off x="504453" y="4804599"/>
          <a:ext cx="11671959" cy="697123"/>
        </p:xfrm>
        <a:graphic>
          <a:graphicData uri="http://schemas.openxmlformats.org/presentationml/2006/ole">
            <mc:AlternateContent xmlns:mc="http://schemas.openxmlformats.org/markup-compatibility/2006">
              <mc:Choice xmlns:v="urn:schemas-microsoft-com:vml" Requires="v">
                <p:oleObj spid="_x0000_s13343" name="文档" r:id="rId7" imgW="3826872" imgH="228565" progId="Word.Document.12">
                  <p:embed/>
                </p:oleObj>
              </mc:Choice>
              <mc:Fallback>
                <p:oleObj name="文档" r:id="rId7" imgW="3826872" imgH="228565" progId="Word.Document.12">
                  <p:embed/>
                  <p:pic>
                    <p:nvPicPr>
                      <p:cNvPr id="0" name=""/>
                      <p:cNvPicPr/>
                      <p:nvPr/>
                    </p:nvPicPr>
                    <p:blipFill>
                      <a:blip r:embed="rId8"/>
                      <a:stretch>
                        <a:fillRect/>
                      </a:stretch>
                    </p:blipFill>
                    <p:spPr>
                      <a:xfrm>
                        <a:off x="504453" y="4804599"/>
                        <a:ext cx="11671959" cy="697123"/>
                      </a:xfrm>
                      <a:prstGeom prst="rect">
                        <a:avLst/>
                      </a:prstGeom>
                    </p:spPr>
                  </p:pic>
                </p:oleObj>
              </mc:Fallback>
            </mc:AlternateContent>
          </a:graphicData>
        </a:graphic>
      </p:graphicFrame>
    </p:spTree>
    <p:extLst>
      <p:ext uri="{BB962C8B-B14F-4D97-AF65-F5344CB8AC3E}">
        <p14:creationId xmlns:p14="http://schemas.microsoft.com/office/powerpoint/2010/main" val="164495830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151855"/>
            <a:ext cx="522450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专题四</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函数零点及其</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863156596"/>
              </p:ext>
            </p:extLst>
          </p:nvPr>
        </p:nvGraphicFramePr>
        <p:xfrm>
          <a:off x="361950" y="1885845"/>
          <a:ext cx="11671959" cy="2650386"/>
        </p:xfrm>
        <a:graphic>
          <a:graphicData uri="http://schemas.openxmlformats.org/presentationml/2006/ole">
            <mc:AlternateContent xmlns:mc="http://schemas.openxmlformats.org/markup-compatibility/2006">
              <mc:Choice xmlns:v="urn:schemas-microsoft-com:vml" Requires="v">
                <p:oleObj spid="_x0000_s14352" name="文档" r:id="rId4" imgW="3826872" imgH="868979" progId="Word.Document.12">
                  <p:embed/>
                </p:oleObj>
              </mc:Choice>
              <mc:Fallback>
                <p:oleObj name="文档" r:id="rId4" imgW="3826872" imgH="868979" progId="Word.Document.12">
                  <p:embed/>
                  <p:pic>
                    <p:nvPicPr>
                      <p:cNvPr id="0" name=""/>
                      <p:cNvPicPr/>
                      <p:nvPr/>
                    </p:nvPicPr>
                    <p:blipFill>
                      <a:blip r:embed="rId5"/>
                      <a:stretch>
                        <a:fillRect/>
                      </a:stretch>
                    </p:blipFill>
                    <p:spPr>
                      <a:xfrm>
                        <a:off x="361950" y="1885845"/>
                        <a:ext cx="11671959" cy="2650386"/>
                      </a:xfrm>
                      <a:prstGeom prst="rect">
                        <a:avLst/>
                      </a:prstGeom>
                    </p:spPr>
                  </p:pic>
                </p:oleObj>
              </mc:Fallback>
            </mc:AlternateContent>
          </a:graphicData>
        </a:graphic>
      </p:graphicFrame>
    </p:spTree>
    <p:extLst>
      <p:ext uri="{BB962C8B-B14F-4D97-AF65-F5344CB8AC3E}">
        <p14:creationId xmlns:p14="http://schemas.microsoft.com/office/powerpoint/2010/main" val="272122788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424036"/>
              </p:ext>
            </p:extLst>
          </p:nvPr>
        </p:nvGraphicFramePr>
        <p:xfrm>
          <a:off x="504453" y="1113016"/>
          <a:ext cx="11671959" cy="3208304"/>
        </p:xfrm>
        <a:graphic>
          <a:graphicData uri="http://schemas.openxmlformats.org/presentationml/2006/ole">
            <mc:AlternateContent xmlns:mc="http://schemas.openxmlformats.org/markup-compatibility/2006">
              <mc:Choice xmlns:v="urn:schemas-microsoft-com:vml" Requires="v">
                <p:oleObj spid="_x0000_s15376" name="文档" r:id="rId4" imgW="3826872" imgH="1051903" progId="Word.Document.12">
                  <p:embed/>
                </p:oleObj>
              </mc:Choice>
              <mc:Fallback>
                <p:oleObj name="文档" r:id="rId4" imgW="3826872" imgH="1051903" progId="Word.Document.12">
                  <p:embed/>
                  <p:pic>
                    <p:nvPicPr>
                      <p:cNvPr id="0" name=""/>
                      <p:cNvPicPr/>
                      <p:nvPr/>
                    </p:nvPicPr>
                    <p:blipFill>
                      <a:blip r:embed="rId5"/>
                      <a:stretch>
                        <a:fillRect/>
                      </a:stretch>
                    </p:blipFill>
                    <p:spPr>
                      <a:xfrm>
                        <a:off x="504453" y="1113016"/>
                        <a:ext cx="11671959" cy="3208304"/>
                      </a:xfrm>
                      <a:prstGeom prst="rect">
                        <a:avLst/>
                      </a:prstGeom>
                    </p:spPr>
                  </p:pic>
                </p:oleObj>
              </mc:Fallback>
            </mc:AlternateContent>
          </a:graphicData>
        </a:graphic>
      </p:graphicFrame>
      <p:sp>
        <p:nvSpPr>
          <p:cNvPr id="3" name="矩形 2"/>
          <p:cNvSpPr>
            <a:spLocks noChangeAspect="1"/>
          </p:cNvSpPr>
          <p:nvPr/>
        </p:nvSpPr>
        <p:spPr>
          <a:xfrm>
            <a:off x="452109" y="4351401"/>
            <a:ext cx="1544012"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57560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720134"/>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在</a:t>
            </a:r>
            <a:r>
              <a:rPr lang="zh-CN" altLang="zh-CN" dirty="0">
                <a:solidFill>
                  <a:srgbClr val="000000"/>
                </a:solidFill>
                <a:ea typeface="仿宋" panose="02010609060101010101" pitchFamily="49" charset="-122"/>
                <a:cs typeface="Times New Roman" panose="02020603050405020304" pitchFamily="18" charset="0"/>
              </a:rPr>
              <a:t>判定函数的零点所在的区间时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可将函数的单调性与函数零点存在定理结合起来使用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根据函数值的符号关系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通过解不等式进行求解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759935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50761839"/>
              </p:ext>
            </p:extLst>
          </p:nvPr>
        </p:nvGraphicFramePr>
        <p:xfrm>
          <a:off x="432445" y="732471"/>
          <a:ext cx="11671959" cy="2209752"/>
        </p:xfrm>
        <a:graphic>
          <a:graphicData uri="http://schemas.openxmlformats.org/presentationml/2006/ole">
            <mc:AlternateContent xmlns:mc="http://schemas.openxmlformats.org/markup-compatibility/2006">
              <mc:Choice xmlns:v="urn:schemas-microsoft-com:vml" Requires="v">
                <p:oleObj spid="_x0000_s16400" name="文档" r:id="rId4" imgW="3826872" imgH="724509" progId="Word.Document.12">
                  <p:embed/>
                </p:oleObj>
              </mc:Choice>
              <mc:Fallback>
                <p:oleObj name="文档" r:id="rId4" imgW="3826872" imgH="724509" progId="Word.Document.12">
                  <p:embed/>
                  <p:pic>
                    <p:nvPicPr>
                      <p:cNvPr id="0" name=""/>
                      <p:cNvPicPr/>
                      <p:nvPr/>
                    </p:nvPicPr>
                    <p:blipFill>
                      <a:blip r:embed="rId5"/>
                      <a:stretch>
                        <a:fillRect/>
                      </a:stretch>
                    </p:blipFill>
                    <p:spPr>
                      <a:xfrm>
                        <a:off x="432445" y="732471"/>
                        <a:ext cx="11671959" cy="2209752"/>
                      </a:xfrm>
                      <a:prstGeom prst="rect">
                        <a:avLst/>
                      </a:prstGeom>
                    </p:spPr>
                  </p:pic>
                </p:oleObj>
              </mc:Fallback>
            </mc:AlternateContent>
          </a:graphicData>
        </a:graphic>
      </p:graphicFrame>
      <p:sp>
        <p:nvSpPr>
          <p:cNvPr id="3" name="矩形 2"/>
          <p:cNvSpPr>
            <a:spLocks noChangeAspect="1"/>
          </p:cNvSpPr>
          <p:nvPr/>
        </p:nvSpPr>
        <p:spPr>
          <a:xfrm>
            <a:off x="361950" y="2952055"/>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作出函数</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y=k</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由图象可知</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(0,1]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ZMG1TRA165.eps" descr="id:2147510664;FounderCES"/>
          <p:cNvPicPr/>
          <p:nvPr/>
        </p:nvPicPr>
        <p:blipFill>
          <a:blip r:embed="rId6"/>
          <a:stretch>
            <a:fillRect/>
          </a:stretch>
        </p:blipFill>
        <p:spPr>
          <a:xfrm>
            <a:off x="5400997" y="3600127"/>
            <a:ext cx="3888432" cy="1974914"/>
          </a:xfrm>
          <a:prstGeom prst="rect">
            <a:avLst/>
          </a:prstGeom>
        </p:spPr>
      </p:pic>
    </p:spTree>
    <p:extLst>
      <p:ext uri="{BB962C8B-B14F-4D97-AF65-F5344CB8AC3E}">
        <p14:creationId xmlns:p14="http://schemas.microsoft.com/office/powerpoint/2010/main" val="114413711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647799"/>
            <a:ext cx="11683982" cy="5688632"/>
            <a:chOff x="361950" y="647799"/>
            <a:chExt cx="11683982" cy="5688632"/>
          </a:xfrm>
        </p:grpSpPr>
        <p:sp>
          <p:nvSpPr>
            <p:cNvPr id="4" name="矩形 3"/>
            <p:cNvSpPr>
              <a:spLocks noChangeAspect="1"/>
            </p:cNvSpPr>
            <p:nvPr/>
          </p:nvSpPr>
          <p:spPr>
            <a:xfrm>
              <a:off x="361950" y="647799"/>
              <a:ext cx="522450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专题五</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函数模型及其</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09915892"/>
                </p:ext>
              </p:extLst>
            </p:nvPr>
          </p:nvGraphicFramePr>
          <p:xfrm>
            <a:off x="373973" y="1339805"/>
            <a:ext cx="11671959" cy="1952165"/>
          </p:xfrm>
          <a:graphic>
            <a:graphicData uri="http://schemas.openxmlformats.org/presentationml/2006/ole">
              <mc:AlternateContent xmlns:mc="http://schemas.openxmlformats.org/markup-compatibility/2006">
                <mc:Choice xmlns:v="urn:schemas-microsoft-com:vml" Requires="v">
                  <p:oleObj spid="_x0000_s17436" name="文档" r:id="rId4" imgW="3826872" imgH="640054" progId="Word.Document.12">
                    <p:embed/>
                  </p:oleObj>
                </mc:Choice>
                <mc:Fallback>
                  <p:oleObj name="文档" r:id="rId4" imgW="3826872" imgH="640054" progId="Word.Document.12">
                    <p:embed/>
                    <p:pic>
                      <p:nvPicPr>
                        <p:cNvPr id="0" name=""/>
                        <p:cNvPicPr/>
                        <p:nvPr/>
                      </p:nvPicPr>
                      <p:blipFill>
                        <a:blip r:embed="rId5"/>
                        <a:stretch>
                          <a:fillRect/>
                        </a:stretch>
                      </p:blipFill>
                      <p:spPr>
                        <a:xfrm>
                          <a:off x="373973" y="1339805"/>
                          <a:ext cx="11671959" cy="1952165"/>
                        </a:xfrm>
                        <a:prstGeom prst="rect">
                          <a:avLst/>
                        </a:prstGeom>
                      </p:spPr>
                    </p:pic>
                  </p:oleObj>
                </mc:Fallback>
              </mc:AlternateContent>
            </a:graphicData>
          </a:graphic>
        </p:graphicFrame>
        <p:pic>
          <p:nvPicPr>
            <p:cNvPr id="7" name="ZMG1TRA166.eps" descr="id:2147510671;FounderCES"/>
            <p:cNvPicPr/>
            <p:nvPr/>
          </p:nvPicPr>
          <p:blipFill>
            <a:blip r:embed="rId6"/>
            <a:stretch>
              <a:fillRect/>
            </a:stretch>
          </p:blipFill>
          <p:spPr>
            <a:xfrm>
              <a:off x="6913165" y="3168079"/>
              <a:ext cx="3384376" cy="2104172"/>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3801208213"/>
                </p:ext>
              </p:extLst>
            </p:nvPr>
          </p:nvGraphicFramePr>
          <p:xfrm>
            <a:off x="361950" y="4587046"/>
            <a:ext cx="11671959" cy="1749385"/>
          </p:xfrm>
          <a:graphic>
            <a:graphicData uri="http://schemas.openxmlformats.org/presentationml/2006/ole">
              <mc:AlternateContent xmlns:mc="http://schemas.openxmlformats.org/markup-compatibility/2006">
                <mc:Choice xmlns:v="urn:schemas-microsoft-com:vml" Requires="v">
                  <p:oleObj spid="_x0000_s17437" name="文档" r:id="rId8" imgW="3826872" imgH="573569" progId="Word.Document.12">
                    <p:embed/>
                  </p:oleObj>
                </mc:Choice>
                <mc:Fallback>
                  <p:oleObj name="文档" r:id="rId8" imgW="3826872" imgH="573569" progId="Word.Document.12">
                    <p:embed/>
                    <p:pic>
                      <p:nvPicPr>
                        <p:cNvPr id="0" name=""/>
                        <p:cNvPicPr/>
                        <p:nvPr/>
                      </p:nvPicPr>
                      <p:blipFill>
                        <a:blip r:embed="rId9"/>
                        <a:stretch>
                          <a:fillRect/>
                        </a:stretch>
                      </p:blipFill>
                      <p:spPr>
                        <a:xfrm>
                          <a:off x="361950" y="4587046"/>
                          <a:ext cx="11671959" cy="1749385"/>
                        </a:xfrm>
                        <a:prstGeom prst="rect">
                          <a:avLst/>
                        </a:prstGeom>
                      </p:spPr>
                    </p:pic>
                  </p:oleObj>
                </mc:Fallback>
              </mc:AlternateContent>
            </a:graphicData>
          </a:graphic>
        </p:graphicFrame>
      </p:grpSp>
    </p:spTree>
    <p:extLst>
      <p:ext uri="{BB962C8B-B14F-4D97-AF65-F5344CB8AC3E}">
        <p14:creationId xmlns:p14="http://schemas.microsoft.com/office/powerpoint/2010/main" val="293382321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571561693"/>
              </p:ext>
            </p:extLst>
          </p:nvPr>
        </p:nvGraphicFramePr>
        <p:xfrm>
          <a:off x="355600" y="581025"/>
          <a:ext cx="11660188" cy="5830888"/>
        </p:xfrm>
        <a:graphic>
          <a:graphicData uri="http://schemas.openxmlformats.org/presentationml/2006/ole">
            <mc:AlternateContent xmlns:mc="http://schemas.openxmlformats.org/markup-compatibility/2006">
              <mc:Choice xmlns:v="urn:schemas-microsoft-com:vml" Requires="v">
                <p:oleObj spid="_x0000_s18448" name="文档" r:id="rId4" imgW="3837724" imgH="1923303" progId="Word.Document.12">
                  <p:embed/>
                </p:oleObj>
              </mc:Choice>
              <mc:Fallback>
                <p:oleObj name="文档" r:id="rId4" imgW="3837724" imgH="1923303" progId="Word.Document.12">
                  <p:embed/>
                  <p:pic>
                    <p:nvPicPr>
                      <p:cNvPr id="0" name=""/>
                      <p:cNvPicPr/>
                      <p:nvPr/>
                    </p:nvPicPr>
                    <p:blipFill>
                      <a:blip r:embed="rId5"/>
                      <a:stretch>
                        <a:fillRect/>
                      </a:stretch>
                    </p:blipFill>
                    <p:spPr>
                      <a:xfrm>
                        <a:off x="355600" y="581025"/>
                        <a:ext cx="11660188" cy="5830888"/>
                      </a:xfrm>
                      <a:prstGeom prst="rect">
                        <a:avLst/>
                      </a:prstGeom>
                    </p:spPr>
                  </p:pic>
                </p:oleObj>
              </mc:Fallback>
            </mc:AlternateContent>
          </a:graphicData>
        </a:graphic>
      </p:graphicFrame>
    </p:spTree>
    <p:extLst>
      <p:ext uri="{BB962C8B-B14F-4D97-AF65-F5344CB8AC3E}">
        <p14:creationId xmlns:p14="http://schemas.microsoft.com/office/powerpoint/2010/main" val="294015878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723975"/>
            <a:ext cx="11814462" cy="5488104"/>
            <a:chOff x="361950" y="723975"/>
            <a:chExt cx="11814462" cy="5488104"/>
          </a:xfrm>
        </p:grpSpPr>
        <p:sp>
          <p:nvSpPr>
            <p:cNvPr id="4" name="矩形 3"/>
            <p:cNvSpPr>
              <a:spLocks noChangeAspect="1"/>
            </p:cNvSpPr>
            <p:nvPr/>
          </p:nvSpPr>
          <p:spPr>
            <a:xfrm>
              <a:off x="361950" y="723975"/>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某投资公司拟投资开发某种新产品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市场评估能获得</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万</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万元的投资收益</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现公司准备制订一个对科研课题组的奖励方案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奖金</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随投资收益</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的增加而增加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且奖金不低于</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同时不超过投资收益的</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根据题目要求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写出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满足的条件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下面是公司预设的两个奖励方案的函数模型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646833668"/>
                </p:ext>
              </p:extLst>
            </p:nvPr>
          </p:nvGraphicFramePr>
          <p:xfrm>
            <a:off x="504453" y="4896271"/>
            <a:ext cx="11671959" cy="646704"/>
          </p:xfrm>
          <a:graphic>
            <a:graphicData uri="http://schemas.openxmlformats.org/presentationml/2006/ole">
              <mc:AlternateContent xmlns:mc="http://schemas.openxmlformats.org/markup-compatibility/2006">
                <mc:Choice xmlns:v="urn:schemas-microsoft-com:vml" Requires="v">
                  <p:oleObj spid="_x0000_s19471" name="文档" r:id="rId4" imgW="3826872" imgH="212034" progId="Word.Document.12">
                    <p:embed/>
                  </p:oleObj>
                </mc:Choice>
                <mc:Fallback>
                  <p:oleObj name="文档" r:id="rId4" imgW="3826872" imgH="212034" progId="Word.Document.12">
                    <p:embed/>
                    <p:pic>
                      <p:nvPicPr>
                        <p:cNvPr id="0" name=""/>
                        <p:cNvPicPr/>
                        <p:nvPr/>
                      </p:nvPicPr>
                      <p:blipFill>
                        <a:blip r:embed="rId5"/>
                        <a:stretch>
                          <a:fillRect/>
                        </a:stretch>
                      </p:blipFill>
                      <p:spPr>
                        <a:xfrm>
                          <a:off x="504453" y="4896271"/>
                          <a:ext cx="11671959" cy="646704"/>
                        </a:xfrm>
                        <a:prstGeom prst="rect">
                          <a:avLst/>
                        </a:prstGeom>
                      </p:spPr>
                    </p:pic>
                  </p:oleObj>
                </mc:Fallback>
              </mc:AlternateContent>
            </a:graphicData>
          </a:graphic>
        </p:graphicFrame>
        <p:sp>
          <p:nvSpPr>
            <p:cNvPr id="6" name="矩形 5"/>
            <p:cNvSpPr>
              <a:spLocks noChangeAspect="1"/>
            </p:cNvSpPr>
            <p:nvPr/>
          </p:nvSpPr>
          <p:spPr>
            <a:xfrm>
              <a:off x="361950" y="558536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试分别分析这两个函数模型是否符合公司的要求</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07824713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361950" y="2015951"/>
            <a:ext cx="11797967" cy="1947404"/>
            <a:chOff x="361950" y="2015951"/>
            <a:chExt cx="11797967" cy="1947404"/>
          </a:xfrm>
        </p:grpSpPr>
        <p:sp>
          <p:nvSpPr>
            <p:cNvPr id="7" name="矩形 6"/>
            <p:cNvSpPr>
              <a:spLocks noChangeAspect="1"/>
            </p:cNvSpPr>
            <p:nvPr/>
          </p:nvSpPr>
          <p:spPr>
            <a:xfrm>
              <a:off x="361950" y="201595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由题意得</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满足的条件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[10,1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单调递增</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23784374"/>
                </p:ext>
              </p:extLst>
            </p:nvPr>
          </p:nvGraphicFramePr>
          <p:xfrm>
            <a:off x="454859" y="3294707"/>
            <a:ext cx="11705058" cy="668648"/>
          </p:xfrm>
          <a:graphic>
            <a:graphicData uri="http://schemas.openxmlformats.org/presentationml/2006/ole">
              <mc:AlternateContent xmlns:mc="http://schemas.openxmlformats.org/markup-compatibility/2006">
                <mc:Choice xmlns:v="urn:schemas-microsoft-com:vml" Requires="v">
                  <p:oleObj spid="_x0000_s20495" name="文档" r:id="rId4" imgW="3837724" imgH="219229" progId="Word.Document.12">
                    <p:embed/>
                  </p:oleObj>
                </mc:Choice>
                <mc:Fallback>
                  <p:oleObj name="文档" r:id="rId4" imgW="3837724" imgH="219229" progId="Word.Document.12">
                    <p:embed/>
                    <p:pic>
                      <p:nvPicPr>
                        <p:cNvPr id="0" name=""/>
                        <p:cNvPicPr/>
                        <p:nvPr/>
                      </p:nvPicPr>
                      <p:blipFill>
                        <a:blip r:embed="rId5"/>
                        <a:stretch>
                          <a:fillRect/>
                        </a:stretch>
                      </p:blipFill>
                      <p:spPr>
                        <a:xfrm>
                          <a:off x="454859" y="3294707"/>
                          <a:ext cx="11705058" cy="668648"/>
                        </a:xfrm>
                        <a:prstGeom prst="rect">
                          <a:avLst/>
                        </a:prstGeom>
                      </p:spPr>
                    </p:pic>
                  </p:oleObj>
                </mc:Fallback>
              </mc:AlternateContent>
            </a:graphicData>
          </a:graphic>
        </p:graphicFrame>
      </p:grpSp>
    </p:spTree>
    <p:extLst>
      <p:ext uri="{BB962C8B-B14F-4D97-AF65-F5344CB8AC3E}">
        <p14:creationId xmlns:p14="http://schemas.microsoft.com/office/powerpoint/2010/main" val="173646869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32701005"/>
              </p:ext>
            </p:extLst>
          </p:nvPr>
        </p:nvGraphicFramePr>
        <p:xfrm>
          <a:off x="432445" y="883487"/>
          <a:ext cx="10607329" cy="4845504"/>
        </p:xfrm>
        <a:graphic>
          <a:graphicData uri="http://schemas.openxmlformats.org/presentationml/2006/ole">
            <mc:AlternateContent xmlns:mc="http://schemas.openxmlformats.org/markup-compatibility/2006">
              <mc:Choice xmlns:v="urn:schemas-microsoft-com:vml" Requires="v">
                <p:oleObj spid="_x0000_s21519" name="文档" r:id="rId4" imgW="3477813" imgH="1588690" progId="Word.Document.12">
                  <p:embed/>
                </p:oleObj>
              </mc:Choice>
              <mc:Fallback>
                <p:oleObj name="文档" r:id="rId4" imgW="3477813" imgH="1588690" progId="Word.Document.12">
                  <p:embed/>
                  <p:pic>
                    <p:nvPicPr>
                      <p:cNvPr id="0" name=""/>
                      <p:cNvPicPr/>
                      <p:nvPr/>
                    </p:nvPicPr>
                    <p:blipFill>
                      <a:blip r:embed="rId5"/>
                      <a:stretch>
                        <a:fillRect/>
                      </a:stretch>
                    </p:blipFill>
                    <p:spPr>
                      <a:xfrm>
                        <a:off x="432445" y="883487"/>
                        <a:ext cx="10607329" cy="4845504"/>
                      </a:xfrm>
                      <a:prstGeom prst="rect">
                        <a:avLst/>
                      </a:prstGeom>
                    </p:spPr>
                  </p:pic>
                </p:oleObj>
              </mc:Fallback>
            </mc:AlternateContent>
          </a:graphicData>
        </a:graphic>
      </p:graphicFrame>
    </p:spTree>
    <p:extLst>
      <p:ext uri="{BB962C8B-B14F-4D97-AF65-F5344CB8AC3E}">
        <p14:creationId xmlns:p14="http://schemas.microsoft.com/office/powerpoint/2010/main" val="10950564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863824"/>
            <a:ext cx="20311406" cy="4824535"/>
            <a:chOff x="361950" y="657960"/>
            <a:chExt cx="20311406" cy="4824535"/>
          </a:xfrm>
        </p:grpSpPr>
        <p:sp>
          <p:nvSpPr>
            <p:cNvPr id="3" name="矩形 2"/>
            <p:cNvSpPr>
              <a:spLocks noChangeAspect="1"/>
            </p:cNvSpPr>
            <p:nvPr/>
          </p:nvSpPr>
          <p:spPr>
            <a:xfrm>
              <a:off x="361950" y="666834"/>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对于函数模型</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4lg</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[10,1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单调递增</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4lg</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[10,1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上恒成立</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在同一平面直角坐标系中画出函数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4lg</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楷体" panose="02010609060101010101" pitchFamily="49" charset="-122"/>
                  <a:cs typeface="Times New Roman" panose="02020603050405020304" pitchFamily="18" charset="0"/>
                </a:rPr>
                <a:t>和</a:t>
              </a:r>
              <a:r>
                <a:rPr lang="en-US" altLang="zh-CN" dirty="0" smtClean="0">
                  <a:solidFill>
                    <a:srgbClr val="000000"/>
                  </a:solidFill>
                  <a:ea typeface="楷体" panose="02010609060101010101" pitchFamily="49" charset="-122"/>
                  <a:cs typeface="Times New Roman" panose="02020603050405020304" pitchFamily="18" charset="0"/>
                </a:rPr>
                <a:t>       </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92838869"/>
                </p:ext>
              </p:extLst>
            </p:nvPr>
          </p:nvGraphicFramePr>
          <p:xfrm>
            <a:off x="9001397" y="2952055"/>
            <a:ext cx="11671959" cy="646704"/>
          </p:xfrm>
          <a:graphic>
            <a:graphicData uri="http://schemas.openxmlformats.org/presentationml/2006/ole">
              <mc:AlternateContent xmlns:mc="http://schemas.openxmlformats.org/markup-compatibility/2006">
                <mc:Choice xmlns:v="urn:schemas-microsoft-com:vml" Requires="v">
                  <p:oleObj spid="_x0000_s22556" name="文档" r:id="rId4" imgW="3826872" imgH="212034" progId="Word.Document.12">
                    <p:embed/>
                  </p:oleObj>
                </mc:Choice>
                <mc:Fallback>
                  <p:oleObj name="文档" r:id="rId4" imgW="3826872" imgH="212034" progId="Word.Document.12">
                    <p:embed/>
                    <p:pic>
                      <p:nvPicPr>
                        <p:cNvPr id="0" name=""/>
                        <p:cNvPicPr/>
                        <p:nvPr/>
                      </p:nvPicPr>
                      <p:blipFill>
                        <a:blip r:embed="rId5"/>
                        <a:stretch>
                          <a:fillRect/>
                        </a:stretch>
                      </p:blipFill>
                      <p:spPr>
                        <a:xfrm>
                          <a:off x="9001397" y="2952055"/>
                          <a:ext cx="11671959" cy="646704"/>
                        </a:xfrm>
                        <a:prstGeom prst="rect">
                          <a:avLst/>
                        </a:prstGeom>
                      </p:spPr>
                    </p:pic>
                  </p:oleObj>
                </mc:Fallback>
              </mc:AlternateContent>
            </a:graphicData>
          </a:graphic>
        </p:graphicFrame>
        <p:pic>
          <p:nvPicPr>
            <p:cNvPr id="6" name="ZMG1TRA167.eps" descr="id:2147510678;FounderCES"/>
            <p:cNvPicPr/>
            <p:nvPr/>
          </p:nvPicPr>
          <p:blipFill>
            <a:blip r:embed="rId6"/>
            <a:stretch>
              <a:fillRect/>
            </a:stretch>
          </p:blipFill>
          <p:spPr>
            <a:xfrm>
              <a:off x="7624486" y="657960"/>
              <a:ext cx="3105103" cy="2304256"/>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138296897"/>
                </p:ext>
              </p:extLst>
            </p:nvPr>
          </p:nvGraphicFramePr>
          <p:xfrm>
            <a:off x="428948" y="4217719"/>
            <a:ext cx="11671959" cy="646704"/>
          </p:xfrm>
          <a:graphic>
            <a:graphicData uri="http://schemas.openxmlformats.org/presentationml/2006/ole">
              <mc:AlternateContent xmlns:mc="http://schemas.openxmlformats.org/markup-compatibility/2006">
                <mc:Choice xmlns:v="urn:schemas-microsoft-com:vml" Requires="v">
                  <p:oleObj spid="_x0000_s22557" name="文档" r:id="rId8" imgW="3826872" imgH="212034" progId="Word.Document.12">
                    <p:embed/>
                  </p:oleObj>
                </mc:Choice>
                <mc:Fallback>
                  <p:oleObj name="文档" r:id="rId8" imgW="3826872" imgH="212034" progId="Word.Document.12">
                    <p:embed/>
                    <p:pic>
                      <p:nvPicPr>
                        <p:cNvPr id="0" name=""/>
                        <p:cNvPicPr/>
                        <p:nvPr/>
                      </p:nvPicPr>
                      <p:blipFill>
                        <a:blip r:embed="rId9"/>
                        <a:stretch>
                          <a:fillRect/>
                        </a:stretch>
                      </p:blipFill>
                      <p:spPr>
                        <a:xfrm>
                          <a:off x="428948" y="4217719"/>
                          <a:ext cx="11671959" cy="646704"/>
                        </a:xfrm>
                        <a:prstGeom prst="rect">
                          <a:avLst/>
                        </a:prstGeom>
                      </p:spPr>
                    </p:pic>
                  </p:oleObj>
                </mc:Fallback>
              </mc:AlternateContent>
            </a:graphicData>
          </a:graphic>
        </p:graphicFrame>
        <p:sp>
          <p:nvSpPr>
            <p:cNvPr id="8" name="矩形 7"/>
            <p:cNvSpPr>
              <a:spLocks noChangeAspect="1"/>
            </p:cNvSpPr>
            <p:nvPr/>
          </p:nvSpPr>
          <p:spPr>
            <a:xfrm>
              <a:off x="375593" y="4799231"/>
              <a:ext cx="5745484"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故该函数模型符合公司的要求</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7578079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288429" y="1417583"/>
            <a:ext cx="249859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高考体验</a:t>
            </a:r>
          </a:p>
        </p:txBody>
      </p:sp>
      <p:sp>
        <p:nvSpPr>
          <p:cNvPr id="3" name="矩形 2"/>
          <p:cNvSpPr>
            <a:spLocks noChangeAspect="1"/>
          </p:cNvSpPr>
          <p:nvPr/>
        </p:nvSpPr>
        <p:spPr>
          <a:xfrm>
            <a:off x="361950" y="2078671"/>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考点一</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指数与对数</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运算</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361950" y="2808039"/>
            <a:ext cx="10807700" cy="12409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2020·</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baseline="30000"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log</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baseline="30000"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2log</a:t>
            </a:r>
            <a:r>
              <a:rPr lang="en-US" altLang="zh-CN" baseline="-25000"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err="1">
                <a:solidFill>
                  <a:srgbClr val="000000"/>
                </a:solidFill>
                <a:latin typeface="+mn-lt"/>
                <a:ea typeface="宋体" panose="02010600030101010101" pitchFamily="2" charset="-122"/>
                <a:cs typeface="Times New Roman" panose="02020603050405020304" pitchFamily="18" charset="0"/>
              </a:rPr>
              <a:t>A.</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&lt;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err="1">
                <a:solidFill>
                  <a:srgbClr val="000000"/>
                </a:solidFill>
                <a:latin typeface="+mn-lt"/>
                <a:ea typeface="宋体" panose="02010600030101010101" pitchFamily="2" charset="-122"/>
                <a:cs typeface="Times New Roman" panose="02020603050405020304" pitchFamily="18" charset="0"/>
              </a:rPr>
              <a:t>C.</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&gt;b</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err="1">
                <a:solidFill>
                  <a:srgbClr val="000000"/>
                </a:solidFill>
                <a:latin typeface="+mn-lt"/>
                <a:ea typeface="宋体" panose="02010600030101010101" pitchFamily="2" charset="-122"/>
                <a:cs typeface="Times New Roman" panose="02020603050405020304" pitchFamily="18" charset="0"/>
              </a:rPr>
              <a:t>D.</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&lt;b</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709678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84949"/>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由题意得</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2log</a:t>
            </a:r>
            <a:r>
              <a:rPr lang="en-US" altLang="zh-CN" baseline="-25000"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b&lt;</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令</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由指数函数与对数函数单调性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上单调递增</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&lt;f</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789025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61950" y="381832"/>
                <a:ext cx="10807700" cy="614758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(2024·</a:t>
                </a:r>
                <a:r>
                  <a:rPr lang="zh-CN" altLang="zh-CN" dirty="0">
                    <a:solidFill>
                      <a:srgbClr val="000000"/>
                    </a:solidFill>
                    <a:effectLst/>
                    <a:latin typeface="+mn-lt"/>
                    <a:ea typeface="楷体" panose="02010609060101010101" pitchFamily="49" charset="-122"/>
                    <a:cs typeface="Times New Roman" panose="02020603050405020304" pitchFamily="18" charset="0"/>
                  </a:rPr>
                  <a:t>全国</a:t>
                </a:r>
                <a:r>
                  <a:rPr lang="zh-CN" altLang="zh-CN" i="1" dirty="0">
                    <a:solidFill>
                      <a:srgbClr val="000000"/>
                    </a:solidFill>
                    <a:effectLst/>
                    <a:latin typeface="+mn-lt"/>
                    <a:ea typeface="宋体" panose="02010600030101010101" pitchFamily="2" charset="-122"/>
                    <a:cs typeface="宋体" panose="02010600030101010101" pitchFamily="2" charset="-122"/>
                  </a:rPr>
                  <a:t>Ⅱ</a:t>
                </a:r>
                <a:r>
                  <a:rPr lang="zh-CN" altLang="zh-CN" dirty="0">
                    <a:solidFill>
                      <a:srgbClr val="000000"/>
                    </a:solidFill>
                    <a:effectLst/>
                    <a:latin typeface="+mn-lt"/>
                    <a:ea typeface="楷体" panose="02010609060101010101" pitchFamily="49" charset="-122"/>
                    <a:cs typeface="Times New Roman" panose="02020603050405020304" pitchFamily="18" charset="0"/>
                  </a:rPr>
                  <a:t>高考</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已知</a:t>
                </a:r>
                <a:r>
                  <a:rPr lang="en-US" altLang="zh-CN" i="1" dirty="0">
                    <a:solidFill>
                      <a:srgbClr val="000000"/>
                    </a:solidFill>
                    <a:effectLst/>
                    <a:latin typeface="+mn-lt"/>
                    <a:ea typeface="宋体" panose="02010600030101010101" pitchFamily="2" charset="-122"/>
                    <a:cs typeface="Times New Roman" panose="02020603050405020304" pitchFamily="18" charset="0"/>
                  </a:rPr>
                  <a:t>a&gt;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宋体" panose="02010600030101010101" pitchFamily="2" charset="-122"/>
                    <a:cs typeface="Times New Roman" panose="02020603050405020304" pitchFamily="18" charset="0"/>
                  </a:rPr>
                  <a:t>且</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lo</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m:rPr>
                                <m:sty m:val="p"/>
                              </m:rPr>
                              <a:rPr lang="en-US" altLang="zh-CN">
                                <a:solidFill>
                                  <a:srgbClr val="000000"/>
                                </a:solidFill>
                                <a:effectLst/>
                                <a:latin typeface="+mn-lt"/>
                                <a:ea typeface="宋体" panose="02010600030101010101" pitchFamily="2" charset="-122"/>
                                <a:cs typeface="Times New Roman" panose="02020603050405020304" pitchFamily="18" charset="0"/>
                              </a:rPr>
                              <m:t>g</m:t>
                            </m:r>
                          </m:e>
                          <m:sub>
                            <m:r>
                              <a:rPr lang="en-US" altLang="zh-CN">
                                <a:solidFill>
                                  <a:srgbClr val="000000"/>
                                </a:solidFill>
                                <a:effectLst/>
                                <a:latin typeface="+mn-lt"/>
                                <a:ea typeface="宋体" panose="02010600030101010101" pitchFamily="2" charset="-122"/>
                                <a:cs typeface="Times New Roman" panose="02020603050405020304" pitchFamily="18" charset="0"/>
                              </a:rPr>
                              <m:t>8</m:t>
                            </m:r>
                          </m:sub>
                        </m:sSub>
                        <m:r>
                          <a:rPr lang="en-US" altLang="zh-CN" i="1">
                            <a:solidFill>
                              <a:srgbClr val="000000"/>
                            </a:solidFill>
                            <a:effectLst/>
                            <a:latin typeface="+mn-lt"/>
                            <a:ea typeface="宋体" panose="02010600030101010101" pitchFamily="2" charset="-122"/>
                            <a:cs typeface="Times New Roman" panose="02020603050405020304" pitchFamily="18" charset="0"/>
                          </a:rPr>
                          <m:t>𝑎</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lo</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m:rPr>
                                <m:sty m:val="p"/>
                              </m:rPr>
                              <a:rPr lang="en-US" altLang="zh-CN">
                                <a:solidFill>
                                  <a:srgbClr val="000000"/>
                                </a:solidFill>
                                <a:effectLst/>
                                <a:latin typeface="+mn-lt"/>
                                <a:ea typeface="宋体" panose="02010600030101010101" pitchFamily="2" charset="-122"/>
                                <a:cs typeface="Times New Roman" panose="02020603050405020304" pitchFamily="18" charset="0"/>
                              </a:rPr>
                              <m:t>g</m:t>
                            </m:r>
                          </m:e>
                          <m:sub>
                            <m:r>
                              <a:rPr lang="en-US" altLang="zh-CN" i="1">
                                <a:solidFill>
                                  <a:srgbClr val="000000"/>
                                </a:solidFill>
                                <a:effectLst/>
                                <a:latin typeface="+mn-lt"/>
                                <a:ea typeface="宋体" panose="02010600030101010101" pitchFamily="2" charset="-122"/>
                                <a:cs typeface="Times New Roman" panose="02020603050405020304" pitchFamily="18" charset="0"/>
                              </a:rPr>
                              <m:t>𝑎</m:t>
                            </m:r>
                          </m:sub>
                        </m:sSub>
                        <m:r>
                          <a:rPr lang="en-US" altLang="zh-CN">
                            <a:solidFill>
                              <a:srgbClr val="000000"/>
                            </a:solidFill>
                            <a:effectLst/>
                            <a:latin typeface="+mn-lt"/>
                            <a:ea typeface="宋体" panose="02010600030101010101" pitchFamily="2" charset="-122"/>
                            <a:cs typeface="Times New Roman" panose="02020603050405020304" pitchFamily="18" charset="0"/>
                          </a:rPr>
                          <m:t>4</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5</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smtClean="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由</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lo</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m:rPr>
                                <m:sty m:val="p"/>
                              </m:rPr>
                              <a:rPr lang="en-US" altLang="zh-CN">
                                <a:solidFill>
                                  <a:srgbClr val="000000"/>
                                </a:solidFill>
                                <a:effectLst/>
                                <a:latin typeface="+mn-lt"/>
                                <a:ea typeface="宋体" panose="02010600030101010101" pitchFamily="2" charset="-122"/>
                                <a:cs typeface="Times New Roman" panose="02020603050405020304" pitchFamily="18" charset="0"/>
                              </a:rPr>
                              <m:t>g</m:t>
                            </m:r>
                          </m:e>
                          <m:sub>
                            <m:r>
                              <a:rPr lang="en-US" altLang="zh-CN">
                                <a:solidFill>
                                  <a:srgbClr val="000000"/>
                                </a:solidFill>
                                <a:effectLst/>
                                <a:latin typeface="+mn-lt"/>
                                <a:ea typeface="宋体" panose="02010600030101010101" pitchFamily="2" charset="-122"/>
                                <a:cs typeface="Times New Roman" panose="02020603050405020304" pitchFamily="18" charset="0"/>
                              </a:rPr>
                              <m:t>8</m:t>
                            </m:r>
                          </m:sub>
                        </m:sSub>
                        <m:r>
                          <a:rPr lang="en-US" altLang="zh-CN" i="1">
                            <a:solidFill>
                              <a:srgbClr val="000000"/>
                            </a:solidFill>
                            <a:effectLst/>
                            <a:latin typeface="+mn-lt"/>
                            <a:ea typeface="宋体" panose="02010600030101010101" pitchFamily="2" charset="-122"/>
                            <a:cs typeface="Times New Roman" panose="02020603050405020304" pitchFamily="18" charset="0"/>
                          </a:rPr>
                          <m:t>𝑎</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lo</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m:rPr>
                                <m:sty m:val="p"/>
                              </m:rPr>
                              <a:rPr lang="en-US" altLang="zh-CN">
                                <a:solidFill>
                                  <a:srgbClr val="000000"/>
                                </a:solidFill>
                                <a:effectLst/>
                                <a:latin typeface="+mn-lt"/>
                                <a:ea typeface="宋体" panose="02010600030101010101" pitchFamily="2" charset="-122"/>
                                <a:cs typeface="Times New Roman" panose="02020603050405020304" pitchFamily="18" charset="0"/>
                              </a:rPr>
                              <m:t>g</m:t>
                            </m:r>
                          </m:e>
                          <m:sub>
                            <m:r>
                              <a:rPr lang="en-US" altLang="zh-CN" i="1">
                                <a:solidFill>
                                  <a:srgbClr val="000000"/>
                                </a:solidFill>
                                <a:effectLst/>
                                <a:latin typeface="+mn-lt"/>
                                <a:ea typeface="宋体" panose="02010600030101010101" pitchFamily="2" charset="-122"/>
                                <a:cs typeface="Times New Roman" panose="02020603050405020304" pitchFamily="18" charset="0"/>
                              </a:rPr>
                              <m:t>𝑎</m:t>
                            </m:r>
                          </m:sub>
                        </m:sSub>
                        <m:r>
                          <a:rPr lang="en-US" altLang="zh-CN">
                            <a:solidFill>
                              <a:srgbClr val="000000"/>
                            </a:solidFill>
                            <a:effectLst/>
                            <a:latin typeface="+mn-lt"/>
                            <a:ea typeface="宋体" panose="02010600030101010101" pitchFamily="2" charset="-122"/>
                            <a:cs typeface="Times New Roman" panose="02020603050405020304" pitchFamily="18" charset="0"/>
                          </a:rPr>
                          <m:t>4</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3</m:t>
                        </m:r>
                      </m:num>
                      <m:den>
                        <m:r>
                          <m:rPr>
                            <m:sty m:val="p"/>
                          </m:rPr>
                          <a:rPr lang="en-US" altLang="zh-CN">
                            <a:solidFill>
                              <a:srgbClr val="000000"/>
                            </a:solidFill>
                            <a:effectLst/>
                            <a:latin typeface="+mn-lt"/>
                            <a:ea typeface="宋体" panose="02010600030101010101" pitchFamily="2" charset="-122"/>
                            <a:cs typeface="Times New Roman" panose="02020603050405020304" pitchFamily="18" charset="0"/>
                          </a:rPr>
                          <m:t>lo</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m:rPr>
                                <m:sty m:val="p"/>
                              </m:rPr>
                              <a:rPr lang="en-US" altLang="zh-CN">
                                <a:solidFill>
                                  <a:srgbClr val="000000"/>
                                </a:solidFill>
                                <a:effectLst/>
                                <a:latin typeface="+mn-lt"/>
                                <a:ea typeface="宋体" panose="02010600030101010101" pitchFamily="2" charset="-122"/>
                                <a:cs typeface="Times New Roman" panose="02020603050405020304" pitchFamily="18" charset="0"/>
                              </a:rPr>
                              <m:t>g</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r>
                          <a:rPr lang="en-US" altLang="zh-CN" i="1">
                            <a:solidFill>
                              <a:srgbClr val="000000"/>
                            </a:solidFill>
                            <a:effectLst/>
                            <a:latin typeface="+mn-lt"/>
                            <a:ea typeface="宋体" panose="02010600030101010101" pitchFamily="2" charset="-122"/>
                            <a:cs typeface="Times New Roman" panose="02020603050405020304" pitchFamily="18" charset="0"/>
                          </a:rPr>
                          <m:t>𝑎</m:t>
                        </m:r>
                      </m:den>
                    </m:f>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5</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得</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5log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6</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即</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6)</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又</a:t>
                </a:r>
                <a:r>
                  <a:rPr lang="en-US" altLang="zh-CN" i="1" dirty="0">
                    <a:solidFill>
                      <a:srgbClr val="000000"/>
                    </a:solidFill>
                    <a:effectLst/>
                    <a:latin typeface="+mn-lt"/>
                    <a:ea typeface="宋体" panose="02010600030101010101" pitchFamily="2" charset="-122"/>
                    <a:cs typeface="Times New Roman" panose="02020603050405020304" pitchFamily="18" charset="0"/>
                  </a:rPr>
                  <a:t>a&gt;</a:t>
                </a:r>
                <a:r>
                  <a:rPr lang="en-US" altLang="zh-CN" dirty="0">
                    <a:solidFill>
                      <a:srgbClr val="000000"/>
                    </a:solidFill>
                    <a:effectLst/>
                    <a:latin typeface="+mn-lt"/>
                    <a:ea typeface="宋体" panose="02010600030101010101" pitchFamily="2" charset="-122"/>
                    <a:cs typeface="Times New Roman" panose="02020603050405020304" pitchFamily="18" charset="0"/>
                  </a:rPr>
                  <a:t>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则</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&gt;</a:t>
                </a:r>
                <a:r>
                  <a:rPr lang="en-US" altLang="zh-CN" dirty="0">
                    <a:solidFill>
                      <a:srgbClr val="000000"/>
                    </a:solidFill>
                    <a:effectLst/>
                    <a:latin typeface="+mn-lt"/>
                    <a:ea typeface="宋体" panose="02010600030101010101" pitchFamily="2" charset="-122"/>
                    <a:cs typeface="Times New Roman" panose="02020603050405020304" pitchFamily="18" charset="0"/>
                  </a:rPr>
                  <a:t>0,</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所以</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6,</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64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64</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61950" y="381832"/>
                <a:ext cx="10807700" cy="6147580"/>
              </a:xfrm>
              <a:prstGeom prst="rect">
                <a:avLst/>
              </a:prstGeom>
              <a:blipFill rotWithShape="0">
                <a:blip r:embed="rId2"/>
                <a:stretch>
                  <a:fillRect l="-1410" b="-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8119144"/>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down)">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61950" y="772151"/>
                <a:ext cx="10807700" cy="530529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考点二</a:t>
                </a:r>
                <a:r>
                  <a:rPr lang="zh-CN" altLang="zh-CN" i="1" dirty="0">
                    <a:solidFill>
                      <a:srgbClr val="000000"/>
                    </a:solidFill>
                    <a:effectLst/>
                    <a:ea typeface="宋体" panose="02010600030101010101" pitchFamily="2" charset="-122"/>
                    <a:cs typeface="Times New Roman" panose="02020603050405020304" pitchFamily="18" charset="0"/>
                  </a:rPr>
                  <a:t>　</a:t>
                </a:r>
                <a:r>
                  <a:rPr lang="zh-CN" altLang="zh-CN" dirty="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指数函数与对数函数的图象与性质</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(2024·</a:t>
                </a:r>
                <a:r>
                  <a:rPr lang="zh-CN" altLang="zh-CN" dirty="0">
                    <a:solidFill>
                      <a:srgbClr val="000000"/>
                    </a:solidFill>
                    <a:effectLst/>
                    <a:ea typeface="楷体" panose="02010609060101010101" pitchFamily="49" charset="-122"/>
                    <a:cs typeface="Times New Roman" panose="02020603050405020304" pitchFamily="18" charset="0"/>
                  </a:rPr>
                  <a:t>北京高考</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已知</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x</a:t>
                </a:r>
                <a:r>
                  <a:rPr lang="en-US" altLang="zh-CN" baseline="-25000"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y</a:t>
                </a:r>
                <a:r>
                  <a:rPr lang="en-US" altLang="zh-CN" baseline="-25000" dirty="0">
                    <a:solidFill>
                      <a:srgbClr val="000000"/>
                    </a:solidFill>
                    <a:effectLst/>
                    <a:ea typeface="宋体" panose="02010600030101010101" pitchFamily="2" charset="-122"/>
                    <a:cs typeface="Times New Roman" panose="02020603050405020304" pitchFamily="18" charset="0"/>
                  </a:rPr>
                  <a:t>1</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x</a:t>
                </a:r>
                <a:r>
                  <a:rPr lang="en-US" altLang="zh-CN" baseline="-25000" dirty="0">
                    <a:solidFill>
                      <a:srgbClr val="000000"/>
                    </a:solidFill>
                    <a:effectLst/>
                    <a:ea typeface="宋体" panose="02010600030101010101" pitchFamily="2" charset="-122"/>
                    <a:cs typeface="Times New Roman" panose="02020603050405020304" pitchFamily="18" charset="0"/>
                  </a:rPr>
                  <a:t>2</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y</a:t>
                </a:r>
                <a:r>
                  <a:rPr lang="en-US" altLang="zh-CN" baseline="-25000" dirty="0">
                    <a:solidFill>
                      <a:srgbClr val="000000"/>
                    </a:solidFill>
                    <a:effectLst/>
                    <a:ea typeface="宋体" panose="02010600030101010101" pitchFamily="2" charset="-122"/>
                    <a:cs typeface="Times New Roman" panose="02020603050405020304" pitchFamily="18" charset="0"/>
                  </a:rPr>
                  <a:t>2</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是函数</a:t>
                </a:r>
                <a:r>
                  <a:rPr lang="en-US" altLang="zh-CN" i="1" dirty="0">
                    <a:solidFill>
                      <a:srgbClr val="000000"/>
                    </a:solidFill>
                    <a:effectLst/>
                    <a:ea typeface="宋体" panose="02010600030101010101" pitchFamily="2" charset="-122"/>
                    <a:cs typeface="Times New Roman" panose="02020603050405020304" pitchFamily="18" charset="0"/>
                  </a:rPr>
                  <a:t>y=</a:t>
                </a:r>
                <a:r>
                  <a:rPr lang="en-US" altLang="zh-CN" dirty="0">
                    <a:solidFill>
                      <a:srgbClr val="000000"/>
                    </a:solidFill>
                    <a:effectLst/>
                    <a:ea typeface="宋体" panose="02010600030101010101" pitchFamily="2" charset="-122"/>
                    <a:cs typeface="Times New Roman" panose="02020603050405020304" pitchFamily="18" charset="0"/>
                  </a:rPr>
                  <a:t>2</a:t>
                </a:r>
                <a:r>
                  <a:rPr lang="en-US" altLang="zh-CN" i="1" baseline="30000" dirty="0">
                    <a:solidFill>
                      <a:srgbClr val="000000"/>
                    </a:solidFill>
                    <a:effectLst/>
                    <a:ea typeface="宋体" panose="02010600030101010101" pitchFamily="2" charset="-122"/>
                    <a:cs typeface="Times New Roman" panose="02020603050405020304" pitchFamily="18" charset="0"/>
                  </a:rPr>
                  <a:t>x</a:t>
                </a:r>
                <a:r>
                  <a:rPr lang="zh-CN" altLang="zh-CN" dirty="0">
                    <a:solidFill>
                      <a:srgbClr val="000000"/>
                    </a:solidFill>
                    <a:effectLst/>
                    <a:ea typeface="宋体" panose="02010600030101010101" pitchFamily="2" charset="-122"/>
                    <a:cs typeface="Times New Roman" panose="02020603050405020304" pitchFamily="18" charset="0"/>
                  </a:rPr>
                  <a:t>图象上不同的两点</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则下列正确的是</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i="1" dirty="0">
                    <a:solidFill>
                      <a:srgbClr val="000000"/>
                    </a:solidFill>
                    <a:effectLst/>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A.log</a:t>
                </a:r>
                <a:r>
                  <a:rPr lang="en-US" altLang="zh-CN" baseline="-25000" dirty="0">
                    <a:solidFill>
                      <a:srgbClr val="000000"/>
                    </a:solidFill>
                    <a:effectLs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&gt;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B.log</a:t>
                </a:r>
                <a:r>
                  <a:rPr lang="en-US" altLang="zh-CN" baseline="-25000" dirty="0">
                    <a:solidFill>
                      <a:srgbClr val="000000"/>
                    </a:solidFill>
                    <a:effectLs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&lt;</m:t>
                    </m:r>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C.log</a:t>
                </a:r>
                <a:r>
                  <a:rPr lang="en-US" altLang="zh-CN" baseline="-25000" dirty="0">
                    <a:solidFill>
                      <a:srgbClr val="000000"/>
                    </a:solidFill>
                    <a:effectLs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ea typeface="宋体" panose="02010600030101010101" pitchFamily="2" charset="-122"/>
                    <a:cs typeface="Times New Roman" panose="02020603050405020304" pitchFamily="18" charset="0"/>
                  </a:rPr>
                  <a:t>&gt;x</a:t>
                </a:r>
                <a:r>
                  <a:rPr lang="en-US" altLang="zh-CN" baseline="-25000" dirty="0">
                    <a:solidFill>
                      <a:srgbClr val="000000"/>
                    </a:solidFill>
                    <a:effectLst/>
                    <a:ea typeface="宋体" panose="02010600030101010101" pitchFamily="2" charset="-122"/>
                    <a:cs typeface="Times New Roman" panose="02020603050405020304" pitchFamily="18" charset="0"/>
                  </a:rPr>
                  <a:t>1</a:t>
                </a:r>
                <a:r>
                  <a:rPr lang="en-US" altLang="zh-CN" i="1" dirty="0">
                    <a:solidFill>
                      <a:srgbClr val="000000"/>
                    </a:solidFill>
                    <a:effectLst/>
                    <a:ea typeface="宋体" panose="02010600030101010101" pitchFamily="2" charset="-122"/>
                    <a:cs typeface="Times New Roman" panose="02020603050405020304" pitchFamily="18" charset="0"/>
                  </a:rPr>
                  <a:t>+x</a:t>
                </a:r>
                <a:r>
                  <a:rPr lang="en-US" altLang="zh-CN" baseline="-25000" dirty="0">
                    <a:solidFill>
                      <a:srgbClr val="000000"/>
                    </a:solidFill>
                    <a:effectLst/>
                    <a:ea typeface="宋体" panose="02010600030101010101" pitchFamily="2" charset="-122"/>
                    <a:cs typeface="Times New Roman" panose="02020603050405020304" pitchFamily="18" charset="0"/>
                  </a:rPr>
                  <a:t>2</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ea typeface="宋体" panose="02010600030101010101" pitchFamily="2" charset="-122"/>
                    <a:cs typeface="Times New Roman" panose="02020603050405020304" pitchFamily="18" charset="0"/>
                  </a:rPr>
                  <a:t>D.log</a:t>
                </a:r>
                <a:r>
                  <a:rPr lang="en-US" altLang="zh-CN" baseline="-25000" dirty="0">
                    <a:solidFill>
                      <a:srgbClr val="000000"/>
                    </a:solidFill>
                    <a:effectLs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oMath>
                </a14:m>
                <a:r>
                  <a:rPr lang="en-US" altLang="zh-CN" i="1" dirty="0">
                    <a:solidFill>
                      <a:srgbClr val="000000"/>
                    </a:solidFill>
                    <a:effectLst/>
                    <a:ea typeface="宋体" panose="02010600030101010101" pitchFamily="2" charset="-122"/>
                    <a:cs typeface="Times New Roman" panose="02020603050405020304" pitchFamily="18" charset="0"/>
                  </a:rPr>
                  <a:t>&lt;x</a:t>
                </a:r>
                <a:r>
                  <a:rPr lang="en-US" altLang="zh-CN" baseline="-25000" dirty="0">
                    <a:solidFill>
                      <a:srgbClr val="000000"/>
                    </a:solidFill>
                    <a:effectLst/>
                    <a:ea typeface="宋体" panose="02010600030101010101" pitchFamily="2" charset="-122"/>
                    <a:cs typeface="Times New Roman" panose="02020603050405020304" pitchFamily="18" charset="0"/>
                  </a:rPr>
                  <a:t>1</a:t>
                </a:r>
                <a:r>
                  <a:rPr lang="en-US" altLang="zh-CN" i="1" dirty="0">
                    <a:solidFill>
                      <a:srgbClr val="000000"/>
                    </a:solidFill>
                    <a:effectLst/>
                    <a:ea typeface="宋体" panose="02010600030101010101" pitchFamily="2" charset="-122"/>
                    <a:cs typeface="Times New Roman" panose="02020603050405020304" pitchFamily="18" charset="0"/>
                  </a:rPr>
                  <a:t>+x</a:t>
                </a:r>
                <a:r>
                  <a:rPr lang="en-US" altLang="zh-CN" baseline="-25000" dirty="0">
                    <a:solidFill>
                      <a:srgbClr val="000000"/>
                    </a:solidFill>
                    <a:effectLst/>
                    <a:ea typeface="宋体" panose="02010600030101010101" pitchFamily="2" charset="-122"/>
                    <a:cs typeface="Times New Roman" panose="02020603050405020304" pitchFamily="18" charset="0"/>
                  </a:rPr>
                  <a:t>2</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61950" y="772151"/>
                <a:ext cx="10807700" cy="5305298"/>
              </a:xfrm>
              <a:prstGeom prst="rect">
                <a:avLst/>
              </a:prstGeom>
              <a:blipFill rotWithShape="0">
                <a:blip r:embed="rId2"/>
                <a:stretch>
                  <a:fillRect l="-1410" t="-575" r="-9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76603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61950" y="832095"/>
                <a:ext cx="10807700" cy="500028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方法</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sup>
                    </m:sSup>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sup>
                    </m:sSup>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smtClean="0">
                    <a:solidFill>
                      <a:srgbClr val="000000"/>
                    </a:solidFill>
                    <a:effectLst/>
                    <a:latin typeface="+mn-lt"/>
                    <a:ea typeface="宋体" panose="02010600030101010101" pitchFamily="2" charset="-122"/>
                    <a:cs typeface="宋体" panose="02010600030101010101" pitchFamily="2" charset="-122"/>
                  </a:rPr>
                  <a:t>∴</a:t>
                </a:r>
                <a:endParaRPr lang="en-US" altLang="zh-CN" i="1" dirty="0" smtClean="0">
                  <a:solidFill>
                    <a:srgbClr val="000000"/>
                  </a:solidFill>
                  <a:effectLst/>
                  <a:latin typeface="+mn-lt"/>
                  <a:ea typeface="宋体" panose="02010600030101010101" pitchFamily="2" charset="-122"/>
                  <a:cs typeface="宋体" panose="02010600030101010101" pitchFamily="2" charset="-122"/>
                </a:endParaRPr>
              </a:p>
              <a:p>
                <a:pPr>
                  <a:lnSpc>
                    <a:spcPct val="120000"/>
                  </a:lnSpc>
                  <a:spcAft>
                    <a:spcPts val="0"/>
                  </a:spcAft>
                  <a:tabLst>
                    <a:tab pos="1188085" algn="l"/>
                    <a:tab pos="2163445" algn="l"/>
                    <a:tab pos="3142615" algn="l"/>
                    <a:tab pos="4190365" algn="l"/>
                  </a:tabLst>
                </a:pPr>
                <a:r>
                  <a:rPr lang="en-US" altLang="zh-CN" i="1" dirty="0" smtClean="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smtClean="0">
                    <a:solidFill>
                      <a:srgbClr val="000000"/>
                    </a:solidFill>
                    <a:effectLst/>
                    <a:latin typeface="+mn-lt"/>
                    <a:ea typeface="宋体" panose="02010600030101010101" pitchFamily="2" charset="-122"/>
                    <a:cs typeface="Times New Roman" panose="02020603050405020304" pitchFamily="18" charset="0"/>
                  </a:rPr>
                  <a:t>1</a:t>
                </a:r>
                <a:r>
                  <a:rPr lang="en-US" altLang="zh-CN" i="1" dirty="0" smtClean="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smtClean="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sup>
                    </m:sSup>
                    <m:r>
                      <a:rPr lang="en-US" altLang="zh-CN" i="1">
                        <a:solidFill>
                          <a:srgbClr val="000000"/>
                        </a:solidFill>
                        <a:effectLst/>
                        <a:latin typeface="+mn-lt"/>
                        <a:ea typeface="宋体" panose="02010600030101010101" pitchFamily="2" charset="-122"/>
                        <a:cs typeface="Times New Roman" panose="02020603050405020304" pitchFamily="18" charset="0"/>
                      </a:rPr>
                      <m:t>+</m:t>
                    </m:r>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sup>
                    </m:sSup>
                  </m:oMath>
                </a14:m>
                <a:r>
                  <a:rPr lang="en-US" altLang="zh-CN" i="1" dirty="0">
                    <a:solidFill>
                      <a:srgbClr val="000000"/>
                    </a:solidFill>
                    <a:effectLst/>
                    <a:latin typeface="+mn-lt"/>
                    <a:ea typeface="宋体" panose="02010600030101010101" pitchFamily="2" charset="-122"/>
                    <a:cs typeface="Times New Roman" panose="02020603050405020304" pitchFamily="18" charset="0"/>
                  </a:rPr>
                  <a:t>&gt;</a:t>
                </a:r>
                <a:r>
                  <a:rPr lang="en-US" altLang="zh-CN"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rad>
                      <m:radPr>
                        <m:degHide m:val="on"/>
                        <m:ctrlPr>
                          <a:rPr lang="zh-CN" altLang="zh-CN" i="1">
                            <a:solidFill>
                              <a:srgbClr val="000000"/>
                            </a:solidFill>
                            <a:effectLst/>
                            <a:latin typeface="+mn-lt"/>
                            <a:ea typeface="Cambria Math" panose="02040503050406030204" pitchFamily="18" charset="0"/>
                            <a:cs typeface="Times New Roman" panose="02020603050405020304" pitchFamily="18" charset="0"/>
                          </a:rPr>
                        </m:ctrlPr>
                      </m:radPr>
                      <m:deg/>
                      <m:e>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sup>
                        </m:sSup>
                        <m:r>
                          <m:rPr>
                            <m:nor/>
                          </m:rPr>
                          <a:rPr lang="en-US" altLang="zh-CN">
                            <a:solidFill>
                              <a:srgbClr val="000000"/>
                            </a:solidFill>
                            <a:effectLst/>
                            <a:latin typeface="+mn-lt"/>
                            <a:ea typeface="宋体" panose="02010600030101010101" pitchFamily="2" charset="-122"/>
                            <a:cs typeface="Times New Roman" panose="02020603050405020304" pitchFamily="18" charset="0"/>
                          </a:rPr>
                          <m:t>·</m:t>
                        </m:r>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sup>
                        </m:sSup>
                      </m:e>
                    </m:rad>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sup>
                    </m:sSup>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effectLst/>
                    <a:latin typeface="+mn-lt"/>
                    <a:ea typeface="宋体" panose="02010600030101010101" pitchFamily="2" charset="-122"/>
                    <a:cs typeface="宋体" panose="02010600030101010101" pitchFamily="2" charset="-122"/>
                  </a:rPr>
                  <a:t>∴</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𝑦</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𝑦</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&gt;</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r>
                          <a:rPr lang="en-US" altLang="zh-CN">
                            <a:solidFill>
                              <a:srgbClr val="000000"/>
                            </a:solidFill>
                            <a:effectLst/>
                            <a:latin typeface="+mn-lt"/>
                            <a:ea typeface="宋体" panose="02010600030101010101" pitchFamily="2" charset="-122"/>
                            <a:cs typeface="Times New Roman" panose="02020603050405020304" pitchFamily="18" charset="0"/>
                          </a:rPr>
                          <m:t>2</m:t>
                        </m:r>
                      </m:e>
                      <m:sup>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sup>
                    </m:sSup>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故选</a:t>
                </a:r>
                <a:r>
                  <a:rPr lang="en-US" altLang="zh-CN" dirty="0">
                    <a:solidFill>
                      <a:srgbClr val="000000"/>
                    </a:solidFill>
                    <a:effectLst/>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方法</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楷体" panose="02010609060101010101" pitchFamily="49" charset="-122"/>
                    <a:cs typeface="Times New Roman" panose="02020603050405020304" pitchFamily="18" charset="0"/>
                  </a:rPr>
                  <a:t>特值法</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令</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zh-CN" altLang="zh-CN" dirty="0">
                    <a:solidFill>
                      <a:srgbClr val="000000"/>
                    </a:solidFill>
                    <a:effectLst/>
                    <a:latin typeface="+mn-lt"/>
                    <a:ea typeface="楷体" panose="02010609060101010101" pitchFamily="49"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令</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3,</a:t>
                </a:r>
                <a:r>
                  <a:rPr lang="zh-CN" altLang="zh-CN" dirty="0">
                    <a:solidFill>
                      <a:srgbClr val="000000"/>
                    </a:solidFill>
                    <a:effectLst/>
                    <a:latin typeface="+mn-lt"/>
                    <a:ea typeface="楷体" panose="02010609060101010101" pitchFamily="49"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y</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8</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𝑦</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𝑦</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2+8</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effectLst/>
                    <a:latin typeface="+mn-lt"/>
                    <a:ea typeface="宋体" panose="02010600030101010101" pitchFamily="2" charset="-122"/>
                    <a:cs typeface="Times New Roman" panose="02020603050405020304" pitchFamily="18" charset="0"/>
                  </a:rPr>
                  <a:t>5</a:t>
                </a:r>
                <a:r>
                  <a:rPr lang="en-US" altLang="zh-CN" i="1" dirty="0">
                    <a:solidFill>
                      <a:srgbClr val="000000"/>
                    </a:solidFill>
                    <a:effectLst/>
                    <a:latin typeface="+mn-lt"/>
                    <a:ea typeface="宋体" panose="02010600030101010101" pitchFamily="2" charset="-122"/>
                    <a:cs typeface="Times New Roman" panose="02020603050405020304" pitchFamily="18" charset="0"/>
                  </a:rPr>
                  <a:t>&gt;</a:t>
                </a:r>
                <a:r>
                  <a:rPr lang="en-US" altLang="zh-CN" dirty="0">
                    <a:solidFill>
                      <a:srgbClr val="000000"/>
                    </a:solidFill>
                    <a:effectLst/>
                    <a:latin typeface="+mn-lt"/>
                    <a:ea typeface="宋体" panose="02010600030101010101" pitchFamily="2" charset="-122"/>
                    <a:cs typeface="Times New Roman" panose="02020603050405020304" pitchFamily="18" charset="0"/>
                  </a:rPr>
                  <a:t>log</a:t>
                </a:r>
                <a:r>
                  <a:rPr lang="en-US" altLang="zh-CN" baseline="-25000" dirty="0">
                    <a:solidFill>
                      <a:srgbClr val="000000"/>
                    </a:solidFill>
                    <a:effectLst/>
                    <a:latin typeface="+mn-lt"/>
                    <a:ea typeface="宋体" panose="02010600030101010101" pitchFamily="2" charset="-122"/>
                    <a:cs typeface="Times New Roman" panose="02020603050405020304" pitchFamily="18" charset="0"/>
                  </a:rPr>
                  <a:t>2</a:t>
                </a:r>
                <a:r>
                  <a:rPr lang="en-US" altLang="zh-CN" dirty="0">
                    <a:solidFill>
                      <a:srgbClr val="000000"/>
                    </a:solidFill>
                    <a:effectLst/>
                    <a:latin typeface="+mn-lt"/>
                    <a:ea typeface="宋体" panose="02010600030101010101" pitchFamily="2" charset="-122"/>
                    <a:cs typeface="Times New Roman" panose="02020603050405020304" pitchFamily="18" charset="0"/>
                  </a:rPr>
                  <a:t>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1</m:t>
                            </m:r>
                          </m:sub>
                        </m:sSub>
                        <m:r>
                          <a:rPr lang="en-US" altLang="zh-CN">
                            <a:solidFill>
                              <a:srgbClr val="000000"/>
                            </a:solidFill>
                            <a:effectLst/>
                            <a:latin typeface="+mn-lt"/>
                            <a:ea typeface="宋体" panose="02010600030101010101" pitchFamily="2" charset="-122"/>
                            <a:cs typeface="Times New Roman" panose="02020603050405020304" pitchFamily="18" charset="0"/>
                          </a:rPr>
                          <m:t>+</m:t>
                        </m:r>
                        <m:sSub>
                          <m:sSub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bPr>
                          <m:e>
                            <m:r>
                              <a:rPr lang="en-US" altLang="zh-CN" i="1">
                                <a:solidFill>
                                  <a:srgbClr val="000000"/>
                                </a:solidFill>
                                <a:effectLst/>
                                <a:latin typeface="+mn-lt"/>
                                <a:ea typeface="宋体" panose="02010600030101010101" pitchFamily="2" charset="-122"/>
                                <a:cs typeface="Times New Roman" panose="02020603050405020304" pitchFamily="18" charset="0"/>
                              </a:rPr>
                              <m:t>𝑥</m:t>
                            </m:r>
                          </m:e>
                          <m:sub>
                            <m:r>
                              <a:rPr lang="en-US" altLang="zh-CN">
                                <a:solidFill>
                                  <a:srgbClr val="000000"/>
                                </a:solidFill>
                                <a:effectLst/>
                                <a:latin typeface="+mn-lt"/>
                                <a:ea typeface="宋体" panose="02010600030101010101" pitchFamily="2" charset="-122"/>
                                <a:cs typeface="Times New Roman" panose="02020603050405020304" pitchFamily="18" charset="0"/>
                              </a:rPr>
                              <m:t>2</m:t>
                            </m:r>
                          </m:sub>
                        </m:sSub>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故选</a:t>
                </a:r>
                <a:r>
                  <a:rPr lang="en-US" altLang="zh-CN" dirty="0">
                    <a:solidFill>
                      <a:srgbClr val="000000"/>
                    </a:solidFill>
                    <a:effectLst/>
                    <a:latin typeface="+mn-lt"/>
                    <a:ea typeface="宋体" panose="02010600030101010101" pitchFamily="2" charset="-122"/>
                    <a:cs typeface="Times New Roman" panose="02020603050405020304" pitchFamily="18" charset="0"/>
                  </a:rPr>
                  <a:t>A</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61950" y="832095"/>
                <a:ext cx="10807700" cy="5000280"/>
              </a:xfrm>
              <a:prstGeom prst="rect">
                <a:avLst/>
              </a:prstGeom>
              <a:blipFill rotWithShape="0">
                <a:blip r:embed="rId2"/>
                <a:stretch>
                  <a:fillRect l="-1410" t="-1218" b="-37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04442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wipe(down)">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61950" y="708627"/>
                <a:ext cx="10807700" cy="545110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(2024·</a:t>
                </a:r>
                <a:r>
                  <a:rPr lang="zh-CN" altLang="zh-CN" dirty="0">
                    <a:solidFill>
                      <a:srgbClr val="000000"/>
                    </a:solidFill>
                    <a:effectLst/>
                    <a:latin typeface="+mn-lt"/>
                    <a:ea typeface="楷体" panose="02010609060101010101" pitchFamily="49" charset="-122"/>
                    <a:cs typeface="Times New Roman" panose="02020603050405020304" pitchFamily="18" charset="0"/>
                  </a:rPr>
                  <a:t>新高考卷</a:t>
                </a:r>
                <a:r>
                  <a:rPr lang="zh-CN" altLang="zh-CN" i="1" dirty="0">
                    <a:solidFill>
                      <a:srgbClr val="000000"/>
                    </a:solidFill>
                    <a:effectLst/>
                    <a:latin typeface="+mn-lt"/>
                    <a:ea typeface="宋体" panose="02010600030101010101" pitchFamily="2" charset="-122"/>
                    <a:cs typeface="宋体" panose="02010600030101010101" pitchFamily="2" charset="-122"/>
                  </a:rPr>
                  <a:t>Ⅱ</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设函数</a:t>
                </a:r>
                <a:r>
                  <a:rPr lang="en-US" altLang="zh-CN" i="1" dirty="0">
                    <a:solidFill>
                      <a:srgbClr val="000000"/>
                    </a:solidFill>
                    <a:effectLst/>
                    <a:latin typeface="+mn-lt"/>
                    <a:ea typeface="宋体" panose="02010600030101010101" pitchFamily="2" charset="-122"/>
                    <a:cs typeface="Times New Roman" panose="02020603050405020304" pitchFamily="18" charset="0"/>
                  </a:rPr>
                  <a:t>f</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x+a</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err="1">
                    <a:solidFill>
                      <a:srgbClr val="000000"/>
                    </a:solidFill>
                    <a:effectLst/>
                    <a:latin typeface="+mn-lt"/>
                    <a:ea typeface="宋体" panose="02010600030101010101" pitchFamily="2" charset="-122"/>
                    <a:cs typeface="Times New Roman" panose="02020603050405020304" pitchFamily="18" charset="0"/>
                  </a:rPr>
                  <a:t>ln</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x+b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宋体" panose="02010600030101010101" pitchFamily="2" charset="-122"/>
                    <a:cs typeface="Times New Roman" panose="02020603050405020304" pitchFamily="18" charset="0"/>
                  </a:rPr>
                  <a:t>若</a:t>
                </a:r>
                <a:r>
                  <a:rPr lang="en-US" altLang="zh-CN" i="1" dirty="0">
                    <a:solidFill>
                      <a:srgbClr val="000000"/>
                    </a:solidFill>
                    <a:effectLst/>
                    <a:latin typeface="+mn-lt"/>
                    <a:ea typeface="宋体" panose="02010600030101010101" pitchFamily="2" charset="-122"/>
                    <a:cs typeface="Times New Roman" panose="02020603050405020304" pitchFamily="18" charset="0"/>
                  </a:rPr>
                  <a:t>f</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宋体" panose="02010600030101010101" pitchFamily="2" charset="-122"/>
                    <a:cs typeface="Times New Roman" panose="02020603050405020304" pitchFamily="18" charset="0"/>
                  </a:rPr>
                  <a:t>则</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zh-CN" altLang="zh-CN" dirty="0">
                    <a:solidFill>
                      <a:srgbClr val="000000"/>
                    </a:solidFill>
                    <a:effectLst/>
                    <a:latin typeface="+mn-lt"/>
                    <a:ea typeface="宋体" panose="02010600030101010101" pitchFamily="2" charset="-122"/>
                    <a:cs typeface="Times New Roman" panose="02020603050405020304" pitchFamily="18" charset="0"/>
                  </a:rPr>
                  <a:t>的最小值为</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i="1" dirty="0">
                    <a:solidFill>
                      <a:srgbClr val="000000"/>
                    </a:solidFill>
                    <a:effectLst/>
                    <a:latin typeface="+mn-lt"/>
                    <a:ea typeface="宋体" panose="02010600030101010101" pitchFamily="2" charset="-122"/>
                    <a:cs typeface="Times New Roman" panose="02020603050405020304" pitchFamily="18" charset="0"/>
                  </a:rPr>
                  <a:t>　　</a:t>
                </a:r>
                <a:r>
                  <a:rPr lang="en-US" altLang="zh-CN"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8</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B.</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4</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C.</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	D.1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当</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x+a</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当</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x+a</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当</a:t>
                </a:r>
                <a:r>
                  <a:rPr lang="en-US" altLang="zh-CN" i="1" dirty="0">
                    <a:solidFill>
                      <a:srgbClr val="000000"/>
                    </a:solidFill>
                    <a:effectLst/>
                    <a:latin typeface="+mn-lt"/>
                    <a:ea typeface="宋体" panose="02010600030101010101" pitchFamily="2" charset="-122"/>
                    <a:cs typeface="Times New Roman" panose="02020603050405020304" pitchFamily="18" charset="0"/>
                  </a:rPr>
                  <a:t>-b&lt;x</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smtClean="0">
                    <a:solidFill>
                      <a:srgbClr val="000000"/>
                    </a:solidFill>
                    <a:effectLst/>
                    <a:latin typeface="+mn-lt"/>
                    <a:ea typeface="宋体" panose="02010600030101010101" pitchFamily="2" charset="-122"/>
                    <a:cs typeface="Times New Roman" panose="02020603050405020304" pitchFamily="18" charset="0"/>
                  </a:rPr>
                  <a:t>, </a:t>
                </a:r>
                <a:r>
                  <a:rPr lang="en-US" altLang="zh-CN" dirty="0" err="1" smtClean="0">
                    <a:solidFill>
                      <a:srgbClr val="000000"/>
                    </a:solidFill>
                    <a:effectLst/>
                    <a:latin typeface="+mn-lt"/>
                    <a:ea typeface="宋体" panose="02010600030101010101" pitchFamily="2" charset="-122"/>
                    <a:cs typeface="Times New Roman" panose="02020603050405020304" pitchFamily="18" charset="0"/>
                  </a:rPr>
                  <a:t>ln</a:t>
                </a:r>
                <a:r>
                  <a:rPr lang="en-US" altLang="zh-CN" dirty="0" smtClean="0">
                    <a:solidFill>
                      <a:srgbClr val="000000"/>
                    </a:solidFill>
                    <a:effectLst/>
                    <a:latin typeface="+mn-lt"/>
                    <a:ea typeface="宋体" panose="02010600030101010101" pitchFamily="2" charset="-122"/>
                    <a:cs typeface="Times New Roman" panose="02020603050405020304" pitchFamily="18" charset="0"/>
                  </a:rPr>
                  <a:t>(</a:t>
                </a:r>
                <a:r>
                  <a:rPr lang="en-US" altLang="zh-CN" i="1" dirty="0" err="1" smtClean="0">
                    <a:solidFill>
                      <a:srgbClr val="000000"/>
                    </a:solidFill>
                    <a:effectLst/>
                    <a:latin typeface="+mn-lt"/>
                    <a:ea typeface="宋体" panose="02010600030101010101" pitchFamily="2" charset="-122"/>
                    <a:cs typeface="Times New Roman" panose="02020603050405020304" pitchFamily="18" charset="0"/>
                  </a:rPr>
                  <a:t>x+b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当</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err="1">
                    <a:solidFill>
                      <a:srgbClr val="000000"/>
                    </a:solidFill>
                    <a:effectLst/>
                    <a:latin typeface="+mn-lt"/>
                    <a:ea typeface="宋体" panose="02010600030101010101" pitchFamily="2" charset="-122"/>
                    <a:cs typeface="Times New Roman" panose="02020603050405020304" pitchFamily="18" charset="0"/>
                  </a:rPr>
                  <a:t>ln</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err="1">
                    <a:solidFill>
                      <a:srgbClr val="000000"/>
                    </a:solidFill>
                    <a:effectLst/>
                    <a:latin typeface="+mn-lt"/>
                    <a:ea typeface="宋体" panose="02010600030101010101" pitchFamily="2" charset="-122"/>
                    <a:cs typeface="Times New Roman" panose="02020603050405020304" pitchFamily="18" charset="0"/>
                  </a:rPr>
                  <a:t>x+b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要使</a:t>
                </a:r>
                <a:r>
                  <a:rPr lang="en-US" altLang="zh-CN" i="1" dirty="0">
                    <a:solidFill>
                      <a:srgbClr val="000000"/>
                    </a:solidFill>
                    <a:effectLst/>
                    <a:latin typeface="+mn-lt"/>
                    <a:ea typeface="宋体" panose="02010600030101010101" pitchFamily="2" charset="-122"/>
                    <a:cs typeface="Times New Roman" panose="02020603050405020304" pitchFamily="18" charset="0"/>
                  </a:rPr>
                  <a:t>f</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x</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NEU-BZ-S92" panose="02020503000000020003" pitchFamily="18"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0,</a:t>
                </a:r>
                <a:r>
                  <a:rPr lang="zh-CN" altLang="zh-CN" dirty="0">
                    <a:solidFill>
                      <a:srgbClr val="000000"/>
                    </a:solidFill>
                    <a:effectLst/>
                    <a:latin typeface="+mn-lt"/>
                    <a:ea typeface="楷体" panose="02010609060101010101" pitchFamily="49" charset="-122"/>
                    <a:cs typeface="Times New Roman" panose="02020603050405020304" pitchFamily="18" charset="0"/>
                  </a:rPr>
                  <a:t>需</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即</a:t>
                </a:r>
                <a:r>
                  <a:rPr lang="en-US" altLang="zh-CN" i="1" dirty="0">
                    <a:solidFill>
                      <a:srgbClr val="000000"/>
                    </a:solidFill>
                    <a:effectLst/>
                    <a:latin typeface="+mn-lt"/>
                    <a:ea typeface="宋体" panose="02010600030101010101" pitchFamily="2" charset="-122"/>
                    <a:cs typeface="Times New Roman" panose="02020603050405020304" pitchFamily="18" charset="0"/>
                  </a:rPr>
                  <a:t>b=a+</a:t>
                </a:r>
                <a:r>
                  <a:rPr lang="en-US" altLang="zh-CN" dirty="0">
                    <a:solidFill>
                      <a:srgbClr val="000000"/>
                    </a:solidFill>
                    <a:effectLst/>
                    <a:latin typeface="+mn-lt"/>
                    <a:ea typeface="宋体" panose="02010600030101010101" pitchFamily="2" charset="-122"/>
                    <a:cs typeface="Times New Roman" panose="02020603050405020304" pitchFamily="18" charset="0"/>
                  </a:rPr>
                  <a:t>1,</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ffectLst/>
                    <a:latin typeface="+mn-lt"/>
                    <a:ea typeface="楷体" panose="02010609060101010101" pitchFamily="49" charset="-122"/>
                    <a:cs typeface="Times New Roman" panose="02020603050405020304" pitchFamily="18" charset="0"/>
                  </a:rPr>
                  <a:t>所以</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dirty="0">
                    <a:solidFill>
                      <a:srgbClr val="000000"/>
                    </a:solidFill>
                    <a:effectLst/>
                    <a:latin typeface="+mn-lt"/>
                    <a:ea typeface="宋体" panose="02010600030101010101" pitchFamily="2" charset="-122"/>
                    <a:cs typeface="Times New Roman" panose="02020603050405020304" pitchFamily="18" charset="0"/>
                  </a:rPr>
                  <a:t>1)</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r>
                  <a:rPr lang="en-US" altLang="zh-CN" baseline="30000" dirty="0">
                    <a:solidFill>
                      <a:srgbClr val="000000"/>
                    </a:solidFill>
                    <a:effectLst/>
                    <a:latin typeface="+mn-lt"/>
                    <a:ea typeface="宋体" panose="02010600030101010101" pitchFamily="2" charset="-122"/>
                    <a:cs typeface="Times New Roman" panose="02020603050405020304" pitchFamily="18" charset="0"/>
                  </a:rPr>
                  <a:t>2</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2</a:t>
                </a:r>
                <a14:m>
                  <m:oMath xmlns:m="http://schemas.openxmlformats.org/officeDocument/2006/math">
                    <m:sSup>
                      <m:sSupPr>
                        <m:ctrlPr>
                          <a:rPr lang="zh-CN" altLang="zh-CN" i="1">
                            <a:solidFill>
                              <a:srgbClr val="000000"/>
                            </a:solidFill>
                            <a:effectLst/>
                            <a:latin typeface="+mn-lt"/>
                            <a:ea typeface="Cambria Math" panose="02040503050406030204" pitchFamily="18" charset="0"/>
                            <a:cs typeface="Times New Roman" panose="02020603050405020304" pitchFamily="18" charset="0"/>
                          </a:rPr>
                        </m:ctrlPr>
                      </m:sSupPr>
                      <m:e>
                        <m:d>
                          <m:dPr>
                            <m:ctrlPr>
                              <a:rPr lang="zh-CN" altLang="zh-CN" i="1">
                                <a:solidFill>
                                  <a:srgbClr val="000000"/>
                                </a:solidFill>
                                <a:effectLst/>
                                <a:latin typeface="+mn-lt"/>
                                <a:ea typeface="Cambria Math" panose="02040503050406030204" pitchFamily="18" charset="0"/>
                                <a:cs typeface="Times New Roman" panose="02020603050405020304" pitchFamily="18" charset="0"/>
                              </a:rPr>
                            </m:ctrlPr>
                          </m:dPr>
                          <m:e>
                            <m:r>
                              <a:rPr lang="en-US" altLang="zh-CN" i="1">
                                <a:solidFill>
                                  <a:srgbClr val="000000"/>
                                </a:solidFill>
                                <a:effectLst/>
                                <a:latin typeface="+mn-lt"/>
                                <a:ea typeface="宋体" panose="02010600030101010101" pitchFamily="2" charset="-122"/>
                                <a:cs typeface="Times New Roman" panose="02020603050405020304" pitchFamily="18" charset="0"/>
                              </a:rPr>
                              <m:t>𝑎</m:t>
                            </m:r>
                            <m:r>
                              <a:rPr lang="en-US" altLang="zh-CN">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e>
                        </m:d>
                      </m:e>
                      <m:sup>
                        <m:r>
                          <a:rPr lang="en-US" altLang="zh-CN">
                            <a:solidFill>
                              <a:srgbClr val="000000"/>
                            </a:solidFill>
                            <a:effectLst/>
                            <a:latin typeface="+mn-lt"/>
                            <a:ea typeface="宋体" panose="02010600030101010101" pitchFamily="2" charset="-122"/>
                            <a:cs typeface="Times New Roman" panose="02020603050405020304" pitchFamily="18" charset="0"/>
                          </a:rPr>
                          <m:t>2</m:t>
                        </m:r>
                      </m:sup>
                    </m:sSup>
                    <m:r>
                      <a:rPr lang="en-US" altLang="zh-CN" i="1">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r>
                      <a:rPr lang="en-US" altLang="zh-CN">
                        <a:solidFill>
                          <a:srgbClr val="000000"/>
                        </a:solidFill>
                        <a:effectLst/>
                        <a:latin typeface="+mn-lt"/>
                        <a:ea typeface="宋体" panose="02010600030101010101" pitchFamily="2" charset="-122"/>
                        <a:cs typeface="Times New Roman" panose="02020603050405020304" pitchFamily="18" charset="0"/>
                      </a:rPr>
                      <m:t>≥</m:t>
                    </m:r>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当且仅当</a:t>
                </a:r>
                <a:r>
                  <a:rPr lang="en-US" altLang="zh-CN" i="1" dirty="0">
                    <a:solidFill>
                      <a:srgbClr val="000000"/>
                    </a:solidFill>
                    <a:effectLst/>
                    <a:latin typeface="+mn-lt"/>
                    <a:ea typeface="宋体" panose="02010600030101010101" pitchFamily="2" charset="-122"/>
                    <a:cs typeface="Times New Roman" panose="02020603050405020304" pitchFamily="18" charset="0"/>
                  </a:rPr>
                  <a:t>a=-</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en-US" altLang="zh-CN" i="1" dirty="0">
                    <a:solidFill>
                      <a:srgbClr val="000000"/>
                    </a:solidFill>
                    <a:effectLst/>
                    <a:latin typeface="+mn-lt"/>
                    <a:ea typeface="宋体" panose="02010600030101010101" pitchFamily="2" charset="-122"/>
                    <a:cs typeface="Times New Roman" panose="02020603050405020304" pitchFamily="18" charset="0"/>
                  </a:rPr>
                  <a:t>b=</a:t>
                </a:r>
                <a14:m>
                  <m:oMath xmlns:m="http://schemas.openxmlformats.org/officeDocument/2006/math">
                    <m:f>
                      <m:fPr>
                        <m:ctrlPr>
                          <a:rPr lang="zh-CN" altLang="zh-CN" i="1">
                            <a:solidFill>
                              <a:srgbClr val="000000"/>
                            </a:solidFill>
                            <a:effectLst/>
                            <a:latin typeface="+mn-lt"/>
                            <a:ea typeface="Cambria Math" panose="02040503050406030204" pitchFamily="18" charset="0"/>
                            <a:cs typeface="Times New Roman" panose="02020603050405020304" pitchFamily="18" charset="0"/>
                          </a:rPr>
                        </m:ctrlPr>
                      </m:fPr>
                      <m:num>
                        <m:r>
                          <a:rPr lang="en-US" altLang="zh-CN">
                            <a:solidFill>
                              <a:srgbClr val="000000"/>
                            </a:solidFill>
                            <a:effectLst/>
                            <a:latin typeface="+mn-lt"/>
                            <a:ea typeface="宋体" panose="02010600030101010101" pitchFamily="2" charset="-122"/>
                            <a:cs typeface="Times New Roman" panose="02020603050405020304" pitchFamily="18" charset="0"/>
                          </a:rPr>
                          <m:t>1</m:t>
                        </m:r>
                      </m:num>
                      <m:den>
                        <m:r>
                          <a:rPr lang="en-US" altLang="zh-CN">
                            <a:solidFill>
                              <a:srgbClr val="000000"/>
                            </a:solidFill>
                            <a:effectLst/>
                            <a:latin typeface="+mn-lt"/>
                            <a:ea typeface="宋体" panose="02010600030101010101" pitchFamily="2" charset="-122"/>
                            <a:cs typeface="Times New Roman" panose="02020603050405020304" pitchFamily="18" charset="0"/>
                          </a:rPr>
                          <m:t>2</m:t>
                        </m:r>
                      </m:den>
                    </m:f>
                  </m:oMath>
                </a14:m>
                <a:r>
                  <a:rPr lang="zh-CN" altLang="zh-CN" dirty="0">
                    <a:solidFill>
                      <a:srgbClr val="000000"/>
                    </a:solidFill>
                    <a:effectLst/>
                    <a:latin typeface="+mn-lt"/>
                    <a:ea typeface="楷体" panose="02010609060101010101" pitchFamily="49" charset="-122"/>
                    <a:cs typeface="Times New Roman" panose="02020603050405020304" pitchFamily="18" charset="0"/>
                  </a:rPr>
                  <a:t>时</a:t>
                </a:r>
                <a:r>
                  <a:rPr lang="en-US" altLang="zh-CN"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等号成立</a:t>
                </a:r>
                <a:r>
                  <a:rPr lang="en-US" altLang="zh-CN" i="1" dirty="0">
                    <a:solidFill>
                      <a:srgbClr val="000000"/>
                    </a:solidFill>
                    <a:effectLst/>
                    <a:latin typeface="+mn-lt"/>
                    <a:ea typeface="宋体" panose="02010600030101010101" pitchFamily="2" charset="-122"/>
                    <a:cs typeface="Times New Roman" panose="02020603050405020304" pitchFamily="18" charset="0"/>
                  </a:rPr>
                  <a:t>.</a:t>
                </a:r>
                <a:r>
                  <a:rPr lang="zh-CN" altLang="zh-CN" dirty="0">
                    <a:solidFill>
                      <a:srgbClr val="000000"/>
                    </a:solidFill>
                    <a:effectLst/>
                    <a:latin typeface="+mn-lt"/>
                    <a:ea typeface="楷体" panose="02010609060101010101" pitchFamily="49" charset="-122"/>
                    <a:cs typeface="Times New Roman" panose="02020603050405020304" pitchFamily="18" charset="0"/>
                  </a:rPr>
                  <a:t>故选</a:t>
                </a:r>
                <a:r>
                  <a:rPr lang="en-US" altLang="zh-CN" dirty="0">
                    <a:solidFill>
                      <a:srgbClr val="000000"/>
                    </a:solidFill>
                    <a:effectLst/>
                    <a:latin typeface="+mn-lt"/>
                    <a:ea typeface="宋体" panose="02010600030101010101" pitchFamily="2" charset="-122"/>
                    <a:cs typeface="Times New Roman" panose="02020603050405020304" pitchFamily="18" charset="0"/>
                  </a:rPr>
                  <a:t>C</a:t>
                </a:r>
                <a:r>
                  <a:rPr lang="en-US" altLang="zh-CN" i="1" dirty="0">
                    <a:solidFill>
                      <a:srgbClr val="000000"/>
                    </a:solidFill>
                    <a:effectLst/>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effectLst/>
                    <a:latin typeface="+mn-lt"/>
                    <a:ea typeface="宋体" panose="02010600030101010101" pitchFamily="2" charset="-122"/>
                    <a:cs typeface="Times New Roman" panose="02020603050405020304" pitchFamily="18" charset="0"/>
                  </a:rPr>
                  <a:t>C</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61950" y="708627"/>
                <a:ext cx="10807700" cy="5451108"/>
              </a:xfrm>
              <a:prstGeom prst="rect">
                <a:avLst/>
              </a:prstGeom>
              <a:blipFill rotWithShape="0">
                <a:blip r:embed="rId2"/>
                <a:stretch>
                  <a:fillRect l="-1410" t="-1119" r="-1354" b="-27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272062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down)">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98007"/>
            <a:ext cx="10807700" cy="18319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(2023·</a:t>
            </a:r>
            <a:r>
              <a:rPr lang="zh-CN" altLang="zh-CN" dirty="0">
                <a:solidFill>
                  <a:srgbClr val="000000"/>
                </a:solidFill>
                <a:latin typeface="+mn-lt"/>
                <a:ea typeface="楷体" panose="02010609060101010101" pitchFamily="49" charset="-122"/>
                <a:cs typeface="Times New Roman" panose="02020603050405020304" pitchFamily="18" charset="0"/>
              </a:rPr>
              <a:t>新高考卷</a:t>
            </a:r>
            <a:r>
              <a:rPr lang="zh-CN" altLang="zh-CN" i="1" dirty="0">
                <a:solidFill>
                  <a:srgbClr val="000000"/>
                </a:solidFill>
                <a:latin typeface="+mn-lt"/>
                <a:ea typeface="宋体" panose="02010600030101010101" pitchFamily="2" charset="-122"/>
                <a:cs typeface="宋体" panose="02010600030101010101" pitchFamily="2" charset="-122"/>
              </a:rPr>
              <a:t>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设函数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a:t>
            </a:r>
            <a:r>
              <a:rPr lang="en-US" altLang="zh-CN" i="1" baseline="30000" dirty="0">
                <a:solidFill>
                  <a:srgbClr val="000000"/>
                </a:solidFill>
                <a:latin typeface="+mn-lt"/>
                <a:ea typeface="宋体" panose="02010600030101010101" pitchFamily="2" charset="-122"/>
                <a:cs typeface="Times New Roman" panose="02020603050405020304" pitchFamily="18" charset="0"/>
              </a:rPr>
              <a:t>x-a</a:t>
            </a:r>
            <a:r>
              <a:rPr lang="en-US" altLang="zh-CN" baseline="30000"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在区间</a:t>
            </a:r>
            <a:r>
              <a:rPr lang="en-US" altLang="zh-CN" dirty="0">
                <a:solidFill>
                  <a:srgbClr val="000000"/>
                </a:solidFill>
                <a:latin typeface="+mn-lt"/>
                <a:ea typeface="宋体" panose="02010600030101010101" pitchFamily="2" charset="-122"/>
                <a:cs typeface="Times New Roman" panose="02020603050405020304" pitchFamily="18" charset="0"/>
              </a:rPr>
              <a:t>(0,1)</a:t>
            </a:r>
            <a:r>
              <a:rPr lang="zh-CN" altLang="zh-CN" dirty="0">
                <a:solidFill>
                  <a:srgbClr val="000000"/>
                </a:solidFill>
                <a:latin typeface="+mn-lt"/>
                <a:ea typeface="宋体" panose="02010600030101010101" pitchFamily="2" charset="-122"/>
                <a:cs typeface="Times New Roman" panose="02020603050405020304" pitchFamily="18" charset="0"/>
              </a:rPr>
              <a:t>内单调递减</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的取值范围是</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	B.[</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	C.(0,2]	</a:t>
            </a:r>
            <a:r>
              <a:rPr lang="en-US" altLang="zh-CN" dirty="0" smtClean="0">
                <a:solidFill>
                  <a:srgbClr val="000000"/>
                </a:solidFill>
                <a:latin typeface="+mn-lt"/>
                <a:ea typeface="宋体" panose="02010600030101010101" pitchFamily="2" charset="-122"/>
                <a:cs typeface="Times New Roman" panose="02020603050405020304" pitchFamily="18" charset="0"/>
              </a:rPr>
              <a:t>	D</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73203036"/>
              </p:ext>
            </p:extLst>
          </p:nvPr>
        </p:nvGraphicFramePr>
        <p:xfrm>
          <a:off x="432445" y="2889475"/>
          <a:ext cx="10610872" cy="1800604"/>
        </p:xfrm>
        <a:graphic>
          <a:graphicData uri="http://schemas.openxmlformats.org/presentationml/2006/ole">
            <mc:AlternateContent xmlns:mc="http://schemas.openxmlformats.org/markup-compatibility/2006">
              <mc:Choice xmlns:v="urn:schemas-microsoft-com:vml" Requires="v">
                <p:oleObj spid="_x0000_s50179" name="文档" r:id="rId4" imgW="3826872" imgH="649398" progId="Word.Document.12">
                  <p:embed/>
                </p:oleObj>
              </mc:Choice>
              <mc:Fallback>
                <p:oleObj name="文档" r:id="rId4" imgW="3826872" imgH="649398" progId="Word.Document.12">
                  <p:embed/>
                  <p:pic>
                    <p:nvPicPr>
                      <p:cNvPr id="0" name=""/>
                      <p:cNvPicPr/>
                      <p:nvPr/>
                    </p:nvPicPr>
                    <p:blipFill>
                      <a:blip r:embed="rId5"/>
                      <a:stretch>
                        <a:fillRect/>
                      </a:stretch>
                    </p:blipFill>
                    <p:spPr>
                      <a:xfrm>
                        <a:off x="432445" y="2889475"/>
                        <a:ext cx="10610872" cy="1800604"/>
                      </a:xfrm>
                      <a:prstGeom prst="rect">
                        <a:avLst/>
                      </a:prstGeom>
                    </p:spPr>
                  </p:pic>
                </p:oleObj>
              </mc:Fallback>
            </mc:AlternateContent>
          </a:graphicData>
        </a:graphic>
      </p:graphicFrame>
      <p:sp>
        <p:nvSpPr>
          <p:cNvPr id="5" name="矩形 4"/>
          <p:cNvSpPr>
            <a:spLocks noChangeAspect="1"/>
          </p:cNvSpPr>
          <p:nvPr/>
        </p:nvSpPr>
        <p:spPr>
          <a:xfrm>
            <a:off x="361950" y="4788963"/>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9276941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984691661"/>
              </p:ext>
            </p:extLst>
          </p:nvPr>
        </p:nvGraphicFramePr>
        <p:xfrm>
          <a:off x="432445" y="618303"/>
          <a:ext cx="10610872" cy="1401023"/>
        </p:xfrm>
        <a:graphic>
          <a:graphicData uri="http://schemas.openxmlformats.org/presentationml/2006/ole">
            <mc:AlternateContent xmlns:mc="http://schemas.openxmlformats.org/markup-compatibility/2006">
              <mc:Choice xmlns:v="urn:schemas-microsoft-com:vml" Requires="v">
                <p:oleObj spid="_x0000_s51204" name="文档" r:id="rId4" imgW="3826872" imgH="505287" progId="Word.Document.12">
                  <p:embed/>
                </p:oleObj>
              </mc:Choice>
              <mc:Fallback>
                <p:oleObj name="文档" r:id="rId4" imgW="3826872" imgH="505287" progId="Word.Document.12">
                  <p:embed/>
                  <p:pic>
                    <p:nvPicPr>
                      <p:cNvPr id="0" name=""/>
                      <p:cNvPicPr/>
                      <p:nvPr/>
                    </p:nvPicPr>
                    <p:blipFill>
                      <a:blip r:embed="rId5"/>
                      <a:stretch>
                        <a:fillRect/>
                      </a:stretch>
                    </p:blipFill>
                    <p:spPr>
                      <a:xfrm>
                        <a:off x="432445" y="618303"/>
                        <a:ext cx="10610872" cy="140102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39611873"/>
              </p:ext>
            </p:extLst>
          </p:nvPr>
        </p:nvGraphicFramePr>
        <p:xfrm>
          <a:off x="432445" y="2051200"/>
          <a:ext cx="10610872" cy="4333606"/>
        </p:xfrm>
        <a:graphic>
          <a:graphicData uri="http://schemas.openxmlformats.org/presentationml/2006/ole">
            <mc:AlternateContent xmlns:mc="http://schemas.openxmlformats.org/markup-compatibility/2006">
              <mc:Choice xmlns:v="urn:schemas-microsoft-com:vml" Requires="v">
                <p:oleObj spid="_x0000_s51205" name="文档" r:id="rId7" imgW="3826872" imgH="1562940" progId="Word.Document.12">
                  <p:embed/>
                </p:oleObj>
              </mc:Choice>
              <mc:Fallback>
                <p:oleObj name="文档" r:id="rId7" imgW="3826872" imgH="1562940" progId="Word.Document.12">
                  <p:embed/>
                  <p:pic>
                    <p:nvPicPr>
                      <p:cNvPr id="0" name=""/>
                      <p:cNvPicPr/>
                      <p:nvPr/>
                    </p:nvPicPr>
                    <p:blipFill>
                      <a:blip r:embed="rId8"/>
                      <a:stretch>
                        <a:fillRect/>
                      </a:stretch>
                    </p:blipFill>
                    <p:spPr>
                      <a:xfrm>
                        <a:off x="432445" y="2051200"/>
                        <a:ext cx="10610872" cy="4333606"/>
                      </a:xfrm>
                      <a:prstGeom prst="rect">
                        <a:avLst/>
                      </a:prstGeom>
                    </p:spPr>
                  </p:pic>
                </p:oleObj>
              </mc:Fallback>
            </mc:AlternateContent>
          </a:graphicData>
        </a:graphic>
      </p:graphicFrame>
    </p:spTree>
    <p:extLst>
      <p:ext uri="{BB962C8B-B14F-4D97-AF65-F5344CB8AC3E}">
        <p14:creationId xmlns:p14="http://schemas.microsoft.com/office/powerpoint/2010/main" val="32211559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7479035"/>
              </p:ext>
            </p:extLst>
          </p:nvPr>
        </p:nvGraphicFramePr>
        <p:xfrm>
          <a:off x="504453" y="910471"/>
          <a:ext cx="10610872" cy="1571418"/>
        </p:xfrm>
        <a:graphic>
          <a:graphicData uri="http://schemas.openxmlformats.org/presentationml/2006/ole">
            <mc:AlternateContent xmlns:mc="http://schemas.openxmlformats.org/markup-compatibility/2006">
              <mc:Choice xmlns:v="urn:schemas-microsoft-com:vml" Requires="v">
                <p:oleObj spid="_x0000_s52227" name="文档" r:id="rId4" imgW="3826872" imgH="566741" progId="Word.Document.12">
                  <p:embed/>
                </p:oleObj>
              </mc:Choice>
              <mc:Fallback>
                <p:oleObj name="文档" r:id="rId4" imgW="3826872" imgH="566741" progId="Word.Document.12">
                  <p:embed/>
                  <p:pic>
                    <p:nvPicPr>
                      <p:cNvPr id="0" name=""/>
                      <p:cNvPicPr/>
                      <p:nvPr/>
                    </p:nvPicPr>
                    <p:blipFill>
                      <a:blip r:embed="rId5"/>
                      <a:stretch>
                        <a:fillRect/>
                      </a:stretch>
                    </p:blipFill>
                    <p:spPr>
                      <a:xfrm>
                        <a:off x="504453" y="910471"/>
                        <a:ext cx="10610872" cy="1571418"/>
                      </a:xfrm>
                      <a:prstGeom prst="rect">
                        <a:avLst/>
                      </a:prstGeom>
                    </p:spPr>
                  </p:pic>
                </p:oleObj>
              </mc:Fallback>
            </mc:AlternateContent>
          </a:graphicData>
        </a:graphic>
      </p:graphicFrame>
      <p:sp>
        <p:nvSpPr>
          <p:cNvPr id="4" name="矩形 3"/>
          <p:cNvSpPr>
            <a:spLocks noChangeAspect="1"/>
          </p:cNvSpPr>
          <p:nvPr/>
        </p:nvSpPr>
        <p:spPr>
          <a:xfrm>
            <a:off x="361950" y="2525782"/>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函数</a:t>
            </a:r>
            <a:r>
              <a:rPr lang="en-US" altLang="zh-CN" i="1" dirty="0">
                <a:solidFill>
                  <a:srgbClr val="000000"/>
                </a:solidFill>
                <a:latin typeface="+mn-lt"/>
                <a:ea typeface="宋体" panose="02010600030101010101" pitchFamily="2" charset="-122"/>
                <a:cs typeface="Times New Roman" panose="02020603050405020304" pitchFamily="18" charset="0"/>
              </a:rPr>
              <a:t>g</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是奇函数</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而</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g</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为偶函数</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有</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g</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g</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g</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故</a:t>
            </a:r>
            <a:r>
              <a:rPr lang="en-US" altLang="zh-CN" i="1" dirty="0">
                <a:solidFill>
                  <a:srgbClr val="000000"/>
                </a:solidFill>
                <a:latin typeface="+mn-lt"/>
                <a:ea typeface="宋体" panose="02010600030101010101" pitchFamily="2" charset="-122"/>
                <a:cs typeface="Times New Roman" panose="02020603050405020304" pitchFamily="18" charset="0"/>
              </a:rPr>
              <a:t>x-a=</a:t>
            </a:r>
            <a:r>
              <a:rPr lang="en-US" altLang="zh-CN" i="1" dirty="0" err="1">
                <a:solidFill>
                  <a:srgbClr val="000000"/>
                </a:solidFill>
                <a:latin typeface="+mn-lt"/>
                <a:ea typeface="宋体" panose="02010600030101010101" pitchFamily="2" charset="-122"/>
                <a:cs typeface="Times New Roman" panose="02020603050405020304" pitchFamily="18" charset="0"/>
              </a:rPr>
              <a:t>x+a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B</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
        <p:nvSpPr>
          <p:cNvPr id="5" name="矩形 4"/>
          <p:cNvSpPr>
            <a:spLocks noChangeAspect="1"/>
          </p:cNvSpPr>
          <p:nvPr/>
        </p:nvSpPr>
        <p:spPr>
          <a:xfrm>
            <a:off x="361950" y="4942919"/>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60358942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367879"/>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7</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2019·</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设</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为奇函数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且当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宋体" panose="02010600030101010101" pitchFamily="2"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则当</a:t>
            </a:r>
            <a:r>
              <a:rPr lang="en-US" altLang="zh-CN" i="1" dirty="0">
                <a:solidFill>
                  <a:srgbClr val="000000"/>
                </a:solidFill>
                <a:latin typeface="+mn-lt"/>
                <a:ea typeface="宋体" panose="02010600030101010101" pitchFamily="2" charset="-122"/>
                <a:cs typeface="Times New Roman" panose="02020603050405020304" pitchFamily="18" charset="0"/>
              </a:rPr>
              <a:t>x&lt;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宋体" panose="02010600030101010101" pitchFamily="2"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	</a:t>
            </a:r>
            <a:r>
              <a:rPr lang="en-US" altLang="zh-CN" dirty="0" smtClean="0">
                <a:solidFill>
                  <a:srgbClr val="000000"/>
                </a:solidFill>
                <a:latin typeface="+mn-lt"/>
                <a:ea typeface="宋体" panose="02010600030101010101" pitchFamily="2" charset="-122"/>
                <a:cs typeface="Times New Roman" panose="02020603050405020304" pitchFamily="18" charset="0"/>
              </a:rPr>
              <a:t>	B.e</a:t>
            </a:r>
            <a:r>
              <a:rPr lang="en-US" altLang="zh-CN" i="1" baseline="30000" dirty="0" smtClean="0">
                <a:solidFill>
                  <a:srgbClr val="000000"/>
                </a:solidFill>
                <a:latin typeface="+mn-lt"/>
                <a:ea typeface="宋体" panose="02010600030101010101" pitchFamily="2" charset="-122"/>
                <a:cs typeface="Times New Roman" panose="02020603050405020304" pitchFamily="18" charset="0"/>
              </a:rPr>
              <a:t>-x</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宋体" panose="02010600030101010101" pitchFamily="2" charset="-122"/>
                <a:cs typeface="Times New Roman" panose="02020603050405020304" pitchFamily="18" charset="0"/>
              </a:rPr>
              <a:t>	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	</a:t>
            </a:r>
            <a:r>
              <a:rPr lang="en-US" altLang="zh-CN" dirty="0" smtClean="0">
                <a:solidFill>
                  <a:srgbClr val="000000"/>
                </a:solidFill>
                <a:latin typeface="+mn-lt"/>
                <a:ea typeface="宋体" panose="02010600030101010101" pitchFamily="2" charset="-122"/>
                <a:cs typeface="Times New Roman" panose="02020603050405020304" pitchFamily="18" charset="0"/>
              </a:rPr>
              <a:t>	D</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是奇函数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x&lt;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-x&gt;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e</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D</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D</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1750689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743252584"/>
              </p:ext>
            </p:extLst>
          </p:nvPr>
        </p:nvGraphicFramePr>
        <p:xfrm>
          <a:off x="648469" y="1007839"/>
          <a:ext cx="10607329" cy="1453871"/>
        </p:xfrm>
        <a:graphic>
          <a:graphicData uri="http://schemas.openxmlformats.org/presentationml/2006/ole">
            <mc:AlternateContent xmlns:mc="http://schemas.openxmlformats.org/markup-compatibility/2006">
              <mc:Choice xmlns:v="urn:schemas-microsoft-com:vml" Requires="v">
                <p:oleObj spid="_x0000_s38920" name="文档" r:id="rId4" imgW="3467489" imgH="475459" progId="Word.Document.12">
                  <p:embed/>
                </p:oleObj>
              </mc:Choice>
              <mc:Fallback>
                <p:oleObj name="文档" r:id="rId4" imgW="3467489" imgH="475459" progId="Word.Document.12">
                  <p:embed/>
                  <p:pic>
                    <p:nvPicPr>
                      <p:cNvPr id="0" name=""/>
                      <p:cNvPicPr/>
                      <p:nvPr/>
                    </p:nvPicPr>
                    <p:blipFill>
                      <a:blip r:embed="rId5"/>
                      <a:stretch>
                        <a:fillRect/>
                      </a:stretch>
                    </p:blipFill>
                    <p:spPr>
                      <a:xfrm>
                        <a:off x="648469" y="1007839"/>
                        <a:ext cx="10607329" cy="1453871"/>
                      </a:xfrm>
                      <a:prstGeom prst="rect">
                        <a:avLst/>
                      </a:prstGeom>
                    </p:spPr>
                  </p:pic>
                </p:oleObj>
              </mc:Fallback>
            </mc:AlternateContent>
          </a:graphicData>
        </a:graphic>
      </p:graphicFrame>
      <p:pic>
        <p:nvPicPr>
          <p:cNvPr id="8" name="21e11.eps" descr="id:2147495756;FounderCES"/>
          <p:cNvPicPr/>
          <p:nvPr/>
        </p:nvPicPr>
        <p:blipFill>
          <a:blip r:embed="rId6"/>
          <a:stretch>
            <a:fillRect/>
          </a:stretch>
        </p:blipFill>
        <p:spPr>
          <a:xfrm>
            <a:off x="1296541" y="2543550"/>
            <a:ext cx="8496944" cy="2169685"/>
          </a:xfrm>
          <a:prstGeom prst="rect">
            <a:avLst/>
          </a:prstGeom>
        </p:spPr>
      </p:pic>
    </p:spTree>
    <p:extLst>
      <p:ext uri="{BB962C8B-B14F-4D97-AF65-F5344CB8AC3E}">
        <p14:creationId xmlns:p14="http://schemas.microsoft.com/office/powerpoint/2010/main" val="30395316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53372411"/>
              </p:ext>
            </p:extLst>
          </p:nvPr>
        </p:nvGraphicFramePr>
        <p:xfrm>
          <a:off x="504453" y="873655"/>
          <a:ext cx="10607329" cy="3963502"/>
        </p:xfrm>
        <a:graphic>
          <a:graphicData uri="http://schemas.openxmlformats.org/presentationml/2006/ole">
            <mc:AlternateContent xmlns:mc="http://schemas.openxmlformats.org/markup-compatibility/2006">
              <mc:Choice xmlns:v="urn:schemas-microsoft-com:vml" Requires="v">
                <p:oleObj spid="_x0000_s39944" name="文档" r:id="rId4" imgW="3477813" imgH="1299509" progId="Word.Document.12">
                  <p:embed/>
                </p:oleObj>
              </mc:Choice>
              <mc:Fallback>
                <p:oleObj name="文档" r:id="rId4" imgW="3477813" imgH="1299509" progId="Word.Document.12">
                  <p:embed/>
                  <p:pic>
                    <p:nvPicPr>
                      <p:cNvPr id="0" name=""/>
                      <p:cNvPicPr/>
                      <p:nvPr/>
                    </p:nvPicPr>
                    <p:blipFill>
                      <a:blip r:embed="rId5"/>
                      <a:stretch>
                        <a:fillRect/>
                      </a:stretch>
                    </p:blipFill>
                    <p:spPr>
                      <a:xfrm>
                        <a:off x="504453" y="873655"/>
                        <a:ext cx="10607329" cy="3963502"/>
                      </a:xfrm>
                      <a:prstGeom prst="rect">
                        <a:avLst/>
                      </a:prstGeom>
                    </p:spPr>
                  </p:pic>
                </p:oleObj>
              </mc:Fallback>
            </mc:AlternateContent>
          </a:graphicData>
        </a:graphic>
      </p:graphicFrame>
      <p:sp>
        <p:nvSpPr>
          <p:cNvPr id="3" name="矩形 2"/>
          <p:cNvSpPr>
            <a:spLocks noChangeAspect="1"/>
          </p:cNvSpPr>
          <p:nvPr/>
        </p:nvSpPr>
        <p:spPr>
          <a:xfrm>
            <a:off x="432445" y="4870911"/>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5530783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90807"/>
            <a:ext cx="5224507"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考点三</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函数零点及其</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154003895"/>
              </p:ext>
            </p:extLst>
          </p:nvPr>
        </p:nvGraphicFramePr>
        <p:xfrm>
          <a:off x="474957" y="1576646"/>
          <a:ext cx="10607329" cy="3391633"/>
        </p:xfrm>
        <a:graphic>
          <a:graphicData uri="http://schemas.openxmlformats.org/presentationml/2006/ole">
            <mc:AlternateContent xmlns:mc="http://schemas.openxmlformats.org/markup-compatibility/2006">
              <mc:Choice xmlns:v="urn:schemas-microsoft-com:vml" Requires="v">
                <p:oleObj spid="_x0000_s40968" name="文档" r:id="rId4" imgW="3477813" imgH="1112011" progId="Word.Document.12">
                  <p:embed/>
                </p:oleObj>
              </mc:Choice>
              <mc:Fallback>
                <p:oleObj name="文档" r:id="rId4" imgW="3477813" imgH="1112011" progId="Word.Document.12">
                  <p:embed/>
                  <p:pic>
                    <p:nvPicPr>
                      <p:cNvPr id="0" name=""/>
                      <p:cNvPicPr/>
                      <p:nvPr/>
                    </p:nvPicPr>
                    <p:blipFill>
                      <a:blip r:embed="rId5"/>
                      <a:stretch>
                        <a:fillRect/>
                      </a:stretch>
                    </p:blipFill>
                    <p:spPr>
                      <a:xfrm>
                        <a:off x="474957" y="1576646"/>
                        <a:ext cx="10607329" cy="3391633"/>
                      </a:xfrm>
                      <a:prstGeom prst="rect">
                        <a:avLst/>
                      </a:prstGeom>
                    </p:spPr>
                  </p:pic>
                </p:oleObj>
              </mc:Fallback>
            </mc:AlternateContent>
          </a:graphicData>
        </a:graphic>
      </p:graphicFrame>
    </p:spTree>
    <p:extLst>
      <p:ext uri="{BB962C8B-B14F-4D97-AF65-F5344CB8AC3E}">
        <p14:creationId xmlns:p14="http://schemas.microsoft.com/office/powerpoint/2010/main" val="29592651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70512"/>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由题意可知</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为</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的一个零点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恰有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个零点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h</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的图象有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个交点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其中</a:t>
            </a:r>
            <a:r>
              <a:rPr lang="en-US" altLang="zh-CN" dirty="0">
                <a:solidFill>
                  <a:srgbClr val="000000"/>
                </a:solidFill>
                <a:ea typeface="宋体" panose="02010600030101010101" pitchFamily="2" charset="-122"/>
                <a:cs typeface="Times New Roman" panose="02020603050405020304" pitchFamily="18" charset="0"/>
              </a:rPr>
              <a:t>(0,0)</a:t>
            </a:r>
            <a:r>
              <a:rPr lang="zh-CN" altLang="zh-CN" dirty="0">
                <a:solidFill>
                  <a:srgbClr val="000000"/>
                </a:solidFill>
                <a:ea typeface="楷体" panose="02010609060101010101" pitchFamily="49" charset="-122"/>
                <a:cs typeface="Times New Roman" panose="02020603050405020304" pitchFamily="18" charset="0"/>
              </a:rPr>
              <a:t>为一个交点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=|kx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-x=|kx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可得</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=|kx-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53785841"/>
              </p:ext>
            </p:extLst>
          </p:nvPr>
        </p:nvGraphicFramePr>
        <p:xfrm>
          <a:off x="462135" y="3870778"/>
          <a:ext cx="10607329" cy="953485"/>
        </p:xfrm>
        <a:graphic>
          <a:graphicData uri="http://schemas.openxmlformats.org/presentationml/2006/ole">
            <mc:AlternateContent xmlns:mc="http://schemas.openxmlformats.org/markup-compatibility/2006">
              <mc:Choice xmlns:v="urn:schemas-microsoft-com:vml" Requires="v">
                <p:oleObj spid="_x0000_s41992" name="文档" r:id="rId4" imgW="3477813" imgH="312618" progId="Word.Document.12">
                  <p:embed/>
                </p:oleObj>
              </mc:Choice>
              <mc:Fallback>
                <p:oleObj name="文档" r:id="rId4" imgW="3477813" imgH="312618" progId="Word.Document.12">
                  <p:embed/>
                  <p:pic>
                    <p:nvPicPr>
                      <p:cNvPr id="0" name=""/>
                      <p:cNvPicPr/>
                      <p:nvPr/>
                    </p:nvPicPr>
                    <p:blipFill>
                      <a:blip r:embed="rId5"/>
                      <a:stretch>
                        <a:fillRect/>
                      </a:stretch>
                    </p:blipFill>
                    <p:spPr>
                      <a:xfrm>
                        <a:off x="462135" y="3870778"/>
                        <a:ext cx="10607329" cy="953485"/>
                      </a:xfrm>
                      <a:prstGeom prst="rect">
                        <a:avLst/>
                      </a:prstGeom>
                    </p:spPr>
                  </p:pic>
                </p:oleObj>
              </mc:Fallback>
            </mc:AlternateContent>
          </a:graphicData>
        </a:graphic>
      </p:graphicFrame>
      <p:sp>
        <p:nvSpPr>
          <p:cNvPr id="6" name="矩形 5"/>
          <p:cNvSpPr>
            <a:spLocks noChangeAspect="1"/>
          </p:cNvSpPr>
          <p:nvPr/>
        </p:nvSpPr>
        <p:spPr>
          <a:xfrm>
            <a:off x="361950" y="4845625"/>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即函数</a:t>
            </a:r>
            <a:r>
              <a:rPr lang="en-US" altLang="zh-CN" i="1" dirty="0">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Microsoft Yi Baiti" panose="03000500000000000000" pitchFamily="66" charset="0"/>
                <a:cs typeface="Times New Roman" panose="02020603050405020304" pitchFamily="18" charset="0"/>
              </a:rPr>
              <a:t>μ</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个交点</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8462475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647799"/>
            <a:ext cx="14854288" cy="2399503"/>
            <a:chOff x="361950" y="647799"/>
            <a:chExt cx="14854288" cy="2399503"/>
          </a:xfrm>
        </p:grpSpPr>
        <p:sp>
          <p:nvSpPr>
            <p:cNvPr id="5" name="矩形 4"/>
            <p:cNvSpPr>
              <a:spLocks noChangeAspect="1"/>
            </p:cNvSpPr>
            <p:nvPr/>
          </p:nvSpPr>
          <p:spPr>
            <a:xfrm>
              <a:off x="361950" y="647799"/>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k&lt;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如图</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Microsoft Yi Baiti" panose="03000500000000000000" pitchFamily="66" charset="0"/>
                  <a:cs typeface="Times New Roman" panose="02020603050405020304" pitchFamily="18" charset="0"/>
                </a:rPr>
                <a:t>μ</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个交点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k&lt;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符合题意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k&gt;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如图</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需当</a:t>
              </a:r>
              <a:r>
                <a:rPr lang="en-US"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Microsoft Yi Baiti" panose="03000500000000000000" pitchFamily="66" charset="0"/>
                  <a:cs typeface="Times New Roman" panose="02020603050405020304" pitchFamily="18" charset="0"/>
                </a:rPr>
                <a:t>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Microsoft Yi Baiti" panose="03000500000000000000" pitchFamily="66" charset="0"/>
                  <a:cs typeface="Times New Roman" panose="02020603050405020304" pitchFamily="18" charset="0"/>
                </a:rPr>
                <a:t>μ</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的图象有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个交点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044849118"/>
                </p:ext>
              </p:extLst>
            </p:nvPr>
          </p:nvGraphicFramePr>
          <p:xfrm>
            <a:off x="4608909" y="1738079"/>
            <a:ext cx="10607329" cy="728035"/>
          </p:xfrm>
          <a:graphic>
            <a:graphicData uri="http://schemas.openxmlformats.org/presentationml/2006/ole">
              <mc:AlternateContent xmlns:mc="http://schemas.openxmlformats.org/markup-compatibility/2006">
                <mc:Choice xmlns:v="urn:schemas-microsoft-com:vml" Requires="v">
                  <p:oleObj spid="_x0000_s43016" name="文档" r:id="rId4" imgW="3477813" imgH="238700" progId="Word.Document.12">
                    <p:embed/>
                  </p:oleObj>
                </mc:Choice>
                <mc:Fallback>
                  <p:oleObj name="文档" r:id="rId4" imgW="3477813" imgH="238700" progId="Word.Document.12">
                    <p:embed/>
                    <p:pic>
                      <p:nvPicPr>
                        <p:cNvPr id="0" name=""/>
                        <p:cNvPicPr/>
                        <p:nvPr/>
                      </p:nvPicPr>
                      <p:blipFill>
                        <a:blip r:embed="rId5"/>
                        <a:stretch>
                          <a:fillRect/>
                        </a:stretch>
                      </p:blipFill>
                      <p:spPr>
                        <a:xfrm>
                          <a:off x="4608909" y="1738079"/>
                          <a:ext cx="10607329" cy="728035"/>
                        </a:xfrm>
                        <a:prstGeom prst="rect">
                          <a:avLst/>
                        </a:prstGeom>
                      </p:spPr>
                    </p:pic>
                  </p:oleObj>
                </mc:Fallback>
              </mc:AlternateContent>
            </a:graphicData>
          </a:graphic>
        </p:graphicFrame>
      </p:grpSp>
      <p:grpSp>
        <p:nvGrpSpPr>
          <p:cNvPr id="14" name="组合 13"/>
          <p:cNvGrpSpPr/>
          <p:nvPr/>
        </p:nvGrpSpPr>
        <p:grpSpPr>
          <a:xfrm>
            <a:off x="1656581" y="2952055"/>
            <a:ext cx="7816101" cy="3384376"/>
            <a:chOff x="1656581" y="2952055"/>
            <a:chExt cx="7816101" cy="3384376"/>
          </a:xfrm>
        </p:grpSpPr>
        <p:pic>
          <p:nvPicPr>
            <p:cNvPr id="9" name="20zlg02.eps" descr="id:2147495763;FounderCES"/>
            <p:cNvPicPr/>
            <p:nvPr/>
          </p:nvPicPr>
          <p:blipFill>
            <a:blip r:embed="rId6"/>
            <a:stretch>
              <a:fillRect/>
            </a:stretch>
          </p:blipFill>
          <p:spPr>
            <a:xfrm>
              <a:off x="1656581" y="2952055"/>
              <a:ext cx="3384376" cy="2687593"/>
            </a:xfrm>
            <a:prstGeom prst="rect">
              <a:avLst/>
            </a:prstGeom>
          </p:spPr>
        </p:pic>
        <p:pic>
          <p:nvPicPr>
            <p:cNvPr id="10" name="20zlg03.eps" descr="id:2147495770;FounderCES"/>
            <p:cNvPicPr/>
            <p:nvPr/>
          </p:nvPicPr>
          <p:blipFill>
            <a:blip r:embed="rId7"/>
            <a:stretch>
              <a:fillRect/>
            </a:stretch>
          </p:blipFill>
          <p:spPr>
            <a:xfrm>
              <a:off x="6193085" y="2952055"/>
              <a:ext cx="3279597" cy="2687593"/>
            </a:xfrm>
            <a:prstGeom prst="rect">
              <a:avLst/>
            </a:prstGeom>
          </p:spPr>
        </p:pic>
        <p:sp>
          <p:nvSpPr>
            <p:cNvPr id="11" name="矩形 10"/>
            <p:cNvSpPr>
              <a:spLocks noChangeAspect="1"/>
            </p:cNvSpPr>
            <p:nvPr/>
          </p:nvSpPr>
          <p:spPr>
            <a:xfrm>
              <a:off x="2741070" y="5731650"/>
              <a:ext cx="1215397"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en-US" altLang="zh-CN" dirty="0" smtClean="0">
                  <a:solidFill>
                    <a:srgbClr val="000000"/>
                  </a:solidFill>
                  <a:latin typeface="NEU-BZ-S92"/>
                  <a:ea typeface="宋体" panose="02010600030101010101" pitchFamily="2" charset="-122"/>
                  <a:cs typeface="宋体" panose="02010600030101010101" pitchFamily="2" charset="-122"/>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2" name="矩形 11"/>
            <p:cNvSpPr>
              <a:spLocks noChangeAspect="1"/>
            </p:cNvSpPr>
            <p:nvPr/>
          </p:nvSpPr>
          <p:spPr>
            <a:xfrm>
              <a:off x="7520615" y="5731650"/>
              <a:ext cx="1008609" cy="604781"/>
            </a:xfrm>
            <a:prstGeom prst="rect">
              <a:avLst/>
            </a:prstGeom>
          </p:spPr>
          <p:txBody>
            <a:bodyPr wrap="non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93479637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95476116"/>
              </p:ext>
            </p:extLst>
          </p:nvPr>
        </p:nvGraphicFramePr>
        <p:xfrm>
          <a:off x="432445" y="925999"/>
          <a:ext cx="10607329" cy="3969002"/>
        </p:xfrm>
        <a:graphic>
          <a:graphicData uri="http://schemas.openxmlformats.org/presentationml/2006/ole">
            <mc:AlternateContent xmlns:mc="http://schemas.openxmlformats.org/markup-compatibility/2006">
              <mc:Choice xmlns:v="urn:schemas-microsoft-com:vml" Requires="v">
                <p:oleObj spid="_x0000_s44040" name="文档" r:id="rId4" imgW="3477813" imgH="1301312" progId="Word.Document.12">
                  <p:embed/>
                </p:oleObj>
              </mc:Choice>
              <mc:Fallback>
                <p:oleObj name="文档" r:id="rId4" imgW="3477813" imgH="1301312" progId="Word.Document.12">
                  <p:embed/>
                  <p:pic>
                    <p:nvPicPr>
                      <p:cNvPr id="0" name=""/>
                      <p:cNvPicPr/>
                      <p:nvPr/>
                    </p:nvPicPr>
                    <p:blipFill>
                      <a:blip r:embed="rId5"/>
                      <a:stretch>
                        <a:fillRect/>
                      </a:stretch>
                    </p:blipFill>
                    <p:spPr>
                      <a:xfrm>
                        <a:off x="432445" y="925999"/>
                        <a:ext cx="10607329" cy="3969002"/>
                      </a:xfrm>
                      <a:prstGeom prst="rect">
                        <a:avLst/>
                      </a:prstGeom>
                    </p:spPr>
                  </p:pic>
                </p:oleObj>
              </mc:Fallback>
            </mc:AlternateContent>
          </a:graphicData>
        </a:graphic>
      </p:graphicFrame>
      <p:sp>
        <p:nvSpPr>
          <p:cNvPr id="3" name="矩形 2"/>
          <p:cNvSpPr>
            <a:spLocks noChangeAspect="1"/>
          </p:cNvSpPr>
          <p:nvPr/>
        </p:nvSpPr>
        <p:spPr>
          <a:xfrm>
            <a:off x="387760" y="4979809"/>
            <a:ext cx="1544012"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5019154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007136"/>
            <a:ext cx="5224507"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考点四</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ea typeface="微软雅黑" panose="020B0503020204020204" pitchFamily="34" charset="-122"/>
                <a:cs typeface="Times New Roman" panose="02020603050405020304" pitchFamily="18" charset="0"/>
              </a:rPr>
              <a:t>函数模型及其</a:t>
            </a:r>
            <a:r>
              <a:rPr lang="zh-CN"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应用</a:t>
            </a:r>
            <a:r>
              <a:rPr lang="en-US" altLang="zh-CN" dirty="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8" name="矩形 7"/>
          <p:cNvSpPr>
            <a:spLocks noChangeAspect="1"/>
          </p:cNvSpPr>
          <p:nvPr/>
        </p:nvSpPr>
        <p:spPr>
          <a:xfrm>
            <a:off x="361950" y="1690400"/>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10</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2021·</a:t>
            </a:r>
            <a:r>
              <a:rPr lang="zh-CN" altLang="zh-CN" dirty="0" smtClean="0">
                <a:solidFill>
                  <a:srgbClr val="000000"/>
                </a:solidFill>
                <a:latin typeface="+mn-lt"/>
                <a:ea typeface="楷体" panose="02010609060101010101" pitchFamily="49" charset="-122"/>
                <a:cs typeface="Times New Roman" panose="02020603050405020304" pitchFamily="18" charset="0"/>
              </a:rPr>
              <a:t>全国</a:t>
            </a:r>
            <a:r>
              <a:rPr lang="zh-CN" altLang="en-US" dirty="0" smtClean="0">
                <a:solidFill>
                  <a:srgbClr val="000000"/>
                </a:solidFill>
                <a:latin typeface="+mn-lt"/>
                <a:ea typeface="楷体" panose="02010609060101010101" pitchFamily="49" charset="-122"/>
                <a:cs typeface="Times New Roman" panose="02020603050405020304" pitchFamily="18" charset="0"/>
              </a:rPr>
              <a:t>甲</a:t>
            </a:r>
            <a:r>
              <a:rPr lang="zh-CN" altLang="zh-CN" dirty="0" smtClean="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青少年视力是社会普遍关注的问题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视力情况可借助视力表测量</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通常用五分记录法和小数记录法记录视力数据</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五分记录法的数据</a:t>
            </a:r>
            <a:r>
              <a:rPr lang="en-US" altLang="zh-CN" i="1" dirty="0">
                <a:solidFill>
                  <a:srgbClr val="000000"/>
                </a:solidFill>
                <a:latin typeface="+mn-lt"/>
                <a:ea typeface="宋体" panose="02010600030101010101" pitchFamily="2" charset="-122"/>
                <a:cs typeface="Times New Roman" panose="02020603050405020304" pitchFamily="18" charset="0"/>
              </a:rPr>
              <a:t>L</a:t>
            </a:r>
            <a:r>
              <a:rPr lang="zh-CN" altLang="zh-CN" dirty="0">
                <a:solidFill>
                  <a:srgbClr val="000000"/>
                </a:solidFill>
                <a:latin typeface="+mn-lt"/>
                <a:ea typeface="宋体" panose="02010600030101010101" pitchFamily="2" charset="-122"/>
                <a:cs typeface="Times New Roman" panose="02020603050405020304" pitchFamily="18" charset="0"/>
              </a:rPr>
              <a:t>和小数记录法的数据</a:t>
            </a:r>
            <a:r>
              <a:rPr lang="en-US" altLang="zh-CN" i="1" dirty="0">
                <a:solidFill>
                  <a:srgbClr val="000000"/>
                </a:solidFill>
                <a:latin typeface="+mn-lt"/>
                <a:ea typeface="宋体" panose="02010600030101010101" pitchFamily="2" charset="-122"/>
                <a:cs typeface="Times New Roman" panose="02020603050405020304" pitchFamily="18" charset="0"/>
              </a:rPr>
              <a:t>V</a:t>
            </a:r>
            <a:r>
              <a:rPr lang="zh-CN" altLang="zh-CN" dirty="0">
                <a:solidFill>
                  <a:srgbClr val="000000"/>
                </a:solidFill>
                <a:latin typeface="+mn-lt"/>
                <a:ea typeface="宋体" panose="02010600030101010101" pitchFamily="2" charset="-122"/>
                <a:cs typeface="Times New Roman" panose="02020603050405020304" pitchFamily="18" charset="0"/>
              </a:rPr>
              <a:t>满足</a:t>
            </a:r>
            <a:r>
              <a:rPr lang="en-US" altLang="zh-CN" i="1" dirty="0">
                <a:solidFill>
                  <a:srgbClr val="000000"/>
                </a:solidFill>
                <a:latin typeface="+mn-lt"/>
                <a:ea typeface="宋体" panose="02010600030101010101" pitchFamily="2" charset="-122"/>
                <a:cs typeface="Times New Roman" panose="02020603050405020304" pitchFamily="18" charset="0"/>
              </a:rPr>
              <a:t>L=</a:t>
            </a:r>
            <a:r>
              <a:rPr lang="en-US" altLang="zh-CN" dirty="0">
                <a:solidFill>
                  <a:srgbClr val="000000"/>
                </a:solidFill>
                <a:latin typeface="+mn-lt"/>
                <a:ea typeface="宋体" panose="02010600030101010101" pitchFamily="2" charset="-122"/>
                <a:cs typeface="Times New Roman" panose="02020603050405020304" pitchFamily="18" charset="0"/>
              </a:rPr>
              <a:t>5</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lg </a:t>
            </a:r>
            <a:r>
              <a:rPr lang="en-US" altLang="zh-CN" i="1" dirty="0">
                <a:solidFill>
                  <a:srgbClr val="000000"/>
                </a:solidFill>
                <a:latin typeface="+mn-lt"/>
                <a:ea typeface="宋体" panose="02010600030101010101" pitchFamily="2" charset="-122"/>
                <a:cs typeface="Times New Roman" panose="02020603050405020304" pitchFamily="18" charset="0"/>
              </a:rPr>
              <a:t>V.</a:t>
            </a:r>
            <a:r>
              <a:rPr lang="zh-CN" altLang="zh-CN" dirty="0">
                <a:solidFill>
                  <a:srgbClr val="000000"/>
                </a:solidFill>
                <a:latin typeface="+mn-lt"/>
                <a:ea typeface="宋体" panose="02010600030101010101" pitchFamily="2" charset="-122"/>
                <a:cs typeface="Times New Roman" panose="02020603050405020304" pitchFamily="18" charset="0"/>
              </a:rPr>
              <a:t>已知某同学视力的五分记录法的数据为</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9,</a:t>
            </a:r>
            <a:r>
              <a:rPr lang="zh-CN" altLang="zh-CN" dirty="0">
                <a:solidFill>
                  <a:srgbClr val="000000"/>
                </a:solidFill>
                <a:latin typeface="+mn-lt"/>
                <a:ea typeface="宋体" panose="02010600030101010101" pitchFamily="2" charset="-122"/>
                <a:cs typeface="Times New Roman" panose="02020603050405020304" pitchFamily="18" charset="0"/>
              </a:rPr>
              <a:t>则其视力的小数记录法的数据约为</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5	</a:t>
            </a:r>
            <a:r>
              <a:rPr lang="en-US" altLang="zh-CN" dirty="0" smtClean="0">
                <a:solidFill>
                  <a:srgbClr val="000000"/>
                </a:solidFill>
                <a:latin typeface="+mn-lt"/>
                <a:ea typeface="宋体" panose="02010600030101010101" pitchFamily="2" charset="-122"/>
                <a:cs typeface="Times New Roman" panose="02020603050405020304" pitchFamily="18" charset="0"/>
              </a:rPr>
              <a:t>	B.1</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NEU-BZ-S92" panose="02020503000000020003" pitchFamily="18"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C.0</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8</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D.0</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6</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391675705"/>
              </p:ext>
            </p:extLst>
          </p:nvPr>
        </p:nvGraphicFramePr>
        <p:xfrm>
          <a:off x="5826382" y="4086984"/>
          <a:ext cx="11671959" cy="532707"/>
        </p:xfrm>
        <a:graphic>
          <a:graphicData uri="http://schemas.openxmlformats.org/presentationml/2006/ole">
            <mc:AlternateContent xmlns:mc="http://schemas.openxmlformats.org/markup-compatibility/2006">
              <mc:Choice xmlns:v="urn:schemas-microsoft-com:vml" Requires="v">
                <p:oleObj spid="_x0000_s45069" name="文档" r:id="rId4" imgW="3826872" imgH="174658" progId="Word.Document.12">
                  <p:embed/>
                </p:oleObj>
              </mc:Choice>
              <mc:Fallback>
                <p:oleObj name="文档" r:id="rId4" imgW="3826872" imgH="174658" progId="Word.Document.12">
                  <p:embed/>
                  <p:pic>
                    <p:nvPicPr>
                      <p:cNvPr id="0" name=""/>
                      <p:cNvPicPr/>
                      <p:nvPr/>
                    </p:nvPicPr>
                    <p:blipFill>
                      <a:blip r:embed="rId5"/>
                      <a:stretch>
                        <a:fillRect/>
                      </a:stretch>
                    </p:blipFill>
                    <p:spPr>
                      <a:xfrm>
                        <a:off x="5826382" y="4086984"/>
                        <a:ext cx="11671959" cy="532707"/>
                      </a:xfrm>
                      <a:prstGeom prst="rect">
                        <a:avLst/>
                      </a:prstGeom>
                    </p:spPr>
                  </p:pic>
                </p:oleObj>
              </mc:Fallback>
            </mc:AlternateContent>
          </a:graphicData>
        </a:graphic>
      </p:graphicFrame>
    </p:spTree>
    <p:extLst>
      <p:ext uri="{BB962C8B-B14F-4D97-AF65-F5344CB8AC3E}">
        <p14:creationId xmlns:p14="http://schemas.microsoft.com/office/powerpoint/2010/main" val="129926810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281623590"/>
              </p:ext>
            </p:extLst>
          </p:nvPr>
        </p:nvGraphicFramePr>
        <p:xfrm>
          <a:off x="432445" y="1943943"/>
          <a:ext cx="11671959" cy="1335058"/>
        </p:xfrm>
        <a:graphic>
          <a:graphicData uri="http://schemas.openxmlformats.org/presentationml/2006/ole">
            <mc:AlternateContent xmlns:mc="http://schemas.openxmlformats.org/markup-compatibility/2006">
              <mc:Choice xmlns:v="urn:schemas-microsoft-com:vml" Requires="v">
                <p:oleObj spid="_x0000_s49161" name="文档" r:id="rId4" imgW="3826872" imgH="437724" progId="Word.Document.12">
                  <p:embed/>
                </p:oleObj>
              </mc:Choice>
              <mc:Fallback>
                <p:oleObj name="文档" r:id="rId4" imgW="3826872" imgH="437724" progId="Word.Document.12">
                  <p:embed/>
                  <p:pic>
                    <p:nvPicPr>
                      <p:cNvPr id="0" name=""/>
                      <p:cNvPicPr/>
                      <p:nvPr/>
                    </p:nvPicPr>
                    <p:blipFill>
                      <a:blip r:embed="rId5"/>
                      <a:stretch>
                        <a:fillRect/>
                      </a:stretch>
                    </p:blipFill>
                    <p:spPr>
                      <a:xfrm>
                        <a:off x="432445" y="1943943"/>
                        <a:ext cx="11671959" cy="1335058"/>
                      </a:xfrm>
                      <a:prstGeom prst="rect">
                        <a:avLst/>
                      </a:prstGeom>
                    </p:spPr>
                  </p:pic>
                </p:oleObj>
              </mc:Fallback>
            </mc:AlternateContent>
          </a:graphicData>
        </a:graphic>
      </p:graphicFrame>
      <p:sp>
        <p:nvSpPr>
          <p:cNvPr id="7" name="矩形 6"/>
          <p:cNvSpPr>
            <a:spLocks noChangeAspect="1"/>
          </p:cNvSpPr>
          <p:nvPr/>
        </p:nvSpPr>
        <p:spPr>
          <a:xfrm>
            <a:off x="361950" y="3384103"/>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69465253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105</TotalTime>
  <Words>1907</Words>
  <Application>Microsoft Office PowerPoint</Application>
  <PresentationFormat>自定义</PresentationFormat>
  <Paragraphs>181</Paragraphs>
  <Slides>60</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6" baseType="lpstr">
      <vt:lpstr>NEU-BZ-S92</vt:lpstr>
      <vt:lpstr>方正书宋_GBK</vt:lpstr>
      <vt:lpstr>仿宋</vt:lpstr>
      <vt:lpstr>黑体</vt:lpstr>
      <vt:lpstr>华文新魏</vt:lpstr>
      <vt:lpstr>楷体</vt:lpstr>
      <vt:lpstr>隶书</vt:lpstr>
      <vt:lpstr>宋体</vt:lpstr>
      <vt:lpstr>微软雅黑</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23</cp:revision>
  <dcterms:created xsi:type="dcterms:W3CDTF">2020-09-12T05:36:12Z</dcterms:created>
  <dcterms:modified xsi:type="dcterms:W3CDTF">2025-08-18T07:58:20Z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