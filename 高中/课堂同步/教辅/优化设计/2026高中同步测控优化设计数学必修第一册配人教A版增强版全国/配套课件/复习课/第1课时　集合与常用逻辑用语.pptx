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731" r:id="rId2"/>
    <p:sldId id="753" r:id="rId3"/>
    <p:sldId id="744" r:id="rId4"/>
    <p:sldId id="746" r:id="rId5"/>
    <p:sldId id="749" r:id="rId6"/>
    <p:sldId id="756" r:id="rId7"/>
    <p:sldId id="758" r:id="rId8"/>
    <p:sldId id="759" r:id="rId9"/>
    <p:sldId id="760" r:id="rId10"/>
    <p:sldId id="761" r:id="rId11"/>
    <p:sldId id="762" r:id="rId12"/>
    <p:sldId id="763" r:id="rId13"/>
    <p:sldId id="764" r:id="rId14"/>
    <p:sldId id="765" r:id="rId15"/>
    <p:sldId id="737" r:id="rId16"/>
    <p:sldId id="750" r:id="rId17"/>
    <p:sldId id="766" r:id="rId18"/>
    <p:sldId id="767" r:id="rId19"/>
    <p:sldId id="768" r:id="rId20"/>
    <p:sldId id="769" r:id="rId21"/>
    <p:sldId id="770" r:id="rId22"/>
    <p:sldId id="771" r:id="rId23"/>
    <p:sldId id="772" r:id="rId24"/>
    <p:sldId id="773" r:id="rId25"/>
    <p:sldId id="774" r:id="rId26"/>
    <p:sldId id="775" r:id="rId27"/>
    <p:sldId id="776" r:id="rId28"/>
    <p:sldId id="777" r:id="rId29"/>
    <p:sldId id="778" r:id="rId30"/>
    <p:sldId id="785" r:id="rId31"/>
    <p:sldId id="786" r:id="rId32"/>
    <p:sldId id="757" r:id="rId33"/>
    <p:sldId id="779" r:id="rId34"/>
    <p:sldId id="782" r:id="rId35"/>
    <p:sldId id="787" r:id="rId36"/>
    <p:sldId id="783" r:id="rId37"/>
    <p:sldId id="735" r:id="rId3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37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3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7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649804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集合与常用逻辑用语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122386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302406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知识网络</a:t>
            </a:r>
          </a:p>
        </p:txBody>
      </p:sp>
      <p:pic>
        <p:nvPicPr>
          <p:cNvPr id="5" name="21E53.eps" descr="id:214752942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797" y="677295"/>
            <a:ext cx="3600400" cy="564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要点梳理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1367879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集合中的元素有哪三个特征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元素与集合之间的关系是哪两种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集合中元素的三个特征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确定性、无序性、互异性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元素与集合的关系是属于或不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属于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用符号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∉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集合的表示方法有哪些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列举法、描述法、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图法和常用数集的字母表示法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[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自然数集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N,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正整数集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整数集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Z,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有理数集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Q,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08689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1825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集合间的基本关系有哪几种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548740"/>
              </p:ext>
            </p:extLst>
          </p:nvPr>
        </p:nvGraphicFramePr>
        <p:xfrm>
          <a:off x="-161925" y="1326787"/>
          <a:ext cx="11877675" cy="444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文档" r:id="rId3" imgW="3894589" imgH="1461407" progId="Word.Document.12">
                  <p:embed/>
                </p:oleObj>
              </mc:Choice>
              <mc:Fallback>
                <p:oleObj name="文档" r:id="rId3" imgW="3894589" imgH="14614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61925" y="1326787"/>
                        <a:ext cx="11877675" cy="4443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643829" y="198428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639239" y="244838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288777" y="2205024"/>
            <a:ext cx="9286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8284187" y="2669122"/>
            <a:ext cx="927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649469" y="2215782"/>
            <a:ext cx="9286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9644879" y="2679880"/>
            <a:ext cx="927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638360" y="308223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633770" y="354633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459601" y="3592686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6455011" y="4056784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285558" y="3318088"/>
            <a:ext cx="9286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8280968" y="3782186"/>
            <a:ext cx="927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9646250" y="3328846"/>
            <a:ext cx="9286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9641660" y="3792944"/>
            <a:ext cx="927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541541" y="469836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1536951" y="516246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9655237" y="4167385"/>
            <a:ext cx="9286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9650647" y="4631483"/>
            <a:ext cx="927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>
            <a:spLocks noChangeAspect="1"/>
          </p:cNvSpPr>
          <p:nvPr/>
        </p:nvSpPr>
        <p:spPr>
          <a:xfrm>
            <a:off x="361950" y="532831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空集是任何集合的子集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是任何非空集合的真子集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129246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5695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集合的基本运算有哪几种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05507"/>
              </p:ext>
            </p:extLst>
          </p:nvPr>
        </p:nvGraphicFramePr>
        <p:xfrm>
          <a:off x="-139700" y="1570038"/>
          <a:ext cx="11984038" cy="476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文档" r:id="rId3" imgW="3947136" imgH="1572464" progId="Word.Document.12">
                  <p:embed/>
                </p:oleObj>
              </mc:Choice>
              <mc:Fallback>
                <p:oleObj name="文档" r:id="rId3" imgW="3947136" imgH="15724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39700" y="1570038"/>
                        <a:ext cx="11984038" cy="4765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036691" y="5243925"/>
            <a:ext cx="240853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032519" y="5708023"/>
            <a:ext cx="24058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104059" y="5225693"/>
            <a:ext cx="240853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099887" y="5689791"/>
            <a:ext cx="24058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815549" y="5236451"/>
            <a:ext cx="293411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811377" y="5700549"/>
            <a:ext cx="29307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0394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894922"/>
              </p:ext>
            </p:extLst>
          </p:nvPr>
        </p:nvGraphicFramePr>
        <p:xfrm>
          <a:off x="-7239" y="1605631"/>
          <a:ext cx="11725276" cy="372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文档" r:id="rId3" imgW="3867236" imgH="1226673" progId="Word.Document.12">
                  <p:embed/>
                </p:oleObj>
              </mc:Choice>
              <mc:Fallback>
                <p:oleObj name="文档" r:id="rId3" imgW="3867236" imgH="12266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7239" y="1605631"/>
                        <a:ext cx="11725276" cy="3722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934514" y="3798840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929967" y="4262938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190329" y="3716074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185782" y="4180172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0404335" y="2553188"/>
            <a:ext cx="43867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0399553" y="3017286"/>
            <a:ext cx="438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0251230" y="3069965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0246425" y="3534063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0119002" y="3585181"/>
            <a:ext cx="398797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10114197" y="3959436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9182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947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充分条件、必要条件和充要条件的判断方法有哪几种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90878"/>
              </p:ext>
            </p:extLst>
          </p:nvPr>
        </p:nvGraphicFramePr>
        <p:xfrm>
          <a:off x="-312738" y="1957388"/>
          <a:ext cx="12168188" cy="463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文档" r:id="rId3" imgW="3989246" imgH="1524868" progId="Word.Document.12">
                  <p:embed/>
                </p:oleObj>
              </mc:Choice>
              <mc:Fallback>
                <p:oleObj name="文档" r:id="rId3" imgW="3989246" imgH="1524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312738" y="1957388"/>
                        <a:ext cx="12168188" cy="4637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092659" y="3713019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088112" y="4177117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930015" y="419887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925258" y="4662972"/>
            <a:ext cx="4819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011144" y="5001479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006597" y="5465577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209395" y="4759227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9215328" y="5223325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8929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634153"/>
              </p:ext>
            </p:extLst>
          </p:nvPr>
        </p:nvGraphicFramePr>
        <p:xfrm>
          <a:off x="-317131" y="975159"/>
          <a:ext cx="12164537" cy="517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文档" r:id="rId3" imgW="3999683" imgH="1698304" progId="Word.Document.12">
                  <p:embed/>
                </p:oleObj>
              </mc:Choice>
              <mc:Fallback>
                <p:oleObj name="文档" r:id="rId3" imgW="3999683" imgH="16983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317131" y="975159"/>
                        <a:ext cx="12164537" cy="517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100961" y="2736031"/>
            <a:ext cx="1291924" cy="95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096683" y="3693651"/>
            <a:ext cx="1290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752925" y="2952055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748580" y="3384103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9038448" y="4021417"/>
            <a:ext cx="41164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9033671" y="4485515"/>
            <a:ext cx="41118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816995" y="4536455"/>
            <a:ext cx="41164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7812218" y="5000553"/>
            <a:ext cx="41118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62806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6863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什么是全称量词命题和存在量词命题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怎样判断它们的真假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怎样写出它们的否定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157324"/>
              </p:ext>
            </p:extLst>
          </p:nvPr>
        </p:nvGraphicFramePr>
        <p:xfrm>
          <a:off x="365125" y="1733010"/>
          <a:ext cx="10875963" cy="530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文档" r:id="rId3" imgW="3947136" imgH="1930154" progId="Word.Document.12">
                  <p:embed/>
                </p:oleObj>
              </mc:Choice>
              <mc:Fallback>
                <p:oleObj name="文档" r:id="rId3" imgW="3947136" imgH="19301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125" y="1733010"/>
                        <a:ext cx="10875963" cy="5303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537247" y="2891322"/>
            <a:ext cx="77714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532657" y="328036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983765" y="2891322"/>
            <a:ext cx="2046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978852" y="3280367"/>
            <a:ext cx="2044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483648" y="2517564"/>
            <a:ext cx="2046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9478735" y="2906609"/>
            <a:ext cx="2044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376411" y="3331168"/>
            <a:ext cx="143820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9371498" y="3720213"/>
            <a:ext cx="14365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531778" y="4839298"/>
            <a:ext cx="77714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1527188" y="522834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978296" y="4839298"/>
            <a:ext cx="2046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2973383" y="5228343"/>
            <a:ext cx="2044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521211" y="4465540"/>
            <a:ext cx="2046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9516298" y="4854585"/>
            <a:ext cx="2044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9370942" y="5279144"/>
            <a:ext cx="143820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9366029" y="5668189"/>
            <a:ext cx="14365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76619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13905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(1)0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任何一个集合都有子集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=t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对于任意两个集合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恒成立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(6)“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对顶角相等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76661" y="259201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524527" y="315949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129189" y="371320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184973" y="436127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09509" y="496827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41982" y="55443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47109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791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的必要条件时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(8)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不一定为真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(9)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全称量词命题和其否定不可能都是真命题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993285" y="184099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297541" y="302406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641357" y="360663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70679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3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专题整合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3988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专题一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集合的概念及基本运算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利用并集的定义求解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借助数轴建立关于实数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的不等式组求其取值范围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两种情况讨论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353485"/>
              </p:ext>
            </p:extLst>
          </p:nvPr>
        </p:nvGraphicFramePr>
        <p:xfrm>
          <a:off x="576461" y="1431722"/>
          <a:ext cx="11671959" cy="3176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文档" r:id="rId3" imgW="3826872" imgH="1041481" progId="Word.Document.12">
                  <p:embed/>
                </p:oleObj>
              </mc:Choice>
              <mc:Fallback>
                <p:oleObj name="文档" r:id="rId3" imgW="3826872" imgH="1041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6461" y="1431722"/>
                        <a:ext cx="11671959" cy="3176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452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09944"/>
              </p:ext>
            </p:extLst>
          </p:nvPr>
        </p:nvGraphicFramePr>
        <p:xfrm>
          <a:off x="504453" y="1007839"/>
          <a:ext cx="11671959" cy="4446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文档" r:id="rId3" imgW="3837724" imgH="1462849" progId="Word.Document.12">
                  <p:embed/>
                </p:oleObj>
              </mc:Choice>
              <mc:Fallback>
                <p:oleObj name="文档" r:id="rId3" imgW="3837724" imgH="1462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453" y="1007839"/>
                        <a:ext cx="11671959" cy="4446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939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4522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的运算是指集合间的交、并、补这三种常见的运算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在运算过程中往往由于运算能力差或考虑不全面而出现错误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具体数集的运算一般采取数轴法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而抽象集合的运算常用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运算时特别注意对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9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0969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已知全集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)∩(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6},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8},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)∩(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∁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&gt;a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在数轴上表示出来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ZMG1TRA115.eps" descr="id:214751023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409109" y="4464223"/>
            <a:ext cx="4104456" cy="94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658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专题二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充分条件与必要条件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成立的一个充分不必要条件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成立的一个充分不必要条件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成立的充要条件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分清条件和结论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利用集合间的包含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真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包含、相等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关系确定参数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83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647799"/>
            <a:ext cx="11742454" cy="5718128"/>
            <a:chOff x="361950" y="647799"/>
            <a:chExt cx="11742454" cy="5718128"/>
          </a:xfrm>
        </p:grpSpPr>
        <p:grpSp>
          <p:nvGrpSpPr>
            <p:cNvPr id="5" name="组合 4"/>
            <p:cNvGrpSpPr/>
            <p:nvPr/>
          </p:nvGrpSpPr>
          <p:grpSpPr>
            <a:xfrm>
              <a:off x="361950" y="647799"/>
              <a:ext cx="11742454" cy="4515654"/>
              <a:chOff x="361950" y="651967"/>
              <a:chExt cx="11742454" cy="4515654"/>
            </a:xfrm>
          </p:grpSpPr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651967"/>
                <a:ext cx="10807700" cy="363791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解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latin typeface="NEU-BZ-S92"/>
                    <a:ea typeface="宋体" panose="02010600030101010101" pitchFamily="2" charset="-122"/>
                    <a:cs typeface="宋体" panose="02010600030101010101" pitchFamily="2" charset="-122"/>
                  </a:rPr>
                  <a:t>∈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latin typeface="NEU-BZ-S92"/>
                    <a:ea typeface="宋体" panose="02010600030101010101" pitchFamily="2" charset="-122"/>
                    <a:cs typeface="宋体" panose="02010600030101010101" pitchFamily="2" charset="-122"/>
                  </a:rPr>
                  <a:t>∈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成立的一个充分不必要条件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NEU-BZ-S92"/>
                    <a:cs typeface="Times New Roman" panose="02020603050405020304" pitchFamily="18" charset="0"/>
                  </a:rPr>
                  <a:t>⫋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m+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altLang="zh-CN" dirty="0" smtClean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故实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数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的取值范围为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m|m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2}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2)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latin typeface="NEU-BZ-S92"/>
                    <a:ea typeface="宋体" panose="02010600030101010101" pitchFamily="2" charset="-122"/>
                    <a:cs typeface="宋体" panose="02010600030101010101" pitchFamily="2" charset="-122"/>
                  </a:rPr>
                  <a:t>∈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latin typeface="NEU-BZ-S92"/>
                    <a:ea typeface="宋体" panose="02010600030101010101" pitchFamily="2" charset="-122"/>
                    <a:cs typeface="宋体" panose="02010600030101010101" pitchFamily="2" charset="-122"/>
                  </a:rPr>
                  <a:t>∈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成立的一个充分不必要条件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NEU-BZ-S92"/>
                    <a:cs typeface="Times New Roman" panose="02020603050405020304" pitchFamily="18" charset="0"/>
                  </a:rPr>
                  <a:t>⫋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NEU-BZ-S92"/>
                    <a:ea typeface="宋体" panose="02010600030101010101" pitchFamily="2" charset="-122"/>
                    <a:cs typeface="宋体" panose="02010600030101010101" pitchFamily="2" charset="-122"/>
                  </a:rPr>
                  <a:t>①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m+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NEU-BZ-S92"/>
                    <a:cs typeface="Times New Roman" panose="02020603050405020304" pitchFamily="18" charset="0"/>
                  </a:rPr>
                  <a:t>⌀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符合题意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;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NEU-BZ-S92"/>
                    <a:ea typeface="宋体" panose="02010600030101010101" pitchFamily="2" charset="-122"/>
                    <a:cs typeface="宋体" panose="02010600030101010101" pitchFamily="2" charset="-122"/>
                  </a:rPr>
                  <a:t>②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m+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&gt;-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m&gt;-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3675931"/>
                  </p:ext>
                </p:extLst>
              </p:nvPr>
            </p:nvGraphicFramePr>
            <p:xfrm>
              <a:off x="432445" y="4166876"/>
              <a:ext cx="11671959" cy="10007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38" name="文档" r:id="rId3" imgW="3826872" imgH="328113" progId="Word.Document.12">
                      <p:embed/>
                    </p:oleObj>
                  </mc:Choice>
                  <mc:Fallback>
                    <p:oleObj name="文档" r:id="rId3" imgW="3826872" imgH="328113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32445" y="4166876"/>
                            <a:ext cx="11671959" cy="100074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514828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综上可知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m|m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7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8795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成立的充要条件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03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943943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一个条件是另一个条件的充分条件、必要条件、充要条件确定某个参数的取值范围时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先弄清楚条件和结论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再利用集合间的包含关系进行讨论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46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充分不必要条件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必要不充分条件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既不充分也不必要条件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的充分不必要条件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5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42898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专题三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全称量词命题与存在量词命题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写出下列命题的否定并判断其真假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取何实数值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+mx-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必有实数根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有的三角形的三条边相等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菱形的对角线互相垂直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7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53991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存在一个实数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+mx-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没有实数根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因为该方程的判别式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Δ=m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所以命题的否定为假命题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所有的三角形的三条边不全相等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有的菱形的对角线不垂直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故命题的否定是假命题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27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471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对全称量词命题与存在量词命题进行否定的方法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确定原命题是全称量词命题还是存在量词命题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转换量词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全称量词的否定对应存在量词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存在量词的否定对应全称量词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否定结论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当题目中量词不明显或简略时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可以先改写命题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添加必要的量词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突显命题的特征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要理解并记熟常用关键词的否定形式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90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21839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存在一个无理数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它的平方是有理数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的否定是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任意一个有理数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它的平方是有理数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任意一个无理数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它的平方不是有理数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存在一个有理数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它的平方是有理数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存在一个无理数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它的平方不是有理数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5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3"/>
          <p:cNvSpPr/>
          <p:nvPr/>
        </p:nvSpPr>
        <p:spPr>
          <a:xfrm>
            <a:off x="288429" y="716717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高考体验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1345125"/>
            <a:ext cx="10807700" cy="6278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考点一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集合的概念及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基本运算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2015951"/>
                <a:ext cx="10807700" cy="435952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(2024·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新高考卷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Ⅰ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已知集合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x|-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&lt;x</a:t>
                </a:r>
                <a:r>
                  <a:rPr lang="en-US" altLang="zh-CN" baseline="30000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&lt;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5},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1,0,2,3},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∩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　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A.{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1,0}	B.{2,3}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C.{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1,0}	D.{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1,0,2}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effectLst/>
                    <a:latin typeface="+mn-lt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dirty="0" smtClean="0">
                    <a:effectLst/>
                    <a:latin typeface="+mn-lt"/>
                    <a:cs typeface="Times New Roman" panose="02020603050405020304" pitchFamily="18" charset="0"/>
                  </a:rPr>
                  <a:t>:</a:t>
                </a:r>
                <a:r>
                  <a:rPr lang="zh-CN" altLang="zh-CN" i="1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∵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x|-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&lt;x</a:t>
                </a:r>
                <a:r>
                  <a:rPr lang="en-US" altLang="zh-CN" baseline="30000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&lt;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5}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x|-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&lt;x&lt;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},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1,0,2,3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},</a:t>
                </a:r>
                <a:endParaRPr lang="en-US" altLang="zh-CN" dirty="0" smtClean="0">
                  <a:solidFill>
                    <a:srgbClr val="000000"/>
                  </a:solidFill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又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&lt;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  <m:r>
                      <a:rPr lang="en-US" altLang="zh-CN" i="1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ad>
                      <m:rad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i="1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&lt;-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&lt;-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i="1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∩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1,0}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effectLst/>
                    <a:latin typeface="+mn-lt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dirty="0" smtClean="0">
                    <a:effectLst/>
                    <a:latin typeface="+mn-lt"/>
                    <a:cs typeface="Times New Roman" panose="02020603050405020304" pitchFamily="18" charset="0"/>
                  </a:rPr>
                  <a:t>: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2015951"/>
                <a:ext cx="10807700" cy="4359527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399" b="-23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90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07839"/>
            <a:ext cx="10807700" cy="41899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2023·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新高考卷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1,0,1,2},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.{0,1,2}	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	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.{2}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由题意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2]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[3,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1,0,1,2},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719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462159"/>
              </p:ext>
            </p:extLst>
          </p:nvPr>
        </p:nvGraphicFramePr>
        <p:xfrm>
          <a:off x="432445" y="1002670"/>
          <a:ext cx="10575841" cy="248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文档" r:id="rId3" imgW="3467489" imgH="815072" progId="Word.Document.12">
                  <p:embed/>
                </p:oleObj>
              </mc:Choice>
              <mc:Fallback>
                <p:oleObj name="文档" r:id="rId3" imgW="3467489" imgH="8150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1002670"/>
                        <a:ext cx="10575841" cy="2485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229068"/>
              </p:ext>
            </p:extLst>
          </p:nvPr>
        </p:nvGraphicFramePr>
        <p:xfrm>
          <a:off x="288429" y="3483977"/>
          <a:ext cx="10575841" cy="1472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文档" r:id="rId5" imgW="3467489" imgH="482646" progId="Word.Document.12">
                  <p:embed/>
                </p:oleObj>
              </mc:Choice>
              <mc:Fallback>
                <p:oleObj name="文档" r:id="rId5" imgW="3467489" imgH="4826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429" y="3483977"/>
                        <a:ext cx="10575841" cy="1472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184577" y="4865562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96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994823"/>
            <a:ext cx="10807700" cy="1865126"/>
            <a:chOff x="361950" y="975159"/>
            <a:chExt cx="10807700" cy="186512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97515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2023·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新高考卷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Ⅱ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设集合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{0,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},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{1,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2,2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2},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A.2	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	B.1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	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	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	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5891342"/>
                </p:ext>
              </p:extLst>
            </p:nvPr>
          </p:nvGraphicFramePr>
          <p:xfrm>
            <a:off x="4701491" y="2096431"/>
            <a:ext cx="1104690" cy="649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9" name="文档" r:id="rId3" imgW="535644" imgH="315535" progId="Word.Document.12">
                    <p:embed/>
                  </p:oleObj>
                </mc:Choice>
                <mc:Fallback>
                  <p:oleObj name="文档" r:id="rId3" imgW="535644" imgH="31553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01491" y="2096431"/>
                          <a:ext cx="1104690" cy="6494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2839516"/>
            <a:ext cx="10807700" cy="24171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{1,0,2},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⊄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81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53717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考点二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充分条件与必要条件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(2024·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天津高考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“3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充分不必要条件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必要不充分条件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充要条件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既不充分也不必要条件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题意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,3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⇔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即二者互为充要条件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16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3583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2020·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天津高考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充分不必要条件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必要不充分条件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	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既不充分也不必要条件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的充分不必要条件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97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5185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2019·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天津高考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充分不必要条件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必要不充分条件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既不充分也不必要条件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的必要不充分条件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3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72</TotalTime>
  <Words>1234</Words>
  <Application>Microsoft Office PowerPoint</Application>
  <PresentationFormat>自定义</PresentationFormat>
  <Paragraphs>135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NEU-BZ-S92</vt:lpstr>
      <vt:lpstr>方正书宋_GBK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25</cp:revision>
  <dcterms:created xsi:type="dcterms:W3CDTF">2020-09-12T05:36:12Z</dcterms:created>
  <dcterms:modified xsi:type="dcterms:W3CDTF">2025-08-18T07:46:56Z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