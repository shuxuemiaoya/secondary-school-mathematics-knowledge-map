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av" ContentType="audio/x-wav"/>
  <Default Extension="docx" ContentType="application/vnd.openxmlformats-officedocument.wordprocessingml.document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3"/>
  </p:notesMasterIdLst>
  <p:sldIdLst>
    <p:sldId id="731" r:id="rId2"/>
    <p:sldId id="753" r:id="rId3"/>
    <p:sldId id="744" r:id="rId4"/>
    <p:sldId id="746" r:id="rId5"/>
    <p:sldId id="749" r:id="rId6"/>
    <p:sldId id="756" r:id="rId7"/>
    <p:sldId id="758" r:id="rId8"/>
    <p:sldId id="759" r:id="rId9"/>
    <p:sldId id="761" r:id="rId10"/>
    <p:sldId id="760" r:id="rId11"/>
    <p:sldId id="762" r:id="rId12"/>
    <p:sldId id="763" r:id="rId13"/>
    <p:sldId id="764" r:id="rId14"/>
    <p:sldId id="765" r:id="rId15"/>
    <p:sldId id="766" r:id="rId16"/>
    <p:sldId id="737" r:id="rId17"/>
    <p:sldId id="750" r:id="rId18"/>
    <p:sldId id="767" r:id="rId19"/>
    <p:sldId id="768" r:id="rId20"/>
    <p:sldId id="769" r:id="rId21"/>
    <p:sldId id="770" r:id="rId22"/>
    <p:sldId id="771" r:id="rId23"/>
    <p:sldId id="772" r:id="rId24"/>
    <p:sldId id="773" r:id="rId25"/>
    <p:sldId id="774" r:id="rId26"/>
    <p:sldId id="775" r:id="rId27"/>
    <p:sldId id="776" r:id="rId28"/>
    <p:sldId id="777" r:id="rId29"/>
    <p:sldId id="778" r:id="rId30"/>
    <p:sldId id="779" r:id="rId31"/>
    <p:sldId id="780" r:id="rId32"/>
    <p:sldId id="781" r:id="rId33"/>
    <p:sldId id="757" r:id="rId34"/>
    <p:sldId id="782" r:id="rId35"/>
    <p:sldId id="790" r:id="rId36"/>
    <p:sldId id="784" r:id="rId37"/>
    <p:sldId id="786" r:id="rId38"/>
    <p:sldId id="787" r:id="rId39"/>
    <p:sldId id="788" r:id="rId40"/>
    <p:sldId id="789" r:id="rId41"/>
    <p:sldId id="735" r:id="rId42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buFont typeface="Arial" panose="020B0604020202020204" pitchFamily="34" charset="0"/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5pPr>
    <a:lvl6pPr marL="22860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6pPr>
    <a:lvl7pPr marL="27432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7pPr>
    <a:lvl8pPr marL="32004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8pPr>
    <a:lvl9pPr marL="3657600" algn="l" defTabSz="914400" rtl="0" eaLnBrk="1" latinLnBrk="0" hangingPunct="1">
      <a:defRPr sz="3200" b="1" kern="1200">
        <a:solidFill>
          <a:srgbClr val="FF0000"/>
        </a:solidFill>
        <a:latin typeface="Times New Roman" panose="02020603050405020304" pitchFamily="18" charset="0"/>
        <a:ea typeface="黑体" panose="02010609060101010101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59">
          <p15:clr>
            <a:srgbClr val="A4A3A4"/>
          </p15:clr>
        </p15:guide>
        <p15:guide id="2" pos="362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6600"/>
    <a:srgbClr val="FF9933"/>
    <a:srgbClr val="FF3399"/>
    <a:srgbClr val="FF7C80"/>
    <a:srgbClr val="FFFFFF"/>
    <a:srgbClr val="C6A7DD"/>
    <a:srgbClr val="9E5ECE"/>
    <a:srgbClr val="D60093"/>
    <a:srgbClr val="934BC9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591" autoAdjust="0"/>
  </p:normalViewPr>
  <p:slideViewPr>
    <p:cSldViewPr>
      <p:cViewPr varScale="1">
        <p:scale>
          <a:sx n="94" d="100"/>
          <a:sy n="94" d="100"/>
        </p:scale>
        <p:origin x="78" y="102"/>
      </p:cViewPr>
      <p:guideLst>
        <p:guide orient="horz" pos="2059"/>
        <p:guide pos="36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image" Target="../media/image10.emf"/></Relationships>
</file>

<file path=ppt/drawings/_rels/vmlDrawing7.v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image" Target="../media/image12.e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image" Target="../media/image14.emf"/></Relationships>
</file>

<file path=ppt/drawings/_rels/vmlDrawing9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drawings/_rels/vmlDrawing10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e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8.e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emf"/></Relationships>
</file>

<file path=ppt/drawings/_rels/vmlDrawing1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drawings/_rels/vmlDrawing14.vml.rels><?xml version="1.0" encoding="UTF-8" standalone="yes"?>
<Relationships xmlns="http://schemas.openxmlformats.org/package/2006/relationships"><Relationship Id="rId1" Type="http://schemas.openxmlformats.org/officeDocument/2006/relationships/image" Target="../media/image22.emf"/></Relationships>
</file>

<file path=ppt/drawings/_rels/vmlDrawing15.vml.rels><?xml version="1.0" encoding="UTF-8" standalone="yes"?>
<Relationships xmlns="http://schemas.openxmlformats.org/package/2006/relationships"><Relationship Id="rId1" Type="http://schemas.openxmlformats.org/officeDocument/2006/relationships/image" Target="../media/image24.emf"/></Relationships>
</file>

<file path=ppt/drawings/_rels/vmlDrawing16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image" Target="../media/image25.emf"/></Relationships>
</file>

<file path=ppt/drawings/_rels/vmlDrawing17.vml.rels><?xml version="1.0" encoding="UTF-8" standalone="yes"?>
<Relationships xmlns="http://schemas.openxmlformats.org/package/2006/relationships"><Relationship Id="rId2" Type="http://schemas.openxmlformats.org/officeDocument/2006/relationships/image" Target="../media/image29.emf"/><Relationship Id="rId1" Type="http://schemas.openxmlformats.org/officeDocument/2006/relationships/image" Target="../media/image28.emf"/></Relationships>
</file>

<file path=ppt/drawings/_rels/vmlDrawing18.vml.rels><?xml version="1.0" encoding="UTF-8" standalone="yes"?>
<Relationships xmlns="http://schemas.openxmlformats.org/package/2006/relationships"><Relationship Id="rId1" Type="http://schemas.openxmlformats.org/officeDocument/2006/relationships/image" Target="../media/image30.emf"/></Relationships>
</file>

<file path=ppt/drawings/_rels/vmlDrawing19.vml.rels><?xml version="1.0" encoding="UTF-8" standalone="yes"?>
<Relationships xmlns="http://schemas.openxmlformats.org/package/2006/relationships"><Relationship Id="rId1" Type="http://schemas.openxmlformats.org/officeDocument/2006/relationships/image" Target="../media/image31.emf"/></Relationships>
</file>

<file path=ppt/drawings/_rels/vmlDrawing20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124" name="幻灯片图像占位符 3"/>
          <p:cNvSpPr>
            <a:spLocks noGrp="1" noRot="1" noChangeAspect="1" noChangeArrowheads="1"/>
          </p:cNvSpPr>
          <p:nvPr>
            <p:ph type="sldImg" idx="4294967295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buFontTx/>
              <a:buNone/>
              <a:defRPr sz="1200" b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noProof="1" dirty="0">
                <a:ea typeface="黑体" panose="02010609060101010101" pitchFamily="49" charset="-122"/>
              </a:defRPr>
            </a:lvl1pPr>
          </a:lstStyle>
          <a:p>
            <a:fld id="{A64CA497-71E0-4184-919F-D45F39379D11}" type="slidenum">
              <a:rPr lang="zh-CN" altLang="en-US"/>
              <a:pPr/>
              <a:t>‹#›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4782253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4CA497-71E0-4184-919F-D45F39379D11}" type="slidenum">
              <a:rPr lang="zh-CN" altLang="en-US" smtClean="0"/>
              <a:pPr/>
              <a:t>41</a:t>
            </a:fld>
            <a:endParaRPr lang="zh-CN" altLang="en-US">
              <a:ea typeface="黑体" panose="020106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58147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1196167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标题幻灯片">
    <p:bg>
      <p:bgPr>
        <a:pattFill prst="lgGrid">
          <a:fgClr>
            <a:schemeClr val="bg2">
              <a:lumMod val="90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云形标注 7"/>
          <p:cNvSpPr/>
          <p:nvPr userDrawn="1"/>
        </p:nvSpPr>
        <p:spPr>
          <a:xfrm>
            <a:off x="8868398" y="132726"/>
            <a:ext cx="2460413" cy="136045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6600" dirty="0" smtClean="0">
                <a:solidFill>
                  <a:srgbClr val="FF0000"/>
                </a:solidFill>
              </a:rPr>
              <a:t>   </a:t>
            </a:r>
            <a:r>
              <a:rPr lang="zh-CN" altLang="en-US" sz="8800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92716598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2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8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1" animBg="1"/>
    </p:bld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标题幻灯片">
    <p:bg>
      <p:bgPr>
        <a:pattFill prst="pct5">
          <a:fgClr>
            <a:schemeClr val="bg2">
              <a:lumMod val="75000"/>
            </a:schemeClr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5108201"/>
      </p:ext>
    </p:extLst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24695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103702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128942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标题幻灯片">
    <p:bg>
      <p:bgPr>
        <a:gradFill>
          <a:gsLst>
            <a:gs pos="61000">
              <a:schemeClr val="bg2">
                <a:lumMod val="90000"/>
              </a:schemeClr>
            </a:gs>
            <a:gs pos="100000">
              <a:schemeClr val="bg2">
                <a:lumMod val="50000"/>
              </a:schemeClr>
            </a:gs>
            <a:gs pos="0">
              <a:schemeClr val="bg2">
                <a:lumMod val="50000"/>
              </a:schemeClr>
            </a:gs>
            <a:gs pos="40000">
              <a:schemeClr val="bg2">
                <a:lumMod val="9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801617" y="1129203"/>
            <a:ext cx="10071988" cy="304698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十年寒窗磨利剑，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  <a:p>
            <a:r>
              <a:rPr lang="zh-CN" altLang="en-US" sz="9600" dirty="0" smtClean="0">
                <a:solidFill>
                  <a:schemeClr val="accent2"/>
                </a:solidFill>
                <a:effectLst>
                  <a:outerShdw dist="50800" dir="5400000" algn="ctr" rotWithShape="0">
                    <a:srgbClr val="000000">
                      <a:alpha val="60000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一朝折桂展宏图！</a:t>
            </a:r>
            <a:endParaRPr lang="en-US" altLang="zh-CN" sz="9600" dirty="0" smtClean="0">
              <a:solidFill>
                <a:schemeClr val="accent2"/>
              </a:solidFill>
              <a:effectLst>
                <a:outerShdw dist="50800" dir="5400000" algn="ctr" rotWithShape="0">
                  <a:srgbClr val="000000">
                    <a:alpha val="60000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2607902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16933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audio" Target="../media/audio1.wav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" Target="../slides/slide3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 userDrawn="1"/>
        </p:nvGrpSpPr>
        <p:grpSpPr>
          <a:xfrm>
            <a:off x="-1" y="36116"/>
            <a:ext cx="11522075" cy="611683"/>
            <a:chOff x="-1" y="36116"/>
            <a:chExt cx="11522075" cy="611683"/>
          </a:xfrm>
        </p:grpSpPr>
        <p:sp>
          <p:nvSpPr>
            <p:cNvPr id="7" name="矩形 6"/>
            <p:cNvSpPr/>
            <p:nvPr userDrawn="1"/>
          </p:nvSpPr>
          <p:spPr>
            <a:xfrm>
              <a:off x="-1" y="359767"/>
              <a:ext cx="11522075" cy="288032"/>
            </a:xfrm>
            <a:prstGeom prst="rect">
              <a:avLst/>
            </a:prstGeom>
            <a:gradFill flip="none" rotWithShape="1">
              <a:gsLst>
                <a:gs pos="65000">
                  <a:schemeClr val="bg2">
                    <a:lumMod val="90000"/>
                  </a:schemeClr>
                </a:gs>
                <a:gs pos="38000">
                  <a:schemeClr val="bg2">
                    <a:lumMod val="75000"/>
                  </a:schemeClr>
                </a:gs>
                <a:gs pos="1000">
                  <a:srgbClr val="0070C0"/>
                </a:gs>
                <a:gs pos="100000">
                  <a:schemeClr val="bg1"/>
                </a:gs>
              </a:gsLst>
              <a:path path="circle">
                <a:fillToRect r="100000" b="100000"/>
              </a:path>
              <a:tileRect l="-100000" t="-10000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88429" y="36116"/>
              <a:ext cx="576064" cy="576064"/>
            </a:xfrm>
            <a:prstGeom prst="rect">
              <a:avLst/>
            </a:prstGeom>
          </p:spPr>
        </p:pic>
      </p:grpSp>
      <p:sp>
        <p:nvSpPr>
          <p:cNvPr id="9" name="矩形 8"/>
          <p:cNvSpPr/>
          <p:nvPr userDrawn="1"/>
        </p:nvSpPr>
        <p:spPr>
          <a:xfrm>
            <a:off x="-9728" y="6404527"/>
            <a:ext cx="11522074" cy="72008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chemeClr val="bg2">
                    <a:lumMod val="50000"/>
                  </a:schemeClr>
                </a:solidFill>
              </a:ln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10" name="云形标注 9">
            <a:hlinkClick r:id="rId11" action="ppaction://hlinksldjump">
              <a:snd r:embed="rId12" name="camera.wav"/>
            </a:hlinkClick>
          </p:cNvPr>
          <p:cNvSpPr/>
          <p:nvPr userDrawn="1"/>
        </p:nvSpPr>
        <p:spPr>
          <a:xfrm>
            <a:off x="10441557" y="42551"/>
            <a:ext cx="864096" cy="432048"/>
          </a:xfrm>
          <a:prstGeom prst="cloudCallou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 smtClean="0"/>
              <a:t>  </a:t>
            </a:r>
            <a:r>
              <a:rPr lang="zh-CN" altLang="en-US" dirty="0" smtClean="0">
                <a:solidFill>
                  <a:srgbClr val="FF0000"/>
                </a:solidFill>
              </a:rPr>
              <a:t>？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558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5" r:id="rId2"/>
    <p:sldLayoutId id="2147483697" r:id="rId3"/>
    <p:sldLayoutId id="2147483690" r:id="rId4"/>
    <p:sldLayoutId id="2147483691" r:id="rId5"/>
    <p:sldLayoutId id="2147483692" r:id="rId6"/>
    <p:sldLayoutId id="2147483694" r:id="rId7"/>
    <p:sldLayoutId id="2147483698" r:id="rId8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158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5pPr>
      <a:lvl6pPr marL="432008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6pPr>
      <a:lvl7pPr marL="864017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7pPr>
      <a:lvl8pPr marL="1296025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8pPr>
      <a:lvl9pPr marL="1728033" algn="ctr" rtl="0" eaLnBrk="1" fontAlgn="base" hangingPunct="1">
        <a:spcBef>
          <a:spcPct val="0"/>
        </a:spcBef>
        <a:spcAft>
          <a:spcPct val="0"/>
        </a:spcAft>
        <a:defRPr sz="4158">
          <a:solidFill>
            <a:schemeClr val="tx1"/>
          </a:solidFill>
          <a:latin typeface="Arial" charset="0"/>
          <a:ea typeface="黑体" pitchFamily="2" charset="-122"/>
        </a:defRPr>
      </a:lvl9pPr>
    </p:titleStyle>
    <p:bodyStyle>
      <a:lvl1pPr marL="324006" indent="-324006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024" kern="1200">
          <a:solidFill>
            <a:schemeClr val="tx1"/>
          </a:solidFill>
          <a:latin typeface="+mn-lt"/>
          <a:ea typeface="+mn-ea"/>
          <a:cs typeface="+mn-cs"/>
        </a:defRPr>
      </a:lvl1pPr>
      <a:lvl2pPr marL="702013" indent="-270005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2646" kern="1200">
          <a:solidFill>
            <a:schemeClr val="tx1"/>
          </a:solidFill>
          <a:latin typeface="+mn-lt"/>
          <a:ea typeface="+mn-ea"/>
          <a:cs typeface="+mn-cs"/>
        </a:defRPr>
      </a:lvl2pPr>
      <a:lvl3pPr marL="1080021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2268" kern="1200">
          <a:solidFill>
            <a:schemeClr val="tx1"/>
          </a:solidFill>
          <a:latin typeface="+mn-lt"/>
          <a:ea typeface="+mn-ea"/>
          <a:cs typeface="+mn-cs"/>
        </a:defRPr>
      </a:lvl3pPr>
      <a:lvl4pPr marL="1512029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44037" indent="-216004" algn="l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376046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08054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240062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672070" indent="-216004" algn="l" defTabSz="864017" rtl="0" eaLnBrk="1" latinLnBrk="0" hangingPunct="1">
        <a:spcBef>
          <a:spcPct val="20000"/>
        </a:spcBef>
        <a:buFont typeface="Arial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1pPr>
      <a:lvl2pPr marL="43200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2pPr>
      <a:lvl3pPr marL="864017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3pPr>
      <a:lvl4pPr marL="1296025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4pPr>
      <a:lvl5pPr marL="1728033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5pPr>
      <a:lvl6pPr marL="2160041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6pPr>
      <a:lvl7pPr marL="2592050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7pPr>
      <a:lvl8pPr marL="3024058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8pPr>
      <a:lvl9pPr marL="3456066" algn="l" defTabSz="864017" rtl="0" eaLnBrk="1" latinLnBrk="0" hangingPunct="1">
        <a:defRPr sz="17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slide" Target="slide4.xml"/><Relationship Id="rId1" Type="http://schemas.openxmlformats.org/officeDocument/2006/relationships/slideLayout" Target="../slideLayouts/slideLayout3.xml"/><Relationship Id="rId4" Type="http://schemas.openxmlformats.org/officeDocument/2006/relationships/slide" Target="slide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4.emf"/><Relationship Id="rId4" Type="http://schemas.openxmlformats.org/officeDocument/2006/relationships/package" Target="../embeddings/Microsoft_Word___1.docx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5.emf"/><Relationship Id="rId4" Type="http://schemas.openxmlformats.org/officeDocument/2006/relationships/package" Target="../embeddings/Microsoft_Word___2.docx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6.emf"/><Relationship Id="rId4" Type="http://schemas.openxmlformats.org/officeDocument/2006/relationships/package" Target="../embeddings/Microsoft_Word___3.docx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5.xml"/><Relationship Id="rId1" Type="http://schemas.openxmlformats.org/officeDocument/2006/relationships/vmlDrawing" Target="../drawings/vmlDrawing4.vml"/><Relationship Id="rId5" Type="http://schemas.openxmlformats.org/officeDocument/2006/relationships/image" Target="../media/image7.emf"/><Relationship Id="rId4" Type="http://schemas.openxmlformats.org/officeDocument/2006/relationships/package" Target="../embeddings/Microsoft_Word___4.docx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5.vml"/><Relationship Id="rId5" Type="http://schemas.openxmlformats.org/officeDocument/2006/relationships/image" Target="../media/image9.emf"/><Relationship Id="rId4" Type="http://schemas.openxmlformats.org/officeDocument/2006/relationships/package" Target="../embeddings/Microsoft_Word___5.docx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emf"/><Relationship Id="rId3" Type="http://schemas.openxmlformats.org/officeDocument/2006/relationships/oleObject" Target="../embeddings/oleObject6.bin"/><Relationship Id="rId7" Type="http://schemas.openxmlformats.org/officeDocument/2006/relationships/package" Target="../embeddings/Microsoft_Word___7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7.bin"/><Relationship Id="rId5" Type="http://schemas.openxmlformats.org/officeDocument/2006/relationships/image" Target="../media/image10.emf"/><Relationship Id="rId4" Type="http://schemas.openxmlformats.org/officeDocument/2006/relationships/package" Target="../embeddings/Microsoft_Word___6.docx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emf"/><Relationship Id="rId3" Type="http://schemas.openxmlformats.org/officeDocument/2006/relationships/oleObject" Target="../embeddings/oleObject8.bin"/><Relationship Id="rId7" Type="http://schemas.openxmlformats.org/officeDocument/2006/relationships/package" Target="../embeddings/Microsoft_Word___9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9.bin"/><Relationship Id="rId5" Type="http://schemas.openxmlformats.org/officeDocument/2006/relationships/image" Target="../media/image12.emf"/><Relationship Id="rId4" Type="http://schemas.openxmlformats.org/officeDocument/2006/relationships/package" Target="../embeddings/Microsoft_Word___8.docx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emf"/><Relationship Id="rId3" Type="http://schemas.openxmlformats.org/officeDocument/2006/relationships/oleObject" Target="../embeddings/oleObject10.bin"/><Relationship Id="rId7" Type="http://schemas.openxmlformats.org/officeDocument/2006/relationships/package" Target="../embeddings/Microsoft_Word___11.docx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11.bin"/><Relationship Id="rId5" Type="http://schemas.openxmlformats.org/officeDocument/2006/relationships/image" Target="../media/image14.emf"/><Relationship Id="rId4" Type="http://schemas.openxmlformats.org/officeDocument/2006/relationships/package" Target="../embeddings/Microsoft_Word___10.docx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9.vml"/><Relationship Id="rId5" Type="http://schemas.openxmlformats.org/officeDocument/2006/relationships/image" Target="../media/image16.emf"/><Relationship Id="rId4" Type="http://schemas.openxmlformats.org/officeDocument/2006/relationships/package" Target="../embeddings/Microsoft_Word___12.docx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0.vml"/><Relationship Id="rId5" Type="http://schemas.openxmlformats.org/officeDocument/2006/relationships/image" Target="../media/image17.emf"/><Relationship Id="rId4" Type="http://schemas.openxmlformats.org/officeDocument/2006/relationships/package" Target="../embeddings/Microsoft_Word___13.docx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1.vml"/><Relationship Id="rId5" Type="http://schemas.openxmlformats.org/officeDocument/2006/relationships/image" Target="../media/image18.emf"/><Relationship Id="rId4" Type="http://schemas.openxmlformats.org/officeDocument/2006/relationships/package" Target="../embeddings/Microsoft_Word___14.docx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2.vml"/><Relationship Id="rId5" Type="http://schemas.openxmlformats.org/officeDocument/2006/relationships/image" Target="../media/image19.emf"/><Relationship Id="rId4" Type="http://schemas.openxmlformats.org/officeDocument/2006/relationships/package" Target="../embeddings/Microsoft_Word___15.docx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21.jpeg"/><Relationship Id="rId5" Type="http://schemas.openxmlformats.org/officeDocument/2006/relationships/image" Target="../media/image20.emf"/><Relationship Id="rId4" Type="http://schemas.openxmlformats.org/officeDocument/2006/relationships/package" Target="../embeddings/Microsoft_Word___16.docx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23.jpeg"/><Relationship Id="rId5" Type="http://schemas.openxmlformats.org/officeDocument/2006/relationships/image" Target="../media/image22.emf"/><Relationship Id="rId4" Type="http://schemas.openxmlformats.org/officeDocument/2006/relationships/package" Target="../embeddings/Microsoft_Word___17.docx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5.vml"/><Relationship Id="rId5" Type="http://schemas.openxmlformats.org/officeDocument/2006/relationships/image" Target="../media/image24.emf"/><Relationship Id="rId4" Type="http://schemas.openxmlformats.org/officeDocument/2006/relationships/package" Target="../embeddings/Microsoft_Word___18.docx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package" Target="../embeddings/Microsoft_Word___20.docx"/><Relationship Id="rId3" Type="http://schemas.openxmlformats.org/officeDocument/2006/relationships/oleObject" Target="../embeddings/oleObject19.bin"/><Relationship Id="rId7" Type="http://schemas.openxmlformats.org/officeDocument/2006/relationships/oleObject" Target="../embeddings/oleObject20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27.jpeg"/><Relationship Id="rId5" Type="http://schemas.openxmlformats.org/officeDocument/2006/relationships/image" Target="../media/image25.emf"/><Relationship Id="rId4" Type="http://schemas.openxmlformats.org/officeDocument/2006/relationships/package" Target="../embeddings/Microsoft_Word___19.docx"/><Relationship Id="rId9" Type="http://schemas.openxmlformats.org/officeDocument/2006/relationships/image" Target="../media/image26.emf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emf"/><Relationship Id="rId3" Type="http://schemas.openxmlformats.org/officeDocument/2006/relationships/oleObject" Target="../embeddings/oleObject21.bin"/><Relationship Id="rId7" Type="http://schemas.openxmlformats.org/officeDocument/2006/relationships/package" Target="../embeddings/Microsoft_Word___22.docx"/><Relationship Id="rId2" Type="http://schemas.openxmlformats.org/officeDocument/2006/relationships/slideLayout" Target="../slideLayouts/slideLayout8.xml"/><Relationship Id="rId1" Type="http://schemas.openxmlformats.org/officeDocument/2006/relationships/vmlDrawing" Target="../drawings/vmlDrawing17.vml"/><Relationship Id="rId6" Type="http://schemas.openxmlformats.org/officeDocument/2006/relationships/oleObject" Target="../embeddings/oleObject22.bin"/><Relationship Id="rId5" Type="http://schemas.openxmlformats.org/officeDocument/2006/relationships/image" Target="../media/image28.emf"/><Relationship Id="rId4" Type="http://schemas.openxmlformats.org/officeDocument/2006/relationships/package" Target="../embeddings/Microsoft_Word___21.docx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8.vml"/><Relationship Id="rId5" Type="http://schemas.openxmlformats.org/officeDocument/2006/relationships/image" Target="../media/image30.emf"/><Relationship Id="rId4" Type="http://schemas.openxmlformats.org/officeDocument/2006/relationships/package" Target="../embeddings/Microsoft_Word___23.docx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19.vml"/><Relationship Id="rId5" Type="http://schemas.openxmlformats.org/officeDocument/2006/relationships/image" Target="../media/image31.emf"/><Relationship Id="rId4" Type="http://schemas.openxmlformats.org/officeDocument/2006/relationships/package" Target="../embeddings/Microsoft_Word___24.docx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4.xml"/><Relationship Id="rId1" Type="http://schemas.openxmlformats.org/officeDocument/2006/relationships/vmlDrawing" Target="../drawings/vmlDrawing20.vml"/><Relationship Id="rId5" Type="http://schemas.openxmlformats.org/officeDocument/2006/relationships/image" Target="../media/image32.emf"/><Relationship Id="rId4" Type="http://schemas.openxmlformats.org/officeDocument/2006/relationships/package" Target="../embeddings/Microsoft_Word___25.docx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3513369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>
            <a:spLocks noChangeAspect="1"/>
          </p:cNvSpPr>
          <p:nvPr/>
        </p:nvSpPr>
        <p:spPr>
          <a:xfrm>
            <a:off x="361950" y="2520007"/>
            <a:ext cx="10807700" cy="1094339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sz="60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第</a:t>
            </a:r>
            <a:r>
              <a:rPr lang="en-US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sz="60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课时</a:t>
            </a:r>
            <a:r>
              <a:rPr lang="zh-CN" altLang="zh-CN" sz="6000" dirty="0">
                <a:solidFill>
                  <a:srgbClr val="00206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sz="6000" dirty="0">
                <a:solidFill>
                  <a:srgbClr val="00206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函数的概念与性质</a:t>
            </a:r>
            <a:endParaRPr lang="zh-CN" altLang="zh-CN" sz="6000" dirty="0">
              <a:solidFill>
                <a:srgbClr val="00206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4233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500">
        <p:checker/>
      </p:transition>
    </mc:Choice>
    <mc:Fallback xmlns=""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文框 2">
            <a:hlinkClick r:id="rId2" action="ppaction://hlinksldjump">
              <a:snd r:embed="rId3" name="chimes.wav"/>
            </a:hlinkClick>
          </p:cNvPr>
          <p:cNvSpPr/>
          <p:nvPr/>
        </p:nvSpPr>
        <p:spPr>
          <a:xfrm>
            <a:off x="1728589" y="1223863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知识梳理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en-US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构建体系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  <p:sp>
        <p:nvSpPr>
          <p:cNvPr id="4" name="图文框 3">
            <a:hlinkClick r:id="rId4" action="ppaction://hlinksldjump">
              <a:snd r:embed="rId3" name="chimes.wav"/>
            </a:hlinkClick>
          </p:cNvPr>
          <p:cNvSpPr/>
          <p:nvPr/>
        </p:nvSpPr>
        <p:spPr>
          <a:xfrm>
            <a:off x="1728589" y="3024063"/>
            <a:ext cx="8136904" cy="1008112"/>
          </a:xfrm>
          <a:prstGeom prst="frame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专题归纳</a:t>
            </a:r>
            <a:r>
              <a:rPr lang="en-US" altLang="zh-CN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en-US" sz="44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核心突破</a:t>
            </a:r>
            <a:endParaRPr lang="zh-CN" altLang="zh-CN" sz="44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21409961"/>
      </p:ext>
    </p:extLst>
  </p:cSld>
  <p:clrMapOvr>
    <a:masterClrMapping/>
  </p:clrMapOvr>
  <p:transition spd="med">
    <p:pull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虚尾箭头 3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en-US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知识梳理</a:t>
            </a:r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en-US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构建体系</a:t>
            </a:r>
            <a:endParaRPr lang="zh-CN" altLang="zh-CN" sz="66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222246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燕尾形 1"/>
          <p:cNvSpPr/>
          <p:nvPr/>
        </p:nvSpPr>
        <p:spPr>
          <a:xfrm>
            <a:off x="288429" y="677295"/>
            <a:ext cx="249859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zh-CN" dirty="0"/>
              <a:t>知识网络</a:t>
            </a:r>
          </a:p>
        </p:txBody>
      </p:sp>
      <p:pic>
        <p:nvPicPr>
          <p:cNvPr id="5" name="NMG1TRA86.eps" descr="id:2147529651;FounderCES"/>
          <p:cNvPicPr/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2345338" y="1191954"/>
            <a:ext cx="6079995" cy="5177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28917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燕尾形 1"/>
          <p:cNvSpPr/>
          <p:nvPr/>
        </p:nvSpPr>
        <p:spPr>
          <a:xfrm>
            <a:off x="288429" y="677295"/>
            <a:ext cx="249859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zh-CN" dirty="0"/>
              <a:t>要点梳理</a:t>
            </a:r>
          </a:p>
        </p:txBody>
      </p:sp>
      <p:sp>
        <p:nvSpPr>
          <p:cNvPr id="3" name="矩形 2"/>
          <p:cNvSpPr>
            <a:spLocks noChangeAspect="1"/>
          </p:cNvSpPr>
          <p:nvPr/>
        </p:nvSpPr>
        <p:spPr>
          <a:xfrm>
            <a:off x="361950" y="1161687"/>
            <a:ext cx="10807700" cy="535415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什么是函数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函数的三要素是什么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如何判断两个函数为同一函数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函数的定义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一般地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设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是非空的实数集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如果对于集合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中的任意一个数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按照某种确定的对应关系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在集合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中都有唯一确定的数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和它对应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那么就称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为从集合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到集合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的一个函数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记作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函数三要素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定义域、对应关系、值域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如果两个函数的定义域相同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并且对应关系完全一致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那么这两个函数是同一个函数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0868992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2310478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函数有哪些表示法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函数的表示方法有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解析法、图象法、列表法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9465784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186472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什么是增函数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什么是减函数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什么是函数的单调性与单调区间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请完成下表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0813910"/>
              </p:ext>
            </p:extLst>
          </p:nvPr>
        </p:nvGraphicFramePr>
        <p:xfrm>
          <a:off x="-177453" y="2456457"/>
          <a:ext cx="11886506" cy="35919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" name="文档" r:id="rId4" imgW="3912273" imgH="1175889" progId="Word.Document.12">
                  <p:embed/>
                </p:oleObj>
              </mc:Choice>
              <mc:Fallback>
                <p:oleObj name="文档" r:id="rId4" imgW="3912273" imgH="117588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-177453" y="2456457"/>
                        <a:ext cx="11886506" cy="359194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2348380" y="3672135"/>
            <a:ext cx="2022989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>
          <a:xfrm>
            <a:off x="2344387" y="4136233"/>
            <a:ext cx="202069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7622487" y="3668450"/>
            <a:ext cx="2022989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7618494" y="4132548"/>
            <a:ext cx="202069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4104853" y="4228535"/>
            <a:ext cx="2022989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4100860" y="4692633"/>
            <a:ext cx="2020699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9350680" y="4227300"/>
            <a:ext cx="1666942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>
            <a:off x="9346686" y="4691398"/>
            <a:ext cx="166505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356727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1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54483116"/>
              </p:ext>
            </p:extLst>
          </p:nvPr>
        </p:nvGraphicFramePr>
        <p:xfrm>
          <a:off x="293688" y="693738"/>
          <a:ext cx="10888662" cy="6264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64" name="文档" r:id="rId4" imgW="3936390" imgH="2259777" progId="Word.Document.12">
                  <p:embed/>
                </p:oleObj>
              </mc:Choice>
              <mc:Fallback>
                <p:oleObj name="文档" r:id="rId4" imgW="3936390" imgH="225977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93688" y="693738"/>
                        <a:ext cx="10888662" cy="6264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矩形 2"/>
          <p:cNvSpPr/>
          <p:nvPr/>
        </p:nvSpPr>
        <p:spPr>
          <a:xfrm>
            <a:off x="2304653" y="4248199"/>
            <a:ext cx="1174476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>
          <a:xfrm>
            <a:off x="2300308" y="4712297"/>
            <a:ext cx="117314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6730685" y="4248199"/>
            <a:ext cx="1174476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6726340" y="4712297"/>
            <a:ext cx="1173148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6632599" y="4832389"/>
            <a:ext cx="1474279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6628255" y="5234795"/>
            <a:ext cx="147261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8488435" y="4832389"/>
            <a:ext cx="1474279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>
            <a:off x="8484091" y="5234795"/>
            <a:ext cx="1472612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9159795" y="5296612"/>
            <a:ext cx="1107648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12"/>
          <p:cNvCxnSpPr/>
          <p:nvPr/>
        </p:nvCxnSpPr>
        <p:spPr>
          <a:xfrm>
            <a:off x="9155245" y="5699018"/>
            <a:ext cx="110639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5889939" y="5769794"/>
            <a:ext cx="1640876" cy="38263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连接符 14"/>
          <p:cNvCxnSpPr/>
          <p:nvPr/>
        </p:nvCxnSpPr>
        <p:spPr>
          <a:xfrm>
            <a:off x="5885389" y="6172200"/>
            <a:ext cx="163902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9468992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8" grpId="0" animBg="1"/>
      <p:bldP spid="10" grpId="0" animBg="1"/>
      <p:bldP spid="12" grpId="0" animBg="1"/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-188913" y="1137585"/>
            <a:ext cx="11887201" cy="4244040"/>
            <a:chOff x="-188913" y="1007839"/>
            <a:chExt cx="11887201" cy="4244040"/>
          </a:xfrm>
        </p:grpSpPr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61950" y="1007839"/>
              <a:ext cx="10807700" cy="62671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4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</a:rPr>
                <a:t>.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什么是函数的最大值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?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什么是函数的最小值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?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请完成下表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</a:rPr>
                <a:t>:</a:t>
              </a:r>
              <a:endParaRPr lang="zh-CN" altLang="en-US" dirty="0"/>
            </a:p>
          </p:txBody>
        </p:sp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607443186"/>
                </p:ext>
              </p:extLst>
            </p:nvPr>
          </p:nvGraphicFramePr>
          <p:xfrm>
            <a:off x="-188913" y="1657779"/>
            <a:ext cx="11887201" cy="35941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3088" name="文档" r:id="rId4" imgW="3907623" imgH="1184873" progId="Word.Document.12">
                    <p:embed/>
                  </p:oleObj>
                </mc:Choice>
                <mc:Fallback>
                  <p:oleObj name="文档" r:id="rId4" imgW="3907623" imgH="1184873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-188913" y="1657779"/>
                          <a:ext cx="11887201" cy="359410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8" name="矩形 7"/>
          <p:cNvSpPr/>
          <p:nvPr/>
        </p:nvSpPr>
        <p:spPr>
          <a:xfrm>
            <a:off x="3520872" y="2980707"/>
            <a:ext cx="1641253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3516700" y="3444805"/>
            <a:ext cx="163939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8273400" y="2980707"/>
            <a:ext cx="1641253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>
            <a:off x="8269228" y="3444805"/>
            <a:ext cx="163939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3654130" y="3535255"/>
            <a:ext cx="1641253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12"/>
          <p:cNvCxnSpPr/>
          <p:nvPr/>
        </p:nvCxnSpPr>
        <p:spPr>
          <a:xfrm>
            <a:off x="3649958" y="3999353"/>
            <a:ext cx="163939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4591098" y="4110207"/>
            <a:ext cx="1368152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连接符 14"/>
          <p:cNvCxnSpPr/>
          <p:nvPr/>
        </p:nvCxnSpPr>
        <p:spPr>
          <a:xfrm>
            <a:off x="4586925" y="4574305"/>
            <a:ext cx="13666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矩形 15"/>
          <p:cNvSpPr/>
          <p:nvPr/>
        </p:nvSpPr>
        <p:spPr>
          <a:xfrm>
            <a:off x="9332867" y="4100785"/>
            <a:ext cx="1368152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" name="直接连接符 16"/>
          <p:cNvCxnSpPr/>
          <p:nvPr/>
        </p:nvCxnSpPr>
        <p:spPr>
          <a:xfrm>
            <a:off x="9328694" y="4564883"/>
            <a:ext cx="1366603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2548896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2" grpId="0" animBg="1"/>
      <p:bldP spid="14" grpId="0" animBg="1"/>
      <p:bldP spid="1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696806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什么是奇函数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什么是偶函数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它们的图象各有什么特征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请完成下表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:</a:t>
            </a:r>
            <a:endParaRPr lang="zh-CN" altLang="en-US" dirty="0"/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7693509"/>
              </p:ext>
            </p:extLst>
          </p:nvPr>
        </p:nvGraphicFramePr>
        <p:xfrm>
          <a:off x="-247650" y="1903413"/>
          <a:ext cx="11833225" cy="3948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12" name="文档" r:id="rId4" imgW="3894589" imgH="1301312" progId="Word.Document.12">
                  <p:embed/>
                </p:oleObj>
              </mc:Choice>
              <mc:Fallback>
                <p:oleObj name="文档" r:id="rId4" imgW="3894589" imgH="130131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-247650" y="1903413"/>
                        <a:ext cx="11833225" cy="39481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/>
          <p:nvPr/>
        </p:nvSpPr>
        <p:spPr>
          <a:xfrm>
            <a:off x="7128669" y="2006119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" name="直接连接符 4"/>
          <p:cNvCxnSpPr/>
          <p:nvPr/>
        </p:nvCxnSpPr>
        <p:spPr>
          <a:xfrm>
            <a:off x="7124079" y="2470217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矩形 5"/>
          <p:cNvSpPr/>
          <p:nvPr/>
        </p:nvSpPr>
        <p:spPr>
          <a:xfrm>
            <a:off x="6019573" y="2571425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6014983" y="3035523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5109171" y="3397234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连接符 8"/>
          <p:cNvCxnSpPr/>
          <p:nvPr/>
        </p:nvCxnSpPr>
        <p:spPr>
          <a:xfrm>
            <a:off x="5104581" y="3861332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矩形 9"/>
          <p:cNvSpPr/>
          <p:nvPr/>
        </p:nvSpPr>
        <p:spPr>
          <a:xfrm>
            <a:off x="8997603" y="3397234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/>
          <p:cNvCxnSpPr/>
          <p:nvPr/>
        </p:nvCxnSpPr>
        <p:spPr>
          <a:xfrm>
            <a:off x="8993013" y="3861332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" name="矩形 11"/>
          <p:cNvSpPr/>
          <p:nvPr/>
        </p:nvSpPr>
        <p:spPr>
          <a:xfrm>
            <a:off x="4003349" y="4792915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3" name="直接连接符 12"/>
          <p:cNvCxnSpPr/>
          <p:nvPr/>
        </p:nvCxnSpPr>
        <p:spPr>
          <a:xfrm>
            <a:off x="3998759" y="5257013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矩形 13"/>
          <p:cNvSpPr/>
          <p:nvPr/>
        </p:nvSpPr>
        <p:spPr>
          <a:xfrm>
            <a:off x="7875131" y="4803208"/>
            <a:ext cx="777144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连接符 14"/>
          <p:cNvCxnSpPr/>
          <p:nvPr/>
        </p:nvCxnSpPr>
        <p:spPr>
          <a:xfrm>
            <a:off x="7870541" y="5267306"/>
            <a:ext cx="77626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66572733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3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8" grpId="0" animBg="1"/>
      <p:bldP spid="10" grpId="0" animBg="1"/>
      <p:bldP spid="12" grpId="0" animBg="1"/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1258352"/>
            <a:ext cx="10807700" cy="363791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幂函数的定义是什么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其一般性质如何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?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提示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y=x</a:t>
            </a:r>
            <a:r>
              <a:rPr lang="en-US" altLang="zh-CN" i="1" baseline="30000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叫做幂函数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其中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是自变量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是常数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幂函数的一般性质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endParaRPr lang="en-US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①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所有的幂函数在区间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(0,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内都有定义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图象都过点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(1,1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en-US" altLang="zh-CN" dirty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②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y=x</a:t>
            </a:r>
            <a:r>
              <a:rPr lang="en-US" altLang="zh-CN" i="1" baseline="30000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(0,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内单调递增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图象过点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(0,0);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若</a:t>
            </a:r>
            <a:r>
              <a:rPr lang="en-US" altLang="zh-CN" i="1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y=x</a:t>
            </a:r>
            <a:r>
              <a:rPr lang="en-US" altLang="zh-CN" i="1" baseline="30000" dirty="0">
                <a:solidFill>
                  <a:srgbClr val="000000"/>
                </a:solidFill>
                <a:ea typeface="Microsoft Yi Baiti" panose="03000500000000000000" pitchFamily="66" charset="0"/>
                <a:cs typeface="Times New Roman" panose="02020603050405020304" pitchFamily="18" charset="0"/>
              </a:rPr>
              <a:t>α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(0,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内单调递减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图象不过点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(0,0)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1471707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634718"/>
            <a:ext cx="10807700" cy="418954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【思考辨析】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判断下列说法是否正确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正确的在后面的括号内打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错误的打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“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”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的图象与直线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x=a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最多有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个交点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g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=t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t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是同一个函数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的图象如图所示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的单调递增区间是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,0]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(0,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pic>
        <p:nvPicPr>
          <p:cNvPr id="5" name="NMG1TRA89.eps" descr="id:2147510459;FounderCES"/>
          <p:cNvPicPr/>
          <p:nvPr/>
        </p:nvPicPr>
        <p:blipFill>
          <a:blip r:embed="rId2"/>
          <a:stretch>
            <a:fillRect/>
          </a:stretch>
        </p:blipFill>
        <p:spPr>
          <a:xfrm>
            <a:off x="5948193" y="4199041"/>
            <a:ext cx="2693164" cy="2144376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8929389" y="2497996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8230820" y="3075890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395526" y="4228018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6691404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863823"/>
            <a:ext cx="10807700" cy="4780476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[1,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内单调递增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则函数的单调递增区间是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[1,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(5)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对于函数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dirty="0">
                <a:solidFill>
                  <a:srgbClr val="000000"/>
                </a:solidFill>
                <a:latin typeface="Cambria Math" panose="02040503050406030204" pitchFamily="18" charset="0"/>
                <a:ea typeface="NEU-BZ-S92"/>
                <a:cs typeface="Times New Roman" panose="02020603050405020304" pitchFamily="18" charset="0"/>
              </a:rPr>
              <a:t>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)[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baseline="-25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)]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</a:t>
            </a:r>
            <a:r>
              <a:rPr lang="zh-CN" altLang="en-US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区间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上是增函数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(6)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在闭区间上单调的函数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其最值一定在区间端点取到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(7)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(0,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+∞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是偶函数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(8)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偶函数的图象不一定过原点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奇函数的图象一定过原点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pPr algn="r"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3118252" y="1583903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5102207" y="2705092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0513565" y="3384103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6337101" y="3960167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10272292" y="5112295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5214090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2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384532"/>
            <a:ext cx="108077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(9)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x+a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是偶函数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的图象关于直线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x=a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对称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(10)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若函数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是奇函数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y=f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的图象关于点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,0)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中心对称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幂函数的图象一定经过点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和点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0,0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  </a:t>
            </a:r>
            <a:r>
              <a:rPr lang="en-US" altLang="zh-CN" dirty="0"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 )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376661" y="2087959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2520677" y="3254373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8374836" y="3857220"/>
            <a:ext cx="482545" cy="46298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8304795"/>
      </p:ext>
    </p:extLst>
  </p:cSld>
  <p:clrMapOvr>
    <a:masterClrMapping/>
  </p:clrMapOvr>
  <p:transition spd="slow">
    <p:wheel spokes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虚尾箭头 1"/>
          <p:cNvSpPr/>
          <p:nvPr/>
        </p:nvSpPr>
        <p:spPr>
          <a:xfrm>
            <a:off x="432445" y="1295871"/>
            <a:ext cx="10657184" cy="3528392"/>
          </a:xfrm>
          <a:prstGeom prst="stripedRightArrow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  </a:t>
            </a:r>
            <a:r>
              <a:rPr lang="zh-CN" altLang="en-US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专题归纳</a:t>
            </a:r>
            <a:r>
              <a:rPr lang="en-US" altLang="zh-CN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·</a:t>
            </a:r>
            <a:r>
              <a:rPr lang="zh-CN" altLang="en-US" sz="6600" dirty="0" smtClean="0">
                <a:solidFill>
                  <a:srgbClr val="0070C0"/>
                </a:solidFill>
                <a:latin typeface="华文新魏" panose="02010800040101010101" pitchFamily="2" charset="-122"/>
                <a:ea typeface="华文新魏" panose="02010800040101010101" pitchFamily="2" charset="-122"/>
              </a:rPr>
              <a:t>核心突破</a:t>
            </a:r>
            <a:endParaRPr lang="zh-CN" altLang="zh-CN" sz="6600" dirty="0">
              <a:solidFill>
                <a:srgbClr val="0070C0"/>
              </a:solidFill>
              <a:latin typeface="华文新魏" panose="02010800040101010101" pitchFamily="2" charset="-122"/>
              <a:ea typeface="华文新魏" panose="020108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16960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5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*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accel="50000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 decel="50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燕尾形 3"/>
          <p:cNvSpPr/>
          <p:nvPr/>
        </p:nvSpPr>
        <p:spPr>
          <a:xfrm>
            <a:off x="288429" y="677295"/>
            <a:ext cx="249859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zh-CN" dirty="0"/>
              <a:t>专题整合</a:t>
            </a:r>
          </a:p>
        </p:txBody>
      </p:sp>
      <p:sp>
        <p:nvSpPr>
          <p:cNvPr id="2" name="矩形 1"/>
          <p:cNvSpPr>
            <a:spLocks noChangeAspect="1"/>
          </p:cNvSpPr>
          <p:nvPr/>
        </p:nvSpPr>
        <p:spPr>
          <a:xfrm>
            <a:off x="361950" y="1871935"/>
            <a:ext cx="3993401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专题一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函数的</a:t>
            </a:r>
            <a:r>
              <a:rPr lang="zh-CN" altLang="zh-CN" dirty="0" smtClean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概念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21513486"/>
              </p:ext>
            </p:extLst>
          </p:nvPr>
        </p:nvGraphicFramePr>
        <p:xfrm>
          <a:off x="288429" y="2534984"/>
          <a:ext cx="11671959" cy="17132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35" name="文档" r:id="rId4" imgW="3826872" imgH="561710" progId="Word.Document.12">
                  <p:embed/>
                </p:oleObj>
              </mc:Choice>
              <mc:Fallback>
                <p:oleObj name="文档" r:id="rId4" imgW="3826872" imgH="56171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88429" y="2534984"/>
                        <a:ext cx="11671959" cy="17132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026412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5798435"/>
              </p:ext>
            </p:extLst>
          </p:nvPr>
        </p:nvGraphicFramePr>
        <p:xfrm>
          <a:off x="504453" y="719807"/>
          <a:ext cx="11671959" cy="473956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2" name="文档" r:id="rId4" imgW="3826872" imgH="1553956" progId="Word.Document.12">
                  <p:embed/>
                </p:oleObj>
              </mc:Choice>
              <mc:Fallback>
                <p:oleObj name="文档" r:id="rId4" imgW="3826872" imgH="1553956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719807"/>
                        <a:ext cx="11671959" cy="473956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3329982"/>
              </p:ext>
            </p:extLst>
          </p:nvPr>
        </p:nvGraphicFramePr>
        <p:xfrm>
          <a:off x="506644" y="5524679"/>
          <a:ext cx="11671959" cy="6993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73" name="文档" r:id="rId7" imgW="3826872" imgH="229284" progId="Word.Document.12">
                  <p:embed/>
                </p:oleObj>
              </mc:Choice>
              <mc:Fallback>
                <p:oleObj name="文档" r:id="rId7" imgW="3826872" imgH="22928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506644" y="5524679"/>
                        <a:ext cx="11671959" cy="69931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9780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521316"/>
            <a:ext cx="10807700" cy="600164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函数定义域的求法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已知函数的解析式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则构造使解析式有意义的不等式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求解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对实际问题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由实际意义及使解析式有意义构成的不等式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求解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求函数解析式常用的方法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待定系数法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换元法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换元后要注意新元的取值范围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配凑法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448305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08689557"/>
              </p:ext>
            </p:extLst>
          </p:nvPr>
        </p:nvGraphicFramePr>
        <p:xfrm>
          <a:off x="144413" y="698615"/>
          <a:ext cx="11671959" cy="2449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4" name="文档" r:id="rId4" imgW="3826872" imgH="803213" progId="Word.Document.12">
                  <p:embed/>
                </p:oleObj>
              </mc:Choice>
              <mc:Fallback>
                <p:oleObj name="文档" r:id="rId4" imgW="3826872" imgH="80321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44413" y="698615"/>
                        <a:ext cx="11671959" cy="24498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34075230"/>
              </p:ext>
            </p:extLst>
          </p:nvPr>
        </p:nvGraphicFramePr>
        <p:xfrm>
          <a:off x="150813" y="3259138"/>
          <a:ext cx="11661775" cy="2925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95" name="文档" r:id="rId7" imgW="3837724" imgH="967060" progId="Word.Document.12">
                  <p:embed/>
                </p:oleObj>
              </mc:Choice>
              <mc:Fallback>
                <p:oleObj name="文档" r:id="rId7" imgW="3837724" imgH="96706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50813" y="3259138"/>
                        <a:ext cx="11661775" cy="29257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6553125" y="5518983"/>
            <a:ext cx="154401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D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1746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361950" y="1070862"/>
            <a:ext cx="11671959" cy="2808312"/>
            <a:chOff x="361950" y="1151855"/>
            <a:chExt cx="11671959" cy="2808312"/>
          </a:xfrm>
        </p:grpSpPr>
        <p:sp>
          <p:nvSpPr>
            <p:cNvPr id="2" name="矩形 1"/>
            <p:cNvSpPr>
              <a:spLocks noChangeAspect="1"/>
            </p:cNvSpPr>
            <p:nvPr/>
          </p:nvSpPr>
          <p:spPr>
            <a:xfrm>
              <a:off x="361950" y="1151855"/>
              <a:ext cx="5634876" cy="68326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专题二</a:t>
              </a:r>
              <a:r>
                <a:rPr lang="zh-CN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　</a:t>
              </a: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函数的性质及其</a:t>
              </a:r>
              <a:r>
                <a:rPr lang="zh-CN" altLang="zh-CN" dirty="0" smtClean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应用</a:t>
              </a:r>
              <a:r>
                <a:rPr lang="en-US" altLang="zh-CN" dirty="0" smtClean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 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6" name="对象 5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28412553"/>
                </p:ext>
              </p:extLst>
            </p:nvPr>
          </p:nvGraphicFramePr>
          <p:xfrm>
            <a:off x="361950" y="1868349"/>
            <a:ext cx="11671959" cy="7661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8216" name="文档" r:id="rId4" imgW="3826872" imgH="251206" progId="Word.Document.12">
                    <p:embed/>
                  </p:oleObj>
                </mc:Choice>
                <mc:Fallback>
                  <p:oleObj name="文档" r:id="rId4" imgW="3826872" imgH="251206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361950" y="1868349"/>
                          <a:ext cx="11671959" cy="766178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7" name="矩形 6"/>
            <p:cNvSpPr>
              <a:spLocks noChangeAspect="1"/>
            </p:cNvSpPr>
            <p:nvPr/>
          </p:nvSpPr>
          <p:spPr>
            <a:xfrm>
              <a:off x="361950" y="2742526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求实数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m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和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n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的值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求函数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在区间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[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1]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上的最值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  <p:graphicFrame>
        <p:nvGraphicFramePr>
          <p:cNvPr id="9" name="对象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86576952"/>
              </p:ext>
            </p:extLst>
          </p:nvPr>
        </p:nvGraphicFramePr>
        <p:xfrm>
          <a:off x="361950" y="3951182"/>
          <a:ext cx="11671959" cy="12331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17" name="文档" r:id="rId7" imgW="3826872" imgH="404302" progId="Word.Document.12">
                  <p:embed/>
                </p:oleObj>
              </mc:Choice>
              <mc:Fallback>
                <p:oleObj name="文档" r:id="rId7" imgW="3826872" imgH="40430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61950" y="3951182"/>
                        <a:ext cx="11671959" cy="123312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80526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17061599"/>
              </p:ext>
            </p:extLst>
          </p:nvPr>
        </p:nvGraphicFramePr>
        <p:xfrm>
          <a:off x="504825" y="1366838"/>
          <a:ext cx="11661775" cy="36242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29" name="文档" r:id="rId4" imgW="3837724" imgH="1197467" progId="Word.Document.12">
                  <p:embed/>
                </p:oleObj>
              </mc:Choice>
              <mc:Fallback>
                <p:oleObj name="文档" r:id="rId4" imgW="3837724" imgH="119746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825" y="1366838"/>
                        <a:ext cx="11661775" cy="362426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59398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50657000"/>
              </p:ext>
            </p:extLst>
          </p:nvPr>
        </p:nvGraphicFramePr>
        <p:xfrm>
          <a:off x="576461" y="867275"/>
          <a:ext cx="10607329" cy="505995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3" name="文档" r:id="rId4" imgW="3477813" imgH="1659002" progId="Word.Document.12">
                  <p:embed/>
                </p:oleObj>
              </mc:Choice>
              <mc:Fallback>
                <p:oleObj name="文档" r:id="rId4" imgW="3477813" imgH="1659002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76461" y="867275"/>
                        <a:ext cx="10607329" cy="505995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62462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955453"/>
            <a:ext cx="10807700" cy="422885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函数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的奇偶性与单调性的差异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函数的奇偶性是相对于函数的定义域来说的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这一点与研究函数的单调性不同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从这个意义上说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单调性是函数的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局部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性质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而奇偶性是函数的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“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整体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”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性质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只有对函数的定义域内的每一个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值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都有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-x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=-f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)(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或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-x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=f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)),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才能说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是奇函数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(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或偶函数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</a:rPr>
              <a:t>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34531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组合 4"/>
          <p:cNvGrpSpPr/>
          <p:nvPr/>
        </p:nvGrpSpPr>
        <p:grpSpPr>
          <a:xfrm>
            <a:off x="288429" y="1295871"/>
            <a:ext cx="11671959" cy="2801817"/>
            <a:chOff x="288429" y="1295871"/>
            <a:chExt cx="11671959" cy="2801817"/>
          </a:xfrm>
        </p:grpSpPr>
        <p:graphicFrame>
          <p:nvGraphicFramePr>
            <p:cNvPr id="2" name="对象 1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55707277"/>
                </p:ext>
              </p:extLst>
            </p:nvPr>
          </p:nvGraphicFramePr>
          <p:xfrm>
            <a:off x="288429" y="1295871"/>
            <a:ext cx="11671959" cy="1555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1277" name="文档" r:id="rId4" imgW="3826872" imgH="509959" progId="Word.Document.12">
                    <p:embed/>
                  </p:oleObj>
                </mc:Choice>
                <mc:Fallback>
                  <p:oleObj name="文档" r:id="rId4" imgW="3826872" imgH="509959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288429" y="1295871"/>
                          <a:ext cx="11671959" cy="155537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" name="矩形 3"/>
            <p:cNvSpPr>
              <a:spLocks noChangeAspect="1"/>
            </p:cNvSpPr>
            <p:nvPr/>
          </p:nvSpPr>
          <p:spPr>
            <a:xfrm>
              <a:off x="361950" y="2880047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求实数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m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的值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;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若函数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在区间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[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|a|-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2]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上单调递增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试确定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的取值范围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866717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361950" y="719807"/>
            <a:ext cx="11742454" cy="5408990"/>
            <a:chOff x="361950" y="773593"/>
            <a:chExt cx="11742454" cy="5408990"/>
          </a:xfrm>
        </p:grpSpPr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61950" y="773593"/>
              <a:ext cx="10807700" cy="3046988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x&lt;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-x&gt;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endParaRPr lang="en-US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则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=-x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en-US" altLang="zh-CN" dirty="0" smtClean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因为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为奇函数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所以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=-f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=-x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即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=x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故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m=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依题意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要使函数在区间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[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|a|-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2]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上单调递增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5" name="对象 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25676431"/>
                </p:ext>
              </p:extLst>
            </p:nvPr>
          </p:nvGraphicFramePr>
          <p:xfrm>
            <a:off x="432445" y="3773859"/>
            <a:ext cx="11671959" cy="11224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2301" name="文档" r:id="rId4" imgW="3826872" imgH="368004" progId="Word.Document.12">
                    <p:embed/>
                  </p:oleObj>
                </mc:Choice>
                <mc:Fallback>
                  <p:oleObj name="文档" r:id="rId4" imgW="3826872" imgH="368004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32445" y="3773859"/>
                          <a:ext cx="11671959" cy="1122412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361950" y="4964942"/>
              <a:ext cx="10807700" cy="1217641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解得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≤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a&lt;-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或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&lt;a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≤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因此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的取值范围是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[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3,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1)</a:t>
              </a:r>
              <a:r>
                <a:rPr lang="zh-CN" altLang="zh-CN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∪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(1,3]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87954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545190"/>
            <a:ext cx="10807700" cy="594508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专题三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函数的图象及其应用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设函数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|x|-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证明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是偶函数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画出这个函数的图象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指出函数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的单调区间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并说明在各个单调区间上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是单调递增的还是单调递减的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的值域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分析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由偶函数的定义证明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;(2)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可利用偶函数图象的对称性和二次函数图象及性质画出函数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的图象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;(3)(4)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数形结合求解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8984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361950" y="834657"/>
            <a:ext cx="11742454" cy="4945374"/>
            <a:chOff x="361950" y="696568"/>
            <a:chExt cx="11742454" cy="4945374"/>
          </a:xfrm>
        </p:grpSpPr>
        <p:sp>
          <p:nvSpPr>
            <p:cNvPr id="3" name="矩形 2"/>
            <p:cNvSpPr>
              <a:spLocks noChangeAspect="1"/>
            </p:cNvSpPr>
            <p:nvPr/>
          </p:nvSpPr>
          <p:spPr>
            <a:xfrm>
              <a:off x="361950" y="696568"/>
              <a:ext cx="10807700" cy="239950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(1)</a:t>
              </a: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证明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|-x|-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=x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|x|-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即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),</a:t>
              </a: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故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是偶函数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(2)</a:t>
              </a:r>
              <a:r>
                <a:rPr lang="zh-CN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解</a:t>
              </a:r>
              <a:r>
                <a:rPr lang="en-US" altLang="zh-CN" dirty="0">
                  <a:latin typeface="Arial" panose="020B0604020202020204" pitchFamily="34" charset="0"/>
                  <a:cs typeface="Times New Roman" panose="02020603050405020304" pitchFamily="18" charset="0"/>
                </a:rPr>
                <a:t>: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latin typeface="宋体" panose="02010600030101010101" pitchFamily="2" charset="-122"/>
                  <a:ea typeface="方正书宋_GBK" panose="03000509000000000000" pitchFamily="65" charset="-122"/>
                  <a:cs typeface="Times New Roman" panose="02020603050405020304" pitchFamily="18" charset="0"/>
                </a:rPr>
                <a:t>≥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=x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1)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2;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当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x&lt;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时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=x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x+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1)</a:t>
              </a:r>
              <a:r>
                <a:rPr lang="en-US" altLang="zh-CN" baseline="30000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-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2,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4" name="对象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155229876"/>
                </p:ext>
              </p:extLst>
            </p:nvPr>
          </p:nvGraphicFramePr>
          <p:xfrm>
            <a:off x="432445" y="3105903"/>
            <a:ext cx="11671959" cy="112351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3325" name="文档" r:id="rId4" imgW="3826872" imgH="368364" progId="Word.Document.12">
                    <p:embed/>
                  </p:oleObj>
                </mc:Choice>
                <mc:Fallback>
                  <p:oleObj name="文档" r:id="rId4" imgW="3826872" imgH="368364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432445" y="3105903"/>
                          <a:ext cx="11671959" cy="1123510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61950" y="4341569"/>
              <a:ext cx="10807700" cy="127419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根据二次函数</a:t>
              </a: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</a:t>
              </a:r>
              <a:r>
                <a:rPr lang="zh-CN" altLang="en-US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画</a:t>
              </a: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图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方法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可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得函数图象</a:t>
              </a: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如图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pic>
          <p:nvPicPr>
            <p:cNvPr id="6" name="NMG1TRA90.eps" descr="id:2147510494;FounderCES"/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6481117" y="2679832"/>
              <a:ext cx="4680520" cy="296211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90895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873655"/>
            <a:ext cx="10807700" cy="476322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的单调区间为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1),[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1,0),[0,1),[1,3]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在区间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3,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[0,1)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内单调递减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在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1,0),[1,3]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上单调递增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的最小值为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最大值为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的最小值为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最大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值为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的值域为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2,2]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6484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>
            <a:spLocks noChangeAspect="1"/>
          </p:cNvSpPr>
          <p:nvPr/>
        </p:nvSpPr>
        <p:spPr>
          <a:xfrm>
            <a:off x="361950" y="1648126"/>
            <a:ext cx="10807700" cy="2456057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en-US" dirty="0">
                <a:solidFill>
                  <a:srgbClr val="000000"/>
                </a:solidFill>
                <a:latin typeface="黑体" panose="02010609060101010101" pitchFamily="49" charset="-122"/>
                <a:cs typeface="Times New Roman" panose="02020603050405020304" pitchFamily="18" charset="0"/>
              </a:rPr>
              <a:t>反思感悟</a:t>
            </a:r>
            <a:endParaRPr lang="zh-CN" altLang="zh-CN" dirty="0">
              <a:solidFill>
                <a:srgbClr val="000000"/>
              </a:solidFill>
              <a:latin typeface="黑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函数的图象是函数的重要表示方法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具有直观性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通过函数的图象能够掌握函数的性质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如单调性、奇偶性等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反之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掌握函数的性质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仿宋" panose="02010609060101010101" pitchFamily="49" charset="-122"/>
                <a:cs typeface="Times New Roman" panose="02020603050405020304" pitchFamily="18" charset="0"/>
              </a:rPr>
              <a:t>有助于正确画出函数的图象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6032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170890"/>
            <a:ext cx="10807700" cy="363791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【变式训练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cs typeface="Times New Roman" panose="02020603050405020304" pitchFamily="18" charset="0"/>
              </a:rPr>
              <a:t>】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Arial" panose="020B0604020202020204" pitchFamily="34" charset="0"/>
                <a:cs typeface="Times New Roman" panose="02020603050405020304" pitchFamily="18" charset="0"/>
              </a:rPr>
              <a:t> 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已知函数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i="1" dirty="0" err="1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x|m-x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|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R),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求实数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m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的值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2)</a:t>
            </a:r>
            <a:r>
              <a:rPr lang="zh-CN" altLang="en-US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画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出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的图象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(3)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根据图象指出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的单调递减区间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(4)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根据图象写出不等式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&gt;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的解集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029335" algn="l"/>
                <a:tab pos="1850390" algn="l"/>
                <a:tab pos="2538095" algn="l"/>
                <a:tab pos="3221990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(5)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求当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latin typeface="NEU-BZ-S92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[1,5)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时函数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的值域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23758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361950" y="782570"/>
            <a:ext cx="11814462" cy="5255997"/>
            <a:chOff x="361950" y="719807"/>
            <a:chExt cx="11814462" cy="5255997"/>
          </a:xfrm>
        </p:grpSpPr>
        <p:graphicFrame>
          <p:nvGraphicFramePr>
            <p:cNvPr id="3" name="对象 2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834315716"/>
                </p:ext>
              </p:extLst>
            </p:nvPr>
          </p:nvGraphicFramePr>
          <p:xfrm>
            <a:off x="504453" y="719807"/>
            <a:ext cx="11671959" cy="217686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14349" name="文档" r:id="rId4" imgW="3826872" imgH="713727" progId="Word.Document.12">
                    <p:embed/>
                  </p:oleObj>
                </mc:Choice>
                <mc:Fallback>
                  <p:oleObj name="文档" r:id="rId4" imgW="3826872" imgH="713727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504453" y="719807"/>
                          <a:ext cx="11671959" cy="2176867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" name="矩形 4"/>
            <p:cNvSpPr>
              <a:spLocks noChangeAspect="1"/>
            </p:cNvSpPr>
            <p:nvPr/>
          </p:nvSpPr>
          <p:spPr>
            <a:xfrm>
              <a:off x="361950" y="2928816"/>
              <a:ext cx="10807700" cy="3046988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(3)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的单调递减区间是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[2,4]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(4)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由图象可知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&gt;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的解集为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{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x|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0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&lt;x&lt;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或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x&gt;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4}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(5)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因为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(5)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=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&gt;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4,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所以由图象可知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029335" algn="l"/>
                  <a:tab pos="1850390" algn="l"/>
                  <a:tab pos="2538095" algn="l"/>
                  <a:tab pos="3221990" algn="l"/>
                </a:tabLst>
              </a:pPr>
              <a:r>
                <a:rPr lang="zh-CN" altLang="zh-CN" dirty="0" smtClean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函数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在区间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[1,5)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内的值域为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[0,5)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pic>
          <p:nvPicPr>
            <p:cNvPr id="6" name="NMG1TRA91.eps" descr="id:2147510508;FounderCES"/>
            <p:cNvPicPr/>
            <p:nvPr/>
          </p:nvPicPr>
          <p:blipFill>
            <a:blip r:embed="rId6"/>
            <a:stretch>
              <a:fillRect/>
            </a:stretch>
          </p:blipFill>
          <p:spPr>
            <a:xfrm>
              <a:off x="7489229" y="2592015"/>
              <a:ext cx="3096344" cy="333361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986930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燕尾形 3"/>
          <p:cNvSpPr/>
          <p:nvPr/>
        </p:nvSpPr>
        <p:spPr>
          <a:xfrm>
            <a:off x="288429" y="677295"/>
            <a:ext cx="2498598" cy="576064"/>
          </a:xfrm>
          <a:prstGeom prst="chevro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zh-CN" altLang="zh-CN" dirty="0"/>
              <a:t>高考体验</a:t>
            </a:r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4853584"/>
              </p:ext>
            </p:extLst>
          </p:nvPr>
        </p:nvGraphicFramePr>
        <p:xfrm>
          <a:off x="442277" y="1574601"/>
          <a:ext cx="10607329" cy="99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6" name="文档" r:id="rId4" imgW="3477813" imgH="325959" progId="Word.Document.12">
                  <p:embed/>
                </p:oleObj>
              </mc:Choice>
              <mc:Fallback>
                <p:oleObj name="文档" r:id="rId4" imgW="3477813" imgH="325959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42277" y="1574601"/>
                        <a:ext cx="10607329" cy="9941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 7"/>
          <p:cNvSpPr>
            <a:spLocks noChangeAspect="1"/>
          </p:cNvSpPr>
          <p:nvPr/>
        </p:nvSpPr>
        <p:spPr>
          <a:xfrm>
            <a:off x="361950" y="2640784"/>
            <a:ext cx="10807700" cy="239950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要使函数有意义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x-x</a:t>
            </a:r>
            <a:r>
              <a:rPr lang="en-US" altLang="zh-CN" baseline="30000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解得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≤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7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[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1,7]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0967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647799"/>
            <a:ext cx="5224507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考点二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函数的图象与</a:t>
            </a:r>
            <a:r>
              <a:rPr lang="zh-CN" altLang="zh-CN" dirty="0" smtClean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性质</a:t>
            </a:r>
            <a:r>
              <a:rPr lang="en-US" altLang="zh-CN" dirty="0" smtClean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4499057"/>
              </p:ext>
            </p:extLst>
          </p:nvPr>
        </p:nvGraphicFramePr>
        <p:xfrm>
          <a:off x="504453" y="1321231"/>
          <a:ext cx="10607329" cy="73353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0" name="文档" r:id="rId4" imgW="3477813" imgH="240503" progId="Word.Document.12">
                  <p:embed/>
                </p:oleObj>
              </mc:Choice>
              <mc:Fallback>
                <p:oleObj name="文档" r:id="rId4" imgW="3477813" imgH="24050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04453" y="1321231"/>
                        <a:ext cx="10607329" cy="73353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7" name="21E04.eps" descr="id:2147495536;FounderCES"/>
          <p:cNvPicPr/>
          <p:nvPr/>
        </p:nvPicPr>
        <p:blipFill>
          <a:blip r:embed="rId6"/>
          <a:stretch>
            <a:fillRect/>
          </a:stretch>
        </p:blipFill>
        <p:spPr>
          <a:xfrm>
            <a:off x="2880717" y="2102673"/>
            <a:ext cx="5112568" cy="2729408"/>
          </a:xfrm>
          <a:prstGeom prst="rect">
            <a:avLst/>
          </a:prstGeom>
        </p:spPr>
      </p:pic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44189008"/>
              </p:ext>
            </p:extLst>
          </p:nvPr>
        </p:nvGraphicFramePr>
        <p:xfrm>
          <a:off x="361950" y="4879260"/>
          <a:ext cx="10607329" cy="14571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71" name="文档" r:id="rId8" imgW="3477813" imgH="477761" progId="Word.Document.12">
                  <p:embed/>
                </p:oleObj>
              </mc:Choice>
              <mc:Fallback>
                <p:oleObj name="文档" r:id="rId8" imgW="3477813" imgH="477761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61950" y="4879260"/>
                        <a:ext cx="10607329" cy="145717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矩形 8"/>
          <p:cNvSpPr>
            <a:spLocks noChangeAspect="1"/>
          </p:cNvSpPr>
          <p:nvPr/>
        </p:nvSpPr>
        <p:spPr>
          <a:xfrm>
            <a:off x="8785373" y="5602962"/>
            <a:ext cx="1521379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81936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对象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40551708"/>
              </p:ext>
            </p:extLst>
          </p:nvPr>
        </p:nvGraphicFramePr>
        <p:xfrm>
          <a:off x="497790" y="647799"/>
          <a:ext cx="11671959" cy="2005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2" name="文档" r:id="rId4" imgW="3826872" imgH="657664" progId="Word.Document.12">
                  <p:embed/>
                </p:oleObj>
              </mc:Choice>
              <mc:Fallback>
                <p:oleObj name="文档" r:id="rId4" imgW="3826872" imgH="657664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97790" y="647799"/>
                        <a:ext cx="11671959" cy="20058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矩形 4"/>
          <p:cNvSpPr>
            <a:spLocks noChangeAspect="1"/>
          </p:cNvSpPr>
          <p:nvPr/>
        </p:nvSpPr>
        <p:spPr>
          <a:xfrm>
            <a:off x="361950" y="2667151"/>
            <a:ext cx="10807700" cy="241797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+mn-lt"/>
                <a:cs typeface="Times New Roman" panose="02020603050405020304" pitchFamily="18" charset="0"/>
              </a:rPr>
              <a:t>: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是奇函数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-x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=-f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=f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-x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=-f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2)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=-f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x+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1)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=f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函数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的周期为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2,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5926353"/>
              </p:ext>
            </p:extLst>
          </p:nvPr>
        </p:nvGraphicFramePr>
        <p:xfrm>
          <a:off x="350269" y="5023751"/>
          <a:ext cx="11671959" cy="7464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6633" name="文档" r:id="rId7" imgW="3826872" imgH="244737" progId="Word.Document.12">
                  <p:embed/>
                </p:oleObj>
              </mc:Choice>
              <mc:Fallback>
                <p:oleObj name="文档" r:id="rId7" imgW="3826872" imgH="244737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350269" y="5023751"/>
                        <a:ext cx="11671959" cy="7464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矩形 6"/>
          <p:cNvSpPr>
            <a:spLocks noChangeAspect="1"/>
          </p:cNvSpPr>
          <p:nvPr/>
        </p:nvSpPr>
        <p:spPr>
          <a:xfrm>
            <a:off x="361950" y="5800367"/>
            <a:ext cx="1544012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C </a:t>
            </a:r>
            <a:endParaRPr lang="zh-CN" altLang="zh-CN" dirty="0">
              <a:solidFill>
                <a:srgbClr val="000000"/>
              </a:solidFill>
              <a:effectLst/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186052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spect="1"/>
          </p:cNvSpPr>
          <p:nvPr/>
        </p:nvSpPr>
        <p:spPr>
          <a:xfrm>
            <a:off x="361950" y="1407403"/>
            <a:ext cx="108077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4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(2024·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上海高考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设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∈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R,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=x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+a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是奇函数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　　　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NEU-BZ-S92" panose="02020503000000020003" pitchFamily="18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 smtClean="0">
                <a:latin typeface="+mn-lt"/>
                <a:cs typeface="Times New Roman" panose="02020603050405020304" pitchFamily="18" charset="0"/>
              </a:rPr>
              <a:t>解析</a:t>
            </a:r>
            <a:r>
              <a:rPr lang="en-US" altLang="zh-CN" dirty="0" smtClean="0">
                <a:latin typeface="+mn-lt"/>
                <a:cs typeface="Times New Roman" panose="02020603050405020304" pitchFamily="18" charset="0"/>
              </a:rPr>
              <a:t>:</a:t>
            </a:r>
            <a:r>
              <a:rPr lang="zh-CN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∵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是奇函数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en-US" altLang="zh-CN" dirty="0" smtClean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∴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(0)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即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baseline="30000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+a=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en-US" altLang="zh-CN" dirty="0" smtClean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 smtClean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解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得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a=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 smtClean="0">
                <a:latin typeface="+mn-lt"/>
                <a:cs typeface="Times New Roman" panose="02020603050405020304" pitchFamily="18" charset="0"/>
              </a:rPr>
              <a:t>答案</a:t>
            </a:r>
            <a:r>
              <a:rPr lang="en-US" altLang="zh-CN" dirty="0" smtClean="0">
                <a:latin typeface="+mn-lt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0</a:t>
            </a:r>
            <a:endParaRPr lang="zh-CN" altLang="zh-CN" dirty="0">
              <a:solidFill>
                <a:srgbClr val="000000"/>
              </a:solidFill>
              <a:effectLst/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46680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361950" y="1295871"/>
            <a:ext cx="16660229" cy="3581365"/>
            <a:chOff x="361950" y="1295871"/>
            <a:chExt cx="16660229" cy="3581365"/>
          </a:xfrm>
        </p:grpSpPr>
        <p:sp>
          <p:nvSpPr>
            <p:cNvPr id="6" name="矩形 5"/>
            <p:cNvSpPr>
              <a:spLocks noChangeAspect="1"/>
            </p:cNvSpPr>
            <p:nvPr/>
          </p:nvSpPr>
          <p:spPr>
            <a:xfrm>
              <a:off x="361950" y="1295871"/>
              <a:ext cx="10807700" cy="358136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考点三</a:t>
              </a:r>
              <a:r>
                <a:rPr lang="zh-CN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　</a:t>
              </a:r>
              <a:r>
                <a:rPr lang="zh-CN" altLang="zh-CN" dirty="0">
                  <a:solidFill>
                    <a:srgbClr val="000000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Times New Roman" panose="02020603050405020304" pitchFamily="18" charset="0"/>
                </a:rPr>
                <a:t>幂函数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5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.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(2020·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全国</a:t>
              </a:r>
              <a:r>
                <a:rPr lang="zh-CN" altLang="zh-CN" i="1" dirty="0">
                  <a:solidFill>
                    <a:srgbClr val="000000"/>
                  </a:solidFill>
                  <a:latin typeface="NEU-BZ-S92"/>
                  <a:ea typeface="宋体" panose="02010600030101010101" pitchFamily="2" charset="-122"/>
                  <a:cs typeface="宋体" panose="02010600030101010101" pitchFamily="2" charset="-122"/>
                </a:rPr>
                <a:t>Ⅱ</a:t>
              </a:r>
              <a:r>
                <a:rPr lang="zh-CN" altLang="zh-CN" dirty="0">
                  <a:solidFill>
                    <a:srgbClr val="000000"/>
                  </a:solidFill>
                  <a:ea typeface="楷体" panose="02010609060101010101" pitchFamily="49" charset="-122"/>
                  <a:cs typeface="Times New Roman" panose="02020603050405020304" pitchFamily="18" charset="0"/>
                </a:rPr>
                <a:t>高考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设函数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   </a:t>
              </a:r>
              <a:r>
                <a:rPr lang="en-US" altLang="zh-CN" dirty="0" smtClean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             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则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f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x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)(</a:t>
              </a:r>
              <a:r>
                <a:rPr lang="zh-CN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　　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A.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是奇函数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且在区间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(0,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+∞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上单调递增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	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B.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是奇函数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且在区间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(0,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+∞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上单调递减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C.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是偶函数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且在区间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(0,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+∞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上单调递增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	</a:t>
              </a:r>
              <a:endParaRPr lang="zh-CN" altLang="zh-CN" dirty="0">
                <a:solidFill>
                  <a:srgbClr val="000000"/>
                </a:solidFill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  <a:p>
              <a:pPr>
                <a:lnSpc>
                  <a:spcPct val="120000"/>
                </a:lnSpc>
                <a:spcAft>
                  <a:spcPts val="0"/>
                </a:spcAft>
                <a:tabLst>
                  <a:tab pos="1188085" algn="l"/>
                  <a:tab pos="2163445" algn="l"/>
                  <a:tab pos="3142615" algn="l"/>
                  <a:tab pos="4190365" algn="l"/>
                </a:tabLst>
              </a:pP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D.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是偶函数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,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且在区间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(0,</a:t>
              </a:r>
              <a:r>
                <a:rPr lang="en-US" altLang="zh-CN" i="1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+∞</a:t>
              </a:r>
              <a:r>
                <a:rPr lang="en-US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)</a:t>
              </a:r>
              <a:r>
                <a:rPr lang="zh-CN" altLang="zh-CN" dirty="0">
                  <a:solidFill>
                    <a:srgbClr val="000000"/>
                  </a:solidFill>
                  <a:ea typeface="宋体" panose="02010600030101010101" pitchFamily="2" charset="-122"/>
                  <a:cs typeface="Times New Roman" panose="02020603050405020304" pitchFamily="18" charset="0"/>
                </a:rPr>
                <a:t>上单调递减</a:t>
              </a:r>
              <a:endParaRPr lang="zh-CN" altLang="zh-CN" dirty="0">
                <a:solidFill>
                  <a:srgbClr val="000000"/>
                </a:solidFill>
                <a:effectLst/>
                <a:latin typeface="NEU-BZ-S92"/>
                <a:ea typeface="方正书宋_GBK" panose="03000509000000000000" pitchFamily="65" charset="-122"/>
                <a:cs typeface="Times New Roman" panose="02020603050405020304" pitchFamily="18" charset="0"/>
              </a:endParaRPr>
            </a:p>
          </p:txBody>
        </p:sp>
        <p:graphicFrame>
          <p:nvGraphicFramePr>
            <p:cNvPr id="7" name="对象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01094630"/>
                </p:ext>
              </p:extLst>
            </p:nvPr>
          </p:nvGraphicFramePr>
          <p:xfrm>
            <a:off x="5317121" y="1810087"/>
            <a:ext cx="11705058" cy="7280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23559" name="文档" r:id="rId4" imgW="3837724" imgH="238700" progId="Word.Document.12">
                    <p:embed/>
                  </p:oleObj>
                </mc:Choice>
                <mc:Fallback>
                  <p:oleObj name="文档" r:id="rId4" imgW="3837724" imgH="238700" progId="Word.Document.12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5317121" y="1810087"/>
                          <a:ext cx="11705058" cy="728035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453223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1122359"/>
            <a:ext cx="10807700" cy="123527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+mn-lt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由题意可知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 smtClean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的定义域为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-∞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,0)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宋体" panose="02010600030101010101" pitchFamily="2" charset="-122"/>
              </a:rPr>
              <a:t>∪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(0,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+∞</a:t>
            </a:r>
            <a:r>
              <a:rPr lang="en-US" altLang="zh-CN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),</a:t>
            </a:r>
            <a:r>
              <a:rPr lang="zh-CN" altLang="zh-CN" dirty="0">
                <a:solidFill>
                  <a:srgbClr val="000000"/>
                </a:solidFill>
                <a:latin typeface="+mn-lt"/>
                <a:ea typeface="楷体" panose="02010609060101010101" pitchFamily="49" charset="-122"/>
                <a:cs typeface="Times New Roman" panose="02020603050405020304" pitchFamily="18" charset="0"/>
              </a:rPr>
              <a:t>关于原点对称</a:t>
            </a:r>
            <a:r>
              <a:rPr lang="en-US" altLang="zh-CN" i="1" dirty="0">
                <a:solidFill>
                  <a:srgbClr val="000000"/>
                </a:solidFill>
                <a:latin typeface="+mn-lt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+mn-lt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  <p:sp>
        <p:nvSpPr>
          <p:cNvPr id="4" name="矩形 3"/>
          <p:cNvSpPr>
            <a:spLocks noChangeAspect="1"/>
          </p:cNvSpPr>
          <p:nvPr/>
        </p:nvSpPr>
        <p:spPr>
          <a:xfrm>
            <a:off x="352118" y="4543551"/>
            <a:ext cx="1521379" cy="6832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A 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" name="对象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2354786"/>
              </p:ext>
            </p:extLst>
          </p:nvPr>
        </p:nvGraphicFramePr>
        <p:xfrm>
          <a:off x="348516" y="2391281"/>
          <a:ext cx="10575841" cy="21056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4583" name="文档" r:id="rId4" imgW="3467489" imgH="690368" progId="Word.Document.12">
                  <p:embed/>
                </p:oleObj>
              </mc:Choice>
              <mc:Fallback>
                <p:oleObj name="文档" r:id="rId4" imgW="3467489" imgH="690368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48516" y="2391281"/>
                        <a:ext cx="10575841" cy="21056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62019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>
            <a:spLocks noChangeAspect="1"/>
          </p:cNvSpPr>
          <p:nvPr/>
        </p:nvSpPr>
        <p:spPr>
          <a:xfrm>
            <a:off x="361950" y="545828"/>
            <a:ext cx="10807700" cy="594508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考点四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zh-CN" altLang="zh-CN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函数的应用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(2019·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北京高考改编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小李自主创业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在网上经营一家水果店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销售的水果中有草莓、京白梨、西瓜、桃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价格依次为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元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盒、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65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元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盒、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元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盒、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90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元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/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盒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为增加销量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小李对这四种水果进行促销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一次购买水果的总价达到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120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顾客就少付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元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每笔订单顾客网上支付成功后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小李会得到支付款的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80%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顾客一次购买草莓和西瓜各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盒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需要</a:t>
            </a:r>
            <a:r>
              <a:rPr lang="zh-CN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支付</a:t>
            </a:r>
            <a:endParaRPr lang="en-US" altLang="zh-CN" dirty="0" smtClean="0">
              <a:solidFill>
                <a:srgbClr val="000000"/>
              </a:solidFill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　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;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NEU-BZ-S92" panose="02020503000000020003" pitchFamily="18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在促销活动中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为保证小李每笔订单得到的金额均不低于促销前总价的七折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则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的最大值为</a:t>
            </a:r>
            <a:r>
              <a:rPr lang="zh-CN" altLang="zh-CN" i="1" u="sng" dirty="0">
                <a:uFill>
                  <a:solidFill>
                    <a:srgbClr val="000000"/>
                  </a:solidFill>
                </a:uFill>
                <a:ea typeface="宋体" panose="02010600030101010101" pitchFamily="2" charset="-122"/>
                <a:cs typeface="Times New Roman" panose="02020603050405020304" pitchFamily="18" charset="0"/>
              </a:rPr>
              <a:t>　　　　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en-US" altLang="zh-CN" i="1" dirty="0">
                <a:solidFill>
                  <a:srgbClr val="000000"/>
                </a:solidFill>
                <a:latin typeface="宋体" panose="02010600030101010101" pitchFamily="2" charset="-122"/>
                <a:ea typeface="NEU-BZ-S92" panose="02020503000000020003" pitchFamily="18" charset="-122"/>
                <a:cs typeface="Times New Roman" panose="02020603050405020304" pitchFamily="18" charset="0"/>
              </a:rPr>
              <a:t> </a:t>
            </a:r>
            <a:endParaRPr lang="zh-CN" altLang="zh-CN" dirty="0">
              <a:solidFill>
                <a:srgbClr val="000000"/>
              </a:solidFill>
              <a:latin typeface="NEU-BZ-S92" panose="02020503000000020003" pitchFamily="18" charset="-122"/>
              <a:ea typeface="NEU-BZ-S92" panose="02020503000000020003" pitchFamily="18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907556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>
            <a:spLocks noChangeAspect="1"/>
          </p:cNvSpPr>
          <p:nvPr/>
        </p:nvSpPr>
        <p:spPr>
          <a:xfrm>
            <a:off x="361950" y="811479"/>
            <a:ext cx="10807700" cy="304698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解析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顾客一次购买草莓和西瓜各一盒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需要支付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(60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+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80)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10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=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130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元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设顾客一次购买水果的促销前总价为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元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y&lt;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120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元时</a:t>
            </a:r>
            <a:r>
              <a:rPr lang="en-US" altLang="zh-CN" dirty="0" smtClean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en-US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小</a:t>
            </a:r>
            <a:r>
              <a:rPr lang="zh-CN" altLang="zh-CN" smtClean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李得到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的金额为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·80%,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符合要求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120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元时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有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y-x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)·80%</a:t>
            </a:r>
            <a:r>
              <a:rPr lang="en-US" altLang="zh-CN" dirty="0">
                <a:solidFill>
                  <a:srgbClr val="000000"/>
                </a:solidFill>
                <a:latin typeface="宋体" panose="02010600030101010101" pitchFamily="2" charset="-122"/>
                <a:ea typeface="方正书宋_GBK" panose="03000509000000000000" pitchFamily="65" charset="-122"/>
                <a:cs typeface="Times New Roman" panose="02020603050405020304" pitchFamily="18" charset="0"/>
              </a:rPr>
              <a:t>≥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y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·70%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成立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,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3" name="对象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88929487"/>
              </p:ext>
            </p:extLst>
          </p:nvPr>
        </p:nvGraphicFramePr>
        <p:xfrm>
          <a:off x="492132" y="3811745"/>
          <a:ext cx="10607329" cy="7951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5607" name="文档" r:id="rId4" imgW="3477813" imgH="260695" progId="Word.Document.12">
                  <p:embed/>
                </p:oleObj>
              </mc:Choice>
              <mc:Fallback>
                <p:oleObj name="文档" r:id="rId4" imgW="3477813" imgH="260695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92132" y="3811745"/>
                        <a:ext cx="10607329" cy="7951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矩形 3"/>
          <p:cNvSpPr>
            <a:spLocks noChangeAspect="1"/>
          </p:cNvSpPr>
          <p:nvPr/>
        </p:nvSpPr>
        <p:spPr>
          <a:xfrm>
            <a:off x="361950" y="4555895"/>
            <a:ext cx="10807700" cy="1217641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故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zh-CN" dirty="0">
                <a:solidFill>
                  <a:srgbClr val="000000"/>
                </a:solidFill>
                <a:ea typeface="楷体" panose="02010609060101010101" pitchFamily="49" charset="-122"/>
                <a:cs typeface="Times New Roman" panose="02020603050405020304" pitchFamily="18" charset="0"/>
              </a:rPr>
              <a:t>的最大值为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15</a:t>
            </a:r>
            <a:r>
              <a:rPr lang="en-US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endParaRPr lang="zh-CN" altLang="zh-CN" dirty="0">
              <a:solidFill>
                <a:srgbClr val="000000"/>
              </a:solidFill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  <a:spcAft>
                <a:spcPts val="0"/>
              </a:spcAft>
              <a:tabLst>
                <a:tab pos="1188085" algn="l"/>
                <a:tab pos="2163445" algn="l"/>
                <a:tab pos="3142615" algn="l"/>
                <a:tab pos="4190365" algn="l"/>
              </a:tabLst>
            </a:pPr>
            <a:r>
              <a:rPr lang="zh-CN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答案</a:t>
            </a:r>
            <a:r>
              <a:rPr lang="en-US" altLang="zh-CN" dirty="0">
                <a:latin typeface="Arial" panose="020B0604020202020204" pitchFamily="34" charset="0"/>
                <a:cs typeface="Times New Roman" panose="02020603050405020304" pitchFamily="18" charset="0"/>
              </a:rPr>
              <a:t>: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(1)130</a:t>
            </a:r>
            <a:r>
              <a:rPr lang="zh-CN" altLang="zh-CN" i="1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　</a:t>
            </a:r>
            <a:r>
              <a:rPr lang="en-US" altLang="zh-CN" dirty="0">
                <a:solidFill>
                  <a:srgbClr val="000000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(2)15</a:t>
            </a:r>
            <a:endParaRPr lang="zh-CN" altLang="zh-CN" dirty="0">
              <a:solidFill>
                <a:srgbClr val="000000"/>
              </a:solidFill>
              <a:effectLst/>
              <a:latin typeface="NEU-BZ-S92"/>
              <a:ea typeface="方正书宋_GBK" panose="03000509000000000000" pitchFamily="65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4088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:dissolve/>
      </p:transition>
    </mc:Choice>
    <mc:Fallback xmlns="">
      <p:transition spd="slow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9081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专业教辅课件Q:251490010">
  <a:themeElements>
    <a:clrScheme name="穿越">
      <a:dk1>
        <a:sysClr val="windowText" lastClr="000000"/>
      </a:dk1>
      <a:lt1>
        <a:sysClr val="window" lastClr="FFFFFF"/>
      </a:lt1>
      <a:dk2>
        <a:srgbClr val="4E5B6F"/>
      </a:dk2>
      <a:lt2>
        <a:srgbClr val="D6ECFF"/>
      </a:lt2>
      <a:accent1>
        <a:srgbClr val="7FD13B"/>
      </a:accent1>
      <a:accent2>
        <a:srgbClr val="EA157A"/>
      </a:accent2>
      <a:accent3>
        <a:srgbClr val="FEB80A"/>
      </a:accent3>
      <a:accent4>
        <a:srgbClr val="00ADDC"/>
      </a:accent4>
      <a:accent5>
        <a:srgbClr val="738AC8"/>
      </a:accent5>
      <a:accent6>
        <a:srgbClr val="1AB39F"/>
      </a:accent6>
      <a:hlink>
        <a:srgbClr val="EB8803"/>
      </a:hlink>
      <a:folHlink>
        <a:srgbClr val="5F7791"/>
      </a:folHlink>
    </a:clrScheme>
    <a:fontScheme name="Office 经典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演示文稿3" id="{7F1B58FA-3D69-4926-A2BA-EEBABBAD5E6B}" vid="{76CC91B4-AC1E-4E21-9BDB-923C2B156DCE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新教材 高中同步</Template>
  <TotalTime>64</TotalTime>
  <Words>1621</Words>
  <Application>Microsoft Office PowerPoint</Application>
  <PresentationFormat>自定义</PresentationFormat>
  <Paragraphs>133</Paragraphs>
  <Slides>41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41</vt:i4>
      </vt:variant>
    </vt:vector>
  </HeadingPairs>
  <TitlesOfParts>
    <vt:vector size="57" baseType="lpstr">
      <vt:lpstr>NEU-BZ-S92</vt:lpstr>
      <vt:lpstr>方正书宋_GBK</vt:lpstr>
      <vt:lpstr>仿宋</vt:lpstr>
      <vt:lpstr>黑体</vt:lpstr>
      <vt:lpstr>华文新魏</vt:lpstr>
      <vt:lpstr>楷体</vt:lpstr>
      <vt:lpstr>隶书</vt:lpstr>
      <vt:lpstr>宋体</vt:lpstr>
      <vt:lpstr>微软雅黑</vt:lpstr>
      <vt:lpstr>Arial</vt:lpstr>
      <vt:lpstr>Calibri</vt:lpstr>
      <vt:lpstr>Cambria Math</vt:lpstr>
      <vt:lpstr>Microsoft Yi Baiti</vt:lpstr>
      <vt:lpstr>Times New Roman</vt:lpstr>
      <vt:lpstr>专业教辅课件Q:251490010</vt:lpstr>
      <vt:lpstr>文档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Microsoft</cp:lastModifiedBy>
  <cp:revision>22</cp:revision>
  <dcterms:created xsi:type="dcterms:W3CDTF">2020-09-12T05:36:12Z</dcterms:created>
  <dcterms:modified xsi:type="dcterms:W3CDTF">2025-08-18T07:50:37Z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TAG2">
    <vt:lpwstr>0008007650000000000001024140</vt:lpwstr>
  </property>
  <property fmtid="{D5CDD505-2E9C-101B-9397-08002B2CF9AE}" pid="3" name="KSOProductBuildVer">
    <vt:lpwstr>2052-10.1.0.7698</vt:lpwstr>
  </property>
</Properties>
</file>