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731" r:id="rId2"/>
    <p:sldId id="753" r:id="rId3"/>
    <p:sldId id="736" r:id="rId4"/>
    <p:sldId id="749" r:id="rId5"/>
    <p:sldId id="754" r:id="rId6"/>
    <p:sldId id="755" r:id="rId7"/>
    <p:sldId id="756" r:id="rId8"/>
    <p:sldId id="757" r:id="rId9"/>
    <p:sldId id="758" r:id="rId10"/>
    <p:sldId id="759" r:id="rId11"/>
    <p:sldId id="760" r:id="rId12"/>
    <p:sldId id="761" r:id="rId13"/>
    <p:sldId id="762" r:id="rId14"/>
    <p:sldId id="763" r:id="rId15"/>
    <p:sldId id="764" r:id="rId16"/>
    <p:sldId id="765" r:id="rId17"/>
    <p:sldId id="766" r:id="rId18"/>
    <p:sldId id="767" r:id="rId19"/>
    <p:sldId id="768" r:id="rId20"/>
    <p:sldId id="769" r:id="rId21"/>
    <p:sldId id="770" r:id="rId22"/>
    <p:sldId id="771" r:id="rId23"/>
    <p:sldId id="772" r:id="rId24"/>
    <p:sldId id="773" r:id="rId25"/>
    <p:sldId id="774" r:id="rId26"/>
    <p:sldId id="775" r:id="rId27"/>
    <p:sldId id="776" r:id="rId28"/>
    <p:sldId id="777" r:id="rId29"/>
    <p:sldId id="778" r:id="rId30"/>
    <p:sldId id="735" r:id="rId31"/>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30</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1" r:id="rId4"/>
    <p:sldLayoutId id="2147483692" r:id="rId5"/>
    <p:sldLayoutId id="2147483694" r:id="rId6"/>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package" Target="../embeddings/Microsoft_Word___1.docx"/></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package" Target="../embeddings/Microsoft_Word___2.docx"/></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package" Target="../embeddings/Microsoft_Word___3.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package" Target="../embeddings/Microsoft_Word___4.docx"/></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10.emf"/><Relationship Id="rId4" Type="http://schemas.openxmlformats.org/officeDocument/2006/relationships/package" Target="../embeddings/Microsoft_Word___5.docx"/></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package" Target="../embeddings/Microsoft_Word___6.docx"/></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3.emf"/><Relationship Id="rId4" Type="http://schemas.openxmlformats.org/officeDocument/2006/relationships/package" Target="../embeddings/Microsoft_Word___7.docx"/></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4.emf"/><Relationship Id="rId4" Type="http://schemas.openxmlformats.org/officeDocument/2006/relationships/package" Target="../embeddings/Microsoft_Word___8.docx"/></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6.emf"/><Relationship Id="rId4" Type="http://schemas.openxmlformats.org/officeDocument/2006/relationships/package" Target="../embeddings/Microsoft_Word___9.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1583903"/>
            <a:ext cx="10807700" cy="2161169"/>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sz="6000" dirty="0">
                <a:solidFill>
                  <a:srgbClr val="002060"/>
                </a:solidFill>
                <a:latin typeface="Arial" panose="020B0604020202020204" pitchFamily="34" charset="0"/>
                <a:cs typeface="Times New Roman" panose="02020603050405020304" pitchFamily="18" charset="0"/>
              </a:rPr>
              <a:t>数学</a:t>
            </a:r>
            <a:r>
              <a:rPr lang="zh-CN" altLang="zh-CN" sz="6000" dirty="0" smtClean="0">
                <a:solidFill>
                  <a:srgbClr val="002060"/>
                </a:solidFill>
                <a:latin typeface="Arial" panose="020B0604020202020204" pitchFamily="34" charset="0"/>
                <a:cs typeface="Times New Roman" panose="02020603050405020304" pitchFamily="18" charset="0"/>
              </a:rPr>
              <a:t>建模</a:t>
            </a:r>
            <a:endParaRPr lang="en-US" altLang="zh-CN" sz="6000" dirty="0" smtClean="0">
              <a:solidFill>
                <a:srgbClr val="002060"/>
              </a:solidFill>
              <a:latin typeface="Arial" panose="020B0604020202020204" pitchFamily="34" charset="0"/>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sz="6000" dirty="0" smtClean="0">
                <a:solidFill>
                  <a:srgbClr val="002060"/>
                </a:solidFill>
                <a:ea typeface="宋体" panose="02010600030101010101" pitchFamily="2" charset="-122"/>
                <a:cs typeface="Times New Roman" panose="02020603050405020304" pitchFamily="18" charset="0"/>
              </a:rPr>
              <a:t>建立</a:t>
            </a:r>
            <a:r>
              <a:rPr lang="zh-CN" altLang="zh-CN" sz="6000" dirty="0">
                <a:solidFill>
                  <a:srgbClr val="002060"/>
                </a:solidFill>
                <a:ea typeface="宋体" panose="02010600030101010101" pitchFamily="2" charset="-122"/>
                <a:cs typeface="Times New Roman" panose="02020603050405020304" pitchFamily="18" charset="0"/>
              </a:rPr>
              <a:t>函数模型解决实际问题</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730568"/>
            <a:ext cx="10729192" cy="5566539"/>
            <a:chOff x="360437" y="730568"/>
            <a:chExt cx="10729192" cy="5566539"/>
          </a:xfrm>
        </p:grpSpPr>
        <p:grpSp>
          <p:nvGrpSpPr>
            <p:cNvPr id="13" name="组合 12"/>
            <p:cNvGrpSpPr/>
            <p:nvPr/>
          </p:nvGrpSpPr>
          <p:grpSpPr>
            <a:xfrm>
              <a:off x="360437" y="730568"/>
              <a:ext cx="10729192" cy="5566539"/>
              <a:chOff x="360437" y="1470062"/>
              <a:chExt cx="10729192" cy="3802022"/>
            </a:xfrm>
          </p:grpSpPr>
          <p:sp>
            <p:nvSpPr>
              <p:cNvPr id="2" name="圆角矩形 1"/>
              <p:cNvSpPr/>
              <p:nvPr/>
            </p:nvSpPr>
            <p:spPr>
              <a:xfrm>
                <a:off x="360437" y="1470062"/>
                <a:ext cx="10729192" cy="3802022"/>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538386"/>
                <a:ext cx="0" cy="3643605"/>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682615"/>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791815"/>
              <a:ext cx="8496944" cy="5354158"/>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收集、阅读一些现实生活、生产实际或者经济领域中的数学模型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体会人们如何借助函数刻画实际问题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感悟数学模型中参数的现实意义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能够运用已有函数模型或建立函数模型解决实际问题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经历数学建模的全过程</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提升数学抽象、数据分析、数学运算、逻辑推理和直观想象的数学素养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55495"/>
            <a:ext cx="10807700" cy="417229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一、数学建模简介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数学建模的含义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数学建模就是对现实问题进行数学抽象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用数学语言表达问题、用数学方法构建数学模型解决问题的过程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数学建模搭建了数学与外部世界联系的桥梁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是数学应用的重要形式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数学建模是应用数学解决实际问题的基本手段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也是推动数学发展的动力</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39471"/>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数学建模的过程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建立函数模型的过程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首先要对实际问题中的变化过程进行分析</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a:solidFill>
                  <a:srgbClr val="000000"/>
                </a:solidFill>
                <a:ea typeface="宋体" panose="02010600030101010101" pitchFamily="2" charset="-122"/>
                <a:cs typeface="Times New Roman" panose="02020603050405020304" pitchFamily="18" charset="0"/>
              </a:rPr>
              <a:t>分析</a:t>
            </a:r>
            <a:r>
              <a:rPr lang="zh-CN" altLang="zh-CN" dirty="0">
                <a:solidFill>
                  <a:srgbClr val="000000"/>
                </a:solidFill>
                <a:ea typeface="宋体" panose="02010600030101010101" pitchFamily="2" charset="-122"/>
                <a:cs typeface="Times New Roman" panose="02020603050405020304" pitchFamily="18" charset="0"/>
              </a:rPr>
              <a:t>出其中的常量、变量及其相互关系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明确其运动变化的基本特征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从而确定它的运动变化类型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然后根据分析结果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选择适当的函数类型构建数学模型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将实际问题化归为数学问题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通过运算、推理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求解函数模型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最后利用函数模型的解说明实际问题的变化规律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达到解决问题的目的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在构建函数模型时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经常会遇到没有现成数据可用的情况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这时就需要先收集数据</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12849519"/>
      </p:ext>
    </p:extLst>
  </p:cSld>
  <p:clrMapOvr>
    <a:masterClrMapping/>
  </p:clrMapOvr>
  <p:transition spd="slow">
    <p:wheel spokes="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75791"/>
            <a:ext cx="4131259" cy="626710"/>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上述过程可以概括为</a:t>
            </a:r>
            <a:r>
              <a:rPr lang="en-US" altLang="zh-CN" dirty="0" smtClean="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5" name="NMG1TRA94.eps" descr="id:2147526624;FounderCES"/>
          <p:cNvPicPr/>
          <p:nvPr/>
        </p:nvPicPr>
        <p:blipFill>
          <a:blip r:embed="rId2"/>
          <a:stretch>
            <a:fillRect/>
          </a:stretch>
        </p:blipFill>
        <p:spPr>
          <a:xfrm>
            <a:off x="3744813" y="1182837"/>
            <a:ext cx="3384376" cy="5164858"/>
          </a:xfrm>
          <a:prstGeom prst="rect">
            <a:avLst/>
          </a:prstGeom>
        </p:spPr>
      </p:pic>
    </p:spTree>
    <p:extLst>
      <p:ext uri="{BB962C8B-B14F-4D97-AF65-F5344CB8AC3E}">
        <p14:creationId xmlns:p14="http://schemas.microsoft.com/office/powerpoint/2010/main" val="580768694"/>
      </p:ext>
    </p:extLst>
  </p:cSld>
  <p:clrMapOvr>
    <a:masterClrMapping/>
  </p:clrMapOvr>
  <p:transition spd="slow">
    <p:wheel spokes="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39471"/>
            <a:ext cx="10807700" cy="535415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a:solidFill>
                  <a:srgbClr val="000000"/>
                </a:solidFill>
                <a:ea typeface="宋体" panose="02010600030101010101" pitchFamily="2" charset="-122"/>
                <a:cs typeface="Times New Roman" panose="02020603050405020304" pitchFamily="18" charset="0"/>
              </a:rPr>
              <a:t>3</a:t>
            </a:r>
            <a:r>
              <a:rPr lang="en-US" altLang="zh-CN" i="1">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数学建模活动的要求</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组建合作团队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数学建模活动需要团队协作</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首先在班级中组成</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人的研究小组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每位同学参加其中一个小组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在小组内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要确定一个课题负责人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使每位成员都有明确的分工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然后拟定研究课题、确定研究方案、规划研究步骤、编制研究手册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最后在班里进行一次开题报告</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开展研究活动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根据开题报告所规划的研究步骤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通过背景分析、收集数据、数据分析、数学建模、获得结论等过程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完成课题研究</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在研究过程中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可以借助信息技术解决问题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77863266"/>
      </p:ext>
    </p:extLst>
  </p:cSld>
  <p:clrMapOvr>
    <a:masterClrMapping/>
  </p:clrMapOvr>
  <p:transition spd="slow">
    <p:wheel spokes="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39471"/>
            <a:ext cx="10807700" cy="541071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撰写研究报告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以小组为单位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撰写一份研究报告</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交流展示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对同一个课题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先由</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个小组进行小组交流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每个小组</a:t>
            </a:r>
            <a:r>
              <a:rPr lang="zh-CN" altLang="zh-CN" dirty="0" smtClean="0">
                <a:solidFill>
                  <a:srgbClr val="000000"/>
                </a:solidFill>
                <a:ea typeface="宋体" panose="02010600030101010101" pitchFamily="2" charset="-122"/>
                <a:cs typeface="Times New Roman" panose="02020603050405020304" pitchFamily="18" charset="0"/>
              </a:rPr>
              <a:t>都展示</a:t>
            </a:r>
            <a:r>
              <a:rPr lang="zh-CN" altLang="zh-CN" dirty="0">
                <a:solidFill>
                  <a:srgbClr val="000000"/>
                </a:solidFill>
                <a:ea typeface="宋体" panose="02010600030101010101" pitchFamily="2" charset="-122"/>
                <a:cs typeface="Times New Roman" panose="02020603050405020304" pitchFamily="18" charset="0"/>
              </a:rPr>
              <a:t>自己的研究成果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相互借鉴、取长补短</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在小组研究报告的基础上形成大组的研究报告</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选定代表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制定向全班汇报的演示文稿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宋体" panose="02010600030101010101" pitchFamily="2" charset="-122"/>
              </a:rPr>
              <a:t>②</a:t>
            </a:r>
            <a:r>
              <a:rPr lang="zh-CN" altLang="zh-CN" dirty="0" smtClean="0">
                <a:solidFill>
                  <a:srgbClr val="000000"/>
                </a:solidFill>
                <a:ea typeface="宋体" panose="02010600030101010101" pitchFamily="2" charset="-122"/>
                <a:cs typeface="Times New Roman" panose="02020603050405020304" pitchFamily="18" charset="0"/>
              </a:rPr>
              <a:t>与</a:t>
            </a:r>
            <a:r>
              <a:rPr lang="zh-CN" altLang="zh-CN" dirty="0">
                <a:solidFill>
                  <a:srgbClr val="000000"/>
                </a:solidFill>
                <a:ea typeface="宋体" panose="02010600030101010101" pitchFamily="2" charset="-122"/>
                <a:cs typeface="Times New Roman" panose="02020603050405020304" pitchFamily="18" charset="0"/>
              </a:rPr>
              <a:t>老师一起进行全班研究成果的展示与交流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在各组代表作研究报告的基础上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通过质疑、辩论、评价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总结成果</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分享体会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分析不足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开展自我评价、同学评价和老师评价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完成本次数学建模活动</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995301026"/>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23447"/>
            <a:ext cx="10807700" cy="1786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二、建立函数模型解决实际问题实例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【典例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为了研究怎样烧开水最省燃气</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实验得以下数据</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燃气灶旋钮角度不同时烧开一壶水所需燃气量</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477652244"/>
              </p:ext>
            </p:extLst>
          </p:nvPr>
        </p:nvGraphicFramePr>
        <p:xfrm>
          <a:off x="-156655" y="2323647"/>
          <a:ext cx="11844910" cy="4760391"/>
        </p:xfrm>
        <a:graphic>
          <a:graphicData uri="http://schemas.openxmlformats.org/presentationml/2006/ole">
            <mc:AlternateContent xmlns:mc="http://schemas.openxmlformats.org/markup-compatibility/2006">
              <mc:Choice xmlns:v="urn:schemas-microsoft-com:vml" Requires="v">
                <p:oleObj spid="_x0000_s1033" name="文档" r:id="rId4" imgW="3894589" imgH="1563089" progId="Word.Document.12">
                  <p:embed/>
                </p:oleObj>
              </mc:Choice>
              <mc:Fallback>
                <p:oleObj name="文档" r:id="rId4" imgW="3894589" imgH="1563089" progId="Word.Document.12">
                  <p:embed/>
                  <p:pic>
                    <p:nvPicPr>
                      <p:cNvPr id="0" name=""/>
                      <p:cNvPicPr/>
                      <p:nvPr/>
                    </p:nvPicPr>
                    <p:blipFill>
                      <a:blip r:embed="rId5"/>
                      <a:stretch>
                        <a:fillRect/>
                      </a:stretch>
                    </p:blipFill>
                    <p:spPr>
                      <a:xfrm>
                        <a:off x="-156655" y="2323647"/>
                        <a:ext cx="11844910" cy="4760391"/>
                      </a:xfrm>
                      <a:prstGeom prst="rect">
                        <a:avLst/>
                      </a:prstGeom>
                    </p:spPr>
                  </p:pic>
                </p:oleObj>
              </mc:Fallback>
            </mc:AlternateContent>
          </a:graphicData>
        </a:graphic>
      </p:graphicFrame>
    </p:spTree>
    <p:extLst>
      <p:ext uri="{BB962C8B-B14F-4D97-AF65-F5344CB8AC3E}">
        <p14:creationId xmlns:p14="http://schemas.microsoft.com/office/powerpoint/2010/main" val="1959549190"/>
      </p:ext>
    </p:extLst>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382486"/>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通过上表分析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燃气灶旋钮角度是多少时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烧开一壶水所需燃气最少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最少是多少</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68109881"/>
      </p:ext>
    </p:extLst>
  </p:cSld>
  <p:clrMapOvr>
    <a:masterClrMapping/>
  </p:clrMapOvr>
  <p:transition spd="slow">
    <p:wheel spokes="1"/>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52205"/>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chemeClr val="tx1"/>
                </a:solidFill>
                <a:latin typeface="Arial" panose="020B0604020202020204" pitchFamily="34" charset="0"/>
                <a:cs typeface="Times New Roman" panose="02020603050405020304" pitchFamily="18" charset="0"/>
              </a:rPr>
              <a:t>分析</a:t>
            </a:r>
            <a:r>
              <a:rPr lang="zh-CN" altLang="zh-CN" dirty="0" smtClean="0">
                <a:solidFill>
                  <a:schemeClr val="tx1"/>
                </a:solidFill>
                <a:latin typeface="Arial" panose="020B0604020202020204" pitchFamily="34" charset="0"/>
                <a:cs typeface="Times New Roman" panose="02020603050405020304" pitchFamily="18" charset="0"/>
              </a:rPr>
              <a:t>数据</a:t>
            </a:r>
            <a:r>
              <a:rPr lang="en-US" altLang="zh-CN" dirty="0" smtClean="0">
                <a:solidFill>
                  <a:schemeClr val="tx1"/>
                </a:solidFill>
                <a:latin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烧</a:t>
            </a:r>
            <a:r>
              <a:rPr lang="zh-CN" altLang="zh-CN" dirty="0">
                <a:solidFill>
                  <a:srgbClr val="000000"/>
                </a:solidFill>
                <a:ea typeface="宋体" panose="02010600030101010101" pitchFamily="2" charset="-122"/>
                <a:cs typeface="Times New Roman" panose="02020603050405020304" pitchFamily="18" charset="0"/>
              </a:rPr>
              <a:t>开一壶水所需的燃气量与燃气灶旋钮角度有关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即烧开一壶水所需的燃气量是旋钮旋转角度的函数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但是没有现成的函数模型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因此可以根据给出的数据画出散点图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利用图象直观地分析这组数据的变化规律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从而帮助我们选择函数模型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NMG1TRA95.eps" descr="id:2147506680;FounderCES"/>
          <p:cNvPicPr/>
          <p:nvPr/>
        </p:nvPicPr>
        <p:blipFill>
          <a:blip r:embed="rId2"/>
          <a:stretch>
            <a:fillRect/>
          </a:stretch>
        </p:blipFill>
        <p:spPr>
          <a:xfrm>
            <a:off x="2232645" y="3364439"/>
            <a:ext cx="6264696" cy="2981682"/>
          </a:xfrm>
          <a:prstGeom prst="rect">
            <a:avLst/>
          </a:prstGeom>
        </p:spPr>
      </p:pic>
    </p:spTree>
    <p:extLst>
      <p:ext uri="{BB962C8B-B14F-4D97-AF65-F5344CB8AC3E}">
        <p14:creationId xmlns:p14="http://schemas.microsoft.com/office/powerpoint/2010/main" val="4160220140"/>
      </p:ext>
    </p:extLst>
  </p:cSld>
  <p:clrMapOvr>
    <a:masterClrMapping/>
  </p:clrMapOvr>
  <p:transition spd="slow">
    <p:wheel spokes="1"/>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73789"/>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由图可以看出</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随着</a:t>
            </a:r>
            <a:r>
              <a:rPr lang="zh-CN" altLang="zh-CN" dirty="0">
                <a:solidFill>
                  <a:srgbClr val="000000"/>
                </a:solidFill>
                <a:ea typeface="宋体" panose="02010600030101010101" pitchFamily="2" charset="-122"/>
                <a:cs typeface="Times New Roman" panose="02020603050405020304" pitchFamily="18" charset="0"/>
              </a:rPr>
              <a:t>旋钮角度逐渐增大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燃气量有一个从大到小又从小到大的过程</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在我们学习过的函数图象中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二次函数的图象与之最接近</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所以可以用二次函数</a:t>
            </a:r>
            <a:r>
              <a:rPr lang="en-US" altLang="zh-CN" i="1" dirty="0">
                <a:solidFill>
                  <a:srgbClr val="000000"/>
                </a:solidFill>
                <a:ea typeface="宋体" panose="02010600030101010101" pitchFamily="2" charset="-122"/>
                <a:cs typeface="Times New Roman" panose="02020603050405020304" pitchFamily="18" charset="0"/>
              </a:rPr>
              <a:t>y=ax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近似地表示这种变化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表示旋钮角度</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表示燃气量</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83325204"/>
      </p:ext>
    </p:extLst>
  </p:cSld>
  <p:clrMapOvr>
    <a:masterClrMapping/>
  </p:clrMapOvr>
  <p:transition spd="slow">
    <p:wheel spokes="1"/>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47799"/>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chemeClr val="tx1"/>
                </a:solidFill>
                <a:latin typeface="Arial" panose="020B0604020202020204" pitchFamily="34" charset="0"/>
                <a:cs typeface="Times New Roman" panose="02020603050405020304" pitchFamily="18" charset="0"/>
              </a:rPr>
              <a:t>建立</a:t>
            </a:r>
            <a:r>
              <a:rPr lang="zh-CN" altLang="zh-CN" dirty="0" smtClean="0">
                <a:solidFill>
                  <a:schemeClr val="tx1"/>
                </a:solidFill>
                <a:latin typeface="Arial" panose="020B0604020202020204" pitchFamily="34" charset="0"/>
                <a:cs typeface="Times New Roman" panose="02020603050405020304" pitchFamily="18" charset="0"/>
              </a:rPr>
              <a:t>模型</a:t>
            </a:r>
            <a:r>
              <a:rPr lang="en-US" altLang="zh-CN" dirty="0" smtClean="0">
                <a:solidFill>
                  <a:schemeClr val="tx1"/>
                </a:solidFill>
                <a:latin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设</a:t>
            </a:r>
            <a:r>
              <a:rPr lang="zh-CN" altLang="zh-CN" dirty="0">
                <a:solidFill>
                  <a:srgbClr val="000000"/>
                </a:solidFill>
                <a:ea typeface="宋体" panose="02010600030101010101" pitchFamily="2" charset="-122"/>
                <a:cs typeface="Times New Roman" panose="02020603050405020304" pitchFamily="18" charset="0"/>
              </a:rPr>
              <a:t>函数解析式为</a:t>
            </a:r>
            <a:r>
              <a:rPr lang="en-US" altLang="zh-CN" i="1" dirty="0">
                <a:solidFill>
                  <a:srgbClr val="000000"/>
                </a:solidFill>
                <a:ea typeface="宋体" panose="02010600030101010101" pitchFamily="2" charset="-122"/>
                <a:cs typeface="Times New Roman" panose="02020603050405020304" pitchFamily="18" charset="0"/>
              </a:rPr>
              <a:t>y=ax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+bx+c</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取三对数据即可求出解析式的系数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不妨取</a:t>
            </a:r>
            <a:r>
              <a:rPr lang="en-US" altLang="zh-CN" dirty="0">
                <a:solidFill>
                  <a:srgbClr val="000000"/>
                </a:solidFill>
                <a:ea typeface="宋体" panose="02010600030101010101" pitchFamily="2" charset="-122"/>
                <a:cs typeface="Times New Roman" panose="02020603050405020304" pitchFamily="18" charset="0"/>
              </a:rPr>
              <a:t>(18,0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130),(36,0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122),(90,0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172),</a:t>
            </a:r>
            <a:r>
              <a:rPr lang="zh-CN" altLang="zh-CN" dirty="0">
                <a:solidFill>
                  <a:srgbClr val="000000"/>
                </a:solidFill>
                <a:ea typeface="宋体" panose="02010600030101010101" pitchFamily="2" charset="-122"/>
                <a:cs typeface="Times New Roman" panose="02020603050405020304" pitchFamily="18" charset="0"/>
              </a:rPr>
              <a:t>得方程组</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50234606"/>
              </p:ext>
            </p:extLst>
          </p:nvPr>
        </p:nvGraphicFramePr>
        <p:xfrm>
          <a:off x="432445" y="2444274"/>
          <a:ext cx="11671959" cy="3885697"/>
        </p:xfrm>
        <a:graphic>
          <a:graphicData uri="http://schemas.openxmlformats.org/presentationml/2006/ole">
            <mc:AlternateContent xmlns:mc="http://schemas.openxmlformats.org/markup-compatibility/2006">
              <mc:Choice xmlns:v="urn:schemas-microsoft-com:vml" Requires="v">
                <p:oleObj spid="_x0000_s2057" name="文档" r:id="rId4" imgW="3826872" imgH="1273999" progId="Word.Document.12">
                  <p:embed/>
                </p:oleObj>
              </mc:Choice>
              <mc:Fallback>
                <p:oleObj name="文档" r:id="rId4" imgW="3826872" imgH="1273999" progId="Word.Document.12">
                  <p:embed/>
                  <p:pic>
                    <p:nvPicPr>
                      <p:cNvPr id="0" name=""/>
                      <p:cNvPicPr/>
                      <p:nvPr/>
                    </p:nvPicPr>
                    <p:blipFill>
                      <a:blip r:embed="rId5"/>
                      <a:stretch>
                        <a:fillRect/>
                      </a:stretch>
                    </p:blipFill>
                    <p:spPr>
                      <a:xfrm>
                        <a:off x="432445" y="2444274"/>
                        <a:ext cx="11671959" cy="3885697"/>
                      </a:xfrm>
                      <a:prstGeom prst="rect">
                        <a:avLst/>
                      </a:prstGeom>
                    </p:spPr>
                  </p:pic>
                </p:oleObj>
              </mc:Fallback>
            </mc:AlternateContent>
          </a:graphicData>
        </a:graphic>
      </p:graphicFrame>
    </p:spTree>
    <p:extLst>
      <p:ext uri="{BB962C8B-B14F-4D97-AF65-F5344CB8AC3E}">
        <p14:creationId xmlns:p14="http://schemas.microsoft.com/office/powerpoint/2010/main" val="2969193570"/>
      </p:ext>
    </p:extLst>
  </p:cSld>
  <p:clrMapOvr>
    <a:masterClrMapping/>
  </p:clrMapOvr>
  <p:transition spd="slow">
    <p:wheel spokes="1"/>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04680"/>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chemeClr val="tx1"/>
                </a:solidFill>
                <a:latin typeface="Arial" panose="020B0604020202020204" pitchFamily="34" charset="0"/>
                <a:cs typeface="Times New Roman" panose="02020603050405020304" pitchFamily="18" charset="0"/>
              </a:rPr>
              <a:t>检验</a:t>
            </a:r>
            <a:r>
              <a:rPr lang="zh-CN" altLang="zh-CN" dirty="0" smtClean="0">
                <a:solidFill>
                  <a:schemeClr val="tx1"/>
                </a:solidFill>
                <a:latin typeface="Arial" panose="020B0604020202020204" pitchFamily="34" charset="0"/>
                <a:cs typeface="Times New Roman" panose="02020603050405020304" pitchFamily="18" charset="0"/>
              </a:rPr>
              <a:t>模型</a:t>
            </a:r>
            <a:r>
              <a:rPr lang="en-US" altLang="zh-CN" dirty="0" smtClean="0">
                <a:solidFill>
                  <a:schemeClr val="tx1"/>
                </a:solidFill>
                <a:latin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将</a:t>
            </a:r>
            <a:r>
              <a:rPr lang="zh-CN" altLang="zh-CN" dirty="0">
                <a:solidFill>
                  <a:srgbClr val="000000"/>
                </a:solidFill>
                <a:ea typeface="宋体" panose="02010600030101010101" pitchFamily="2" charset="-122"/>
                <a:cs typeface="Times New Roman" panose="02020603050405020304" pitchFamily="18" charset="0"/>
              </a:rPr>
              <a:t>已知的表中数据代入上述得到的函数解析式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或者画出函数的图象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可以发现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这个函数模型与实际数据基本吻合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这说明它能较好地反映烧开一壶水所需的燃气量随燃气灶旋钮角度的变化规律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85446675"/>
      </p:ext>
    </p:extLst>
  </p:cSld>
  <p:clrMapOvr>
    <a:masterClrMapping/>
  </p:clrMapOvr>
  <p:transition spd="slow">
    <p:wheel spokes="1"/>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079847"/>
            <a:ext cx="11671959" cy="3991472"/>
            <a:chOff x="361950" y="1048815"/>
            <a:chExt cx="11671959" cy="3991472"/>
          </a:xfrm>
        </p:grpSpPr>
        <p:sp>
          <p:nvSpPr>
            <p:cNvPr id="3" name="矩形 2"/>
            <p:cNvSpPr>
              <a:spLocks noChangeAspect="1"/>
            </p:cNvSpPr>
            <p:nvPr/>
          </p:nvSpPr>
          <p:spPr>
            <a:xfrm>
              <a:off x="361950" y="1048815"/>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chemeClr val="tx1"/>
                  </a:solidFill>
                  <a:latin typeface="Arial" panose="020B0604020202020204" pitchFamily="34" charset="0"/>
                  <a:cs typeface="Times New Roman" panose="02020603050405020304" pitchFamily="18" charset="0"/>
                </a:rPr>
                <a:t>求解</a:t>
              </a:r>
              <a:r>
                <a:rPr lang="zh-CN" altLang="zh-CN" dirty="0" smtClean="0">
                  <a:solidFill>
                    <a:schemeClr val="tx1"/>
                  </a:solidFill>
                  <a:latin typeface="Arial" panose="020B0604020202020204" pitchFamily="34" charset="0"/>
                  <a:cs typeface="Times New Roman" panose="02020603050405020304" pitchFamily="18" charset="0"/>
                </a:rPr>
                <a:t>问题</a:t>
              </a:r>
              <a:r>
                <a:rPr lang="en-US" altLang="zh-CN" dirty="0" smtClean="0">
                  <a:solidFill>
                    <a:schemeClr val="tx1"/>
                  </a:solidFill>
                  <a:latin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求</a:t>
              </a:r>
              <a:r>
                <a:rPr lang="zh-CN" altLang="zh-CN" dirty="0">
                  <a:solidFill>
                    <a:srgbClr val="000000"/>
                  </a:solidFill>
                  <a:ea typeface="宋体" panose="02010600030101010101" pitchFamily="2" charset="-122"/>
                  <a:cs typeface="Times New Roman" panose="02020603050405020304" pitchFamily="18" charset="0"/>
                </a:rPr>
                <a:t>燃气量最少时的旋钮角度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实际上是求函数</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903 3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472 2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503 3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baseline="30000" dirty="0">
                  <a:solidFill>
                    <a:srgbClr val="000000"/>
                  </a:solidFill>
                  <a:ea typeface="宋体" panose="02010600030101010101" pitchFamily="2" charset="-122"/>
                  <a:cs typeface="Times New Roman" panose="02020603050405020304" pitchFamily="18" charset="0"/>
                </a:rPr>
                <a:t>-</a:t>
              </a:r>
              <a:r>
                <a:rPr lang="en-US" altLang="zh-CN" baseline="30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的最小值点</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25000"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272326373"/>
                </p:ext>
              </p:extLst>
            </p:nvPr>
          </p:nvGraphicFramePr>
          <p:xfrm>
            <a:off x="361950" y="2344959"/>
            <a:ext cx="11671959" cy="2695328"/>
          </p:xfrm>
          <a:graphic>
            <a:graphicData uri="http://schemas.openxmlformats.org/presentationml/2006/ole">
              <mc:AlternateContent xmlns:mc="http://schemas.openxmlformats.org/markup-compatibility/2006">
                <mc:Choice xmlns:v="urn:schemas-microsoft-com:vml" Requires="v">
                  <p:oleObj spid="_x0000_s3081" name="文档" r:id="rId4" imgW="3826872" imgH="883714" progId="Word.Document.12">
                    <p:embed/>
                  </p:oleObj>
                </mc:Choice>
                <mc:Fallback>
                  <p:oleObj name="文档" r:id="rId4" imgW="3826872" imgH="883714" progId="Word.Document.12">
                    <p:embed/>
                    <p:pic>
                      <p:nvPicPr>
                        <p:cNvPr id="0" name=""/>
                        <p:cNvPicPr/>
                        <p:nvPr/>
                      </p:nvPicPr>
                      <p:blipFill>
                        <a:blip r:embed="rId5"/>
                        <a:stretch>
                          <a:fillRect/>
                        </a:stretch>
                      </p:blipFill>
                      <p:spPr>
                        <a:xfrm>
                          <a:off x="361950" y="2344959"/>
                          <a:ext cx="11671959" cy="2695328"/>
                        </a:xfrm>
                        <a:prstGeom prst="rect">
                          <a:avLst/>
                        </a:prstGeom>
                      </p:spPr>
                    </p:pic>
                  </p:oleObj>
                </mc:Fallback>
              </mc:AlternateContent>
            </a:graphicData>
          </a:graphic>
        </p:graphicFrame>
      </p:grpSp>
    </p:spTree>
    <p:extLst>
      <p:ext uri="{BB962C8B-B14F-4D97-AF65-F5344CB8AC3E}">
        <p14:creationId xmlns:p14="http://schemas.microsoft.com/office/powerpoint/2010/main" val="2919339796"/>
      </p:ext>
    </p:extLst>
  </p:cSld>
  <p:clrMapOvr>
    <a:masterClrMapping/>
  </p:clrMapOvr>
  <p:transition spd="slow">
    <p:wheel spokes="1"/>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575791"/>
            <a:ext cx="10818294" cy="5841020"/>
            <a:chOff x="361950" y="575791"/>
            <a:chExt cx="10818294" cy="5841020"/>
          </a:xfrm>
        </p:grpSpPr>
        <p:sp>
          <p:nvSpPr>
            <p:cNvPr id="2" name="矩形 1"/>
            <p:cNvSpPr>
              <a:spLocks noChangeAspect="1"/>
            </p:cNvSpPr>
            <p:nvPr/>
          </p:nvSpPr>
          <p:spPr>
            <a:xfrm>
              <a:off x="361950" y="575791"/>
              <a:ext cx="10807700" cy="1217641"/>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某地区不同身高的未成年男性的体重平均值如下表</a:t>
              </a:r>
              <a:r>
                <a:rPr lang="en-US" altLang="zh-CN" dirty="0">
                  <a:solidFill>
                    <a:srgbClr val="000000"/>
                  </a:solidFill>
                  <a:ea typeface="宋体" panose="02010600030101010101" pitchFamily="2" charset="-122"/>
                </a:rPr>
                <a:t>:</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2567339083"/>
                </p:ext>
              </p:extLst>
            </p:nvPr>
          </p:nvGraphicFramePr>
          <p:xfrm>
            <a:off x="412144" y="1727919"/>
            <a:ext cx="10768100" cy="3600212"/>
          </p:xfrm>
          <a:graphic>
            <a:graphicData uri="http://schemas.openxmlformats.org/presentationml/2006/ole">
              <mc:AlternateContent xmlns:mc="http://schemas.openxmlformats.org/markup-compatibility/2006">
                <mc:Choice xmlns:v="urn:schemas-microsoft-com:vml" Requires="v">
                  <p:oleObj spid="_x0000_s4105" name="文档" r:id="rId4" imgW="3883577" imgH="1298437" progId="Word.Document.12">
                    <p:embed/>
                  </p:oleObj>
                </mc:Choice>
                <mc:Fallback>
                  <p:oleObj name="文档" r:id="rId4" imgW="3883577" imgH="1298437" progId="Word.Document.12">
                    <p:embed/>
                    <p:pic>
                      <p:nvPicPr>
                        <p:cNvPr id="0" name=""/>
                        <p:cNvPicPr/>
                        <p:nvPr/>
                      </p:nvPicPr>
                      <p:blipFill>
                        <a:blip r:embed="rId5"/>
                        <a:stretch>
                          <a:fillRect/>
                        </a:stretch>
                      </p:blipFill>
                      <p:spPr>
                        <a:xfrm>
                          <a:off x="412144" y="1727919"/>
                          <a:ext cx="10768100" cy="3600212"/>
                        </a:xfrm>
                        <a:prstGeom prst="rect">
                          <a:avLst/>
                        </a:prstGeom>
                      </p:spPr>
                    </p:pic>
                  </p:oleObj>
                </mc:Fallback>
              </mc:AlternateContent>
            </a:graphicData>
          </a:graphic>
        </p:graphicFrame>
        <p:sp>
          <p:nvSpPr>
            <p:cNvPr id="7" name="矩形 6"/>
            <p:cNvSpPr>
              <a:spLocks noChangeAspect="1"/>
            </p:cNvSpPr>
            <p:nvPr/>
          </p:nvSpPr>
          <p:spPr>
            <a:xfrm>
              <a:off x="361950" y="4608239"/>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如果体重超过相同身高男性平均值的</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倍为偏胖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低于</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宋体" panose="02010600030101010101" pitchFamily="2" charset="-122"/>
                  <a:cs typeface="Times New Roman" panose="02020603050405020304" pitchFamily="18" charset="0"/>
                </a:rPr>
                <a:t>倍为偏瘦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那么现有这个地区某中学一个男生身高</a:t>
              </a:r>
              <a:r>
                <a:rPr lang="en-US" altLang="zh-CN" dirty="0">
                  <a:solidFill>
                    <a:srgbClr val="000000"/>
                  </a:solidFill>
                  <a:ea typeface="宋体" panose="02010600030101010101" pitchFamily="2" charset="-122"/>
                  <a:cs typeface="Times New Roman" panose="02020603050405020304" pitchFamily="18" charset="0"/>
                </a:rPr>
                <a:t>175 cm,</a:t>
              </a:r>
              <a:r>
                <a:rPr lang="zh-CN" altLang="zh-CN" dirty="0">
                  <a:solidFill>
                    <a:srgbClr val="000000"/>
                  </a:solidFill>
                  <a:ea typeface="宋体" panose="02010600030101010101" pitchFamily="2" charset="-122"/>
                  <a:cs typeface="Times New Roman" panose="02020603050405020304" pitchFamily="18" charset="0"/>
                </a:rPr>
                <a:t>体重</a:t>
              </a:r>
              <a:r>
                <a:rPr lang="en-US" altLang="zh-CN" dirty="0">
                  <a:solidFill>
                    <a:srgbClr val="000000"/>
                  </a:solidFill>
                  <a:ea typeface="宋体" panose="02010600030101010101" pitchFamily="2" charset="-122"/>
                  <a:cs typeface="Times New Roman" panose="02020603050405020304" pitchFamily="18" charset="0"/>
                </a:rPr>
                <a:t>78 kg,</a:t>
              </a:r>
              <a:r>
                <a:rPr lang="zh-CN" altLang="zh-CN" dirty="0">
                  <a:solidFill>
                    <a:srgbClr val="000000"/>
                  </a:solidFill>
                  <a:ea typeface="宋体" panose="02010600030101010101" pitchFamily="2" charset="-122"/>
                  <a:cs typeface="Times New Roman" panose="02020603050405020304" pitchFamily="18" charset="0"/>
                </a:rPr>
                <a:t>他的体重是否正常</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049861081"/>
      </p:ext>
    </p:extLst>
  </p:cSld>
  <p:clrMapOvr>
    <a:masterClrMapping/>
  </p:clrMapOvr>
  <p:transition spd="slow">
    <p:wheel spokes="1"/>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61950" y="739471"/>
            <a:ext cx="10807700" cy="5538121"/>
            <a:chOff x="361950" y="647799"/>
            <a:chExt cx="10807700" cy="5538121"/>
          </a:xfrm>
        </p:grpSpPr>
        <p:sp>
          <p:nvSpPr>
            <p:cNvPr id="3" name="矩形 2"/>
            <p:cNvSpPr>
              <a:spLocks noChangeAspect="1"/>
            </p:cNvSpPr>
            <p:nvPr/>
          </p:nvSpPr>
          <p:spPr>
            <a:xfrm>
              <a:off x="361950" y="647799"/>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smtClean="0">
                  <a:solidFill>
                    <a:schemeClr val="tx1"/>
                  </a:solidFill>
                  <a:latin typeface="Arial" panose="020B0604020202020204" pitchFamily="34" charset="0"/>
                  <a:cs typeface="Times New Roman" panose="02020603050405020304" pitchFamily="18" charset="0"/>
                </a:rPr>
                <a:t>分析数据</a:t>
              </a:r>
              <a:r>
                <a:rPr lang="en-US" altLang="zh-CN" dirty="0" smtClean="0">
                  <a:solidFill>
                    <a:schemeClr val="tx1"/>
                  </a:solidFill>
                  <a:latin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该</a:t>
              </a:r>
              <a:r>
                <a:rPr lang="zh-CN" altLang="zh-CN" dirty="0">
                  <a:solidFill>
                    <a:srgbClr val="000000"/>
                  </a:solidFill>
                  <a:ea typeface="宋体" panose="02010600030101010101" pitchFamily="2" charset="-122"/>
                  <a:cs typeface="Times New Roman" panose="02020603050405020304" pitchFamily="18" charset="0"/>
                </a:rPr>
                <a:t>地区未成年男性的体重与身高之间存在函数关系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但没有现成的函数模型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因此可以根据给出的数据画出散点图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利用图象直观地分析这组数据的变化规律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从而帮助我们选择函数模型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以身高</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为横坐标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体重</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为纵坐标</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画</a:t>
              </a:r>
              <a:r>
                <a:rPr lang="zh-CN" altLang="zh-CN" dirty="0">
                  <a:solidFill>
                    <a:srgbClr val="000000"/>
                  </a:solidFill>
                  <a:ea typeface="宋体" panose="02010600030101010101" pitchFamily="2" charset="-122"/>
                  <a:cs typeface="Times New Roman" panose="02020603050405020304" pitchFamily="18" charset="0"/>
                </a:rPr>
                <a:t>出散点图如图所示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8" name="NMG1TRA96.eps" descr="id:2147506695;FounderCES"/>
            <p:cNvPicPr/>
            <p:nvPr/>
          </p:nvPicPr>
          <p:blipFill>
            <a:blip r:embed="rId2"/>
            <a:stretch>
              <a:fillRect/>
            </a:stretch>
          </p:blipFill>
          <p:spPr>
            <a:xfrm>
              <a:off x="7489229" y="2520007"/>
              <a:ext cx="2880320" cy="2386456"/>
            </a:xfrm>
            <a:prstGeom prst="rect">
              <a:avLst/>
            </a:prstGeom>
          </p:spPr>
        </p:pic>
        <p:sp>
          <p:nvSpPr>
            <p:cNvPr id="5" name="矩形 4"/>
            <p:cNvSpPr>
              <a:spLocks noChangeAspect="1"/>
            </p:cNvSpPr>
            <p:nvPr/>
          </p:nvSpPr>
          <p:spPr>
            <a:xfrm>
              <a:off x="361950" y="4968279"/>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根据散点图中点的分布情况</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可考虑用</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i="1" baseline="30000" dirty="0" err="1">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作为刻画这个地区未成年男性的体重与身高关系的函数模型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884705306"/>
      </p:ext>
    </p:extLst>
  </p:cSld>
  <p:clrMapOvr>
    <a:masterClrMapping/>
  </p:clrMapOvr>
  <p:transition spd="slow">
    <p:wheel spokes="1"/>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70333059"/>
              </p:ext>
            </p:extLst>
          </p:nvPr>
        </p:nvGraphicFramePr>
        <p:xfrm>
          <a:off x="432445" y="1367879"/>
          <a:ext cx="11671959" cy="3422045"/>
        </p:xfrm>
        <a:graphic>
          <a:graphicData uri="http://schemas.openxmlformats.org/presentationml/2006/ole">
            <mc:AlternateContent xmlns:mc="http://schemas.openxmlformats.org/markup-compatibility/2006">
              <mc:Choice xmlns:v="urn:schemas-microsoft-com:vml" Requires="v">
                <p:oleObj spid="_x0000_s5129" name="文档" r:id="rId4" imgW="3826872" imgH="1121982" progId="Word.Document.12">
                  <p:embed/>
                </p:oleObj>
              </mc:Choice>
              <mc:Fallback>
                <p:oleObj name="文档" r:id="rId4" imgW="3826872" imgH="1121982" progId="Word.Document.12">
                  <p:embed/>
                  <p:pic>
                    <p:nvPicPr>
                      <p:cNvPr id="0" name=""/>
                      <p:cNvPicPr/>
                      <p:nvPr/>
                    </p:nvPicPr>
                    <p:blipFill>
                      <a:blip r:embed="rId5"/>
                      <a:stretch>
                        <a:fillRect/>
                      </a:stretch>
                    </p:blipFill>
                    <p:spPr>
                      <a:xfrm>
                        <a:off x="432445" y="1367879"/>
                        <a:ext cx="11671959" cy="3422045"/>
                      </a:xfrm>
                      <a:prstGeom prst="rect">
                        <a:avLst/>
                      </a:prstGeom>
                    </p:spPr>
                  </p:pic>
                </p:oleObj>
              </mc:Fallback>
            </mc:AlternateContent>
          </a:graphicData>
        </a:graphic>
      </p:graphicFrame>
    </p:spTree>
    <p:extLst>
      <p:ext uri="{BB962C8B-B14F-4D97-AF65-F5344CB8AC3E}">
        <p14:creationId xmlns:p14="http://schemas.microsoft.com/office/powerpoint/2010/main" val="3187235855"/>
      </p:ext>
    </p:extLst>
  </p:cSld>
  <p:clrMapOvr>
    <a:masterClrMapping/>
  </p:clrMapOvr>
  <p:transition spd="slow">
    <p:wheel spokes="1"/>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70890"/>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检验模型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作出上述函数的图象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图略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之后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可以发现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这个函数模型与已知数据的拟合程度较好</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这说明它能较好地反映这个地区未成年男性体重与身高的关系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求解问题</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175</a:t>
            </a:r>
            <a:r>
              <a:rPr lang="zh-CN" altLang="zh-CN" dirty="0">
                <a:solidFill>
                  <a:srgbClr val="000000"/>
                </a:solidFill>
                <a:ea typeface="宋体" panose="02010600030101010101" pitchFamily="2" charset="-122"/>
                <a:cs typeface="Times New Roman" panose="02020603050405020304" pitchFamily="18" charset="0"/>
              </a:rPr>
              <a:t>代入</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i="1" baseline="30000"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02</a:t>
            </a:r>
            <a:r>
              <a:rPr lang="en-US" altLang="zh-CN" baseline="30000" dirty="0">
                <a:solidFill>
                  <a:srgbClr val="000000"/>
                </a:solidFill>
                <a:ea typeface="宋体" panose="02010600030101010101" pitchFamily="2" charset="-122"/>
                <a:cs typeface="Times New Roman" panose="02020603050405020304" pitchFamily="18" charset="0"/>
              </a:rPr>
              <a:t>175</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由计算器可算得</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≈63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98,</a:t>
            </a:r>
            <a:r>
              <a:rPr lang="zh-CN" altLang="zh-CN" dirty="0">
                <a:solidFill>
                  <a:srgbClr val="000000"/>
                </a:solidFill>
                <a:ea typeface="宋体" panose="02010600030101010101" pitchFamily="2"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78</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63</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98≈1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22</a:t>
            </a:r>
            <a:r>
              <a:rPr lang="en-US" altLang="zh-CN" i="1" dirty="0">
                <a:solidFill>
                  <a:srgbClr val="000000"/>
                </a:solidFill>
                <a:ea typeface="宋体" panose="02010600030101010101" pitchFamily="2" charset="-122"/>
                <a:cs typeface="Times New Roman" panose="02020603050405020304" pitchFamily="18" charset="0"/>
              </a:rPr>
              <a:t>&gt;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所以这个男性体型偏胖</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079970490"/>
      </p:ext>
    </p:extLst>
  </p:cSld>
  <p:clrMapOvr>
    <a:masterClrMapping/>
  </p:clrMapOvr>
  <p:transition spd="slow">
    <p:wheel spokes="1"/>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628135"/>
            <a:ext cx="10807700" cy="5807362"/>
            <a:chOff x="361950" y="628135"/>
            <a:chExt cx="10807700" cy="5807362"/>
          </a:xfrm>
        </p:grpSpPr>
        <p:sp>
          <p:nvSpPr>
            <p:cNvPr id="2" name="矩形 1"/>
            <p:cNvSpPr>
              <a:spLocks noChangeAspect="1"/>
            </p:cNvSpPr>
            <p:nvPr/>
          </p:nvSpPr>
          <p:spPr>
            <a:xfrm>
              <a:off x="361950" y="628135"/>
              <a:ext cx="10807700" cy="1274195"/>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【典例</a:t>
              </a:r>
              <a:r>
                <a:rPr lang="en-US" altLang="zh-CN" dirty="0">
                  <a:solidFill>
                    <a:srgbClr val="000000"/>
                  </a:solidFill>
                  <a:ea typeface="宋体" panose="02010600030101010101" pitchFamily="2" charset="-122"/>
                </a:rPr>
                <a:t>2</a:t>
              </a:r>
              <a:r>
                <a:rPr lang="zh-CN" altLang="zh-CN" dirty="0" smtClean="0">
                  <a:solidFill>
                    <a:srgbClr val="000000"/>
                  </a:solidFill>
                  <a:latin typeface="Arial" panose="020B0604020202020204" pitchFamily="34" charset="0"/>
                  <a:cs typeface="Times New Roman" panose="02020603050405020304" pitchFamily="18" charset="0"/>
                </a:rPr>
                <a:t>】</a:t>
              </a:r>
              <a:r>
                <a:rPr lang="zh-CN" altLang="en-US" dirty="0">
                  <a:solidFill>
                    <a:srgbClr val="000000"/>
                  </a:solidFill>
                  <a:ea typeface="宋体" panose="02010600030101010101" pitchFamily="2" charset="-122"/>
                  <a:cs typeface="Times New Roman" panose="02020603050405020304" pitchFamily="18" charset="0"/>
                </a:rPr>
                <a:t>某</a:t>
              </a:r>
              <a:r>
                <a:rPr lang="zh-CN" altLang="zh-CN" dirty="0" smtClean="0">
                  <a:solidFill>
                    <a:srgbClr val="000000"/>
                  </a:solidFill>
                  <a:ea typeface="宋体" panose="02010600030101010101" pitchFamily="2" charset="-122"/>
                  <a:cs typeface="Times New Roman" panose="02020603050405020304" pitchFamily="18" charset="0"/>
                </a:rPr>
                <a:t>个体</a:t>
              </a:r>
              <a:r>
                <a:rPr lang="zh-CN" altLang="zh-CN" dirty="0">
                  <a:solidFill>
                    <a:srgbClr val="000000"/>
                  </a:solidFill>
                  <a:ea typeface="宋体" panose="02010600030101010101" pitchFamily="2" charset="-122"/>
                  <a:cs typeface="Times New Roman" panose="02020603050405020304" pitchFamily="18" charset="0"/>
                </a:rPr>
                <a:t>经营者把开始六个月试销</a:t>
              </a:r>
              <a:r>
                <a:rPr lang="en-US" altLang="zh-CN" dirty="0">
                  <a:solidFill>
                    <a:srgbClr val="000000"/>
                  </a:solidFill>
                  <a:ea typeface="宋体" panose="02010600030101010101" pitchFamily="2" charset="-122"/>
                </a:rPr>
                <a:t>A,B</a:t>
              </a:r>
              <a:r>
                <a:rPr lang="zh-CN" altLang="zh-CN" dirty="0">
                  <a:solidFill>
                    <a:srgbClr val="000000"/>
                  </a:solidFill>
                  <a:ea typeface="宋体" panose="02010600030101010101" pitchFamily="2" charset="-122"/>
                  <a:cs typeface="Times New Roman" panose="02020603050405020304" pitchFamily="18" charset="0"/>
                </a:rPr>
                <a:t>两种商品的逐月投资与所获纯利润列成下表</a:t>
              </a:r>
              <a:r>
                <a:rPr lang="en-US" altLang="zh-CN" dirty="0">
                  <a:solidFill>
                    <a:srgbClr val="000000"/>
                  </a:solidFill>
                  <a:ea typeface="宋体" panose="02010600030101010101" pitchFamily="2" charset="-122"/>
                </a:rPr>
                <a: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66247219"/>
                </p:ext>
              </p:extLst>
            </p:nvPr>
          </p:nvGraphicFramePr>
          <p:xfrm>
            <a:off x="380755" y="1842439"/>
            <a:ext cx="10770091" cy="2820981"/>
          </p:xfrm>
          <a:graphic>
            <a:graphicData uri="http://schemas.openxmlformats.org/presentationml/2006/ole">
              <mc:AlternateContent xmlns:mc="http://schemas.openxmlformats.org/markup-compatibility/2006">
                <mc:Choice xmlns:v="urn:schemas-microsoft-com:vml" Requires="v">
                  <p:oleObj spid="_x0000_s6153" name="文档" r:id="rId4" imgW="3884295" imgH="1017403" progId="Word.Document.12">
                    <p:embed/>
                  </p:oleObj>
                </mc:Choice>
                <mc:Fallback>
                  <p:oleObj name="文档" r:id="rId4" imgW="3884295" imgH="1017403" progId="Word.Document.12">
                    <p:embed/>
                    <p:pic>
                      <p:nvPicPr>
                        <p:cNvPr id="0" name=""/>
                        <p:cNvPicPr/>
                        <p:nvPr/>
                      </p:nvPicPr>
                      <p:blipFill>
                        <a:blip r:embed="rId5"/>
                        <a:stretch>
                          <a:fillRect/>
                        </a:stretch>
                      </p:blipFill>
                      <p:spPr>
                        <a:xfrm>
                          <a:off x="380755" y="1842439"/>
                          <a:ext cx="10770091" cy="2820981"/>
                        </a:xfrm>
                        <a:prstGeom prst="rect">
                          <a:avLst/>
                        </a:prstGeom>
                      </p:spPr>
                    </p:pic>
                  </p:oleObj>
                </mc:Fallback>
              </mc:AlternateContent>
            </a:graphicData>
          </a:graphic>
        </p:graphicFrame>
        <p:sp>
          <p:nvSpPr>
            <p:cNvPr id="5" name="矩形 4"/>
            <p:cNvSpPr>
              <a:spLocks noChangeAspect="1"/>
            </p:cNvSpPr>
            <p:nvPr/>
          </p:nvSpPr>
          <p:spPr>
            <a:xfrm>
              <a:off x="361950" y="3979440"/>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该经营者准备下月投入</a:t>
              </a:r>
              <a:r>
                <a:rPr lang="en-US" altLang="zh-CN" dirty="0">
                  <a:solidFill>
                    <a:srgbClr val="000000"/>
                  </a:solidFill>
                  <a:ea typeface="宋体" panose="02010600030101010101" pitchFamily="2" charset="-122"/>
                  <a:cs typeface="Times New Roman" panose="02020603050405020304" pitchFamily="18" charset="0"/>
                </a:rPr>
                <a:t>12</a:t>
              </a:r>
              <a:r>
                <a:rPr lang="zh-CN" altLang="zh-CN" dirty="0">
                  <a:solidFill>
                    <a:srgbClr val="000000"/>
                  </a:solidFill>
                  <a:ea typeface="宋体" panose="02010600030101010101" pitchFamily="2" charset="-122"/>
                  <a:cs typeface="Times New Roman" panose="02020603050405020304" pitchFamily="18" charset="0"/>
                </a:rPr>
                <a:t>万元经营这两种商品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但不知投入</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两种商品各多少钱才最合算</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请你帮助制定一个资金投入方案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使该经营者能获得最大利润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并按你的方案求出该经营者下月可获得的最大纯利润</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结果精确到</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320902451"/>
      </p:ext>
    </p:extLst>
  </p:cSld>
  <p:clrMapOvr>
    <a:masterClrMapping/>
  </p:clrMapOvr>
  <p:transition spd="slow">
    <p:wheel spokes="1"/>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51967"/>
            <a:ext cx="10807700" cy="417229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chemeClr val="tx1"/>
                </a:solidFill>
                <a:latin typeface="Arial" panose="020B0604020202020204" pitchFamily="34" charset="0"/>
                <a:cs typeface="Times New Roman" panose="02020603050405020304" pitchFamily="18" charset="0"/>
              </a:rPr>
              <a:t>分析</a:t>
            </a:r>
            <a:r>
              <a:rPr lang="zh-CN" altLang="zh-CN" dirty="0" smtClean="0">
                <a:solidFill>
                  <a:schemeClr val="tx1"/>
                </a:solidFill>
                <a:latin typeface="Arial" panose="020B0604020202020204" pitchFamily="34" charset="0"/>
                <a:cs typeface="Times New Roman" panose="02020603050405020304" pitchFamily="18" charset="0"/>
              </a:rPr>
              <a:t>数据</a:t>
            </a:r>
            <a:r>
              <a:rPr lang="en-US" altLang="zh-CN" dirty="0" smtClean="0">
                <a:solidFill>
                  <a:schemeClr val="tx1"/>
                </a:solidFill>
                <a:latin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由</a:t>
            </a:r>
            <a:r>
              <a:rPr lang="zh-CN" altLang="zh-CN" dirty="0">
                <a:solidFill>
                  <a:srgbClr val="000000"/>
                </a:solidFill>
                <a:ea typeface="宋体" panose="02010600030101010101" pitchFamily="2" charset="-122"/>
                <a:cs typeface="Times New Roman" panose="02020603050405020304" pitchFamily="18" charset="0"/>
              </a:rPr>
              <a:t>表中数据可知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该个体经营者试销</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两种商品所获纯利润与投资金额有关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随投资金额的变化而变化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二者之间存在某种函数关系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但这种函数关系没有明确给出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我们可以根据给出的数据画出散点图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借助散点图直观地分析这组数据的变化规律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从而帮助我们选择函数模型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以投资额</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为横坐标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纯利润</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为纵坐标</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在平面直角坐标系中画出散点图如下图</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7" name="NMG1TRA97.eps" descr="id:2147506710;FounderCES"/>
          <p:cNvPicPr/>
          <p:nvPr/>
        </p:nvPicPr>
        <p:blipFill>
          <a:blip r:embed="rId2"/>
          <a:stretch>
            <a:fillRect/>
          </a:stretch>
        </p:blipFill>
        <p:spPr>
          <a:xfrm>
            <a:off x="5387399" y="4227611"/>
            <a:ext cx="2749902" cy="2122364"/>
          </a:xfrm>
          <a:prstGeom prst="rect">
            <a:avLst/>
          </a:prstGeom>
        </p:spPr>
      </p:pic>
    </p:spTree>
    <p:extLst>
      <p:ext uri="{BB962C8B-B14F-4D97-AF65-F5344CB8AC3E}">
        <p14:creationId xmlns:p14="http://schemas.microsoft.com/office/powerpoint/2010/main" val="1934213527"/>
      </p:ext>
    </p:extLst>
  </p:cSld>
  <p:clrMapOvr>
    <a:masterClrMapping/>
  </p:clrMapOvr>
  <p:transition spd="slow">
    <p:wheel spokes="1"/>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215159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由散点图可知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可以用二次函数模型近似表示投资</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种商品所获纯利润与投资额的关系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用一次函数模型近似表示投资</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种商品所获纯利润与投资额的关系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03163334"/>
      </p:ext>
    </p:extLst>
  </p:cSld>
  <p:clrMapOvr>
    <a:masterClrMapping/>
  </p:clrMapOvr>
  <p:transition spd="slow">
    <p:wheel spokes="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66249"/>
            <a:ext cx="10807700" cy="5354158"/>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建立模型</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设投资</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种商品所获纯利润</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与投资额</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的函数解析式为</a:t>
            </a:r>
            <a:r>
              <a:rPr lang="en-US" altLang="zh-CN" i="1" dirty="0">
                <a:solidFill>
                  <a:srgbClr val="000000"/>
                </a:solidFill>
                <a:ea typeface="宋体" panose="02010600030101010101" pitchFamily="2" charset="-122"/>
                <a:cs typeface="Times New Roman" panose="02020603050405020304" pitchFamily="18" charset="0"/>
              </a:rPr>
              <a:t>y=-a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latin typeface="NEU-BZ-S92"/>
                <a:ea typeface="宋体" panose="02010600030101010101" pitchFamily="2" charset="-122"/>
                <a:cs typeface="宋体" panose="02010600030101010101" pitchFamily="2" charset="-122"/>
              </a:rPr>
              <a:t>①</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把</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65</a:t>
            </a:r>
            <a:r>
              <a:rPr lang="zh-CN" altLang="zh-CN" dirty="0">
                <a:solidFill>
                  <a:srgbClr val="000000"/>
                </a:solidFill>
                <a:ea typeface="宋体" panose="02010600030101010101" pitchFamily="2" charset="-122"/>
                <a:cs typeface="Times New Roman" panose="02020603050405020304" pitchFamily="18" charset="0"/>
              </a:rPr>
              <a:t>代入</a:t>
            </a: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65</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故前六个月所获纯利润关于月投资</a:t>
            </a: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种商品的金额的函数关系可近似地用</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表示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设投资</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种商品所获纯利润</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与投资额</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的函数解析式为</a:t>
            </a:r>
            <a:r>
              <a:rPr lang="en-US" altLang="zh-CN" i="1" dirty="0">
                <a:solidFill>
                  <a:srgbClr val="000000"/>
                </a:solidFill>
                <a:ea typeface="宋体" panose="02010600030101010101" pitchFamily="2" charset="-122"/>
                <a:cs typeface="Times New Roman" panose="02020603050405020304" pitchFamily="18" charset="0"/>
              </a:rPr>
              <a:t>y=bx.</a:t>
            </a:r>
            <a:r>
              <a:rPr lang="zh-CN" altLang="zh-CN" dirty="0">
                <a:solidFill>
                  <a:srgbClr val="000000"/>
                </a:solidFill>
                <a:latin typeface="NEU-BZ-S92"/>
                <a:ea typeface="宋体" panose="02010600030101010101" pitchFamily="2" charset="-122"/>
                <a:cs typeface="宋体" panose="02010600030101010101" pitchFamily="2" charset="-122"/>
              </a:rPr>
              <a:t>②</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宋体" panose="02010600030101010101" pitchFamily="2" charset="-122"/>
                <a:cs typeface="Times New Roman" panose="02020603050405020304" pitchFamily="18" charset="0"/>
              </a:rPr>
              <a:t>再把</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代入</a:t>
            </a: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式得</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故前六个月所获纯利润关于月投资</a:t>
            </a: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种商品的金额的函数关系可近似地用</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表示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71846501"/>
      </p:ext>
    </p:extLst>
  </p:cSld>
  <p:clrMapOvr>
    <a:masterClrMapping/>
  </p:clrMapOvr>
  <p:transition spd="slow">
    <p:wheel spokes="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632672"/>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检验模型</a:t>
            </a:r>
            <a:r>
              <a:rPr lang="en-US" altLang="zh-CN" dirty="0">
                <a:solidFill>
                  <a:srgbClr val="000000"/>
                </a:solidFill>
                <a:latin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将已知的表中数据代入上述得到的函数解析式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或者画出函数的图象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可以发现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这两个函数模型与实际数据基本吻合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这说明它们能较好地反映投资两种商品所获纯利润与投资额的关系</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14022365"/>
      </p:ext>
    </p:extLst>
  </p:cSld>
  <p:clrMapOvr>
    <a:masterClrMapping/>
  </p:clrMapOvr>
  <p:transition spd="slow">
    <p:wheel spokes="1"/>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1133300"/>
            <a:ext cx="11741150" cy="4031339"/>
            <a:chOff x="361950" y="989284"/>
            <a:chExt cx="11741150" cy="4031339"/>
          </a:xfrm>
        </p:grpSpPr>
        <p:sp>
          <p:nvSpPr>
            <p:cNvPr id="3" name="矩形 2"/>
            <p:cNvSpPr>
              <a:spLocks noChangeAspect="1"/>
            </p:cNvSpPr>
            <p:nvPr/>
          </p:nvSpPr>
          <p:spPr>
            <a:xfrm>
              <a:off x="361950" y="989284"/>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求解问题</a:t>
              </a:r>
              <a:r>
                <a:rPr lang="en-US" altLang="zh-CN" dirty="0">
                  <a:solidFill>
                    <a:srgbClr val="000000"/>
                  </a:solidFill>
                  <a:latin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令下月投入</a:t>
              </a:r>
              <a:r>
                <a:rPr lang="en-US" altLang="zh-CN" dirty="0">
                  <a:solidFill>
                    <a:srgbClr val="000000"/>
                  </a:solidFill>
                  <a:ea typeface="宋体" panose="02010600030101010101" pitchFamily="2" charset="-122"/>
                  <a:cs typeface="Times New Roman" panose="02020603050405020304" pitchFamily="18" charset="0"/>
                </a:rPr>
                <a:t>A,B</a:t>
              </a:r>
              <a:r>
                <a:rPr lang="zh-CN" altLang="zh-CN" dirty="0">
                  <a:solidFill>
                    <a:srgbClr val="000000"/>
                  </a:solidFill>
                  <a:ea typeface="宋体" panose="02010600030101010101" pitchFamily="2" charset="-122"/>
                  <a:cs typeface="Times New Roman" panose="02020603050405020304" pitchFamily="18" charset="0"/>
                </a:rPr>
                <a:t>商品的资金分别为</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baseline="-25000"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baseline="-25000" dirty="0" err="1">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总利润为</a:t>
              </a:r>
              <a:r>
                <a:rPr lang="en-US" altLang="zh-CN" i="1" dirty="0">
                  <a:solidFill>
                    <a:srgbClr val="000000"/>
                  </a:solidFill>
                  <a:ea typeface="宋体" panose="02010600030101010101" pitchFamily="2" charset="-122"/>
                  <a:cs typeface="Times New Roman" panose="02020603050405020304" pitchFamily="18" charset="0"/>
                </a:rPr>
                <a:t>W</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746215451"/>
                </p:ext>
              </p:extLst>
            </p:nvPr>
          </p:nvGraphicFramePr>
          <p:xfrm>
            <a:off x="430213" y="2266310"/>
            <a:ext cx="11672887" cy="2754313"/>
          </p:xfrm>
          <a:graphic>
            <a:graphicData uri="http://schemas.openxmlformats.org/presentationml/2006/ole">
              <mc:AlternateContent xmlns:mc="http://schemas.openxmlformats.org/markup-compatibility/2006">
                <mc:Choice xmlns:v="urn:schemas-microsoft-com:vml" Requires="v">
                  <p:oleObj spid="_x0000_s7177" name="文档" r:id="rId4" imgW="3837724" imgH="907565" progId="Word.Document.12">
                    <p:embed/>
                  </p:oleObj>
                </mc:Choice>
                <mc:Fallback>
                  <p:oleObj name="文档" r:id="rId4" imgW="3837724" imgH="907565" progId="Word.Document.12">
                    <p:embed/>
                    <p:pic>
                      <p:nvPicPr>
                        <p:cNvPr id="0" name=""/>
                        <p:cNvPicPr/>
                        <p:nvPr/>
                      </p:nvPicPr>
                      <p:blipFill>
                        <a:blip r:embed="rId5"/>
                        <a:stretch>
                          <a:fillRect/>
                        </a:stretch>
                      </p:blipFill>
                      <p:spPr>
                        <a:xfrm>
                          <a:off x="430213" y="2266310"/>
                          <a:ext cx="11672887" cy="2754313"/>
                        </a:xfrm>
                        <a:prstGeom prst="rect">
                          <a:avLst/>
                        </a:prstGeom>
                      </p:spPr>
                    </p:pic>
                  </p:oleObj>
                </mc:Fallback>
              </mc:AlternateContent>
            </a:graphicData>
          </a:graphic>
        </p:graphicFrame>
      </p:grpSp>
    </p:spTree>
    <p:extLst>
      <p:ext uri="{BB962C8B-B14F-4D97-AF65-F5344CB8AC3E}">
        <p14:creationId xmlns:p14="http://schemas.microsoft.com/office/powerpoint/2010/main" val="980885294"/>
      </p:ext>
    </p:extLst>
  </p:cSld>
  <p:clrMapOvr>
    <a:masterClrMapping/>
  </p:clrMapOvr>
  <p:transition spd="slow">
    <p:wheel spokes="1"/>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44413" y="975159"/>
            <a:ext cx="11844910" cy="4248472"/>
            <a:chOff x="144413" y="719807"/>
            <a:chExt cx="11844910" cy="4248472"/>
          </a:xfrm>
        </p:grpSpPr>
        <p:sp>
          <p:nvSpPr>
            <p:cNvPr id="2" name="矩形 1"/>
            <p:cNvSpPr>
              <a:spLocks noChangeAspect="1"/>
            </p:cNvSpPr>
            <p:nvPr/>
          </p:nvSpPr>
          <p:spPr>
            <a:xfrm>
              <a:off x="361950" y="719807"/>
              <a:ext cx="10807700" cy="1808572"/>
            </a:xfrm>
            <a:prstGeom prst="rect">
              <a:avLst/>
            </a:prstGeom>
          </p:spPr>
          <p:txBody>
            <a:bodyPr>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某商场经营一批进价为</a:t>
              </a:r>
              <a:r>
                <a:rPr lang="en-US" altLang="zh-CN" dirty="0">
                  <a:solidFill>
                    <a:srgbClr val="000000"/>
                  </a:solidFill>
                  <a:ea typeface="宋体" panose="02010600030101010101" pitchFamily="2" charset="-122"/>
                </a:rPr>
                <a:t>12</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个的小商品</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在</a:t>
              </a:r>
              <a:r>
                <a:rPr lang="en-US" altLang="zh-CN" dirty="0">
                  <a:solidFill>
                    <a:srgbClr val="000000"/>
                  </a:solidFill>
                  <a:ea typeface="宋体" panose="02010600030101010101" pitchFamily="2" charset="-122"/>
                </a:rPr>
                <a:t>4</a:t>
              </a:r>
              <a:r>
                <a:rPr lang="zh-CN" altLang="zh-CN" dirty="0">
                  <a:solidFill>
                    <a:srgbClr val="000000"/>
                  </a:solidFill>
                  <a:ea typeface="宋体" panose="02010600030101010101" pitchFamily="2" charset="-122"/>
                  <a:cs typeface="Times New Roman" panose="02020603050405020304" pitchFamily="18" charset="0"/>
                </a:rPr>
                <a:t>天的试销过程中</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对此商品的单价</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与相应的日销售量</a:t>
              </a:r>
              <a:r>
                <a:rPr lang="en-US" altLang="zh-CN" i="1" dirty="0">
                  <a:solidFill>
                    <a:srgbClr val="000000"/>
                  </a:solidFill>
                  <a:ea typeface="宋体" panose="02010600030101010101" pitchFamily="2" charset="-122"/>
                </a:rPr>
                <a:t>y</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个</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作了统计</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其数据如下</a:t>
              </a:r>
              <a:r>
                <a:rPr lang="en-US" altLang="zh-CN" dirty="0">
                  <a:solidFill>
                    <a:srgbClr val="000000"/>
                  </a:solidFill>
                  <a:ea typeface="宋体" panose="02010600030101010101" pitchFamily="2" charset="-122"/>
                </a:rPr>
                <a:t>:</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955142202"/>
                </p:ext>
              </p:extLst>
            </p:nvPr>
          </p:nvGraphicFramePr>
          <p:xfrm>
            <a:off x="144413" y="2538700"/>
            <a:ext cx="11844910" cy="1853515"/>
          </p:xfrm>
          <a:graphic>
            <a:graphicData uri="http://schemas.openxmlformats.org/presentationml/2006/ole">
              <mc:AlternateContent xmlns:mc="http://schemas.openxmlformats.org/markup-compatibility/2006">
                <mc:Choice xmlns:v="urn:schemas-microsoft-com:vml" Requires="v">
                  <p:oleObj spid="_x0000_s8200" name="文档" r:id="rId4" imgW="3883577" imgH="607710" progId="Word.Document.12">
                    <p:embed/>
                  </p:oleObj>
                </mc:Choice>
                <mc:Fallback>
                  <p:oleObj name="文档" r:id="rId4" imgW="3883577" imgH="607710" progId="Word.Document.12">
                    <p:embed/>
                    <p:pic>
                      <p:nvPicPr>
                        <p:cNvPr id="0" name=""/>
                        <p:cNvPicPr/>
                        <p:nvPr/>
                      </p:nvPicPr>
                      <p:blipFill>
                        <a:blip r:embed="rId5"/>
                        <a:stretch>
                          <a:fillRect/>
                        </a:stretch>
                      </p:blipFill>
                      <p:spPr>
                        <a:xfrm>
                          <a:off x="144413" y="2538700"/>
                          <a:ext cx="11844910" cy="1853515"/>
                        </a:xfrm>
                        <a:prstGeom prst="rect">
                          <a:avLst/>
                        </a:prstGeom>
                      </p:spPr>
                    </p:pic>
                  </p:oleObj>
                </mc:Fallback>
              </mc:AlternateContent>
            </a:graphicData>
          </a:graphic>
        </p:graphicFrame>
        <p:sp>
          <p:nvSpPr>
            <p:cNvPr id="7" name="矩形 6"/>
            <p:cNvSpPr>
              <a:spLocks noChangeAspect="1"/>
            </p:cNvSpPr>
            <p:nvPr/>
          </p:nvSpPr>
          <p:spPr>
            <a:xfrm>
              <a:off x="361950" y="3750638"/>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试确定该商场应将此商品单价定为多少元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才能使日销售利润最大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并求出最大利润</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93977067"/>
      </p:ext>
    </p:extLst>
  </p:cSld>
  <p:clrMapOvr>
    <a:masterClrMapping/>
  </p:clrMapOvr>
  <p:transition spd="slow">
    <p:wheel spokes="1"/>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768814"/>
            <a:ext cx="10807700" cy="5351593"/>
            <a:chOff x="361950" y="647799"/>
            <a:chExt cx="10807700" cy="5351593"/>
          </a:xfrm>
        </p:grpSpPr>
        <p:sp>
          <p:nvSpPr>
            <p:cNvPr id="3" name="矩形 2"/>
            <p:cNvSpPr>
              <a:spLocks noChangeAspect="1"/>
            </p:cNvSpPr>
            <p:nvPr/>
          </p:nvSpPr>
          <p:spPr>
            <a:xfrm>
              <a:off x="361950" y="647799"/>
              <a:ext cx="6479207" cy="4228850"/>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分析</a:t>
              </a:r>
              <a:r>
                <a:rPr lang="zh-CN" altLang="zh-CN" dirty="0">
                  <a:solidFill>
                    <a:srgbClr val="000000"/>
                  </a:solidFill>
                  <a:latin typeface="Arial" panose="020B0604020202020204" pitchFamily="34" charset="0"/>
                  <a:cs typeface="Times New Roman" panose="02020603050405020304" pitchFamily="18" charset="0"/>
                </a:rPr>
                <a:t>数据</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smtClean="0">
                  <a:solidFill>
                    <a:srgbClr val="000000"/>
                  </a:solidFill>
                  <a:ea typeface="宋体" panose="02010600030101010101" pitchFamily="2" charset="-122"/>
                  <a:cs typeface="Times New Roman" panose="02020603050405020304" pitchFamily="18" charset="0"/>
                </a:rPr>
                <a:t>由</a:t>
              </a:r>
              <a:r>
                <a:rPr lang="zh-CN" altLang="en-US" dirty="0" smtClean="0">
                  <a:solidFill>
                    <a:srgbClr val="000000"/>
                  </a:solidFill>
                  <a:ea typeface="宋体" panose="02010600030101010101" pitchFamily="2" charset="-122"/>
                  <a:cs typeface="Times New Roman" panose="02020603050405020304" pitchFamily="18" charset="0"/>
                </a:rPr>
                <a:t>题中表格</a:t>
              </a:r>
              <a:r>
                <a:rPr lang="zh-CN" altLang="zh-CN" dirty="0" smtClean="0">
                  <a:solidFill>
                    <a:srgbClr val="000000"/>
                  </a:solidFill>
                  <a:ea typeface="宋体" panose="02010600030101010101" pitchFamily="2" charset="-122"/>
                  <a:cs typeface="Times New Roman" panose="02020603050405020304" pitchFamily="18" charset="0"/>
                </a:rPr>
                <a:t>数据</a:t>
              </a:r>
              <a:r>
                <a:rPr lang="zh-CN" altLang="zh-CN" dirty="0">
                  <a:solidFill>
                    <a:srgbClr val="000000"/>
                  </a:solidFill>
                  <a:ea typeface="宋体" panose="02010600030101010101" pitchFamily="2" charset="-122"/>
                  <a:cs typeface="Times New Roman" panose="02020603050405020304" pitchFamily="18" charset="0"/>
                </a:rPr>
                <a:t>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日</a:t>
              </a:r>
              <a:r>
                <a:rPr lang="zh-CN" altLang="zh-CN" dirty="0" smtClean="0">
                  <a:solidFill>
                    <a:srgbClr val="000000"/>
                  </a:solidFill>
                  <a:ea typeface="宋体" panose="02010600030101010101" pitchFamily="2" charset="-122"/>
                  <a:cs typeface="Times New Roman" panose="02020603050405020304" pitchFamily="18" charset="0"/>
                </a:rPr>
                <a:t>销售量</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smtClean="0">
                  <a:solidFill>
                    <a:srgbClr val="000000"/>
                  </a:solidFill>
                  <a:ea typeface="宋体" panose="02010600030101010101" pitchFamily="2" charset="-122"/>
                  <a:cs typeface="Times New Roman" panose="02020603050405020304" pitchFamily="18" charset="0"/>
                </a:rPr>
                <a:t>随单价</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smtClean="0">
                  <a:solidFill>
                    <a:srgbClr val="000000"/>
                  </a:solidFill>
                  <a:ea typeface="宋体" panose="02010600030101010101" pitchFamily="2" charset="-122"/>
                  <a:cs typeface="Times New Roman" panose="02020603050405020304" pitchFamily="18" charset="0"/>
                </a:rPr>
                <a:t>的</a:t>
              </a:r>
              <a:r>
                <a:rPr lang="zh-CN" altLang="zh-CN" dirty="0">
                  <a:solidFill>
                    <a:srgbClr val="000000"/>
                  </a:solidFill>
                  <a:ea typeface="宋体" panose="02010600030101010101" pitchFamily="2" charset="-122"/>
                  <a:cs typeface="Times New Roman" panose="02020603050405020304" pitchFamily="18" charset="0"/>
                </a:rPr>
                <a:t>变化而变化</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二者之间存在函数关系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但这种函数关系没有明确给出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我们可以根据给出的数据画出散点图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借助散点图直观地分析这组数据的变化规律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从而帮助我们选择函数模型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9" name="NMG1TRA98.eps" descr="id:2147506725;FounderCES"/>
            <p:cNvPicPr/>
            <p:nvPr/>
          </p:nvPicPr>
          <p:blipFill>
            <a:blip r:embed="rId2"/>
            <a:stretch>
              <a:fillRect/>
            </a:stretch>
          </p:blipFill>
          <p:spPr>
            <a:xfrm>
              <a:off x="7345213" y="791815"/>
              <a:ext cx="3024336" cy="3835122"/>
            </a:xfrm>
            <a:prstGeom prst="rect">
              <a:avLst/>
            </a:prstGeom>
          </p:spPr>
        </p:pic>
        <p:sp>
          <p:nvSpPr>
            <p:cNvPr id="4" name="矩形 3"/>
            <p:cNvSpPr>
              <a:spLocks noChangeAspect="1"/>
            </p:cNvSpPr>
            <p:nvPr/>
          </p:nvSpPr>
          <p:spPr>
            <a:xfrm>
              <a:off x="361950" y="4781751"/>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由散点图可知</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日销售量</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与单价</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的关系可用一次函数模型来近似表示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2549448987"/>
      </p:ext>
    </p:extLst>
  </p:cSld>
  <p:clrMapOvr>
    <a:masterClrMapping/>
  </p:clrMapOvr>
  <p:transition spd="slow">
    <p:wheel spokes="1"/>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61950" y="863823"/>
            <a:ext cx="11804630" cy="4896544"/>
            <a:chOff x="361950" y="791815"/>
            <a:chExt cx="11804630" cy="4896544"/>
          </a:xfrm>
        </p:grpSpPr>
        <p:sp>
          <p:nvSpPr>
            <p:cNvPr id="2" name="矩形 1"/>
            <p:cNvSpPr>
              <a:spLocks noChangeAspect="1"/>
            </p:cNvSpPr>
            <p:nvPr/>
          </p:nvSpPr>
          <p:spPr>
            <a:xfrm>
              <a:off x="361950" y="79181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建立模型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设日销售量</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与单价</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的函数解析式为</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kx+b</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16</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42;</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30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2206668781"/>
                </p:ext>
              </p:extLst>
            </p:nvPr>
          </p:nvGraphicFramePr>
          <p:xfrm>
            <a:off x="494621" y="2621572"/>
            <a:ext cx="11671959" cy="1241890"/>
          </p:xfrm>
          <a:graphic>
            <a:graphicData uri="http://schemas.openxmlformats.org/presentationml/2006/ole">
              <mc:AlternateContent xmlns:mc="http://schemas.openxmlformats.org/markup-compatibility/2006">
                <mc:Choice xmlns:v="urn:schemas-microsoft-com:vml" Requires="v">
                  <p:oleObj spid="_x0000_s9224" name="文档" r:id="rId4" imgW="3826872" imgH="407177" progId="Word.Document.12">
                    <p:embed/>
                  </p:oleObj>
                </mc:Choice>
                <mc:Fallback>
                  <p:oleObj name="文档" r:id="rId4" imgW="3826872" imgH="407177" progId="Word.Document.12">
                    <p:embed/>
                    <p:pic>
                      <p:nvPicPr>
                        <p:cNvPr id="0" name=""/>
                        <p:cNvPicPr/>
                        <p:nvPr/>
                      </p:nvPicPr>
                      <p:blipFill>
                        <a:blip r:embed="rId5"/>
                        <a:stretch>
                          <a:fillRect/>
                        </a:stretch>
                      </p:blipFill>
                      <p:spPr>
                        <a:xfrm>
                          <a:off x="494621" y="2621572"/>
                          <a:ext cx="11671959" cy="1241890"/>
                        </a:xfrm>
                        <a:prstGeom prst="rect">
                          <a:avLst/>
                        </a:prstGeom>
                      </p:spPr>
                    </p:pic>
                  </p:oleObj>
                </mc:Fallback>
              </mc:AlternateContent>
            </a:graphicData>
          </a:graphic>
        </p:graphicFrame>
        <p:sp>
          <p:nvSpPr>
            <p:cNvPr id="7" name="矩形 6"/>
            <p:cNvSpPr>
              <a:spLocks noChangeAspect="1"/>
            </p:cNvSpPr>
            <p:nvPr/>
          </p:nvSpPr>
          <p:spPr>
            <a:xfrm>
              <a:off x="361950" y="3879787"/>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由</a:t>
              </a: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代入</a:t>
              </a:r>
              <a:r>
                <a:rPr lang="zh-CN" altLang="zh-CN" dirty="0">
                  <a:solidFill>
                    <a:srgbClr val="000000"/>
                  </a:solidFill>
                  <a:latin typeface="NEU-BZ-S92"/>
                  <a:ea typeface="宋体" panose="02010600030101010101" pitchFamily="2" charset="-122"/>
                  <a:cs typeface="宋体" panose="02010600030101010101" pitchFamily="2" charset="-122"/>
                </a:rPr>
                <a:t>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b=</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07132471"/>
      </p:ext>
    </p:extLst>
  </p:cSld>
  <p:clrMapOvr>
    <a:masterClrMapping/>
  </p:clrMapOvr>
  <p:transition spd="slow">
    <p:wheel spokes="1"/>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63823"/>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检验模型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将表中数据代入所得解析式进行验证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可以发现数据完全吻合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所以日销售量关于单价的函数解析式</a:t>
            </a:r>
            <a:r>
              <a:rPr lang="zh-CN" altLang="zh-CN" dirty="0" smtClean="0">
                <a:solidFill>
                  <a:srgbClr val="000000"/>
                </a:solidFill>
                <a:ea typeface="宋体" panose="02010600030101010101" pitchFamily="2" charset="-122"/>
                <a:cs typeface="Times New Roman" panose="02020603050405020304" pitchFamily="18" charset="0"/>
              </a:rPr>
              <a:t>为</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smtClean="0">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求解问题</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因为日销售</a:t>
            </a:r>
            <a:r>
              <a:rPr lang="zh-CN" altLang="zh-CN" dirty="0" smtClean="0">
                <a:solidFill>
                  <a:srgbClr val="000000"/>
                </a:solidFill>
                <a:ea typeface="宋体" panose="02010600030101010101" pitchFamily="2" charset="-122"/>
                <a:cs typeface="Times New Roman" panose="02020603050405020304" pitchFamily="18" charset="0"/>
              </a:rPr>
              <a:t>利润</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smtClean="0">
                <a:solidFill>
                  <a:srgbClr val="000000"/>
                </a:solidFill>
                <a:ea typeface="宋体" panose="02010600030101010101" pitchFamily="2" charset="-122"/>
                <a:cs typeface="Times New Roman" panose="02020603050405020304" pitchFamily="18" charset="0"/>
              </a:rPr>
              <a:t>P</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1 080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21)</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243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因为二次函数图象开口向下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所以当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21</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P</a:t>
            </a:r>
            <a:r>
              <a:rPr lang="zh-CN" altLang="en-US">
                <a:solidFill>
                  <a:srgbClr val="000000"/>
                </a:solidFill>
                <a:ea typeface="宋体" panose="02010600030101010101" pitchFamily="2" charset="-122"/>
                <a:cs typeface="Times New Roman" panose="02020603050405020304" pitchFamily="18" charset="0"/>
              </a:rPr>
              <a:t>取得</a:t>
            </a:r>
            <a:r>
              <a:rPr lang="zh-CN" altLang="zh-CN" smtClean="0">
                <a:solidFill>
                  <a:srgbClr val="000000"/>
                </a:solidFill>
                <a:ea typeface="宋体" panose="02010600030101010101" pitchFamily="2" charset="-122"/>
                <a:cs typeface="Times New Roman" panose="02020603050405020304" pitchFamily="18" charset="0"/>
              </a:rPr>
              <a:t>最大</a:t>
            </a:r>
            <a:r>
              <a:rPr lang="zh-CN" altLang="en-US" smtClean="0">
                <a:solidFill>
                  <a:srgbClr val="000000"/>
                </a:solidFill>
                <a:ea typeface="宋体" panose="02010600030101010101" pitchFamily="2" charset="-122"/>
                <a:cs typeface="Times New Roman" panose="02020603050405020304" pitchFamily="18" charset="0"/>
              </a:rPr>
              <a:t>值</a:t>
            </a:r>
            <a:r>
              <a:rPr lang="zh-CN" altLang="zh-CN" smtClean="0">
                <a:solidFill>
                  <a:srgbClr val="000000"/>
                </a:solidFill>
                <a:ea typeface="宋体" panose="02010600030101010101" pitchFamily="2" charset="-122"/>
                <a:cs typeface="Times New Roman" panose="02020603050405020304" pitchFamily="18" charset="0"/>
              </a:rPr>
              <a:t>为</a:t>
            </a:r>
            <a:r>
              <a:rPr lang="en-US" altLang="zh-CN" dirty="0">
                <a:solidFill>
                  <a:srgbClr val="000000"/>
                </a:solidFill>
                <a:ea typeface="宋体" panose="02010600030101010101" pitchFamily="2" charset="-122"/>
                <a:cs typeface="Times New Roman" panose="02020603050405020304" pitchFamily="18" charset="0"/>
              </a:rPr>
              <a:t>243</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即商品单价为</a:t>
            </a:r>
            <a:r>
              <a:rPr lang="en-US" altLang="zh-CN" dirty="0">
                <a:solidFill>
                  <a:srgbClr val="000000"/>
                </a:solidFill>
                <a:ea typeface="宋体" panose="02010600030101010101" pitchFamily="2" charset="-122"/>
                <a:cs typeface="Times New Roman" panose="02020603050405020304" pitchFamily="18" charset="0"/>
              </a:rPr>
              <a:t>21</a:t>
            </a:r>
            <a:r>
              <a:rPr lang="zh-CN" altLang="zh-CN" dirty="0">
                <a:solidFill>
                  <a:srgbClr val="000000"/>
                </a:solidFill>
                <a:ea typeface="宋体" panose="02010600030101010101" pitchFamily="2" charset="-122"/>
                <a:cs typeface="Times New Roman" panose="02020603050405020304" pitchFamily="18" charset="0"/>
              </a:rPr>
              <a:t>元时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利润最大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最大值为</a:t>
            </a:r>
            <a:r>
              <a:rPr lang="en-US" altLang="zh-CN" dirty="0">
                <a:solidFill>
                  <a:srgbClr val="000000"/>
                </a:solidFill>
                <a:ea typeface="宋体" panose="02010600030101010101" pitchFamily="2" charset="-122"/>
                <a:cs typeface="Times New Roman" panose="02020603050405020304" pitchFamily="18" charset="0"/>
              </a:rPr>
              <a:t>243</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0529856"/>
      </p:ext>
    </p:extLst>
  </p:cSld>
  <p:clrMapOvr>
    <a:masterClrMapping/>
  </p:clrMapOvr>
  <p:transition spd="slow">
    <p:wheel spokes="1"/>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18</TotalTime>
  <Words>1739</Words>
  <Application>Microsoft Office PowerPoint</Application>
  <PresentationFormat>自定义</PresentationFormat>
  <Paragraphs>68</Paragraphs>
  <Slides>30</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2" baseType="lpstr">
      <vt:lpstr>NEU-BZ-S92</vt:lpstr>
      <vt:lpstr>方正书宋_GBK</vt:lpstr>
      <vt:lpstr>方正正中黑简体</vt:lpstr>
      <vt:lpstr>黑体</vt:lpstr>
      <vt:lpstr>楷体</vt:lpstr>
      <vt:lpstr>隶书</vt:lpstr>
      <vt:lpstr>宋体</vt:lpstr>
      <vt:lpstr>Arial</vt:lpstr>
      <vt:lpstr>Calibri</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9</cp:revision>
  <dcterms:created xsi:type="dcterms:W3CDTF">2020-09-12T05:36:12Z</dcterms:created>
  <dcterms:modified xsi:type="dcterms:W3CDTF">2025-08-18T05:29:23Z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