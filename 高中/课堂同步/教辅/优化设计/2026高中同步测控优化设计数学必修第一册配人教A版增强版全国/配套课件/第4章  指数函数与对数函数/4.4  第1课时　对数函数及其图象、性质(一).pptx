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731" r:id="rId2"/>
    <p:sldId id="753" r:id="rId3"/>
    <p:sldId id="736" r:id="rId4"/>
    <p:sldId id="744" r:id="rId5"/>
    <p:sldId id="746" r:id="rId6"/>
    <p:sldId id="749" r:id="rId7"/>
    <p:sldId id="756" r:id="rId8"/>
    <p:sldId id="757" r:id="rId9"/>
    <p:sldId id="758" r:id="rId10"/>
    <p:sldId id="759" r:id="rId11"/>
    <p:sldId id="760" r:id="rId12"/>
    <p:sldId id="761" r:id="rId13"/>
    <p:sldId id="763" r:id="rId14"/>
    <p:sldId id="762" r:id="rId15"/>
    <p:sldId id="737" r:id="rId16"/>
    <p:sldId id="750" r:id="rId17"/>
    <p:sldId id="764" r:id="rId18"/>
    <p:sldId id="765" r:id="rId19"/>
    <p:sldId id="766" r:id="rId20"/>
    <p:sldId id="754" r:id="rId21"/>
    <p:sldId id="767" r:id="rId22"/>
    <p:sldId id="768" r:id="rId23"/>
    <p:sldId id="769" r:id="rId24"/>
    <p:sldId id="770" r:id="rId25"/>
    <p:sldId id="771" r:id="rId26"/>
    <p:sldId id="755" r:id="rId27"/>
    <p:sldId id="772" r:id="rId28"/>
    <p:sldId id="773" r:id="rId29"/>
    <p:sldId id="774" r:id="rId30"/>
    <p:sldId id="775" r:id="rId31"/>
    <p:sldId id="747" r:id="rId32"/>
    <p:sldId id="751" r:id="rId33"/>
    <p:sldId id="776" r:id="rId34"/>
    <p:sldId id="777" r:id="rId35"/>
    <p:sldId id="778" r:id="rId36"/>
    <p:sldId id="748" r:id="rId37"/>
    <p:sldId id="752" r:id="rId38"/>
    <p:sldId id="779" r:id="rId39"/>
    <p:sldId id="780" r:id="rId40"/>
    <p:sldId id="781" r:id="rId41"/>
    <p:sldId id="735" r:id="rId42"/>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18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41</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slide" Target="slide31.xml"/><Relationship Id="rId4" Type="http://schemas.openxmlformats.org/officeDocument/2006/relationships/slide" Target="slide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0.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3.bin"/><Relationship Id="rId7" Type="http://schemas.openxmlformats.org/officeDocument/2006/relationships/package" Target="../embeddings/Microsoft_Word___4.docx"/><Relationship Id="rId2" Type="http://schemas.openxmlformats.org/officeDocument/2006/relationships/slideLayout" Target="../slideLayouts/slideLayout5.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5.bin"/><Relationship Id="rId7" Type="http://schemas.openxmlformats.org/officeDocument/2006/relationships/package" Target="../embeddings/Microsoft_Word___6.docx"/><Relationship Id="rId2" Type="http://schemas.openxmlformats.org/officeDocument/2006/relationships/slideLayout" Target="../slideLayouts/slideLayout5.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7.bin"/><Relationship Id="rId7" Type="http://schemas.openxmlformats.org/officeDocument/2006/relationships/package" Target="../embeddings/Microsoft_Word___8.docx"/><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9.bin"/><Relationship Id="rId7" Type="http://schemas.openxmlformats.org/officeDocument/2006/relationships/package" Target="../embeddings/Microsoft_Word___10.docx"/><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3.emf"/><Relationship Id="rId4" Type="http://schemas.openxmlformats.org/officeDocument/2006/relationships/package" Target="../embeddings/Microsoft_Word___11.docx"/></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6.emf"/><Relationship Id="rId4" Type="http://schemas.openxmlformats.org/officeDocument/2006/relationships/package" Target="../embeddings/Microsoft_Word___12.docx"/></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7.emf"/><Relationship Id="rId4" Type="http://schemas.openxmlformats.org/officeDocument/2006/relationships/package" Target="../embeddings/Microsoft_Word___13.doc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package" Target="../embeddings/Microsoft_Word___15.docx"/><Relationship Id="rId3" Type="http://schemas.openxmlformats.org/officeDocument/2006/relationships/image" Target="../media/image20.jpeg"/><Relationship Id="rId7"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18.emf"/><Relationship Id="rId5" Type="http://schemas.openxmlformats.org/officeDocument/2006/relationships/package" Target="../embeddings/Microsoft_Word___14.docx"/><Relationship Id="rId4" Type="http://schemas.openxmlformats.org/officeDocument/2006/relationships/oleObject" Target="../embeddings/oleObject14.bin"/><Relationship Id="rId9" Type="http://schemas.openxmlformats.org/officeDocument/2006/relationships/image" Target="../media/image1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21.emf"/><Relationship Id="rId4" Type="http://schemas.openxmlformats.org/officeDocument/2006/relationships/package" Target="../embeddings/Microsoft_Word___16.docx"/></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22.emf"/><Relationship Id="rId4" Type="http://schemas.openxmlformats.org/officeDocument/2006/relationships/package" Target="../embeddings/Microsoft_Word___17.docx"/></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23.emf"/><Relationship Id="rId4" Type="http://schemas.openxmlformats.org/officeDocument/2006/relationships/package" Target="../embeddings/Microsoft_Word___18.docx"/></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19.bin"/><Relationship Id="rId7" Type="http://schemas.openxmlformats.org/officeDocument/2006/relationships/package" Target="../embeddings/Microsoft_Word___20.docx"/><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oleObject" Target="../embeddings/oleObject20.bin"/><Relationship Id="rId5" Type="http://schemas.openxmlformats.org/officeDocument/2006/relationships/image" Target="../media/image25.emf"/><Relationship Id="rId4" Type="http://schemas.openxmlformats.org/officeDocument/2006/relationships/package" Target="../embeddings/Microsoft_Word___19.docx"/></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159967"/>
            <a:ext cx="10807700" cy="1975926"/>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5400" dirty="0">
                <a:solidFill>
                  <a:srgbClr val="002060"/>
                </a:solidFill>
                <a:ea typeface="宋体" panose="02010600030101010101" pitchFamily="2" charset="-122"/>
                <a:cs typeface="Times New Roman" panose="02020603050405020304" pitchFamily="18" charset="0"/>
              </a:rPr>
              <a:t>4.4</a:t>
            </a:r>
            <a:r>
              <a:rPr lang="zh-CN" altLang="zh-CN" sz="5400" dirty="0">
                <a:solidFill>
                  <a:srgbClr val="002060"/>
                </a:solidFill>
                <a:ea typeface="宋体" panose="02010600030101010101" pitchFamily="2" charset="-122"/>
                <a:cs typeface="Times New Roman" panose="02020603050405020304" pitchFamily="18" charset="0"/>
              </a:rPr>
              <a:t>　</a:t>
            </a:r>
            <a:r>
              <a:rPr lang="zh-CN" altLang="zh-CN" sz="5400" dirty="0">
                <a:solidFill>
                  <a:srgbClr val="002060"/>
                </a:solidFill>
                <a:latin typeface="Arial" panose="020B0604020202020204" pitchFamily="34" charset="0"/>
                <a:cs typeface="Times New Roman" panose="02020603050405020304" pitchFamily="18" charset="0"/>
              </a:rPr>
              <a:t>对数函数</a:t>
            </a:r>
            <a:endParaRPr lang="zh-CN" altLang="zh-CN" sz="5400" dirty="0">
              <a:solidFill>
                <a:srgbClr val="00206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4800" dirty="0">
                <a:solidFill>
                  <a:srgbClr val="002060"/>
                </a:solidFill>
                <a:latin typeface="Arial" panose="020B0604020202020204" pitchFamily="34" charset="0"/>
                <a:cs typeface="Times New Roman" panose="02020603050405020304" pitchFamily="18" charset="0"/>
              </a:rPr>
              <a:t>第</a:t>
            </a:r>
            <a:r>
              <a:rPr lang="en-US" altLang="zh-CN" sz="4800" dirty="0">
                <a:solidFill>
                  <a:srgbClr val="002060"/>
                </a:solidFill>
                <a:ea typeface="宋体" panose="02010600030101010101" pitchFamily="2" charset="-122"/>
                <a:cs typeface="Times New Roman" panose="02020603050405020304" pitchFamily="18" charset="0"/>
              </a:rPr>
              <a:t>1</a:t>
            </a:r>
            <a:r>
              <a:rPr lang="zh-CN" altLang="zh-CN" sz="4800" dirty="0">
                <a:solidFill>
                  <a:srgbClr val="002060"/>
                </a:solidFill>
                <a:latin typeface="Arial" panose="020B0604020202020204" pitchFamily="34" charset="0"/>
                <a:cs typeface="Times New Roman" panose="02020603050405020304" pitchFamily="18" charset="0"/>
              </a:rPr>
              <a:t>课时</a:t>
            </a:r>
            <a:r>
              <a:rPr lang="zh-CN" altLang="zh-CN" sz="4800" i="1" dirty="0">
                <a:solidFill>
                  <a:srgbClr val="002060"/>
                </a:solidFill>
                <a:ea typeface="宋体" panose="02010600030101010101" pitchFamily="2" charset="-122"/>
                <a:cs typeface="Times New Roman" panose="02020603050405020304" pitchFamily="18" charset="0"/>
              </a:rPr>
              <a:t>　</a:t>
            </a:r>
            <a:r>
              <a:rPr lang="zh-CN" altLang="zh-CN" sz="4800" dirty="0">
                <a:solidFill>
                  <a:srgbClr val="002060"/>
                </a:solidFill>
                <a:latin typeface="Arial" panose="020B0604020202020204" pitchFamily="34" charset="0"/>
                <a:cs typeface="Times New Roman" panose="02020603050405020304" pitchFamily="18" charset="0"/>
              </a:rPr>
              <a:t>对数函数及其图象、性质</a:t>
            </a:r>
            <a:r>
              <a:rPr lang="en-US" altLang="zh-CN" sz="4800" dirty="0">
                <a:solidFill>
                  <a:srgbClr val="002060"/>
                </a:solidFill>
                <a:ea typeface="宋体" panose="02010600030101010101" pitchFamily="2" charset="-122"/>
                <a:cs typeface="Times New Roman" panose="02020603050405020304" pitchFamily="18" charset="0"/>
              </a:rPr>
              <a:t>(</a:t>
            </a:r>
            <a:r>
              <a:rPr lang="zh-CN" altLang="zh-CN" sz="4800" dirty="0">
                <a:solidFill>
                  <a:srgbClr val="002060"/>
                </a:solidFill>
                <a:latin typeface="Arial" panose="020B0604020202020204" pitchFamily="34" charset="0"/>
                <a:cs typeface="Times New Roman" panose="02020603050405020304" pitchFamily="18" charset="0"/>
              </a:rPr>
              <a:t>一</a:t>
            </a:r>
            <a:r>
              <a:rPr lang="en-US" altLang="zh-CN" sz="4800" dirty="0">
                <a:solidFill>
                  <a:srgbClr val="002060"/>
                </a:solidFill>
                <a:ea typeface="宋体" panose="02010600030101010101" pitchFamily="2" charset="-122"/>
                <a:cs typeface="Times New Roman" panose="02020603050405020304" pitchFamily="18" charset="0"/>
              </a:rPr>
              <a:t>)</a:t>
            </a:r>
            <a:endParaRPr lang="zh-CN" altLang="zh-CN" sz="48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791815"/>
            <a:ext cx="10729192" cy="5060491"/>
            <a:chOff x="360437" y="791815"/>
            <a:chExt cx="10729192" cy="5060491"/>
          </a:xfrm>
        </p:grpSpPr>
        <p:grpSp>
          <p:nvGrpSpPr>
            <p:cNvPr id="13" name="组合 12"/>
            <p:cNvGrpSpPr/>
            <p:nvPr/>
          </p:nvGrpSpPr>
          <p:grpSpPr>
            <a:xfrm>
              <a:off x="360437" y="791815"/>
              <a:ext cx="10729192" cy="5060491"/>
              <a:chOff x="360437" y="1511895"/>
              <a:chExt cx="10729192" cy="3456384"/>
            </a:xfrm>
          </p:grpSpPr>
          <p:sp>
            <p:nvSpPr>
              <p:cNvPr id="2" name="圆角矩形 1"/>
              <p:cNvSpPr/>
              <p:nvPr/>
            </p:nvSpPr>
            <p:spPr>
              <a:xfrm>
                <a:off x="360437" y="1511895"/>
                <a:ext cx="10729192" cy="34563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573017"/>
                <a:ext cx="0" cy="3312368"/>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162741"/>
              <a:ext cx="8496944"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通过具体实例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了解对数函数的概念</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能用描点法或借助计算工具画出具体对数函数的图象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探索并了解对数函数的单调性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知道对数函数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与指数函数</a:t>
              </a:r>
              <a:r>
                <a:rPr lang="en-US" altLang="zh-CN" i="1" dirty="0">
                  <a:solidFill>
                    <a:srgbClr val="000000"/>
                  </a:solidFill>
                  <a:ea typeface="宋体" panose="02010600030101010101" pitchFamily="2" charset="-122"/>
                  <a:cs typeface="Times New Roman" panose="02020603050405020304" pitchFamily="18" charset="0"/>
                </a:rPr>
                <a:t>y=a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互为反函数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感悟数学抽象的过程</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体会直观想象在解决数学问题中的应用</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07906"/>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一、对数函数的概念</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指数函数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的定义域、值域、单调性分别是什么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定义域为</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值域为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上单调递增</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化为对数式得到什么结果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根据这一结果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对于区间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内的每一个</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的值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是否都有唯一的实数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与之对应</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能否看作是关于</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对于区间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内的每一个</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的值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都有唯一的实数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与之对应</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能看作是关于</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的函数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42023"/>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一般</a:t>
            </a:r>
            <a:r>
              <a:rPr lang="zh-CN" altLang="zh-CN" dirty="0">
                <a:solidFill>
                  <a:srgbClr val="000000"/>
                </a:solidFill>
                <a:ea typeface="宋体" panose="02010600030101010101" pitchFamily="2" charset="-122"/>
                <a:cs typeface="Times New Roman" panose="02020603050405020304" pitchFamily="18" charset="0"/>
              </a:rPr>
              <a:t>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err="1" smtClean="0">
                <a:ea typeface="宋体" panose="02010600030101010101" pitchFamily="2" charset="-122"/>
                <a:cs typeface="Times New Roman" panose="02020603050405020304" pitchFamily="18" charset="0"/>
              </a:rPr>
              <a:t>log</a:t>
            </a:r>
            <a:r>
              <a:rPr lang="en-US" altLang="zh-CN" i="1" baseline="-25000" dirty="0" err="1" smtClean="0">
                <a:ea typeface="宋体" panose="02010600030101010101" pitchFamily="2" charset="-122"/>
                <a:cs typeface="Times New Roman" panose="02020603050405020304" pitchFamily="18" charset="0"/>
              </a:rPr>
              <a:t>a</a:t>
            </a:r>
            <a:r>
              <a:rPr lang="en-US" altLang="zh-CN" i="1" dirty="0" err="1" smtClean="0">
                <a:ea typeface="宋体" panose="02010600030101010101" pitchFamily="2" charset="-122"/>
                <a:cs typeface="Times New Roman" panose="02020603050405020304" pitchFamily="18" charset="0"/>
              </a:rPr>
              <a:t>x</a:t>
            </a:r>
            <a:r>
              <a:rPr lang="en-US" altLang="zh-CN" i="1" dirty="0" smtClean="0">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a&gt;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叫做对数函数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是自变量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定义域</a:t>
            </a:r>
            <a:r>
              <a:rPr lang="zh-CN" altLang="zh-CN" dirty="0" smtClean="0">
                <a:solidFill>
                  <a:srgbClr val="000000"/>
                </a:solidFill>
                <a:ea typeface="宋体" panose="02010600030101010101" pitchFamily="2" charset="-122"/>
                <a:cs typeface="Times New Roman" panose="02020603050405020304" pitchFamily="18" charset="0"/>
              </a:rPr>
              <a:t>是</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smtClean="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0,</a:t>
            </a:r>
            <a:r>
              <a:rPr lang="en-US" altLang="zh-CN" i="1" dirty="0">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73493293"/>
              </p:ext>
            </p:extLst>
          </p:nvPr>
        </p:nvGraphicFramePr>
        <p:xfrm>
          <a:off x="430213" y="2427288"/>
          <a:ext cx="11645900" cy="1871662"/>
        </p:xfrm>
        <a:graphic>
          <a:graphicData uri="http://schemas.openxmlformats.org/presentationml/2006/ole">
            <mc:AlternateContent xmlns:mc="http://schemas.openxmlformats.org/markup-compatibility/2006">
              <mc:Choice xmlns:v="urn:schemas-microsoft-com:vml" Requires="v">
                <p:oleObj spid="_x0000_s1051" name="文档" r:id="rId4" imgW="3826872" imgH="616335" progId="Word.Document.12">
                  <p:embed/>
                </p:oleObj>
              </mc:Choice>
              <mc:Fallback>
                <p:oleObj name="文档" r:id="rId4" imgW="3826872" imgH="616335" progId="Word.Document.12">
                  <p:embed/>
                  <p:pic>
                    <p:nvPicPr>
                      <p:cNvPr id="0" name=""/>
                      <p:cNvPicPr/>
                      <p:nvPr/>
                    </p:nvPicPr>
                    <p:blipFill>
                      <a:blip r:embed="rId5"/>
                      <a:stretch>
                        <a:fillRect/>
                      </a:stretch>
                    </p:blipFill>
                    <p:spPr>
                      <a:xfrm>
                        <a:off x="430213" y="2427288"/>
                        <a:ext cx="11645900" cy="1871662"/>
                      </a:xfrm>
                      <a:prstGeom prst="rect">
                        <a:avLst/>
                      </a:prstGeom>
                    </p:spPr>
                  </p:pic>
                </p:oleObj>
              </mc:Fallback>
            </mc:AlternateContent>
          </a:graphicData>
        </a:graphic>
      </p:graphicFrame>
      <p:sp>
        <p:nvSpPr>
          <p:cNvPr id="5" name="矩形 4"/>
          <p:cNvSpPr>
            <a:spLocks noChangeAspect="1"/>
          </p:cNvSpPr>
          <p:nvPr/>
        </p:nvSpPr>
        <p:spPr>
          <a:xfrm>
            <a:off x="361950" y="4357023"/>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6" name="矩形 5"/>
          <p:cNvSpPr/>
          <p:nvPr/>
        </p:nvSpPr>
        <p:spPr>
          <a:xfrm>
            <a:off x="3403128" y="1250085"/>
            <a:ext cx="970641"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3398667" y="1714183"/>
            <a:ext cx="969544"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3038910" y="1826958"/>
            <a:ext cx="117447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034565" y="2291056"/>
            <a:ext cx="117314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867608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583903"/>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二、对数函数的图象与性质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指数函数的性质包括哪些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如何探索对数函数的性质</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指数函数</a:t>
            </a:r>
            <a:r>
              <a:rPr lang="zh-CN" altLang="zh-CN" dirty="0">
                <a:solidFill>
                  <a:srgbClr val="000000"/>
                </a:solidFill>
                <a:ea typeface="楷体" panose="02010609060101010101" pitchFamily="49" charset="-122"/>
                <a:cs typeface="Times New Roman" panose="02020603050405020304" pitchFamily="18" charset="0"/>
              </a:rPr>
              <a:t>的性质包括定义域、值域、单调性、图象过定点等</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先通过列表、描点、连线的方法画具体的对数函数的图象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再研究其性质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最后推广到一般</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9488958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39471"/>
            <a:ext cx="10807700" cy="683264"/>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en-US" altLang="zh-CN" i="1"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对数函数</a:t>
            </a:r>
            <a:r>
              <a:rPr lang="zh-CN" altLang="zh-CN" dirty="0">
                <a:solidFill>
                  <a:srgbClr val="000000"/>
                </a:solidFill>
                <a:ea typeface="宋体" panose="02010600030101010101" pitchFamily="2" charset="-122"/>
                <a:cs typeface="Times New Roman" panose="02020603050405020304" pitchFamily="18" charset="0"/>
              </a:rPr>
              <a:t>的图象与性质</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566398601"/>
              </p:ext>
            </p:extLst>
          </p:nvPr>
        </p:nvGraphicFramePr>
        <p:xfrm>
          <a:off x="-156655" y="1395677"/>
          <a:ext cx="11844910" cy="5407095"/>
        </p:xfrm>
        <a:graphic>
          <a:graphicData uri="http://schemas.openxmlformats.org/presentationml/2006/ole">
            <mc:AlternateContent xmlns:mc="http://schemas.openxmlformats.org/markup-compatibility/2006">
              <mc:Choice xmlns:v="urn:schemas-microsoft-com:vml" Requires="v">
                <p:oleObj spid="_x0000_s2075" name="文档" r:id="rId4" imgW="3883577" imgH="1772818" progId="Word.Document.12">
                  <p:embed/>
                </p:oleObj>
              </mc:Choice>
              <mc:Fallback>
                <p:oleObj name="文档" r:id="rId4" imgW="3883577" imgH="1772818" progId="Word.Document.12">
                  <p:embed/>
                  <p:pic>
                    <p:nvPicPr>
                      <p:cNvPr id="0" name=""/>
                      <p:cNvPicPr/>
                      <p:nvPr/>
                    </p:nvPicPr>
                    <p:blipFill>
                      <a:blip r:embed="rId5"/>
                      <a:stretch>
                        <a:fillRect/>
                      </a:stretch>
                    </p:blipFill>
                    <p:spPr>
                      <a:xfrm>
                        <a:off x="-156655" y="1395677"/>
                        <a:ext cx="11844910" cy="5407095"/>
                      </a:xfrm>
                      <a:prstGeom prst="rect">
                        <a:avLst/>
                      </a:prstGeom>
                    </p:spPr>
                  </p:pic>
                </p:oleObj>
              </mc:Fallback>
            </mc:AlternateContent>
          </a:graphicData>
        </a:graphic>
      </p:graphicFrame>
      <p:sp>
        <p:nvSpPr>
          <p:cNvPr id="5" name="矩形 4"/>
          <p:cNvSpPr/>
          <p:nvPr/>
        </p:nvSpPr>
        <p:spPr>
          <a:xfrm>
            <a:off x="5707562" y="3805393"/>
            <a:ext cx="72925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5702965" y="4269491"/>
            <a:ext cx="728433"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4469490" y="4381457"/>
            <a:ext cx="1507571"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464893" y="4845555"/>
            <a:ext cx="1505868"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4464893" y="4917787"/>
            <a:ext cx="1507571"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4460296" y="5381885"/>
            <a:ext cx="1505868"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4469490" y="5490777"/>
            <a:ext cx="427451"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4464893" y="5954875"/>
            <a:ext cx="426968"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7294721" y="5490777"/>
            <a:ext cx="427451"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7290124" y="5954875"/>
            <a:ext cx="42696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3305027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79730136"/>
              </p:ext>
            </p:extLst>
          </p:nvPr>
        </p:nvGraphicFramePr>
        <p:xfrm>
          <a:off x="452438" y="896503"/>
          <a:ext cx="11644312" cy="1860550"/>
        </p:xfrm>
        <a:graphic>
          <a:graphicData uri="http://schemas.openxmlformats.org/presentationml/2006/ole">
            <mc:AlternateContent xmlns:mc="http://schemas.openxmlformats.org/markup-compatibility/2006">
              <mc:Choice xmlns:v="urn:schemas-microsoft-com:vml" Requires="v">
                <p:oleObj spid="_x0000_s3124" name="文档" r:id="rId4" imgW="3826872" imgH="615257" progId="Word.Document.12">
                  <p:embed/>
                </p:oleObj>
              </mc:Choice>
              <mc:Fallback>
                <p:oleObj name="文档" r:id="rId4" imgW="3826872" imgH="615257" progId="Word.Document.12">
                  <p:embed/>
                  <p:pic>
                    <p:nvPicPr>
                      <p:cNvPr id="0" name=""/>
                      <p:cNvPicPr/>
                      <p:nvPr/>
                    </p:nvPicPr>
                    <p:blipFill>
                      <a:blip r:embed="rId5"/>
                      <a:stretch>
                        <a:fillRect/>
                      </a:stretch>
                    </p:blipFill>
                    <p:spPr>
                      <a:xfrm>
                        <a:off x="452438" y="896503"/>
                        <a:ext cx="11644312" cy="186055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263370436"/>
              </p:ext>
            </p:extLst>
          </p:nvPr>
        </p:nvGraphicFramePr>
        <p:xfrm>
          <a:off x="450816" y="2776590"/>
          <a:ext cx="11671959" cy="2192212"/>
        </p:xfrm>
        <a:graphic>
          <a:graphicData uri="http://schemas.openxmlformats.org/presentationml/2006/ole">
            <mc:AlternateContent xmlns:mc="http://schemas.openxmlformats.org/markup-compatibility/2006">
              <mc:Choice xmlns:v="urn:schemas-microsoft-com:vml" Requires="v">
                <p:oleObj spid="_x0000_s3125" name="文档" r:id="rId7" imgW="3826872" imgH="718758" progId="Word.Document.12">
                  <p:embed/>
                </p:oleObj>
              </mc:Choice>
              <mc:Fallback>
                <p:oleObj name="文档" r:id="rId7" imgW="3826872" imgH="718758" progId="Word.Document.12">
                  <p:embed/>
                  <p:pic>
                    <p:nvPicPr>
                      <p:cNvPr id="0" name=""/>
                      <p:cNvPicPr/>
                      <p:nvPr/>
                    </p:nvPicPr>
                    <p:blipFill>
                      <a:blip r:embed="rId8"/>
                      <a:stretch>
                        <a:fillRect/>
                      </a:stretch>
                    </p:blipFill>
                    <p:spPr>
                      <a:xfrm>
                        <a:off x="450816" y="2776590"/>
                        <a:ext cx="11671959" cy="2192212"/>
                      </a:xfrm>
                      <a:prstGeom prst="rect">
                        <a:avLst/>
                      </a:prstGeom>
                    </p:spPr>
                  </p:pic>
                </p:oleObj>
              </mc:Fallback>
            </mc:AlternateContent>
          </a:graphicData>
        </a:graphic>
      </p:graphicFrame>
      <p:sp>
        <p:nvSpPr>
          <p:cNvPr id="7" name="矩形 6"/>
          <p:cNvSpPr>
            <a:spLocks noChangeAspect="1"/>
          </p:cNvSpPr>
          <p:nvPr/>
        </p:nvSpPr>
        <p:spPr>
          <a:xfrm>
            <a:off x="432445" y="5067794"/>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8350314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79847"/>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三、反函数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给</a:t>
            </a:r>
            <a:r>
              <a:rPr lang="zh-CN" altLang="zh-CN" dirty="0">
                <a:solidFill>
                  <a:srgbClr val="000000"/>
                </a:solidFill>
                <a:ea typeface="宋体" panose="02010600030101010101" pitchFamily="2" charset="-122"/>
                <a:cs typeface="Times New Roman" panose="02020603050405020304" pitchFamily="18" charset="0"/>
              </a:rPr>
              <a:t>出函数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这两个函数的定义域、值域之间有什么关系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的定义域、值域分别是</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的值域、定义域</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在同一平面直角坐标系中作出这两个函数的图象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观察它们有什么关系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的图象关于直线</a:t>
            </a:r>
            <a:r>
              <a:rPr lang="en-US" altLang="zh-CN" i="1" dirty="0">
                <a:solidFill>
                  <a:srgbClr val="000000"/>
                </a:solidFill>
                <a:ea typeface="宋体" panose="02010600030101010101" pitchFamily="2" charset="-122"/>
                <a:cs typeface="Times New Roman" panose="02020603050405020304" pitchFamily="18" charset="0"/>
              </a:rPr>
              <a:t>y=x</a:t>
            </a:r>
            <a:r>
              <a:rPr lang="zh-CN" altLang="zh-CN" dirty="0">
                <a:solidFill>
                  <a:srgbClr val="000000"/>
                </a:solidFill>
                <a:ea typeface="楷体" panose="02010609060101010101" pitchFamily="49" charset="-122"/>
                <a:cs typeface="Times New Roman" panose="02020603050405020304" pitchFamily="18" charset="0"/>
              </a:rPr>
              <a:t>对称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4340368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202303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指数函数</a:t>
            </a:r>
            <a:r>
              <a:rPr lang="en-US" altLang="zh-CN" i="1" dirty="0">
                <a:solidFill>
                  <a:srgbClr val="000000"/>
                </a:solidFill>
                <a:ea typeface="宋体" panose="02010600030101010101" pitchFamily="2" charset="-122"/>
                <a:cs typeface="Times New Roman" panose="02020603050405020304" pitchFamily="18" charset="0"/>
              </a:rPr>
              <a:t>y=a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与对数函数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互为</a:t>
            </a:r>
            <a:r>
              <a:rPr lang="zh-CN" altLang="zh-CN" dirty="0">
                <a:ea typeface="宋体" panose="02010600030101010101" pitchFamily="2" charset="-122"/>
                <a:cs typeface="Times New Roman" panose="02020603050405020304" pitchFamily="18" charset="0"/>
              </a:rPr>
              <a:t>反函数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它们的定义域与值域正好互换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互为反函数的两个函数的图象关于</a:t>
            </a:r>
            <a:r>
              <a:rPr lang="zh-CN" altLang="zh-CN" dirty="0" smtClean="0">
                <a:solidFill>
                  <a:srgbClr val="000000"/>
                </a:solidFill>
                <a:ea typeface="宋体" panose="02010600030101010101" pitchFamily="2" charset="-122"/>
                <a:cs typeface="Times New Roman" panose="02020603050405020304" pitchFamily="18" charset="0"/>
              </a:rPr>
              <a:t>直线</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smtClean="0">
                <a:ea typeface="宋体" panose="02010600030101010101" pitchFamily="2" charset="-122"/>
                <a:cs typeface="Times New Roman" panose="02020603050405020304" pitchFamily="18" charset="0"/>
              </a:rPr>
              <a:t>y=x </a:t>
            </a:r>
            <a:r>
              <a:rPr lang="zh-CN" altLang="zh-CN" dirty="0" smtClean="0">
                <a:solidFill>
                  <a:srgbClr val="000000"/>
                </a:solidFill>
                <a:ea typeface="宋体" panose="02010600030101010101" pitchFamily="2" charset="-122"/>
                <a:cs typeface="Times New Roman" panose="02020603050405020304" pitchFamily="18" charset="0"/>
              </a:rPr>
              <a:t>对称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2453063" y="2683586"/>
            <a:ext cx="119186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2448669" y="3147684"/>
            <a:ext cx="119051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7885266" y="3290702"/>
            <a:ext cx="74005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7880617" y="3754800"/>
            <a:ext cx="73921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0567640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902199132"/>
              </p:ext>
            </p:extLst>
          </p:nvPr>
        </p:nvGraphicFramePr>
        <p:xfrm>
          <a:off x="284163" y="935038"/>
          <a:ext cx="11644312" cy="1250950"/>
        </p:xfrm>
        <a:graphic>
          <a:graphicData uri="http://schemas.openxmlformats.org/presentationml/2006/ole">
            <mc:AlternateContent xmlns:mc="http://schemas.openxmlformats.org/markup-compatibility/2006">
              <mc:Choice xmlns:v="urn:schemas-microsoft-com:vml" Requires="v">
                <p:oleObj spid="_x0000_s4146" name="文档" r:id="rId4" imgW="3826872" imgH="412208" progId="Word.Document.12">
                  <p:embed/>
                </p:oleObj>
              </mc:Choice>
              <mc:Fallback>
                <p:oleObj name="文档" r:id="rId4" imgW="3826872" imgH="412208" progId="Word.Document.12">
                  <p:embed/>
                  <p:pic>
                    <p:nvPicPr>
                      <p:cNvPr id="0" name=""/>
                      <p:cNvPicPr/>
                      <p:nvPr/>
                    </p:nvPicPr>
                    <p:blipFill>
                      <a:blip r:embed="rId5"/>
                      <a:stretch>
                        <a:fillRect/>
                      </a:stretch>
                    </p:blipFill>
                    <p:spPr>
                      <a:xfrm>
                        <a:off x="284163" y="935038"/>
                        <a:ext cx="11644312" cy="12509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151098875"/>
              </p:ext>
            </p:extLst>
          </p:nvPr>
        </p:nvGraphicFramePr>
        <p:xfrm>
          <a:off x="288428" y="2310554"/>
          <a:ext cx="11671959" cy="2585717"/>
        </p:xfrm>
        <a:graphic>
          <a:graphicData uri="http://schemas.openxmlformats.org/presentationml/2006/ole">
            <mc:AlternateContent xmlns:mc="http://schemas.openxmlformats.org/markup-compatibility/2006">
              <mc:Choice xmlns:v="urn:schemas-microsoft-com:vml" Requires="v">
                <p:oleObj spid="_x0000_s4147" name="文档" r:id="rId7" imgW="3837724" imgH="850594" progId="Word.Document.12">
                  <p:embed/>
                </p:oleObj>
              </mc:Choice>
              <mc:Fallback>
                <p:oleObj name="文档" r:id="rId7" imgW="3837724" imgH="850594" progId="Word.Document.12">
                  <p:embed/>
                  <p:pic>
                    <p:nvPicPr>
                      <p:cNvPr id="0" name=""/>
                      <p:cNvPicPr/>
                      <p:nvPr/>
                    </p:nvPicPr>
                    <p:blipFill>
                      <a:blip r:embed="rId8"/>
                      <a:stretch>
                        <a:fillRect/>
                      </a:stretch>
                    </p:blipFill>
                    <p:spPr>
                      <a:xfrm>
                        <a:off x="288428" y="2310554"/>
                        <a:ext cx="11671959" cy="2585717"/>
                      </a:xfrm>
                      <a:prstGeom prst="rect">
                        <a:avLst/>
                      </a:prstGeom>
                    </p:spPr>
                  </p:pic>
                </p:oleObj>
              </mc:Fallback>
            </mc:AlternateContent>
          </a:graphicData>
        </a:graphic>
      </p:graphicFrame>
      <p:sp>
        <p:nvSpPr>
          <p:cNvPr id="5" name="矩形 4"/>
          <p:cNvSpPr>
            <a:spLocks noChangeAspect="1"/>
          </p:cNvSpPr>
          <p:nvPr/>
        </p:nvSpPr>
        <p:spPr>
          <a:xfrm>
            <a:off x="245917" y="4933087"/>
            <a:ext cx="145264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3658369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882620"/>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a:solidFill>
                  <a:srgbClr val="000000"/>
                </a:solidFill>
                <a:latin typeface="Arial" panose="020B0604020202020204" pitchFamily="34" charset="0"/>
                <a:cs typeface="Times New Roman" panose="02020603050405020304" pitchFamily="18" charset="0"/>
              </a:rPr>
              <a:t>【思考辨析】</a:t>
            </a:r>
            <a:r>
              <a:rPr lang="zh-CN" altLang="zh-CN">
                <a:solidFill>
                  <a:srgbClr val="000000"/>
                </a:solidFill>
                <a:latin typeface="NEU-BZ-S92"/>
                <a:ea typeface="Arial" panose="020B0604020202020204" pitchFamily="34" charset="0"/>
                <a:cs typeface="Times New Roman" panose="02020603050405020304" pitchFamily="18" charset="0"/>
              </a:rPr>
              <a:t> </a:t>
            </a:r>
            <a:endParaRPr lang="zh-CN" altLang="zh-CN">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对数函数的定义域为</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都不是对数函数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对数函数的图象一定在</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轴的右侧</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y=x</a:t>
            </a:r>
            <a:r>
              <a:rPr lang="en-US" altLang="zh-CN" baseline="30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互为反函数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对数函数在其定义域上一定是单调函数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5311265" y="277710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065293" y="3286912"/>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201197" y="3888159"/>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625133" y="4505292"/>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306565" y="5040287"/>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0824397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333942" y="719807"/>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800" dirty="0"/>
              <a:t>探究</a:t>
            </a:r>
            <a:r>
              <a:rPr lang="zh-CN" altLang="en-US" sz="2800" dirty="0" smtClean="0"/>
              <a:t>一  对数函数</a:t>
            </a:r>
            <a:r>
              <a:rPr lang="zh-CN" altLang="en-US" sz="2800" dirty="0"/>
              <a:t>的概念及与对数函数有关的函数的定义域</a:t>
            </a:r>
            <a:endParaRPr lang="zh-CN" altLang="zh-CN" sz="2800" dirty="0"/>
          </a:p>
        </p:txBody>
      </p:sp>
      <p:graphicFrame>
        <p:nvGraphicFramePr>
          <p:cNvPr id="2" name="对象 1"/>
          <p:cNvGraphicFramePr>
            <a:graphicFrameLocks noChangeAspect="1"/>
          </p:cNvGraphicFramePr>
          <p:nvPr>
            <p:extLst>
              <p:ext uri="{D42A27DB-BD31-4B8C-83A1-F6EECF244321}">
                <p14:modId xmlns:p14="http://schemas.microsoft.com/office/powerpoint/2010/main" val="2269303311"/>
              </p:ext>
            </p:extLst>
          </p:nvPr>
        </p:nvGraphicFramePr>
        <p:xfrm>
          <a:off x="504453" y="1367879"/>
          <a:ext cx="11671959" cy="2029988"/>
        </p:xfrm>
        <a:graphic>
          <a:graphicData uri="http://schemas.openxmlformats.org/presentationml/2006/ole">
            <mc:AlternateContent xmlns:mc="http://schemas.openxmlformats.org/markup-compatibility/2006">
              <mc:Choice xmlns:v="urn:schemas-microsoft-com:vml" Requires="v">
                <p:oleObj spid="_x0000_s5170" name="文档" r:id="rId4" imgW="3826872" imgH="665570" progId="Word.Document.12">
                  <p:embed/>
                </p:oleObj>
              </mc:Choice>
              <mc:Fallback>
                <p:oleObj name="文档" r:id="rId4" imgW="3826872" imgH="665570" progId="Word.Document.12">
                  <p:embed/>
                  <p:pic>
                    <p:nvPicPr>
                      <p:cNvPr id="0" name=""/>
                      <p:cNvPicPr/>
                      <p:nvPr/>
                    </p:nvPicPr>
                    <p:blipFill>
                      <a:blip r:embed="rId5"/>
                      <a:stretch>
                        <a:fillRect/>
                      </a:stretch>
                    </p:blipFill>
                    <p:spPr>
                      <a:xfrm>
                        <a:off x="504453" y="1367879"/>
                        <a:ext cx="11671959" cy="20299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072433178"/>
              </p:ext>
            </p:extLst>
          </p:nvPr>
        </p:nvGraphicFramePr>
        <p:xfrm>
          <a:off x="476004" y="3442505"/>
          <a:ext cx="11671959" cy="2926606"/>
        </p:xfrm>
        <a:graphic>
          <a:graphicData uri="http://schemas.openxmlformats.org/presentationml/2006/ole">
            <mc:AlternateContent xmlns:mc="http://schemas.openxmlformats.org/markup-compatibility/2006">
              <mc:Choice xmlns:v="urn:schemas-microsoft-com:vml" Requires="v">
                <p:oleObj spid="_x0000_s5171" name="文档" r:id="rId7" imgW="3826872" imgH="959543" progId="Word.Document.12">
                  <p:embed/>
                </p:oleObj>
              </mc:Choice>
              <mc:Fallback>
                <p:oleObj name="文档" r:id="rId7" imgW="3826872" imgH="959543" progId="Word.Document.12">
                  <p:embed/>
                  <p:pic>
                    <p:nvPicPr>
                      <p:cNvPr id="0" name=""/>
                      <p:cNvPicPr/>
                      <p:nvPr/>
                    </p:nvPicPr>
                    <p:blipFill>
                      <a:blip r:embed="rId8"/>
                      <a:stretch>
                        <a:fillRect/>
                      </a:stretch>
                    </p:blipFill>
                    <p:spPr>
                      <a:xfrm>
                        <a:off x="476004" y="3442505"/>
                        <a:ext cx="11671959" cy="2926606"/>
                      </a:xfrm>
                      <a:prstGeom prst="rect">
                        <a:avLst/>
                      </a:prstGeom>
                    </p:spPr>
                  </p:pic>
                </p:oleObj>
              </mc:Fallback>
            </mc:AlternateContent>
          </a:graphicData>
        </a:graphic>
      </p:graphicFrame>
      <p:sp>
        <p:nvSpPr>
          <p:cNvPr id="5" name="矩形 4"/>
          <p:cNvSpPr>
            <a:spLocks noChangeAspect="1"/>
          </p:cNvSpPr>
          <p:nvPr/>
        </p:nvSpPr>
        <p:spPr>
          <a:xfrm>
            <a:off x="8137301" y="2107623"/>
            <a:ext cx="3315331" cy="1217641"/>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zh-CN" altLang="zh-CN" i="1" dirty="0">
                <a:solidFill>
                  <a:srgbClr val="000000"/>
                </a:solidFill>
                <a:ea typeface="宋体" panose="02010600030101010101" pitchFamily="2" charset="-122"/>
                <a:cs typeface="Times New Roman" panose="02020603050405020304" pitchFamily="18" charset="0"/>
              </a:rPr>
              <a:t>　</a:t>
            </a:r>
            <a:endParaRPr lang="en-US" altLang="zh-CN" i="1"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1417235"/>
            <a:ext cx="10807700" cy="3046988"/>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求对数函数的解析式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主要采用待定系数法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通过图象上一个点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定点</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仿宋" panose="02010609060101010101" pitchFamily="49" charset="-122"/>
                <a:cs typeface="Times New Roman" panose="02020603050405020304" pitchFamily="18" charset="0"/>
              </a:rPr>
              <a:t>除外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的坐标即可确定对数函数的解析式</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求与对数函数有关的函数的定义域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可参照一般函数定义域的求法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但要注意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对数的真</a:t>
            </a:r>
            <a:r>
              <a:rPr lang="zh-CN" altLang="zh-CN" dirty="0" smtClean="0">
                <a:solidFill>
                  <a:srgbClr val="000000"/>
                </a:solidFill>
                <a:ea typeface="仿宋" panose="02010609060101010101" pitchFamily="49" charset="-122"/>
                <a:cs typeface="Times New Roman" panose="02020603050405020304" pitchFamily="18" charset="0"/>
              </a:rPr>
              <a:t>数大于</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smtClean="0">
                <a:solidFill>
                  <a:srgbClr val="000000"/>
                </a:solidFill>
                <a:ea typeface="仿宋" panose="02010609060101010101" pitchFamily="49" charset="-122"/>
                <a:cs typeface="Times New Roman" panose="02020603050405020304" pitchFamily="18" charset="0"/>
              </a:rPr>
              <a:t>底数大于</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且不等于</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9310619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780050340"/>
              </p:ext>
            </p:extLst>
          </p:nvPr>
        </p:nvGraphicFramePr>
        <p:xfrm>
          <a:off x="410292" y="585623"/>
          <a:ext cx="10607329" cy="3000120"/>
        </p:xfrm>
        <a:graphic>
          <a:graphicData uri="http://schemas.openxmlformats.org/presentationml/2006/ole">
            <mc:AlternateContent xmlns:mc="http://schemas.openxmlformats.org/markup-compatibility/2006">
              <mc:Choice xmlns:v="urn:schemas-microsoft-com:vml" Requires="v">
                <p:oleObj spid="_x0000_s6182" name="文档" r:id="rId4" imgW="3477813" imgH="983646" progId="Word.Document.12">
                  <p:embed/>
                </p:oleObj>
              </mc:Choice>
              <mc:Fallback>
                <p:oleObj name="文档" r:id="rId4" imgW="3477813" imgH="983646" progId="Word.Document.12">
                  <p:embed/>
                  <p:pic>
                    <p:nvPicPr>
                      <p:cNvPr id="0" name=""/>
                      <p:cNvPicPr/>
                      <p:nvPr/>
                    </p:nvPicPr>
                    <p:blipFill>
                      <a:blip r:embed="rId5"/>
                      <a:stretch>
                        <a:fillRect/>
                      </a:stretch>
                    </p:blipFill>
                    <p:spPr>
                      <a:xfrm>
                        <a:off x="410292" y="585623"/>
                        <a:ext cx="10607329" cy="300012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408851908"/>
              </p:ext>
            </p:extLst>
          </p:nvPr>
        </p:nvGraphicFramePr>
        <p:xfrm>
          <a:off x="399754" y="3628606"/>
          <a:ext cx="10607329" cy="2184105"/>
        </p:xfrm>
        <a:graphic>
          <a:graphicData uri="http://schemas.openxmlformats.org/presentationml/2006/ole">
            <mc:AlternateContent xmlns:mc="http://schemas.openxmlformats.org/markup-compatibility/2006">
              <mc:Choice xmlns:v="urn:schemas-microsoft-com:vml" Requires="v">
                <p:oleObj spid="_x0000_s6183" name="文档" r:id="rId7" imgW="3477813" imgH="716100" progId="Word.Document.12">
                  <p:embed/>
                </p:oleObj>
              </mc:Choice>
              <mc:Fallback>
                <p:oleObj name="文档" r:id="rId7" imgW="3477813" imgH="716100" progId="Word.Document.12">
                  <p:embed/>
                  <p:pic>
                    <p:nvPicPr>
                      <p:cNvPr id="0" name=""/>
                      <p:cNvPicPr/>
                      <p:nvPr/>
                    </p:nvPicPr>
                    <p:blipFill>
                      <a:blip r:embed="rId8"/>
                      <a:stretch>
                        <a:fillRect/>
                      </a:stretch>
                    </p:blipFill>
                    <p:spPr>
                      <a:xfrm>
                        <a:off x="399754" y="3628606"/>
                        <a:ext cx="10607329" cy="2184105"/>
                      </a:xfrm>
                      <a:prstGeom prst="rect">
                        <a:avLst/>
                      </a:prstGeom>
                    </p:spPr>
                  </p:pic>
                </p:oleObj>
              </mc:Fallback>
            </mc:AlternateContent>
          </a:graphicData>
        </a:graphic>
      </p:graphicFrame>
      <p:sp>
        <p:nvSpPr>
          <p:cNvPr id="5" name="矩形 4"/>
          <p:cNvSpPr>
            <a:spLocks noChangeAspect="1"/>
          </p:cNvSpPr>
          <p:nvPr/>
        </p:nvSpPr>
        <p:spPr>
          <a:xfrm>
            <a:off x="355009" y="5779227"/>
            <a:ext cx="562205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(1)CD</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436291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933390713"/>
              </p:ext>
            </p:extLst>
          </p:nvPr>
        </p:nvGraphicFramePr>
        <p:xfrm>
          <a:off x="424269" y="1348215"/>
          <a:ext cx="11671959" cy="2702998"/>
        </p:xfrm>
        <a:graphic>
          <a:graphicData uri="http://schemas.openxmlformats.org/presentationml/2006/ole">
            <mc:AlternateContent xmlns:mc="http://schemas.openxmlformats.org/markup-compatibility/2006">
              <mc:Choice xmlns:v="urn:schemas-microsoft-com:vml" Requires="v">
                <p:oleObj spid="_x0000_s7194" name="文档" r:id="rId4" imgW="3826872" imgH="886229" progId="Word.Document.12">
                  <p:embed/>
                </p:oleObj>
              </mc:Choice>
              <mc:Fallback>
                <p:oleObj name="文档" r:id="rId4" imgW="3826872" imgH="886229" progId="Word.Document.12">
                  <p:embed/>
                  <p:pic>
                    <p:nvPicPr>
                      <p:cNvPr id="0" name=""/>
                      <p:cNvPicPr/>
                      <p:nvPr/>
                    </p:nvPicPr>
                    <p:blipFill>
                      <a:blip r:embed="rId5"/>
                      <a:stretch>
                        <a:fillRect/>
                      </a:stretch>
                    </p:blipFill>
                    <p:spPr>
                      <a:xfrm>
                        <a:off x="424269" y="1348215"/>
                        <a:ext cx="11671959" cy="2702998"/>
                      </a:xfrm>
                      <a:prstGeom prst="rect">
                        <a:avLst/>
                      </a:prstGeom>
                    </p:spPr>
                  </p:pic>
                </p:oleObj>
              </mc:Fallback>
            </mc:AlternateContent>
          </a:graphicData>
        </a:graphic>
      </p:graphicFrame>
      <p:sp>
        <p:nvSpPr>
          <p:cNvPr id="4" name="矩形 3"/>
          <p:cNvSpPr>
            <a:spLocks noChangeAspect="1"/>
          </p:cNvSpPr>
          <p:nvPr/>
        </p:nvSpPr>
        <p:spPr>
          <a:xfrm>
            <a:off x="288429" y="4121335"/>
            <a:ext cx="5325497"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(1)D</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5454291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t>探究</a:t>
            </a:r>
            <a:r>
              <a:rPr lang="zh-CN" altLang="en-US" dirty="0" smtClean="0"/>
              <a:t>二  对数</a:t>
            </a:r>
            <a:r>
              <a:rPr lang="zh-CN" altLang="en-US" dirty="0"/>
              <a:t>型函数的图象及其应用</a:t>
            </a:r>
            <a:endParaRPr lang="zh-CN" altLang="zh-CN" dirty="0"/>
          </a:p>
        </p:txBody>
      </p:sp>
      <p:sp>
        <p:nvSpPr>
          <p:cNvPr id="2" name="矩形 1"/>
          <p:cNvSpPr>
            <a:spLocks noChangeAspect="1"/>
          </p:cNvSpPr>
          <p:nvPr/>
        </p:nvSpPr>
        <p:spPr>
          <a:xfrm>
            <a:off x="361950" y="1314906"/>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的图象不经过</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第一象限</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第二象限</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第三象限</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第四象限</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的图象一定经过定点</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则点</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的坐标为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YMG1TRA114.eps" descr="id:2147496846;FounderCES"/>
          <p:cNvPicPr/>
          <p:nvPr/>
        </p:nvPicPr>
        <p:blipFill>
          <a:blip r:embed="rId2"/>
          <a:stretch>
            <a:fillRect/>
          </a:stretch>
        </p:blipFill>
        <p:spPr>
          <a:xfrm>
            <a:off x="6553125" y="4320207"/>
            <a:ext cx="2016224" cy="1924577"/>
          </a:xfrm>
          <a:prstGeom prst="rect">
            <a:avLst/>
          </a:prstGeom>
        </p:spPr>
      </p:pic>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655911"/>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由题意可知函数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令</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于是</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所以图象经过定点</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(1)D</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7553720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23863"/>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pPr>
            <a:r>
              <a:rPr lang="zh-CN" altLang="zh-CN" dirty="0">
                <a:solidFill>
                  <a:srgbClr val="000000"/>
                </a:solidFill>
                <a:ea typeface="仿宋" panose="02010609060101010101" pitchFamily="49" charset="-122"/>
                <a:cs typeface="Times New Roman" panose="02020603050405020304" pitchFamily="18" charset="0"/>
              </a:rPr>
              <a:t>解决对数型函数图象有关问题的基本</a:t>
            </a:r>
            <a:r>
              <a:rPr lang="zh-CN" altLang="zh-CN" dirty="0" smtClean="0">
                <a:solidFill>
                  <a:srgbClr val="000000"/>
                </a:solidFill>
                <a:ea typeface="仿宋" panose="02010609060101010101" pitchFamily="49" charset="-122"/>
                <a:cs typeface="Times New Roman" panose="02020603050405020304" pitchFamily="18" charset="0"/>
              </a:rPr>
              <a:t>方法</a:t>
            </a:r>
            <a:endParaRPr lang="en-US" altLang="zh-CN" dirty="0"/>
          </a:p>
          <a:p>
            <a:pPr>
              <a:lnSpc>
                <a:spcPct val="120000"/>
              </a:lnSpc>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给出函数的解析式判断函数的图象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应首先考虑函数对应的基本初等函数是哪一种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然后找出函数图象的特殊点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判断函数的定义域、单调性以及奇偶性等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最后综合上述几个方面将图象选出</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解决此类题目常采用排除法</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86804669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367879"/>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根据对数函数图象判断底数大小的方法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作直线</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与所给图象相交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交点的横坐标即为各个对数函数的底数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根据在第一象限内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自左向右图象对应的对数函数的底数逐渐变大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可比较底数的大小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求函数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的图象过定点时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只需令</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求出</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即得</a:t>
            </a:r>
            <a:r>
              <a:rPr lang="zh-CN" altLang="zh-CN" dirty="0" smtClean="0">
                <a:solidFill>
                  <a:srgbClr val="000000"/>
                </a:solidFill>
                <a:ea typeface="仿宋" panose="02010609060101010101" pitchFamily="49" charset="-122"/>
                <a:cs typeface="Times New Roman" panose="02020603050405020304" pitchFamily="18" charset="0"/>
              </a:rPr>
              <a:t>定点</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8388658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53124"/>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分别为函数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A.0</a:t>
            </a:r>
            <a:r>
              <a:rPr lang="en-US" altLang="zh-CN" i="1" dirty="0">
                <a:solidFill>
                  <a:srgbClr val="000000"/>
                </a:solidFill>
                <a:ea typeface="宋体" panose="02010600030101010101" pitchFamily="2" charset="-122"/>
                <a:cs typeface="Times New Roman" panose="02020603050405020304" pitchFamily="18" charset="0"/>
              </a:rPr>
              <a:t>&lt;a&lt;b&lt;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B.0</a:t>
            </a:r>
            <a:r>
              <a:rPr lang="en-US" altLang="zh-CN" i="1" dirty="0">
                <a:solidFill>
                  <a:srgbClr val="000000"/>
                </a:solidFill>
                <a:ea typeface="宋体" panose="02010600030101010101" pitchFamily="2" charset="-122"/>
                <a:cs typeface="Times New Roman" panose="02020603050405020304" pitchFamily="18" charset="0"/>
              </a:rPr>
              <a:t>&lt;b&lt;a&lt;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C.</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&gt;b&gt;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D.</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&gt;a&gt;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x-m</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zh-CN" altLang="en-US" dirty="0" smtClean="0">
                <a:solidFill>
                  <a:srgbClr val="000000"/>
                </a:solidFill>
                <a:ea typeface="宋体" panose="02010600030101010101" pitchFamily="2" charset="-122"/>
                <a:cs typeface="Times New Roman" panose="02020603050405020304" pitchFamily="18" charset="0"/>
              </a:rPr>
              <a:t>的图像</a:t>
            </a:r>
            <a:r>
              <a:rPr lang="zh-CN" altLang="zh-CN" dirty="0" smtClean="0">
                <a:solidFill>
                  <a:srgbClr val="000000"/>
                </a:solidFill>
                <a:ea typeface="宋体" panose="02010600030101010101" pitchFamily="2" charset="-122"/>
                <a:cs typeface="Times New Roman" panose="02020603050405020304" pitchFamily="18" charset="0"/>
              </a:rPr>
              <a:t>恒</a:t>
            </a:r>
            <a:r>
              <a:rPr lang="zh-CN" altLang="zh-CN" dirty="0">
                <a:solidFill>
                  <a:srgbClr val="000000"/>
                </a:solidFill>
                <a:ea typeface="宋体" panose="02010600030101010101" pitchFamily="2" charset="-122"/>
                <a:cs typeface="Times New Roman" panose="02020603050405020304" pitchFamily="18" charset="0"/>
              </a:rPr>
              <a:t>过定点</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2,1),</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的值分别为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YMG1TRA115.eps" descr="id:2147496860;FounderCES"/>
          <p:cNvPicPr/>
          <p:nvPr/>
        </p:nvPicPr>
        <p:blipFill>
          <a:blip r:embed="rId2"/>
          <a:stretch>
            <a:fillRect/>
          </a:stretch>
        </p:blipFill>
        <p:spPr>
          <a:xfrm>
            <a:off x="5256981" y="1583903"/>
            <a:ext cx="2880320" cy="2688139"/>
          </a:xfrm>
          <a:prstGeom prst="rect">
            <a:avLst/>
          </a:prstGeom>
        </p:spPr>
      </p:pic>
    </p:spTree>
    <p:extLst>
      <p:ext uri="{BB962C8B-B14F-4D97-AF65-F5344CB8AC3E}">
        <p14:creationId xmlns:p14="http://schemas.microsoft.com/office/powerpoint/2010/main" val="339062369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704680"/>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作直线</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则直线与</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的交点的横坐标分别为</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易知</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&lt;b&lt;a&lt;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由已知</a:t>
            </a:r>
            <a:r>
              <a:rPr lang="zh-CN" altLang="zh-CN" dirty="0" smtClean="0">
                <a:solidFill>
                  <a:srgbClr val="000000"/>
                </a:solidFill>
                <a:ea typeface="楷体" panose="02010609060101010101" pitchFamily="49" charset="-122"/>
                <a:cs typeface="Times New Roman" panose="02020603050405020304" pitchFamily="18" charset="0"/>
              </a:rPr>
              <a:t>得</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-m=</a:t>
            </a:r>
            <a:r>
              <a:rPr lang="en-US" altLang="zh-CN" dirty="0" smtClean="0">
                <a:solidFill>
                  <a:srgbClr val="000000"/>
                </a:solidFill>
                <a:ea typeface="宋体" panose="02010600030101010101" pitchFamily="2" charset="-122"/>
                <a:cs typeface="Times New Roman" panose="02020603050405020304" pitchFamily="18" charset="0"/>
              </a:rPr>
              <a:t>1,0</a:t>
            </a:r>
            <a:r>
              <a:rPr lang="en-US" altLang="zh-CN" i="1" dirty="0" smtClean="0">
                <a:solidFill>
                  <a:srgbClr val="000000"/>
                </a:solidFill>
                <a:ea typeface="宋体" panose="02010600030101010101" pitchFamily="2" charset="-122"/>
                <a:cs typeface="Times New Roman" panose="02020603050405020304" pitchFamily="18" charset="0"/>
              </a:rPr>
              <a:t>+n=</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(1)B</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3,1</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84005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对数函数</a:t>
            </a:r>
            <a:r>
              <a:rPr lang="zh-CN" altLang="zh-CN" dirty="0"/>
              <a:t>的单调性及其应用</a:t>
            </a:r>
          </a:p>
        </p:txBody>
      </p:sp>
      <p:graphicFrame>
        <p:nvGraphicFramePr>
          <p:cNvPr id="2" name="对象 1"/>
          <p:cNvGraphicFramePr>
            <a:graphicFrameLocks noChangeAspect="1"/>
          </p:cNvGraphicFramePr>
          <p:nvPr>
            <p:extLst>
              <p:ext uri="{D42A27DB-BD31-4B8C-83A1-F6EECF244321}">
                <p14:modId xmlns:p14="http://schemas.microsoft.com/office/powerpoint/2010/main" val="2385204456"/>
              </p:ext>
            </p:extLst>
          </p:nvPr>
        </p:nvGraphicFramePr>
        <p:xfrm>
          <a:off x="504453" y="1943943"/>
          <a:ext cx="11671959" cy="2311690"/>
        </p:xfrm>
        <a:graphic>
          <a:graphicData uri="http://schemas.openxmlformats.org/presentationml/2006/ole">
            <mc:AlternateContent xmlns:mc="http://schemas.openxmlformats.org/markup-compatibility/2006">
              <mc:Choice xmlns:v="urn:schemas-microsoft-com:vml" Requires="v">
                <p:oleObj spid="_x0000_s8215" name="文档" r:id="rId4" imgW="3826872" imgH="757931" progId="Word.Document.12">
                  <p:embed/>
                </p:oleObj>
              </mc:Choice>
              <mc:Fallback>
                <p:oleObj name="文档" r:id="rId4" imgW="3826872" imgH="757931" progId="Word.Document.12">
                  <p:embed/>
                  <p:pic>
                    <p:nvPicPr>
                      <p:cNvPr id="0" name=""/>
                      <p:cNvPicPr/>
                      <p:nvPr/>
                    </p:nvPicPr>
                    <p:blipFill>
                      <a:blip r:embed="rId5"/>
                      <a:stretch>
                        <a:fillRect/>
                      </a:stretch>
                    </p:blipFill>
                    <p:spPr>
                      <a:xfrm>
                        <a:off x="504453" y="1943943"/>
                        <a:ext cx="11671959" cy="2311690"/>
                      </a:xfrm>
                      <a:prstGeom prst="rect">
                        <a:avLst/>
                      </a:prstGeom>
                    </p:spPr>
                  </p:pic>
                </p:oleObj>
              </mc:Fallback>
            </mc:AlternateContent>
          </a:graphicData>
        </a:graphic>
      </p:graphicFrame>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91815"/>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内单调递增</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又因为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&lt;f</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550658728"/>
              </p:ext>
            </p:extLst>
          </p:nvPr>
        </p:nvGraphicFramePr>
        <p:xfrm>
          <a:off x="462135" y="3236571"/>
          <a:ext cx="10607329" cy="2689990"/>
        </p:xfrm>
        <a:graphic>
          <a:graphicData uri="http://schemas.openxmlformats.org/presentationml/2006/ole">
            <mc:AlternateContent xmlns:mc="http://schemas.openxmlformats.org/markup-compatibility/2006">
              <mc:Choice xmlns:v="urn:schemas-microsoft-com:vml" Requires="v">
                <p:oleObj spid="_x0000_s9239" name="文档" r:id="rId4" imgW="3477813" imgH="881964" progId="Word.Document.12">
                  <p:embed/>
                </p:oleObj>
              </mc:Choice>
              <mc:Fallback>
                <p:oleObj name="文档" r:id="rId4" imgW="3477813" imgH="881964" progId="Word.Document.12">
                  <p:embed/>
                  <p:pic>
                    <p:nvPicPr>
                      <p:cNvPr id="0" name=""/>
                      <p:cNvPicPr/>
                      <p:nvPr/>
                    </p:nvPicPr>
                    <p:blipFill>
                      <a:blip r:embed="rId5"/>
                      <a:stretch>
                        <a:fillRect/>
                      </a:stretch>
                    </p:blipFill>
                    <p:spPr>
                      <a:xfrm>
                        <a:off x="462135" y="3236571"/>
                        <a:ext cx="10607329" cy="2689990"/>
                      </a:xfrm>
                      <a:prstGeom prst="rect">
                        <a:avLst/>
                      </a:prstGeom>
                    </p:spPr>
                  </p:pic>
                </p:oleObj>
              </mc:Fallback>
            </mc:AlternateContent>
          </a:graphicData>
        </a:graphic>
      </p:graphicFrame>
    </p:spTree>
    <p:extLst>
      <p:ext uri="{BB962C8B-B14F-4D97-AF65-F5344CB8AC3E}">
        <p14:creationId xmlns:p14="http://schemas.microsoft.com/office/powerpoint/2010/main" val="29631431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33460"/>
            <a:ext cx="10807700" cy="476322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8</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8</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8</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7</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7</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1,log</a:t>
            </a:r>
            <a:r>
              <a:rPr lang="en-US" altLang="zh-CN" baseline="-25000" dirty="0">
                <a:solidFill>
                  <a:srgbClr val="000000"/>
                </a:solidFill>
                <a:ea typeface="宋体" panose="02010600030101010101" pitchFamily="2" charset="-122"/>
                <a:cs typeface="Times New Roman" panose="02020603050405020304" pitchFamily="18" charset="0"/>
              </a:rPr>
              <a:t>9</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9</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7</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9</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内单调递增</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4;</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内单调递减</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4668379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延伸探究H.eps" descr="id:2147492067;FounderCES"/>
          <p:cNvPicPr/>
          <p:nvPr/>
        </p:nvPicPr>
        <p:blipFill>
          <a:blip r:embed="rId3"/>
          <a:stretch>
            <a:fillRect/>
          </a:stretch>
        </p:blipFill>
        <p:spPr>
          <a:xfrm>
            <a:off x="4062812" y="673556"/>
            <a:ext cx="2740119" cy="499725"/>
          </a:xfrm>
          <a:prstGeom prst="rect">
            <a:avLst/>
          </a:prstGeom>
        </p:spPr>
      </p:pic>
      <p:sp>
        <p:nvSpPr>
          <p:cNvPr id="2" name="矩形 1"/>
          <p:cNvSpPr>
            <a:spLocks noChangeAspect="1"/>
          </p:cNvSpPr>
          <p:nvPr/>
        </p:nvSpPr>
        <p:spPr>
          <a:xfrm>
            <a:off x="361950" y="1122359"/>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本例中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改为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试比较</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的大小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31208268"/>
              </p:ext>
            </p:extLst>
          </p:nvPr>
        </p:nvGraphicFramePr>
        <p:xfrm>
          <a:off x="462135" y="1749069"/>
          <a:ext cx="10607329" cy="1373589"/>
        </p:xfrm>
        <a:graphic>
          <a:graphicData uri="http://schemas.openxmlformats.org/presentationml/2006/ole">
            <mc:AlternateContent xmlns:mc="http://schemas.openxmlformats.org/markup-compatibility/2006">
              <mc:Choice xmlns:v="urn:schemas-microsoft-com:vml" Requires="v">
                <p:oleObj spid="_x0000_s10273" name="文档" r:id="rId5" imgW="3477813" imgH="450357" progId="Word.Document.12">
                  <p:embed/>
                </p:oleObj>
              </mc:Choice>
              <mc:Fallback>
                <p:oleObj name="文档" r:id="rId5" imgW="3477813" imgH="450357" progId="Word.Document.12">
                  <p:embed/>
                  <p:pic>
                    <p:nvPicPr>
                      <p:cNvPr id="0" name=""/>
                      <p:cNvPicPr/>
                      <p:nvPr/>
                    </p:nvPicPr>
                    <p:blipFill>
                      <a:blip r:embed="rId6"/>
                      <a:stretch>
                        <a:fillRect/>
                      </a:stretch>
                    </p:blipFill>
                    <p:spPr>
                      <a:xfrm>
                        <a:off x="462135" y="1749069"/>
                        <a:ext cx="10607329" cy="1373589"/>
                      </a:xfrm>
                      <a:prstGeom prst="rect">
                        <a:avLst/>
                      </a:prstGeom>
                    </p:spPr>
                  </p:pic>
                </p:oleObj>
              </mc:Fallback>
            </mc:AlternateContent>
          </a:graphicData>
        </a:graphic>
      </p:graphicFrame>
      <p:sp>
        <p:nvSpPr>
          <p:cNvPr id="7" name="矩形 6"/>
          <p:cNvSpPr>
            <a:spLocks noChangeAspect="1"/>
          </p:cNvSpPr>
          <p:nvPr/>
        </p:nvSpPr>
        <p:spPr>
          <a:xfrm>
            <a:off x="361950" y="3122658"/>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7</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baseline="-25000"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7</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800400341"/>
              </p:ext>
            </p:extLst>
          </p:nvPr>
        </p:nvGraphicFramePr>
        <p:xfrm>
          <a:off x="357188" y="3752850"/>
          <a:ext cx="10583862" cy="2647950"/>
        </p:xfrm>
        <a:graphic>
          <a:graphicData uri="http://schemas.openxmlformats.org/presentationml/2006/ole">
            <mc:AlternateContent xmlns:mc="http://schemas.openxmlformats.org/markup-compatibility/2006">
              <mc:Choice xmlns:v="urn:schemas-microsoft-com:vml" Requires="v">
                <p:oleObj spid="_x0000_s10274" name="文档" r:id="rId8" imgW="3467489" imgH="870057" progId="Word.Document.12">
                  <p:embed/>
                </p:oleObj>
              </mc:Choice>
              <mc:Fallback>
                <p:oleObj name="文档" r:id="rId8" imgW="3467489" imgH="870057" progId="Word.Document.12">
                  <p:embed/>
                  <p:pic>
                    <p:nvPicPr>
                      <p:cNvPr id="0" name=""/>
                      <p:cNvPicPr/>
                      <p:nvPr/>
                    </p:nvPicPr>
                    <p:blipFill>
                      <a:blip r:embed="rId9"/>
                      <a:stretch>
                        <a:fillRect/>
                      </a:stretch>
                    </p:blipFill>
                    <p:spPr>
                      <a:xfrm>
                        <a:off x="357188" y="3752850"/>
                        <a:ext cx="10583862" cy="2647950"/>
                      </a:xfrm>
                      <a:prstGeom prst="rect">
                        <a:avLst/>
                      </a:prstGeom>
                    </p:spPr>
                  </p:pic>
                </p:oleObj>
              </mc:Fallback>
            </mc:AlternateContent>
          </a:graphicData>
        </a:graphic>
      </p:graphicFrame>
    </p:spTree>
    <p:extLst>
      <p:ext uri="{BB962C8B-B14F-4D97-AF65-F5344CB8AC3E}">
        <p14:creationId xmlns:p14="http://schemas.microsoft.com/office/powerpoint/2010/main" val="390274508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01258"/>
            <a:ext cx="10807700" cy="4819781"/>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比较</a:t>
            </a:r>
            <a:r>
              <a:rPr lang="zh-CN" altLang="zh-CN" dirty="0">
                <a:solidFill>
                  <a:srgbClr val="000000"/>
                </a:solidFill>
                <a:ea typeface="仿宋" panose="02010609060101010101" pitchFamily="49" charset="-122"/>
                <a:cs typeface="Times New Roman" panose="02020603050405020304" pitchFamily="18" charset="0"/>
              </a:rPr>
              <a:t>对数值大小的几种常用方法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同底的利用对数函数的单调性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底数不同但真数相同的利用对数换底公式转化或直接利用函数的图象</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底数和真数都不同的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找中间量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仿宋" panose="02010609060101010101" pitchFamily="49" charset="-122"/>
                <a:cs typeface="Times New Roman" panose="02020603050405020304" pitchFamily="18" charset="0"/>
              </a:rPr>
              <a:t>底数为相同参数但取值范围不确定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应对底数的取值范围分类讨论并结合单调性比较</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029403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193383"/>
            <a:ext cx="14098398" cy="1274472"/>
            <a:chOff x="361950" y="1098882"/>
            <a:chExt cx="14098398" cy="1274472"/>
          </a:xfrm>
        </p:grpSpPr>
        <p:sp>
          <p:nvSpPr>
            <p:cNvPr id="3" name="矩形 2"/>
            <p:cNvSpPr>
              <a:spLocks noChangeAspect="1"/>
            </p:cNvSpPr>
            <p:nvPr/>
          </p:nvSpPr>
          <p:spPr>
            <a:xfrm>
              <a:off x="361950" y="1098882"/>
              <a:ext cx="10807700" cy="1274195"/>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分类讨论思想在解决对数函数问题中的应用</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【典例】</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若</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m&gt;</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rPr>
                <a:t>m</a:t>
              </a:r>
              <a:r>
                <a:rPr lang="en-US" altLang="zh-CN" dirty="0">
                  <a:solidFill>
                    <a:srgbClr val="000000"/>
                  </a:solidFill>
                  <a:ea typeface="宋体" panose="02010600030101010101" pitchFamily="2" charset="-122"/>
                </a:rPr>
                <a:t>≠1)</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试确定参数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62144056"/>
                </p:ext>
              </p:extLst>
            </p:nvPr>
          </p:nvGraphicFramePr>
          <p:xfrm>
            <a:off x="2788389" y="1676231"/>
            <a:ext cx="11671959" cy="697123"/>
          </p:xfrm>
          <a:graphic>
            <a:graphicData uri="http://schemas.openxmlformats.org/presentationml/2006/ole">
              <mc:AlternateContent xmlns:mc="http://schemas.openxmlformats.org/markup-compatibility/2006">
                <mc:Choice xmlns:v="urn:schemas-microsoft-com:vml" Requires="v">
                  <p:oleObj spid="_x0000_s11285" name="文档" r:id="rId4" imgW="3837724" imgH="229325" progId="Word.Document.12">
                    <p:embed/>
                  </p:oleObj>
                </mc:Choice>
                <mc:Fallback>
                  <p:oleObj name="文档" r:id="rId4" imgW="3837724" imgH="229325" progId="Word.Document.12">
                    <p:embed/>
                    <p:pic>
                      <p:nvPicPr>
                        <p:cNvPr id="0" name=""/>
                        <p:cNvPicPr/>
                        <p:nvPr/>
                      </p:nvPicPr>
                      <p:blipFill>
                        <a:blip r:embed="rId5"/>
                        <a:stretch>
                          <a:fillRect/>
                        </a:stretch>
                      </p:blipFill>
                      <p:spPr>
                        <a:xfrm>
                          <a:off x="2788389" y="1676231"/>
                          <a:ext cx="11671959" cy="697123"/>
                        </a:xfrm>
                        <a:prstGeom prst="rect">
                          <a:avLst/>
                        </a:prstGeom>
                      </p:spPr>
                    </p:pic>
                  </p:oleObj>
                </mc:Fallback>
              </mc:AlternateContent>
            </a:graphicData>
          </a:graphic>
        </p:graphicFrame>
      </p:grpSp>
      <p:sp>
        <p:nvSpPr>
          <p:cNvPr id="7" name="矩形 6"/>
          <p:cNvSpPr>
            <a:spLocks noChangeAspect="1"/>
          </p:cNvSpPr>
          <p:nvPr/>
        </p:nvSpPr>
        <p:spPr>
          <a:xfrm>
            <a:off x="361950" y="2592015"/>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审题视角</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已知条件中对数的底数为参数</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且问题与比较大小有关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因此可先将不等式的两边化为底数相同的对数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再对</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的取值范围分类讨论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以确定相应函数的单调性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从而建立关于</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的不等式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求得</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37365459"/>
              </p:ext>
            </p:extLst>
          </p:nvPr>
        </p:nvGraphicFramePr>
        <p:xfrm>
          <a:off x="576461" y="1079847"/>
          <a:ext cx="11671959" cy="4023807"/>
        </p:xfrm>
        <a:graphic>
          <a:graphicData uri="http://schemas.openxmlformats.org/presentationml/2006/ole">
            <mc:AlternateContent xmlns:mc="http://schemas.openxmlformats.org/markup-compatibility/2006">
              <mc:Choice xmlns:v="urn:schemas-microsoft-com:vml" Requires="v">
                <p:oleObj spid="_x0000_s12309" name="文档" r:id="rId4" imgW="3826872" imgH="1319281" progId="Word.Document.12">
                  <p:embed/>
                </p:oleObj>
              </mc:Choice>
              <mc:Fallback>
                <p:oleObj name="文档" r:id="rId4" imgW="3826872" imgH="1319281" progId="Word.Document.12">
                  <p:embed/>
                  <p:pic>
                    <p:nvPicPr>
                      <p:cNvPr id="0" name=""/>
                      <p:cNvPicPr/>
                      <p:nvPr/>
                    </p:nvPicPr>
                    <p:blipFill>
                      <a:blip r:embed="rId5"/>
                      <a:stretch>
                        <a:fillRect/>
                      </a:stretch>
                    </p:blipFill>
                    <p:spPr>
                      <a:xfrm>
                        <a:off x="576461" y="1079847"/>
                        <a:ext cx="11671959" cy="4023807"/>
                      </a:xfrm>
                      <a:prstGeom prst="rect">
                        <a:avLst/>
                      </a:prstGeom>
                    </p:spPr>
                  </p:pic>
                </p:oleObj>
              </mc:Fallback>
            </mc:AlternateContent>
          </a:graphicData>
        </a:graphic>
      </p:graphicFrame>
    </p:spTree>
    <p:extLst>
      <p:ext uri="{BB962C8B-B14F-4D97-AF65-F5344CB8AC3E}">
        <p14:creationId xmlns:p14="http://schemas.microsoft.com/office/powerpoint/2010/main" val="1081726783"/>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37335"/>
            <a:ext cx="10807700" cy="4228850"/>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方法点睛</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对参数分类讨论时的注意</a:t>
            </a:r>
            <a:r>
              <a:rPr lang="zh-CN" altLang="zh-CN" dirty="0" smtClean="0">
                <a:solidFill>
                  <a:srgbClr val="000000"/>
                </a:solidFill>
                <a:ea typeface="仿宋" panose="02010609060101010101" pitchFamily="49" charset="-122"/>
                <a:cs typeface="Times New Roman" panose="02020603050405020304" pitchFamily="18" charset="0"/>
              </a:rPr>
              <a:t>事项</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本题</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仿宋" panose="02010609060101010101" pitchFamily="49" charset="-122"/>
                <a:cs typeface="Times New Roman" panose="02020603050405020304" pitchFamily="18" charset="0"/>
              </a:rPr>
              <a:t>的取值范围不确定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导致相应函数的单调性不同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从而需要分类讨论</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在分类讨论的每一种情况中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求得的参数取值范围要与讨论前提中的取值范围取公共部分</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针对参数的所有情况讨论完成后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将结论进行整合</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896742798"/>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73655"/>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a:solidFill>
                  <a:srgbClr val="000000"/>
                </a:solidFill>
                <a:latin typeface="Arial" panose="020B0604020202020204" pitchFamily="34" charset="0"/>
                <a:cs typeface="Times New Roman" panose="02020603050405020304" pitchFamily="18" charset="0"/>
              </a:rPr>
              <a:t>【变式训练】</a:t>
            </a:r>
            <a:r>
              <a:rPr lang="zh-CN" altLang="zh-CN">
                <a:solidFill>
                  <a:srgbClr val="000000"/>
                </a:solidFill>
                <a:latin typeface="NEU-BZ-S92"/>
                <a:ea typeface="Arial" panose="020B0604020202020204" pitchFamily="34" charset="0"/>
                <a:cs typeface="Times New Roman" panose="02020603050405020304" pitchFamily="18" charset="0"/>
              </a:rPr>
              <a:t> </a:t>
            </a:r>
            <a:r>
              <a:rPr lang="zh-CN" altLang="zh-CN">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[5,10]</a:t>
            </a:r>
            <a:r>
              <a:rPr lang="zh-CN" altLang="zh-CN" dirty="0">
                <a:solidFill>
                  <a:srgbClr val="000000"/>
                </a:solidFill>
                <a:ea typeface="宋体" panose="02010600030101010101" pitchFamily="2" charset="-122"/>
                <a:cs typeface="Times New Roman" panose="02020603050405020304" pitchFamily="18" charset="0"/>
              </a:rPr>
              <a:t>上的最大值与最小值之差为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求实数</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359802049"/>
              </p:ext>
            </p:extLst>
          </p:nvPr>
        </p:nvGraphicFramePr>
        <p:xfrm>
          <a:off x="557213" y="2144713"/>
          <a:ext cx="11645900" cy="3152775"/>
        </p:xfrm>
        <a:graphic>
          <a:graphicData uri="http://schemas.openxmlformats.org/presentationml/2006/ole">
            <mc:AlternateContent xmlns:mc="http://schemas.openxmlformats.org/markup-compatibility/2006">
              <mc:Choice xmlns:v="urn:schemas-microsoft-com:vml" Requires="v">
                <p:oleObj spid="_x0000_s13333" name="文档" r:id="rId4" imgW="3826872" imgH="1039684" progId="Word.Document.12">
                  <p:embed/>
                </p:oleObj>
              </mc:Choice>
              <mc:Fallback>
                <p:oleObj name="文档" r:id="rId4" imgW="3826872" imgH="1039684" progId="Word.Document.12">
                  <p:embed/>
                  <p:pic>
                    <p:nvPicPr>
                      <p:cNvPr id="0" name=""/>
                      <p:cNvPicPr/>
                      <p:nvPr/>
                    </p:nvPicPr>
                    <p:blipFill>
                      <a:blip r:embed="rId5"/>
                      <a:stretch>
                        <a:fillRect/>
                      </a:stretch>
                    </p:blipFill>
                    <p:spPr>
                      <a:xfrm>
                        <a:off x="557213" y="2144713"/>
                        <a:ext cx="11645900" cy="3152775"/>
                      </a:xfrm>
                      <a:prstGeom prst="rect">
                        <a:avLst/>
                      </a:prstGeom>
                    </p:spPr>
                  </p:pic>
                </p:oleObj>
              </mc:Fallback>
            </mc:AlternateContent>
          </a:graphicData>
        </a:graphic>
      </p:graphicFrame>
    </p:spTree>
    <p:extLst>
      <p:ext uri="{BB962C8B-B14F-4D97-AF65-F5344CB8AC3E}">
        <p14:creationId xmlns:p14="http://schemas.microsoft.com/office/powerpoint/2010/main" val="263420732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9359"/>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下列函数为对数函数的是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err="1" smtClean="0">
                <a:solidFill>
                  <a:srgbClr val="000000"/>
                </a:solidFill>
                <a:ea typeface="宋体" panose="02010600030101010101" pitchFamily="2" charset="-122"/>
                <a:cs typeface="Times New Roman" panose="02020603050405020304" pitchFamily="18" charset="0"/>
              </a:rPr>
              <a:t>B.</a:t>
            </a:r>
            <a:r>
              <a:rPr lang="en-US" altLang="zh-CN" i="1" dirty="0" err="1" smtClean="0">
                <a:solidFill>
                  <a:srgbClr val="000000"/>
                </a:solidFill>
                <a:ea typeface="宋体" panose="02010600030101010101" pitchFamily="2" charset="-122"/>
                <a:cs typeface="Times New Roman" panose="02020603050405020304" pitchFamily="18" charset="0"/>
              </a:rPr>
              <a:t>y</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err="1" smtClean="0">
                <a:solidFill>
                  <a:srgbClr val="000000"/>
                </a:solidFill>
                <a:ea typeface="宋体" panose="02010600030101010101" pitchFamily="2" charset="-122"/>
                <a:cs typeface="Times New Roman" panose="02020603050405020304" pitchFamily="18" charset="0"/>
              </a:rPr>
              <a:t>log</a:t>
            </a:r>
            <a:r>
              <a:rPr lang="en-US" altLang="zh-CN" i="1" baseline="-25000" dirty="0" err="1" smtClean="0">
                <a:solidFill>
                  <a:srgbClr val="000000"/>
                </a:solidFill>
                <a:ea typeface="宋体" panose="02010600030101010101" pitchFamily="2" charset="-122"/>
                <a:cs typeface="Times New Roman" panose="02020603050405020304" pitchFamily="18" charset="0"/>
              </a:rPr>
              <a:t>a</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err="1">
                <a:solidFill>
                  <a:srgbClr val="000000"/>
                </a:solidFill>
                <a:ea typeface="宋体" panose="02010600030101010101" pitchFamily="2" charset="-122"/>
                <a:cs typeface="Times New Roman" panose="02020603050405020304" pitchFamily="18" charset="0"/>
              </a:rPr>
              <a:t>C.</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err="1" smtClean="0">
                <a:solidFill>
                  <a:srgbClr val="000000"/>
                </a:solidFill>
                <a:ea typeface="宋体" panose="02010600030101010101" pitchFamily="2" charset="-122"/>
                <a:cs typeface="Times New Roman" panose="02020603050405020304" pitchFamily="18" charset="0"/>
              </a:rPr>
              <a:t>D.</a:t>
            </a:r>
            <a:r>
              <a:rPr lang="en-US" altLang="zh-CN" i="1" dirty="0" err="1" smtClean="0">
                <a:solidFill>
                  <a:srgbClr val="000000"/>
                </a:solidFill>
                <a:ea typeface="宋体" panose="02010600030101010101" pitchFamily="2" charset="-122"/>
                <a:cs typeface="Times New Roman" panose="02020603050405020304" pitchFamily="18" charset="0"/>
              </a:rPr>
              <a:t>y</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err="1" smtClean="0">
                <a:solidFill>
                  <a:srgbClr val="000000"/>
                </a:solidFill>
                <a:ea typeface="宋体" panose="02010600030101010101" pitchFamily="2" charset="-122"/>
                <a:cs typeface="Times New Roman" panose="02020603050405020304" pitchFamily="18" charset="0"/>
              </a:rPr>
              <a:t>lg</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CD</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的定义域是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B.(1,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D.[4,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由已知得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即函数的定义域为</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randombar(horizontal)">
                                      <p:cBhvr>
                                        <p:cTn id="27" dur="500"/>
                                        <p:tgtEl>
                                          <p:spTgt spid="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719807"/>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的图象必不经过</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第一象限</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第二象限</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第三象限</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第四象限</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rPr>
              <a:t>y=</a:t>
            </a:r>
            <a:r>
              <a:rPr lang="en-US" altLang="zh-CN" dirty="0" err="1">
                <a:solidFill>
                  <a:srgbClr val="000000"/>
                </a:solidFill>
                <a:ea typeface="宋体" panose="02010600030101010101" pitchFamily="2" charset="-122"/>
              </a:rPr>
              <a:t>log</a:t>
            </a:r>
            <a:r>
              <a:rPr lang="en-US" altLang="zh-CN" i="1" baseline="-25000" dirty="0" err="1">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2)(0</a:t>
            </a:r>
            <a:r>
              <a:rPr lang="en-US" altLang="zh-CN" i="1" dirty="0">
                <a:solidFill>
                  <a:srgbClr val="000000"/>
                </a:solidFill>
                <a:ea typeface="宋体" panose="02010600030101010101" pitchFamily="2" charset="-122"/>
              </a:rPr>
              <a:t>&lt;a&lt;</a:t>
            </a:r>
            <a:r>
              <a:rPr lang="en-US" altLang="zh-CN" dirty="0">
                <a:solidFill>
                  <a:srgbClr val="000000"/>
                </a:solidFill>
                <a:ea typeface="宋体" panose="02010600030101010101" pitchFamily="2" charset="-122"/>
              </a:rPr>
              <a:t>1)</a:t>
            </a:r>
            <a:r>
              <a:rPr lang="zh-CN" altLang="zh-CN" dirty="0" smtClean="0">
                <a:solidFill>
                  <a:srgbClr val="000000"/>
                </a:solidFill>
                <a:ea typeface="楷体" panose="02010609060101010101" pitchFamily="49" charset="-122"/>
                <a:cs typeface="Times New Roman" panose="02020603050405020304" pitchFamily="18" charset="0"/>
              </a:rPr>
              <a:t>的</a:t>
            </a:r>
            <a:endParaRPr lang="en-US" altLang="zh-CN" dirty="0" smtClean="0">
              <a:solidFill>
                <a:srgbClr val="000000"/>
              </a:solidFill>
              <a:ea typeface="楷体" panose="02010609060101010101" pitchFamily="49" charset="-122"/>
              <a:cs typeface="Times New Roman" panose="02020603050405020304" pitchFamily="18" charset="0"/>
            </a:endParaRPr>
          </a:p>
          <a:p>
            <a:pPr>
              <a:lnSpc>
                <a:spcPct val="120000"/>
              </a:lnSpc>
            </a:pPr>
            <a:r>
              <a:rPr lang="zh-CN" altLang="zh-CN" dirty="0" smtClean="0">
                <a:solidFill>
                  <a:srgbClr val="000000"/>
                </a:solidFill>
                <a:ea typeface="楷体" panose="02010609060101010101" pitchFamily="49" charset="-122"/>
                <a:cs typeface="Times New Roman" panose="02020603050405020304" pitchFamily="18" charset="0"/>
              </a:rPr>
              <a:t>图象</a:t>
            </a:r>
            <a:r>
              <a:rPr lang="zh-CN" altLang="zh-CN" dirty="0">
                <a:solidFill>
                  <a:srgbClr val="000000"/>
                </a:solidFill>
                <a:ea typeface="楷体" panose="02010609060101010101" pitchFamily="49" charset="-122"/>
                <a:cs typeface="Times New Roman" panose="02020603050405020304" pitchFamily="18" charset="0"/>
              </a:rPr>
              <a:t>如图所示</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rPr>
              <a:t>A</a:t>
            </a:r>
            <a:r>
              <a:rPr lang="en-US" altLang="zh-CN" i="1" dirty="0">
                <a:solidFill>
                  <a:srgbClr val="000000"/>
                </a:solidFill>
                <a:ea typeface="宋体" panose="02010600030101010101" pitchFamily="2" charset="-122"/>
              </a:rPr>
              <a:t>.</a:t>
            </a:r>
            <a:endParaRPr lang="zh-CN" altLang="en-US" dirty="0"/>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YMG1TRA116.eps" descr="id:2147496909;FounderCES"/>
          <p:cNvPicPr/>
          <p:nvPr/>
        </p:nvPicPr>
        <p:blipFill>
          <a:blip r:embed="rId2"/>
          <a:stretch>
            <a:fillRect/>
          </a:stretch>
        </p:blipFill>
        <p:spPr>
          <a:xfrm>
            <a:off x="6553125" y="2483757"/>
            <a:ext cx="3816424" cy="3644529"/>
          </a:xfrm>
          <a:prstGeom prst="rect">
            <a:avLst/>
          </a:prstGeom>
        </p:spPr>
      </p:pic>
    </p:spTree>
    <p:extLst>
      <p:ext uri="{BB962C8B-B14F-4D97-AF65-F5344CB8AC3E}">
        <p14:creationId xmlns:p14="http://schemas.microsoft.com/office/powerpoint/2010/main" val="172644973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randombar(horizontal)">
                                      <p:cBhvr>
                                        <p:cTn id="7" dur="500"/>
                                        <p:tgtEl>
                                          <p:spTgt spid="4">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0" dur="500"/>
                                        <p:tgtEl>
                                          <p:spTgt spid="4">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4">
                                            <p:txEl>
                                              <p:pRg st="8" end="8"/>
                                            </p:txEl>
                                          </p:spTgt>
                                        </p:tgtEl>
                                        <p:attrNameLst>
                                          <p:attrName>style.visibility</p:attrName>
                                        </p:attrNameLst>
                                      </p:cBhvr>
                                      <p:to>
                                        <p:strVal val="visible"/>
                                      </p:to>
                                    </p:set>
                                    <p:animEffect transition="in" filter="randombar(horizontal)">
                                      <p:cBhvr>
                                        <p:cTn id="18"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39887"/>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的图象恒过定点</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则点</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的坐标</a:t>
            </a:r>
            <a:r>
              <a:rPr lang="zh-CN" altLang="zh-CN" dirty="0" smtClean="0">
                <a:solidFill>
                  <a:srgbClr val="000000"/>
                </a:solidFill>
                <a:ea typeface="宋体" panose="02010600030101010101" pitchFamily="2" charset="-122"/>
                <a:cs typeface="Times New Roman" panose="02020603050405020304" pitchFamily="18" charset="0"/>
              </a:rPr>
              <a:t>是</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令</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4,</a:t>
            </a:r>
            <a:r>
              <a:rPr lang="zh-CN" altLang="zh-CN" dirty="0">
                <a:solidFill>
                  <a:srgbClr val="000000"/>
                </a:solidFill>
                <a:ea typeface="楷体" panose="02010609060101010101" pitchFamily="49" charset="-122"/>
                <a:cs typeface="Times New Roman" panose="02020603050405020304" pitchFamily="18" charset="0"/>
              </a:rPr>
              <a:t>可得</a:t>
            </a:r>
            <a:r>
              <a:rPr lang="en-US" altLang="zh-CN" i="1" dirty="0">
                <a:solidFill>
                  <a:srgbClr val="000000"/>
                </a:solidFill>
                <a:ea typeface="宋体" panose="02010600030101010101" pitchFamily="2" charset="-122"/>
              </a:rPr>
              <a:t>y=-</a:t>
            </a:r>
            <a:r>
              <a:rPr lang="en-US" altLang="zh-CN" dirty="0">
                <a:solidFill>
                  <a:srgbClr val="000000"/>
                </a:solidFill>
                <a:ea typeface="宋体" panose="02010600030101010101" pitchFamily="2" charset="-122"/>
              </a:rPr>
              <a:t>1</a:t>
            </a:r>
            <a:r>
              <a:rPr lang="en-US" altLang="zh-CN" dirty="0" smtClean="0">
                <a:solidFill>
                  <a:srgbClr val="000000"/>
                </a:solidFill>
                <a:ea typeface="宋体" panose="02010600030101010101" pitchFamily="2" charset="-122"/>
              </a:rPr>
              <a:t>,</a:t>
            </a:r>
          </a:p>
          <a:p>
            <a:pPr>
              <a:lnSpc>
                <a:spcPct val="120000"/>
              </a:lnSpc>
            </a:pP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函数图象恒过定点</a:t>
            </a:r>
            <a:r>
              <a:rPr lang="en-US" altLang="zh-CN" i="1" dirty="0">
                <a:solidFill>
                  <a:srgbClr val="000000"/>
                </a:solidFill>
                <a:ea typeface="宋体" panose="02010600030101010101" pitchFamily="2" charset="-122"/>
              </a:rPr>
              <a:t>P</a:t>
            </a: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3713366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688860107"/>
              </p:ext>
            </p:extLst>
          </p:nvPr>
        </p:nvGraphicFramePr>
        <p:xfrm>
          <a:off x="432445" y="1223863"/>
          <a:ext cx="11671959" cy="949227"/>
        </p:xfrm>
        <a:graphic>
          <a:graphicData uri="http://schemas.openxmlformats.org/presentationml/2006/ole">
            <mc:AlternateContent xmlns:mc="http://schemas.openxmlformats.org/markup-compatibility/2006">
              <mc:Choice xmlns:v="urn:schemas-microsoft-com:vml" Requires="v">
                <p:oleObj spid="_x0000_s14374" name="文档" r:id="rId4" imgW="3826872" imgH="311222" progId="Word.Document.12">
                  <p:embed/>
                </p:oleObj>
              </mc:Choice>
              <mc:Fallback>
                <p:oleObj name="文档" r:id="rId4" imgW="3826872" imgH="311222" progId="Word.Document.12">
                  <p:embed/>
                  <p:pic>
                    <p:nvPicPr>
                      <p:cNvPr id="0" name=""/>
                      <p:cNvPicPr/>
                      <p:nvPr/>
                    </p:nvPicPr>
                    <p:blipFill>
                      <a:blip r:embed="rId5"/>
                      <a:stretch>
                        <a:fillRect/>
                      </a:stretch>
                    </p:blipFill>
                    <p:spPr>
                      <a:xfrm>
                        <a:off x="432445" y="1223863"/>
                        <a:ext cx="11671959" cy="94922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22810601"/>
              </p:ext>
            </p:extLst>
          </p:nvPr>
        </p:nvGraphicFramePr>
        <p:xfrm>
          <a:off x="432445" y="2257517"/>
          <a:ext cx="11671959" cy="2494738"/>
        </p:xfrm>
        <a:graphic>
          <a:graphicData uri="http://schemas.openxmlformats.org/presentationml/2006/ole">
            <mc:AlternateContent xmlns:mc="http://schemas.openxmlformats.org/markup-compatibility/2006">
              <mc:Choice xmlns:v="urn:schemas-microsoft-com:vml" Requires="v">
                <p:oleObj spid="_x0000_s14375" name="文档" r:id="rId7" imgW="3826872" imgH="817947" progId="Word.Document.12">
                  <p:embed/>
                </p:oleObj>
              </mc:Choice>
              <mc:Fallback>
                <p:oleObj name="文档" r:id="rId7" imgW="3826872" imgH="817947" progId="Word.Document.12">
                  <p:embed/>
                  <p:pic>
                    <p:nvPicPr>
                      <p:cNvPr id="0" name=""/>
                      <p:cNvPicPr/>
                      <p:nvPr/>
                    </p:nvPicPr>
                    <p:blipFill>
                      <a:blip r:embed="rId8"/>
                      <a:stretch>
                        <a:fillRect/>
                      </a:stretch>
                    </p:blipFill>
                    <p:spPr>
                      <a:xfrm>
                        <a:off x="432445" y="2257517"/>
                        <a:ext cx="11671959" cy="2494738"/>
                      </a:xfrm>
                      <a:prstGeom prst="rect">
                        <a:avLst/>
                      </a:prstGeom>
                    </p:spPr>
                  </p:pic>
                </p:oleObj>
              </mc:Fallback>
            </mc:AlternateContent>
          </a:graphicData>
        </a:graphic>
      </p:graphicFrame>
    </p:spTree>
    <p:extLst>
      <p:ext uri="{BB962C8B-B14F-4D97-AF65-F5344CB8AC3E}">
        <p14:creationId xmlns:p14="http://schemas.microsoft.com/office/powerpoint/2010/main" val="128003987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75</TotalTime>
  <Words>1473</Words>
  <Application>Microsoft Office PowerPoint</Application>
  <PresentationFormat>自定义</PresentationFormat>
  <Paragraphs>128</Paragraphs>
  <Slides>41</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6"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29</cp:revision>
  <dcterms:created xsi:type="dcterms:W3CDTF">2020-09-12T05:36:12Z</dcterms:created>
  <dcterms:modified xsi:type="dcterms:W3CDTF">2025-08-18T05:20:50Z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