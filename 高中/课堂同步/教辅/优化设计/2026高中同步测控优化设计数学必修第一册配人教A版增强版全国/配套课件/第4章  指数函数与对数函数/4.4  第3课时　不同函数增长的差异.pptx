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731" r:id="rId2"/>
    <p:sldId id="753" r:id="rId3"/>
    <p:sldId id="736" r:id="rId4"/>
    <p:sldId id="744" r:id="rId5"/>
    <p:sldId id="746" r:id="rId6"/>
    <p:sldId id="749" r:id="rId7"/>
    <p:sldId id="756" r:id="rId8"/>
    <p:sldId id="757" r:id="rId9"/>
    <p:sldId id="758" r:id="rId10"/>
    <p:sldId id="759" r:id="rId11"/>
    <p:sldId id="760" r:id="rId12"/>
    <p:sldId id="737" r:id="rId13"/>
    <p:sldId id="750" r:id="rId14"/>
    <p:sldId id="761" r:id="rId15"/>
    <p:sldId id="762" r:id="rId16"/>
    <p:sldId id="754" r:id="rId17"/>
    <p:sldId id="763" r:id="rId18"/>
    <p:sldId id="764" r:id="rId19"/>
    <p:sldId id="765" r:id="rId20"/>
    <p:sldId id="766" r:id="rId21"/>
    <p:sldId id="755" r:id="rId22"/>
    <p:sldId id="767" r:id="rId23"/>
    <p:sldId id="768" r:id="rId24"/>
    <p:sldId id="769" r:id="rId25"/>
    <p:sldId id="770" r:id="rId26"/>
    <p:sldId id="771" r:id="rId27"/>
    <p:sldId id="772" r:id="rId28"/>
    <p:sldId id="747" r:id="rId29"/>
    <p:sldId id="751" r:id="rId30"/>
    <p:sldId id="775" r:id="rId31"/>
    <p:sldId id="776" r:id="rId32"/>
    <p:sldId id="777" r:id="rId33"/>
    <p:sldId id="778" r:id="rId34"/>
    <p:sldId id="748" r:id="rId35"/>
    <p:sldId id="752" r:id="rId36"/>
    <p:sldId id="779" r:id="rId37"/>
    <p:sldId id="780" r:id="rId38"/>
    <p:sldId id="781" r:id="rId39"/>
    <p:sldId id="782" r:id="rId40"/>
    <p:sldId id="735" r:id="rId41"/>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40</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package" Target="../embeddings/Microsoft_Word___4.docx"/><Relationship Id="rId3" Type="http://schemas.openxmlformats.org/officeDocument/2006/relationships/image" Target="../media/image7.jpeg"/><Relationship Id="rId7"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5.emf"/><Relationship Id="rId5" Type="http://schemas.openxmlformats.org/officeDocument/2006/relationships/package" Target="../embeddings/Microsoft_Word___3.docx"/><Relationship Id="rId4" Type="http://schemas.openxmlformats.org/officeDocument/2006/relationships/oleObject" Target="../embeddings/oleObject3.bin"/><Relationship Id="rId9" Type="http://schemas.openxmlformats.org/officeDocument/2006/relationships/image" Target="../media/image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6.bin"/><Relationship Id="rId7" Type="http://schemas.openxmlformats.org/officeDocument/2006/relationships/package" Target="../embeddings/Microsoft_Word___7.docx"/><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4.emf"/><Relationship Id="rId4" Type="http://schemas.openxmlformats.org/officeDocument/2006/relationships/package" Target="../embeddings/Microsoft_Word___11.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2.bin"/><Relationship Id="rId7" Type="http://schemas.openxmlformats.org/officeDocument/2006/relationships/package" Target="../embeddings/Microsoft_Word___13.docx"/><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13.bin"/><Relationship Id="rId11" Type="http://schemas.openxmlformats.org/officeDocument/2006/relationships/image" Target="../media/image18.emf"/><Relationship Id="rId5" Type="http://schemas.openxmlformats.org/officeDocument/2006/relationships/image" Target="../media/image16.emf"/><Relationship Id="rId10" Type="http://schemas.openxmlformats.org/officeDocument/2006/relationships/package" Target="../embeddings/Microsoft_Word___14.docx"/><Relationship Id="rId4" Type="http://schemas.openxmlformats.org/officeDocument/2006/relationships/package" Target="../embeddings/Microsoft_Word___12.docx"/><Relationship Id="rId9" Type="http://schemas.openxmlformats.org/officeDocument/2006/relationships/oleObject" Target="../embeddings/oleObject1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Word___15.docx"/></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1973857"/>
            <a:ext cx="10807700" cy="220233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4.4</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对数函数</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3</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不同函数增长的差异</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007839"/>
            <a:ext cx="10729192" cy="4600448"/>
            <a:chOff x="360437" y="1145518"/>
            <a:chExt cx="10729192" cy="4600448"/>
          </a:xfrm>
        </p:grpSpPr>
        <p:grpSp>
          <p:nvGrpSpPr>
            <p:cNvPr id="13" name="组合 12"/>
            <p:cNvGrpSpPr/>
            <p:nvPr/>
          </p:nvGrpSpPr>
          <p:grpSpPr>
            <a:xfrm>
              <a:off x="360437" y="1145518"/>
              <a:ext cx="10729192" cy="4600448"/>
              <a:chOff x="360437" y="1753479"/>
              <a:chExt cx="10729192" cy="3142168"/>
            </a:xfrm>
          </p:grpSpPr>
          <p:sp>
            <p:nvSpPr>
              <p:cNvPr id="2" name="圆角矩形 1"/>
              <p:cNvSpPr/>
              <p:nvPr/>
            </p:nvSpPr>
            <p:spPr>
              <a:xfrm>
                <a:off x="360437" y="1753479"/>
                <a:ext cx="10729192" cy="314216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835220"/>
                <a:ext cx="0" cy="3011245"/>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708958"/>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401781"/>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结合现实情境中的具体问题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利用计算工具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比较对数函数、一次函数、指数函数增长速度的差异</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对数增长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直线上升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指数爆炸</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等术语的现实含义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感受数学抽象以及直观想象的作用</a:t>
              </a:r>
              <a:r>
                <a:rPr lang="en-US" altLang="zh-CN"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直观</a:t>
              </a:r>
              <a:r>
                <a:rPr lang="zh-CN" altLang="zh-CN" dirty="0">
                  <a:solidFill>
                    <a:srgbClr val="000000"/>
                  </a:solidFill>
                  <a:ea typeface="楷体" panose="02010609060101010101" pitchFamily="49" charset="-122"/>
                  <a:cs typeface="Times New Roman" panose="02020603050405020304" pitchFamily="18" charset="0"/>
                </a:rPr>
                <a:t>想象和数学建模素养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98074"/>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一、一次函数与指数函数增长的差异</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在同</a:t>
            </a:r>
            <a:r>
              <a:rPr lang="zh-CN" altLang="zh-CN" dirty="0" smtClean="0">
                <a:solidFill>
                  <a:srgbClr val="000000"/>
                </a:solidFill>
                <a:ea typeface="宋体" panose="02010600030101010101" pitchFamily="2" charset="-122"/>
                <a:cs typeface="Times New Roman" panose="02020603050405020304" pitchFamily="18" charset="0"/>
              </a:rPr>
              <a:t>一</a:t>
            </a:r>
            <a:r>
              <a:rPr lang="zh-CN" altLang="en-US" dirty="0" smtClean="0">
                <a:solidFill>
                  <a:srgbClr val="000000"/>
                </a:solidFill>
                <a:ea typeface="宋体" panose="02010600030101010101" pitchFamily="2" charset="-122"/>
                <a:cs typeface="Times New Roman" panose="02020603050405020304" pitchFamily="18" charset="0"/>
              </a:rPr>
              <a:t>平面</a:t>
            </a:r>
            <a:r>
              <a:rPr lang="zh-CN" altLang="zh-CN" dirty="0" smtClean="0">
                <a:solidFill>
                  <a:srgbClr val="000000"/>
                </a:solidFill>
                <a:ea typeface="宋体" panose="02010600030101010101" pitchFamily="2" charset="-122"/>
                <a:cs typeface="Times New Roman" panose="02020603050405020304" pitchFamily="18" charset="0"/>
              </a:rPr>
              <a:t>直角坐标</a:t>
            </a:r>
            <a:r>
              <a:rPr lang="zh-CN" altLang="zh-CN" dirty="0">
                <a:solidFill>
                  <a:srgbClr val="000000"/>
                </a:solidFill>
                <a:ea typeface="宋体" panose="02010600030101010101" pitchFamily="2" charset="-122"/>
                <a:cs typeface="Times New Roman" panose="02020603050405020304" pitchFamily="18" charset="0"/>
              </a:rPr>
              <a:t>系中画出函数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观察图象思考下列问题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这两个函数在区间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内的单调性是怎样的</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趋于无穷大时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在这两个函数中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哪一个函数的增长速度快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哪一个慢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图象略</a:t>
            </a:r>
            <a:r>
              <a:rPr lang="en-US" altLang="zh-CN" i="1" dirty="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都是单调递增的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增长速度快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增长速度慢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583903"/>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指数函数</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与一次函数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的增长速度不同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即使</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宋体" panose="02010600030101010101" pitchFamily="2" charset="-122"/>
                <a:cs typeface="Times New Roman" panose="02020603050405020304" pitchFamily="18" charset="0"/>
              </a:rPr>
              <a:t>的值远远大于</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的增长速度</a:t>
            </a:r>
            <a:r>
              <a:rPr lang="zh-CN" altLang="zh-CN" dirty="0" smtClean="0">
                <a:solidFill>
                  <a:srgbClr val="000000"/>
                </a:solidFill>
                <a:ea typeface="宋体" panose="02010600030101010101" pitchFamily="2" charset="-122"/>
                <a:cs typeface="Times New Roman" panose="02020603050405020304" pitchFamily="18" charset="0"/>
              </a:rPr>
              <a:t>最终</a:t>
            </a:r>
            <a:r>
              <a:rPr lang="zh-CN" altLang="en-US" dirty="0" smtClean="0">
                <a:solidFill>
                  <a:srgbClr val="000000"/>
                </a:solidFill>
                <a:ea typeface="宋体" panose="02010600030101010101" pitchFamily="2" charset="-122"/>
                <a:cs typeface="Times New Roman" panose="02020603050405020304" pitchFamily="18" charset="0"/>
              </a:rPr>
              <a:t>都</a:t>
            </a:r>
            <a:r>
              <a:rPr lang="zh-CN" altLang="zh-CN" dirty="0" smtClean="0">
                <a:solidFill>
                  <a:srgbClr val="000000"/>
                </a:solidFill>
                <a:ea typeface="宋体" panose="02010600030101010101" pitchFamily="2" charset="-122"/>
                <a:cs typeface="Times New Roman" panose="02020603050405020304" pitchFamily="18" charset="0"/>
              </a:rPr>
              <a:t>会</a:t>
            </a:r>
            <a:r>
              <a:rPr lang="zh-CN" altLang="zh-CN" dirty="0">
                <a:solidFill>
                  <a:srgbClr val="000000"/>
                </a:solidFill>
                <a:ea typeface="宋体" panose="02010600030101010101" pitchFamily="2" charset="-122"/>
                <a:cs typeface="Times New Roman" panose="02020603050405020304" pitchFamily="18" charset="0"/>
              </a:rPr>
              <a:t>大大</a:t>
            </a:r>
            <a:r>
              <a:rPr lang="zh-CN" altLang="zh-CN" dirty="0">
                <a:ea typeface="宋体" panose="02010600030101010101" pitchFamily="2" charset="-122"/>
                <a:cs typeface="Times New Roman" panose="02020603050405020304" pitchFamily="18" charset="0"/>
              </a:rPr>
              <a:t>超过</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的增长速度</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指数函数不像一次函数那样按</a:t>
            </a:r>
            <a:r>
              <a:rPr lang="zh-CN" altLang="zh-CN" dirty="0">
                <a:ea typeface="宋体" panose="02010600030101010101" pitchFamily="2" charset="-122"/>
                <a:cs typeface="Times New Roman" panose="02020603050405020304" pitchFamily="18" charset="0"/>
              </a:rPr>
              <a:t>同一速度</a:t>
            </a:r>
            <a:r>
              <a:rPr lang="zh-CN" altLang="zh-CN" dirty="0">
                <a:solidFill>
                  <a:srgbClr val="000000"/>
                </a:solidFill>
                <a:ea typeface="宋体" panose="02010600030101010101" pitchFamily="2" charset="-122"/>
                <a:cs typeface="Times New Roman" panose="02020603050405020304" pitchFamily="18" charset="0"/>
              </a:rPr>
              <a:t>增长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而是越</a:t>
            </a:r>
            <a:r>
              <a:rPr lang="zh-CN" altLang="zh-CN" dirty="0" smtClean="0">
                <a:solidFill>
                  <a:srgbClr val="000000"/>
                </a:solidFill>
                <a:ea typeface="宋体" panose="02010600030101010101" pitchFamily="2" charset="-122"/>
                <a:cs typeface="Times New Roman" panose="02020603050405020304" pitchFamily="18" charset="0"/>
              </a:rPr>
              <a:t>来</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ea typeface="宋体" panose="02010600030101010101" pitchFamily="2" charset="-122"/>
                <a:cs typeface="Times New Roman" panose="02020603050405020304" pitchFamily="18" charset="0"/>
              </a:rPr>
              <a:t>越</a:t>
            </a:r>
            <a:r>
              <a:rPr lang="zh-CN" altLang="zh-CN" dirty="0">
                <a:ea typeface="宋体" panose="02010600030101010101" pitchFamily="2" charset="-122"/>
                <a:cs typeface="Times New Roman" panose="02020603050405020304" pitchFamily="18" charset="0"/>
              </a:rPr>
              <a:t>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呈</a:t>
            </a:r>
            <a:r>
              <a:rPr lang="zh-CN" altLang="zh-CN" dirty="0">
                <a:ea typeface="宋体" panose="02010600030101010101" pitchFamily="2" charset="-122"/>
                <a:cs typeface="Times New Roman" panose="02020603050405020304" pitchFamily="18" charset="0"/>
              </a:rPr>
              <a:t>爆炸性</a:t>
            </a:r>
            <a:r>
              <a:rPr lang="zh-CN" altLang="zh-CN" dirty="0">
                <a:solidFill>
                  <a:srgbClr val="000000"/>
                </a:solidFill>
                <a:ea typeface="宋体" panose="02010600030101010101" pitchFamily="2" charset="-122"/>
                <a:cs typeface="Times New Roman" panose="02020603050405020304" pitchFamily="18" charset="0"/>
              </a:rPr>
              <a:t>增长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2502941" y="282716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498351" y="3291267"/>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6265093" y="3403767"/>
            <a:ext cx="158417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260503" y="3867865"/>
            <a:ext cx="1582384"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474730" y="3989663"/>
            <a:ext cx="78720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70151" y="4453761"/>
            <a:ext cx="786313"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1790765" y="4004198"/>
            <a:ext cx="122413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1786175" y="4468296"/>
            <a:ext cx="122275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2656437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40586"/>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方正正中黑简体"/>
                <a:cs typeface="Times New Roman" panose="02020603050405020304" pitchFamily="18" charset="0"/>
              </a:rPr>
              <a:t>二、一次函数与对数函数增长的差异</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在同</a:t>
            </a:r>
            <a:r>
              <a:rPr lang="zh-CN" altLang="zh-CN" dirty="0" smtClean="0">
                <a:solidFill>
                  <a:srgbClr val="000000"/>
                </a:solidFill>
                <a:ea typeface="宋体" panose="02010600030101010101" pitchFamily="2" charset="-122"/>
                <a:cs typeface="Times New Roman" panose="02020603050405020304" pitchFamily="18" charset="0"/>
              </a:rPr>
              <a:t>一</a:t>
            </a:r>
            <a:r>
              <a:rPr lang="zh-CN" altLang="en-US" dirty="0">
                <a:solidFill>
                  <a:srgbClr val="000000"/>
                </a:solidFill>
                <a:ea typeface="宋体" panose="02010600030101010101" pitchFamily="2" charset="-122"/>
                <a:cs typeface="Times New Roman" panose="02020603050405020304" pitchFamily="18" charset="0"/>
              </a:rPr>
              <a:t>平面</a:t>
            </a:r>
            <a:r>
              <a:rPr lang="zh-CN" altLang="zh-CN" dirty="0" smtClean="0">
                <a:solidFill>
                  <a:srgbClr val="000000"/>
                </a:solidFill>
                <a:ea typeface="宋体" panose="02010600030101010101" pitchFamily="2" charset="-122"/>
                <a:cs typeface="Times New Roman" panose="02020603050405020304" pitchFamily="18" charset="0"/>
              </a:rPr>
              <a:t>直角坐标</a:t>
            </a:r>
            <a:r>
              <a:rPr lang="zh-CN" altLang="zh-CN" dirty="0">
                <a:solidFill>
                  <a:srgbClr val="000000"/>
                </a:solidFill>
                <a:ea typeface="宋体" panose="02010600030101010101" pitchFamily="2" charset="-122"/>
                <a:cs typeface="Times New Roman" panose="02020603050405020304" pitchFamily="18" charset="0"/>
              </a:rPr>
              <a:t>系中画出函数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观察图象思考下列问题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这两个函数在区间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内的单调性是怎样的</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趋于无穷大时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在这两个函数中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哪一个函数的增长速度快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哪一个慢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图象略</a:t>
            </a:r>
            <a:r>
              <a:rPr lang="en-US" altLang="zh-CN" i="1" dirty="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都是单调递增的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增长速度快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增长速度慢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342673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一般</a:t>
            </a:r>
            <a:r>
              <a:rPr lang="zh-CN" altLang="zh-CN" dirty="0">
                <a:solidFill>
                  <a:srgbClr val="000000"/>
                </a:solidFill>
                <a:ea typeface="宋体" panose="02010600030101010101" pitchFamily="2" charset="-122"/>
                <a:cs typeface="Times New Roman" panose="02020603050405020304" pitchFamily="18" charset="0"/>
              </a:rPr>
              <a:t>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虽然对数函数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与一次函数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内都单调递增</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但它们的</a:t>
            </a:r>
            <a:r>
              <a:rPr lang="zh-CN" altLang="zh-CN" dirty="0" smtClean="0">
                <a:solidFill>
                  <a:srgbClr val="000000"/>
                </a:solidFill>
                <a:ea typeface="宋体" panose="02010600030101010101" pitchFamily="2" charset="-122"/>
                <a:cs typeface="Times New Roman" panose="02020603050405020304" pitchFamily="18" charset="0"/>
              </a:rPr>
              <a:t>增长速度</a:t>
            </a:r>
            <a:r>
              <a:rPr lang="zh-CN" altLang="zh-CN" dirty="0" smtClean="0">
                <a:ea typeface="宋体" panose="02010600030101010101" pitchFamily="2" charset="-122"/>
                <a:cs typeface="Times New Roman" panose="02020603050405020304" pitchFamily="18" charset="0"/>
              </a:rPr>
              <a:t>不同</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随着</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一次函数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保持固定的增长速度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而对数函数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的增长速度</a:t>
            </a:r>
            <a:r>
              <a:rPr lang="zh-CN" altLang="zh-CN" dirty="0">
                <a:ea typeface="宋体" panose="02010600030101010101" pitchFamily="2" charset="-122"/>
                <a:cs typeface="Times New Roman" panose="02020603050405020304" pitchFamily="18" charset="0"/>
              </a:rPr>
              <a:t>越来越慢</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不论</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的值比</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宋体" panose="02010600030101010101" pitchFamily="2" charset="-122"/>
                <a:cs typeface="Times New Roman" panose="02020603050405020304" pitchFamily="18" charset="0"/>
              </a:rPr>
              <a:t>的值大多少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在一定范围内</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可能会大于</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但由于</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smtClean="0">
                <a:solidFill>
                  <a:srgbClr val="000000"/>
                </a:solidFill>
                <a:ea typeface="宋体" panose="02010600030101010101" pitchFamily="2" charset="-122"/>
                <a:cs typeface="Times New Roman" panose="02020603050405020304" pitchFamily="18" charset="0"/>
              </a:rPr>
              <a:t>增长</a:t>
            </a:r>
            <a:r>
              <a:rPr lang="zh-CN" altLang="en-US" dirty="0" smtClean="0">
                <a:solidFill>
                  <a:srgbClr val="000000"/>
                </a:solidFill>
                <a:ea typeface="宋体" panose="02010600030101010101" pitchFamily="2" charset="-122"/>
                <a:cs typeface="Times New Roman" panose="02020603050405020304" pitchFamily="18" charset="0"/>
              </a:rPr>
              <a:t>最终会</a:t>
            </a:r>
            <a:r>
              <a:rPr lang="zh-CN" altLang="zh-CN" dirty="0" smtClean="0">
                <a:solidFill>
                  <a:srgbClr val="000000"/>
                </a:solidFill>
                <a:ea typeface="宋体" panose="02010600030101010101" pitchFamily="2" charset="-122"/>
                <a:cs typeface="Times New Roman" panose="02020603050405020304" pitchFamily="18" charset="0"/>
              </a:rPr>
              <a:t>慢</a:t>
            </a:r>
            <a:r>
              <a:rPr lang="zh-CN" altLang="zh-CN" dirty="0">
                <a:solidFill>
                  <a:srgbClr val="000000"/>
                </a:solidFill>
                <a:ea typeface="宋体" panose="02010600030101010101" pitchFamily="2" charset="-122"/>
                <a:cs typeface="Times New Roman" panose="02020603050405020304" pitchFamily="18" charset="0"/>
              </a:rPr>
              <a:t>于</a:t>
            </a:r>
            <a:r>
              <a:rPr lang="en-US" altLang="zh-CN" i="1" dirty="0" err="1">
                <a:solidFill>
                  <a:srgbClr val="000000"/>
                </a:solidFill>
                <a:ea typeface="宋体" panose="02010600030101010101" pitchFamily="2" charset="-122"/>
                <a:cs typeface="Times New Roman" panose="02020603050405020304" pitchFamily="18" charset="0"/>
              </a:rPr>
              <a:t>kx</a:t>
            </a:r>
            <a:r>
              <a:rPr lang="zh-CN" altLang="zh-CN" dirty="0">
                <a:solidFill>
                  <a:srgbClr val="000000"/>
                </a:solidFill>
                <a:ea typeface="宋体" panose="02010600030101010101" pitchFamily="2" charset="-122"/>
                <a:cs typeface="Times New Roman" panose="02020603050405020304" pitchFamily="18" charset="0"/>
              </a:rPr>
              <a:t>的增长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a:t>
            </a:r>
            <a:r>
              <a:rPr lang="zh-CN" altLang="zh-CN" dirty="0" smtClean="0">
                <a:solidFill>
                  <a:srgbClr val="000000"/>
                </a:solidFill>
                <a:ea typeface="宋体" panose="02010600030101010101" pitchFamily="2" charset="-122"/>
                <a:cs typeface="Times New Roman" panose="02020603050405020304" pitchFamily="18" charset="0"/>
              </a:rPr>
              <a:t>总</a:t>
            </a:r>
            <a:r>
              <a:rPr lang="zh-CN" altLang="en-US" dirty="0" smtClean="0">
                <a:solidFill>
                  <a:srgbClr val="000000"/>
                </a:solidFill>
                <a:ea typeface="宋体" panose="02010600030101010101" pitchFamily="2" charset="-122"/>
                <a:cs typeface="Times New Roman" panose="02020603050405020304" pitchFamily="18" charset="0"/>
              </a:rPr>
              <a:t>会</a:t>
            </a:r>
            <a:r>
              <a:rPr lang="zh-CN" altLang="zh-CN" dirty="0" smtClean="0">
                <a:solidFill>
                  <a:srgbClr val="000000"/>
                </a:solidFill>
                <a:ea typeface="宋体" panose="02010600030101010101" pitchFamily="2" charset="-122"/>
                <a:cs typeface="Times New Roman" panose="02020603050405020304" pitchFamily="18" charset="0"/>
              </a:rPr>
              <a:t>存在</a:t>
            </a:r>
            <a:r>
              <a:rPr lang="zh-CN" altLang="zh-CN" dirty="0">
                <a:solidFill>
                  <a:srgbClr val="000000"/>
                </a:solidFill>
                <a:ea typeface="宋体" panose="02010600030101010101" pitchFamily="2" charset="-122"/>
                <a:cs typeface="Times New Roman" panose="02020603050405020304" pitchFamily="18" charset="0"/>
              </a:rPr>
              <a:t>一个</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x&gt;x</a:t>
            </a:r>
            <a:r>
              <a:rPr lang="en-US" altLang="zh-CN" baseline="-25000"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恒有</a:t>
            </a:r>
            <a:r>
              <a:rPr lang="en-US" altLang="zh-CN" dirty="0" err="1" smtClean="0">
                <a:ea typeface="宋体" panose="02010600030101010101" pitchFamily="2" charset="-122"/>
                <a:cs typeface="Times New Roman" panose="02020603050405020304" pitchFamily="18" charset="0"/>
              </a:rPr>
              <a:t>log</a:t>
            </a:r>
            <a:r>
              <a:rPr lang="en-US" altLang="zh-CN" i="1" baseline="-25000" dirty="0" err="1" smtClean="0">
                <a:ea typeface="宋体" panose="02010600030101010101" pitchFamily="2" charset="-122"/>
                <a:cs typeface="Times New Roman" panose="02020603050405020304" pitchFamily="18" charset="0"/>
              </a:rPr>
              <a:t>a</a:t>
            </a:r>
            <a:r>
              <a:rPr lang="en-US" altLang="zh-CN" i="1" dirty="0" err="1" smtClean="0">
                <a:ea typeface="宋体" panose="02010600030101010101" pitchFamily="2" charset="-122"/>
                <a:cs typeface="Times New Roman" panose="02020603050405020304" pitchFamily="18" charset="0"/>
              </a:rPr>
              <a:t>x</a:t>
            </a:r>
            <a:r>
              <a:rPr lang="en-US" altLang="zh-CN" i="1" dirty="0" smtClean="0">
                <a:ea typeface="宋体" panose="02010600030101010101" pitchFamily="2" charset="-122"/>
                <a:cs typeface="Times New Roman" panose="02020603050405020304" pitchFamily="18" charset="0"/>
              </a:rPr>
              <a:t>&lt;</a:t>
            </a:r>
            <a:r>
              <a:rPr lang="en-US" altLang="zh-CN" i="1" dirty="0" err="1" smtClean="0">
                <a:ea typeface="宋体" panose="02010600030101010101" pitchFamily="2" charset="-122"/>
                <a:cs typeface="Times New Roman" panose="02020603050405020304" pitchFamily="18" charset="0"/>
              </a:rPr>
              <a:t>kx</a:t>
            </a:r>
            <a:r>
              <a:rPr lang="en-US" altLang="zh-CN" i="1" dirty="0" smtClean="0">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8189645" y="180467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185055" y="2268771"/>
            <a:ext cx="776265"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4670159" y="2973571"/>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4665986" y="3437669"/>
            <a:ext cx="1593128"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9196831" y="4183469"/>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9192658" y="4647567"/>
            <a:ext cx="159312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9699525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928746967"/>
              </p:ext>
            </p:extLst>
          </p:nvPr>
        </p:nvGraphicFramePr>
        <p:xfrm>
          <a:off x="493713" y="1428750"/>
          <a:ext cx="11645900" cy="1766888"/>
        </p:xfrm>
        <a:graphic>
          <a:graphicData uri="http://schemas.openxmlformats.org/presentationml/2006/ole">
            <mc:AlternateContent xmlns:mc="http://schemas.openxmlformats.org/markup-compatibility/2006">
              <mc:Choice xmlns:v="urn:schemas-microsoft-com:vml" Requires="v">
                <p:oleObj spid="_x0000_s1044" name="文档" r:id="rId4" imgW="3826872" imgH="581835" progId="Word.Document.12">
                  <p:embed/>
                </p:oleObj>
              </mc:Choice>
              <mc:Fallback>
                <p:oleObj name="文档" r:id="rId4" imgW="3826872" imgH="581835" progId="Word.Document.12">
                  <p:embed/>
                  <p:pic>
                    <p:nvPicPr>
                      <p:cNvPr id="0" name=""/>
                      <p:cNvPicPr/>
                      <p:nvPr/>
                    </p:nvPicPr>
                    <p:blipFill>
                      <a:blip r:embed="rId5"/>
                      <a:stretch>
                        <a:fillRect/>
                      </a:stretch>
                    </p:blipFill>
                    <p:spPr>
                      <a:xfrm>
                        <a:off x="493713" y="1428750"/>
                        <a:ext cx="11645900" cy="1766888"/>
                      </a:xfrm>
                      <a:prstGeom prst="rect">
                        <a:avLst/>
                      </a:prstGeom>
                    </p:spPr>
                  </p:pic>
                </p:oleObj>
              </mc:Fallback>
            </mc:AlternateContent>
          </a:graphicData>
        </a:graphic>
      </p:graphicFrame>
      <p:sp>
        <p:nvSpPr>
          <p:cNvPr id="4" name="矩形 3"/>
          <p:cNvSpPr>
            <a:spLocks noChangeAspect="1"/>
          </p:cNvSpPr>
          <p:nvPr/>
        </p:nvSpPr>
        <p:spPr>
          <a:xfrm>
            <a:off x="361950" y="3246582"/>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指数函数的增长速度最快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9600504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863284"/>
            <a:ext cx="13155631" cy="4763227"/>
            <a:chOff x="361950" y="853124"/>
            <a:chExt cx="13155631" cy="4763227"/>
          </a:xfrm>
        </p:grpSpPr>
        <p:sp>
          <p:nvSpPr>
            <p:cNvPr id="5" name="矩形 4"/>
            <p:cNvSpPr>
              <a:spLocks noChangeAspect="1"/>
            </p:cNvSpPr>
            <p:nvPr/>
          </p:nvSpPr>
          <p:spPr>
            <a:xfrm>
              <a:off x="361950" y="853124"/>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比</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增长的速度更快些</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对任意的</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总有</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&lt;</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i="1" dirty="0">
                  <a:solidFill>
                    <a:srgbClr val="000000"/>
                  </a:solidFill>
                  <a:ea typeface="宋体" panose="02010600030101010101" pitchFamily="2" charset="-122"/>
                  <a:cs typeface="Times New Roman" panose="02020603050405020304" pitchFamily="18" charset="0"/>
                </a:rPr>
                <a:t>&lt;a</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成立</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函数</a:t>
              </a:r>
              <a:r>
                <a:rPr lang="en-US" altLang="zh-CN" dirty="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减小</a:t>
              </a:r>
              <a:r>
                <a:rPr lang="zh-CN" altLang="zh-CN" dirty="0">
                  <a:solidFill>
                    <a:srgbClr val="000000"/>
                  </a:solidFill>
                  <a:ea typeface="宋体" panose="02010600030101010101" pitchFamily="2" charset="-122"/>
                  <a:cs typeface="Times New Roman" panose="02020603050405020304" pitchFamily="18" charset="0"/>
                </a:rPr>
                <a:t>的速度越来越慢</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在指数函数</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底数</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越大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其增长速度越快</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659332516"/>
                </p:ext>
              </p:extLst>
            </p:nvPr>
          </p:nvGraphicFramePr>
          <p:xfrm>
            <a:off x="1845622" y="4371895"/>
            <a:ext cx="11671959" cy="706990"/>
          </p:xfrm>
          <a:graphic>
            <a:graphicData uri="http://schemas.openxmlformats.org/presentationml/2006/ole">
              <mc:AlternateContent xmlns:mc="http://schemas.openxmlformats.org/markup-compatibility/2006">
                <mc:Choice xmlns:v="urn:schemas-microsoft-com:vml" Requires="v">
                  <p:oleObj spid="_x0000_s2067" name="文档" r:id="rId4" imgW="3826872" imgH="231800" progId="Word.Document.12">
                    <p:embed/>
                  </p:oleObj>
                </mc:Choice>
                <mc:Fallback>
                  <p:oleObj name="文档" r:id="rId4" imgW="3826872" imgH="231800" progId="Word.Document.12">
                    <p:embed/>
                    <p:pic>
                      <p:nvPicPr>
                        <p:cNvPr id="0" name=""/>
                        <p:cNvPicPr/>
                        <p:nvPr/>
                      </p:nvPicPr>
                      <p:blipFill>
                        <a:blip r:embed="rId5"/>
                        <a:stretch>
                          <a:fillRect/>
                        </a:stretch>
                      </p:blipFill>
                      <p:spPr>
                        <a:xfrm>
                          <a:off x="1845622" y="4371895"/>
                          <a:ext cx="11671959" cy="706990"/>
                        </a:xfrm>
                        <a:prstGeom prst="rect">
                          <a:avLst/>
                        </a:prstGeom>
                      </p:spPr>
                    </p:pic>
                  </p:oleObj>
                </mc:Fallback>
              </mc:AlternateContent>
            </a:graphicData>
          </a:graphic>
        </p:graphicFrame>
      </p:grpSp>
      <p:sp>
        <p:nvSpPr>
          <p:cNvPr id="8" name="矩形 7"/>
          <p:cNvSpPr/>
          <p:nvPr/>
        </p:nvSpPr>
        <p:spPr>
          <a:xfrm>
            <a:off x="7345213" y="273603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678092" y="391906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45213" y="4504056"/>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369549" y="5058956"/>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843640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不同</a:t>
            </a:r>
            <a:r>
              <a:rPr lang="zh-CN" altLang="zh-CN" dirty="0"/>
              <a:t>函数的增长特点及其应用</a:t>
            </a:r>
          </a:p>
        </p:txBody>
      </p:sp>
      <p:sp>
        <p:nvSpPr>
          <p:cNvPr id="2" name="矩形 1"/>
          <p:cNvSpPr>
            <a:spLocks noChangeAspect="1"/>
          </p:cNvSpPr>
          <p:nvPr/>
        </p:nvSpPr>
        <p:spPr>
          <a:xfrm>
            <a:off x="361950" y="1420223"/>
            <a:ext cx="10807700" cy="4819781"/>
          </a:xfrm>
          <a:prstGeom prst="rect">
            <a:avLst/>
          </a:prstGeom>
        </p:spPr>
        <p:txBody>
          <a:bodyPr>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下列函数中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增长速度最快的是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1 021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1 021</a:t>
            </a:r>
            <a:r>
              <a:rPr lang="en-US" altLang="zh-CN" i="1" baseline="30000"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err="1">
                <a:solidFill>
                  <a:srgbClr val="000000"/>
                </a:solidFill>
                <a:ea typeface="宋体" panose="02010600030101010101" pitchFamily="2" charset="-122"/>
                <a:cs typeface="Times New Roman" panose="02020603050405020304" pitchFamily="18" charset="0"/>
              </a:rPr>
              <a:t>C.</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1 021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err="1">
                <a:solidFill>
                  <a:srgbClr val="000000"/>
                </a:solidFill>
                <a:ea typeface="宋体" panose="02010600030101010101" pitchFamily="2" charset="-122"/>
                <a:cs typeface="Times New Roman" panose="02020603050405020304" pitchFamily="18" charset="0"/>
              </a:rPr>
              <a:t>D.</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1 020</a:t>
            </a:r>
            <a:r>
              <a:rPr lang="en-US" altLang="zh-CN" i="1" baseline="30000"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smtClean="0">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在</a:t>
            </a:r>
            <a:r>
              <a:rPr lang="zh-CN" altLang="zh-CN" dirty="0">
                <a:solidFill>
                  <a:srgbClr val="000000"/>
                </a:solidFill>
                <a:ea typeface="楷体" panose="02010609060101010101" pitchFamily="49" charset="-122"/>
                <a:cs typeface="Times New Roman" panose="02020603050405020304" pitchFamily="18" charset="0"/>
              </a:rPr>
              <a:t>一次函数、指数函数、对数函数中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增长速度最快的是指数函数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又因为</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021</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021</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比</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020</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的增长速度快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因此选</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答案</a:t>
            </a:r>
            <a:r>
              <a:rPr lang="en-US" altLang="zh-CN" dirty="0" smtClean="0">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3" dur="500"/>
                                        <p:tgtEl>
                                          <p:spTgt spid="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延伸探究H.eps" descr="id:2147492067;FounderCES"/>
          <p:cNvPicPr/>
          <p:nvPr/>
        </p:nvPicPr>
        <p:blipFill>
          <a:blip r:embed="rId3"/>
          <a:stretch>
            <a:fillRect/>
          </a:stretch>
        </p:blipFill>
        <p:spPr>
          <a:xfrm>
            <a:off x="4062812" y="796146"/>
            <a:ext cx="2740119" cy="499725"/>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747291502"/>
              </p:ext>
            </p:extLst>
          </p:nvPr>
        </p:nvGraphicFramePr>
        <p:xfrm>
          <a:off x="360437" y="1358047"/>
          <a:ext cx="10607329" cy="1451672"/>
        </p:xfrm>
        <a:graphic>
          <a:graphicData uri="http://schemas.openxmlformats.org/presentationml/2006/ole">
            <mc:AlternateContent xmlns:mc="http://schemas.openxmlformats.org/markup-compatibility/2006">
              <mc:Choice xmlns:v="urn:schemas-microsoft-com:vml" Requires="v">
                <p:oleObj spid="_x0000_s3104" name="文档" r:id="rId5" imgW="3477813" imgH="475958" progId="Word.Document.12">
                  <p:embed/>
                </p:oleObj>
              </mc:Choice>
              <mc:Fallback>
                <p:oleObj name="文档" r:id="rId5" imgW="3477813" imgH="475958" progId="Word.Document.12">
                  <p:embed/>
                  <p:pic>
                    <p:nvPicPr>
                      <p:cNvPr id="0" name=""/>
                      <p:cNvPicPr/>
                      <p:nvPr/>
                    </p:nvPicPr>
                    <p:blipFill>
                      <a:blip r:embed="rId6"/>
                      <a:stretch>
                        <a:fillRect/>
                      </a:stretch>
                    </p:blipFill>
                    <p:spPr>
                      <a:xfrm>
                        <a:off x="360437" y="1358047"/>
                        <a:ext cx="10607329" cy="145167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42099215"/>
              </p:ext>
            </p:extLst>
          </p:nvPr>
        </p:nvGraphicFramePr>
        <p:xfrm>
          <a:off x="360436" y="2855790"/>
          <a:ext cx="10607329" cy="2903344"/>
        </p:xfrm>
        <a:graphic>
          <a:graphicData uri="http://schemas.openxmlformats.org/presentationml/2006/ole">
            <mc:AlternateContent xmlns:mc="http://schemas.openxmlformats.org/markup-compatibility/2006">
              <mc:Choice xmlns:v="urn:schemas-microsoft-com:vml" Requires="v">
                <p:oleObj spid="_x0000_s3105" name="文档" r:id="rId8" imgW="3477813" imgH="951916" progId="Word.Document.12">
                  <p:embed/>
                </p:oleObj>
              </mc:Choice>
              <mc:Fallback>
                <p:oleObj name="文档" r:id="rId8" imgW="3477813" imgH="951916" progId="Word.Document.12">
                  <p:embed/>
                  <p:pic>
                    <p:nvPicPr>
                      <p:cNvPr id="0" name=""/>
                      <p:cNvPicPr/>
                      <p:nvPr/>
                    </p:nvPicPr>
                    <p:blipFill>
                      <a:blip r:embed="rId9"/>
                      <a:stretch>
                        <a:fillRect/>
                      </a:stretch>
                    </p:blipFill>
                    <p:spPr>
                      <a:xfrm>
                        <a:off x="360436" y="2855790"/>
                        <a:ext cx="10607329" cy="2903344"/>
                      </a:xfrm>
                      <a:prstGeom prst="rect">
                        <a:avLst/>
                      </a:prstGeom>
                    </p:spPr>
                  </p:pic>
                </p:oleObj>
              </mc:Fallback>
            </mc:AlternateContent>
          </a:graphicData>
        </a:graphic>
      </p:graphicFrame>
    </p:spTree>
    <p:extLst>
      <p:ext uri="{BB962C8B-B14F-4D97-AF65-F5344CB8AC3E}">
        <p14:creationId xmlns:p14="http://schemas.microsoft.com/office/powerpoint/2010/main" val="96461274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33279"/>
            <a:ext cx="10807700" cy="594508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常见</a:t>
            </a:r>
            <a:r>
              <a:rPr lang="zh-CN" altLang="zh-CN" dirty="0">
                <a:solidFill>
                  <a:srgbClr val="000000"/>
                </a:solidFill>
                <a:ea typeface="仿宋" panose="02010609060101010101" pitchFamily="49" charset="-122"/>
                <a:cs typeface="Times New Roman" panose="02020603050405020304" pitchFamily="18" charset="0"/>
              </a:rPr>
              <a:t>函数模型的增长特点</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线性函数模型</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的增长特点是直线上升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其增长速度不变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指数函数模型</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的增长特点是随着自变量的增大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函数值增大的速度越来越快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形象地称为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指数爆炸</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对数函数模型</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的增长特点是随着自变量的增大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函数值增大的速度越来越慢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即增长速度平缓</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幂函数模型</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baseline="30000" dirty="0" err="1">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的增长速度介于指数增长和对数增长之间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0299905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函数</a:t>
            </a:r>
            <a:r>
              <a:rPr lang="zh-CN" altLang="zh-CN" dirty="0"/>
              <a:t>模型的选择</a:t>
            </a:r>
          </a:p>
        </p:txBody>
      </p:sp>
      <p:sp>
        <p:nvSpPr>
          <p:cNvPr id="2" name="矩形 1"/>
          <p:cNvSpPr>
            <a:spLocks noChangeAspect="1"/>
          </p:cNvSpPr>
          <p:nvPr/>
        </p:nvSpPr>
        <p:spPr>
          <a:xfrm>
            <a:off x="361950" y="1444055"/>
            <a:ext cx="10807700" cy="4228850"/>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某大型超市为了满足顾客对商品的购物需求</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对超市的商品种类做了一定的调整</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结果调整初期的利润增长迅速</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随着时间的推移</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增长速度越来越慢</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如果建立恰当的函数模型来反映该超市调整后利润</a:t>
            </a:r>
            <a:r>
              <a:rPr lang="en-US" altLang="zh-CN" i="1" dirty="0">
                <a:solidFill>
                  <a:srgbClr val="000000"/>
                </a:solidFill>
                <a:ea typeface="宋体" panose="02010600030101010101" pitchFamily="2" charset="-122"/>
              </a:rPr>
              <a:t>y</a:t>
            </a:r>
            <a:r>
              <a:rPr lang="zh-CN" altLang="zh-CN" dirty="0">
                <a:solidFill>
                  <a:srgbClr val="000000"/>
                </a:solidFill>
                <a:ea typeface="宋体" panose="02010600030101010101" pitchFamily="2" charset="-122"/>
                <a:cs typeface="Times New Roman" panose="02020603050405020304" pitchFamily="18" charset="0"/>
              </a:rPr>
              <a:t>与时间</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的关系</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那么可选用</a:t>
            </a:r>
            <a:r>
              <a:rPr lang="en-US" altLang="zh-CN" dirty="0">
                <a:solidFill>
                  <a:srgbClr val="000000"/>
                </a:solidFill>
                <a:ea typeface="宋体" panose="02010600030101010101" pitchFamily="2" charset="-122"/>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一次函数</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二次函数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指数型函数</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对数型函数</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44055"/>
            <a:ext cx="10807700" cy="2990434"/>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在四个函数中</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选项</a:t>
            </a:r>
            <a:r>
              <a:rPr lang="en-US" altLang="zh-CN"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中函数的增长速度不变</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选项</a:t>
            </a:r>
            <a:r>
              <a:rPr lang="en-US" altLang="zh-CN" dirty="0">
                <a:solidFill>
                  <a:srgbClr val="000000"/>
                </a:solidFill>
                <a:ea typeface="宋体" panose="02010600030101010101" pitchFamily="2" charset="-122"/>
              </a:rPr>
              <a:t>B,C</a:t>
            </a:r>
            <a:r>
              <a:rPr lang="zh-CN" altLang="zh-CN" dirty="0">
                <a:solidFill>
                  <a:srgbClr val="000000"/>
                </a:solidFill>
                <a:ea typeface="楷体" panose="02010609060101010101" pitchFamily="49" charset="-122"/>
                <a:cs typeface="Times New Roman" panose="02020603050405020304" pitchFamily="18" charset="0"/>
              </a:rPr>
              <a:t>中函数的增长速度越来越快</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其中选项</a:t>
            </a:r>
            <a:r>
              <a:rPr lang="en-US" altLang="zh-CN" dirty="0">
                <a:solidFill>
                  <a:srgbClr val="000000"/>
                </a:solidFill>
                <a:ea typeface="宋体" panose="02010600030101010101" pitchFamily="2" charset="-122"/>
              </a:rPr>
              <a:t>C</a:t>
            </a:r>
            <a:r>
              <a:rPr lang="zh-CN" altLang="zh-CN" dirty="0">
                <a:solidFill>
                  <a:srgbClr val="000000"/>
                </a:solidFill>
                <a:ea typeface="楷体" panose="02010609060101010101" pitchFamily="49" charset="-122"/>
                <a:cs typeface="Times New Roman" panose="02020603050405020304" pitchFamily="18" charset="0"/>
              </a:rPr>
              <a:t>中函数的增长速度比选项</a:t>
            </a:r>
            <a:r>
              <a:rPr lang="en-US" altLang="zh-CN" dirty="0">
                <a:solidFill>
                  <a:srgbClr val="000000"/>
                </a:solidFill>
                <a:ea typeface="宋体" panose="02010600030101010101" pitchFamily="2" charset="-122"/>
              </a:rPr>
              <a:t>B</a:t>
            </a:r>
            <a:r>
              <a:rPr lang="zh-CN" altLang="zh-CN" dirty="0">
                <a:solidFill>
                  <a:srgbClr val="000000"/>
                </a:solidFill>
                <a:ea typeface="楷体" panose="02010609060101010101" pitchFamily="49" charset="-122"/>
                <a:cs typeface="Times New Roman" panose="02020603050405020304" pitchFamily="18" charset="0"/>
              </a:rPr>
              <a:t>中函数的增长速度更快</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选项</a:t>
            </a:r>
            <a:r>
              <a:rPr lang="en-US" altLang="zh-CN" dirty="0">
                <a:solidFill>
                  <a:srgbClr val="000000"/>
                </a:solidFill>
                <a:ea typeface="宋体" panose="02010600030101010101" pitchFamily="2" charset="-122"/>
              </a:rPr>
              <a:t>D</a:t>
            </a:r>
            <a:r>
              <a:rPr lang="zh-CN" altLang="zh-CN" dirty="0">
                <a:solidFill>
                  <a:srgbClr val="000000"/>
                </a:solidFill>
                <a:ea typeface="楷体" panose="02010609060101010101" pitchFamily="49" charset="-122"/>
                <a:cs typeface="Times New Roman" panose="02020603050405020304" pitchFamily="18" charset="0"/>
              </a:rPr>
              <a:t>中函数的增长速度越来越慢</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故只有选项</a:t>
            </a:r>
            <a:r>
              <a:rPr lang="en-US" altLang="zh-CN" dirty="0">
                <a:solidFill>
                  <a:srgbClr val="000000"/>
                </a:solidFill>
                <a:ea typeface="宋体" panose="02010600030101010101" pitchFamily="2" charset="-122"/>
              </a:rPr>
              <a:t>D</a:t>
            </a:r>
            <a:r>
              <a:rPr lang="zh-CN" altLang="zh-CN" dirty="0">
                <a:solidFill>
                  <a:srgbClr val="000000"/>
                </a:solidFill>
                <a:ea typeface="楷体" panose="02010609060101010101" pitchFamily="49" charset="-122"/>
                <a:cs typeface="Times New Roman" panose="02020603050405020304" pitchFamily="18" charset="0"/>
              </a:rPr>
              <a:t>符合题意</a:t>
            </a:r>
            <a:endParaRPr lang="zh-CN" altLang="en-US" dirty="0"/>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9962895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20134"/>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根据</a:t>
            </a:r>
            <a:r>
              <a:rPr lang="zh-CN" altLang="zh-CN" dirty="0">
                <a:solidFill>
                  <a:srgbClr val="000000"/>
                </a:solidFill>
                <a:ea typeface="仿宋" panose="02010609060101010101" pitchFamily="49" charset="-122"/>
                <a:cs typeface="Times New Roman" panose="02020603050405020304" pitchFamily="18" charset="0"/>
              </a:rPr>
              <a:t>实际问题提供的两个变量的数量关系可构建和选择正确的函数模型</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同时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要注意利用函数图象的直观性来确定适合题意的函数模型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7839703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007839"/>
            <a:ext cx="10844037" cy="4361294"/>
            <a:chOff x="361950" y="647799"/>
            <a:chExt cx="10844037" cy="4361294"/>
          </a:xfrm>
        </p:grpSpPr>
        <p:sp>
          <p:nvSpPr>
            <p:cNvPr id="2" name="矩形 1"/>
            <p:cNvSpPr>
              <a:spLocks noChangeAspect="1"/>
            </p:cNvSpPr>
            <p:nvPr/>
          </p:nvSpPr>
          <p:spPr>
            <a:xfrm>
              <a:off x="361950" y="647799"/>
              <a:ext cx="10807700" cy="1274195"/>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四个变量</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2</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3</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4</a:t>
              </a:r>
              <a:r>
                <a:rPr lang="zh-CN" altLang="zh-CN" dirty="0">
                  <a:solidFill>
                    <a:srgbClr val="000000"/>
                  </a:solidFill>
                  <a:ea typeface="宋体" panose="02010600030101010101" pitchFamily="2" charset="-122"/>
                  <a:cs typeface="Times New Roman" panose="02020603050405020304" pitchFamily="18" charset="0"/>
                </a:rPr>
                <a:t>随变量</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变化的数据如</a:t>
              </a:r>
              <a:r>
                <a:rPr lang="zh-CN" altLang="zh-CN" dirty="0" smtClean="0">
                  <a:solidFill>
                    <a:srgbClr val="000000"/>
                  </a:solidFill>
                  <a:ea typeface="宋体" panose="02010600030101010101" pitchFamily="2" charset="-122"/>
                  <a:cs typeface="Times New Roman" panose="02020603050405020304" pitchFamily="18" charset="0"/>
                </a:rPr>
                <a:t>表</a:t>
              </a:r>
              <a:r>
                <a:rPr lang="zh-CN" altLang="en-US" dirty="0" smtClean="0">
                  <a:solidFill>
                    <a:srgbClr val="000000"/>
                  </a:solidFill>
                  <a:ea typeface="宋体" panose="02010600030101010101" pitchFamily="2" charset="-122"/>
                  <a:cs typeface="Times New Roman" panose="02020603050405020304" pitchFamily="18" charset="0"/>
                </a:rPr>
                <a:t>所示</a:t>
              </a:r>
              <a:r>
                <a:rPr lang="en-US" altLang="zh-CN" dirty="0" smtClean="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361127657"/>
                </p:ext>
              </p:extLst>
            </p:nvPr>
          </p:nvGraphicFramePr>
          <p:xfrm>
            <a:off x="435896" y="1935146"/>
            <a:ext cx="10770091" cy="3064115"/>
          </p:xfrm>
          <a:graphic>
            <a:graphicData uri="http://schemas.openxmlformats.org/presentationml/2006/ole">
              <mc:AlternateContent xmlns:mc="http://schemas.openxmlformats.org/markup-compatibility/2006">
                <mc:Choice xmlns:v="urn:schemas-microsoft-com:vml" Requires="v">
                  <p:oleObj spid="_x0000_s4111" name="文档" r:id="rId4" imgW="3884295" imgH="1105091" progId="Word.Document.12">
                    <p:embed/>
                  </p:oleObj>
                </mc:Choice>
                <mc:Fallback>
                  <p:oleObj name="文档" r:id="rId4" imgW="3884295" imgH="1105091" progId="Word.Document.12">
                    <p:embed/>
                    <p:pic>
                      <p:nvPicPr>
                        <p:cNvPr id="0" name=""/>
                        <p:cNvPicPr/>
                        <p:nvPr/>
                      </p:nvPicPr>
                      <p:blipFill>
                        <a:blip r:embed="rId5"/>
                        <a:stretch>
                          <a:fillRect/>
                        </a:stretch>
                      </p:blipFill>
                      <p:spPr>
                        <a:xfrm>
                          <a:off x="435896" y="1935146"/>
                          <a:ext cx="10770091" cy="3064115"/>
                        </a:xfrm>
                        <a:prstGeom prst="rect">
                          <a:avLst/>
                        </a:prstGeom>
                      </p:spPr>
                    </p:pic>
                  </p:oleObj>
                </mc:Fallback>
              </mc:AlternateContent>
            </a:graphicData>
          </a:graphic>
        </p:graphicFrame>
        <p:sp>
          <p:nvSpPr>
            <p:cNvPr id="5" name="矩形 4"/>
            <p:cNvSpPr>
              <a:spLocks noChangeAspect="1"/>
            </p:cNvSpPr>
            <p:nvPr/>
          </p:nvSpPr>
          <p:spPr>
            <a:xfrm>
              <a:off x="361950" y="4382383"/>
              <a:ext cx="10807700" cy="626710"/>
            </a:xfrm>
            <a:prstGeom prst="rect">
              <a:avLst/>
            </a:prstGeom>
          </p:spPr>
          <p:txBody>
            <a:bodyPr>
              <a:spAutoFit/>
            </a:bodyPr>
            <a:lstStyle/>
            <a:p>
              <a:pPr>
                <a:lnSpc>
                  <a:spcPct val="120000"/>
                </a:lnSpc>
              </a:pPr>
              <a:r>
                <a:rPr lang="zh-CN" altLang="zh-CN" dirty="0">
                  <a:solidFill>
                    <a:srgbClr val="000000"/>
                  </a:solidFill>
                  <a:ea typeface="宋体" panose="02010600030101010101" pitchFamily="2" charset="-122"/>
                  <a:cs typeface="Times New Roman" panose="02020603050405020304" pitchFamily="18" charset="0"/>
                </a:rPr>
                <a:t>关于</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呈指数增长的变量是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rPr>
                <a:t>.</a:t>
              </a:r>
              <a:r>
                <a:rPr lang="en-US" altLang="zh-CN" i="1" dirty="0">
                  <a:solidFill>
                    <a:srgbClr val="000000"/>
                  </a:solidFill>
                  <a:latin typeface="宋体" panose="02010600030101010101" pitchFamily="2" charset="-122"/>
                  <a:cs typeface="Times New Roman" panose="02020603050405020304" pitchFamily="18" charset="0"/>
                </a:rPr>
                <a:t> </a:t>
              </a:r>
              <a:endParaRPr lang="zh-CN" altLang="en-US" dirty="0"/>
            </a:p>
          </p:txBody>
        </p:sp>
      </p:grpSp>
    </p:spTree>
    <p:extLst>
      <p:ext uri="{BB962C8B-B14F-4D97-AF65-F5344CB8AC3E}">
        <p14:creationId xmlns:p14="http://schemas.microsoft.com/office/powerpoint/2010/main" val="100101862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502063"/>
            <a:ext cx="10807700" cy="3046988"/>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以爆炸式增长的变量呈指数增长</a:t>
            </a:r>
            <a:r>
              <a:rPr lang="en-US" altLang="zh-CN" i="1" dirty="0">
                <a:solidFill>
                  <a:srgbClr val="000000"/>
                </a:solidFill>
                <a:ea typeface="宋体" panose="02010600030101010101" pitchFamily="2" charset="-122"/>
              </a:rPr>
              <a:t>.</a:t>
            </a:r>
            <a:r>
              <a:rPr lang="zh-CN" altLang="zh-CN" dirty="0" smtClean="0">
                <a:solidFill>
                  <a:srgbClr val="000000"/>
                </a:solidFill>
                <a:ea typeface="楷体" panose="02010609060101010101" pitchFamily="49" charset="-122"/>
                <a:cs typeface="Times New Roman" panose="02020603050405020304" pitchFamily="18" charset="0"/>
              </a:rPr>
              <a:t>从</a:t>
            </a:r>
            <a:r>
              <a:rPr lang="zh-CN" altLang="en-US" dirty="0" smtClean="0">
                <a:solidFill>
                  <a:srgbClr val="000000"/>
                </a:solidFill>
                <a:ea typeface="楷体" panose="02010609060101010101" pitchFamily="49" charset="-122"/>
                <a:cs typeface="Times New Roman" panose="02020603050405020304" pitchFamily="18" charset="0"/>
              </a:rPr>
              <a:t>题中</a:t>
            </a:r>
            <a:r>
              <a:rPr lang="zh-CN" altLang="zh-CN" dirty="0" smtClean="0">
                <a:solidFill>
                  <a:srgbClr val="000000"/>
                </a:solidFill>
                <a:ea typeface="楷体" panose="02010609060101010101" pitchFamily="49" charset="-122"/>
                <a:cs typeface="Times New Roman" panose="02020603050405020304" pitchFamily="18" charset="0"/>
              </a:rPr>
              <a:t>表格可以</a:t>
            </a:r>
            <a:r>
              <a:rPr lang="zh-CN" altLang="zh-CN" dirty="0">
                <a:solidFill>
                  <a:srgbClr val="000000"/>
                </a:solidFill>
                <a:ea typeface="楷体" panose="02010609060101010101" pitchFamily="49" charset="-122"/>
                <a:cs typeface="Times New Roman" panose="02020603050405020304" pitchFamily="18" charset="0"/>
              </a:rPr>
              <a:t>看出</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四个变量</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2</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3</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4</a:t>
            </a:r>
            <a:r>
              <a:rPr lang="zh-CN" altLang="zh-CN" dirty="0">
                <a:solidFill>
                  <a:srgbClr val="000000"/>
                </a:solidFill>
                <a:ea typeface="楷体" panose="02010609060101010101" pitchFamily="49" charset="-122"/>
                <a:cs typeface="Times New Roman" panose="02020603050405020304" pitchFamily="18" charset="0"/>
              </a:rPr>
              <a:t>均是从</a:t>
            </a:r>
            <a:r>
              <a:rPr lang="en-US" altLang="zh-CN"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开始变化</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且都是越来越大</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但是增长速度不同</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其中变量</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的增长速度最快</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可知变量</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关于</a:t>
            </a:r>
            <a:r>
              <a:rPr lang="en-US" altLang="zh-CN" i="1" dirty="0">
                <a:solidFill>
                  <a:srgbClr val="000000"/>
                </a:solidFill>
                <a:ea typeface="宋体" panose="02010600030101010101" pitchFamily="2" charset="-122"/>
              </a:rPr>
              <a:t>x</a:t>
            </a:r>
            <a:r>
              <a:rPr lang="zh-CN" altLang="zh-CN" dirty="0">
                <a:solidFill>
                  <a:srgbClr val="000000"/>
                </a:solidFill>
                <a:ea typeface="楷体" panose="02010609060101010101" pitchFamily="49" charset="-122"/>
                <a:cs typeface="Times New Roman" panose="02020603050405020304" pitchFamily="18" charset="0"/>
              </a:rPr>
              <a:t>呈指数增长</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111271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132861" y="719807"/>
            <a:ext cx="9273910"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探究</a:t>
            </a:r>
            <a:r>
              <a:rPr lang="zh-CN" altLang="zh-CN" dirty="0" smtClean="0"/>
              <a:t>三</a:t>
            </a:r>
            <a:r>
              <a:rPr lang="en-US" altLang="zh-CN" dirty="0" smtClean="0"/>
              <a:t>  </a:t>
            </a:r>
            <a:r>
              <a:rPr lang="zh-CN" altLang="zh-CN" dirty="0" smtClean="0"/>
              <a:t>函数</a:t>
            </a:r>
            <a:r>
              <a:rPr lang="zh-CN" altLang="zh-CN" dirty="0"/>
              <a:t>不同增长特点在实际问题中的应用</a:t>
            </a:r>
          </a:p>
        </p:txBody>
      </p:sp>
      <p:grpSp>
        <p:nvGrpSpPr>
          <p:cNvPr id="6" name="组合 5"/>
          <p:cNvGrpSpPr/>
          <p:nvPr/>
        </p:nvGrpSpPr>
        <p:grpSpPr>
          <a:xfrm>
            <a:off x="-45033" y="1504999"/>
            <a:ext cx="12078942" cy="4307712"/>
            <a:chOff x="-45033" y="1452655"/>
            <a:chExt cx="12078942" cy="4307712"/>
          </a:xfrm>
        </p:grpSpPr>
        <p:sp>
          <p:nvSpPr>
            <p:cNvPr id="2" name="矩形 1"/>
            <p:cNvSpPr>
              <a:spLocks noChangeAspect="1"/>
            </p:cNvSpPr>
            <p:nvPr/>
          </p:nvSpPr>
          <p:spPr>
            <a:xfrm>
              <a:off x="361950" y="1452655"/>
              <a:ext cx="10807700" cy="1865126"/>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某企业常年生产一种出口产品</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最</a:t>
              </a:r>
              <a:r>
                <a:rPr lang="zh-CN" altLang="zh-CN" dirty="0" smtClean="0">
                  <a:solidFill>
                    <a:srgbClr val="000000"/>
                  </a:solidFill>
                  <a:ea typeface="宋体" panose="02010600030101010101" pitchFamily="2" charset="-122"/>
                  <a:cs typeface="Times New Roman" panose="02020603050405020304" pitchFamily="18" charset="0"/>
                </a:rPr>
                <a:t>近几年</a:t>
              </a:r>
              <a:r>
                <a:rPr lang="en-US" altLang="zh-CN" dirty="0" smtClean="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该产品的产量平稳增长</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记</a:t>
              </a:r>
              <a:r>
                <a:rPr lang="en-US" altLang="zh-CN" dirty="0" smtClean="0">
                  <a:solidFill>
                    <a:srgbClr val="000000"/>
                  </a:solidFill>
                  <a:ea typeface="宋体" panose="02010600030101010101" pitchFamily="2" charset="-122"/>
                </a:rPr>
                <a:t>2018</a:t>
              </a:r>
              <a:r>
                <a:rPr lang="zh-CN" altLang="zh-CN" dirty="0" smtClean="0">
                  <a:solidFill>
                    <a:srgbClr val="000000"/>
                  </a:solidFill>
                  <a:ea typeface="宋体" panose="02010600030101010101" pitchFamily="2" charset="-122"/>
                  <a:cs typeface="Times New Roman" panose="02020603050405020304" pitchFamily="18" charset="0"/>
                </a:rPr>
                <a:t>年</a:t>
              </a:r>
              <a:r>
                <a:rPr lang="zh-CN" altLang="zh-CN" dirty="0">
                  <a:solidFill>
                    <a:srgbClr val="000000"/>
                  </a:solidFill>
                  <a:ea typeface="宋体" panose="02010600030101010101" pitchFamily="2" charset="-122"/>
                  <a:cs typeface="Times New Roman" panose="02020603050405020304" pitchFamily="18" charset="0"/>
                </a:rPr>
                <a:t>为第</a:t>
              </a: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年</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且前</a:t>
              </a:r>
              <a:r>
                <a:rPr lang="en-US" altLang="zh-CN" dirty="0">
                  <a:solidFill>
                    <a:srgbClr val="000000"/>
                  </a:solidFill>
                  <a:ea typeface="宋体" panose="02010600030101010101" pitchFamily="2" charset="-122"/>
                </a:rPr>
                <a:t>4</a:t>
              </a:r>
              <a:r>
                <a:rPr lang="zh-CN" altLang="zh-CN" dirty="0">
                  <a:solidFill>
                    <a:srgbClr val="000000"/>
                  </a:solidFill>
                  <a:ea typeface="宋体" panose="02010600030101010101" pitchFamily="2" charset="-122"/>
                  <a:cs typeface="Times New Roman" panose="02020603050405020304" pitchFamily="18" charset="0"/>
                </a:rPr>
                <a:t>年中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年与年产量</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万件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之间的关系如下表所示</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098503276"/>
                </p:ext>
              </p:extLst>
            </p:nvPr>
          </p:nvGraphicFramePr>
          <p:xfrm>
            <a:off x="-45033" y="3280891"/>
            <a:ext cx="11844910" cy="1853515"/>
          </p:xfrm>
          <a:graphic>
            <a:graphicData uri="http://schemas.openxmlformats.org/presentationml/2006/ole">
              <mc:AlternateContent xmlns:mc="http://schemas.openxmlformats.org/markup-compatibility/2006">
                <mc:Choice xmlns:v="urn:schemas-microsoft-com:vml" Requires="v">
                  <p:oleObj spid="_x0000_s5148" name="文档" r:id="rId4" imgW="3883577" imgH="607710" progId="Word.Document.12">
                    <p:embed/>
                  </p:oleObj>
                </mc:Choice>
                <mc:Fallback>
                  <p:oleObj name="文档" r:id="rId4" imgW="3883577" imgH="607710" progId="Word.Document.12">
                    <p:embed/>
                    <p:pic>
                      <p:nvPicPr>
                        <p:cNvPr id="0" name=""/>
                        <p:cNvPicPr/>
                        <p:nvPr/>
                      </p:nvPicPr>
                      <p:blipFill>
                        <a:blip r:embed="rId5"/>
                        <a:stretch>
                          <a:fillRect/>
                        </a:stretch>
                      </p:blipFill>
                      <p:spPr>
                        <a:xfrm>
                          <a:off x="-45033" y="3280891"/>
                          <a:ext cx="11844910" cy="185351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45657040"/>
                </p:ext>
              </p:extLst>
            </p:nvPr>
          </p:nvGraphicFramePr>
          <p:xfrm>
            <a:off x="361950" y="4526151"/>
            <a:ext cx="11671959" cy="1234216"/>
          </p:xfrm>
          <a:graphic>
            <a:graphicData uri="http://schemas.openxmlformats.org/presentationml/2006/ole">
              <mc:AlternateContent xmlns:mc="http://schemas.openxmlformats.org/markup-compatibility/2006">
                <mc:Choice xmlns:v="urn:schemas-microsoft-com:vml" Requires="v">
                  <p:oleObj spid="_x0000_s5149" name="文档" r:id="rId7" imgW="3826872" imgH="404661" progId="Word.Document.12">
                    <p:embed/>
                  </p:oleObj>
                </mc:Choice>
                <mc:Fallback>
                  <p:oleObj name="文档" r:id="rId7" imgW="3826872" imgH="404661" progId="Word.Document.12">
                    <p:embed/>
                    <p:pic>
                      <p:nvPicPr>
                        <p:cNvPr id="0" name=""/>
                        <p:cNvPicPr/>
                        <p:nvPr/>
                      </p:nvPicPr>
                      <p:blipFill>
                        <a:blip r:embed="rId8"/>
                        <a:stretch>
                          <a:fillRect/>
                        </a:stretch>
                      </p:blipFill>
                      <p:spPr>
                        <a:xfrm>
                          <a:off x="361950" y="4526151"/>
                          <a:ext cx="11671959" cy="1234216"/>
                        </a:xfrm>
                        <a:prstGeom prst="rect">
                          <a:avLst/>
                        </a:prstGeom>
                      </p:spPr>
                    </p:pic>
                  </p:oleObj>
                </mc:Fallback>
              </mc:AlternateContent>
            </a:graphicData>
          </a:graphic>
        </p:graphicFrame>
      </p:gr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61950" y="1655911"/>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找出你认为最适合的函数模型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并说明理由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然后选取表中你认为最适合的数据并求出相应的解析式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因多种原因</a:t>
            </a:r>
            <a:r>
              <a:rPr lang="en-US" altLang="zh-CN" dirty="0">
                <a:solidFill>
                  <a:srgbClr val="000000"/>
                </a:solidFill>
                <a:ea typeface="宋体" panose="02010600030101010101" pitchFamily="2" charset="-122"/>
              </a:rPr>
              <a:t>,2024</a:t>
            </a:r>
            <a:r>
              <a:rPr lang="zh-CN" altLang="zh-CN" dirty="0">
                <a:solidFill>
                  <a:srgbClr val="000000"/>
                </a:solidFill>
                <a:ea typeface="宋体" panose="02010600030101010101" pitchFamily="2" charset="-122"/>
                <a:cs typeface="Times New Roman" panose="02020603050405020304" pitchFamily="18" charset="0"/>
              </a:rPr>
              <a:t>年的实际年产量比预计减少了</a:t>
            </a:r>
            <a:r>
              <a:rPr lang="en-US" altLang="zh-CN" dirty="0">
                <a:solidFill>
                  <a:srgbClr val="000000"/>
                </a:solidFill>
                <a:ea typeface="宋体" panose="02010600030101010101" pitchFamily="2" charset="-122"/>
              </a:rPr>
              <a:t>30%,</a:t>
            </a:r>
            <a:r>
              <a:rPr lang="zh-CN" altLang="zh-CN" dirty="0">
                <a:solidFill>
                  <a:srgbClr val="000000"/>
                </a:solidFill>
                <a:ea typeface="宋体" panose="02010600030101010101" pitchFamily="2" charset="-122"/>
                <a:cs typeface="Times New Roman" panose="02020603050405020304" pitchFamily="18" charset="0"/>
              </a:rPr>
              <a:t>试根据所建立的函数模型</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确定</a:t>
            </a:r>
            <a:r>
              <a:rPr lang="en-US" altLang="zh-CN" dirty="0">
                <a:solidFill>
                  <a:srgbClr val="000000"/>
                </a:solidFill>
                <a:ea typeface="宋体" panose="02010600030101010101" pitchFamily="2" charset="-122"/>
              </a:rPr>
              <a:t>2024</a:t>
            </a:r>
            <a:r>
              <a:rPr lang="zh-CN" altLang="zh-CN" dirty="0">
                <a:solidFill>
                  <a:srgbClr val="000000"/>
                </a:solidFill>
                <a:ea typeface="宋体" panose="02010600030101010101" pitchFamily="2" charset="-122"/>
                <a:cs typeface="Times New Roman" panose="02020603050405020304" pitchFamily="18" charset="0"/>
              </a:rPr>
              <a:t>年的实际年产量</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18110288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84851271"/>
              </p:ext>
            </p:extLst>
          </p:nvPr>
        </p:nvGraphicFramePr>
        <p:xfrm>
          <a:off x="360437" y="690311"/>
          <a:ext cx="11671959" cy="5623026"/>
        </p:xfrm>
        <a:graphic>
          <a:graphicData uri="http://schemas.openxmlformats.org/presentationml/2006/ole">
            <mc:AlternateContent xmlns:mc="http://schemas.openxmlformats.org/markup-compatibility/2006">
              <mc:Choice xmlns:v="urn:schemas-microsoft-com:vml" Requires="v">
                <p:oleObj spid="_x0000_s6159" name="文档" r:id="rId4" imgW="3837724" imgH="1849745" progId="Word.Document.12">
                  <p:embed/>
                </p:oleObj>
              </mc:Choice>
              <mc:Fallback>
                <p:oleObj name="文档" r:id="rId4" imgW="3837724" imgH="1849745" progId="Word.Document.12">
                  <p:embed/>
                  <p:pic>
                    <p:nvPicPr>
                      <p:cNvPr id="0" name=""/>
                      <p:cNvPicPr/>
                      <p:nvPr/>
                    </p:nvPicPr>
                    <p:blipFill>
                      <a:blip r:embed="rId5"/>
                      <a:stretch>
                        <a:fillRect/>
                      </a:stretch>
                    </p:blipFill>
                    <p:spPr>
                      <a:xfrm>
                        <a:off x="360437" y="690311"/>
                        <a:ext cx="11671959" cy="5623026"/>
                      </a:xfrm>
                      <a:prstGeom prst="rect">
                        <a:avLst/>
                      </a:prstGeom>
                    </p:spPr>
                  </p:pic>
                </p:oleObj>
              </mc:Fallback>
            </mc:AlternateContent>
          </a:graphicData>
        </a:graphic>
      </p:graphicFrame>
    </p:spTree>
    <p:extLst>
      <p:ext uri="{BB962C8B-B14F-4D97-AF65-F5344CB8AC3E}">
        <p14:creationId xmlns:p14="http://schemas.microsoft.com/office/powerpoint/2010/main" val="277092968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257785497"/>
              </p:ext>
            </p:extLst>
          </p:nvPr>
        </p:nvGraphicFramePr>
        <p:xfrm>
          <a:off x="504825" y="1985963"/>
          <a:ext cx="11603038" cy="1735137"/>
        </p:xfrm>
        <a:graphic>
          <a:graphicData uri="http://schemas.openxmlformats.org/presentationml/2006/ole">
            <mc:AlternateContent xmlns:mc="http://schemas.openxmlformats.org/markup-compatibility/2006">
              <mc:Choice xmlns:v="urn:schemas-microsoft-com:vml" Requires="v">
                <p:oleObj spid="_x0000_s7183" name="文档" r:id="rId4" imgW="3826872" imgH="576085" progId="Word.Document.12">
                  <p:embed/>
                </p:oleObj>
              </mc:Choice>
              <mc:Fallback>
                <p:oleObj name="文档" r:id="rId4" imgW="3826872" imgH="576085" progId="Word.Document.12">
                  <p:embed/>
                  <p:pic>
                    <p:nvPicPr>
                      <p:cNvPr id="0" name=""/>
                      <p:cNvPicPr/>
                      <p:nvPr/>
                    </p:nvPicPr>
                    <p:blipFill>
                      <a:blip r:embed="rId5"/>
                      <a:stretch>
                        <a:fillRect/>
                      </a:stretch>
                    </p:blipFill>
                    <p:spPr>
                      <a:xfrm>
                        <a:off x="504825" y="1985963"/>
                        <a:ext cx="11603038" cy="1735137"/>
                      </a:xfrm>
                      <a:prstGeom prst="rect">
                        <a:avLst/>
                      </a:prstGeom>
                    </p:spPr>
                  </p:pic>
                </p:oleObj>
              </mc:Fallback>
            </mc:AlternateContent>
          </a:graphicData>
        </a:graphic>
      </p:graphicFrame>
    </p:spTree>
    <p:extLst>
      <p:ext uri="{BB962C8B-B14F-4D97-AF65-F5344CB8AC3E}">
        <p14:creationId xmlns:p14="http://schemas.microsoft.com/office/powerpoint/2010/main" val="22368635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75117"/>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求解此类问题的关键是利用待定系数法求出相关的函数模型</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即借助数据信息</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得到相关方程</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进而求出</a:t>
            </a:r>
            <a:r>
              <a:rPr lang="zh-CN" altLang="zh-CN">
                <a:solidFill>
                  <a:srgbClr val="000000"/>
                </a:solidFill>
                <a:ea typeface="仿宋" panose="02010609060101010101" pitchFamily="49" charset="-122"/>
                <a:cs typeface="Times New Roman" panose="02020603050405020304" pitchFamily="18" charset="0"/>
              </a:rPr>
              <a:t>待定系数</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函数模型的选择与数据的拟合是数学建模中最核心的内容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解题的关键在于通过对已知数据的分析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得出重要信息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根据解题积累的经验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从已有的各类型函数中选择模拟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进行数据的拟合</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2284657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47799"/>
            <a:ext cx="10807700" cy="1217641"/>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通过市场调查</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得到某纪念章的市场价</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与上市时间</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天</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的关系如下</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4181555124"/>
              </p:ext>
            </p:extLst>
          </p:nvPr>
        </p:nvGraphicFramePr>
        <p:xfrm>
          <a:off x="338151" y="1908605"/>
          <a:ext cx="10780771" cy="1979554"/>
        </p:xfrm>
        <a:graphic>
          <a:graphicData uri="http://schemas.openxmlformats.org/presentationml/2006/ole">
            <mc:AlternateContent xmlns:mc="http://schemas.openxmlformats.org/markup-compatibility/2006">
              <mc:Choice xmlns:v="urn:schemas-microsoft-com:vml" Requires="v">
                <p:oleObj spid="_x0000_s11271" name="文档" r:id="rId4" imgW="3534679" imgH="649034" progId="Word.Document.12">
                  <p:embed/>
                </p:oleObj>
              </mc:Choice>
              <mc:Fallback>
                <p:oleObj name="文档" r:id="rId4" imgW="3534679" imgH="649034" progId="Word.Document.12">
                  <p:embed/>
                  <p:pic>
                    <p:nvPicPr>
                      <p:cNvPr id="0" name=""/>
                      <p:cNvPicPr/>
                      <p:nvPr/>
                    </p:nvPicPr>
                    <p:blipFill>
                      <a:blip r:embed="rId5"/>
                      <a:stretch>
                        <a:fillRect/>
                      </a:stretch>
                    </p:blipFill>
                    <p:spPr>
                      <a:xfrm>
                        <a:off x="338151" y="1908605"/>
                        <a:ext cx="10780771" cy="1979554"/>
                      </a:xfrm>
                      <a:prstGeom prst="rect">
                        <a:avLst/>
                      </a:prstGeom>
                    </p:spPr>
                  </p:pic>
                </p:oleObj>
              </mc:Fallback>
            </mc:AlternateContent>
          </a:graphicData>
        </a:graphic>
      </p:graphicFrame>
      <p:sp>
        <p:nvSpPr>
          <p:cNvPr id="5" name="矩形 4"/>
          <p:cNvSpPr>
            <a:spLocks noChangeAspect="1"/>
          </p:cNvSpPr>
          <p:nvPr/>
        </p:nvSpPr>
        <p:spPr>
          <a:xfrm>
            <a:off x="361950" y="3177911"/>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根据上表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从下列函数中选取一个恰当的函数描述该纪念章的市场价</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与上市时间</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ax+b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i="1" dirty="0">
                <a:solidFill>
                  <a:srgbClr val="000000"/>
                </a:solidFill>
                <a:ea typeface="宋体" panose="02010600030101010101" pitchFamily="2" charset="-122"/>
                <a:cs typeface="Times New Roman" panose="02020603050405020304" pitchFamily="18" charset="0"/>
              </a:rPr>
              <a:t>y=ax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latin typeface="NEU-BZ-S92"/>
                <a:ea typeface="宋体" panose="02010600030101010101" pitchFamily="2" charset="-122"/>
                <a:cs typeface="宋体" panose="02010600030101010101" pitchFamily="2" charset="-122"/>
              </a:rPr>
              <a:t>③</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利用你所选取的函数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求该纪念章市场价最低时的上市天数及最低的价格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62925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71167"/>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smtClean="0">
                <a:solidFill>
                  <a:srgbClr val="000000"/>
                </a:solidFill>
                <a:ea typeface="楷体" panose="02010609060101010101" pitchFamily="49" charset="-122"/>
                <a:cs typeface="Times New Roman" panose="02020603050405020304" pitchFamily="18" charset="0"/>
              </a:rPr>
              <a:t>由</a:t>
            </a:r>
            <a:r>
              <a:rPr lang="zh-CN" altLang="en-US" smtClean="0">
                <a:solidFill>
                  <a:srgbClr val="000000"/>
                </a:solidFill>
                <a:ea typeface="楷体" panose="02010609060101010101" pitchFamily="49" charset="-122"/>
                <a:cs typeface="Times New Roman" panose="02020603050405020304" pitchFamily="18" charset="0"/>
              </a:rPr>
              <a:t>题</a:t>
            </a:r>
            <a:r>
              <a:rPr lang="zh-CN" altLang="zh-CN" smtClean="0">
                <a:solidFill>
                  <a:srgbClr val="000000"/>
                </a:solidFill>
                <a:ea typeface="楷体" panose="02010609060101010101" pitchFamily="49" charset="-122"/>
                <a:cs typeface="Times New Roman" panose="02020603050405020304" pitchFamily="18" charset="0"/>
              </a:rPr>
              <a:t>表</a:t>
            </a:r>
            <a:r>
              <a:rPr lang="zh-CN" altLang="zh-CN" dirty="0">
                <a:solidFill>
                  <a:srgbClr val="000000"/>
                </a:solidFill>
                <a:ea typeface="楷体" panose="02010609060101010101" pitchFamily="49" charset="-122"/>
                <a:cs typeface="Times New Roman" panose="02020603050405020304" pitchFamily="18" charset="0"/>
              </a:rPr>
              <a:t>可得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随着</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的值的增大</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的值先减小后增大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而所给的三个函数中</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ax+b</a:t>
            </a:r>
            <a:r>
              <a:rPr lang="zh-CN" altLang="zh-CN" dirty="0">
                <a:solidFill>
                  <a:srgbClr val="000000"/>
                </a:solidFill>
                <a:ea typeface="楷体" panose="02010609060101010101" pitchFamily="49"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显然都是单调函数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不满足题意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故选取函数</a:t>
            </a:r>
            <a:r>
              <a:rPr lang="en-US" altLang="zh-CN" i="1" dirty="0">
                <a:solidFill>
                  <a:srgbClr val="000000"/>
                </a:solidFill>
                <a:ea typeface="宋体" panose="02010600030101010101" pitchFamily="2" charset="-122"/>
                <a:cs typeface="Times New Roman" panose="02020603050405020304" pitchFamily="18" charset="0"/>
              </a:rPr>
              <a:t>y=ax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最恰当</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0235589"/>
              </p:ext>
            </p:extLst>
          </p:nvPr>
        </p:nvGraphicFramePr>
        <p:xfrm>
          <a:off x="562321" y="2481260"/>
          <a:ext cx="10607329" cy="2536026"/>
        </p:xfrm>
        <a:graphic>
          <a:graphicData uri="http://schemas.openxmlformats.org/presentationml/2006/ole">
            <mc:AlternateContent xmlns:mc="http://schemas.openxmlformats.org/markup-compatibility/2006">
              <mc:Choice xmlns:v="urn:schemas-microsoft-com:vml" Requires="v">
                <p:oleObj spid="_x0000_s12295" name="文档" r:id="rId4" imgW="3477813" imgH="831484" progId="Word.Document.12">
                  <p:embed/>
                </p:oleObj>
              </mc:Choice>
              <mc:Fallback>
                <p:oleObj name="文档" r:id="rId4" imgW="3477813" imgH="831484" progId="Word.Document.12">
                  <p:embed/>
                  <p:pic>
                    <p:nvPicPr>
                      <p:cNvPr id="0" name=""/>
                      <p:cNvPicPr/>
                      <p:nvPr/>
                    </p:nvPicPr>
                    <p:blipFill>
                      <a:blip r:embed="rId5"/>
                      <a:stretch>
                        <a:fillRect/>
                      </a:stretch>
                    </p:blipFill>
                    <p:spPr>
                      <a:xfrm>
                        <a:off x="562321" y="2481260"/>
                        <a:ext cx="10607329" cy="2536026"/>
                      </a:xfrm>
                      <a:prstGeom prst="rect">
                        <a:avLst/>
                      </a:prstGeom>
                    </p:spPr>
                  </p:pic>
                </p:oleObj>
              </mc:Fallback>
            </mc:AlternateContent>
          </a:graphicData>
        </a:graphic>
      </p:graphicFrame>
      <p:sp>
        <p:nvSpPr>
          <p:cNvPr id="5" name="矩形 4"/>
          <p:cNvSpPr>
            <a:spLocks noChangeAspect="1"/>
          </p:cNvSpPr>
          <p:nvPr/>
        </p:nvSpPr>
        <p:spPr>
          <a:xfrm>
            <a:off x="361950" y="5046782"/>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取得最小值</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baseline="-25000" dirty="0" err="1">
                <a:solidFill>
                  <a:srgbClr val="000000"/>
                </a:solidFill>
                <a:ea typeface="宋体" panose="02010600030101010101" pitchFamily="2" charset="-122"/>
                <a:cs typeface="Times New Roman" panose="02020603050405020304" pitchFamily="18" charset="0"/>
              </a:rPr>
              <a:t>min</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26</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故该纪念章市场价最低时的上市天数为</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最低价格为</a:t>
            </a:r>
            <a:r>
              <a:rPr lang="en-US" altLang="zh-CN" dirty="0">
                <a:solidFill>
                  <a:srgbClr val="000000"/>
                </a:solidFill>
                <a:ea typeface="宋体" panose="02010600030101010101" pitchFamily="2" charset="-122"/>
                <a:cs typeface="Times New Roman" panose="02020603050405020304" pitchFamily="18" charset="0"/>
              </a:rPr>
              <a:t>26</a:t>
            </a:r>
            <a:r>
              <a:rPr lang="zh-CN" altLang="zh-CN" dirty="0">
                <a:solidFill>
                  <a:srgbClr val="000000"/>
                </a:solidFill>
                <a:ea typeface="楷体" panose="02010609060101010101" pitchFamily="49"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4787003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752207"/>
            <a:ext cx="10807700" cy="5410712"/>
            <a:chOff x="361950" y="719527"/>
            <a:chExt cx="10807700" cy="5410712"/>
          </a:xfrm>
        </p:grpSpPr>
        <p:sp>
          <p:nvSpPr>
            <p:cNvPr id="3" name="矩形 2"/>
            <p:cNvSpPr>
              <a:spLocks noChangeAspect="1"/>
            </p:cNvSpPr>
            <p:nvPr/>
          </p:nvSpPr>
          <p:spPr>
            <a:xfrm>
              <a:off x="361950" y="719527"/>
              <a:ext cx="10807700" cy="5410712"/>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数形</a:t>
              </a:r>
              <a:r>
                <a:rPr lang="zh-CN" altLang="zh-CN" dirty="0" smtClean="0">
                  <a:solidFill>
                    <a:srgbClr val="000000"/>
                  </a:solidFill>
                  <a:latin typeface="Arial" panose="020B0604020202020204" pitchFamily="34" charset="0"/>
                  <a:cs typeface="Times New Roman" panose="02020603050405020304" pitchFamily="18" charset="0"/>
                </a:rPr>
                <a:t>结合</a:t>
              </a:r>
              <a:r>
                <a:rPr lang="zh-CN" altLang="en-US" dirty="0" smtClean="0">
                  <a:solidFill>
                    <a:srgbClr val="000000"/>
                  </a:solidFill>
                  <a:latin typeface="Arial" panose="020B0604020202020204" pitchFamily="34" charset="0"/>
                  <a:cs typeface="Times New Roman" panose="02020603050405020304" pitchFamily="18" charset="0"/>
                </a:rPr>
                <a:t>思想</a:t>
              </a:r>
              <a:r>
                <a:rPr lang="zh-CN" altLang="zh-CN" dirty="0" smtClean="0">
                  <a:solidFill>
                    <a:srgbClr val="000000"/>
                  </a:solidFill>
                  <a:latin typeface="Arial" panose="020B0604020202020204" pitchFamily="34" charset="0"/>
                  <a:cs typeface="Times New Roman" panose="02020603050405020304" pitchFamily="18" charset="0"/>
                </a:rPr>
                <a:t>在</a:t>
              </a:r>
              <a:r>
                <a:rPr lang="zh-CN" altLang="zh-CN" dirty="0">
                  <a:solidFill>
                    <a:srgbClr val="000000"/>
                  </a:solidFill>
                  <a:latin typeface="Arial" panose="020B0604020202020204" pitchFamily="34" charset="0"/>
                  <a:cs typeface="Times New Roman" panose="02020603050405020304" pitchFamily="18" charset="0"/>
                </a:rPr>
                <a:t>函数增长差异中的应用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的图象如图所示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设这两个函数的图象交于点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请指出图中曲线</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分别对应的函数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比较</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(6),</a:t>
              </a:r>
              <a:r>
                <a:rPr lang="en-US" altLang="zh-CN" i="1" dirty="0">
                  <a:solidFill>
                    <a:srgbClr val="000000"/>
                  </a:solidFill>
                  <a:ea typeface="宋体" panose="02010600030101010101" pitchFamily="2" charset="-122"/>
                </a:rPr>
                <a:t>g</a:t>
              </a:r>
              <a:r>
                <a:rPr lang="en-US" altLang="zh-CN" dirty="0">
                  <a:solidFill>
                    <a:srgbClr val="000000"/>
                  </a:solidFill>
                  <a:ea typeface="宋体" panose="02010600030101010101" pitchFamily="2" charset="-122"/>
                </a:rPr>
                <a:t>(6),</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(4 021),</a:t>
              </a:r>
              <a:r>
                <a:rPr lang="en-US" altLang="zh-CN" i="1" dirty="0">
                  <a:solidFill>
                    <a:srgbClr val="000000"/>
                  </a:solidFill>
                  <a:ea typeface="宋体" panose="02010600030101010101" pitchFamily="2" charset="-122"/>
                </a:rPr>
                <a:t>g</a:t>
              </a:r>
              <a:r>
                <a:rPr lang="en-US" altLang="zh-CN" dirty="0">
                  <a:solidFill>
                    <a:srgbClr val="000000"/>
                  </a:solidFill>
                  <a:ea typeface="宋体" panose="02010600030101010101" pitchFamily="2" charset="-122"/>
                </a:rPr>
                <a:t>(4 021)</a:t>
              </a:r>
              <a:r>
                <a:rPr lang="zh-CN" altLang="zh-CN" dirty="0">
                  <a:solidFill>
                    <a:srgbClr val="000000"/>
                  </a:solidFill>
                  <a:ea typeface="宋体" panose="02010600030101010101" pitchFamily="2" charset="-122"/>
                  <a:cs typeface="Times New Roman" panose="02020603050405020304" pitchFamily="18" charset="0"/>
                </a:rPr>
                <a:t>的大小</a:t>
              </a:r>
              <a:r>
                <a:rPr lang="en-US" altLang="zh-CN" i="1" dirty="0">
                  <a:solidFill>
                    <a:srgbClr val="000000"/>
                  </a:solidFill>
                  <a:ea typeface="宋体" panose="02010600030101010101" pitchFamily="2" charset="-122"/>
                </a:rPr>
                <a:t>.</a:t>
              </a:r>
              <a:endParaRPr lang="zh-CN" altLang="en-US" dirty="0"/>
            </a:p>
          </p:txBody>
        </p:sp>
        <p:pic>
          <p:nvPicPr>
            <p:cNvPr id="4" name="ZMG1TRA137.eps" descr="id:2147497151;FounderCES"/>
            <p:cNvPicPr/>
            <p:nvPr/>
          </p:nvPicPr>
          <p:blipFill>
            <a:blip r:embed="rId2"/>
            <a:stretch>
              <a:fillRect/>
            </a:stretch>
          </p:blipFill>
          <p:spPr>
            <a:xfrm>
              <a:off x="8497341" y="2061145"/>
              <a:ext cx="2613168" cy="3809056"/>
            </a:xfrm>
            <a:prstGeom prst="rect">
              <a:avLst/>
            </a:prstGeom>
          </p:spPr>
        </p:pic>
      </p:gr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32672"/>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a:latin typeface="Arial" panose="020B0604020202020204" pitchFamily="34" charset="0"/>
                <a:cs typeface="Times New Roman" panose="02020603050405020304" pitchFamily="18" charset="0"/>
              </a:rPr>
              <a:t>审题视角</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观察曲线的增长特点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对照指数函数、幂函数的增长特点确定曲线对应的函数</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结合题中函数的图象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确定</a:t>
            </a:r>
            <a:r>
              <a:rPr lang="en-US" altLang="zh-CN" dirty="0">
                <a:solidFill>
                  <a:srgbClr val="000000"/>
                </a:solidFill>
                <a:ea typeface="宋体" panose="02010600030101010101" pitchFamily="2" charset="-122"/>
                <a:cs typeface="Times New Roman" panose="02020603050405020304" pitchFamily="18" charset="0"/>
              </a:rPr>
              <a:t>6,2 019</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的大小关系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根据函数的增长特点比较这四个函数值的大小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00777268"/>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88242"/>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从题中图象可以看出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越来越大时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曲线</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对应的函数比曲线</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对应的函数增长得更快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对应的函数为</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对应的函数为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&lt;g</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&lt;g</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(10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宋体" panose="02010600030101010101" pitchFamily="2"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2,9</a:t>
            </a:r>
            <a:r>
              <a:rPr lang="en-US" altLang="zh-CN" i="1" dirty="0">
                <a:solidFill>
                  <a:srgbClr val="000000"/>
                </a:solidFill>
                <a:ea typeface="宋体" panose="02010600030101010101" pitchFamily="2" charset="-122"/>
                <a:cs typeface="Times New Roman" panose="02020603050405020304" pitchFamily="18" charset="0"/>
              </a:rPr>
              <a:t>&lt;x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因此</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&lt;x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,2 021</a:t>
            </a:r>
            <a:r>
              <a:rPr lang="en-US" altLang="zh-CN" i="1" dirty="0">
                <a:solidFill>
                  <a:srgbClr val="000000"/>
                </a:solidFill>
                <a:ea typeface="宋体" panose="02010600030101010101" pitchFamily="2" charset="-122"/>
                <a:cs typeface="Times New Roman" panose="02020603050405020304" pitchFamily="18" charset="0"/>
              </a:rPr>
              <a:t>&gt;x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从题中图象上可以看出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&lt;x&lt;x</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&lt;g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&lt;g</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x&gt;x</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(4 021)</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(4 021)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又</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(4 021)</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(4 021)</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(4 021)</a:t>
            </a:r>
            <a:r>
              <a:rPr lang="en-US" altLang="zh-CN" i="1" dirty="0">
                <a:solidFill>
                  <a:srgbClr val="000000"/>
                </a:solidFill>
                <a:ea typeface="宋体" panose="02010600030101010101" pitchFamily="2" charset="-122"/>
                <a:cs typeface="Times New Roman" panose="02020603050405020304" pitchFamily="18" charset="0"/>
              </a:rPr>
              <a:t>&gt;g</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&gt;f</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46034033"/>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96176"/>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方法点睛</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函数值的大小关系以及函数的增长特点都可以通过函数的图象直观地显现出来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因此通过数形结合可以直观地解决函数值的大小比较问题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两个或多个函数在它们图象交点处的函数值相等</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在两个交点之间</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图象位置的高低表示了函数值的大小</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3911591590"/>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520115948"/>
              </p:ext>
            </p:extLst>
          </p:nvPr>
        </p:nvGraphicFramePr>
        <p:xfrm>
          <a:off x="504453" y="932910"/>
          <a:ext cx="10607329" cy="1227323"/>
        </p:xfrm>
        <a:graphic>
          <a:graphicData uri="http://schemas.openxmlformats.org/presentationml/2006/ole">
            <mc:AlternateContent xmlns:mc="http://schemas.openxmlformats.org/markup-compatibility/2006">
              <mc:Choice xmlns:v="urn:schemas-microsoft-com:vml" Requires="v">
                <p:oleObj spid="_x0000_s9251" name="文档" r:id="rId4" imgW="3477813" imgH="402401" progId="Word.Document.12">
                  <p:embed/>
                </p:oleObj>
              </mc:Choice>
              <mc:Fallback>
                <p:oleObj name="文档" r:id="rId4" imgW="3477813" imgH="402401" progId="Word.Document.12">
                  <p:embed/>
                  <p:pic>
                    <p:nvPicPr>
                      <p:cNvPr id="0" name=""/>
                      <p:cNvPicPr/>
                      <p:nvPr/>
                    </p:nvPicPr>
                    <p:blipFill>
                      <a:blip r:embed="rId5"/>
                      <a:stretch>
                        <a:fillRect/>
                      </a:stretch>
                    </p:blipFill>
                    <p:spPr>
                      <a:xfrm>
                        <a:off x="504453" y="932910"/>
                        <a:ext cx="10607329" cy="122732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39032200"/>
              </p:ext>
            </p:extLst>
          </p:nvPr>
        </p:nvGraphicFramePr>
        <p:xfrm>
          <a:off x="504452" y="2226968"/>
          <a:ext cx="10607329" cy="2453545"/>
        </p:xfrm>
        <a:graphic>
          <a:graphicData uri="http://schemas.openxmlformats.org/presentationml/2006/ole">
            <mc:AlternateContent xmlns:mc="http://schemas.openxmlformats.org/markup-compatibility/2006">
              <mc:Choice xmlns:v="urn:schemas-microsoft-com:vml" Requires="v">
                <p:oleObj spid="_x0000_s9252" name="文档" r:id="rId7" imgW="3477813" imgH="804441" progId="Word.Document.12">
                  <p:embed/>
                </p:oleObj>
              </mc:Choice>
              <mc:Fallback>
                <p:oleObj name="文档" r:id="rId7" imgW="3477813" imgH="804441" progId="Word.Document.12">
                  <p:embed/>
                  <p:pic>
                    <p:nvPicPr>
                      <p:cNvPr id="0" name=""/>
                      <p:cNvPicPr/>
                      <p:nvPr/>
                    </p:nvPicPr>
                    <p:blipFill>
                      <a:blip r:embed="rId8"/>
                      <a:stretch>
                        <a:fillRect/>
                      </a:stretch>
                    </p:blipFill>
                    <p:spPr>
                      <a:xfrm>
                        <a:off x="504452" y="2226968"/>
                        <a:ext cx="10607329" cy="245354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64444110"/>
              </p:ext>
            </p:extLst>
          </p:nvPr>
        </p:nvGraphicFramePr>
        <p:xfrm>
          <a:off x="504452" y="4711816"/>
          <a:ext cx="10607329" cy="698343"/>
        </p:xfrm>
        <a:graphic>
          <a:graphicData uri="http://schemas.openxmlformats.org/presentationml/2006/ole">
            <mc:AlternateContent xmlns:mc="http://schemas.openxmlformats.org/markup-compatibility/2006">
              <mc:Choice xmlns:v="urn:schemas-microsoft-com:vml" Requires="v">
                <p:oleObj spid="_x0000_s9253" name="文档" r:id="rId10" imgW="3477813" imgH="228965" progId="Word.Document.12">
                  <p:embed/>
                </p:oleObj>
              </mc:Choice>
              <mc:Fallback>
                <p:oleObj name="文档" r:id="rId10" imgW="3477813" imgH="228965" progId="Word.Document.12">
                  <p:embed/>
                  <p:pic>
                    <p:nvPicPr>
                      <p:cNvPr id="0" name=""/>
                      <p:cNvPicPr/>
                      <p:nvPr/>
                    </p:nvPicPr>
                    <p:blipFill>
                      <a:blip r:embed="rId11"/>
                      <a:stretch>
                        <a:fillRect/>
                      </a:stretch>
                    </p:blipFill>
                    <p:spPr>
                      <a:xfrm>
                        <a:off x="504452" y="4711816"/>
                        <a:ext cx="10607329" cy="698343"/>
                      </a:xfrm>
                      <a:prstGeom prst="rect">
                        <a:avLst/>
                      </a:prstGeom>
                    </p:spPr>
                  </p:pic>
                </p:oleObj>
              </mc:Fallback>
            </mc:AlternateContent>
          </a:graphicData>
        </a:graphic>
      </p:graphicFrame>
    </p:spTree>
    <p:extLst>
      <p:ext uri="{BB962C8B-B14F-4D97-AF65-F5344CB8AC3E}">
        <p14:creationId xmlns:p14="http://schemas.microsoft.com/office/powerpoint/2010/main" val="317523017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下列函数中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随着</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增长速度最快的是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smtClean="0">
                <a:solidFill>
                  <a:srgbClr val="000000"/>
                </a:solidFill>
                <a:ea typeface="宋体" panose="02010600030101010101" pitchFamily="2" charset="-122"/>
                <a:cs typeface="Times New Roman" panose="02020603050405020304" pitchFamily="18" charset="0"/>
              </a:rPr>
              <a:t>A.</a:t>
            </a:r>
            <a:r>
              <a:rPr lang="en-US" altLang="zh-CN" i="1" dirty="0" err="1" smtClean="0">
                <a:solidFill>
                  <a:srgbClr val="000000"/>
                </a:solidFill>
                <a:ea typeface="宋体" panose="02010600030101010101" pitchFamily="2" charset="-122"/>
                <a:cs typeface="Times New Roman" panose="02020603050405020304" pitchFamily="18" charset="0"/>
              </a:rPr>
              <a:t>y</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baseline="30000" dirty="0" smtClean="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C.</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err="1">
                <a:solidFill>
                  <a:srgbClr val="000000"/>
                </a:solidFill>
                <a:ea typeface="宋体" panose="02010600030101010101" pitchFamily="2" charset="-122"/>
                <a:cs typeface="Times New Roman" panose="02020603050405020304" pitchFamily="18" charset="0"/>
              </a:rPr>
              <a:t>D.</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e</a:t>
            </a:r>
            <a:r>
              <a:rPr lang="en-US" altLang="zh-CN" i="1" baseline="30000"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e</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同为指数函数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且</a:t>
            </a:r>
            <a:r>
              <a:rPr lang="en-US" altLang="zh-CN" dirty="0">
                <a:solidFill>
                  <a:srgbClr val="000000"/>
                </a:solidFill>
                <a:ea typeface="宋体" panose="02010600030101010101" pitchFamily="2" charset="-122"/>
                <a:cs typeface="Times New Roman" panose="02020603050405020304" pitchFamily="18" charset="0"/>
              </a:rPr>
              <a:t>e</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e</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的增长速度最快</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09975"/>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下表是函数值</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随自变量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变化的一组数据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由此判断它最可能是哪种函数模型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68949897"/>
              </p:ext>
            </p:extLst>
          </p:nvPr>
        </p:nvGraphicFramePr>
        <p:xfrm>
          <a:off x="-37098" y="1937448"/>
          <a:ext cx="11844910" cy="1853515"/>
        </p:xfrm>
        <a:graphic>
          <a:graphicData uri="http://schemas.openxmlformats.org/presentationml/2006/ole">
            <mc:AlternateContent xmlns:mc="http://schemas.openxmlformats.org/markup-compatibility/2006">
              <mc:Choice xmlns:v="urn:schemas-microsoft-com:vml" Requires="v">
                <p:oleObj spid="_x0000_s10252" name="文档" r:id="rId4" imgW="3883577" imgH="607710" progId="Word.Document.12">
                  <p:embed/>
                </p:oleObj>
              </mc:Choice>
              <mc:Fallback>
                <p:oleObj name="文档" r:id="rId4" imgW="3883577" imgH="607710" progId="Word.Document.12">
                  <p:embed/>
                  <p:pic>
                    <p:nvPicPr>
                      <p:cNvPr id="0" name=""/>
                      <p:cNvPicPr/>
                      <p:nvPr/>
                    </p:nvPicPr>
                    <p:blipFill>
                      <a:blip r:embed="rId5"/>
                      <a:stretch>
                        <a:fillRect/>
                      </a:stretch>
                    </p:blipFill>
                    <p:spPr>
                      <a:xfrm>
                        <a:off x="-37098" y="1937448"/>
                        <a:ext cx="11844910" cy="1853515"/>
                      </a:xfrm>
                      <a:prstGeom prst="rect">
                        <a:avLst/>
                      </a:prstGeom>
                    </p:spPr>
                  </p:pic>
                </p:oleObj>
              </mc:Fallback>
            </mc:AlternateContent>
          </a:graphicData>
        </a:graphic>
      </p:graphicFrame>
      <p:sp>
        <p:nvSpPr>
          <p:cNvPr id="5" name="矩形 4"/>
          <p:cNvSpPr>
            <a:spLocks noChangeAspect="1"/>
          </p:cNvSpPr>
          <p:nvPr/>
        </p:nvSpPr>
        <p:spPr>
          <a:xfrm>
            <a:off x="361950" y="3110309"/>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一次函数</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二次函数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指数函数</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对数函数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自变量每增加</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函数值增加</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函数值的</a:t>
            </a:r>
            <a:r>
              <a:rPr lang="zh-CN" altLang="zh-CN" dirty="0" smtClean="0">
                <a:solidFill>
                  <a:srgbClr val="000000"/>
                </a:solidFill>
                <a:ea typeface="楷体" panose="02010609060101010101" pitchFamily="49" charset="-122"/>
                <a:cs typeface="Times New Roman" panose="02020603050405020304" pitchFamily="18" charset="0"/>
              </a:rPr>
              <a:t>增量不变</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故为一次函数模型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9689594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295871"/>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能使不等式</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x&lt;x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一定成立的</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smtClean="0">
                <a:solidFill>
                  <a:srgbClr val="000000"/>
                </a:solidFill>
                <a:ea typeface="宋体" panose="02010600030101010101" pitchFamily="2" charset="-122"/>
                <a:cs typeface="Times New Roman" panose="02020603050405020304" pitchFamily="18" charset="0"/>
              </a:rPr>
              <a:t>取值</a:t>
            </a:r>
            <a:r>
              <a:rPr lang="zh-CN" altLang="en-US" dirty="0" smtClean="0">
                <a:solidFill>
                  <a:srgbClr val="000000"/>
                </a:solidFill>
                <a:ea typeface="宋体" panose="02010600030101010101" pitchFamily="2" charset="-122"/>
                <a:cs typeface="Times New Roman" panose="02020603050405020304" pitchFamily="18" charset="0"/>
              </a:rPr>
              <a:t>范围</a:t>
            </a:r>
            <a:r>
              <a:rPr lang="zh-CN" altLang="zh-CN" dirty="0" smtClean="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B.(2,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	D.(4,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画出</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图略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由图象可知当</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x&lt;x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7873855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randombar(horizontal)">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12007"/>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某化工厂开发研制了一种新产品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前三个月的月生产量依次为</a:t>
            </a:r>
            <a:r>
              <a:rPr lang="en-US" altLang="zh-CN" dirty="0">
                <a:solidFill>
                  <a:srgbClr val="000000"/>
                </a:solidFill>
                <a:ea typeface="宋体" panose="02010600030101010101" pitchFamily="2" charset="-122"/>
                <a:cs typeface="Times New Roman" panose="02020603050405020304" pitchFamily="18" charset="0"/>
              </a:rPr>
              <a:t>100 t,120 t,130 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为了预测今后各月的生产量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需要以这三个月的月产量为依据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用一个函数来模拟月产量</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与月序数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之间的关系</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对此模拟函数可选用二次函数</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 ax</a:t>
            </a:r>
            <a:r>
              <a:rPr lang="en-US" altLang="zh-CN" baseline="30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+bx+c</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a</a:t>
            </a:r>
            <a:r>
              <a:rPr lang="en-US" altLang="zh-CN" dirty="0" err="1" smtClean="0">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b</a:t>
            </a:r>
            <a:r>
              <a:rPr lang="en-US" altLang="zh-CN" dirty="0" err="1" smtClean="0">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均为待定系数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N</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或函数</a:t>
            </a:r>
            <a:r>
              <a:rPr lang="en-US" altLang="zh-CN" i="1" dirty="0">
                <a:solidFill>
                  <a:srgbClr val="000000"/>
                </a:solidFill>
                <a:ea typeface="宋体" panose="02010600030101010101" pitchFamily="2" charset="-122"/>
                <a:cs typeface="Times New Roman" panose="02020603050405020304" pitchFamily="18" charset="0"/>
              </a:rPr>
              <a:t>y=g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pq</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宋体" panose="02010600030101010101" pitchFamily="2" charset="-122"/>
                <a:cs typeface="Times New Roman" panose="02020603050405020304" pitchFamily="18" charset="0"/>
              </a:rPr>
              <a:t>+r</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均为待定系数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N</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已知该厂这种新产品第四个月的月产量为</a:t>
            </a:r>
            <a:r>
              <a:rPr lang="en-US" altLang="zh-CN" dirty="0">
                <a:solidFill>
                  <a:srgbClr val="000000"/>
                </a:solidFill>
                <a:ea typeface="宋体" panose="02010600030101010101" pitchFamily="2" charset="-122"/>
                <a:cs typeface="Times New Roman" panose="02020603050405020304" pitchFamily="18" charset="0"/>
              </a:rPr>
              <a:t>137 t,</a:t>
            </a:r>
            <a:r>
              <a:rPr lang="zh-CN" altLang="zh-CN" dirty="0">
                <a:solidFill>
                  <a:srgbClr val="000000"/>
                </a:solidFill>
                <a:ea typeface="宋体" panose="02010600030101010101" pitchFamily="2" charset="-122"/>
                <a:cs typeface="Times New Roman" panose="02020603050405020304" pitchFamily="18" charset="0"/>
              </a:rPr>
              <a:t>则选用这两个函数中的哪一个作为模拟函数较好</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0545121"/>
      </p:ext>
    </p:extLst>
  </p:cSld>
  <p:clrMapOvr>
    <a:masterClrMapping/>
  </p:clrMapOvr>
  <p:transition spd="slow">
    <p:comb/>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3408173"/>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70</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同理</a:t>
            </a:r>
            <a:r>
              <a:rPr lang="en-US" altLang="zh-CN" i="1" dirty="0">
                <a:solidFill>
                  <a:srgbClr val="000000"/>
                </a:solidFill>
                <a:ea typeface="宋体" panose="02010600030101010101" pitchFamily="2" charset="-122"/>
                <a:cs typeface="Times New Roman" panose="02020603050405020304" pitchFamily="18" charset="0"/>
              </a:rPr>
              <a:t>y=g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分别代入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130,</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baseline="30000"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相比</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在数值上更接近第四个月的实际月产量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故选用函数</a:t>
            </a:r>
            <a:r>
              <a:rPr lang="en-US" altLang="zh-CN" i="1" dirty="0">
                <a:solidFill>
                  <a:srgbClr val="000000"/>
                </a:solidFill>
                <a:ea typeface="宋体" panose="02010600030101010101" pitchFamily="2" charset="-122"/>
                <a:cs typeface="Times New Roman" panose="02020603050405020304" pitchFamily="18" charset="0"/>
              </a:rPr>
              <a:t>y=g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pq</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作为模拟函数较好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439175739"/>
              </p:ext>
            </p:extLst>
          </p:nvPr>
        </p:nvGraphicFramePr>
        <p:xfrm>
          <a:off x="509024" y="669717"/>
          <a:ext cx="10640962" cy="2714386"/>
        </p:xfrm>
        <a:graphic>
          <a:graphicData uri="http://schemas.openxmlformats.org/presentationml/2006/ole">
            <mc:AlternateContent xmlns:mc="http://schemas.openxmlformats.org/markup-compatibility/2006">
              <mc:Choice xmlns:v="urn:schemas-microsoft-com:vml" Requires="v">
                <p:oleObj spid="_x0000_s13319" name="文档" r:id="rId4" imgW="3837724" imgH="978959" progId="Word.Document.12">
                  <p:embed/>
                </p:oleObj>
              </mc:Choice>
              <mc:Fallback>
                <p:oleObj name="文档" r:id="rId4" imgW="3837724" imgH="978959" progId="Word.Document.12">
                  <p:embed/>
                  <p:pic>
                    <p:nvPicPr>
                      <p:cNvPr id="0" name=""/>
                      <p:cNvPicPr/>
                      <p:nvPr/>
                    </p:nvPicPr>
                    <p:blipFill>
                      <a:blip r:embed="rId5"/>
                      <a:stretch>
                        <a:fillRect/>
                      </a:stretch>
                    </p:blipFill>
                    <p:spPr>
                      <a:xfrm>
                        <a:off x="509024" y="669717"/>
                        <a:ext cx="10640962" cy="2714386"/>
                      </a:xfrm>
                      <a:prstGeom prst="rect">
                        <a:avLst/>
                      </a:prstGeom>
                    </p:spPr>
                  </p:pic>
                </p:oleObj>
              </mc:Fallback>
            </mc:AlternateContent>
          </a:graphicData>
        </a:graphic>
      </p:graphicFrame>
    </p:spTree>
    <p:extLst>
      <p:ext uri="{BB962C8B-B14F-4D97-AF65-F5344CB8AC3E}">
        <p14:creationId xmlns:p14="http://schemas.microsoft.com/office/powerpoint/2010/main" val="3650619899"/>
      </p:ext>
    </p:extLst>
  </p:cSld>
  <p:clrMapOvr>
    <a:masterClrMapping/>
  </p:clrMapOvr>
  <p:transition spd="slow">
    <p:comb/>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56</TotalTime>
  <Words>1971</Words>
  <Application>Microsoft Office PowerPoint</Application>
  <PresentationFormat>自定义</PresentationFormat>
  <Paragraphs>116</Paragraphs>
  <Slides>40</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5"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20</cp:revision>
  <dcterms:created xsi:type="dcterms:W3CDTF">2020-09-12T05:36:12Z</dcterms:created>
  <dcterms:modified xsi:type="dcterms:W3CDTF">2025-08-18T05:24:21Z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