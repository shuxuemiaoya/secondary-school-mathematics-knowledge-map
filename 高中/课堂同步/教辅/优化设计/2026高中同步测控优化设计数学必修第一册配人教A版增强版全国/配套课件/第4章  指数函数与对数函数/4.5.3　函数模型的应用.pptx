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731" r:id="rId2"/>
    <p:sldId id="753" r:id="rId3"/>
    <p:sldId id="736" r:id="rId4"/>
    <p:sldId id="744" r:id="rId5"/>
    <p:sldId id="746" r:id="rId6"/>
    <p:sldId id="749" r:id="rId7"/>
    <p:sldId id="757" r:id="rId8"/>
    <p:sldId id="758" r:id="rId9"/>
    <p:sldId id="759" r:id="rId10"/>
    <p:sldId id="737" r:id="rId11"/>
    <p:sldId id="750" r:id="rId12"/>
    <p:sldId id="760" r:id="rId13"/>
    <p:sldId id="761" r:id="rId14"/>
    <p:sldId id="762" r:id="rId15"/>
    <p:sldId id="754" r:id="rId16"/>
    <p:sldId id="763" r:id="rId17"/>
    <p:sldId id="764" r:id="rId18"/>
    <p:sldId id="765" r:id="rId19"/>
    <p:sldId id="766" r:id="rId20"/>
    <p:sldId id="755" r:id="rId21"/>
    <p:sldId id="767" r:id="rId22"/>
    <p:sldId id="768" r:id="rId23"/>
    <p:sldId id="769" r:id="rId24"/>
    <p:sldId id="770" r:id="rId25"/>
    <p:sldId id="771" r:id="rId26"/>
    <p:sldId id="747" r:id="rId27"/>
    <p:sldId id="751" r:id="rId28"/>
    <p:sldId id="772" r:id="rId29"/>
    <p:sldId id="773" r:id="rId30"/>
    <p:sldId id="774" r:id="rId31"/>
    <p:sldId id="748" r:id="rId32"/>
    <p:sldId id="752" r:id="rId33"/>
    <p:sldId id="776" r:id="rId34"/>
    <p:sldId id="777" r:id="rId35"/>
    <p:sldId id="778" r:id="rId36"/>
    <p:sldId id="735" r:id="rId37"/>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2"/>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36</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1.xml"/><Relationship Id="rId5" Type="http://schemas.openxmlformats.org/officeDocument/2006/relationships/slide" Target="slide26.xml"/><Relationship Id="rId4" Type="http://schemas.openxmlformats.org/officeDocument/2006/relationships/slide" Target="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package" Target="../embeddings/Microsoft_Word___2.docx"/><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Word___3.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4.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5.docx"/></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7.docx"/></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8.doc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9.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4.emf"/><Relationship Id="rId4" Type="http://schemas.openxmlformats.org/officeDocument/2006/relationships/package" Target="../embeddings/Microsoft_Word___10.doc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5.emf"/><Relationship Id="rId4" Type="http://schemas.openxmlformats.org/officeDocument/2006/relationships/package" Target="../embeddings/Microsoft_Word___11.docx"/></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503673"/>
            <a:ext cx="10807700" cy="109645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4</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5</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3</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函数模型的应用</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223863"/>
            <a:ext cx="10729192" cy="3802024"/>
            <a:chOff x="360437" y="1526294"/>
            <a:chExt cx="10729192" cy="3802024"/>
          </a:xfrm>
        </p:grpSpPr>
        <p:grpSp>
          <p:nvGrpSpPr>
            <p:cNvPr id="13" name="组合 12"/>
            <p:cNvGrpSpPr/>
            <p:nvPr/>
          </p:nvGrpSpPr>
          <p:grpSpPr>
            <a:xfrm>
              <a:off x="360437" y="1526294"/>
              <a:ext cx="10729192" cy="3802024"/>
              <a:chOff x="360437" y="2013554"/>
              <a:chExt cx="10729192" cy="2596834"/>
            </a:xfrm>
          </p:grpSpPr>
          <p:sp>
            <p:nvSpPr>
              <p:cNvPr id="2" name="圆角矩形 1"/>
              <p:cNvSpPr/>
              <p:nvPr/>
            </p:nvSpPr>
            <p:spPr>
              <a:xfrm>
                <a:off x="360437" y="2013554"/>
                <a:ext cx="10729192" cy="259683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067653"/>
                <a:ext cx="0" cy="2488633"/>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692447"/>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617805"/>
              <a:ext cx="8496944" cy="3637919"/>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理解函数模型是描述客观世界中变量关系和规律的重要数学语言和工具</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在实际情境中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会选择合适的函数类型刻画现实问题的变化规律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通过本节内容的学习</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认识函数模型的作用</a:t>
              </a:r>
              <a:r>
                <a:rPr lang="en-US" altLang="zh-CN"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数学</a:t>
              </a:r>
              <a:r>
                <a:rPr lang="zh-CN" altLang="zh-CN" dirty="0">
                  <a:solidFill>
                    <a:srgbClr val="000000"/>
                  </a:solidFill>
                  <a:ea typeface="楷体" panose="02010609060101010101" pitchFamily="49" charset="-122"/>
                  <a:cs typeface="Times New Roman" panose="02020603050405020304" pitchFamily="18" charset="0"/>
                </a:rPr>
                <a:t>建模和数据分析的数学素养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45924"/>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一、常见的函数模型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在现实生活、生产中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有许多问题蕴含着量与量之间的关系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可通过建立变量之间的函数关系并对所得函数进行研究的方式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使问题得到解决</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到目前为止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我们已经学过的函数模型有哪些</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一次函数模型、二次函数模型、分段函数模型、幂函数模型、反比例函数模型、指数函数模型、对数函数模型</a:t>
            </a:r>
            <a:r>
              <a:rPr lang="en-US" altLang="zh-CN" i="1" dirty="0">
                <a:solidFill>
                  <a:srgbClr val="000000"/>
                </a:solidFill>
                <a:ea typeface="宋体" panose="02010600030101010101" pitchFamily="2" charset="-122"/>
              </a:rPr>
              <a:t>.</a:t>
            </a:r>
            <a:endParaRPr lang="zh-CN" altLang="en-US" dirty="0"/>
          </a:p>
        </p:txBody>
      </p:sp>
      <p:sp>
        <p:nvSpPr>
          <p:cNvPr id="4" name="矩形 3"/>
          <p:cNvSpPr>
            <a:spLocks noChangeAspect="1"/>
          </p:cNvSpPr>
          <p:nvPr/>
        </p:nvSpPr>
        <p:spPr>
          <a:xfrm>
            <a:off x="361950" y="4902766"/>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与指数函数有关的函数模型</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ka</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与对数函数有关的函数模型</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43488"/>
            <a:ext cx="10807700" cy="5478423"/>
          </a:xfrm>
          <a:prstGeom prst="rect">
            <a:avLst/>
          </a:prstGeom>
        </p:spPr>
        <p:txBody>
          <a:bodyPr>
            <a:spAutoFit/>
          </a:bodyPr>
          <a:lstStyle/>
          <a:p>
            <a:pPr>
              <a:lnSpc>
                <a:spcPts val="42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二、解决函数实际应用问题的基本步骤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解决</a:t>
            </a:r>
            <a:r>
              <a:rPr lang="zh-CN" altLang="zh-CN" dirty="0">
                <a:solidFill>
                  <a:srgbClr val="000000"/>
                </a:solidFill>
                <a:ea typeface="宋体" panose="02010600030101010101" pitchFamily="2" charset="-122"/>
                <a:cs typeface="Times New Roman" panose="02020603050405020304" pitchFamily="18" charset="0"/>
              </a:rPr>
              <a:t>函数实际应用问题的一般步骤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设恰当的变量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研究实际问题中的变量之间的关系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并用</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表示问题中的变量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建立函数模型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表示为</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写出</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并注意标明函数的定义域</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求解函数模型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根据函数模型及其定义域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利用相应的函数知识求解函数模型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给出实际问题的解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将数学模型的解还原为实际问题的解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得出实际问题的解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92738659"/>
      </p:ext>
    </p:extLst>
  </p:cSld>
  <p:clrMapOvr>
    <a:masterClrMapping/>
  </p:clrMapOvr>
  <p:transition spd="slow">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39471"/>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解决</a:t>
            </a:r>
            <a:r>
              <a:rPr lang="zh-CN" altLang="zh-CN" dirty="0">
                <a:solidFill>
                  <a:srgbClr val="000000"/>
                </a:solidFill>
                <a:ea typeface="宋体" panose="02010600030101010101" pitchFamily="2" charset="-122"/>
                <a:cs typeface="Times New Roman" panose="02020603050405020304" pitchFamily="18" charset="0"/>
              </a:rPr>
              <a:t>函数实际应用问题的一般步骤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设恰当的变量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研究实际问题中的变量之间的关系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并用</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表示问题中的变量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建立函数模型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表示为</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写出</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并注意标明函数的定义域</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求解函数模型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根据函数模型及其定义域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利用相应的函数知识求解函数模型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给出实际问题的解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将数学模型的解还原为实际问题的解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得出实际问题的解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71624682"/>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33569"/>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银行利率、细胞分裂等增长率问题可以用指数型函数模型来表述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在函数建模中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散点图可以帮助我们选择恰当的函数模型</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当自变量在不同的范围下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对应关系不同时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可以选择分段函数模型</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2520677" y="3179154"/>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0369549" y="4320207"/>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520677" y="555065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1249709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680479"/>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与</a:t>
            </a:r>
            <a:r>
              <a:rPr lang="zh-CN" altLang="zh-CN" dirty="0"/>
              <a:t>指数函数有关的函数模型的应用</a:t>
            </a:r>
          </a:p>
        </p:txBody>
      </p:sp>
      <p:sp>
        <p:nvSpPr>
          <p:cNvPr id="2" name="矩形 1"/>
          <p:cNvSpPr>
            <a:spLocks noChangeAspect="1"/>
          </p:cNvSpPr>
          <p:nvPr/>
        </p:nvSpPr>
        <p:spPr>
          <a:xfrm>
            <a:off x="361950" y="1161687"/>
            <a:ext cx="10807700" cy="5410712"/>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某医药研究所开发了一种新药</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假设成年人按规定的剂量服用</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据监测</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服药后每毫升血液中的含药量</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微克</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与时间</a:t>
            </a:r>
            <a:r>
              <a:rPr lang="en-US" altLang="zh-CN" i="1" dirty="0">
                <a:solidFill>
                  <a:srgbClr val="000000"/>
                </a:solidFill>
                <a:ea typeface="宋体" panose="02010600030101010101" pitchFamily="2" charset="-122"/>
              </a:rPr>
              <a:t>t</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小时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之间近似满足曲线如图所示</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写出服药后</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之间的函数解析式</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据进一步测定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每毫升血液中含药量不少于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微克时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治疗有效</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求服药一次后治疗有效的时间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ZMG1TRA158.eps" descr="id:2147497625;FounderCES"/>
          <p:cNvPicPr/>
          <p:nvPr/>
        </p:nvPicPr>
        <p:blipFill>
          <a:blip r:embed="rId2"/>
          <a:stretch>
            <a:fillRect/>
          </a:stretch>
        </p:blipFill>
        <p:spPr>
          <a:xfrm>
            <a:off x="8209309" y="2934572"/>
            <a:ext cx="3168750" cy="2410771"/>
          </a:xfrm>
          <a:prstGeom prst="rect">
            <a:avLst/>
          </a:prstGeom>
        </p:spPr>
      </p:pic>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2441472852"/>
              </p:ext>
            </p:extLst>
          </p:nvPr>
        </p:nvGraphicFramePr>
        <p:xfrm>
          <a:off x="360437" y="585623"/>
          <a:ext cx="11671959" cy="5767715"/>
        </p:xfrm>
        <a:graphic>
          <a:graphicData uri="http://schemas.openxmlformats.org/presentationml/2006/ole">
            <mc:AlternateContent xmlns:mc="http://schemas.openxmlformats.org/markup-compatibility/2006">
              <mc:Choice xmlns:v="urn:schemas-microsoft-com:vml" Requires="v">
                <p:oleObj spid="_x0000_s2067" name="文档" r:id="rId4" imgW="3826872" imgH="1891054" progId="Word.Document.12">
                  <p:embed/>
                </p:oleObj>
              </mc:Choice>
              <mc:Fallback>
                <p:oleObj name="文档" r:id="rId4" imgW="3826872" imgH="1891054" progId="Word.Document.12">
                  <p:embed/>
                  <p:pic>
                    <p:nvPicPr>
                      <p:cNvPr id="0" name=""/>
                      <p:cNvPicPr/>
                      <p:nvPr/>
                    </p:nvPicPr>
                    <p:blipFill>
                      <a:blip r:embed="rId5"/>
                      <a:stretch>
                        <a:fillRect/>
                      </a:stretch>
                    </p:blipFill>
                    <p:spPr>
                      <a:xfrm>
                        <a:off x="360437" y="585623"/>
                        <a:ext cx="11671959" cy="5767715"/>
                      </a:xfrm>
                      <a:prstGeom prst="rect">
                        <a:avLst/>
                      </a:prstGeom>
                    </p:spPr>
                  </p:pic>
                </p:oleObj>
              </mc:Fallback>
            </mc:AlternateContent>
          </a:graphicData>
        </a:graphic>
      </p:graphicFrame>
    </p:spTree>
    <p:extLst>
      <p:ext uri="{BB962C8B-B14F-4D97-AF65-F5344CB8AC3E}">
        <p14:creationId xmlns:p14="http://schemas.microsoft.com/office/powerpoint/2010/main" val="29338946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延伸探究H.eps" descr="id:2147492067;FounderCES"/>
          <p:cNvPicPr/>
          <p:nvPr/>
        </p:nvPicPr>
        <p:blipFill>
          <a:blip r:embed="rId3"/>
          <a:stretch>
            <a:fillRect/>
          </a:stretch>
        </p:blipFill>
        <p:spPr>
          <a:xfrm>
            <a:off x="4062812" y="1007839"/>
            <a:ext cx="2740119" cy="499725"/>
          </a:xfrm>
          <a:prstGeom prst="rect">
            <a:avLst/>
          </a:prstGeom>
        </p:spPr>
      </p:pic>
      <p:sp>
        <p:nvSpPr>
          <p:cNvPr id="2" name="矩形 1"/>
          <p:cNvSpPr>
            <a:spLocks noChangeAspect="1"/>
          </p:cNvSpPr>
          <p:nvPr/>
        </p:nvSpPr>
        <p:spPr>
          <a:xfrm>
            <a:off x="288429" y="1547096"/>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若将本例中</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改为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据进一步测定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每毫升血液中含药量不少于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微克时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治疗有效</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如果第一次服药在上午</a:t>
            </a:r>
            <a:r>
              <a:rPr lang="en-US" altLang="zh-CN" dirty="0">
                <a:solidFill>
                  <a:srgbClr val="000000"/>
                </a:solidFill>
                <a:ea typeface="宋体" panose="02010600030101010101" pitchFamily="2" charset="-122"/>
                <a:cs typeface="Times New Roman" panose="02020603050405020304" pitchFamily="18" charset="0"/>
              </a:rPr>
              <a:t>7:00,</a:t>
            </a:r>
            <a:r>
              <a:rPr lang="zh-CN" altLang="zh-CN" dirty="0">
                <a:solidFill>
                  <a:srgbClr val="000000"/>
                </a:solidFill>
                <a:ea typeface="宋体" panose="02010600030101010101" pitchFamily="2" charset="-122"/>
                <a:cs typeface="Times New Roman" panose="02020603050405020304" pitchFamily="18" charset="0"/>
              </a:rPr>
              <a:t>那么第二次服药应该在什么时间</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41938911"/>
              </p:ext>
            </p:extLst>
          </p:nvPr>
        </p:nvGraphicFramePr>
        <p:xfrm>
          <a:off x="383704" y="3317453"/>
          <a:ext cx="11671959" cy="1434802"/>
        </p:xfrm>
        <a:graphic>
          <a:graphicData uri="http://schemas.openxmlformats.org/presentationml/2006/ole">
            <mc:AlternateContent xmlns:mc="http://schemas.openxmlformats.org/markup-compatibility/2006">
              <mc:Choice xmlns:v="urn:schemas-microsoft-com:vml" Requires="v">
                <p:oleObj spid="_x0000_s3091" name="文档" r:id="rId5" imgW="3826872" imgH="470427" progId="Word.Document.12">
                  <p:embed/>
                </p:oleObj>
              </mc:Choice>
              <mc:Fallback>
                <p:oleObj name="文档" r:id="rId5" imgW="3826872" imgH="470427" progId="Word.Document.12">
                  <p:embed/>
                  <p:pic>
                    <p:nvPicPr>
                      <p:cNvPr id="0" name=""/>
                      <p:cNvPicPr/>
                      <p:nvPr/>
                    </p:nvPicPr>
                    <p:blipFill>
                      <a:blip r:embed="rId6"/>
                      <a:stretch>
                        <a:fillRect/>
                      </a:stretch>
                    </p:blipFill>
                    <p:spPr>
                      <a:xfrm>
                        <a:off x="383704" y="3317453"/>
                        <a:ext cx="11671959" cy="1434802"/>
                      </a:xfrm>
                      <a:prstGeom prst="rect">
                        <a:avLst/>
                      </a:prstGeom>
                    </p:spPr>
                  </p:pic>
                </p:oleObj>
              </mc:Fallback>
            </mc:AlternateContent>
          </a:graphicData>
        </a:graphic>
      </p:graphicFrame>
    </p:spTree>
    <p:extLst>
      <p:ext uri="{BB962C8B-B14F-4D97-AF65-F5344CB8AC3E}">
        <p14:creationId xmlns:p14="http://schemas.microsoft.com/office/powerpoint/2010/main" val="30879033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69973"/>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应用与指数函数有关的函数模型需注意的</a:t>
            </a:r>
            <a:r>
              <a:rPr lang="zh-CN" altLang="zh-CN" dirty="0" smtClean="0">
                <a:solidFill>
                  <a:srgbClr val="000000"/>
                </a:solidFill>
                <a:ea typeface="仿宋" panose="02010609060101010101" pitchFamily="49" charset="-122"/>
                <a:cs typeface="Times New Roman" panose="02020603050405020304" pitchFamily="18" charset="0"/>
              </a:rPr>
              <a:t>问题</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在利用模型解决实际问题时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要注意自变量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的取值范围</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对于函数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ka</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不仅要注意底数</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的取值范围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还要注意</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仿宋" panose="02010609060101010101" pitchFamily="49" charset="-122"/>
                <a:cs typeface="Times New Roman" panose="02020603050405020304" pitchFamily="18" charset="0"/>
              </a:rPr>
              <a:t>的符号对函数性质的影响</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若原有量为</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每次的减少率为</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经过</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次减少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原有量减少到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8401897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与</a:t>
            </a:r>
            <a:r>
              <a:rPr lang="zh-CN" altLang="zh-CN" dirty="0"/>
              <a:t>对数函数有关的函数模型的应用</a:t>
            </a:r>
          </a:p>
        </p:txBody>
      </p:sp>
      <p:grpSp>
        <p:nvGrpSpPr>
          <p:cNvPr id="6" name="组合 5"/>
          <p:cNvGrpSpPr/>
          <p:nvPr/>
        </p:nvGrpSpPr>
        <p:grpSpPr>
          <a:xfrm>
            <a:off x="361950" y="1439348"/>
            <a:ext cx="15414862" cy="4819781"/>
            <a:chOff x="361950" y="1377500"/>
            <a:chExt cx="15414862" cy="4819781"/>
          </a:xfrm>
        </p:grpSpPr>
        <p:sp>
          <p:nvSpPr>
            <p:cNvPr id="2" name="矩形 1"/>
            <p:cNvSpPr>
              <a:spLocks noChangeAspect="1"/>
            </p:cNvSpPr>
            <p:nvPr/>
          </p:nvSpPr>
          <p:spPr>
            <a:xfrm>
              <a:off x="361950" y="1377500"/>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候鸟每年都要随季节的变化进行大规模迁徙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研究某种候鸟的专家发现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该种候鸟的飞行速度</a:t>
              </a:r>
              <a:r>
                <a:rPr lang="en-US" altLang="zh-CN" i="1" dirty="0">
                  <a:solidFill>
                    <a:srgbClr val="000000"/>
                  </a:solidFill>
                  <a:ea typeface="宋体" panose="02010600030101010101" pitchFamily="2" charset="-122"/>
                  <a:cs typeface="Times New Roman" panose="02020603050405020304" pitchFamily="18" charset="0"/>
                </a:rPr>
                <a:t>v</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:m/s)</a:t>
              </a:r>
              <a:r>
                <a:rPr lang="zh-CN" altLang="zh-CN" dirty="0">
                  <a:solidFill>
                    <a:srgbClr val="000000"/>
                  </a:solidFill>
                  <a:ea typeface="宋体" panose="02010600030101010101" pitchFamily="2" charset="-122"/>
                  <a:cs typeface="Times New Roman" panose="02020603050405020304" pitchFamily="18" charset="0"/>
                </a:rPr>
                <a:t>与其耗氧量</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之间的关系为</a:t>
              </a:r>
              <a:r>
                <a:rPr lang="en-US" altLang="zh-CN" i="1" dirty="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是常数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据统计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该种候鸟在静止时的耗氧量为</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个单位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而其耗氧量为</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个单位时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飞行速度为</a:t>
              </a:r>
              <a:r>
                <a:rPr lang="en-US" altLang="zh-CN" dirty="0">
                  <a:solidFill>
                    <a:srgbClr val="000000"/>
                  </a:solidFill>
                  <a:ea typeface="宋体" panose="02010600030101010101" pitchFamily="2" charset="-122"/>
                  <a:cs typeface="Times New Roman" panose="02020603050405020304" pitchFamily="18" charset="0"/>
                </a:rPr>
                <a:t>1 m/s</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若这种候鸟为赶路程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飞行的速度不能低于</a:t>
              </a:r>
              <a:r>
                <a:rPr lang="en-US" altLang="zh-CN" dirty="0">
                  <a:solidFill>
                    <a:srgbClr val="000000"/>
                  </a:solidFill>
                  <a:ea typeface="宋体" panose="02010600030101010101" pitchFamily="2" charset="-122"/>
                  <a:cs typeface="Times New Roman" panose="02020603050405020304" pitchFamily="18" charset="0"/>
                </a:rPr>
                <a:t>2 m/s,</a:t>
              </a:r>
              <a:r>
                <a:rPr lang="zh-CN" altLang="zh-CN" dirty="0">
                  <a:solidFill>
                    <a:srgbClr val="000000"/>
                  </a:solidFill>
                  <a:ea typeface="宋体" panose="02010600030101010101" pitchFamily="2" charset="-122"/>
                  <a:cs typeface="Times New Roman" panose="02020603050405020304" pitchFamily="18" charset="0"/>
                </a:rPr>
                <a:t>则其耗氧量至少要多少个单位</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420372063"/>
                </p:ext>
              </p:extLst>
            </p:nvPr>
          </p:nvGraphicFramePr>
          <p:xfrm>
            <a:off x="4104853" y="2521861"/>
            <a:ext cx="11671959" cy="699316"/>
          </p:xfrm>
          <a:graphic>
            <a:graphicData uri="http://schemas.openxmlformats.org/presentationml/2006/ole">
              <mc:AlternateContent xmlns:mc="http://schemas.openxmlformats.org/markup-compatibility/2006">
                <mc:Choice xmlns:v="urn:schemas-microsoft-com:vml" Requires="v">
                  <p:oleObj spid="_x0000_s4114" name="文档" r:id="rId4" imgW="3826872" imgH="229284" progId="Word.Document.12">
                    <p:embed/>
                  </p:oleObj>
                </mc:Choice>
                <mc:Fallback>
                  <p:oleObj name="文档" r:id="rId4" imgW="3826872" imgH="229284" progId="Word.Document.12">
                    <p:embed/>
                    <p:pic>
                      <p:nvPicPr>
                        <p:cNvPr id="0" name=""/>
                        <p:cNvPicPr/>
                        <p:nvPr/>
                      </p:nvPicPr>
                      <p:blipFill>
                        <a:blip r:embed="rId5"/>
                        <a:stretch>
                          <a:fillRect/>
                        </a:stretch>
                      </p:blipFill>
                      <p:spPr>
                        <a:xfrm>
                          <a:off x="4104853" y="2521861"/>
                          <a:ext cx="11671959" cy="699316"/>
                        </a:xfrm>
                        <a:prstGeom prst="rect">
                          <a:avLst/>
                        </a:prstGeom>
                      </p:spPr>
                    </p:pic>
                  </p:oleObj>
                </mc:Fallback>
              </mc:AlternateContent>
            </a:graphicData>
          </a:graphic>
        </p:graphicFrame>
      </p:gr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721921463"/>
              </p:ext>
            </p:extLst>
          </p:nvPr>
        </p:nvGraphicFramePr>
        <p:xfrm>
          <a:off x="432445" y="935831"/>
          <a:ext cx="10575841" cy="4874385"/>
        </p:xfrm>
        <a:graphic>
          <a:graphicData uri="http://schemas.openxmlformats.org/presentationml/2006/ole">
            <mc:AlternateContent xmlns:mc="http://schemas.openxmlformats.org/markup-compatibility/2006">
              <mc:Choice xmlns:v="urn:schemas-microsoft-com:vml" Requires="v">
                <p:oleObj spid="_x0000_s5137" name="文档" r:id="rId4" imgW="3467489" imgH="1598159" progId="Word.Document.12">
                  <p:embed/>
                </p:oleObj>
              </mc:Choice>
              <mc:Fallback>
                <p:oleObj name="文档" r:id="rId4" imgW="3467489" imgH="1598159" progId="Word.Document.12">
                  <p:embed/>
                  <p:pic>
                    <p:nvPicPr>
                      <p:cNvPr id="0" name=""/>
                      <p:cNvPicPr/>
                      <p:nvPr/>
                    </p:nvPicPr>
                    <p:blipFill>
                      <a:blip r:embed="rId5"/>
                      <a:stretch>
                        <a:fillRect/>
                      </a:stretch>
                    </p:blipFill>
                    <p:spPr>
                      <a:xfrm>
                        <a:off x="432445" y="935831"/>
                        <a:ext cx="10575841" cy="4874385"/>
                      </a:xfrm>
                      <a:prstGeom prst="rect">
                        <a:avLst/>
                      </a:prstGeom>
                    </p:spPr>
                  </p:pic>
                </p:oleObj>
              </mc:Fallback>
            </mc:AlternateContent>
          </a:graphicData>
        </a:graphic>
      </p:graphicFrame>
    </p:spTree>
    <p:extLst>
      <p:ext uri="{BB962C8B-B14F-4D97-AF65-F5344CB8AC3E}">
        <p14:creationId xmlns:p14="http://schemas.microsoft.com/office/powerpoint/2010/main" val="99761318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44153548"/>
              </p:ext>
            </p:extLst>
          </p:nvPr>
        </p:nvGraphicFramePr>
        <p:xfrm>
          <a:off x="432445" y="1171519"/>
          <a:ext cx="10575841" cy="3757454"/>
        </p:xfrm>
        <a:graphic>
          <a:graphicData uri="http://schemas.openxmlformats.org/presentationml/2006/ole">
            <mc:AlternateContent xmlns:mc="http://schemas.openxmlformats.org/markup-compatibility/2006">
              <mc:Choice xmlns:v="urn:schemas-microsoft-com:vml" Requires="v">
                <p:oleObj spid="_x0000_s6161" name="文档" r:id="rId4" imgW="3467489" imgH="1231952" progId="Word.Document.12">
                  <p:embed/>
                </p:oleObj>
              </mc:Choice>
              <mc:Fallback>
                <p:oleObj name="文档" r:id="rId4" imgW="3467489" imgH="1231952" progId="Word.Document.12">
                  <p:embed/>
                  <p:pic>
                    <p:nvPicPr>
                      <p:cNvPr id="0" name=""/>
                      <p:cNvPicPr/>
                      <p:nvPr/>
                    </p:nvPicPr>
                    <p:blipFill>
                      <a:blip r:embed="rId5"/>
                      <a:stretch>
                        <a:fillRect/>
                      </a:stretch>
                    </p:blipFill>
                    <p:spPr>
                      <a:xfrm>
                        <a:off x="432445" y="1171519"/>
                        <a:ext cx="10575841" cy="3757454"/>
                      </a:xfrm>
                      <a:prstGeom prst="rect">
                        <a:avLst/>
                      </a:prstGeom>
                    </p:spPr>
                  </p:pic>
                </p:oleObj>
              </mc:Fallback>
            </mc:AlternateContent>
          </a:graphicData>
        </a:graphic>
      </p:graphicFrame>
    </p:spTree>
    <p:extLst>
      <p:ext uri="{BB962C8B-B14F-4D97-AF65-F5344CB8AC3E}">
        <p14:creationId xmlns:p14="http://schemas.microsoft.com/office/powerpoint/2010/main" val="154824505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27919"/>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求解与对数函数有关的函数模型的技巧</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仿宋" panose="02010609060101010101" pitchFamily="49" charset="-122"/>
                <a:cs typeface="Times New Roman" panose="02020603050405020304" pitchFamily="18" charset="0"/>
              </a:rPr>
              <a:t>先</a:t>
            </a:r>
            <a:r>
              <a:rPr lang="zh-CN" altLang="zh-CN" dirty="0">
                <a:solidFill>
                  <a:srgbClr val="000000"/>
                </a:solidFill>
                <a:ea typeface="仿宋" panose="02010609060101010101" pitchFamily="49" charset="-122"/>
                <a:cs typeface="Times New Roman" panose="02020603050405020304" pitchFamily="18" charset="0"/>
              </a:rPr>
              <a:t>根据已知条件求出解析式中的参数值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或结合具体问题从中提炼出数据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代入解析式求解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再根据数值回答其实际意义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788261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359"/>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某地为了抑制一种有害昆虫的繁殖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引入了一种以该昆虫为食的动物</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已知该动物的繁殖数量</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与引入时间</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的关系为</a:t>
            </a:r>
            <a:r>
              <a:rPr lang="en-US" altLang="zh-CN" i="1" dirty="0">
                <a:solidFill>
                  <a:srgbClr val="000000"/>
                </a:solidFill>
                <a:ea typeface="宋体" panose="02010600030101010101" pitchFamily="2" charset="-122"/>
                <a:cs typeface="Times New Roman" panose="02020603050405020304" pitchFamily="18" charset="0"/>
              </a:rPr>
              <a:t>y=a</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若该动物在引入一年后的数量为</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则第</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宋体" panose="02010600030101010101" pitchFamily="2" charset="-122"/>
                <a:cs typeface="Times New Roman" panose="02020603050405020304" pitchFamily="18" charset="0"/>
              </a:rPr>
              <a:t>年它们发展到</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A.300</a:t>
            </a:r>
            <a:r>
              <a:rPr lang="zh-CN" altLang="zh-CN" dirty="0">
                <a:solidFill>
                  <a:srgbClr val="000000"/>
                </a:solidFill>
                <a:ea typeface="宋体" panose="02010600030101010101" pitchFamily="2" charset="-122"/>
                <a:cs typeface="Times New Roman" panose="02020603050405020304" pitchFamily="18" charset="0"/>
              </a:rPr>
              <a:t>只</a:t>
            </a:r>
            <a:r>
              <a:rPr lang="en-US" altLang="zh-CN" dirty="0">
                <a:solidFill>
                  <a:srgbClr val="000000"/>
                </a:solidFill>
                <a:ea typeface="宋体" panose="02010600030101010101" pitchFamily="2" charset="-122"/>
                <a:cs typeface="Times New Roman" panose="02020603050405020304" pitchFamily="18" charset="0"/>
              </a:rPr>
              <a:t>	B.400</a:t>
            </a:r>
            <a:r>
              <a:rPr lang="zh-CN" altLang="zh-CN" dirty="0" smtClean="0">
                <a:solidFill>
                  <a:srgbClr val="000000"/>
                </a:solidFill>
                <a:ea typeface="宋体" panose="02010600030101010101" pitchFamily="2" charset="-122"/>
                <a:cs typeface="Times New Roman" panose="02020603050405020304" pitchFamily="18" charset="0"/>
              </a:rPr>
              <a:t>只</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C.600</a:t>
            </a:r>
            <a:r>
              <a:rPr lang="zh-CN" altLang="zh-CN" dirty="0">
                <a:solidFill>
                  <a:srgbClr val="000000"/>
                </a:solidFill>
                <a:ea typeface="宋体" panose="02010600030101010101" pitchFamily="2" charset="-122"/>
                <a:cs typeface="Times New Roman" panose="02020603050405020304" pitchFamily="18" charset="0"/>
              </a:rPr>
              <a:t>只</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D.700</a:t>
            </a:r>
            <a:r>
              <a:rPr lang="zh-CN" altLang="zh-CN" dirty="0">
                <a:solidFill>
                  <a:srgbClr val="000000"/>
                </a:solidFill>
                <a:ea typeface="宋体" panose="02010600030101010101" pitchFamily="2" charset="-122"/>
                <a:cs typeface="Times New Roman" panose="02020603050405020304" pitchFamily="18" charset="0"/>
              </a:rPr>
              <a:t>只</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楷体" panose="02010609060101010101" pitchFamily="49" charset="-122"/>
                <a:cs typeface="Times New Roman" panose="02020603050405020304" pitchFamily="18" charset="0"/>
              </a:rPr>
              <a:t>代入</a:t>
            </a:r>
            <a:r>
              <a:rPr lang="en-US" altLang="zh-CN" i="1" dirty="0">
                <a:solidFill>
                  <a:srgbClr val="000000"/>
                </a:solidFill>
                <a:ea typeface="宋体" panose="02010600030101010101" pitchFamily="2" charset="-122"/>
                <a:cs typeface="Times New Roman" panose="02020603050405020304" pitchFamily="18" charset="0"/>
              </a:rPr>
              <a:t>y=a</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解</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100log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答案</a:t>
            </a:r>
            <a:r>
              <a:rPr lang="en-US" altLang="zh-CN" dirty="0" smtClean="0">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7446447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8"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函数</a:t>
            </a:r>
            <a:r>
              <a:rPr lang="zh-CN" altLang="zh-CN" dirty="0"/>
              <a:t>模型的选择</a:t>
            </a:r>
          </a:p>
        </p:txBody>
      </p:sp>
      <p:sp>
        <p:nvSpPr>
          <p:cNvPr id="2" name="矩形 1"/>
          <p:cNvSpPr>
            <a:spLocks noChangeAspect="1"/>
          </p:cNvSpPr>
          <p:nvPr/>
        </p:nvSpPr>
        <p:spPr>
          <a:xfrm>
            <a:off x="361950" y="1377711"/>
            <a:ext cx="10807700" cy="1808572"/>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某汽车制造商在</a:t>
            </a:r>
            <a:r>
              <a:rPr lang="en-US" altLang="zh-CN" dirty="0">
                <a:solidFill>
                  <a:srgbClr val="000000"/>
                </a:solidFill>
                <a:ea typeface="宋体" panose="02010600030101010101" pitchFamily="2" charset="-122"/>
              </a:rPr>
              <a:t>2025</a:t>
            </a:r>
            <a:r>
              <a:rPr lang="zh-CN" altLang="zh-CN" dirty="0">
                <a:solidFill>
                  <a:srgbClr val="000000"/>
                </a:solidFill>
                <a:ea typeface="宋体" panose="02010600030101010101" pitchFamily="2" charset="-122"/>
                <a:cs typeface="Times New Roman" panose="02020603050405020304" pitchFamily="18" charset="0"/>
              </a:rPr>
              <a:t>年初公告</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公司计划</a:t>
            </a:r>
            <a:r>
              <a:rPr lang="en-US" altLang="zh-CN" dirty="0">
                <a:solidFill>
                  <a:srgbClr val="000000"/>
                </a:solidFill>
                <a:ea typeface="宋体" panose="02010600030101010101" pitchFamily="2" charset="-122"/>
              </a:rPr>
              <a:t>2025</a:t>
            </a:r>
            <a:r>
              <a:rPr lang="zh-CN" altLang="zh-CN" dirty="0">
                <a:solidFill>
                  <a:srgbClr val="000000"/>
                </a:solidFill>
                <a:ea typeface="宋体" panose="02010600030101010101" pitchFamily="2" charset="-122"/>
                <a:cs typeface="Times New Roman" panose="02020603050405020304" pitchFamily="18" charset="0"/>
              </a:rPr>
              <a:t>年生产目标定为</a:t>
            </a:r>
            <a:r>
              <a:rPr lang="en-US" altLang="zh-CN" dirty="0">
                <a:solidFill>
                  <a:srgbClr val="000000"/>
                </a:solidFill>
                <a:ea typeface="宋体" panose="02010600030101010101" pitchFamily="2" charset="-122"/>
              </a:rPr>
              <a:t>43</a:t>
            </a:r>
            <a:r>
              <a:rPr lang="zh-CN" altLang="zh-CN" dirty="0">
                <a:solidFill>
                  <a:srgbClr val="000000"/>
                </a:solidFill>
                <a:ea typeface="宋体" panose="02010600030101010101" pitchFamily="2" charset="-122"/>
                <a:cs typeface="Times New Roman" panose="02020603050405020304" pitchFamily="18" charset="0"/>
              </a:rPr>
              <a:t>万辆</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分别将</a:t>
            </a:r>
            <a:r>
              <a:rPr lang="en-US" altLang="zh-CN" dirty="0">
                <a:solidFill>
                  <a:srgbClr val="000000"/>
                </a:solidFill>
                <a:ea typeface="宋体" panose="02010600030101010101" pitchFamily="2" charset="-122"/>
              </a:rPr>
              <a:t>2022</a:t>
            </a:r>
            <a:r>
              <a:rPr lang="zh-CN" altLang="zh-CN" dirty="0">
                <a:solidFill>
                  <a:srgbClr val="000000"/>
                </a:solidFill>
                <a:ea typeface="宋体" panose="02010600030101010101" pitchFamily="2" charset="-122"/>
                <a:cs typeface="Times New Roman" panose="02020603050405020304" pitchFamily="18" charset="0"/>
              </a:rPr>
              <a:t>年</a:t>
            </a:r>
            <a:r>
              <a:rPr lang="en-US" altLang="zh-CN" dirty="0">
                <a:solidFill>
                  <a:srgbClr val="000000"/>
                </a:solidFill>
                <a:ea typeface="宋体" panose="02010600030101010101" pitchFamily="2" charset="-122"/>
              </a:rPr>
              <a:t>,2023</a:t>
            </a:r>
            <a:r>
              <a:rPr lang="zh-CN" altLang="zh-CN" dirty="0">
                <a:solidFill>
                  <a:srgbClr val="000000"/>
                </a:solidFill>
                <a:ea typeface="宋体" panose="02010600030101010101" pitchFamily="2" charset="-122"/>
                <a:cs typeface="Times New Roman" panose="02020603050405020304" pitchFamily="18" charset="0"/>
              </a:rPr>
              <a:t>年</a:t>
            </a:r>
            <a:r>
              <a:rPr lang="en-US" altLang="zh-CN" dirty="0">
                <a:solidFill>
                  <a:srgbClr val="000000"/>
                </a:solidFill>
                <a:ea typeface="宋体" panose="02010600030101010101" pitchFamily="2" charset="-122"/>
              </a:rPr>
              <a:t>,2024</a:t>
            </a:r>
            <a:r>
              <a:rPr lang="zh-CN" altLang="zh-CN" dirty="0">
                <a:solidFill>
                  <a:srgbClr val="000000"/>
                </a:solidFill>
                <a:ea typeface="宋体" panose="02010600030101010101" pitchFamily="2" charset="-122"/>
                <a:cs typeface="Times New Roman" panose="02020603050405020304" pitchFamily="18" charset="0"/>
              </a:rPr>
              <a:t>年定义为第</a:t>
            </a:r>
            <a:r>
              <a:rPr lang="en-US" altLang="zh-CN" dirty="0">
                <a:solidFill>
                  <a:srgbClr val="000000"/>
                </a:solidFill>
                <a:ea typeface="宋体" panose="02010600030101010101" pitchFamily="2" charset="-122"/>
              </a:rPr>
              <a:t>1,2,3</a:t>
            </a:r>
            <a:r>
              <a:rPr lang="zh-CN" altLang="zh-CN" dirty="0">
                <a:solidFill>
                  <a:srgbClr val="000000"/>
                </a:solidFill>
                <a:ea typeface="宋体" panose="02010600030101010101" pitchFamily="2" charset="-122"/>
                <a:cs typeface="Times New Roman" panose="02020603050405020304" pitchFamily="18" charset="0"/>
              </a:rPr>
              <a:t>年</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已知该公司近三年汽车生产量如下表所示</a:t>
            </a:r>
            <a:r>
              <a:rPr lang="en-US" altLang="zh-CN" dirty="0">
                <a:solidFill>
                  <a:srgbClr val="000000"/>
                </a:solidFill>
                <a:ea typeface="宋体" panose="02010600030101010101" pitchFamily="2" charset="-122"/>
              </a:rPr>
              <a:t>:</a:t>
            </a:r>
            <a:endParaRPr lang="zh-CN" altLang="en-US" dirty="0"/>
          </a:p>
        </p:txBody>
      </p:sp>
      <p:graphicFrame>
        <p:nvGraphicFramePr>
          <p:cNvPr id="4" name="表格 3"/>
          <p:cNvGraphicFramePr>
            <a:graphicFrameLocks noGrp="1" noChangeAspect="1"/>
          </p:cNvGraphicFramePr>
          <p:nvPr>
            <p:extLst>
              <p:ext uri="{D42A27DB-BD31-4B8C-83A1-F6EECF244321}">
                <p14:modId xmlns:p14="http://schemas.microsoft.com/office/powerpoint/2010/main" val="2011538899"/>
              </p:ext>
            </p:extLst>
          </p:nvPr>
        </p:nvGraphicFramePr>
        <p:xfrm>
          <a:off x="2160637" y="3248004"/>
          <a:ext cx="6479208" cy="975360"/>
        </p:xfrm>
        <a:graphic>
          <a:graphicData uri="http://schemas.openxmlformats.org/drawingml/2006/table">
            <a:tbl>
              <a:tblPr firstRow="1" firstCol="1" bandRow="1"/>
              <a:tblGrid>
                <a:gridCol w="1619802"/>
                <a:gridCol w="1619802"/>
                <a:gridCol w="1619802"/>
                <a:gridCol w="1619802"/>
              </a:tblGrid>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第</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产量</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万</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5" name="矩形 4"/>
          <p:cNvSpPr>
            <a:spLocks noChangeAspect="1"/>
          </p:cNvSpPr>
          <p:nvPr/>
        </p:nvSpPr>
        <p:spPr>
          <a:xfrm>
            <a:off x="361950" y="4277695"/>
            <a:ext cx="10807700" cy="182620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现在有两个函数模型</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y=g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a</a:t>
            </a:r>
            <a:r>
              <a:rPr lang="en-US" altLang="zh-CN" dirty="0" err="1" smtClean="0">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b</a:t>
            </a:r>
            <a:r>
              <a:rPr lang="en-US" altLang="zh-CN" i="1" baseline="30000" dirty="0" err="1" smtClean="0">
                <a:solidFill>
                  <a:srgbClr val="000000"/>
                </a:solidFill>
                <a:ea typeface="宋体" panose="02010600030101010101" pitchFamily="2" charset="-122"/>
                <a:cs typeface="Times New Roman" panose="02020603050405020304" pitchFamily="18" charset="0"/>
              </a:rPr>
              <a:t>x</a:t>
            </a:r>
            <a:r>
              <a:rPr lang="en-US" altLang="zh-CN" i="1" dirty="0" err="1"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b&gt;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哪个模型能更好地反映该公司年产量</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45663"/>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建立年产量</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与年份</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可知函数图象必过点</a:t>
            </a:r>
            <a:r>
              <a:rPr lang="en-US" altLang="zh-CN" dirty="0">
                <a:solidFill>
                  <a:srgbClr val="000000"/>
                </a:solidFill>
                <a:ea typeface="宋体" panose="02010600030101010101" pitchFamily="2" charset="-122"/>
                <a:cs typeface="Times New Roman" panose="02020603050405020304" pitchFamily="18" charset="0"/>
              </a:rPr>
              <a:t>(1,8),(2,18),(3,30)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构造模型</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将以上三点坐标代入</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09253122"/>
              </p:ext>
            </p:extLst>
          </p:nvPr>
        </p:nvGraphicFramePr>
        <p:xfrm>
          <a:off x="462135" y="2766935"/>
          <a:ext cx="10607329" cy="1387887"/>
        </p:xfrm>
        <a:graphic>
          <a:graphicData uri="http://schemas.openxmlformats.org/presentationml/2006/ole">
            <mc:AlternateContent xmlns:mc="http://schemas.openxmlformats.org/markup-compatibility/2006">
              <mc:Choice xmlns:v="urn:schemas-microsoft-com:vml" Requires="v">
                <p:oleObj spid="_x0000_s9233" name="文档" r:id="rId4" imgW="3477813" imgH="455045" progId="Word.Document.12">
                  <p:embed/>
                </p:oleObj>
              </mc:Choice>
              <mc:Fallback>
                <p:oleObj name="文档" r:id="rId4" imgW="3477813" imgH="455045" progId="Word.Document.12">
                  <p:embed/>
                  <p:pic>
                    <p:nvPicPr>
                      <p:cNvPr id="0" name=""/>
                      <p:cNvPicPr/>
                      <p:nvPr/>
                    </p:nvPicPr>
                    <p:blipFill>
                      <a:blip r:embed="rId5"/>
                      <a:stretch>
                        <a:fillRect/>
                      </a:stretch>
                    </p:blipFill>
                    <p:spPr>
                      <a:xfrm>
                        <a:off x="462135" y="2766935"/>
                        <a:ext cx="10607329" cy="1387887"/>
                      </a:xfrm>
                      <a:prstGeom prst="rect">
                        <a:avLst/>
                      </a:prstGeom>
                    </p:spPr>
                  </p:pic>
                </p:oleObj>
              </mc:Fallback>
            </mc:AlternateContent>
          </a:graphicData>
        </a:graphic>
      </p:graphicFrame>
      <p:sp>
        <p:nvSpPr>
          <p:cNvPr id="4" name="矩形 3"/>
          <p:cNvSpPr>
            <a:spLocks noChangeAspect="1"/>
          </p:cNvSpPr>
          <p:nvPr/>
        </p:nvSpPr>
        <p:spPr>
          <a:xfrm>
            <a:off x="361950" y="4167522"/>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44,</a:t>
            </a:r>
            <a:r>
              <a:rPr lang="zh-CN" altLang="zh-CN" dirty="0">
                <a:solidFill>
                  <a:srgbClr val="000000"/>
                </a:solidFill>
                <a:ea typeface="楷体" panose="02010609060101010101" pitchFamily="49" charset="-122"/>
                <a:cs typeface="Times New Roman" panose="02020603050405020304" pitchFamily="18" charset="0"/>
              </a:rPr>
              <a:t>与计划误差为</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328296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1093394986"/>
              </p:ext>
            </p:extLst>
          </p:nvPr>
        </p:nvGraphicFramePr>
        <p:xfrm>
          <a:off x="504453" y="781983"/>
          <a:ext cx="10640962" cy="5411775"/>
        </p:xfrm>
        <a:graphic>
          <a:graphicData uri="http://schemas.openxmlformats.org/presentationml/2006/ole">
            <mc:AlternateContent xmlns:mc="http://schemas.openxmlformats.org/markup-compatibility/2006">
              <mc:Choice xmlns:v="urn:schemas-microsoft-com:vml" Requires="v">
                <p:oleObj spid="_x0000_s10257" name="文档" r:id="rId4" imgW="3826872" imgH="1947835" progId="Word.Document.12">
                  <p:embed/>
                </p:oleObj>
              </mc:Choice>
              <mc:Fallback>
                <p:oleObj name="文档" r:id="rId4" imgW="3826872" imgH="1947835" progId="Word.Document.12">
                  <p:embed/>
                  <p:pic>
                    <p:nvPicPr>
                      <p:cNvPr id="0" name=""/>
                      <p:cNvPicPr/>
                      <p:nvPr/>
                    </p:nvPicPr>
                    <p:blipFill>
                      <a:blip r:embed="rId5"/>
                      <a:stretch>
                        <a:fillRect/>
                      </a:stretch>
                    </p:blipFill>
                    <p:spPr>
                      <a:xfrm>
                        <a:off x="504453" y="781983"/>
                        <a:ext cx="10640962" cy="5411775"/>
                      </a:xfrm>
                      <a:prstGeom prst="rect">
                        <a:avLst/>
                      </a:prstGeom>
                    </p:spPr>
                  </p:pic>
                </p:oleObj>
              </mc:Fallback>
            </mc:AlternateContent>
          </a:graphicData>
        </a:graphic>
      </p:graphicFrame>
    </p:spTree>
    <p:extLst>
      <p:ext uri="{BB962C8B-B14F-4D97-AF65-F5344CB8AC3E}">
        <p14:creationId xmlns:p14="http://schemas.microsoft.com/office/powerpoint/2010/main" val="17774086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151855"/>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函数</a:t>
            </a:r>
            <a:r>
              <a:rPr lang="zh-CN" altLang="zh-CN" dirty="0">
                <a:solidFill>
                  <a:srgbClr val="000000"/>
                </a:solidFill>
                <a:ea typeface="仿宋" panose="02010609060101010101" pitchFamily="49" charset="-122"/>
                <a:cs typeface="Times New Roman" panose="02020603050405020304" pitchFamily="18" charset="0"/>
              </a:rPr>
              <a:t>模型选取的依据</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对于增长速度不变的实际问题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可建立线性函数增长模型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对于增长速度急剧变化的实际问题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可建立指数函数增长模型</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对于增长速度平缓的实际问题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可建立对数函数增长模型</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2402378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199342"/>
            <a:ext cx="11794798" cy="3840945"/>
            <a:chOff x="361950" y="965997"/>
            <a:chExt cx="11794798" cy="3840945"/>
          </a:xfrm>
        </p:grpSpPr>
        <p:sp>
          <p:nvSpPr>
            <p:cNvPr id="2" name="矩形 1"/>
            <p:cNvSpPr>
              <a:spLocks noChangeAspect="1"/>
            </p:cNvSpPr>
            <p:nvPr/>
          </p:nvSpPr>
          <p:spPr>
            <a:xfrm>
              <a:off x="361950" y="965997"/>
              <a:ext cx="10807700" cy="2456057"/>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为推动</a:t>
              </a:r>
              <a:r>
                <a:rPr lang="zh-CN" altLang="zh-CN" dirty="0">
                  <a:solidFill>
                    <a:srgbClr val="000000"/>
                  </a:solidFill>
                  <a:ea typeface="宋体" panose="02010600030101010101" pitchFamily="2" charset="-122"/>
                  <a:cs typeface="Times New Roman" panose="02020603050405020304" pitchFamily="18" charset="0"/>
                </a:rPr>
                <a:t>绿色发展</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促进人与自然和谐共生</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某地区加大植树造林力度</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测得最近三年造林面积增加值分别为</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万公顷、</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4</a:t>
              </a:r>
              <a:r>
                <a:rPr lang="zh-CN" altLang="zh-CN" dirty="0">
                  <a:solidFill>
                    <a:srgbClr val="000000"/>
                  </a:solidFill>
                  <a:ea typeface="宋体" panose="02010600030101010101" pitchFamily="2" charset="-122"/>
                  <a:cs typeface="Times New Roman" panose="02020603050405020304" pitchFamily="18" charset="0"/>
                </a:rPr>
                <a:t>万公顷和</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76</a:t>
              </a:r>
              <a:r>
                <a:rPr lang="zh-CN" altLang="zh-CN" dirty="0">
                  <a:solidFill>
                    <a:srgbClr val="000000"/>
                  </a:solidFill>
                  <a:ea typeface="宋体" panose="02010600030101010101" pitchFamily="2" charset="-122"/>
                  <a:cs typeface="Times New Roman" panose="02020603050405020304" pitchFamily="18" charset="0"/>
                </a:rPr>
                <a:t>万公顷</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则造林面积增加值</a:t>
              </a:r>
              <a:r>
                <a:rPr lang="en-US" altLang="zh-CN" i="1" dirty="0">
                  <a:solidFill>
                    <a:srgbClr val="000000"/>
                  </a:solidFill>
                  <a:ea typeface="宋体" panose="02010600030101010101" pitchFamily="2" charset="-122"/>
                </a:rPr>
                <a:t>y</a:t>
              </a:r>
              <a:r>
                <a:rPr lang="zh-CN" altLang="zh-CN" dirty="0">
                  <a:solidFill>
                    <a:srgbClr val="000000"/>
                  </a:solidFill>
                  <a:ea typeface="宋体" panose="02010600030101010101" pitchFamily="2" charset="-122"/>
                  <a:cs typeface="Times New Roman" panose="02020603050405020304" pitchFamily="18" charset="0"/>
                </a:rPr>
                <a:t>万公顷关于年份序号</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的函数解析</a:t>
              </a:r>
              <a:r>
                <a:rPr lang="zh-CN" altLang="zh-CN" dirty="0" smtClean="0">
                  <a:solidFill>
                    <a:srgbClr val="000000"/>
                  </a:solidFill>
                  <a:ea typeface="宋体" panose="02010600030101010101" pitchFamily="2" charset="-122"/>
                  <a:cs typeface="Times New Roman" panose="02020603050405020304" pitchFamily="18" charset="0"/>
                </a:rPr>
                <a:t>式可以</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4062142953"/>
                </p:ext>
              </p:extLst>
            </p:nvPr>
          </p:nvGraphicFramePr>
          <p:xfrm>
            <a:off x="484789" y="3383098"/>
            <a:ext cx="11671959" cy="1423844"/>
          </p:xfrm>
          <a:graphic>
            <a:graphicData uri="http://schemas.openxmlformats.org/presentationml/2006/ole">
              <mc:AlternateContent xmlns:mc="http://schemas.openxmlformats.org/markup-compatibility/2006">
                <mc:Choice xmlns:v="urn:schemas-microsoft-com:vml" Requires="v">
                  <p:oleObj spid="_x0000_s11281" name="文档" r:id="rId4" imgW="3826872" imgH="466834" progId="Word.Document.12">
                    <p:embed/>
                  </p:oleObj>
                </mc:Choice>
                <mc:Fallback>
                  <p:oleObj name="文档" r:id="rId4" imgW="3826872" imgH="466834" progId="Word.Document.12">
                    <p:embed/>
                    <p:pic>
                      <p:nvPicPr>
                        <p:cNvPr id="0" name=""/>
                        <p:cNvPicPr/>
                        <p:nvPr/>
                      </p:nvPicPr>
                      <p:blipFill>
                        <a:blip r:embed="rId5"/>
                        <a:stretch>
                          <a:fillRect/>
                        </a:stretch>
                      </p:blipFill>
                      <p:spPr>
                        <a:xfrm>
                          <a:off x="484789" y="3383098"/>
                          <a:ext cx="11671959" cy="1423844"/>
                        </a:xfrm>
                        <a:prstGeom prst="rect">
                          <a:avLst/>
                        </a:prstGeom>
                      </p:spPr>
                    </p:pic>
                  </p:oleObj>
                </mc:Fallback>
              </mc:AlternateContent>
            </a:graphicData>
          </a:graphic>
        </p:graphicFrame>
      </p:grpSp>
    </p:spTree>
    <p:extLst>
      <p:ext uri="{BB962C8B-B14F-4D97-AF65-F5344CB8AC3E}">
        <p14:creationId xmlns:p14="http://schemas.microsoft.com/office/powerpoint/2010/main" val="117221829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13905"/>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符合题意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zh-CN" altLang="zh-CN" dirty="0">
                <a:solidFill>
                  <a:srgbClr val="000000"/>
                </a:solidFill>
                <a:ea typeface="楷体" panose="02010609060101010101" pitchFamily="49" charset="-122"/>
                <a:cs typeface="Times New Roman" panose="02020603050405020304" pitchFamily="18" charset="0"/>
              </a:rPr>
              <a:t>相差</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相差较大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不符合题意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符合题意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楷体" panose="02010609060101010101" pitchFamily="49"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76</a:t>
            </a:r>
            <a:r>
              <a:rPr lang="zh-CN" altLang="zh-CN" dirty="0">
                <a:solidFill>
                  <a:srgbClr val="000000"/>
                </a:solidFill>
                <a:ea typeface="楷体" panose="02010609060101010101" pitchFamily="49" charset="-122"/>
                <a:cs typeface="Times New Roman" panose="02020603050405020304" pitchFamily="18" charset="0"/>
              </a:rPr>
              <a:t>相差</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04,</a:t>
            </a:r>
            <a:r>
              <a:rPr lang="zh-CN" altLang="zh-CN" dirty="0">
                <a:solidFill>
                  <a:srgbClr val="000000"/>
                </a:solidFill>
                <a:ea typeface="楷体" panose="02010609060101010101" pitchFamily="49" charset="-122"/>
                <a:cs typeface="Times New Roman" panose="02020603050405020304" pitchFamily="18" charset="0"/>
              </a:rPr>
              <a:t>与选项</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比较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更符合题意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45;</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zh-CN" altLang="zh-CN" dirty="0">
                <a:solidFill>
                  <a:srgbClr val="000000"/>
                </a:solidFill>
                <a:ea typeface="楷体" panose="02010609060101010101" pitchFamily="49" charset="-122"/>
                <a:cs typeface="Times New Roman" panose="02020603050405020304" pitchFamily="18" charset="0"/>
              </a:rPr>
              <a:t>相差较大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不符合题意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668015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50812"/>
            <a:ext cx="10807700" cy="6001643"/>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审题不清致错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某工厂连续数年的产值月平均增长率为</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则它的年平均增长率为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设第一年的产值为</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则经过</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宋体" panose="02010600030101010101" pitchFamily="2" charset="-122"/>
                <a:cs typeface="Times New Roman" panose="02020603050405020304" pitchFamily="18" charset="0"/>
              </a:rPr>
              <a:t>个月后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即第二年的产值为</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即它的年平均增长率为</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12</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答案</a:t>
            </a:r>
            <a:r>
              <a:rPr lang="en-US" altLang="zh-CN" dirty="0">
                <a:solidFill>
                  <a:srgbClr val="000000"/>
                </a:solidFill>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baseline="30000" dirty="0" smtClean="0">
                <a:solidFill>
                  <a:srgbClr val="000000"/>
                </a:solidFill>
                <a:ea typeface="宋体" panose="02010600030101010101" pitchFamily="2" charset="-122"/>
                <a:cs typeface="Times New Roman" panose="02020603050405020304" pitchFamily="18" charset="0"/>
              </a:rPr>
              <a:t>12</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以上</a:t>
            </a:r>
            <a:r>
              <a:rPr lang="zh-CN" altLang="zh-CN" dirty="0">
                <a:solidFill>
                  <a:srgbClr val="000000"/>
                </a:solidFill>
                <a:ea typeface="宋体" panose="02010600030101010101" pitchFamily="2" charset="-122"/>
                <a:cs typeface="Times New Roman" panose="02020603050405020304" pitchFamily="18" charset="0"/>
              </a:rPr>
              <a:t>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上述错解是由于对年平均增长率的含义理解不清导致的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96757" y="998007"/>
            <a:ext cx="11742454" cy="3701670"/>
            <a:chOff x="216421" y="987926"/>
            <a:chExt cx="11742454" cy="3701670"/>
          </a:xfrm>
        </p:grpSpPr>
        <p:sp>
          <p:nvSpPr>
            <p:cNvPr id="3" name="矩形 2"/>
            <p:cNvSpPr>
              <a:spLocks noChangeAspect="1"/>
            </p:cNvSpPr>
            <p:nvPr/>
          </p:nvSpPr>
          <p:spPr>
            <a:xfrm>
              <a:off x="216421" y="987926"/>
              <a:ext cx="10807700" cy="237757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正解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依题意可设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连续两年中每月的产值分别为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第一年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11</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第二年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13</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14</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23</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因此年平均增长率为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65674574"/>
                </p:ext>
              </p:extLst>
            </p:nvPr>
          </p:nvGraphicFramePr>
          <p:xfrm>
            <a:off x="286916" y="3365500"/>
            <a:ext cx="11671959" cy="1324096"/>
          </p:xfrm>
          <a:graphic>
            <a:graphicData uri="http://schemas.openxmlformats.org/presentationml/2006/ole">
              <mc:AlternateContent xmlns:mc="http://schemas.openxmlformats.org/markup-compatibility/2006">
                <mc:Choice xmlns:v="urn:schemas-microsoft-com:vml" Requires="v">
                  <p:oleObj spid="_x0000_s12304" name="文档" r:id="rId4" imgW="3826872" imgH="434130" progId="Word.Document.12">
                    <p:embed/>
                  </p:oleObj>
                </mc:Choice>
                <mc:Fallback>
                  <p:oleObj name="文档" r:id="rId4" imgW="3826872" imgH="434130" progId="Word.Document.12">
                    <p:embed/>
                    <p:pic>
                      <p:nvPicPr>
                        <p:cNvPr id="0" name=""/>
                        <p:cNvPicPr/>
                        <p:nvPr/>
                      </p:nvPicPr>
                      <p:blipFill>
                        <a:blip r:embed="rId5"/>
                        <a:stretch>
                          <a:fillRect/>
                        </a:stretch>
                      </p:blipFill>
                      <p:spPr>
                        <a:xfrm>
                          <a:off x="286916" y="3365500"/>
                          <a:ext cx="11671959" cy="1324096"/>
                        </a:xfrm>
                        <a:prstGeom prst="rect">
                          <a:avLst/>
                        </a:prstGeom>
                      </p:spPr>
                    </p:pic>
                  </p:oleObj>
                </mc:Fallback>
              </mc:AlternateContent>
            </a:graphicData>
          </a:graphic>
        </p:graphicFrame>
      </p:grpSp>
      <p:sp>
        <p:nvSpPr>
          <p:cNvPr id="6" name="矩形 5"/>
          <p:cNvSpPr>
            <a:spLocks noChangeAspect="1"/>
          </p:cNvSpPr>
          <p:nvPr/>
        </p:nvSpPr>
        <p:spPr>
          <a:xfrm>
            <a:off x="196757" y="4772168"/>
            <a:ext cx="2778325"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baseline="30000" dirty="0" smtClean="0">
                <a:solidFill>
                  <a:srgbClr val="000000"/>
                </a:solidFill>
                <a:ea typeface="宋体" panose="02010600030101010101" pitchFamily="2" charset="-122"/>
                <a:cs typeface="Times New Roman" panose="02020603050405020304" pitchFamily="18" charset="0"/>
              </a:rPr>
              <a:t>12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1238101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015951"/>
            <a:ext cx="10807700" cy="1865126"/>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防范措施</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在</a:t>
            </a:r>
            <a:r>
              <a:rPr lang="zh-CN" altLang="zh-CN" dirty="0">
                <a:solidFill>
                  <a:srgbClr val="000000"/>
                </a:solidFill>
                <a:ea typeface="仿宋" panose="02010609060101010101" pitchFamily="49" charset="-122"/>
                <a:cs typeface="Times New Roman" panose="02020603050405020304" pitchFamily="18" charset="0"/>
              </a:rPr>
              <a:t>增长率公式</a:t>
            </a:r>
            <a:r>
              <a:rPr lang="en-US" altLang="zh-CN" i="1" dirty="0">
                <a:solidFill>
                  <a:srgbClr val="000000"/>
                </a:solidFill>
                <a:ea typeface="宋体" panose="02010600030101010101" pitchFamily="2" charset="-122"/>
                <a:cs typeface="Times New Roman" panose="02020603050405020304" pitchFamily="18" charset="0"/>
              </a:rPr>
              <a:t>y=N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指数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是指基数所在时间后所跨过的时间间隔数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48269077"/>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9181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若某工厂连续两年的产值月平均增长率都是</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则第二年某月的产值与第一年相应月的产值相比</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增长</a:t>
            </a:r>
            <a:r>
              <a:rPr lang="zh-CN" altLang="zh-CN" dirty="0" smtClean="0">
                <a:solidFill>
                  <a:srgbClr val="000000"/>
                </a:solidFill>
                <a:ea typeface="宋体" panose="02010600030101010101" pitchFamily="2" charset="-122"/>
                <a:cs typeface="Times New Roman" panose="02020603050405020304" pitchFamily="18" charset="0"/>
              </a:rPr>
              <a:t>了</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6" name="组合 5"/>
          <p:cNvGrpSpPr/>
          <p:nvPr/>
        </p:nvGrpSpPr>
        <p:grpSpPr>
          <a:xfrm>
            <a:off x="361950" y="2619048"/>
            <a:ext cx="11814462" cy="2564557"/>
            <a:chOff x="361950" y="2431822"/>
            <a:chExt cx="11814462" cy="2564557"/>
          </a:xfrm>
        </p:grpSpPr>
        <p:sp>
          <p:nvSpPr>
            <p:cNvPr id="4" name="矩形 3"/>
            <p:cNvSpPr>
              <a:spLocks noChangeAspect="1"/>
            </p:cNvSpPr>
            <p:nvPr/>
          </p:nvSpPr>
          <p:spPr>
            <a:xfrm>
              <a:off x="361950" y="2431822"/>
              <a:ext cx="10807700" cy="178664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不妨设第一年</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月的产值为</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月的产值为</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月的产值为</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依次类推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第二年</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月的产值为</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故第二年某月的产值与第一年相应月的产值相比增长</a:t>
              </a:r>
              <a:r>
                <a:rPr lang="zh-CN" altLang="zh-CN" dirty="0" smtClean="0">
                  <a:solidFill>
                    <a:srgbClr val="000000"/>
                  </a:solidFill>
                  <a:ea typeface="楷体" panose="02010609060101010101" pitchFamily="49" charset="-122"/>
                  <a:cs typeface="Times New Roman" panose="02020603050405020304" pitchFamily="18" charset="0"/>
                </a:rPr>
                <a:t>了</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154122210"/>
                </p:ext>
              </p:extLst>
            </p:nvPr>
          </p:nvGraphicFramePr>
          <p:xfrm>
            <a:off x="504453" y="4204989"/>
            <a:ext cx="11671959" cy="791390"/>
          </p:xfrm>
          <a:graphic>
            <a:graphicData uri="http://schemas.openxmlformats.org/presentationml/2006/ole">
              <mc:AlternateContent xmlns:mc="http://schemas.openxmlformats.org/markup-compatibility/2006">
                <mc:Choice xmlns:v="urn:schemas-microsoft-com:vml" Requires="v">
                  <p:oleObj spid="_x0000_s13327" name="文档" r:id="rId4" imgW="3826872" imgH="259472" progId="Word.Document.12">
                    <p:embed/>
                  </p:oleObj>
                </mc:Choice>
                <mc:Fallback>
                  <p:oleObj name="文档" r:id="rId4" imgW="3826872" imgH="259472" progId="Word.Document.12">
                    <p:embed/>
                    <p:pic>
                      <p:nvPicPr>
                        <p:cNvPr id="0" name=""/>
                        <p:cNvPicPr/>
                        <p:nvPr/>
                      </p:nvPicPr>
                      <p:blipFill>
                        <a:blip r:embed="rId5"/>
                        <a:stretch>
                          <a:fillRect/>
                        </a:stretch>
                      </p:blipFill>
                      <p:spPr>
                        <a:xfrm>
                          <a:off x="504453" y="4204989"/>
                          <a:ext cx="11671959" cy="791390"/>
                        </a:xfrm>
                        <a:prstGeom prst="rect">
                          <a:avLst/>
                        </a:prstGeom>
                      </p:spPr>
                    </p:pic>
                  </p:oleObj>
                </mc:Fallback>
              </mc:AlternateContent>
            </a:graphicData>
          </a:graphic>
        </p:graphicFrame>
      </p:grpSp>
      <p:sp>
        <p:nvSpPr>
          <p:cNvPr id="7" name="矩形 6"/>
          <p:cNvSpPr>
            <a:spLocks noChangeAspect="1"/>
          </p:cNvSpPr>
          <p:nvPr/>
        </p:nvSpPr>
        <p:spPr>
          <a:xfrm>
            <a:off x="390209" y="5230951"/>
            <a:ext cx="2778325"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baseline="30000" dirty="0" smtClean="0">
                <a:solidFill>
                  <a:srgbClr val="000000"/>
                </a:solidFill>
                <a:ea typeface="宋体" panose="02010600030101010101" pitchFamily="2" charset="-122"/>
                <a:cs typeface="Times New Roman" panose="02020603050405020304" pitchFamily="18" charset="0"/>
              </a:rPr>
              <a:t>12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532834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84535"/>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某种细菌在培养过程中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a:t>
            </a:r>
            <a:r>
              <a:rPr lang="en-US" altLang="zh-CN" dirty="0">
                <a:solidFill>
                  <a:srgbClr val="000000"/>
                </a:solidFill>
                <a:ea typeface="宋体" panose="02010600030101010101" pitchFamily="2" charset="-122"/>
                <a:cs typeface="Times New Roman" panose="02020603050405020304" pitchFamily="18" charset="0"/>
              </a:rPr>
              <a:t>15 min</a:t>
            </a:r>
            <a:r>
              <a:rPr lang="zh-CN" altLang="zh-CN" dirty="0">
                <a:solidFill>
                  <a:srgbClr val="000000"/>
                </a:solidFill>
                <a:ea typeface="宋体" panose="02010600030101010101" pitchFamily="2" charset="-122"/>
                <a:cs typeface="Times New Roman" panose="02020603050405020304" pitchFamily="18" charset="0"/>
              </a:rPr>
              <a:t>分裂</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个分裂成</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则这种细菌由</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个分裂成</a:t>
            </a:r>
            <a:r>
              <a:rPr lang="en-US" altLang="zh-CN" dirty="0">
                <a:solidFill>
                  <a:srgbClr val="000000"/>
                </a:solidFill>
                <a:ea typeface="宋体" panose="02010600030101010101" pitchFamily="2" charset="-122"/>
                <a:cs typeface="Times New Roman" panose="02020603050405020304" pitchFamily="18" charset="0"/>
              </a:rPr>
              <a:t>256</a:t>
            </a:r>
            <a:r>
              <a:rPr lang="zh-CN" altLang="zh-CN" dirty="0">
                <a:solidFill>
                  <a:srgbClr val="000000"/>
                </a:solidFill>
                <a:ea typeface="宋体" panose="02010600030101010101" pitchFamily="2" charset="-122"/>
                <a:cs typeface="Times New Roman" panose="02020603050405020304" pitchFamily="18" charset="0"/>
              </a:rPr>
              <a:t>个需经过</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A.8 h	</a:t>
            </a:r>
            <a:r>
              <a:rPr lang="en-US" altLang="zh-CN" dirty="0" smtClean="0">
                <a:solidFill>
                  <a:srgbClr val="000000"/>
                </a:solidFill>
                <a:ea typeface="宋体" panose="02010600030101010101" pitchFamily="2" charset="-122"/>
                <a:cs typeface="Times New Roman" panose="02020603050405020304" pitchFamily="18" charset="0"/>
              </a:rPr>
              <a:t>	B.4 </a:t>
            </a:r>
            <a:r>
              <a:rPr lang="en-US" altLang="zh-CN" dirty="0">
                <a:solidFill>
                  <a:srgbClr val="000000"/>
                </a:solidFill>
                <a:ea typeface="宋体" panose="02010600030101010101" pitchFamily="2" charset="-122"/>
                <a:cs typeface="Times New Roman" panose="02020603050405020304" pitchFamily="18" charset="0"/>
              </a:rPr>
              <a:t>h	</a:t>
            </a:r>
            <a:r>
              <a:rPr lang="en-US" altLang="zh-CN" dirty="0" smtClean="0">
                <a:solidFill>
                  <a:srgbClr val="000000"/>
                </a:solidFill>
                <a:ea typeface="宋体" panose="02010600030101010101" pitchFamily="2" charset="-122"/>
                <a:cs typeface="Times New Roman" panose="02020603050405020304" pitchFamily="18" charset="0"/>
              </a:rPr>
              <a:t>	C.3 </a:t>
            </a:r>
            <a:r>
              <a:rPr lang="en-US" altLang="zh-CN" dirty="0">
                <a:solidFill>
                  <a:srgbClr val="000000"/>
                </a:solidFill>
                <a:ea typeface="宋体" panose="02010600030101010101" pitchFamily="2" charset="-122"/>
                <a:cs typeface="Times New Roman" panose="02020603050405020304" pitchFamily="18" charset="0"/>
              </a:rPr>
              <a:t>h	D.2 h</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设细菌共分裂了</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则有</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256,</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baseline="30000" dirty="0">
                <a:solidFill>
                  <a:srgbClr val="000000"/>
                </a:solidFill>
                <a:ea typeface="宋体" panose="02010600030101010101" pitchFamily="2" charset="-122"/>
                <a:cs typeface="Times New Roman" panose="02020603050405020304" pitchFamily="18" charset="0"/>
              </a:rPr>
              <a:t>8</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又此细菌每</a:t>
            </a:r>
            <a:r>
              <a:rPr lang="en-US" altLang="zh-CN" dirty="0">
                <a:solidFill>
                  <a:srgbClr val="000000"/>
                </a:solidFill>
                <a:ea typeface="宋体" panose="02010600030101010101" pitchFamily="2" charset="-122"/>
                <a:cs typeface="Times New Roman" panose="02020603050405020304" pitchFamily="18" charset="0"/>
              </a:rPr>
              <a:t>15</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min</a:t>
            </a:r>
            <a:r>
              <a:rPr lang="zh-CN" altLang="zh-CN" dirty="0">
                <a:solidFill>
                  <a:srgbClr val="000000"/>
                </a:solidFill>
                <a:ea typeface="楷体" panose="02010609060101010101" pitchFamily="49" charset="-122"/>
                <a:cs typeface="Times New Roman" panose="02020603050405020304" pitchFamily="18" charset="0"/>
              </a:rPr>
              <a:t>分裂</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所以共需</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120(min),</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h,</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51855"/>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已知测得</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的两组值为</a:t>
            </a:r>
            <a:r>
              <a:rPr lang="en-US" altLang="zh-CN" dirty="0">
                <a:solidFill>
                  <a:srgbClr val="000000"/>
                </a:solidFill>
                <a:ea typeface="宋体" panose="02010600030101010101" pitchFamily="2" charset="-122"/>
                <a:cs typeface="Times New Roman" panose="02020603050405020304" pitchFamily="18" charset="0"/>
              </a:rPr>
              <a:t>(1,2),(2,5),</a:t>
            </a:r>
            <a:r>
              <a:rPr lang="zh-CN" altLang="zh-CN" dirty="0">
                <a:solidFill>
                  <a:srgbClr val="000000"/>
                </a:solidFill>
                <a:ea typeface="宋体" panose="02010600030101010101" pitchFamily="2" charset="-122"/>
                <a:cs typeface="Times New Roman" panose="02020603050405020304" pitchFamily="18" charset="0"/>
              </a:rPr>
              <a:t>现有两个拟合函数模型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乙</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若又测得</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的另一组对应值为</a:t>
            </a:r>
            <a:r>
              <a:rPr lang="en-US" altLang="zh-CN" dirty="0">
                <a:solidFill>
                  <a:srgbClr val="000000"/>
                </a:solidFill>
                <a:ea typeface="宋体" panose="02010600030101010101" pitchFamily="2" charset="-122"/>
                <a:cs typeface="Times New Roman" panose="02020603050405020304" pitchFamily="18" charset="0"/>
              </a:rPr>
              <a:t>(3,10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则选用</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作为拟合模型较好</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甲</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乙</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对于甲</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3</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对于乙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因此用甲作为拟合模型较好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甲</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0119064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63823"/>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灌满开水的热水瓶放在室内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如果瓶内开水原来的温度是</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室内气温是</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 min</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开水的温度可由公式</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dirty="0">
                <a:solidFill>
                  <a:srgbClr val="000000"/>
                </a:solidFill>
                <a:ea typeface="宋体" panose="02010600030101010101" pitchFamily="2" charset="-122"/>
                <a:cs typeface="Times New Roman" panose="02020603050405020304" pitchFamily="18" charset="0"/>
              </a:rPr>
              <a:t>)e</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i="1" baseline="30000" dirty="0" err="1">
                <a:solidFill>
                  <a:srgbClr val="000000"/>
                </a:solidFill>
                <a:ea typeface="宋体" panose="02010600030101010101" pitchFamily="2" charset="-122"/>
                <a:cs typeface="Times New Roman" panose="02020603050405020304" pitchFamily="18" charset="0"/>
              </a:rPr>
              <a:t>kt</a:t>
            </a:r>
            <a:r>
              <a:rPr lang="zh-CN" altLang="zh-CN" dirty="0">
                <a:solidFill>
                  <a:srgbClr val="000000"/>
                </a:solidFill>
                <a:ea typeface="宋体" panose="02010600030101010101" pitchFamily="2" charset="-122"/>
                <a:cs typeface="Times New Roman" panose="02020603050405020304" pitchFamily="18" charset="0"/>
              </a:rPr>
              <a:t>求得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宋体" panose="02010600030101010101" pitchFamily="2" charset="-122"/>
                <a:cs typeface="Times New Roman" panose="02020603050405020304" pitchFamily="18" charset="0"/>
              </a:rPr>
              <a:t>是一个与热水瓶类型有关的正的常量</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现有一个某种类型的热水瓶灌满开水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测得瓶内水温为</a:t>
            </a:r>
            <a:r>
              <a:rPr lang="en-US" altLang="zh-CN" dirty="0">
                <a:solidFill>
                  <a:srgbClr val="000000"/>
                </a:solidFill>
                <a:ea typeface="宋体" panose="02010600030101010101" pitchFamily="2" charset="-122"/>
                <a:cs typeface="Times New Roman" panose="02020603050405020304" pitchFamily="18" charset="0"/>
              </a:rPr>
              <a:t>100 </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,1 h</a:t>
            </a:r>
            <a:r>
              <a:rPr lang="zh-CN" altLang="zh-CN" dirty="0">
                <a:solidFill>
                  <a:srgbClr val="000000"/>
                </a:solidFill>
                <a:ea typeface="宋体" panose="02010600030101010101" pitchFamily="2" charset="-122"/>
                <a:cs typeface="Times New Roman" panose="02020603050405020304" pitchFamily="18" charset="0"/>
              </a:rPr>
              <a:t>后又测得瓶内水温变为</a:t>
            </a:r>
            <a:r>
              <a:rPr lang="en-US" altLang="zh-CN" dirty="0">
                <a:solidFill>
                  <a:srgbClr val="000000"/>
                </a:solidFill>
                <a:ea typeface="宋体" panose="02010600030101010101" pitchFamily="2" charset="-122"/>
                <a:cs typeface="Times New Roman" panose="02020603050405020304" pitchFamily="18" charset="0"/>
              </a:rPr>
              <a:t>98 </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已知某种奶粉必须用不低于</a:t>
            </a:r>
            <a:r>
              <a:rPr lang="en-US" altLang="zh-CN" dirty="0">
                <a:solidFill>
                  <a:srgbClr val="000000"/>
                </a:solidFill>
                <a:ea typeface="宋体" panose="02010600030101010101" pitchFamily="2" charset="-122"/>
                <a:cs typeface="Times New Roman" panose="02020603050405020304" pitchFamily="18" charset="0"/>
              </a:rPr>
              <a:t>85 </a:t>
            </a:r>
            <a:r>
              <a:rPr lang="zh-CN" altLang="zh-CN"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的开水冲泡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现用这种类型的热水瓶在早上</a:t>
            </a:r>
            <a:r>
              <a:rPr lang="en-US" altLang="zh-CN" dirty="0">
                <a:solidFill>
                  <a:srgbClr val="000000"/>
                </a:solidFill>
                <a:ea typeface="宋体" panose="02010600030101010101" pitchFamily="2" charset="-122"/>
                <a:cs typeface="Times New Roman" panose="02020603050405020304" pitchFamily="18" charset="0"/>
              </a:rPr>
              <a:t>6:00</a:t>
            </a:r>
            <a:r>
              <a:rPr lang="zh-CN" altLang="zh-CN" dirty="0">
                <a:solidFill>
                  <a:srgbClr val="000000"/>
                </a:solidFill>
                <a:ea typeface="宋体" panose="02010600030101010101" pitchFamily="2" charset="-122"/>
                <a:cs typeface="Times New Roman" panose="02020603050405020304" pitchFamily="18" charset="0"/>
              </a:rPr>
              <a:t>灌满</a:t>
            </a:r>
            <a:r>
              <a:rPr lang="en-US" altLang="zh-CN" dirty="0">
                <a:solidFill>
                  <a:srgbClr val="000000"/>
                </a:solidFill>
                <a:ea typeface="宋体" panose="02010600030101010101" pitchFamily="2" charset="-122"/>
                <a:cs typeface="Times New Roman" panose="02020603050405020304" pitchFamily="18" charset="0"/>
              </a:rPr>
              <a:t>100 </a:t>
            </a:r>
            <a:r>
              <a:rPr lang="zh-CN" altLang="zh-CN"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的开水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能否在这一天的中午</a:t>
            </a:r>
            <a:r>
              <a:rPr lang="en-US" altLang="zh-CN" dirty="0">
                <a:solidFill>
                  <a:srgbClr val="000000"/>
                </a:solidFill>
                <a:ea typeface="宋体" panose="02010600030101010101" pitchFamily="2" charset="-122"/>
                <a:cs typeface="Times New Roman" panose="02020603050405020304" pitchFamily="18" charset="0"/>
              </a:rPr>
              <a:t>12:00</a:t>
            </a:r>
            <a:r>
              <a:rPr lang="zh-CN" altLang="zh-CN" dirty="0">
                <a:solidFill>
                  <a:srgbClr val="000000"/>
                </a:solidFill>
                <a:ea typeface="宋体" panose="02010600030101010101" pitchFamily="2" charset="-122"/>
                <a:cs typeface="Times New Roman" panose="02020603050405020304" pitchFamily="18" charset="0"/>
              </a:rPr>
              <a:t>用这瓶开水来</a:t>
            </a:r>
            <a:r>
              <a:rPr lang="zh-CN" altLang="zh-CN" dirty="0" smtClean="0">
                <a:solidFill>
                  <a:srgbClr val="000000"/>
                </a:solidFill>
                <a:ea typeface="宋体" panose="02010600030101010101" pitchFamily="2" charset="-122"/>
                <a:cs typeface="Times New Roman" panose="02020603050405020304" pitchFamily="18" charset="0"/>
              </a:rPr>
              <a:t>冲</a:t>
            </a:r>
            <a:r>
              <a:rPr lang="zh-CN" altLang="en-US" dirty="0" smtClean="0">
                <a:solidFill>
                  <a:srgbClr val="000000"/>
                </a:solidFill>
                <a:ea typeface="宋体" panose="02010600030101010101" pitchFamily="2" charset="-122"/>
                <a:cs typeface="Times New Roman" panose="02020603050405020304" pitchFamily="18" charset="0"/>
              </a:rPr>
              <a:t>这种</a:t>
            </a:r>
            <a:r>
              <a:rPr lang="zh-CN" altLang="zh-CN" dirty="0" smtClean="0">
                <a:solidFill>
                  <a:srgbClr val="000000"/>
                </a:solidFill>
                <a:ea typeface="宋体" panose="02010600030101010101" pitchFamily="2" charset="-122"/>
                <a:cs typeface="Times New Roman" panose="02020603050405020304" pitchFamily="18" charset="0"/>
              </a:rPr>
              <a:t>奶粉</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假定该地白天室温为</a:t>
            </a:r>
            <a:r>
              <a:rPr lang="en-US" altLang="zh-CN" dirty="0">
                <a:solidFill>
                  <a:srgbClr val="000000"/>
                </a:solidFill>
                <a:ea typeface="宋体" panose="02010600030101010101" pitchFamily="2" charset="-122"/>
                <a:cs typeface="Times New Roman" panose="02020603050405020304" pitchFamily="18" charset="0"/>
              </a:rPr>
              <a:t>20 </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40491488"/>
      </p:ext>
    </p:extLst>
  </p:cSld>
  <p:clrMapOvr>
    <a:masterClrMapping/>
  </p:clrMapOvr>
  <p:transition spd="slow">
    <p:comb/>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007839"/>
            <a:ext cx="11742454" cy="4388082"/>
            <a:chOff x="361950" y="1223863"/>
            <a:chExt cx="11742454" cy="4388082"/>
          </a:xfrm>
        </p:grpSpPr>
        <p:sp>
          <p:nvSpPr>
            <p:cNvPr id="2" name="矩形 1"/>
            <p:cNvSpPr>
              <a:spLocks noChangeAspect="1"/>
            </p:cNvSpPr>
            <p:nvPr/>
          </p:nvSpPr>
          <p:spPr>
            <a:xfrm>
              <a:off x="361950" y="1223863"/>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有</a:t>
              </a:r>
              <a:r>
                <a:rPr lang="en-US" altLang="zh-CN" dirty="0">
                  <a:solidFill>
                    <a:srgbClr val="000000"/>
                  </a:solidFill>
                  <a:ea typeface="宋体" panose="02010600030101010101" pitchFamily="2" charset="-122"/>
                  <a:cs typeface="Times New Roman" panose="02020603050405020304" pitchFamily="18" charset="0"/>
                </a:rPr>
                <a:t>98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20)e</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60</a:t>
              </a:r>
              <a:r>
                <a:rPr lang="en-US" altLang="zh-CN" i="1" baseline="30000"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411497695"/>
                </p:ext>
              </p:extLst>
            </p:nvPr>
          </p:nvGraphicFramePr>
          <p:xfrm>
            <a:off x="432445" y="1862212"/>
            <a:ext cx="11671959" cy="699316"/>
          </p:xfrm>
          <a:graphic>
            <a:graphicData uri="http://schemas.openxmlformats.org/presentationml/2006/ole">
              <mc:AlternateContent xmlns:mc="http://schemas.openxmlformats.org/markup-compatibility/2006">
                <mc:Choice xmlns:v="urn:schemas-microsoft-com:vml" Requires="v">
                  <p:oleObj spid="_x0000_s14349" name="文档" r:id="rId4" imgW="3826872" imgH="229284" progId="Word.Document.12">
                    <p:embed/>
                  </p:oleObj>
                </mc:Choice>
                <mc:Fallback>
                  <p:oleObj name="文档" r:id="rId4" imgW="3826872" imgH="229284" progId="Word.Document.12">
                    <p:embed/>
                    <p:pic>
                      <p:nvPicPr>
                        <p:cNvPr id="0" name=""/>
                        <p:cNvPicPr/>
                        <p:nvPr/>
                      </p:nvPicPr>
                      <p:blipFill>
                        <a:blip r:embed="rId5"/>
                        <a:stretch>
                          <a:fillRect/>
                        </a:stretch>
                      </p:blipFill>
                      <p:spPr>
                        <a:xfrm>
                          <a:off x="432445" y="1862212"/>
                          <a:ext cx="11671959" cy="699316"/>
                        </a:xfrm>
                        <a:prstGeom prst="rect">
                          <a:avLst/>
                        </a:prstGeom>
                      </p:spPr>
                    </p:pic>
                  </p:oleObj>
                </mc:Fallback>
              </mc:AlternateContent>
            </a:graphicData>
          </a:graphic>
        </p:graphicFrame>
        <p:sp>
          <p:nvSpPr>
            <p:cNvPr id="5" name="矩形 4"/>
            <p:cNvSpPr>
              <a:spLocks noChangeAspect="1"/>
            </p:cNvSpPr>
            <p:nvPr/>
          </p:nvSpPr>
          <p:spPr>
            <a:xfrm>
              <a:off x="361950" y="2621511"/>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80e</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0</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000</a:t>
              </a:r>
              <a:r>
                <a:rPr lang="en-US" altLang="zh-CN" baseline="30000" dirty="0">
                  <a:solidFill>
                    <a:srgbClr val="000000"/>
                  </a:solidFill>
                  <a:ea typeface="楷体" panose="02010609060101010101" pitchFamily="49" charset="-122"/>
                  <a:cs typeface="Times New Roman" panose="02020603050405020304" pitchFamily="18" charset="0"/>
                </a:rPr>
                <a:t> </a:t>
              </a:r>
              <a:r>
                <a:rPr lang="en-US" altLang="zh-CN" baseline="30000" dirty="0">
                  <a:solidFill>
                    <a:srgbClr val="000000"/>
                  </a:solidFill>
                  <a:ea typeface="宋体" panose="02010600030101010101" pitchFamily="2" charset="-122"/>
                  <a:cs typeface="Times New Roman" panose="02020603050405020304" pitchFamily="18" charset="0"/>
                </a:rPr>
                <a:t>42</a:t>
              </a:r>
              <a:r>
                <a:rPr lang="en-US" altLang="zh-CN" i="1" baseline="30000"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从早上</a:t>
              </a:r>
              <a:r>
                <a:rPr lang="en-US" altLang="zh-CN" dirty="0">
                  <a:solidFill>
                    <a:srgbClr val="000000"/>
                  </a:solidFill>
                  <a:ea typeface="宋体" panose="02010600030101010101" pitchFamily="2" charset="-122"/>
                  <a:cs typeface="Times New Roman" panose="02020603050405020304" pitchFamily="18" charset="0"/>
                </a:rPr>
                <a:t>6:00</a:t>
              </a:r>
              <a:r>
                <a:rPr lang="zh-CN" altLang="zh-CN" dirty="0">
                  <a:solidFill>
                    <a:srgbClr val="000000"/>
                  </a:solidFill>
                  <a:ea typeface="楷体" panose="02010609060101010101" pitchFamily="49" charset="-122"/>
                  <a:cs typeface="Times New Roman" panose="02020603050405020304" pitchFamily="18" charset="0"/>
                </a:rPr>
                <a:t>到这一天的中午</a:t>
              </a:r>
              <a:r>
                <a:rPr lang="en-US" altLang="zh-CN" dirty="0">
                  <a:solidFill>
                    <a:srgbClr val="000000"/>
                  </a:solidFill>
                  <a:ea typeface="宋体" panose="02010600030101010101" pitchFamily="2" charset="-122"/>
                  <a:cs typeface="Times New Roman" panose="02020603050405020304" pitchFamily="18" charset="0"/>
                </a:rPr>
                <a:t>12:00</a:t>
              </a:r>
              <a:r>
                <a:rPr lang="zh-CN" altLang="zh-CN" dirty="0">
                  <a:solidFill>
                    <a:srgbClr val="000000"/>
                  </a:solidFill>
                  <a:ea typeface="楷体" panose="02010609060101010101" pitchFamily="49" charset="-122"/>
                  <a:cs typeface="Times New Roman" panose="02020603050405020304" pitchFamily="18" charset="0"/>
                </a:rPr>
                <a:t>共经过</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h,</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360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min</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360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80e</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0</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000</a:t>
              </a:r>
              <a:r>
                <a:rPr lang="en-US" altLang="zh-CN" baseline="30000" dirty="0">
                  <a:solidFill>
                    <a:srgbClr val="000000"/>
                  </a:solidFill>
                  <a:ea typeface="楷体" panose="02010609060101010101" pitchFamily="49" charset="-122"/>
                  <a:cs typeface="Times New Roman" panose="02020603050405020304" pitchFamily="18" charset="0"/>
                </a:rPr>
                <a:t> </a:t>
              </a:r>
              <a:r>
                <a:rPr lang="en-US" altLang="zh-CN" baseline="30000" dirty="0">
                  <a:solidFill>
                    <a:srgbClr val="000000"/>
                  </a:solidFill>
                  <a:ea typeface="宋体" panose="02010600030101010101" pitchFamily="2" charset="-122"/>
                  <a:cs typeface="Times New Roman" panose="02020603050405020304" pitchFamily="18" charset="0"/>
                </a:rPr>
                <a:t>42</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360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80e</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0</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151</a:t>
              </a:r>
              <a:r>
                <a:rPr lang="en-US" altLang="zh-CN" baseline="30000" dirty="0">
                  <a:solidFill>
                    <a:srgbClr val="000000"/>
                  </a:solidFill>
                  <a:ea typeface="楷体" panose="02010609060101010101" pitchFamily="49" charset="-122"/>
                  <a:cs typeface="Times New Roman" panose="02020603050405020304" pitchFamily="18" charset="0"/>
                </a:rPr>
                <a:t> </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利用计算器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dirty="0">
                  <a:solidFill>
                    <a:srgbClr val="000000"/>
                  </a:solidFill>
                  <a:ea typeface="宋体" panose="02010600030101010101" pitchFamily="2" charset="-122"/>
                  <a:cs typeface="Times New Roman" panose="02020603050405020304" pitchFamily="18" charset="0"/>
                </a:rPr>
                <a:t>≈88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88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dirty="0">
                  <a:solidFill>
                    <a:srgbClr val="000000"/>
                  </a:solidFill>
                  <a:ea typeface="楷体" panose="02010609060101010101" pitchFamily="49"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85</a:t>
              </a:r>
              <a:r>
                <a:rPr lang="en-US" altLang="zh-CN" dirty="0">
                  <a:solidFill>
                    <a:srgbClr val="000000"/>
                  </a:solidFill>
                  <a:ea typeface="楷体" panose="02010609060101010101" pitchFamily="49"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ea typeface="楷体" panose="02010609060101010101" pitchFamily="49" charset="-122"/>
                  <a:cs typeface="Times New Roman" panose="02020603050405020304" pitchFamily="18" charset="0"/>
                </a:rPr>
                <a:t>可以在这一天的中午</a:t>
              </a:r>
              <a:r>
                <a:rPr lang="en-US" altLang="zh-CN" dirty="0">
                  <a:solidFill>
                    <a:srgbClr val="000000"/>
                  </a:solidFill>
                  <a:ea typeface="宋体" panose="02010600030101010101" pitchFamily="2" charset="-122"/>
                  <a:cs typeface="Times New Roman" panose="02020603050405020304" pitchFamily="18" charset="0"/>
                </a:rPr>
                <a:t>12:00</a:t>
              </a:r>
              <a:r>
                <a:rPr lang="zh-CN" altLang="zh-CN" dirty="0">
                  <a:solidFill>
                    <a:srgbClr val="000000"/>
                  </a:solidFill>
                  <a:ea typeface="楷体" panose="02010609060101010101" pitchFamily="49" charset="-122"/>
                  <a:cs typeface="Times New Roman" panose="02020603050405020304" pitchFamily="18" charset="0"/>
                </a:rPr>
                <a:t>用这瓶开水来冲奶粉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863202854"/>
      </p:ext>
    </p:extLst>
  </p:cSld>
  <p:clrMapOvr>
    <a:masterClrMapping/>
  </p:clrMapOvr>
  <p:transition spd="slow">
    <p:comb/>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24</TotalTime>
  <Words>1922</Words>
  <Application>Microsoft Office PowerPoint</Application>
  <PresentationFormat>自定义</PresentationFormat>
  <Paragraphs>120</Paragraphs>
  <Slides>36</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3"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Microsoft Yi Baiti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20</cp:revision>
  <dcterms:created xsi:type="dcterms:W3CDTF">2020-09-12T05:36:12Z</dcterms:created>
  <dcterms:modified xsi:type="dcterms:W3CDTF">2025-08-18T05:26:57Z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