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3" r:id="rId13"/>
    <p:sldId id="737" r:id="rId14"/>
    <p:sldId id="750" r:id="rId15"/>
    <p:sldId id="764" r:id="rId16"/>
    <p:sldId id="765" r:id="rId17"/>
    <p:sldId id="754" r:id="rId18"/>
    <p:sldId id="775" r:id="rId19"/>
    <p:sldId id="766" r:id="rId20"/>
    <p:sldId id="767" r:id="rId21"/>
    <p:sldId id="755" r:id="rId22"/>
    <p:sldId id="768" r:id="rId23"/>
    <p:sldId id="769" r:id="rId24"/>
    <p:sldId id="747" r:id="rId25"/>
    <p:sldId id="751" r:id="rId26"/>
    <p:sldId id="770" r:id="rId27"/>
    <p:sldId id="771" r:id="rId28"/>
    <p:sldId id="748" r:id="rId29"/>
    <p:sldId id="752" r:id="rId30"/>
    <p:sldId id="772" r:id="rId31"/>
    <p:sldId id="776" r:id="rId32"/>
    <p:sldId id="773" r:id="rId33"/>
    <p:sldId id="774" r:id="rId34"/>
    <p:sldId id="735" r:id="rId35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34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8.xml"/><Relationship Id="rId5" Type="http://schemas.openxmlformats.org/officeDocument/2006/relationships/slide" Target="slide24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9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3.bin"/><Relationship Id="rId7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6.docx"/><Relationship Id="rId3" Type="http://schemas.openxmlformats.org/officeDocument/2006/relationships/image" Target="../media/image19.jpeg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15.docx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8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8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20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1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3.docx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03673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对数的概念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05703"/>
            <a:ext cx="10729192" cy="3456385"/>
            <a:chOff x="360437" y="1367879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367879"/>
              <a:ext cx="10729192" cy="3456385"/>
              <a:chOff x="360437" y="1905355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05355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54537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45797"/>
              <a:ext cx="84969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理解对数的概念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能够进行对数式与指数式的互化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掌握对数的简单性质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会进行简单的对数运算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感受数学抽象与数学运算的过程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31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一、对数的概念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9,3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27,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的值分别是多少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怎样表示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(2,3),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用对数符号表示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叫做对数的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底数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真数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改写为对数的形式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那么底数是什么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如果将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30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en-US" altLang="zh-CN" i="1" baseline="30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改写为对数的形式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那么底数是什么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底数分别是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185702" y="3171409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180877" y="3635507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309098" y="3808723"/>
            <a:ext cx="103437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304653" y="4272821"/>
            <a:ext cx="10332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548288" y="3793598"/>
            <a:ext cx="7771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543698" y="425769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579911" y="3793598"/>
            <a:ext cx="7771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8575321" y="425769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6077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常用对数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为底的对数叫做常用对数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记为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自然对数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为底的对数叫做自然对数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并把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33958" y="1798880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429133" y="2262978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859117" y="2446952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854527" y="2911050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091467" y="2980840"/>
            <a:ext cx="1860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086542" y="3444938"/>
            <a:ext cx="1858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99756" y="3545290"/>
            <a:ext cx="85485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95209" y="4009388"/>
            <a:ext cx="8538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6924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86415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则下列关系式正确的是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8934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二、对数的性质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指数函数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的值域是什么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改写为对数式后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真数的值有可能是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或负数吗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指数函数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的值域是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真数的值不可能是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或负数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9347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502090"/>
              </p:ext>
            </p:extLst>
          </p:nvPr>
        </p:nvGraphicFramePr>
        <p:xfrm>
          <a:off x="497790" y="615553"/>
          <a:ext cx="11671959" cy="1360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文档" r:id="rId4" imgW="3826872" imgH="445990" progId="Word.Document.12">
                  <p:embed/>
                </p:oleObj>
              </mc:Choice>
              <mc:Fallback>
                <p:oleObj name="文档" r:id="rId4" imgW="3826872" imgH="4459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7790" y="615553"/>
                        <a:ext cx="11671959" cy="1360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020521"/>
            <a:ext cx="237917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827568"/>
              </p:ext>
            </p:extLst>
          </p:nvPr>
        </p:nvGraphicFramePr>
        <p:xfrm>
          <a:off x="497789" y="2611679"/>
          <a:ext cx="11671959" cy="1360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1" name="文档" r:id="rId7" imgW="3826872" imgH="445990" progId="Word.Document.12">
                  <p:embed/>
                </p:oleObj>
              </mc:Choice>
              <mc:Fallback>
                <p:oleObj name="文档" r:id="rId7" imgW="3826872" imgH="4459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7789" y="2611679"/>
                        <a:ext cx="11671959" cy="1360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>
                <a:spLocks noChangeAspect="1"/>
              </p:cNvSpPr>
              <p:nvPr/>
            </p:nvSpPr>
            <p:spPr>
              <a:xfrm>
                <a:off x="361950" y="4007140"/>
                <a:ext cx="10807700" cy="248247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提示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等于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en-US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dirty="0">
                    <a:uFill>
                      <a:solidFill>
                        <a:srgbClr val="000000"/>
                      </a:solidFill>
                    </a:uFill>
                    <a:ea typeface="宋体" panose="02010600030101010101" pitchFamily="2" charset="-122"/>
                    <a:cs typeface="Times New Roman" panose="02020603050405020304" pitchFamily="18" charset="0"/>
                  </a:rPr>
                  <a:t>负数和</a:t>
                </a:r>
                <a:r>
                  <a:rPr lang="en-US" altLang="zh-CN" dirty="0">
                    <a:uFill>
                      <a:solidFill>
                        <a:srgbClr val="000000"/>
                      </a:solidFill>
                    </a:uFill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没有对数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;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2)log</a:t>
                </a:r>
                <a:r>
                  <a:rPr lang="en-US" altLang="zh-CN" i="1" baseline="-250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 </a:t>
                </a:r>
                <a:r>
                  <a:rPr lang="en-US" altLang="zh-CN" dirty="0" smtClean="0">
                    <a:ea typeface="宋体" panose="02010600030101010101" pitchFamily="2" charset="-122"/>
                    <a:cs typeface="Times New Roman" panose="02020603050405020304" pitchFamily="18" charset="0"/>
                  </a:rPr>
                  <a:t>0 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 err="1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log</a:t>
                </a:r>
                <a:r>
                  <a:rPr lang="en-US" altLang="zh-CN" i="1" baseline="-25000" dirty="0" err="1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 err="1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 </a:t>
                </a:r>
                <a:r>
                  <a:rPr lang="en-US" altLang="zh-CN" dirty="0" smtClean="0">
                    <a:ea typeface="宋体" panose="02010600030101010101" pitchFamily="2" charset="-122"/>
                    <a:cs typeface="Times New Roman" panose="02020603050405020304" pitchFamily="18" charset="0"/>
                  </a:rPr>
                  <a:t>1 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(3)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lo</m:t>
                        </m:r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=N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0,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且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≠1,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N&gt;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0)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4007140"/>
                <a:ext cx="10807700" cy="2482474"/>
              </a:xfrm>
              <a:prstGeom prst="rect">
                <a:avLst/>
              </a:prstGeom>
              <a:blipFill rotWithShape="0">
                <a:blip r:embed="rId9"/>
                <a:stretch>
                  <a:fillRect l="-1410" t="-2451" b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236314" y="4676194"/>
            <a:ext cx="142837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231962" y="5140292"/>
            <a:ext cx="14267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057834" y="5247242"/>
            <a:ext cx="3295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2052990" y="5711340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635229" y="5247242"/>
            <a:ext cx="3295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630385" y="5711340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66337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05438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有意义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B.lg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C.ln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	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D.log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872088"/>
              </p:ext>
            </p:extLst>
          </p:nvPr>
        </p:nvGraphicFramePr>
        <p:xfrm>
          <a:off x="416291" y="3325718"/>
          <a:ext cx="11655425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文档" r:id="rId4" imgW="3928207" imgH="372317" progId="Word.Document.12">
                  <p:embed/>
                </p:oleObj>
              </mc:Choice>
              <mc:Fallback>
                <p:oleObj name="文档" r:id="rId4" imgW="3928207" imgH="3723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291" y="3325718"/>
                        <a:ext cx="11655425" cy="1103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390749"/>
              </p:ext>
            </p:extLst>
          </p:nvPr>
        </p:nvGraphicFramePr>
        <p:xfrm>
          <a:off x="425782" y="4522126"/>
          <a:ext cx="11671959" cy="528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文档" r:id="rId7" imgW="3837724" imgH="173797" progId="Word.Document.12">
                  <p:embed/>
                </p:oleObj>
              </mc:Choice>
              <mc:Fallback>
                <p:oleObj name="文档" r:id="rId7" imgW="3837724" imgH="1737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2" y="4522126"/>
                        <a:ext cx="11671959" cy="5283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42894" y="5077103"/>
            <a:ext cx="323037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2)40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7794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2788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可化为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对数运算的实质是求幂指数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对数的真数必须是非负数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e)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24527" y="276950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65093" y="325556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834325" y="397126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36901" y="4536231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52725" y="508135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8520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指数</a:t>
            </a:r>
            <a:r>
              <a:rPr lang="zh-CN" altLang="zh-CN" dirty="0"/>
              <a:t>式与对数式的互化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237127"/>
              </p:ext>
            </p:extLst>
          </p:nvPr>
        </p:nvGraphicFramePr>
        <p:xfrm>
          <a:off x="432445" y="1420223"/>
          <a:ext cx="11671959" cy="1840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文档" r:id="rId4" imgW="3826872" imgH="603398" progId="Word.Document.12">
                  <p:embed/>
                </p:oleObj>
              </mc:Choice>
              <mc:Fallback>
                <p:oleObj name="文档" r:id="rId4" imgW="3826872" imgH="6033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420223"/>
                        <a:ext cx="11671959" cy="1840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091660"/>
              </p:ext>
            </p:extLst>
          </p:nvPr>
        </p:nvGraphicFramePr>
        <p:xfrm>
          <a:off x="432444" y="3367915"/>
          <a:ext cx="11671959" cy="2702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文档" r:id="rId7" imgW="3826872" imgH="886229" progId="Word.Document.12">
                  <p:embed/>
                </p:oleObj>
              </mc:Choice>
              <mc:Fallback>
                <p:oleObj name="文档" r:id="rId7" imgW="3826872" imgH="8862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367915"/>
                        <a:ext cx="11671959" cy="2702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143832"/>
            <a:ext cx="10807700" cy="36379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式与对数式互化的方法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将指数式化为对数式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只需要将幂作为真数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指数作为对数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底数不变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写出对数式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将对数式化为指数式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只需将真数作为幂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对数作为指数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底数不变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写出指数式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7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082747"/>
            <a:ext cx="10821840" cy="3957540"/>
            <a:chOff x="361950" y="1007839"/>
            <a:chExt cx="10821840" cy="3957540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00783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将下列指数式化为对数式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对数式化为指数式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5265535"/>
                </p:ext>
              </p:extLst>
            </p:nvPr>
          </p:nvGraphicFramePr>
          <p:xfrm>
            <a:off x="576461" y="2303983"/>
            <a:ext cx="10607329" cy="2661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2" name="文档" r:id="rId4" imgW="3477813" imgH="872589" progId="Word.Document.12">
                    <p:embed/>
                  </p:oleObj>
                </mc:Choice>
                <mc:Fallback>
                  <p:oleObj name="文档" r:id="rId4" imgW="3477813" imgH="87258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76461" y="2303983"/>
                          <a:ext cx="10607329" cy="26613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59212"/>
              </p:ext>
            </p:extLst>
          </p:nvPr>
        </p:nvGraphicFramePr>
        <p:xfrm>
          <a:off x="4968949" y="2298726"/>
          <a:ext cx="10607329" cy="270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name="文档" r:id="rId7" imgW="3477813" imgH="888094" progId="Word.Document.12">
                  <p:embed/>
                </p:oleObj>
              </mc:Choice>
              <mc:Fallback>
                <p:oleObj name="文档" r:id="rId7" imgW="3477813" imgH="8880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68949" y="2298726"/>
                        <a:ext cx="10607329" cy="2708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9836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对数</a:t>
            </a:r>
            <a:r>
              <a:rPr lang="zh-CN" altLang="zh-CN" dirty="0"/>
              <a:t>的计算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192225"/>
              </p:ext>
            </p:extLst>
          </p:nvPr>
        </p:nvGraphicFramePr>
        <p:xfrm>
          <a:off x="430213" y="2301875"/>
          <a:ext cx="10583862" cy="204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文档" r:id="rId4" imgW="3467489" imgH="673117" progId="Word.Document.12">
                  <p:embed/>
                </p:oleObj>
              </mc:Choice>
              <mc:Fallback>
                <p:oleObj name="文档" r:id="rId4" imgW="3467489" imgH="6731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2301875"/>
                        <a:ext cx="10583862" cy="2049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315758"/>
              </p:ext>
            </p:extLst>
          </p:nvPr>
        </p:nvGraphicFramePr>
        <p:xfrm>
          <a:off x="577850" y="1072941"/>
          <a:ext cx="10583863" cy="417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文档" r:id="rId4" imgW="3467489" imgH="1367438" progId="Word.Document.12">
                  <p:embed/>
                </p:oleObj>
              </mc:Choice>
              <mc:Fallback>
                <p:oleObj name="文档" r:id="rId4" imgW="3467489" imgH="13674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1072941"/>
                        <a:ext cx="10583863" cy="4173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798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782310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求对数式中未知数的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将对数式转化为指数式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根据指数和幂的运算性质解有关方程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求得结果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2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455419"/>
              </p:ext>
            </p:extLst>
          </p:nvPr>
        </p:nvGraphicFramePr>
        <p:xfrm>
          <a:off x="432445" y="791815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文档" r:id="rId4" imgW="3826872" imgH="401067" progId="Word.Document.12">
                  <p:embed/>
                </p:oleObj>
              </mc:Choice>
              <mc:Fallback>
                <p:oleObj name="文档" r:id="rId4" imgW="3826872" imgH="401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91815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811797"/>
              </p:ext>
            </p:extLst>
          </p:nvPr>
        </p:nvGraphicFramePr>
        <p:xfrm>
          <a:off x="432817" y="2083870"/>
          <a:ext cx="11661775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文档" r:id="rId7" imgW="3837724" imgH="1343139" progId="Word.Document.12">
                  <p:embed/>
                </p:oleObj>
              </mc:Choice>
              <mc:Fallback>
                <p:oleObj name="文档" r:id="rId7" imgW="3837724" imgH="13431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817" y="2083870"/>
                        <a:ext cx="11661775" cy="4067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021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对数</a:t>
            </a:r>
            <a:r>
              <a:rPr lang="zh-CN" altLang="zh-CN" dirty="0"/>
              <a:t>的性质及其应用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728080"/>
              </p:ext>
            </p:extLst>
          </p:nvPr>
        </p:nvGraphicFramePr>
        <p:xfrm>
          <a:off x="425782" y="1799927"/>
          <a:ext cx="11671959" cy="11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文档" r:id="rId4" imgW="3826872" imgH="368004" progId="Word.Document.12">
                  <p:embed/>
                </p:oleObj>
              </mc:Choice>
              <mc:Fallback>
                <p:oleObj name="文档" r:id="rId4" imgW="3826872" imgH="3680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5782" y="1799927"/>
                        <a:ext cx="11671959" cy="1122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724148"/>
              </p:ext>
            </p:extLst>
          </p:nvPr>
        </p:nvGraphicFramePr>
        <p:xfrm>
          <a:off x="425782" y="3003965"/>
          <a:ext cx="11671959" cy="1748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文档" r:id="rId7" imgW="3826872" imgH="573210" progId="Word.Document.12">
                  <p:embed/>
                </p:oleObj>
              </mc:Choice>
              <mc:Fallback>
                <p:oleObj name="文档" r:id="rId7" imgW="3826872" imgH="5732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2" y="3003965"/>
                        <a:ext cx="11671959" cy="1748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1649761"/>
            <a:ext cx="2740119" cy="499725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3893439"/>
              </p:ext>
            </p:extLst>
          </p:nvPr>
        </p:nvGraphicFramePr>
        <p:xfrm>
          <a:off x="432445" y="2185632"/>
          <a:ext cx="11671959" cy="528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文档" r:id="rId5" imgW="3837724" imgH="173797" progId="Word.Document.12">
                  <p:embed/>
                </p:oleObj>
              </mc:Choice>
              <mc:Fallback>
                <p:oleObj name="文档" r:id="rId5" imgW="3837724" imgH="1737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5" y="2185632"/>
                        <a:ext cx="11671959" cy="5283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93600"/>
              </p:ext>
            </p:extLst>
          </p:nvPr>
        </p:nvGraphicFramePr>
        <p:xfrm>
          <a:off x="432445" y="2833704"/>
          <a:ext cx="11671959" cy="1054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文档" r:id="rId8" imgW="3826872" imgH="345723" progId="Word.Document.12">
                  <p:embed/>
                </p:oleObj>
              </mc:Choice>
              <mc:Fallback>
                <p:oleObj name="文档" r:id="rId8" imgW="3826872" imgH="3457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445" y="2833704"/>
                        <a:ext cx="11671959" cy="1054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652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488"/>
            <a:ext cx="10807700" cy="548259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利用对数性质求解的两类问题的解法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求多重对数式的值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的方法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是由内到外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如求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先求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再求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i="1" baseline="-25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已知多重对数式的值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求变量值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应从外到内求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逐步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去掉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后再求解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利用对数恒等式求值的方法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应将所求式子化为幂的形式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其中幂的指数是一个对数的形式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且对数的底数与幂的底数必须相等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这时幂的值就等于对数的真数的值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78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46295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忽视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对数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真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数大于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的条件致错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由对数的性质可得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    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错解中忽视了对数的底数以及真数的限制条件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没有根据这些限制条件对所得的值进行检验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由对数的性质可得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此时对数无意义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符合题意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8641357" y="5776156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518594"/>
            <a:ext cx="184731" cy="6317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41723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对数问题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时要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注意对数自身的限制条件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即对数的底数必须大于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且不等于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对数的真数必须大于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在求解与对数有关的参数问题时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注意检验所得参数值是否符合上述限制条件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以便对其进行取舍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1304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</a:t>
            </a:r>
            <a:r>
              <a:rPr lang="en-US" altLang="zh-CN" i="1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b|b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≠4}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797228"/>
              </p:ext>
            </p:extLst>
          </p:nvPr>
        </p:nvGraphicFramePr>
        <p:xfrm>
          <a:off x="446088" y="2844800"/>
          <a:ext cx="11671300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文档" r:id="rId4" imgW="3837724" imgH="565380" progId="Word.Document.12">
                  <p:embed/>
                </p:oleObj>
              </mc:Choice>
              <mc:Fallback>
                <p:oleObj name="文档" r:id="rId4" imgW="3837724" imgH="5653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6088" y="2844800"/>
                        <a:ext cx="11671300" cy="171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347" y="464505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7692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282612"/>
              </p:ext>
            </p:extLst>
          </p:nvPr>
        </p:nvGraphicFramePr>
        <p:xfrm>
          <a:off x="504825" y="1009650"/>
          <a:ext cx="11645900" cy="198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8" name="文档" r:id="rId4" imgW="3826872" imgH="655148" progId="Word.Document.12">
                  <p:embed/>
                </p:oleObj>
              </mc:Choice>
              <mc:Fallback>
                <p:oleObj name="文档" r:id="rId4" imgW="3826872" imgH="6551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009650"/>
                        <a:ext cx="11645900" cy="198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979112"/>
              </p:ext>
            </p:extLst>
          </p:nvPr>
        </p:nvGraphicFramePr>
        <p:xfrm>
          <a:off x="504452" y="3052864"/>
          <a:ext cx="11671959" cy="155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文档" r:id="rId7" imgW="3837724" imgH="511655" progId="Word.Document.12">
                  <p:embed/>
                </p:oleObj>
              </mc:Choice>
              <mc:Fallback>
                <p:oleObj name="文档" r:id="rId7" imgW="3837724" imgH="5116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3052864"/>
                        <a:ext cx="11671959" cy="155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42277" y="468024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958768"/>
              </p:ext>
            </p:extLst>
          </p:nvPr>
        </p:nvGraphicFramePr>
        <p:xfrm>
          <a:off x="432445" y="843407"/>
          <a:ext cx="10607329" cy="3126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文档" r:id="rId4" imgW="3477813" imgH="1025112" progId="Word.Document.12">
                  <p:embed/>
                </p:oleObj>
              </mc:Choice>
              <mc:Fallback>
                <p:oleObj name="文档" r:id="rId4" imgW="3477813" imgH="10251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43407"/>
                        <a:ext cx="10607329" cy="3126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396162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指数式与对数式的互化方法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化为指数式应为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71134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x+y+z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A.9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B.8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C.7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D.6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x+y+z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31007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315526"/>
              </p:ext>
            </p:extLst>
          </p:nvPr>
        </p:nvGraphicFramePr>
        <p:xfrm>
          <a:off x="506552" y="1864695"/>
          <a:ext cx="11671959" cy="556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文档" r:id="rId4" imgW="3826872" imgH="182565" progId="Word.Document.12">
                  <p:embed/>
                </p:oleObj>
              </mc:Choice>
              <mc:Fallback>
                <p:oleObj name="文档" r:id="rId4" imgW="3826872" imgH="182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6552" y="1864695"/>
                        <a:ext cx="11671959" cy="556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25320"/>
              </p:ext>
            </p:extLst>
          </p:nvPr>
        </p:nvGraphicFramePr>
        <p:xfrm>
          <a:off x="506552" y="2485238"/>
          <a:ext cx="11671959" cy="767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文档" r:id="rId7" imgW="3826872" imgH="251565" progId="Word.Document.12">
                  <p:embed/>
                </p:oleObj>
              </mc:Choice>
              <mc:Fallback>
                <p:oleObj name="文档" r:id="rId7" imgW="3826872" imgH="251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6552" y="2485238"/>
                        <a:ext cx="11671959" cy="7672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452109" y="3348911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1249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602333"/>
              </p:ext>
            </p:extLst>
          </p:nvPr>
        </p:nvGraphicFramePr>
        <p:xfrm>
          <a:off x="432446" y="732823"/>
          <a:ext cx="10607329" cy="2450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文档" r:id="rId4" imgW="3477813" imgH="803359" progId="Word.Document.12">
                  <p:embed/>
                </p:oleObj>
              </mc:Choice>
              <mc:Fallback>
                <p:oleObj name="文档" r:id="rId4" imgW="3477813" imgH="8033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6" y="732823"/>
                        <a:ext cx="10607329" cy="24502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517143"/>
              </p:ext>
            </p:extLst>
          </p:nvPr>
        </p:nvGraphicFramePr>
        <p:xfrm>
          <a:off x="432445" y="3237959"/>
          <a:ext cx="10607329" cy="2882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文档" r:id="rId7" imgW="3477813" imgH="945065" progId="Word.Document.12">
                  <p:embed/>
                </p:oleObj>
              </mc:Choice>
              <mc:Fallback>
                <p:oleObj name="文档" r:id="rId7" imgW="3477813" imgH="9450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237959"/>
                        <a:ext cx="10607329" cy="2882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893063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46</TotalTime>
  <Words>893</Words>
  <Application>Microsoft Office PowerPoint</Application>
  <PresentationFormat>自定义</PresentationFormat>
  <Paragraphs>89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23</cp:revision>
  <dcterms:created xsi:type="dcterms:W3CDTF">2020-09-12T05:36:12Z</dcterms:created>
  <dcterms:modified xsi:type="dcterms:W3CDTF">2025-08-18T05:18:38Z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