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59" r:id="rId11"/>
    <p:sldId id="760" r:id="rId12"/>
    <p:sldId id="761" r:id="rId13"/>
    <p:sldId id="737" r:id="rId14"/>
    <p:sldId id="754" r:id="rId15"/>
    <p:sldId id="764" r:id="rId16"/>
    <p:sldId id="765" r:id="rId17"/>
    <p:sldId id="766" r:id="rId18"/>
    <p:sldId id="755" r:id="rId19"/>
    <p:sldId id="767" r:id="rId20"/>
    <p:sldId id="768" r:id="rId21"/>
    <p:sldId id="769" r:id="rId22"/>
    <p:sldId id="747" r:id="rId23"/>
    <p:sldId id="751" r:id="rId24"/>
    <p:sldId id="770" r:id="rId25"/>
    <p:sldId id="771" r:id="rId26"/>
    <p:sldId id="772" r:id="rId27"/>
    <p:sldId id="748" r:id="rId28"/>
    <p:sldId id="752" r:id="rId29"/>
    <p:sldId id="773" r:id="rId30"/>
    <p:sldId id="775" r:id="rId31"/>
    <p:sldId id="776" r:id="rId32"/>
    <p:sldId id="777" r:id="rId33"/>
    <p:sldId id="778" r:id="rId34"/>
    <p:sldId id="735" r:id="rId35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34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27.xml"/><Relationship Id="rId5" Type="http://schemas.openxmlformats.org/officeDocument/2006/relationships/slide" Target="slide22.xml"/><Relationship Id="rId4" Type="http://schemas.openxmlformats.org/officeDocument/2006/relationships/slide" Target="slide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11.emf"/><Relationship Id="rId4" Type="http://schemas.openxmlformats.org/officeDocument/2006/relationships/package" Target="../embeddings/Microsoft_Word___7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9.docx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0.docx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2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3.docx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4590" y="2179871"/>
            <a:ext cx="11447759" cy="1780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4.2</a:t>
            </a:r>
            <a:r>
              <a:rPr lang="zh-CN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指数函数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48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指数函数及其图象、性质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48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一</a:t>
            </a:r>
            <a:r>
              <a:rPr lang="en-US" altLang="zh-CN" sz="48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48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151855"/>
            <a:ext cx="10729192" cy="4235831"/>
            <a:chOff x="360437" y="1548648"/>
            <a:chExt cx="10729192" cy="4235831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548648"/>
              <a:ext cx="10729192" cy="4182226"/>
              <a:chOff x="360437" y="2028822"/>
              <a:chExt cx="10729192" cy="2856517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28822"/>
                <a:ext cx="10729192" cy="2856517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085227"/>
                <a:ext cx="0" cy="2737496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836463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555629"/>
              <a:ext cx="8496944" cy="42288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通过具体实例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了解指数函数的实际意义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理解指数函数的概念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能用描点法或借助计算工具画出具体指数函数的图象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探索并理解指数函数的单调性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感悟数学抽象的过程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直观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想象和逻辑推理素养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5885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一、指数函数的概念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请看以下两个问题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某种细胞分裂时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每次每个细胞分裂为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个细胞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个这样的细胞第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次分裂后变为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个细胞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次分裂后变为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个细胞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次分裂后变为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个细胞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……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次分裂后变为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个细胞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质量为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的一种放射性物质不断衰变为其他物质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每经过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年剩余的质量约是原来的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60%,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设经过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年后剩余的质量为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以上两个问题中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的函数解析式分别是什么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以上两个函数解析式的共同特征是什么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 panose="02020503000000020003" pitchFamily="18" charset="-12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*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函数的解析式是幂的形式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底数是常数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未知数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出现在指数位置上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07756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4202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i="1" baseline="30000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≠1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叫做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指数函数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其中指数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是自变量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定义域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R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函数是指数函数的是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8103010"/>
              </p:ext>
            </p:extLst>
          </p:nvPr>
        </p:nvGraphicFramePr>
        <p:xfrm>
          <a:off x="484789" y="3000828"/>
          <a:ext cx="11671959" cy="12473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文档" r:id="rId4" imgW="3826872" imgH="408974" progId="Word.Document.12">
                  <p:embed/>
                </p:oleObj>
              </mc:Choice>
              <mc:Fallback>
                <p:oleObj name="文档" r:id="rId4" imgW="3826872" imgH="40897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4789" y="3000828"/>
                        <a:ext cx="11671959" cy="12473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435702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37054" y="1242305"/>
            <a:ext cx="29738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2933061" y="1706403"/>
            <a:ext cx="297047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447361" y="1785905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442556" y="2250003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413889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8924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二、指数函数的图象与性质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函数的性质包括哪些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如何探索指数函数的性质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函数的性质通常包括定义域、值域、单调性、最值、奇偶性等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可以先通过列表、描点、连线的方法作出具体的指数函数的图象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再研究其性质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最后推广到一般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2361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72405" y="618303"/>
            <a:ext cx="11233248" cy="6393263"/>
            <a:chOff x="72405" y="628135"/>
            <a:chExt cx="11233248" cy="639326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28135"/>
              <a:ext cx="10807700" cy="68326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2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指数函数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的图象与性质</a:t>
              </a:r>
              <a:endParaRPr lang="zh-CN" altLang="en-US" dirty="0"/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0657858"/>
                </p:ext>
              </p:extLst>
            </p:nvPr>
          </p:nvGraphicFramePr>
          <p:xfrm>
            <a:off x="72405" y="1250067"/>
            <a:ext cx="11233248" cy="5771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72" name="文档" r:id="rId4" imgW="3883577" imgH="1995274" progId="Word.Document.12">
                    <p:embed/>
                  </p:oleObj>
                </mc:Choice>
                <mc:Fallback>
                  <p:oleObj name="文档" r:id="rId4" imgW="3883577" imgH="199527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72405" y="1250067"/>
                          <a:ext cx="11233248" cy="577133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" name="矩形 5"/>
          <p:cNvSpPr/>
          <p:nvPr/>
        </p:nvSpPr>
        <p:spPr>
          <a:xfrm>
            <a:off x="4593742" y="4227349"/>
            <a:ext cx="70649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589112" y="4629755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424507" y="4712521"/>
            <a:ext cx="70649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419877" y="5114927"/>
            <a:ext cx="7056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3441393" y="5269905"/>
            <a:ext cx="104501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3436763" y="5672311"/>
            <a:ext cx="10438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430635" y="5807516"/>
            <a:ext cx="38618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426005" y="6209922"/>
            <a:ext cx="3857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6845787" y="5777844"/>
            <a:ext cx="38618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6841157" y="6180250"/>
            <a:ext cx="38574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2430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1153361"/>
              </p:ext>
            </p:extLst>
          </p:nvPr>
        </p:nvGraphicFramePr>
        <p:xfrm>
          <a:off x="504453" y="1295871"/>
          <a:ext cx="11671959" cy="1662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文档" r:id="rId4" imgW="3826872" imgH="545178" progId="Word.Document.12">
                  <p:embed/>
                </p:oleObj>
              </mc:Choice>
              <mc:Fallback>
                <p:oleObj name="文档" r:id="rId4" imgW="3826872" imgH="5451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295871"/>
                        <a:ext cx="11671959" cy="16627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2775923"/>
              </p:ext>
            </p:extLst>
          </p:nvPr>
        </p:nvGraphicFramePr>
        <p:xfrm>
          <a:off x="504452" y="3107731"/>
          <a:ext cx="11671959" cy="780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文档" r:id="rId7" imgW="3826872" imgH="255878" progId="Word.Document.12">
                  <p:embed/>
                </p:oleObj>
              </mc:Choice>
              <mc:Fallback>
                <p:oleObj name="文档" r:id="rId7" imgW="3826872" imgH="25587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3107731"/>
                        <a:ext cx="11671959" cy="7804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432445" y="399698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41515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49831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是指数函数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任何指数函数的图象都在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轴上方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的图象经过定点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(0,1),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是指数函数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是指数函数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是增函数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96941" y="280448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7273205" y="338410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37501" y="403217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467753" y="4598234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3749238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02514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与</a:t>
            </a:r>
            <a:r>
              <a:rPr lang="zh-CN" altLang="zh-CN" dirty="0"/>
              <a:t>指数函数有关的函数的图象及其应用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7684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为常数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则下列结论正确的是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b&lt;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的图象恒过定点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YMG1TRA102.eps" descr="id:2147496358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481117" y="2159967"/>
            <a:ext cx="3024336" cy="2527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12007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因为图象从左往右看是下降的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在定义域上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减函数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题中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-b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故函数图象恒过定点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(1)D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70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39191"/>
            <a:ext cx="10807700" cy="541071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指数函数图象问题的处理技巧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抓住图象上的特殊点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如指数函数的图象必过的定点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利用图象变换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如函数图象的左右平移、上下平移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利用函数的奇偶性与单调性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奇偶性确定函数的对称情况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单调性决定函数图象的走势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与指数函数有关的函数图象过定点的求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法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形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ka</a:t>
            </a:r>
            <a:r>
              <a:rPr lang="en-US" altLang="zh-CN" i="1" baseline="30000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x+c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的函数图象过定点问题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可令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所以函数图象过定点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k+b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033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52207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训练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的图象不经过第二象限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B.0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由指数函数图象的特征可知当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的图象必经过第二象限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排除选项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B,C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的图象不经过第二象限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则其图象与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轴的交点不在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轴上方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1)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正确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462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 smtClean="0"/>
              <a:t>探究</a:t>
            </a:r>
            <a:r>
              <a:rPr lang="zh-CN" altLang="en-US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指数函数</a:t>
            </a:r>
            <a:r>
              <a:rPr lang="zh-CN" altLang="zh-CN" dirty="0"/>
              <a:t>的单调性及其应用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76844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例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比较下列各组数的大小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	(4)0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81983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先比较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的大小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再比较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839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206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062812" y="674978"/>
            <a:ext cx="2740119" cy="499725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11645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比较下面两个数的大小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1≠1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是增函数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是减函数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66700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615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91426"/>
            <a:ext cx="10807700" cy="481978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比较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幂值大小的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方法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对于底数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相同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不同的两个幂值的大小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利用指数函数的单调性来判断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对于底数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相同的两个幂值的大小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利用幂函数的单调性来判断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对于底数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不同</a:t>
            </a:r>
            <a:r>
              <a:rPr lang="zh-CN" altLang="en-US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也不同的两个幂值的大小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利用中间值来判断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3778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50812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忽视对底数的分类讨论致错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上的最大值等于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的值等于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上的最大值等于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因为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所以最大值为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85623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以上错解是由于忽视了对底数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的取值范围的讨论而导致的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事实上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1,2]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因此还有</a:t>
            </a:r>
            <a:r>
              <a:rPr lang="zh-CN" altLang="zh-CN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另外</a:t>
            </a:r>
            <a:r>
              <a:rPr lang="zh-CN" altLang="zh-CN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</a:t>
            </a:r>
            <a:r>
              <a:rPr lang="zh-CN" altLang="en-US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种情况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61950" y="2395655"/>
            <a:ext cx="11672888" cy="3154245"/>
            <a:chOff x="361950" y="2673855"/>
            <a:chExt cx="11672888" cy="315424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673855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正解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baseline="30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1,2]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所以最大值为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=a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6,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20755489"/>
                </p:ext>
              </p:extLst>
            </p:nvPr>
          </p:nvGraphicFramePr>
          <p:xfrm>
            <a:off x="430213" y="3924688"/>
            <a:ext cx="11604625" cy="1903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98" name="文档" r:id="rId4" imgW="3826872" imgH="630711" progId="Word.Document.12">
                    <p:embed/>
                  </p:oleObj>
                </mc:Choice>
                <mc:Fallback>
                  <p:oleObj name="文档" r:id="rId4" imgW="3826872" imgH="63071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0213" y="3924688"/>
                          <a:ext cx="11604625" cy="1903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6022329"/>
              </p:ext>
            </p:extLst>
          </p:nvPr>
        </p:nvGraphicFramePr>
        <p:xfrm>
          <a:off x="425781" y="5577132"/>
          <a:ext cx="11671959" cy="6971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9" name="文档" r:id="rId7" imgW="3826872" imgH="228565" progId="Word.Document.12">
                  <p:embed/>
                </p:oleObj>
              </mc:Choice>
              <mc:Fallback>
                <p:oleObj name="文档" r:id="rId7" imgW="3826872" imgH="2285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5781" y="5577132"/>
                        <a:ext cx="11671959" cy="6971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9787242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55911"/>
            <a:ext cx="10807700" cy="245605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解决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指数函数的相关问题时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如果底数中参数的取值范围不确定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那么应对底数的取值</a:t>
            </a: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范围分类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讨论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以确定该函数的单调性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从而解决相应问题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1636787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62319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若指数函数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1,1]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上的最大值与最小值的差是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1,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8127306"/>
              </p:ext>
            </p:extLst>
          </p:nvPr>
        </p:nvGraphicFramePr>
        <p:xfrm>
          <a:off x="504453" y="2078127"/>
          <a:ext cx="11671959" cy="28926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文档" r:id="rId4" imgW="3826872" imgH="948402" progId="Word.Document.12">
                  <p:embed/>
                </p:oleObj>
              </mc:Choice>
              <mc:Fallback>
                <p:oleObj name="文档" r:id="rId4" imgW="3826872" imgH="9484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2078127"/>
                        <a:ext cx="11671959" cy="289262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7281708"/>
              </p:ext>
            </p:extLst>
          </p:nvPr>
        </p:nvGraphicFramePr>
        <p:xfrm>
          <a:off x="504452" y="5095554"/>
          <a:ext cx="11671959" cy="779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文档" r:id="rId7" imgW="3826872" imgH="255519" progId="Word.Document.12">
                  <p:embed/>
                </p:oleObj>
              </mc:Choice>
              <mc:Fallback>
                <p:oleObj name="文档" r:id="rId7" imgW="3826872" imgH="25551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452" y="5095554"/>
                        <a:ext cx="11671959" cy="7793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908674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2578610"/>
              </p:ext>
            </p:extLst>
          </p:nvPr>
        </p:nvGraphicFramePr>
        <p:xfrm>
          <a:off x="497790" y="1377711"/>
          <a:ext cx="11671959" cy="1793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0" name="文档" r:id="rId4" imgW="3826872" imgH="587944" progId="Word.Document.12">
                  <p:embed/>
                </p:oleObj>
              </mc:Choice>
              <mc:Fallback>
                <p:oleObj name="文档" r:id="rId4" imgW="3826872" imgH="58794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7790" y="1377711"/>
                        <a:ext cx="11671959" cy="17932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61950" y="3246582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8,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772151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的大致图象可能是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YMG1TRA103.eps" descr="id:214749748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1872605" y="1398861"/>
            <a:ext cx="7416824" cy="2117831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3580463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的图象恒过定点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(1,0),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排除选项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A,B,D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&lt;a&lt;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选项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符合题意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65074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935831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≠1)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的图象经过定点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1,5)	B.(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1,4)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C.(0,4)	D.(4,0)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此时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故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1,5)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612824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8396331"/>
              </p:ext>
            </p:extLst>
          </p:nvPr>
        </p:nvGraphicFramePr>
        <p:xfrm>
          <a:off x="430213" y="1150938"/>
          <a:ext cx="11661775" cy="130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文档" r:id="rId4" imgW="3837724" imgH="430165" progId="Word.Document.12">
                  <p:embed/>
                </p:oleObj>
              </mc:Choice>
              <mc:Fallback>
                <p:oleObj name="文档" r:id="rId4" imgW="3837724" imgH="43016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0213" y="1150938"/>
                        <a:ext cx="11661775" cy="1301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3965613"/>
              </p:ext>
            </p:extLst>
          </p:nvPr>
        </p:nvGraphicFramePr>
        <p:xfrm>
          <a:off x="432445" y="2525365"/>
          <a:ext cx="11671959" cy="1434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文档" r:id="rId7" imgW="3826872" imgH="470427" progId="Word.Document.12">
                  <p:embed/>
                </p:oleObj>
              </mc:Choice>
              <mc:Fallback>
                <p:oleObj name="文档" r:id="rId7" imgW="3826872" imgH="47042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2445" y="2525365"/>
                        <a:ext cx="11671959" cy="14348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0437" y="4104183"/>
            <a:ext cx="165782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094255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1511895"/>
            <a:ext cx="10807700" cy="2653181"/>
            <a:chOff x="361950" y="647799"/>
            <a:chExt cx="10807700" cy="265318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47799"/>
              <a:ext cx="10807700" cy="180857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比较下列各题中两个值的大小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8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7175744"/>
                </p:ext>
              </p:extLst>
            </p:nvPr>
          </p:nvGraphicFramePr>
          <p:xfrm>
            <a:off x="462135" y="2456371"/>
            <a:ext cx="10607329" cy="844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1" name="文档" r:id="rId4" imgW="3477813" imgH="276921" progId="Word.Document.12">
                    <p:embed/>
                  </p:oleObj>
                </mc:Choice>
                <mc:Fallback>
                  <p:oleObj name="文档" r:id="rId4" imgW="3477813" imgH="27692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2135" y="2456371"/>
                          <a:ext cx="10607329" cy="8446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708848981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45381"/>
            <a:ext cx="10807700" cy="299043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上是增函数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上是减函数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9937192"/>
              </p:ext>
            </p:extLst>
          </p:nvPr>
        </p:nvGraphicFramePr>
        <p:xfrm>
          <a:off x="442471" y="3801683"/>
          <a:ext cx="10607329" cy="1690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5" name="文档" r:id="rId4" imgW="3477813" imgH="554202" progId="Word.Document.12">
                  <p:embed/>
                </p:oleObj>
              </mc:Choice>
              <mc:Fallback>
                <p:oleObj name="文档" r:id="rId4" imgW="3477813" imgH="5542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471" y="3801683"/>
                        <a:ext cx="10607329" cy="1690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14277000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129</TotalTime>
  <Words>1455</Words>
  <Application>Microsoft Office PowerPoint</Application>
  <PresentationFormat>自定义</PresentationFormat>
  <Paragraphs>126</Paragraphs>
  <Slides>34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24</cp:revision>
  <dcterms:created xsi:type="dcterms:W3CDTF">2020-09-12T05:36:12Z</dcterms:created>
  <dcterms:modified xsi:type="dcterms:W3CDTF">2025-08-18T05:16:36Z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