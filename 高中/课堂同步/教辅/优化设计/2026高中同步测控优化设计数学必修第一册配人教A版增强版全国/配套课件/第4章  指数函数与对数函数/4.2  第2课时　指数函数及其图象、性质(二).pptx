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731" r:id="rId2"/>
    <p:sldId id="753" r:id="rId3"/>
    <p:sldId id="736" r:id="rId4"/>
    <p:sldId id="744" r:id="rId5"/>
    <p:sldId id="746" r:id="rId6"/>
    <p:sldId id="749" r:id="rId7"/>
    <p:sldId id="756" r:id="rId8"/>
    <p:sldId id="757" r:id="rId9"/>
    <p:sldId id="758" r:id="rId10"/>
    <p:sldId id="759" r:id="rId11"/>
    <p:sldId id="760" r:id="rId12"/>
    <p:sldId id="761" r:id="rId13"/>
    <p:sldId id="737" r:id="rId14"/>
    <p:sldId id="750" r:id="rId15"/>
    <p:sldId id="762" r:id="rId16"/>
    <p:sldId id="763" r:id="rId17"/>
    <p:sldId id="764" r:id="rId18"/>
    <p:sldId id="765" r:id="rId19"/>
    <p:sldId id="754" r:id="rId20"/>
    <p:sldId id="766" r:id="rId21"/>
    <p:sldId id="767" r:id="rId22"/>
    <p:sldId id="755" r:id="rId23"/>
    <p:sldId id="768" r:id="rId24"/>
    <p:sldId id="769" r:id="rId25"/>
    <p:sldId id="770" r:id="rId26"/>
    <p:sldId id="771" r:id="rId27"/>
    <p:sldId id="747" r:id="rId28"/>
    <p:sldId id="751" r:id="rId29"/>
    <p:sldId id="772" r:id="rId30"/>
    <p:sldId id="774" r:id="rId31"/>
    <p:sldId id="775" r:id="rId32"/>
    <p:sldId id="776" r:id="rId33"/>
    <p:sldId id="777" r:id="rId34"/>
    <p:sldId id="773" r:id="rId35"/>
    <p:sldId id="778" r:id="rId36"/>
    <p:sldId id="779" r:id="rId37"/>
    <p:sldId id="748" r:id="rId38"/>
    <p:sldId id="752" r:id="rId39"/>
    <p:sldId id="780" r:id="rId40"/>
    <p:sldId id="781" r:id="rId41"/>
    <p:sldId id="782" r:id="rId42"/>
    <p:sldId id="783" r:id="rId43"/>
    <p:sldId id="784" r:id="rId44"/>
    <p:sldId id="785" r:id="rId45"/>
    <p:sldId id="735" r:id="rId46"/>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45</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7.xml"/><Relationship Id="rId5" Type="http://schemas.openxmlformats.org/officeDocument/2006/relationships/slide" Target="slide27.xml"/><Relationship Id="rId4" Type="http://schemas.openxmlformats.org/officeDocument/2006/relationships/slide" Target="slide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1.bin"/><Relationship Id="rId7" Type="http://schemas.openxmlformats.org/officeDocument/2006/relationships/package" Target="../embeddings/Microsoft_Word___2.docx"/><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3.bin"/><Relationship Id="rId7" Type="http://schemas.openxmlformats.org/officeDocument/2006/relationships/package" Target="../embeddings/Microsoft_Word___4.docx"/><Relationship Id="rId2" Type="http://schemas.openxmlformats.org/officeDocument/2006/relationships/slideLayout" Target="../slideLayouts/slideLayout5.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Word___8.docx"/></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9.bin"/><Relationship Id="rId7" Type="http://schemas.openxmlformats.org/officeDocument/2006/relationships/package" Target="../embeddings/Microsoft_Word___10.docx"/><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10.bin"/><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19.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oleObject" Target="../embeddings/oleObject11.bin"/><Relationship Id="rId7" Type="http://schemas.openxmlformats.org/officeDocument/2006/relationships/package" Target="../embeddings/Microsoft_Word___12.docx"/><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oleObject" Target="../embeddings/oleObject12.bin"/><Relationship Id="rId5" Type="http://schemas.openxmlformats.org/officeDocument/2006/relationships/image" Target="../media/image13.emf"/><Relationship Id="rId4" Type="http://schemas.openxmlformats.org/officeDocument/2006/relationships/package" Target="../embeddings/Microsoft_Word___11.docx"/></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14.bin"/><Relationship Id="rId11" Type="http://schemas.openxmlformats.org/officeDocument/2006/relationships/image" Target="../media/image17.emf"/><Relationship Id="rId5" Type="http://schemas.openxmlformats.org/officeDocument/2006/relationships/image" Target="../media/image15.emf"/><Relationship Id="rId10" Type="http://schemas.openxmlformats.org/officeDocument/2006/relationships/package" Target="../embeddings/Microsoft_Word___15.docx"/><Relationship Id="rId4" Type="http://schemas.openxmlformats.org/officeDocument/2006/relationships/package" Target="../embeddings/Microsoft_Word___13.docx"/><Relationship Id="rId9"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8.emf"/><Relationship Id="rId4" Type="http://schemas.openxmlformats.org/officeDocument/2006/relationships/package" Target="../embeddings/Microsoft_Word___16.docx"/></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9.emf"/><Relationship Id="rId4" Type="http://schemas.openxmlformats.org/officeDocument/2006/relationships/package" Target="../embeddings/Microsoft_Word___17.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20.emf"/><Relationship Id="rId4" Type="http://schemas.openxmlformats.org/officeDocument/2006/relationships/package" Target="../embeddings/Microsoft_Word___18.docx"/></Relationships>
</file>

<file path=ppt/slides/_rels/slide25.xml.rels><?xml version="1.0" encoding="UTF-8" standalone="yes"?>
<Relationships xmlns="http://schemas.openxmlformats.org/package/2006/relationships"><Relationship Id="rId8" Type="http://schemas.openxmlformats.org/officeDocument/2006/relationships/package" Target="../embeddings/Microsoft_Word___20.docx"/><Relationship Id="rId3" Type="http://schemas.openxmlformats.org/officeDocument/2006/relationships/image" Target="../media/image23.jpeg"/><Relationship Id="rId7"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image" Target="../media/image21.emf"/><Relationship Id="rId5" Type="http://schemas.openxmlformats.org/officeDocument/2006/relationships/package" Target="../embeddings/Microsoft_Word___19.docx"/><Relationship Id="rId4" Type="http://schemas.openxmlformats.org/officeDocument/2006/relationships/oleObject" Target="../embeddings/oleObject19.bin"/><Relationship Id="rId9" Type="http://schemas.openxmlformats.org/officeDocument/2006/relationships/image" Target="../media/image22.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4.emf"/><Relationship Id="rId4" Type="http://schemas.openxmlformats.org/officeDocument/2006/relationships/package" Target="../embeddings/Microsoft_Word___21.docx"/></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25.emf"/><Relationship Id="rId4" Type="http://schemas.openxmlformats.org/officeDocument/2006/relationships/package" Target="../embeddings/Microsoft_Word___22.docx"/></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26.emf"/><Relationship Id="rId4" Type="http://schemas.openxmlformats.org/officeDocument/2006/relationships/package" Target="../embeddings/Microsoft_Word___23.docx"/></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4.xml"/><Relationship Id="rId1" Type="http://schemas.openxmlformats.org/officeDocument/2006/relationships/vmlDrawing" Target="../drawings/vmlDrawing17.vml"/><Relationship Id="rId5" Type="http://schemas.openxmlformats.org/officeDocument/2006/relationships/image" Target="../media/image27.emf"/><Relationship Id="rId4" Type="http://schemas.openxmlformats.org/officeDocument/2006/relationships/package" Target="../embeddings/Microsoft_Word___24.docx"/></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oleObject" Target="../embeddings/oleObject25.bin"/><Relationship Id="rId7" Type="http://schemas.openxmlformats.org/officeDocument/2006/relationships/package" Target="../embeddings/Microsoft_Word___26.docx"/><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oleObject" Target="../embeddings/oleObject26.bin"/><Relationship Id="rId5" Type="http://schemas.openxmlformats.org/officeDocument/2006/relationships/image" Target="../media/image28.emf"/><Relationship Id="rId4" Type="http://schemas.openxmlformats.org/officeDocument/2006/relationships/package" Target="../embeddings/Microsoft_Word___25.docx"/></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4.xml"/><Relationship Id="rId1" Type="http://schemas.openxmlformats.org/officeDocument/2006/relationships/vmlDrawing" Target="../drawings/vmlDrawing19.vml"/><Relationship Id="rId5" Type="http://schemas.openxmlformats.org/officeDocument/2006/relationships/image" Target="../media/image30.emf"/><Relationship Id="rId4" Type="http://schemas.openxmlformats.org/officeDocument/2006/relationships/package" Target="../embeddings/Microsoft_Word___27.docx"/></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28.bin"/><Relationship Id="rId7" Type="http://schemas.openxmlformats.org/officeDocument/2006/relationships/package" Target="../embeddings/Microsoft_Word___29.docx"/><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oleObject" Target="../embeddings/oleObject29.bin"/><Relationship Id="rId5" Type="http://schemas.openxmlformats.org/officeDocument/2006/relationships/image" Target="../media/image31.emf"/><Relationship Id="rId4" Type="http://schemas.openxmlformats.org/officeDocument/2006/relationships/package" Target="../embeddings/Microsoft_Word___28.docx"/></Relationships>
</file>

<file path=ppt/slides/_rels/slide39.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oleObject" Target="../embeddings/oleObject30.bin"/><Relationship Id="rId7" Type="http://schemas.openxmlformats.org/officeDocument/2006/relationships/package" Target="../embeddings/Microsoft_Word___31.docx"/><Relationship Id="rId2" Type="http://schemas.openxmlformats.org/officeDocument/2006/relationships/slideLayout" Target="../slideLayouts/slideLayout4.xml"/><Relationship Id="rId1" Type="http://schemas.openxmlformats.org/officeDocument/2006/relationships/vmlDrawing" Target="../drawings/vmlDrawing21.vml"/><Relationship Id="rId6" Type="http://schemas.openxmlformats.org/officeDocument/2006/relationships/oleObject" Target="../embeddings/oleObject31.bin"/><Relationship Id="rId5" Type="http://schemas.openxmlformats.org/officeDocument/2006/relationships/image" Target="../media/image33.emf"/><Relationship Id="rId4" Type="http://schemas.openxmlformats.org/officeDocument/2006/relationships/package" Target="../embeddings/Microsoft_Word___30.docx"/></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4.xml"/><Relationship Id="rId1" Type="http://schemas.openxmlformats.org/officeDocument/2006/relationships/vmlDrawing" Target="../drawings/vmlDrawing22.vml"/><Relationship Id="rId5" Type="http://schemas.openxmlformats.org/officeDocument/2006/relationships/image" Target="../media/image35.emf"/><Relationship Id="rId4" Type="http://schemas.openxmlformats.org/officeDocument/2006/relationships/package" Target="../embeddings/Microsoft_Word___32.docx"/></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4.xml"/><Relationship Id="rId1" Type="http://schemas.openxmlformats.org/officeDocument/2006/relationships/vmlDrawing" Target="../drawings/vmlDrawing23.vml"/><Relationship Id="rId5" Type="http://schemas.openxmlformats.org/officeDocument/2006/relationships/image" Target="../media/image36.emf"/><Relationship Id="rId4" Type="http://schemas.openxmlformats.org/officeDocument/2006/relationships/package" Target="../embeddings/Microsoft_Word___33.docx"/></Relationships>
</file>

<file path=ppt/slides/_rels/slide42.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34.bin"/><Relationship Id="rId7" Type="http://schemas.openxmlformats.org/officeDocument/2006/relationships/package" Target="../embeddings/Microsoft_Word___35.docx"/><Relationship Id="rId2" Type="http://schemas.openxmlformats.org/officeDocument/2006/relationships/slideLayout" Target="../slideLayouts/slideLayout4.xml"/><Relationship Id="rId1" Type="http://schemas.openxmlformats.org/officeDocument/2006/relationships/vmlDrawing" Target="../drawings/vmlDrawing24.vml"/><Relationship Id="rId6" Type="http://schemas.openxmlformats.org/officeDocument/2006/relationships/oleObject" Target="../embeddings/oleObject35.bin"/><Relationship Id="rId5" Type="http://schemas.openxmlformats.org/officeDocument/2006/relationships/image" Target="../media/image37.emf"/><Relationship Id="rId4" Type="http://schemas.openxmlformats.org/officeDocument/2006/relationships/package" Target="../embeddings/Microsoft_Word___34.docx"/></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4.xml"/><Relationship Id="rId1" Type="http://schemas.openxmlformats.org/officeDocument/2006/relationships/vmlDrawing" Target="../drawings/vmlDrawing25.vml"/><Relationship Id="rId5" Type="http://schemas.openxmlformats.org/officeDocument/2006/relationships/image" Target="../media/image39.emf"/><Relationship Id="rId4" Type="http://schemas.openxmlformats.org/officeDocument/2006/relationships/package" Target="../embeddings/Microsoft_Word___36.docx"/></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4.xml"/><Relationship Id="rId1" Type="http://schemas.openxmlformats.org/officeDocument/2006/relationships/vmlDrawing" Target="../drawings/vmlDrawing26.vml"/><Relationship Id="rId5" Type="http://schemas.openxmlformats.org/officeDocument/2006/relationships/image" Target="../media/image40.emf"/><Relationship Id="rId4" Type="http://schemas.openxmlformats.org/officeDocument/2006/relationships/package" Target="../embeddings/Microsoft_Word___37.docx"/></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128257"/>
            <a:ext cx="10807700" cy="1975926"/>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5400" dirty="0">
                <a:solidFill>
                  <a:srgbClr val="002060"/>
                </a:solidFill>
                <a:ea typeface="宋体" panose="02010600030101010101" pitchFamily="2" charset="-122"/>
                <a:cs typeface="Times New Roman" panose="02020603050405020304" pitchFamily="18" charset="0"/>
              </a:rPr>
              <a:t>4.2</a:t>
            </a:r>
            <a:r>
              <a:rPr lang="zh-CN" altLang="zh-CN" sz="5400" dirty="0">
                <a:solidFill>
                  <a:srgbClr val="002060"/>
                </a:solidFill>
                <a:ea typeface="宋体" panose="02010600030101010101" pitchFamily="2" charset="-122"/>
                <a:cs typeface="Times New Roman" panose="02020603050405020304" pitchFamily="18" charset="0"/>
              </a:rPr>
              <a:t>　</a:t>
            </a:r>
            <a:r>
              <a:rPr lang="zh-CN" altLang="zh-CN" sz="5400" dirty="0">
                <a:solidFill>
                  <a:srgbClr val="002060"/>
                </a:solidFill>
                <a:latin typeface="Arial" panose="020B0604020202020204" pitchFamily="34" charset="0"/>
                <a:cs typeface="Times New Roman" panose="02020603050405020304" pitchFamily="18" charset="0"/>
              </a:rPr>
              <a:t>指数函数</a:t>
            </a:r>
            <a:endParaRPr lang="zh-CN" altLang="zh-CN" sz="5400" dirty="0">
              <a:solidFill>
                <a:srgbClr val="00206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sz="4800" dirty="0">
                <a:solidFill>
                  <a:srgbClr val="002060"/>
                </a:solidFill>
                <a:latin typeface="Arial" panose="020B0604020202020204" pitchFamily="34" charset="0"/>
                <a:cs typeface="Times New Roman" panose="02020603050405020304" pitchFamily="18" charset="0"/>
              </a:rPr>
              <a:t>第</a:t>
            </a:r>
            <a:r>
              <a:rPr lang="en-US" altLang="zh-CN" sz="4800" dirty="0">
                <a:solidFill>
                  <a:srgbClr val="002060"/>
                </a:solidFill>
                <a:ea typeface="宋体" panose="02010600030101010101" pitchFamily="2" charset="-122"/>
                <a:cs typeface="Times New Roman" panose="02020603050405020304" pitchFamily="18" charset="0"/>
              </a:rPr>
              <a:t>2</a:t>
            </a:r>
            <a:r>
              <a:rPr lang="zh-CN" altLang="zh-CN" sz="4800" dirty="0">
                <a:solidFill>
                  <a:srgbClr val="002060"/>
                </a:solidFill>
                <a:latin typeface="Arial" panose="020B0604020202020204" pitchFamily="34" charset="0"/>
                <a:cs typeface="Times New Roman" panose="02020603050405020304" pitchFamily="18" charset="0"/>
              </a:rPr>
              <a:t>课时</a:t>
            </a:r>
            <a:r>
              <a:rPr lang="zh-CN" altLang="zh-CN" sz="4800" i="1" dirty="0">
                <a:solidFill>
                  <a:srgbClr val="002060"/>
                </a:solidFill>
                <a:ea typeface="宋体" panose="02010600030101010101" pitchFamily="2" charset="-122"/>
                <a:cs typeface="Times New Roman" panose="02020603050405020304" pitchFamily="18" charset="0"/>
              </a:rPr>
              <a:t>　</a:t>
            </a:r>
            <a:r>
              <a:rPr lang="zh-CN" altLang="zh-CN" sz="4800" dirty="0">
                <a:solidFill>
                  <a:srgbClr val="002060"/>
                </a:solidFill>
                <a:latin typeface="Arial" panose="020B0604020202020204" pitchFamily="34" charset="0"/>
                <a:cs typeface="Times New Roman" panose="02020603050405020304" pitchFamily="18" charset="0"/>
              </a:rPr>
              <a:t>指数函数及其图象、性质</a:t>
            </a:r>
            <a:r>
              <a:rPr lang="en-US" altLang="zh-CN" sz="4800" dirty="0">
                <a:solidFill>
                  <a:srgbClr val="002060"/>
                </a:solidFill>
                <a:ea typeface="宋体" panose="02010600030101010101" pitchFamily="2" charset="-122"/>
                <a:cs typeface="Times New Roman" panose="02020603050405020304" pitchFamily="18" charset="0"/>
              </a:rPr>
              <a:t>(</a:t>
            </a:r>
            <a:r>
              <a:rPr lang="zh-CN" altLang="zh-CN" sz="4800" dirty="0">
                <a:solidFill>
                  <a:srgbClr val="002060"/>
                </a:solidFill>
                <a:latin typeface="Arial" panose="020B0604020202020204" pitchFamily="34" charset="0"/>
                <a:cs typeface="Times New Roman" panose="02020603050405020304" pitchFamily="18" charset="0"/>
              </a:rPr>
              <a:t>二</a:t>
            </a:r>
            <a:r>
              <a:rPr lang="en-US" altLang="zh-CN" sz="4800" dirty="0">
                <a:solidFill>
                  <a:srgbClr val="002060"/>
                </a:solidFill>
                <a:ea typeface="宋体" panose="02010600030101010101" pitchFamily="2" charset="-122"/>
                <a:cs typeface="Times New Roman" panose="02020603050405020304" pitchFamily="18" charset="0"/>
              </a:rPr>
              <a:t>)</a:t>
            </a:r>
            <a:endParaRPr lang="zh-CN" altLang="zh-CN" sz="48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079847"/>
            <a:ext cx="10729192" cy="4280438"/>
            <a:chOff x="360437" y="1892355"/>
            <a:chExt cx="10729192" cy="4280438"/>
          </a:xfrm>
        </p:grpSpPr>
        <p:grpSp>
          <p:nvGrpSpPr>
            <p:cNvPr id="13" name="组合 12"/>
            <p:cNvGrpSpPr/>
            <p:nvPr/>
          </p:nvGrpSpPr>
          <p:grpSpPr>
            <a:xfrm>
              <a:off x="360437" y="1892355"/>
              <a:ext cx="10729192" cy="4182226"/>
              <a:chOff x="360437" y="2263580"/>
              <a:chExt cx="10729192" cy="2856517"/>
            </a:xfrm>
          </p:grpSpPr>
          <p:sp>
            <p:nvSpPr>
              <p:cNvPr id="2" name="圆角矩形 1"/>
              <p:cNvSpPr/>
              <p:nvPr/>
            </p:nvSpPr>
            <p:spPr>
              <a:xfrm>
                <a:off x="360437" y="2263580"/>
                <a:ext cx="10729192" cy="285651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2333419"/>
                <a:ext cx="0" cy="2737496"/>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3222685"/>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943943"/>
              <a:ext cx="8496944" cy="4228850"/>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掌握与指数函数有关的函数的定义域与值域问题的解法</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掌握与指数函数有关的函数的单调性及其应用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掌握与指数函数有关的函数的综合应用问题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感受逻辑推理的过程</a:t>
              </a:r>
              <a:r>
                <a:rPr lang="en-US" altLang="zh-CN" dirty="0" smtClean="0">
                  <a:solidFill>
                    <a:srgbClr val="000000"/>
                  </a:solidFill>
                  <a:ea typeface="宋体" panose="02010600030101010101" pitchFamily="2" charset="-122"/>
                </a:rPr>
                <a:t>,</a:t>
              </a:r>
              <a:r>
                <a:rPr lang="zh-CN" altLang="en-US" dirty="0" smtClean="0">
                  <a:solidFill>
                    <a:srgbClr val="000000"/>
                  </a:solidFill>
                  <a:ea typeface="楷体" panose="02010609060101010101" pitchFamily="49" charset="-122"/>
                  <a:cs typeface="Times New Roman" panose="02020603050405020304" pitchFamily="18" charset="0"/>
                </a:rPr>
                <a:t>提升</a:t>
              </a:r>
              <a:r>
                <a:rPr lang="zh-CN" altLang="zh-CN" dirty="0" smtClean="0">
                  <a:solidFill>
                    <a:srgbClr val="000000"/>
                  </a:solidFill>
                  <a:ea typeface="楷体" panose="02010609060101010101" pitchFamily="49" charset="-122"/>
                  <a:cs typeface="Times New Roman" panose="02020603050405020304" pitchFamily="18" charset="0"/>
                </a:rPr>
                <a:t>逻辑推理</a:t>
              </a:r>
              <a:r>
                <a:rPr lang="zh-CN" altLang="zh-CN" dirty="0">
                  <a:solidFill>
                    <a:srgbClr val="000000"/>
                  </a:solidFill>
                  <a:ea typeface="楷体" panose="02010609060101010101" pitchFamily="49" charset="-122"/>
                  <a:cs typeface="Times New Roman" panose="02020603050405020304" pitchFamily="18" charset="0"/>
                </a:rPr>
                <a:t>和数学运算素养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规  范  解  答</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511895"/>
            <a:ext cx="10807700" cy="626710"/>
          </a:xfrm>
          <a:prstGeom prst="rect">
            <a:avLst/>
          </a:prstGeom>
        </p:spPr>
        <p:txBody>
          <a:bodyPr>
            <a:spAutoFit/>
          </a:bodyPr>
          <a:lstStyle/>
          <a:p>
            <a:pPr>
              <a:lnSpc>
                <a:spcPct val="120000"/>
              </a:lnSpc>
            </a:pPr>
            <a:r>
              <a:rPr lang="zh-CN" altLang="zh-CN" dirty="0">
                <a:solidFill>
                  <a:srgbClr val="000000"/>
                </a:solidFill>
                <a:latin typeface="NEU-BZ-S92"/>
                <a:ea typeface="方正正中黑简体"/>
                <a:cs typeface="Times New Roman" panose="02020603050405020304" pitchFamily="18" charset="0"/>
              </a:rPr>
              <a:t>一、与指数函数有关的函数的定义域与</a:t>
            </a:r>
            <a:r>
              <a:rPr lang="zh-CN" altLang="zh-CN" dirty="0" smtClean="0">
                <a:solidFill>
                  <a:srgbClr val="000000"/>
                </a:solidFill>
                <a:latin typeface="NEU-BZ-S92"/>
                <a:ea typeface="方正正中黑简体"/>
                <a:cs typeface="Times New Roman" panose="02020603050405020304" pitchFamily="18" charset="0"/>
              </a:rPr>
              <a:t>值域</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1393652592"/>
              </p:ext>
            </p:extLst>
          </p:nvPr>
        </p:nvGraphicFramePr>
        <p:xfrm>
          <a:off x="504453" y="2192373"/>
          <a:ext cx="11671959" cy="698221"/>
        </p:xfrm>
        <a:graphic>
          <a:graphicData uri="http://schemas.openxmlformats.org/presentationml/2006/ole">
            <mc:AlternateContent xmlns:mc="http://schemas.openxmlformats.org/markup-compatibility/2006">
              <mc:Choice xmlns:v="urn:schemas-microsoft-com:vml" Requires="v">
                <p:oleObj spid="_x0000_s1062" name="文档" r:id="rId4" imgW="3826872" imgH="228925" progId="Word.Document.12">
                  <p:embed/>
                </p:oleObj>
              </mc:Choice>
              <mc:Fallback>
                <p:oleObj name="文档" r:id="rId4" imgW="3826872" imgH="228925" progId="Word.Document.12">
                  <p:embed/>
                  <p:pic>
                    <p:nvPicPr>
                      <p:cNvPr id="0" name=""/>
                      <p:cNvPicPr/>
                      <p:nvPr/>
                    </p:nvPicPr>
                    <p:blipFill>
                      <a:blip r:embed="rId5"/>
                      <a:stretch>
                        <a:fillRect/>
                      </a:stretch>
                    </p:blipFill>
                    <p:spPr>
                      <a:xfrm>
                        <a:off x="504453" y="2192373"/>
                        <a:ext cx="11671959" cy="698221"/>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721995801"/>
              </p:ext>
            </p:extLst>
          </p:nvPr>
        </p:nvGraphicFramePr>
        <p:xfrm>
          <a:off x="504825" y="2986966"/>
          <a:ext cx="11661775" cy="1216025"/>
        </p:xfrm>
        <a:graphic>
          <a:graphicData uri="http://schemas.openxmlformats.org/presentationml/2006/ole">
            <mc:AlternateContent xmlns:mc="http://schemas.openxmlformats.org/markup-compatibility/2006">
              <mc:Choice xmlns:v="urn:schemas-microsoft-com:vml" Requires="v">
                <p:oleObj spid="_x0000_s1063" name="文档" r:id="rId7" imgW="3837724" imgH="403122" progId="Word.Document.12">
                  <p:embed/>
                </p:oleObj>
              </mc:Choice>
              <mc:Fallback>
                <p:oleObj name="文档" r:id="rId7" imgW="3837724" imgH="403122" progId="Word.Document.12">
                  <p:embed/>
                  <p:pic>
                    <p:nvPicPr>
                      <p:cNvPr id="0" name=""/>
                      <p:cNvPicPr/>
                      <p:nvPr/>
                    </p:nvPicPr>
                    <p:blipFill>
                      <a:blip r:embed="rId8"/>
                      <a:stretch>
                        <a:fillRect/>
                      </a:stretch>
                    </p:blipFill>
                    <p:spPr>
                      <a:xfrm>
                        <a:off x="504825" y="2986966"/>
                        <a:ext cx="11661775" cy="1216025"/>
                      </a:xfrm>
                      <a:prstGeom prst="rect">
                        <a:avLst/>
                      </a:prstGeom>
                    </p:spPr>
                  </p:pic>
                </p:oleObj>
              </mc:Fallback>
            </mc:AlternateContent>
          </a:graphicData>
        </a:graphic>
      </p:graphicFrame>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848696"/>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对于函数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其定义域即为</a:t>
            </a:r>
            <a:r>
              <a:rPr lang="zh-CN" altLang="zh-CN" dirty="0" smtClean="0">
                <a:solidFill>
                  <a:srgbClr val="000000"/>
                </a:solidFill>
                <a:ea typeface="宋体" panose="02010600030101010101" pitchFamily="2" charset="-122"/>
                <a:cs typeface="Times New Roman" panose="02020603050405020304" pitchFamily="18" charset="0"/>
              </a:rPr>
              <a:t>函数</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smtClean="0">
                <a:ea typeface="宋体" panose="02010600030101010101" pitchFamily="2" charset="-122"/>
                <a:cs typeface="Times New Roman" panose="02020603050405020304" pitchFamily="18" charset="0"/>
              </a:rPr>
              <a:t>f</a:t>
            </a:r>
            <a:r>
              <a:rPr lang="en-US" altLang="zh-CN" dirty="0" smtClean="0">
                <a:ea typeface="宋体" panose="02010600030101010101" pitchFamily="2" charset="-122"/>
                <a:cs typeface="Times New Roman" panose="02020603050405020304" pitchFamily="18" charset="0"/>
              </a:rPr>
              <a:t>(</a:t>
            </a:r>
            <a:r>
              <a:rPr lang="en-US" altLang="zh-CN" i="1" dirty="0" smtClean="0">
                <a:ea typeface="宋体" panose="02010600030101010101" pitchFamily="2" charset="-122"/>
                <a:cs typeface="Times New Roman" panose="02020603050405020304" pitchFamily="18" charset="0"/>
              </a:rPr>
              <a:t>x</a:t>
            </a:r>
            <a:r>
              <a:rPr lang="en-US" altLang="zh-CN" dirty="0" smtClean="0">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a:solidFill>
                  <a:srgbClr val="000000"/>
                </a:solidFill>
                <a:ea typeface="宋体" panose="02010600030101010101" pitchFamily="2" charset="-122"/>
                <a:cs typeface="Times New Roman" panose="02020603050405020304" pitchFamily="18" charset="0"/>
              </a:rPr>
              <a:t>定义域</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(2)</a:t>
            </a:r>
            <a:r>
              <a:rPr lang="zh-CN" altLang="zh-CN" dirty="0">
                <a:solidFill>
                  <a:srgbClr val="000000"/>
                </a:solidFill>
                <a:ea typeface="宋体" panose="02010600030101010101" pitchFamily="2" charset="-122"/>
                <a:cs typeface="Times New Roman" panose="02020603050405020304" pitchFamily="18" charset="0"/>
              </a:rPr>
              <a:t>对于函数</a:t>
            </a:r>
            <a:r>
              <a:rPr lang="en-US" altLang="zh-CN" i="1" dirty="0">
                <a:solidFill>
                  <a:srgbClr val="000000"/>
                </a:solidFill>
                <a:ea typeface="宋体" panose="02010600030101010101" pitchFamily="2" charset="-122"/>
              </a:rPr>
              <a:t>y=</a:t>
            </a:r>
            <a:r>
              <a:rPr lang="en-US" altLang="zh-CN" i="1" dirty="0" err="1">
                <a:solidFill>
                  <a:srgbClr val="000000"/>
                </a:solidFill>
                <a:ea typeface="宋体" panose="02010600030101010101" pitchFamily="2" charset="-122"/>
              </a:rPr>
              <a:t>a</a:t>
            </a:r>
            <a:r>
              <a:rPr lang="en-US" altLang="zh-CN" i="1" baseline="30000" dirty="0" err="1">
                <a:solidFill>
                  <a:srgbClr val="000000"/>
                </a:solidFill>
                <a:ea typeface="宋体" panose="02010600030101010101" pitchFamily="2" charset="-122"/>
              </a:rPr>
              <a:t>f</a:t>
            </a:r>
            <a:r>
              <a:rPr lang="en-US" altLang="zh-CN" baseline="30000" dirty="0">
                <a:solidFill>
                  <a:srgbClr val="000000"/>
                </a:solidFill>
                <a:ea typeface="宋体" panose="02010600030101010101" pitchFamily="2" charset="-122"/>
              </a:rPr>
              <a:t>(</a:t>
            </a:r>
            <a:r>
              <a:rPr lang="en-US" altLang="zh-CN" i="1" baseline="30000" dirty="0">
                <a:solidFill>
                  <a:srgbClr val="000000"/>
                </a:solidFill>
                <a:ea typeface="宋体" panose="02010600030101010101" pitchFamily="2" charset="-122"/>
              </a:rPr>
              <a:t>x</a:t>
            </a:r>
            <a:r>
              <a:rPr lang="en-US" altLang="zh-CN" baseline="30000"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a&gt;</a:t>
            </a:r>
            <a:r>
              <a:rPr lang="en-US" altLang="zh-CN" dirty="0">
                <a:solidFill>
                  <a:srgbClr val="000000"/>
                </a:solidFill>
                <a:ea typeface="宋体" panose="02010600030101010101" pitchFamily="2" charset="-122"/>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rPr>
              <a:t>a</a:t>
            </a:r>
            <a:r>
              <a:rPr lang="en-US" altLang="zh-CN" dirty="0">
                <a:solidFill>
                  <a:srgbClr val="000000"/>
                </a:solidFill>
                <a:ea typeface="宋体" panose="02010600030101010101" pitchFamily="2" charset="-122"/>
              </a:rPr>
              <a:t>≠1),</a:t>
            </a:r>
            <a:r>
              <a:rPr lang="zh-CN" altLang="zh-CN" dirty="0">
                <a:solidFill>
                  <a:srgbClr val="000000"/>
                </a:solidFill>
                <a:ea typeface="宋体" panose="02010600030101010101" pitchFamily="2" charset="-122"/>
                <a:cs typeface="Times New Roman" panose="02020603050405020304" pitchFamily="18" charset="0"/>
              </a:rPr>
              <a:t>求其值域时</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可先求</a:t>
            </a:r>
            <a:r>
              <a:rPr lang="en-US" altLang="zh-CN" i="1" dirty="0">
                <a:solidFill>
                  <a:srgbClr val="000000"/>
                </a:solidFill>
                <a:ea typeface="宋体" panose="02010600030101010101" pitchFamily="2" charset="-122"/>
              </a:rPr>
              <a:t>t=f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的值域</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再利用</a:t>
            </a:r>
            <a:r>
              <a:rPr lang="en-US" altLang="zh-CN" i="1" dirty="0">
                <a:solidFill>
                  <a:srgbClr val="000000"/>
                </a:solidFill>
                <a:ea typeface="宋体" panose="02010600030101010101" pitchFamily="2" charset="-122"/>
              </a:rPr>
              <a:t>y=a</a:t>
            </a:r>
            <a:r>
              <a:rPr lang="en-US" altLang="zh-CN" i="1" baseline="30000" dirty="0">
                <a:solidFill>
                  <a:srgbClr val="000000"/>
                </a:solidFill>
                <a:ea typeface="宋体" panose="02010600030101010101" pitchFamily="2" charset="-122"/>
              </a:rPr>
              <a:t>t</a:t>
            </a:r>
            <a:r>
              <a:rPr lang="zh-CN" altLang="zh-CN" dirty="0">
                <a:solidFill>
                  <a:srgbClr val="000000"/>
                </a:solidFill>
                <a:ea typeface="宋体" panose="02010600030101010101" pitchFamily="2" charset="-122"/>
                <a:cs typeface="Times New Roman" panose="02020603050405020304" pitchFamily="18" charset="0"/>
              </a:rPr>
              <a:t>的单调性结合</a:t>
            </a:r>
            <a:r>
              <a:rPr lang="en-US" altLang="zh-CN" i="1" dirty="0">
                <a:solidFill>
                  <a:srgbClr val="000000"/>
                </a:solidFill>
                <a:ea typeface="宋体" panose="02010600030101010101" pitchFamily="2" charset="-122"/>
              </a:rPr>
              <a:t>t=f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的值域求</a:t>
            </a:r>
            <a:r>
              <a:rPr lang="en-US" altLang="zh-CN" i="1" dirty="0">
                <a:solidFill>
                  <a:srgbClr val="000000"/>
                </a:solidFill>
                <a:ea typeface="宋体" panose="02010600030101010101" pitchFamily="2" charset="-122"/>
              </a:rPr>
              <a:t>y=</a:t>
            </a:r>
            <a:r>
              <a:rPr lang="en-US" altLang="zh-CN" i="1" dirty="0" err="1">
                <a:solidFill>
                  <a:srgbClr val="000000"/>
                </a:solidFill>
                <a:ea typeface="宋体" panose="02010600030101010101" pitchFamily="2" charset="-122"/>
              </a:rPr>
              <a:t>a</a:t>
            </a:r>
            <a:r>
              <a:rPr lang="en-US" altLang="zh-CN" i="1" baseline="30000" dirty="0" err="1">
                <a:solidFill>
                  <a:srgbClr val="000000"/>
                </a:solidFill>
                <a:ea typeface="宋体" panose="02010600030101010101" pitchFamily="2" charset="-122"/>
              </a:rPr>
              <a:t>f</a:t>
            </a:r>
            <a:r>
              <a:rPr lang="en-US" altLang="zh-CN" baseline="30000" dirty="0">
                <a:solidFill>
                  <a:srgbClr val="000000"/>
                </a:solidFill>
                <a:ea typeface="宋体" panose="02010600030101010101" pitchFamily="2" charset="-122"/>
              </a:rPr>
              <a:t>(</a:t>
            </a:r>
            <a:r>
              <a:rPr lang="en-US" altLang="zh-CN" i="1" baseline="30000" dirty="0">
                <a:solidFill>
                  <a:srgbClr val="000000"/>
                </a:solidFill>
                <a:ea typeface="宋体" panose="02010600030101010101" pitchFamily="2" charset="-122"/>
              </a:rPr>
              <a:t>x</a:t>
            </a:r>
            <a:r>
              <a:rPr lang="en-US" altLang="zh-CN" baseline="30000"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的值域</a:t>
            </a:r>
            <a:r>
              <a:rPr lang="en-US" altLang="zh-CN" i="1" dirty="0">
                <a:solidFill>
                  <a:srgbClr val="000000"/>
                </a:solidFill>
                <a:ea typeface="宋体" panose="02010600030101010101" pitchFamily="2" charset="-122"/>
              </a:rPr>
              <a:t>.</a:t>
            </a:r>
            <a:endParaRPr lang="zh-CN" altLang="en-US" dirty="0"/>
          </a:p>
        </p:txBody>
      </p:sp>
      <p:sp>
        <p:nvSpPr>
          <p:cNvPr id="3" name="矩形 2"/>
          <p:cNvSpPr/>
          <p:nvPr/>
        </p:nvSpPr>
        <p:spPr>
          <a:xfrm>
            <a:off x="8934500" y="1943943"/>
            <a:ext cx="7771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8929910" y="2408041"/>
            <a:ext cx="77626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4918423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69799291"/>
              </p:ext>
            </p:extLst>
          </p:nvPr>
        </p:nvGraphicFramePr>
        <p:xfrm>
          <a:off x="504825" y="1071563"/>
          <a:ext cx="11645900" cy="893762"/>
        </p:xfrm>
        <a:graphic>
          <a:graphicData uri="http://schemas.openxmlformats.org/presentationml/2006/ole">
            <mc:AlternateContent xmlns:mc="http://schemas.openxmlformats.org/markup-compatibility/2006">
              <mc:Choice xmlns:v="urn:schemas-microsoft-com:vml" Requires="v">
                <p:oleObj spid="_x0000_s2084" name="文档" r:id="rId4" imgW="3826872" imgH="296488" progId="Word.Document.12">
                  <p:embed/>
                </p:oleObj>
              </mc:Choice>
              <mc:Fallback>
                <p:oleObj name="文档" r:id="rId4" imgW="3826872" imgH="296488" progId="Word.Document.12">
                  <p:embed/>
                  <p:pic>
                    <p:nvPicPr>
                      <p:cNvPr id="0" name=""/>
                      <p:cNvPicPr/>
                      <p:nvPr/>
                    </p:nvPicPr>
                    <p:blipFill>
                      <a:blip r:embed="rId5"/>
                      <a:stretch>
                        <a:fillRect/>
                      </a:stretch>
                    </p:blipFill>
                    <p:spPr>
                      <a:xfrm>
                        <a:off x="504825" y="1071563"/>
                        <a:ext cx="11645900" cy="893762"/>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986229116"/>
              </p:ext>
            </p:extLst>
          </p:nvPr>
        </p:nvGraphicFramePr>
        <p:xfrm>
          <a:off x="504452" y="2087959"/>
          <a:ext cx="11671959" cy="2241540"/>
        </p:xfrm>
        <a:graphic>
          <a:graphicData uri="http://schemas.openxmlformats.org/presentationml/2006/ole">
            <mc:AlternateContent xmlns:mc="http://schemas.openxmlformats.org/markup-compatibility/2006">
              <mc:Choice xmlns:v="urn:schemas-microsoft-com:vml" Requires="v">
                <p:oleObj spid="_x0000_s2085" name="文档" r:id="rId7" imgW="3837724" imgH="737374" progId="Word.Document.12">
                  <p:embed/>
                </p:oleObj>
              </mc:Choice>
              <mc:Fallback>
                <p:oleObj name="文档" r:id="rId7" imgW="3837724" imgH="737374" progId="Word.Document.12">
                  <p:embed/>
                  <p:pic>
                    <p:nvPicPr>
                      <p:cNvPr id="0" name=""/>
                      <p:cNvPicPr/>
                      <p:nvPr/>
                    </p:nvPicPr>
                    <p:blipFill>
                      <a:blip r:embed="rId8"/>
                      <a:stretch>
                        <a:fillRect/>
                      </a:stretch>
                    </p:blipFill>
                    <p:spPr>
                      <a:xfrm>
                        <a:off x="504452" y="2087959"/>
                        <a:ext cx="11671959" cy="2241540"/>
                      </a:xfrm>
                      <a:prstGeom prst="rect">
                        <a:avLst/>
                      </a:prstGeom>
                    </p:spPr>
                  </p:pic>
                </p:oleObj>
              </mc:Fallback>
            </mc:AlternateContent>
          </a:graphicData>
        </a:graphic>
      </p:graphicFrame>
      <p:sp>
        <p:nvSpPr>
          <p:cNvPr id="4" name="矩形 3"/>
          <p:cNvSpPr>
            <a:spLocks noChangeAspect="1"/>
          </p:cNvSpPr>
          <p:nvPr/>
        </p:nvSpPr>
        <p:spPr>
          <a:xfrm>
            <a:off x="504452" y="4436611"/>
            <a:ext cx="2432076"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R,(0,1</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4281672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739191"/>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二、与指数函数有关的函数的单调性</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smtClean="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对于函数</a:t>
            </a:r>
            <a:r>
              <a:rPr lang="en-US" altLang="zh-CN" i="1" dirty="0">
                <a:solidFill>
                  <a:srgbClr val="000000"/>
                </a:solidFill>
                <a:ea typeface="宋体" panose="02010600030101010101" pitchFamily="2" charset="-122"/>
              </a:rPr>
              <a:t>y=</a:t>
            </a:r>
            <a:r>
              <a:rPr lang="en-US" altLang="zh-CN" i="1" dirty="0" err="1">
                <a:solidFill>
                  <a:srgbClr val="000000"/>
                </a:solidFill>
                <a:ea typeface="宋体" panose="02010600030101010101" pitchFamily="2" charset="-122"/>
              </a:rPr>
              <a:t>a</a:t>
            </a:r>
            <a:r>
              <a:rPr lang="en-US" altLang="zh-CN" i="1" baseline="30000" dirty="0" err="1">
                <a:solidFill>
                  <a:srgbClr val="000000"/>
                </a:solidFill>
                <a:ea typeface="宋体" panose="02010600030101010101" pitchFamily="2" charset="-122"/>
              </a:rPr>
              <a:t>f</a:t>
            </a:r>
            <a:r>
              <a:rPr lang="en-US" altLang="zh-CN" baseline="30000" dirty="0">
                <a:solidFill>
                  <a:srgbClr val="000000"/>
                </a:solidFill>
                <a:ea typeface="宋体" panose="02010600030101010101" pitchFamily="2" charset="-122"/>
              </a:rPr>
              <a:t>(</a:t>
            </a:r>
            <a:r>
              <a:rPr lang="en-US" altLang="zh-CN" i="1" baseline="30000" dirty="0">
                <a:solidFill>
                  <a:srgbClr val="000000"/>
                </a:solidFill>
                <a:ea typeface="宋体" panose="02010600030101010101" pitchFamily="2" charset="-122"/>
              </a:rPr>
              <a:t>x</a:t>
            </a:r>
            <a:r>
              <a:rPr lang="en-US" altLang="zh-CN" baseline="30000"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a&gt;</a:t>
            </a:r>
            <a:r>
              <a:rPr lang="en-US" altLang="zh-CN" dirty="0">
                <a:solidFill>
                  <a:srgbClr val="000000"/>
                </a:solidFill>
                <a:ea typeface="宋体" panose="02010600030101010101" pitchFamily="2" charset="-122"/>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rPr>
              <a:t>a</a:t>
            </a:r>
            <a:r>
              <a:rPr lang="en-US" altLang="zh-CN" dirty="0">
                <a:solidFill>
                  <a:srgbClr val="000000"/>
                </a:solidFill>
                <a:ea typeface="宋体" panose="02010600030101010101" pitchFamily="2" charset="-122"/>
              </a:rPr>
              <a:t>≠1),</a:t>
            </a:r>
            <a:r>
              <a:rPr lang="zh-CN" altLang="zh-CN" dirty="0">
                <a:solidFill>
                  <a:srgbClr val="000000"/>
                </a:solidFill>
                <a:ea typeface="宋体" panose="02010600030101010101" pitchFamily="2" charset="-122"/>
                <a:cs typeface="Times New Roman" panose="02020603050405020304" pitchFamily="18" charset="0"/>
              </a:rPr>
              <a:t>其定义域为区间</a:t>
            </a:r>
            <a:r>
              <a:rPr lang="en-US" altLang="zh-CN" i="1" dirty="0">
                <a:solidFill>
                  <a:srgbClr val="000000"/>
                </a:solidFill>
                <a:ea typeface="宋体" panose="02010600030101010101" pitchFamily="2" charset="-122"/>
              </a:rPr>
              <a:t>I</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若令</a:t>
            </a:r>
            <a:r>
              <a:rPr lang="en-US" altLang="zh-CN" i="1" dirty="0">
                <a:solidFill>
                  <a:srgbClr val="000000"/>
                </a:solidFill>
                <a:ea typeface="宋体" panose="02010600030101010101" pitchFamily="2" charset="-122"/>
              </a:rPr>
              <a:t>t=f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rPr>
              <a:t>y=a</a:t>
            </a:r>
            <a:r>
              <a:rPr lang="en-US" altLang="zh-CN" i="1" baseline="30000" dirty="0">
                <a:solidFill>
                  <a:srgbClr val="000000"/>
                </a:solidFill>
                <a:ea typeface="宋体" panose="02010600030101010101" pitchFamily="2" charset="-122"/>
              </a:rPr>
              <a:t>t</a:t>
            </a:r>
            <a:r>
              <a:rPr lang="en-US" altLang="zh-CN" i="1"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i="1"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的增大而增大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怎样变化</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怎样变化</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i="1"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的增大而增大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怎样变化</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怎样变化</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楷体" panose="02010609060101010101" pitchFamily="49" charset="-122"/>
                <a:cs typeface="Times New Roman" panose="02020603050405020304" pitchFamily="18" charset="0"/>
              </a:rPr>
              <a:t>的增大而增大</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的增大而增大</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楷体" panose="02010609060101010101" pitchFamily="49" charset="-122"/>
                <a:cs typeface="Times New Roman" panose="02020603050405020304" pitchFamily="18" charset="0"/>
              </a:rPr>
              <a:t>的增大而减小</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的增大而减小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7361216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randombar(horizontal)">
                                      <p:cBhvr>
                                        <p:cTn id="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648126"/>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的单调递增区间就是</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smtClean="0">
                <a:ea typeface="宋体" panose="02010600030101010101" pitchFamily="2" charset="-122"/>
                <a:cs typeface="Times New Roman" panose="02020603050405020304" pitchFamily="18" charset="0"/>
              </a:rPr>
              <a:t>单调</a:t>
            </a:r>
            <a:r>
              <a:rPr lang="zh-CN" altLang="zh-CN" dirty="0">
                <a:ea typeface="宋体" panose="02010600030101010101" pitchFamily="2" charset="-122"/>
                <a:cs typeface="Times New Roman" panose="02020603050405020304" pitchFamily="18" charset="0"/>
              </a:rPr>
              <a:t>递增</a:t>
            </a:r>
            <a:r>
              <a:rPr lang="zh-CN" altLang="zh-CN" dirty="0">
                <a:solidFill>
                  <a:srgbClr val="000000"/>
                </a:solidFill>
                <a:ea typeface="宋体" panose="02010600030101010101" pitchFamily="2" charset="-122"/>
                <a:cs typeface="Times New Roman" panose="02020603050405020304" pitchFamily="18" charset="0"/>
              </a:rPr>
              <a:t>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的单调递减区间就是</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a:t>
            </a:r>
            <a:r>
              <a:rPr lang="zh-CN" altLang="zh-CN" dirty="0">
                <a:ea typeface="宋体" panose="02010600030101010101" pitchFamily="2" charset="-122"/>
                <a:cs typeface="Times New Roman" panose="02020603050405020304" pitchFamily="18" charset="0"/>
              </a:rPr>
              <a:t>单调递减</a:t>
            </a:r>
            <a:r>
              <a:rPr lang="zh-CN" altLang="zh-CN" dirty="0">
                <a:solidFill>
                  <a:srgbClr val="000000"/>
                </a:solidFill>
                <a:ea typeface="宋体" panose="02010600030101010101" pitchFamily="2" charset="-122"/>
                <a:cs typeface="Times New Roman" panose="02020603050405020304" pitchFamily="18" charset="0"/>
              </a:rPr>
              <a:t>区间</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的单调递增区间就是</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a:t>
            </a:r>
            <a:r>
              <a:rPr lang="zh-CN" altLang="zh-CN" dirty="0">
                <a:ea typeface="宋体" panose="02010600030101010101" pitchFamily="2" charset="-122"/>
                <a:cs typeface="Times New Roman" panose="02020603050405020304" pitchFamily="18" charset="0"/>
              </a:rPr>
              <a:t>单调递减</a:t>
            </a:r>
            <a:r>
              <a:rPr lang="zh-CN" altLang="zh-CN" dirty="0">
                <a:solidFill>
                  <a:srgbClr val="000000"/>
                </a:solidFill>
                <a:ea typeface="宋体" panose="02010600030101010101" pitchFamily="2" charset="-122"/>
                <a:cs typeface="Times New Roman" panose="02020603050405020304" pitchFamily="18" charset="0"/>
              </a:rPr>
              <a:t>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的单调递减区间就是</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a:t>
            </a:r>
            <a:r>
              <a:rPr lang="zh-CN" altLang="zh-CN" dirty="0">
                <a:ea typeface="宋体" panose="02010600030101010101" pitchFamily="2" charset="-122"/>
                <a:cs typeface="Times New Roman" panose="02020603050405020304" pitchFamily="18" charset="0"/>
              </a:rPr>
              <a:t>单调递增</a:t>
            </a:r>
            <a:r>
              <a:rPr lang="zh-CN" altLang="zh-CN" dirty="0">
                <a:solidFill>
                  <a:srgbClr val="000000"/>
                </a:solidFill>
                <a:ea typeface="宋体" panose="02010600030101010101" pitchFamily="2" charset="-122"/>
                <a:cs typeface="Times New Roman" panose="02020603050405020304" pitchFamily="18" charset="0"/>
              </a:rPr>
              <a:t>区间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9318925" y="1715219"/>
            <a:ext cx="164125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9314753" y="2179317"/>
            <a:ext cx="1639395" cy="0"/>
          </a:xfrm>
          <a:prstGeom prst="line">
            <a:avLst/>
          </a:prstGeom>
        </p:spPr>
        <p:style>
          <a:lnRef idx="2">
            <a:schemeClr val="dk1"/>
          </a:lnRef>
          <a:fillRef idx="0">
            <a:schemeClr val="dk1"/>
          </a:fillRef>
          <a:effectRef idx="1">
            <a:schemeClr val="dk1"/>
          </a:effectRef>
          <a:fontRef idx="minor">
            <a:schemeClr val="tx1"/>
          </a:fontRef>
        </p:style>
      </p:cxnSp>
      <p:sp>
        <p:nvSpPr>
          <p:cNvPr id="5" name="矩形 4"/>
          <p:cNvSpPr/>
          <p:nvPr/>
        </p:nvSpPr>
        <p:spPr>
          <a:xfrm>
            <a:off x="7081017" y="2305506"/>
            <a:ext cx="164125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7076845" y="2769604"/>
            <a:ext cx="1639395"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9433445" y="2882094"/>
            <a:ext cx="164125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9429273" y="3346192"/>
            <a:ext cx="1639395"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7074139" y="3461882"/>
            <a:ext cx="164125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7069967" y="3925980"/>
            <a:ext cx="163939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9924788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82603"/>
            <a:ext cx="10807700" cy="36831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函数</a:t>
            </a:r>
            <a:r>
              <a:rPr lang="en-US" altLang="zh-CN" dirty="0" smtClean="0">
                <a:solidFill>
                  <a:srgbClr val="000000"/>
                </a:solidFill>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a:solidFill>
                  <a:srgbClr val="000000"/>
                </a:solidFill>
                <a:ea typeface="宋体" panose="02010600030101010101" pitchFamily="2" charset="-122"/>
                <a:cs typeface="Times New Roman" panose="02020603050405020304" pitchFamily="18" charset="0"/>
              </a:rPr>
              <a:t>单调递增区间是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单调递减区间是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令</a:t>
            </a:r>
            <a:r>
              <a:rPr lang="en-US" altLang="zh-CN" i="1" dirty="0">
                <a:solidFill>
                  <a:srgbClr val="000000"/>
                </a:solidFill>
                <a:ea typeface="宋体" panose="02010600030101010101" pitchFamily="2" charset="-122"/>
                <a:cs typeface="Times New Roman" panose="02020603050405020304" pitchFamily="18" charset="0"/>
              </a:rPr>
              <a:t>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4</a:t>
            </a:r>
            <a:r>
              <a:rPr lang="en-US" altLang="zh-CN" i="1" baseline="30000"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4</a:t>
            </a:r>
            <a:r>
              <a:rPr lang="en-US" altLang="zh-CN" i="1" baseline="30000"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楷体" panose="02010609060101010101" pitchFamily="49" charset="-122"/>
                <a:cs typeface="Times New Roman" panose="02020603050405020304" pitchFamily="18" charset="0"/>
              </a:rPr>
              <a:t>在定义域上是增函数</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的单调递增区间是</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单调递减区间是</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的单调递增区间是</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单调递减区间是</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159901628"/>
              </p:ext>
            </p:extLst>
          </p:nvPr>
        </p:nvGraphicFramePr>
        <p:xfrm>
          <a:off x="1708269" y="1182603"/>
          <a:ext cx="11671959" cy="568880"/>
        </p:xfrm>
        <a:graphic>
          <a:graphicData uri="http://schemas.openxmlformats.org/presentationml/2006/ole">
            <mc:AlternateContent xmlns:mc="http://schemas.openxmlformats.org/markup-compatibility/2006">
              <mc:Choice xmlns:v="urn:schemas-microsoft-com:vml" Requires="v">
                <p:oleObj spid="_x0000_s3090" name="文档" r:id="rId4" imgW="3826872" imgH="186518" progId="Word.Document.12">
                  <p:embed/>
                </p:oleObj>
              </mc:Choice>
              <mc:Fallback>
                <p:oleObj name="文档" r:id="rId4" imgW="3826872" imgH="186518" progId="Word.Document.12">
                  <p:embed/>
                  <p:pic>
                    <p:nvPicPr>
                      <p:cNvPr id="0" name=""/>
                      <p:cNvPicPr/>
                      <p:nvPr/>
                    </p:nvPicPr>
                    <p:blipFill>
                      <a:blip r:embed="rId5"/>
                      <a:stretch>
                        <a:fillRect/>
                      </a:stretch>
                    </p:blipFill>
                    <p:spPr>
                      <a:xfrm>
                        <a:off x="1708269" y="1182603"/>
                        <a:ext cx="11671959" cy="568880"/>
                      </a:xfrm>
                      <a:prstGeom prst="rect">
                        <a:avLst/>
                      </a:prstGeom>
                    </p:spPr>
                  </p:pic>
                </p:oleObj>
              </mc:Fallback>
            </mc:AlternateContent>
          </a:graphicData>
        </a:graphic>
      </p:graphicFrame>
    </p:spTree>
    <p:extLst>
      <p:ext uri="{BB962C8B-B14F-4D97-AF65-F5344CB8AC3E}">
        <p14:creationId xmlns:p14="http://schemas.microsoft.com/office/powerpoint/2010/main" val="342933452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8"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75791"/>
            <a:ext cx="10807700" cy="594508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若函数</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的定义域与值域相同</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4</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的单调递增区间是</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单调递减区间是</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 </a:t>
            </a: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则当</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有最大值时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也有最大值</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若函数</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的值域为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的值域必为</a:t>
            </a:r>
            <a:r>
              <a:rPr lang="en-US" altLang="zh-CN" dirty="0">
                <a:solidFill>
                  <a:srgbClr val="000000"/>
                </a:solidFill>
                <a:ea typeface="宋体" panose="02010600030101010101" pitchFamily="2" charset="-122"/>
                <a:cs typeface="Times New Roman" panose="02020603050405020304" pitchFamily="18" charset="0"/>
              </a:rPr>
              <a:t>R</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1699093" y="3065132"/>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0369549" y="4248199"/>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9577461" y="4824263"/>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944613" y="5894960"/>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9556868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580357" y="719807"/>
            <a:ext cx="10437264"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与</a:t>
            </a:r>
            <a:r>
              <a:rPr lang="zh-CN" altLang="zh-CN" dirty="0"/>
              <a:t>指数函数有关的函数的定义域与值域</a:t>
            </a:r>
          </a:p>
        </p:txBody>
      </p:sp>
      <p:graphicFrame>
        <p:nvGraphicFramePr>
          <p:cNvPr id="2" name="对象 1"/>
          <p:cNvGraphicFramePr>
            <a:graphicFrameLocks noChangeAspect="1"/>
          </p:cNvGraphicFramePr>
          <p:nvPr>
            <p:extLst>
              <p:ext uri="{D42A27DB-BD31-4B8C-83A1-F6EECF244321}">
                <p14:modId xmlns:p14="http://schemas.microsoft.com/office/powerpoint/2010/main" val="3527585145"/>
              </p:ext>
            </p:extLst>
          </p:nvPr>
        </p:nvGraphicFramePr>
        <p:xfrm>
          <a:off x="576461" y="2087959"/>
          <a:ext cx="11671959" cy="2242634"/>
        </p:xfrm>
        <a:graphic>
          <a:graphicData uri="http://schemas.openxmlformats.org/presentationml/2006/ole">
            <mc:AlternateContent xmlns:mc="http://schemas.openxmlformats.org/markup-compatibility/2006">
              <mc:Choice xmlns:v="urn:schemas-microsoft-com:vml" Requires="v">
                <p:oleObj spid="_x0000_s4111" name="文档" r:id="rId4" imgW="3826872" imgH="735290" progId="Word.Document.12">
                  <p:embed/>
                </p:oleObj>
              </mc:Choice>
              <mc:Fallback>
                <p:oleObj name="文档" r:id="rId4" imgW="3826872" imgH="735290" progId="Word.Document.12">
                  <p:embed/>
                  <p:pic>
                    <p:nvPicPr>
                      <p:cNvPr id="0" name=""/>
                      <p:cNvPicPr/>
                      <p:nvPr/>
                    </p:nvPicPr>
                    <p:blipFill>
                      <a:blip r:embed="rId5"/>
                      <a:stretch>
                        <a:fillRect/>
                      </a:stretch>
                    </p:blipFill>
                    <p:spPr>
                      <a:xfrm>
                        <a:off x="576461" y="2087959"/>
                        <a:ext cx="11671959" cy="2242634"/>
                      </a:xfrm>
                      <a:prstGeom prst="rect">
                        <a:avLst/>
                      </a:prstGeom>
                    </p:spPr>
                  </p:pic>
                </p:oleObj>
              </mc:Fallback>
            </mc:AlternateContent>
          </a:graphicData>
        </a:graphic>
      </p:graphicFrame>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4221179882"/>
              </p:ext>
            </p:extLst>
          </p:nvPr>
        </p:nvGraphicFramePr>
        <p:xfrm>
          <a:off x="504825" y="774700"/>
          <a:ext cx="11618913" cy="5432425"/>
        </p:xfrm>
        <a:graphic>
          <a:graphicData uri="http://schemas.openxmlformats.org/presentationml/2006/ole">
            <mc:AlternateContent xmlns:mc="http://schemas.openxmlformats.org/markup-compatibility/2006">
              <mc:Choice xmlns:v="urn:schemas-microsoft-com:vml" Requires="v">
                <p:oleObj spid="_x0000_s5135" name="文档" r:id="rId4" imgW="3837724" imgH="1803953" progId="Word.Document.12">
                  <p:embed/>
                </p:oleObj>
              </mc:Choice>
              <mc:Fallback>
                <p:oleObj name="文档" r:id="rId4" imgW="3837724" imgH="1803953" progId="Word.Document.12">
                  <p:embed/>
                  <p:pic>
                    <p:nvPicPr>
                      <p:cNvPr id="0" name=""/>
                      <p:cNvPicPr/>
                      <p:nvPr/>
                    </p:nvPicPr>
                    <p:blipFill>
                      <a:blip r:embed="rId5"/>
                      <a:stretch>
                        <a:fillRect/>
                      </a:stretch>
                    </p:blipFill>
                    <p:spPr>
                      <a:xfrm>
                        <a:off x="504825" y="774700"/>
                        <a:ext cx="11618913" cy="5432425"/>
                      </a:xfrm>
                      <a:prstGeom prst="rect">
                        <a:avLst/>
                      </a:prstGeom>
                    </p:spPr>
                  </p:pic>
                </p:oleObj>
              </mc:Fallback>
            </mc:AlternateContent>
          </a:graphicData>
        </a:graphic>
      </p:graphicFrame>
    </p:spTree>
    <p:extLst>
      <p:ext uri="{BB962C8B-B14F-4D97-AF65-F5344CB8AC3E}">
        <p14:creationId xmlns:p14="http://schemas.microsoft.com/office/powerpoint/2010/main" val="111715305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245660885"/>
              </p:ext>
            </p:extLst>
          </p:nvPr>
        </p:nvGraphicFramePr>
        <p:xfrm>
          <a:off x="422613" y="801647"/>
          <a:ext cx="11671959" cy="5434496"/>
        </p:xfrm>
        <a:graphic>
          <a:graphicData uri="http://schemas.openxmlformats.org/presentationml/2006/ole">
            <mc:AlternateContent xmlns:mc="http://schemas.openxmlformats.org/markup-compatibility/2006">
              <mc:Choice xmlns:v="urn:schemas-microsoft-com:vml" Requires="v">
                <p:oleObj spid="_x0000_s6159" name="文档" r:id="rId4" imgW="3826872" imgH="1781802" progId="Word.Document.12">
                  <p:embed/>
                </p:oleObj>
              </mc:Choice>
              <mc:Fallback>
                <p:oleObj name="文档" r:id="rId4" imgW="3826872" imgH="1781802" progId="Word.Document.12">
                  <p:embed/>
                  <p:pic>
                    <p:nvPicPr>
                      <p:cNvPr id="0" name=""/>
                      <p:cNvPicPr/>
                      <p:nvPr/>
                    </p:nvPicPr>
                    <p:blipFill>
                      <a:blip r:embed="rId5"/>
                      <a:stretch>
                        <a:fillRect/>
                      </a:stretch>
                    </p:blipFill>
                    <p:spPr>
                      <a:xfrm>
                        <a:off x="422613" y="801647"/>
                        <a:ext cx="11671959" cy="5434496"/>
                      </a:xfrm>
                      <a:prstGeom prst="rect">
                        <a:avLst/>
                      </a:prstGeom>
                    </p:spPr>
                  </p:pic>
                </p:oleObj>
              </mc:Fallback>
            </mc:AlternateContent>
          </a:graphicData>
        </a:graphic>
      </p:graphicFrame>
    </p:spTree>
    <p:extLst>
      <p:ext uri="{BB962C8B-B14F-4D97-AF65-F5344CB8AC3E}">
        <p14:creationId xmlns:p14="http://schemas.microsoft.com/office/powerpoint/2010/main" val="185745343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20134"/>
            <a:ext cx="10807700" cy="2456057"/>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求形如</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的函数的定义域与值域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首先利用换元法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将函数转化为</a:t>
            </a:r>
            <a:r>
              <a:rPr lang="en-US" altLang="zh-CN" i="1" dirty="0">
                <a:solidFill>
                  <a:srgbClr val="000000"/>
                </a:solidFill>
                <a:ea typeface="宋体" panose="02010600030101010101" pitchFamily="2" charset="-122"/>
                <a:cs typeface="Times New Roman" panose="02020603050405020304" pitchFamily="18" charset="0"/>
              </a:rPr>
              <a:t>y=f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然后根据函数</a:t>
            </a:r>
            <a:r>
              <a:rPr lang="en-US" altLang="zh-CN" i="1" dirty="0">
                <a:solidFill>
                  <a:srgbClr val="000000"/>
                </a:solidFill>
                <a:ea typeface="宋体" panose="02010600030101010101" pitchFamily="2" charset="-122"/>
                <a:cs typeface="Times New Roman" panose="02020603050405020304" pitchFamily="18" charset="0"/>
              </a:rPr>
              <a:t>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确定原函数的定义域与值域</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5656934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252007679"/>
              </p:ext>
            </p:extLst>
          </p:nvPr>
        </p:nvGraphicFramePr>
        <p:xfrm>
          <a:off x="504453" y="657631"/>
          <a:ext cx="11671959" cy="1429325"/>
        </p:xfrm>
        <a:graphic>
          <a:graphicData uri="http://schemas.openxmlformats.org/presentationml/2006/ole">
            <mc:AlternateContent xmlns:mc="http://schemas.openxmlformats.org/markup-compatibility/2006">
              <mc:Choice xmlns:v="urn:schemas-microsoft-com:vml" Requires="v">
                <p:oleObj spid="_x0000_s7196" name="文档" r:id="rId4" imgW="3826872" imgH="468631" progId="Word.Document.12">
                  <p:embed/>
                </p:oleObj>
              </mc:Choice>
              <mc:Fallback>
                <p:oleObj name="文档" r:id="rId4" imgW="3826872" imgH="468631" progId="Word.Document.12">
                  <p:embed/>
                  <p:pic>
                    <p:nvPicPr>
                      <p:cNvPr id="0" name=""/>
                      <p:cNvPicPr/>
                      <p:nvPr/>
                    </p:nvPicPr>
                    <p:blipFill>
                      <a:blip r:embed="rId5"/>
                      <a:stretch>
                        <a:fillRect/>
                      </a:stretch>
                    </p:blipFill>
                    <p:spPr>
                      <a:xfrm>
                        <a:off x="504453" y="657631"/>
                        <a:ext cx="11671959" cy="142932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210196380"/>
              </p:ext>
            </p:extLst>
          </p:nvPr>
        </p:nvGraphicFramePr>
        <p:xfrm>
          <a:off x="504453" y="2164821"/>
          <a:ext cx="11671959" cy="4148762"/>
        </p:xfrm>
        <a:graphic>
          <a:graphicData uri="http://schemas.openxmlformats.org/presentationml/2006/ole">
            <mc:AlternateContent xmlns:mc="http://schemas.openxmlformats.org/markup-compatibility/2006">
              <mc:Choice xmlns:v="urn:schemas-microsoft-com:vml" Requires="v">
                <p:oleObj spid="_x0000_s7197" name="文档" r:id="rId7" imgW="3826872" imgH="1360250" progId="Word.Document.12">
                  <p:embed/>
                </p:oleObj>
              </mc:Choice>
              <mc:Fallback>
                <p:oleObj name="文档" r:id="rId7" imgW="3826872" imgH="1360250" progId="Word.Document.12">
                  <p:embed/>
                  <p:pic>
                    <p:nvPicPr>
                      <p:cNvPr id="0" name=""/>
                      <p:cNvPicPr/>
                      <p:nvPr/>
                    </p:nvPicPr>
                    <p:blipFill>
                      <a:blip r:embed="rId8"/>
                      <a:stretch>
                        <a:fillRect/>
                      </a:stretch>
                    </p:blipFill>
                    <p:spPr>
                      <a:xfrm>
                        <a:off x="504453" y="2164821"/>
                        <a:ext cx="11671959" cy="4148762"/>
                      </a:xfrm>
                      <a:prstGeom prst="rect">
                        <a:avLst/>
                      </a:prstGeom>
                    </p:spPr>
                  </p:pic>
                </p:oleObj>
              </mc:Fallback>
            </mc:AlternateContent>
          </a:graphicData>
        </a:graphic>
      </p:graphicFrame>
    </p:spTree>
    <p:extLst>
      <p:ext uri="{BB962C8B-B14F-4D97-AF65-F5344CB8AC3E}">
        <p14:creationId xmlns:p14="http://schemas.microsoft.com/office/powerpoint/2010/main" val="306569720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580357" y="719807"/>
            <a:ext cx="10437264"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与</a:t>
            </a:r>
            <a:r>
              <a:rPr lang="zh-CN" altLang="zh-CN" dirty="0"/>
              <a:t>指数函数有关的函数的奇偶性及其应用</a:t>
            </a:r>
          </a:p>
        </p:txBody>
      </p:sp>
      <p:graphicFrame>
        <p:nvGraphicFramePr>
          <p:cNvPr id="2" name="对象 1"/>
          <p:cNvGraphicFramePr>
            <a:graphicFrameLocks noChangeAspect="1"/>
          </p:cNvGraphicFramePr>
          <p:nvPr>
            <p:extLst>
              <p:ext uri="{D42A27DB-BD31-4B8C-83A1-F6EECF244321}">
                <p14:modId xmlns:p14="http://schemas.microsoft.com/office/powerpoint/2010/main" val="1026670543"/>
              </p:ext>
            </p:extLst>
          </p:nvPr>
        </p:nvGraphicFramePr>
        <p:xfrm>
          <a:off x="288429" y="1367879"/>
          <a:ext cx="11671959" cy="1354789"/>
        </p:xfrm>
        <a:graphic>
          <a:graphicData uri="http://schemas.openxmlformats.org/presentationml/2006/ole">
            <mc:AlternateContent xmlns:mc="http://schemas.openxmlformats.org/markup-compatibility/2006">
              <mc:Choice xmlns:v="urn:schemas-microsoft-com:vml" Requires="v">
                <p:oleObj spid="_x0000_s8218" name="文档" r:id="rId4" imgW="3826872" imgH="444193" progId="Word.Document.12">
                  <p:embed/>
                </p:oleObj>
              </mc:Choice>
              <mc:Fallback>
                <p:oleObj name="文档" r:id="rId4" imgW="3826872" imgH="444193" progId="Word.Document.12">
                  <p:embed/>
                  <p:pic>
                    <p:nvPicPr>
                      <p:cNvPr id="0" name=""/>
                      <p:cNvPicPr/>
                      <p:nvPr/>
                    </p:nvPicPr>
                    <p:blipFill>
                      <a:blip r:embed="rId5"/>
                      <a:stretch>
                        <a:fillRect/>
                      </a:stretch>
                    </p:blipFill>
                    <p:spPr>
                      <a:xfrm>
                        <a:off x="288429" y="1367879"/>
                        <a:ext cx="11671959" cy="1354789"/>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667134675"/>
              </p:ext>
            </p:extLst>
          </p:nvPr>
        </p:nvGraphicFramePr>
        <p:xfrm>
          <a:off x="288429" y="2750876"/>
          <a:ext cx="11671959" cy="3399027"/>
        </p:xfrm>
        <a:graphic>
          <a:graphicData uri="http://schemas.openxmlformats.org/presentationml/2006/ole">
            <mc:AlternateContent xmlns:mc="http://schemas.openxmlformats.org/markup-compatibility/2006">
              <mc:Choice xmlns:v="urn:schemas-microsoft-com:vml" Requires="v">
                <p:oleObj spid="_x0000_s8219" name="文档" r:id="rId7" imgW="3826872" imgH="1114435" progId="Word.Document.12">
                  <p:embed/>
                </p:oleObj>
              </mc:Choice>
              <mc:Fallback>
                <p:oleObj name="文档" r:id="rId7" imgW="3826872" imgH="1114435" progId="Word.Document.12">
                  <p:embed/>
                  <p:pic>
                    <p:nvPicPr>
                      <p:cNvPr id="0" name=""/>
                      <p:cNvPicPr/>
                      <p:nvPr/>
                    </p:nvPicPr>
                    <p:blipFill>
                      <a:blip r:embed="rId8"/>
                      <a:stretch>
                        <a:fillRect/>
                      </a:stretch>
                    </p:blipFill>
                    <p:spPr>
                      <a:xfrm>
                        <a:off x="288429" y="2750876"/>
                        <a:ext cx="11671959" cy="3399027"/>
                      </a:xfrm>
                      <a:prstGeom prst="rect">
                        <a:avLst/>
                      </a:prstGeom>
                    </p:spPr>
                  </p:pic>
                </p:oleObj>
              </mc:Fallback>
            </mc:AlternateContent>
          </a:graphicData>
        </a:graphic>
      </p:graphicFrame>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258352"/>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pPr>
            <a:r>
              <a:rPr lang="zh-CN" altLang="zh-CN" dirty="0" smtClean="0">
                <a:solidFill>
                  <a:srgbClr val="000000"/>
                </a:solidFill>
                <a:ea typeface="仿宋" panose="02010609060101010101" pitchFamily="49" charset="-122"/>
                <a:cs typeface="Times New Roman" panose="02020603050405020304" pitchFamily="18" charset="0"/>
              </a:rPr>
              <a:t>判断</a:t>
            </a:r>
            <a:r>
              <a:rPr lang="zh-CN" altLang="zh-CN" dirty="0">
                <a:solidFill>
                  <a:srgbClr val="000000"/>
                </a:solidFill>
                <a:ea typeface="仿宋" panose="02010609060101010101" pitchFamily="49" charset="-122"/>
                <a:cs typeface="Times New Roman" panose="02020603050405020304" pitchFamily="18" charset="0"/>
              </a:rPr>
              <a:t>与指数函数有关的函数的奇偶性的方法与一般函数奇偶性的判断方法基本一样</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先要确定函数的定义域</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在其定义域关于原点对称的前提下</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再探究</a:t>
            </a:r>
            <a:r>
              <a:rPr lang="en-US" altLang="zh-CN" i="1" dirty="0">
                <a:solidFill>
                  <a:srgbClr val="000000"/>
                </a:solidFill>
                <a:ea typeface="宋体" panose="02010600030101010101" pitchFamily="2" charset="-122"/>
              </a:rPr>
              <a:t>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rPr>
              <a:t>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的关系</a:t>
            </a:r>
            <a:r>
              <a:rPr lang="en-US" altLang="zh-CN" dirty="0">
                <a:solidFill>
                  <a:srgbClr val="000000"/>
                </a:solidFill>
                <a:ea typeface="宋体" panose="02010600030101010101" pitchFamily="2" charset="-122"/>
              </a:rPr>
              <a:t>,</a:t>
            </a:r>
            <a:r>
              <a:rPr lang="zh-CN" altLang="zh-CN" smtClean="0">
                <a:solidFill>
                  <a:srgbClr val="000000"/>
                </a:solidFill>
                <a:ea typeface="仿宋" panose="02010609060101010101" pitchFamily="49" charset="-122"/>
                <a:cs typeface="Times New Roman" panose="02020603050405020304" pitchFamily="18" charset="0"/>
              </a:rPr>
              <a:t>这时需要</a:t>
            </a:r>
            <a:r>
              <a:rPr lang="zh-CN" altLang="zh-CN" dirty="0">
                <a:solidFill>
                  <a:srgbClr val="000000"/>
                </a:solidFill>
                <a:ea typeface="仿宋" panose="02010609060101010101" pitchFamily="49" charset="-122"/>
                <a:cs typeface="Times New Roman" panose="02020603050405020304" pitchFamily="18" charset="0"/>
              </a:rPr>
              <a:t>将</a:t>
            </a:r>
            <a:r>
              <a:rPr lang="en-US" altLang="zh-CN" i="1" dirty="0">
                <a:solidFill>
                  <a:srgbClr val="000000"/>
                </a:solidFill>
                <a:ea typeface="宋体" panose="02010600030101010101" pitchFamily="2" charset="-122"/>
              </a:rPr>
              <a:t>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的表达式利用指数运算的一些法则和性质进行转化变形</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以明确</a:t>
            </a:r>
            <a:r>
              <a:rPr lang="en-US" altLang="zh-CN" i="1" dirty="0">
                <a:solidFill>
                  <a:srgbClr val="000000"/>
                </a:solidFill>
                <a:ea typeface="宋体" panose="02010600030101010101" pitchFamily="2" charset="-122"/>
              </a:rPr>
              <a:t>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rPr>
              <a:t>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的关系</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从而得出奇偶性的结论</a:t>
            </a:r>
            <a:r>
              <a:rPr lang="en-US" altLang="zh-CN" i="1" dirty="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389754160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710014564"/>
              </p:ext>
            </p:extLst>
          </p:nvPr>
        </p:nvGraphicFramePr>
        <p:xfrm>
          <a:off x="290513" y="839788"/>
          <a:ext cx="11661775" cy="1236662"/>
        </p:xfrm>
        <a:graphic>
          <a:graphicData uri="http://schemas.openxmlformats.org/presentationml/2006/ole">
            <mc:AlternateContent xmlns:mc="http://schemas.openxmlformats.org/markup-compatibility/2006">
              <mc:Choice xmlns:v="urn:schemas-microsoft-com:vml" Requires="v">
                <p:oleObj spid="_x0000_s9254" name="文档" r:id="rId4" imgW="3826872" imgH="410411" progId="Word.Document.12">
                  <p:embed/>
                </p:oleObj>
              </mc:Choice>
              <mc:Fallback>
                <p:oleObj name="文档" r:id="rId4" imgW="3826872" imgH="410411" progId="Word.Document.12">
                  <p:embed/>
                  <p:pic>
                    <p:nvPicPr>
                      <p:cNvPr id="0" name=""/>
                      <p:cNvPicPr/>
                      <p:nvPr/>
                    </p:nvPicPr>
                    <p:blipFill>
                      <a:blip r:embed="rId5"/>
                      <a:stretch>
                        <a:fillRect/>
                      </a:stretch>
                    </p:blipFill>
                    <p:spPr>
                      <a:xfrm>
                        <a:off x="290513" y="839788"/>
                        <a:ext cx="11661775" cy="1236662"/>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901310712"/>
              </p:ext>
            </p:extLst>
          </p:nvPr>
        </p:nvGraphicFramePr>
        <p:xfrm>
          <a:off x="288428" y="2138655"/>
          <a:ext cx="11671959" cy="2944144"/>
        </p:xfrm>
        <a:graphic>
          <a:graphicData uri="http://schemas.openxmlformats.org/presentationml/2006/ole">
            <mc:AlternateContent xmlns:mc="http://schemas.openxmlformats.org/markup-compatibility/2006">
              <mc:Choice xmlns:v="urn:schemas-microsoft-com:vml" Requires="v">
                <p:oleObj spid="_x0000_s9255" name="文档" r:id="rId7" imgW="3826872" imgH="965293" progId="Word.Document.12">
                  <p:embed/>
                </p:oleObj>
              </mc:Choice>
              <mc:Fallback>
                <p:oleObj name="文档" r:id="rId7" imgW="3826872" imgH="965293" progId="Word.Document.12">
                  <p:embed/>
                  <p:pic>
                    <p:nvPicPr>
                      <p:cNvPr id="0" name=""/>
                      <p:cNvPicPr/>
                      <p:nvPr/>
                    </p:nvPicPr>
                    <p:blipFill>
                      <a:blip r:embed="rId8"/>
                      <a:stretch>
                        <a:fillRect/>
                      </a:stretch>
                    </p:blipFill>
                    <p:spPr>
                      <a:xfrm>
                        <a:off x="288428" y="2138655"/>
                        <a:ext cx="11671959" cy="294414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949113634"/>
              </p:ext>
            </p:extLst>
          </p:nvPr>
        </p:nvGraphicFramePr>
        <p:xfrm>
          <a:off x="288428" y="5177764"/>
          <a:ext cx="11671959" cy="697123"/>
        </p:xfrm>
        <a:graphic>
          <a:graphicData uri="http://schemas.openxmlformats.org/presentationml/2006/ole">
            <mc:AlternateContent xmlns:mc="http://schemas.openxmlformats.org/markup-compatibility/2006">
              <mc:Choice xmlns:v="urn:schemas-microsoft-com:vml" Requires="v">
                <p:oleObj spid="_x0000_s9256" name="文档" r:id="rId10" imgW="3826872" imgH="228565" progId="Word.Document.12">
                  <p:embed/>
                </p:oleObj>
              </mc:Choice>
              <mc:Fallback>
                <p:oleObj name="文档" r:id="rId10" imgW="3826872" imgH="228565" progId="Word.Document.12">
                  <p:embed/>
                  <p:pic>
                    <p:nvPicPr>
                      <p:cNvPr id="0" name=""/>
                      <p:cNvPicPr/>
                      <p:nvPr/>
                    </p:nvPicPr>
                    <p:blipFill>
                      <a:blip r:embed="rId11"/>
                      <a:stretch>
                        <a:fillRect/>
                      </a:stretch>
                    </p:blipFill>
                    <p:spPr>
                      <a:xfrm>
                        <a:off x="288428" y="5177764"/>
                        <a:ext cx="11671959" cy="697123"/>
                      </a:xfrm>
                      <a:prstGeom prst="rect">
                        <a:avLst/>
                      </a:prstGeom>
                    </p:spPr>
                  </p:pic>
                </p:oleObj>
              </mc:Fallback>
            </mc:AlternateContent>
          </a:graphicData>
        </a:graphic>
      </p:graphicFrame>
    </p:spTree>
    <p:extLst>
      <p:ext uri="{BB962C8B-B14F-4D97-AF65-F5344CB8AC3E}">
        <p14:creationId xmlns:p14="http://schemas.microsoft.com/office/powerpoint/2010/main" val="101611632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580357" y="719807"/>
            <a:ext cx="10437264"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与</a:t>
            </a:r>
            <a:r>
              <a:rPr lang="zh-CN" altLang="zh-CN" dirty="0"/>
              <a:t>指数函数有关的函数的单调性及其应用</a:t>
            </a:r>
          </a:p>
        </p:txBody>
      </p:sp>
      <p:graphicFrame>
        <p:nvGraphicFramePr>
          <p:cNvPr id="2" name="对象 1"/>
          <p:cNvGraphicFramePr>
            <a:graphicFrameLocks noChangeAspect="1"/>
          </p:cNvGraphicFramePr>
          <p:nvPr>
            <p:extLst>
              <p:ext uri="{D42A27DB-BD31-4B8C-83A1-F6EECF244321}">
                <p14:modId xmlns:p14="http://schemas.microsoft.com/office/powerpoint/2010/main" val="722055091"/>
              </p:ext>
            </p:extLst>
          </p:nvPr>
        </p:nvGraphicFramePr>
        <p:xfrm>
          <a:off x="360437" y="2015951"/>
          <a:ext cx="11671959" cy="1962031"/>
        </p:xfrm>
        <a:graphic>
          <a:graphicData uri="http://schemas.openxmlformats.org/presentationml/2006/ole">
            <mc:AlternateContent xmlns:mc="http://schemas.openxmlformats.org/markup-compatibility/2006">
              <mc:Choice xmlns:v="urn:schemas-microsoft-com:vml" Requires="v">
                <p:oleObj spid="_x0000_s10253" name="文档" r:id="rId4" imgW="3826872" imgH="643289" progId="Word.Document.12">
                  <p:embed/>
                </p:oleObj>
              </mc:Choice>
              <mc:Fallback>
                <p:oleObj name="文档" r:id="rId4" imgW="3826872" imgH="643289" progId="Word.Document.12">
                  <p:embed/>
                  <p:pic>
                    <p:nvPicPr>
                      <p:cNvPr id="0" name=""/>
                      <p:cNvPicPr/>
                      <p:nvPr/>
                    </p:nvPicPr>
                    <p:blipFill>
                      <a:blip r:embed="rId5"/>
                      <a:stretch>
                        <a:fillRect/>
                      </a:stretch>
                    </p:blipFill>
                    <p:spPr>
                      <a:xfrm>
                        <a:off x="360437" y="2015951"/>
                        <a:ext cx="11671959" cy="1962031"/>
                      </a:xfrm>
                      <a:prstGeom prst="rect">
                        <a:avLst/>
                      </a:prstGeom>
                    </p:spPr>
                  </p:pic>
                </p:oleObj>
              </mc:Fallback>
            </mc:AlternateContent>
          </a:graphicData>
        </a:graphic>
      </p:graphicFrame>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520764066"/>
              </p:ext>
            </p:extLst>
          </p:nvPr>
        </p:nvGraphicFramePr>
        <p:xfrm>
          <a:off x="504825" y="1150938"/>
          <a:ext cx="11661775" cy="3819525"/>
        </p:xfrm>
        <a:graphic>
          <a:graphicData uri="http://schemas.openxmlformats.org/presentationml/2006/ole">
            <mc:AlternateContent xmlns:mc="http://schemas.openxmlformats.org/markup-compatibility/2006">
              <mc:Choice xmlns:v="urn:schemas-microsoft-com:vml" Requires="v">
                <p:oleObj spid="_x0000_s11277" name="文档" r:id="rId4" imgW="3837724" imgH="1259486" progId="Word.Document.12">
                  <p:embed/>
                </p:oleObj>
              </mc:Choice>
              <mc:Fallback>
                <p:oleObj name="文档" r:id="rId4" imgW="3837724" imgH="1259486" progId="Word.Document.12">
                  <p:embed/>
                  <p:pic>
                    <p:nvPicPr>
                      <p:cNvPr id="0" name=""/>
                      <p:cNvPicPr/>
                      <p:nvPr/>
                    </p:nvPicPr>
                    <p:blipFill>
                      <a:blip r:embed="rId5"/>
                      <a:stretch>
                        <a:fillRect/>
                      </a:stretch>
                    </p:blipFill>
                    <p:spPr>
                      <a:xfrm>
                        <a:off x="504825" y="1150938"/>
                        <a:ext cx="11661775" cy="3819525"/>
                      </a:xfrm>
                      <a:prstGeom prst="rect">
                        <a:avLst/>
                      </a:prstGeom>
                    </p:spPr>
                  </p:pic>
                </p:oleObj>
              </mc:Fallback>
            </mc:AlternateContent>
          </a:graphicData>
        </a:graphic>
      </p:graphicFrame>
    </p:spTree>
    <p:extLst>
      <p:ext uri="{BB962C8B-B14F-4D97-AF65-F5344CB8AC3E}">
        <p14:creationId xmlns:p14="http://schemas.microsoft.com/office/powerpoint/2010/main" val="181607403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295871"/>
            <a:ext cx="11735791" cy="3512938"/>
            <a:chOff x="361950" y="1655911"/>
            <a:chExt cx="11735791" cy="3512938"/>
          </a:xfrm>
        </p:grpSpPr>
        <p:sp>
          <p:nvSpPr>
            <p:cNvPr id="2" name="矩形 1"/>
            <p:cNvSpPr>
              <a:spLocks noChangeAspect="1"/>
            </p:cNvSpPr>
            <p:nvPr/>
          </p:nvSpPr>
          <p:spPr>
            <a:xfrm>
              <a:off x="361950" y="1655911"/>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令</a:t>
              </a:r>
              <a:r>
                <a:rPr lang="en-US" altLang="zh-CN" i="1" dirty="0">
                  <a:solidFill>
                    <a:srgbClr val="000000"/>
                  </a:solidFill>
                  <a:ea typeface="宋体" panose="02010600030101010101" pitchFamily="2" charset="-122"/>
                  <a:cs typeface="Times New Roman" panose="02020603050405020304" pitchFamily="18" charset="0"/>
                </a:rPr>
                <a:t>h</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则由指数函数的性质知</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171721823"/>
                </p:ext>
              </p:extLst>
            </p:nvPr>
          </p:nvGraphicFramePr>
          <p:xfrm>
            <a:off x="425782" y="2331416"/>
            <a:ext cx="11671959" cy="908671"/>
          </p:xfrm>
          <a:graphic>
            <a:graphicData uri="http://schemas.openxmlformats.org/presentationml/2006/ole">
              <mc:AlternateContent xmlns:mc="http://schemas.openxmlformats.org/markup-compatibility/2006">
                <mc:Choice xmlns:v="urn:schemas-microsoft-com:vml" Requires="v">
                  <p:oleObj spid="_x0000_s12301" name="文档" r:id="rId4" imgW="3826872" imgH="297925" progId="Word.Document.12">
                    <p:embed/>
                  </p:oleObj>
                </mc:Choice>
                <mc:Fallback>
                  <p:oleObj name="文档" r:id="rId4" imgW="3826872" imgH="297925" progId="Word.Document.12">
                    <p:embed/>
                    <p:pic>
                      <p:nvPicPr>
                        <p:cNvPr id="0" name=""/>
                        <p:cNvPicPr/>
                        <p:nvPr/>
                      </p:nvPicPr>
                      <p:blipFill>
                        <a:blip r:embed="rId5"/>
                        <a:stretch>
                          <a:fillRect/>
                        </a:stretch>
                      </p:blipFill>
                      <p:spPr>
                        <a:xfrm>
                          <a:off x="425782" y="2331416"/>
                          <a:ext cx="11671959" cy="908671"/>
                        </a:xfrm>
                        <a:prstGeom prst="rect">
                          <a:avLst/>
                        </a:prstGeom>
                      </p:spPr>
                    </p:pic>
                  </p:oleObj>
                </mc:Fallback>
              </mc:AlternateContent>
            </a:graphicData>
          </a:graphic>
        </p:graphicFrame>
        <p:sp>
          <p:nvSpPr>
            <p:cNvPr id="5" name="矩形 4"/>
            <p:cNvSpPr>
              <a:spLocks noChangeAspect="1"/>
            </p:cNvSpPr>
            <p:nvPr/>
          </p:nvSpPr>
          <p:spPr>
            <a:xfrm>
              <a:off x="361950" y="3303723"/>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应使</a:t>
              </a:r>
              <a:r>
                <a:rPr lang="en-US" altLang="zh-CN" i="1" dirty="0">
                  <a:solidFill>
                    <a:srgbClr val="000000"/>
                  </a:solidFill>
                  <a:ea typeface="宋体" panose="02010600030101010101" pitchFamily="2" charset="-122"/>
                  <a:cs typeface="Times New Roman" panose="02020603050405020304" pitchFamily="18" charset="0"/>
                </a:rPr>
                <a:t>h</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的值域为</a:t>
              </a:r>
              <a:r>
                <a:rPr lang="en-US" altLang="zh-CN" dirty="0">
                  <a:solidFill>
                    <a:srgbClr val="000000"/>
                  </a:solidFill>
                  <a:ea typeface="宋体" panose="02010600030101010101" pitchFamily="2" charset="-122"/>
                  <a:cs typeface="Times New Roman" panose="02020603050405020304" pitchFamily="18" charset="0"/>
                </a:rPr>
                <a:t>R,</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a:solidFill>
                    <a:srgbClr val="000000"/>
                  </a:solidFill>
                  <a:ea typeface="楷体" panose="02010609060101010101" pitchFamily="49" charset="-122"/>
                  <a:cs typeface="Times New Roman" panose="02020603050405020304" pitchFamily="18" charset="0"/>
                </a:rPr>
                <a:t>若</a:t>
              </a:r>
              <a:r>
                <a:rPr lang="en-US" altLang="zh-CN" i="1" dirty="0">
                  <a:solidFill>
                    <a:srgbClr val="000000"/>
                  </a:solidFill>
                  <a:ea typeface="宋体" panose="02010600030101010101" pitchFamily="2" charset="-122"/>
                </a:rPr>
                <a:t>a</a:t>
              </a:r>
              <a:r>
                <a:rPr lang="en-US" altLang="zh-CN" dirty="0">
                  <a:solidFill>
                    <a:srgbClr val="000000"/>
                  </a:solidFill>
                  <a:ea typeface="宋体" panose="02010600030101010101" pitchFamily="2" charset="-122"/>
                </a:rPr>
                <a:t>≠0,</a:t>
              </a:r>
              <a:r>
                <a:rPr lang="zh-CN" altLang="zh-CN" dirty="0">
                  <a:solidFill>
                    <a:srgbClr val="000000"/>
                  </a:solidFill>
                  <a:ea typeface="楷体"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rPr>
                <a:t>h</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为二次函数</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其值域不可能为</a:t>
              </a:r>
              <a:r>
                <a:rPr lang="en-US" altLang="zh-CN" dirty="0">
                  <a:solidFill>
                    <a:srgbClr val="000000"/>
                  </a:solidFill>
                  <a:ea typeface="宋体" panose="02010600030101010101" pitchFamily="2" charset="-122"/>
                </a:rPr>
                <a:t>R</a:t>
              </a:r>
              <a:r>
                <a:rPr lang="en-US" altLang="zh-CN" dirty="0" smtClean="0">
                  <a:solidFill>
                    <a:srgbClr val="000000"/>
                  </a:solidFill>
                  <a:ea typeface="宋体" panose="02010600030101010101" pitchFamily="2" charset="-122"/>
                </a:rPr>
                <a:t>,</a:t>
              </a:r>
            </a:p>
            <a:p>
              <a:pPr>
                <a:lnSpc>
                  <a:spcPct val="120000"/>
                </a:lnSpc>
              </a:pPr>
              <a:r>
                <a:rPr lang="zh-CN" altLang="zh-CN" dirty="0" smtClean="0">
                  <a:solidFill>
                    <a:srgbClr val="000000"/>
                  </a:solidFill>
                  <a:ea typeface="楷体" panose="02010609060101010101" pitchFamily="49" charset="-122"/>
                  <a:cs typeface="Times New Roman" panose="02020603050405020304" pitchFamily="18" charset="0"/>
                </a:rPr>
                <a:t>因此</a:t>
              </a:r>
              <a:r>
                <a:rPr lang="zh-CN" altLang="zh-CN" dirty="0">
                  <a:solidFill>
                    <a:srgbClr val="000000"/>
                  </a:solidFill>
                  <a:ea typeface="楷体" panose="02010609060101010101" pitchFamily="49" charset="-122"/>
                  <a:cs typeface="Times New Roman" panose="02020603050405020304" pitchFamily="18" charset="0"/>
                </a:rPr>
                <a:t>只能</a:t>
              </a:r>
              <a:r>
                <a:rPr lang="en-US" altLang="zh-CN" i="1" dirty="0">
                  <a:solidFill>
                    <a:srgbClr val="000000"/>
                  </a:solidFill>
                  <a:ea typeface="宋体" panose="02010600030101010101" pitchFamily="2" charset="-122"/>
                </a:rPr>
                <a:t>a=</a:t>
              </a:r>
              <a:r>
                <a:rPr lang="en-US" altLang="zh-CN" dirty="0">
                  <a:solidFill>
                    <a:srgbClr val="000000"/>
                  </a:solidFill>
                  <a:ea typeface="宋体" panose="02010600030101010101" pitchFamily="2" charset="-122"/>
                </a:rPr>
                <a:t>0,</a:t>
              </a:r>
              <a:r>
                <a:rPr lang="zh-CN" altLang="zh-CN" dirty="0">
                  <a:solidFill>
                    <a:srgbClr val="000000"/>
                  </a:solidFill>
                  <a:ea typeface="楷体" panose="02010609060101010101" pitchFamily="49" charset="-122"/>
                  <a:cs typeface="Times New Roman" panose="02020603050405020304" pitchFamily="18" charset="0"/>
                </a:rPr>
                <a:t>故</a:t>
              </a:r>
              <a:r>
                <a:rPr lang="en-US" altLang="zh-CN" i="1" dirty="0">
                  <a:solidFill>
                    <a:srgbClr val="000000"/>
                  </a:solidFill>
                  <a:ea typeface="宋体" panose="02010600030101010101" pitchFamily="2" charset="-122"/>
                </a:rPr>
                <a:t>a</a:t>
              </a:r>
              <a:r>
                <a:rPr lang="zh-CN" altLang="zh-CN" dirty="0">
                  <a:solidFill>
                    <a:srgbClr val="000000"/>
                  </a:solidFill>
                  <a:ea typeface="楷体" panose="02010609060101010101" pitchFamily="49" charset="-122"/>
                  <a:cs typeface="Times New Roman" panose="02020603050405020304" pitchFamily="18" charset="0"/>
                </a:rPr>
                <a:t>的值为</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42610225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延伸探究H.eps" descr="id:2147492067;FounderCES"/>
          <p:cNvPicPr/>
          <p:nvPr/>
        </p:nvPicPr>
        <p:blipFill>
          <a:blip r:embed="rId3"/>
          <a:stretch>
            <a:fillRect/>
          </a:stretch>
        </p:blipFill>
        <p:spPr>
          <a:xfrm>
            <a:off x="4062812" y="881170"/>
            <a:ext cx="2740119" cy="499725"/>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1141594042"/>
              </p:ext>
            </p:extLst>
          </p:nvPr>
        </p:nvGraphicFramePr>
        <p:xfrm>
          <a:off x="576461" y="1480336"/>
          <a:ext cx="11671959" cy="908671"/>
        </p:xfrm>
        <a:graphic>
          <a:graphicData uri="http://schemas.openxmlformats.org/presentationml/2006/ole">
            <mc:AlternateContent xmlns:mc="http://schemas.openxmlformats.org/markup-compatibility/2006">
              <mc:Choice xmlns:v="urn:schemas-microsoft-com:vml" Requires="v">
                <p:oleObj spid="_x0000_s13336" name="文档" r:id="rId5" imgW="3826872" imgH="297925" progId="Word.Document.12">
                  <p:embed/>
                </p:oleObj>
              </mc:Choice>
              <mc:Fallback>
                <p:oleObj name="文档" r:id="rId5" imgW="3826872" imgH="297925" progId="Word.Document.12">
                  <p:embed/>
                  <p:pic>
                    <p:nvPicPr>
                      <p:cNvPr id="0" name=""/>
                      <p:cNvPicPr/>
                      <p:nvPr/>
                    </p:nvPicPr>
                    <p:blipFill>
                      <a:blip r:embed="rId6"/>
                      <a:stretch>
                        <a:fillRect/>
                      </a:stretch>
                    </p:blipFill>
                    <p:spPr>
                      <a:xfrm>
                        <a:off x="576461" y="1480336"/>
                        <a:ext cx="11671959" cy="908671"/>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136135593"/>
              </p:ext>
            </p:extLst>
          </p:nvPr>
        </p:nvGraphicFramePr>
        <p:xfrm>
          <a:off x="576460" y="2486830"/>
          <a:ext cx="11671959" cy="3142537"/>
        </p:xfrm>
        <a:graphic>
          <a:graphicData uri="http://schemas.openxmlformats.org/presentationml/2006/ole">
            <mc:AlternateContent xmlns:mc="http://schemas.openxmlformats.org/markup-compatibility/2006">
              <mc:Choice xmlns:v="urn:schemas-microsoft-com:vml" Requires="v">
                <p:oleObj spid="_x0000_s13337" name="文档" r:id="rId8" imgW="3826872" imgH="1030340" progId="Word.Document.12">
                  <p:embed/>
                </p:oleObj>
              </mc:Choice>
              <mc:Fallback>
                <p:oleObj name="文档" r:id="rId8" imgW="3826872" imgH="1030340" progId="Word.Document.12">
                  <p:embed/>
                  <p:pic>
                    <p:nvPicPr>
                      <p:cNvPr id="0" name=""/>
                      <p:cNvPicPr/>
                      <p:nvPr/>
                    </p:nvPicPr>
                    <p:blipFill>
                      <a:blip r:embed="rId9"/>
                      <a:stretch>
                        <a:fillRect/>
                      </a:stretch>
                    </p:blipFill>
                    <p:spPr>
                      <a:xfrm>
                        <a:off x="576460" y="2486830"/>
                        <a:ext cx="11671959" cy="3142537"/>
                      </a:xfrm>
                      <a:prstGeom prst="rect">
                        <a:avLst/>
                      </a:prstGeom>
                    </p:spPr>
                  </p:pic>
                </p:oleObj>
              </mc:Fallback>
            </mc:AlternateContent>
          </a:graphicData>
        </a:graphic>
      </p:graphicFrame>
    </p:spTree>
    <p:extLst>
      <p:ext uri="{BB962C8B-B14F-4D97-AF65-F5344CB8AC3E}">
        <p14:creationId xmlns:p14="http://schemas.microsoft.com/office/powerpoint/2010/main" val="11350707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92142"/>
            <a:ext cx="10807700" cy="2456057"/>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形</a:t>
            </a:r>
            <a:r>
              <a:rPr lang="zh-CN" altLang="zh-CN" dirty="0">
                <a:solidFill>
                  <a:srgbClr val="000000"/>
                </a:solidFill>
                <a:ea typeface="仿宋" panose="02010609060101010101" pitchFamily="49" charset="-122"/>
                <a:cs typeface="Times New Roman" panose="02020603050405020304" pitchFamily="18" charset="0"/>
              </a:rPr>
              <a:t>如</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的函数单调性的判断方法</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的单调区间与</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的单调</a:t>
            </a:r>
            <a:r>
              <a:rPr lang="zh-CN" altLang="zh-CN" dirty="0" smtClean="0">
                <a:solidFill>
                  <a:srgbClr val="000000"/>
                </a:solidFill>
                <a:ea typeface="仿宋" panose="02010609060101010101" pitchFamily="49" charset="-122"/>
                <a:cs typeface="Times New Roman" panose="02020603050405020304" pitchFamily="18" charset="0"/>
              </a:rPr>
              <a:t>区间相同</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i="1" baseline="30000" dirty="0" err="1">
                <a:solidFill>
                  <a:srgbClr val="000000"/>
                </a:solidFill>
                <a:ea typeface="宋体" panose="02010600030101010101" pitchFamily="2" charset="-122"/>
                <a:cs typeface="Times New Roman" panose="02020603050405020304" pitchFamily="18" charset="0"/>
              </a:rPr>
              <a:t>f</a:t>
            </a:r>
            <a:r>
              <a:rPr lang="en-US" altLang="zh-CN" baseline="30000" dirty="0">
                <a:solidFill>
                  <a:srgbClr val="000000"/>
                </a:solidFill>
                <a:ea typeface="宋体" panose="02010600030101010101" pitchFamily="2" charset="-122"/>
                <a:cs typeface="Times New Roman" panose="02020603050405020304" pitchFamily="18" charset="0"/>
              </a:rPr>
              <a:t>(</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的单调区间与</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的单调</a:t>
            </a:r>
            <a:r>
              <a:rPr lang="zh-CN" altLang="zh-CN" dirty="0" smtClean="0">
                <a:solidFill>
                  <a:srgbClr val="000000"/>
                </a:solidFill>
                <a:ea typeface="仿宋" panose="02010609060101010101" pitchFamily="49" charset="-122"/>
                <a:cs typeface="Times New Roman" panose="02020603050405020304" pitchFamily="18" charset="0"/>
              </a:rPr>
              <a:t>区间相反</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2952835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规  范  解  答</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099511"/>
            <a:ext cx="11958478" cy="3970552"/>
            <a:chOff x="361950" y="751382"/>
            <a:chExt cx="11958478" cy="3970552"/>
          </a:xfrm>
        </p:grpSpPr>
        <p:sp>
          <p:nvSpPr>
            <p:cNvPr id="3" name="矩形 2"/>
            <p:cNvSpPr>
              <a:spLocks noChangeAspect="1"/>
            </p:cNvSpPr>
            <p:nvPr/>
          </p:nvSpPr>
          <p:spPr>
            <a:xfrm>
              <a:off x="361950" y="751382"/>
              <a:ext cx="10807700" cy="1274195"/>
            </a:xfrm>
            <a:prstGeom prst="rect">
              <a:avLst/>
            </a:prstGeom>
          </p:spPr>
          <p:txBody>
            <a:bodyPr>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与指数函数有关的函数的综合应用问题</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Arial" panose="020B0604020202020204" pitchFamily="34" charset="0"/>
                  <a:cs typeface="Times New Roman" panose="02020603050405020304" pitchFamily="18" charset="0"/>
                </a:rPr>
                <a:t>【典例】</a:t>
              </a:r>
              <a:r>
                <a:rPr lang="zh-CN" altLang="zh-CN" dirty="0" smtClean="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已知定义在区间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宋体" panose="02010600030101010101" pitchFamily="2" charset="-122"/>
                  <a:cs typeface="Times New Roman" panose="02020603050405020304" pitchFamily="18" charset="0"/>
                </a:rPr>
                <a:t>上的奇函数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(0,1]</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641841272"/>
                </p:ext>
              </p:extLst>
            </p:nvPr>
          </p:nvGraphicFramePr>
          <p:xfrm>
            <a:off x="648469" y="2011504"/>
            <a:ext cx="11671959" cy="724527"/>
          </p:xfrm>
          <a:graphic>
            <a:graphicData uri="http://schemas.openxmlformats.org/presentationml/2006/ole">
              <mc:AlternateContent xmlns:mc="http://schemas.openxmlformats.org/markup-compatibility/2006">
                <mc:Choice xmlns:v="urn:schemas-microsoft-com:vml" Requires="v">
                  <p:oleObj spid="_x0000_s14349" name="文档" r:id="rId4" imgW="3826872" imgH="237550" progId="Word.Document.12">
                    <p:embed/>
                  </p:oleObj>
                </mc:Choice>
                <mc:Fallback>
                  <p:oleObj name="文档" r:id="rId4" imgW="3826872" imgH="237550" progId="Word.Document.12">
                    <p:embed/>
                    <p:pic>
                      <p:nvPicPr>
                        <p:cNvPr id="0" name=""/>
                        <p:cNvPicPr/>
                        <p:nvPr/>
                      </p:nvPicPr>
                      <p:blipFill>
                        <a:blip r:embed="rId5"/>
                        <a:stretch>
                          <a:fillRect/>
                        </a:stretch>
                      </p:blipFill>
                      <p:spPr>
                        <a:xfrm>
                          <a:off x="648469" y="2011504"/>
                          <a:ext cx="11671959" cy="724527"/>
                        </a:xfrm>
                        <a:prstGeom prst="rect">
                          <a:avLst/>
                        </a:prstGeom>
                      </p:spPr>
                    </p:pic>
                  </p:oleObj>
                </mc:Fallback>
              </mc:AlternateContent>
            </a:graphicData>
          </a:graphic>
        </p:graphicFrame>
        <p:sp>
          <p:nvSpPr>
            <p:cNvPr id="5" name="矩形 4"/>
            <p:cNvSpPr>
              <a:spLocks noChangeAspect="1"/>
            </p:cNvSpPr>
            <p:nvPr/>
          </p:nvSpPr>
          <p:spPr>
            <a:xfrm>
              <a:off x="361950" y="2856808"/>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宋体" panose="02010600030101010101" pitchFamily="2" charset="-122"/>
                  <a:cs typeface="Times New Roman" panose="02020603050405020304" pitchFamily="18" charset="0"/>
                </a:rPr>
                <a:t>上的解析式</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用函数单调性的定义证明</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(0,1]</a:t>
              </a:r>
              <a:r>
                <a:rPr lang="zh-CN" altLang="zh-CN" dirty="0">
                  <a:solidFill>
                    <a:srgbClr val="000000"/>
                  </a:solidFill>
                  <a:ea typeface="宋体" panose="02010600030101010101" pitchFamily="2" charset="-122"/>
                  <a:cs typeface="Times New Roman" panose="02020603050405020304" pitchFamily="18" charset="0"/>
                </a:rPr>
                <a:t>上单调递减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x+b</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宋体" panose="02010600030101010101" pitchFamily="2" charset="-122"/>
                  <a:cs typeface="Times New Roman" panose="02020603050405020304" pitchFamily="18" charset="0"/>
                </a:rPr>
                <a:t>上有解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704680"/>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审题策略</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(0,1]</a:t>
            </a:r>
            <a:r>
              <a:rPr lang="zh-CN" altLang="zh-CN" dirty="0">
                <a:solidFill>
                  <a:srgbClr val="000000"/>
                </a:solidFill>
                <a:ea typeface="宋体" panose="02010600030101010101" pitchFamily="2" charset="-122"/>
                <a:cs typeface="Times New Roman" panose="02020603050405020304" pitchFamily="18" charset="0"/>
              </a:rPr>
              <a:t>上的解析式以及</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为奇函数可求出</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以及</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内的解析式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从而得到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宋体" panose="02010600030101010101" pitchFamily="2" charset="-122"/>
                <a:cs typeface="Times New Roman" panose="02020603050405020304" pitchFamily="18" charset="0"/>
              </a:rPr>
              <a:t>上的解析式</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利用单调性的定义证明</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转化为求函数的值域问题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57701916"/>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594201851"/>
              </p:ext>
            </p:extLst>
          </p:nvPr>
        </p:nvGraphicFramePr>
        <p:xfrm>
          <a:off x="504453" y="935831"/>
          <a:ext cx="11671959" cy="4620088"/>
        </p:xfrm>
        <a:graphic>
          <a:graphicData uri="http://schemas.openxmlformats.org/presentationml/2006/ole">
            <mc:AlternateContent xmlns:mc="http://schemas.openxmlformats.org/markup-compatibility/2006">
              <mc:Choice xmlns:v="urn:schemas-microsoft-com:vml" Requires="v">
                <p:oleObj spid="_x0000_s15373" name="文档" r:id="rId4" imgW="3826872" imgH="1514783" progId="Word.Document.12">
                  <p:embed/>
                </p:oleObj>
              </mc:Choice>
              <mc:Fallback>
                <p:oleObj name="文档" r:id="rId4" imgW="3826872" imgH="1514783" progId="Word.Document.12">
                  <p:embed/>
                  <p:pic>
                    <p:nvPicPr>
                      <p:cNvPr id="0" name=""/>
                      <p:cNvPicPr/>
                      <p:nvPr/>
                    </p:nvPicPr>
                    <p:blipFill>
                      <a:blip r:embed="rId5"/>
                      <a:stretch>
                        <a:fillRect/>
                      </a:stretch>
                    </p:blipFill>
                    <p:spPr>
                      <a:xfrm>
                        <a:off x="504453" y="935831"/>
                        <a:ext cx="11671959" cy="4620088"/>
                      </a:xfrm>
                      <a:prstGeom prst="rect">
                        <a:avLst/>
                      </a:prstGeom>
                    </p:spPr>
                  </p:pic>
                </p:oleObj>
              </mc:Fallback>
            </mc:AlternateContent>
          </a:graphicData>
        </a:graphic>
      </p:graphicFrame>
    </p:spTree>
    <p:extLst>
      <p:ext uri="{BB962C8B-B14F-4D97-AF65-F5344CB8AC3E}">
        <p14:creationId xmlns:p14="http://schemas.microsoft.com/office/powerpoint/2010/main" val="2390774142"/>
      </p:ext>
    </p:extLst>
  </p:cSld>
  <p:clrMapOvr>
    <a:masterClrMapping/>
  </p:clrMapOvr>
  <p:transition spd="slow">
    <p:randomBar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082288837"/>
              </p:ext>
            </p:extLst>
          </p:nvPr>
        </p:nvGraphicFramePr>
        <p:xfrm>
          <a:off x="504453" y="1295871"/>
          <a:ext cx="11671959" cy="3660997"/>
        </p:xfrm>
        <a:graphic>
          <a:graphicData uri="http://schemas.openxmlformats.org/presentationml/2006/ole">
            <mc:AlternateContent xmlns:mc="http://schemas.openxmlformats.org/markup-compatibility/2006">
              <mc:Choice xmlns:v="urn:schemas-microsoft-com:vml" Requires="v">
                <p:oleObj spid="_x0000_s16397" name="文档" r:id="rId4" imgW="3837724" imgH="1204318" progId="Word.Document.12">
                  <p:embed/>
                </p:oleObj>
              </mc:Choice>
              <mc:Fallback>
                <p:oleObj name="文档" r:id="rId4" imgW="3837724" imgH="1204318" progId="Word.Document.12">
                  <p:embed/>
                  <p:pic>
                    <p:nvPicPr>
                      <p:cNvPr id="0" name=""/>
                      <p:cNvPicPr/>
                      <p:nvPr/>
                    </p:nvPicPr>
                    <p:blipFill>
                      <a:blip r:embed="rId5"/>
                      <a:stretch>
                        <a:fillRect/>
                      </a:stretch>
                    </p:blipFill>
                    <p:spPr>
                      <a:xfrm>
                        <a:off x="504453" y="1295871"/>
                        <a:ext cx="11671959" cy="3660997"/>
                      </a:xfrm>
                      <a:prstGeom prst="rect">
                        <a:avLst/>
                      </a:prstGeom>
                    </p:spPr>
                  </p:pic>
                </p:oleObj>
              </mc:Fallback>
            </mc:AlternateContent>
          </a:graphicData>
        </a:graphic>
      </p:graphicFrame>
    </p:spTree>
    <p:extLst>
      <p:ext uri="{BB962C8B-B14F-4D97-AF65-F5344CB8AC3E}">
        <p14:creationId xmlns:p14="http://schemas.microsoft.com/office/powerpoint/2010/main" val="3118447781"/>
      </p:ext>
    </p:extLst>
  </p:cSld>
  <p:clrMapOvr>
    <a:masterClrMapping/>
  </p:clrMapOvr>
  <p:transition spd="slow">
    <p:randomBa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080393896"/>
              </p:ext>
            </p:extLst>
          </p:nvPr>
        </p:nvGraphicFramePr>
        <p:xfrm>
          <a:off x="504825" y="965072"/>
          <a:ext cx="11661775" cy="4549775"/>
        </p:xfrm>
        <a:graphic>
          <a:graphicData uri="http://schemas.openxmlformats.org/presentationml/2006/ole">
            <mc:AlternateContent xmlns:mc="http://schemas.openxmlformats.org/markup-compatibility/2006">
              <mc:Choice xmlns:v="urn:schemas-microsoft-com:vml" Requires="v">
                <p:oleObj spid="_x0000_s17421" name="文档" r:id="rId4" imgW="3837724" imgH="1503594" progId="Word.Document.12">
                  <p:embed/>
                </p:oleObj>
              </mc:Choice>
              <mc:Fallback>
                <p:oleObj name="文档" r:id="rId4" imgW="3837724" imgH="1503594" progId="Word.Document.12">
                  <p:embed/>
                  <p:pic>
                    <p:nvPicPr>
                      <p:cNvPr id="0" name=""/>
                      <p:cNvPicPr/>
                      <p:nvPr/>
                    </p:nvPicPr>
                    <p:blipFill>
                      <a:blip r:embed="rId5"/>
                      <a:stretch>
                        <a:fillRect/>
                      </a:stretch>
                    </p:blipFill>
                    <p:spPr>
                      <a:xfrm>
                        <a:off x="504825" y="965072"/>
                        <a:ext cx="11661775" cy="4549775"/>
                      </a:xfrm>
                      <a:prstGeom prst="rect">
                        <a:avLst/>
                      </a:prstGeom>
                    </p:spPr>
                  </p:pic>
                </p:oleObj>
              </mc:Fallback>
            </mc:AlternateContent>
          </a:graphicData>
        </a:graphic>
      </p:graphicFrame>
    </p:spTree>
    <p:extLst>
      <p:ext uri="{BB962C8B-B14F-4D97-AF65-F5344CB8AC3E}">
        <p14:creationId xmlns:p14="http://schemas.microsoft.com/office/powerpoint/2010/main" val="1830771707"/>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45190"/>
            <a:ext cx="10807700" cy="594508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答题模板</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内的解析式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latin typeface="Cambria Math" panose="02040503050406030204" pitchFamily="18" charset="0"/>
                <a:ea typeface="NEU-BZ-S9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结合</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即得函数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宋体" panose="02010600030101010101" pitchFamily="2" charset="-122"/>
                <a:cs typeface="Times New Roman" panose="02020603050405020304" pitchFamily="18" charset="0"/>
              </a:rPr>
              <a:t>上的解析式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latin typeface="Cambria Math" panose="02040503050406030204" pitchFamily="18" charset="0"/>
                <a:ea typeface="NEU-BZ-S9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根据取值、作差变形、定号、下结论的步骤证明函数的单调性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latin typeface="Cambria Math" panose="02040503050406030204" pitchFamily="18" charset="0"/>
                <a:ea typeface="NEU-BZ-S9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转化为方程</a:t>
            </a:r>
            <a:r>
              <a:rPr lang="en-US" altLang="zh-CN" i="1" dirty="0">
                <a:solidFill>
                  <a:srgbClr val="000000"/>
                </a:solidFill>
                <a:ea typeface="宋体" panose="02010600030101010101" pitchFamily="2" charset="-122"/>
                <a:cs typeface="Times New Roman" panose="02020603050405020304" pitchFamily="18" charset="0"/>
              </a:rPr>
              <a:t>b=f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有解问题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en-US" altLang="zh-CN" dirty="0">
                <a:solidFill>
                  <a:srgbClr val="000000"/>
                </a:solidFill>
                <a:latin typeface="Cambria Math" panose="02040503050406030204" pitchFamily="18" charset="0"/>
                <a:ea typeface="NEU-BZ-S9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a:solidFill>
                  <a:srgbClr val="000000"/>
                </a:solidFill>
                <a:ea typeface="宋体" panose="02010600030101010101" pitchFamily="2" charset="-122"/>
                <a:cs typeface="Times New Roman" panose="02020603050405020304" pitchFamily="18" charset="0"/>
              </a:rPr>
              <a:t>第</a:t>
            </a:r>
            <a:r>
              <a:rPr lang="en-US" altLang="zh-CN" dirty="0">
                <a:solidFill>
                  <a:srgbClr val="000000"/>
                </a:solidFill>
                <a:ea typeface="宋体" panose="02010600030101010101" pitchFamily="2" charset="-122"/>
              </a:rPr>
              <a:t>5</a:t>
            </a:r>
            <a:r>
              <a:rPr lang="zh-CN" altLang="zh-CN" dirty="0">
                <a:solidFill>
                  <a:srgbClr val="000000"/>
                </a:solidFill>
                <a:ea typeface="宋体" panose="02010600030101010101" pitchFamily="2" charset="-122"/>
                <a:cs typeface="Times New Roman" panose="02020603050405020304" pitchFamily="18" charset="0"/>
              </a:rPr>
              <a:t>步</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rPr>
              <a:t>g</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=f</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zh-CN" altLang="zh-CN" dirty="0">
                <a:solidFill>
                  <a:srgbClr val="000000"/>
                </a:solidFill>
                <a:ea typeface="宋体" panose="02010600030101010101" pitchFamily="2" charset="-122"/>
                <a:cs typeface="Times New Roman" panose="02020603050405020304" pitchFamily="18" charset="0"/>
              </a:rPr>
              <a:t>的值域即得</a:t>
            </a:r>
            <a:r>
              <a:rPr lang="en-US" altLang="zh-CN" i="1" dirty="0">
                <a:solidFill>
                  <a:srgbClr val="000000"/>
                </a:solidFill>
                <a:ea typeface="宋体" panose="02010600030101010101" pitchFamily="2" charset="-122"/>
              </a:rPr>
              <a:t>b</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715065252"/>
      </p:ext>
    </p:extLst>
  </p:cSld>
  <p:clrMapOvr>
    <a:masterClrMapping/>
  </p:clrMapOvr>
  <p:transition spd="slow">
    <p:randomBar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75117"/>
            <a:ext cx="10807700" cy="4228850"/>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失误展示</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pPr>
            <a:r>
              <a:rPr lang="zh-CN" altLang="zh-CN" dirty="0">
                <a:solidFill>
                  <a:srgbClr val="000000"/>
                </a:solidFill>
                <a:ea typeface="仿宋" panose="02010609060101010101" pitchFamily="49" charset="-122"/>
                <a:cs typeface="Times New Roman" panose="02020603050405020304" pitchFamily="18" charset="0"/>
              </a:rPr>
              <a:t>造成失分的主要原因如下</a:t>
            </a:r>
            <a:r>
              <a:rPr lang="en-US" altLang="zh-CN"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思维混乱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仿宋" panose="02010609060101010101" pitchFamily="49" charset="-122"/>
                <a:cs typeface="Times New Roman" panose="02020603050405020304" pitchFamily="18" charset="0"/>
              </a:rPr>
              <a:t>内的解析式时设</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(0,1];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缺少</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的说明</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利用函数单调性的定义证明单调性的过程不规范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没有对作差后的式子进行恰当的变形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仿宋" panose="02010609060101010101" pitchFamily="49" charset="-122"/>
                <a:cs typeface="Times New Roman" panose="02020603050405020304" pitchFamily="18" charset="0"/>
              </a:rPr>
              <a:t>不能将问题转化为方程有解问题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10430260"/>
      </p:ext>
    </p:extLst>
  </p:cSld>
  <p:clrMapOvr>
    <a:masterClrMapping/>
  </p:clrMapOvr>
  <p:transition spd="slow">
    <p:randomBar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30941" y="998007"/>
            <a:ext cx="11671959" cy="2586666"/>
            <a:chOff x="330941" y="1718087"/>
            <a:chExt cx="11671959" cy="2586666"/>
          </a:xfrm>
        </p:grpSpPr>
        <p:graphicFrame>
          <p:nvGraphicFramePr>
            <p:cNvPr id="3" name="对象 2"/>
            <p:cNvGraphicFramePr>
              <a:graphicFrameLocks noChangeAspect="1"/>
            </p:cNvGraphicFramePr>
            <p:nvPr>
              <p:extLst>
                <p:ext uri="{D42A27DB-BD31-4B8C-83A1-F6EECF244321}">
                  <p14:modId xmlns:p14="http://schemas.microsoft.com/office/powerpoint/2010/main" val="3068908197"/>
                </p:ext>
              </p:extLst>
            </p:nvPr>
          </p:nvGraphicFramePr>
          <p:xfrm>
            <a:off x="330941" y="1718087"/>
            <a:ext cx="11671959" cy="699316"/>
          </p:xfrm>
          <a:graphic>
            <a:graphicData uri="http://schemas.openxmlformats.org/presentationml/2006/ole">
              <mc:AlternateContent xmlns:mc="http://schemas.openxmlformats.org/markup-compatibility/2006">
                <mc:Choice xmlns:v="urn:schemas-microsoft-com:vml" Requires="v">
                  <p:oleObj spid="_x0000_s18456" name="文档" r:id="rId4" imgW="3826872" imgH="229284" progId="Word.Document.12">
                    <p:embed/>
                  </p:oleObj>
                </mc:Choice>
                <mc:Fallback>
                  <p:oleObj name="文档" r:id="rId4" imgW="3826872" imgH="229284" progId="Word.Document.12">
                    <p:embed/>
                    <p:pic>
                      <p:nvPicPr>
                        <p:cNvPr id="0" name=""/>
                        <p:cNvPicPr/>
                        <p:nvPr/>
                      </p:nvPicPr>
                      <p:blipFill>
                        <a:blip r:embed="rId5"/>
                        <a:stretch>
                          <a:fillRect/>
                        </a:stretch>
                      </p:blipFill>
                      <p:spPr>
                        <a:xfrm>
                          <a:off x="330941" y="1718087"/>
                          <a:ext cx="11671959" cy="699316"/>
                        </a:xfrm>
                        <a:prstGeom prst="rect">
                          <a:avLst/>
                        </a:prstGeom>
                      </p:spPr>
                    </p:pic>
                  </p:oleObj>
                </mc:Fallback>
              </mc:AlternateContent>
            </a:graphicData>
          </a:graphic>
        </p:graphicFrame>
        <p:sp>
          <p:nvSpPr>
            <p:cNvPr id="4" name="矩形 3"/>
            <p:cNvSpPr>
              <a:spLocks noChangeAspect="1"/>
            </p:cNvSpPr>
            <p:nvPr/>
          </p:nvSpPr>
          <p:spPr>
            <a:xfrm>
              <a:off x="361950" y="2439627"/>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证明函数</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是奇函数</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Times New Roman" panose="02020603050405020304" pitchFamily="18" charset="0"/>
                </a:rPr>
                <a:t>证明函数</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在区间</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内是增函数</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[1,2]</a:t>
              </a:r>
              <a:r>
                <a:rPr lang="zh-CN" altLang="zh-CN" dirty="0">
                  <a:solidFill>
                    <a:srgbClr val="000000"/>
                  </a:solidFill>
                  <a:latin typeface="+mn-lt"/>
                  <a:ea typeface="宋体" panose="02010600030101010101" pitchFamily="2"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求函数</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的取值范围</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grpSp>
      <p:graphicFrame>
        <p:nvGraphicFramePr>
          <p:cNvPr id="6" name="对象 5"/>
          <p:cNvGraphicFramePr>
            <a:graphicFrameLocks noChangeAspect="1"/>
          </p:cNvGraphicFramePr>
          <p:nvPr>
            <p:extLst>
              <p:ext uri="{D42A27DB-BD31-4B8C-83A1-F6EECF244321}">
                <p14:modId xmlns:p14="http://schemas.microsoft.com/office/powerpoint/2010/main" val="2733747420"/>
              </p:ext>
            </p:extLst>
          </p:nvPr>
        </p:nvGraphicFramePr>
        <p:xfrm>
          <a:off x="432445" y="3590295"/>
          <a:ext cx="11671959" cy="2016837"/>
        </p:xfrm>
        <a:graphic>
          <a:graphicData uri="http://schemas.openxmlformats.org/presentationml/2006/ole">
            <mc:AlternateContent xmlns:mc="http://schemas.openxmlformats.org/markup-compatibility/2006">
              <mc:Choice xmlns:v="urn:schemas-microsoft-com:vml" Requires="v">
                <p:oleObj spid="_x0000_s18457" name="文档" r:id="rId7" imgW="3826872" imgH="661258" progId="Word.Document.12">
                  <p:embed/>
                </p:oleObj>
              </mc:Choice>
              <mc:Fallback>
                <p:oleObj name="文档" r:id="rId7" imgW="3826872" imgH="661258" progId="Word.Document.12">
                  <p:embed/>
                  <p:pic>
                    <p:nvPicPr>
                      <p:cNvPr id="0" name=""/>
                      <p:cNvPicPr/>
                      <p:nvPr/>
                    </p:nvPicPr>
                    <p:blipFill>
                      <a:blip r:embed="rId8"/>
                      <a:stretch>
                        <a:fillRect/>
                      </a:stretch>
                    </p:blipFill>
                    <p:spPr>
                      <a:xfrm>
                        <a:off x="432445" y="3590295"/>
                        <a:ext cx="11671959" cy="2016837"/>
                      </a:xfrm>
                      <a:prstGeom prst="rect">
                        <a:avLst/>
                      </a:prstGeom>
                    </p:spPr>
                  </p:pic>
                </p:oleObj>
              </mc:Fallback>
            </mc:AlternateContent>
          </a:graphicData>
        </a:graphic>
      </p:graphicFrame>
    </p:spTree>
    <p:extLst>
      <p:ext uri="{BB962C8B-B14F-4D97-AF65-F5344CB8AC3E}">
        <p14:creationId xmlns:p14="http://schemas.microsoft.com/office/powerpoint/2010/main" val="59837616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3385333431"/>
              </p:ext>
            </p:extLst>
          </p:nvPr>
        </p:nvGraphicFramePr>
        <p:xfrm>
          <a:off x="380101" y="777649"/>
          <a:ext cx="11671959" cy="5414766"/>
        </p:xfrm>
        <a:graphic>
          <a:graphicData uri="http://schemas.openxmlformats.org/presentationml/2006/ole">
            <mc:AlternateContent xmlns:mc="http://schemas.openxmlformats.org/markup-compatibility/2006">
              <mc:Choice xmlns:v="urn:schemas-microsoft-com:vml" Requires="v">
                <p:oleObj spid="_x0000_s19469" name="文档" r:id="rId4" imgW="3837724" imgH="1781236" progId="Word.Document.12">
                  <p:embed/>
                </p:oleObj>
              </mc:Choice>
              <mc:Fallback>
                <p:oleObj name="文档" r:id="rId4" imgW="3837724" imgH="1781236" progId="Word.Document.12">
                  <p:embed/>
                  <p:pic>
                    <p:nvPicPr>
                      <p:cNvPr id="0" name=""/>
                      <p:cNvPicPr/>
                      <p:nvPr/>
                    </p:nvPicPr>
                    <p:blipFill>
                      <a:blip r:embed="rId5"/>
                      <a:stretch>
                        <a:fillRect/>
                      </a:stretch>
                    </p:blipFill>
                    <p:spPr>
                      <a:xfrm>
                        <a:off x="380101" y="777649"/>
                        <a:ext cx="11671959" cy="5414766"/>
                      </a:xfrm>
                      <a:prstGeom prst="rect">
                        <a:avLst/>
                      </a:prstGeom>
                    </p:spPr>
                  </p:pic>
                </p:oleObj>
              </mc:Fallback>
            </mc:AlternateContent>
          </a:graphicData>
        </a:graphic>
      </p:graphicFrame>
    </p:spTree>
    <p:extLst>
      <p:ext uri="{BB962C8B-B14F-4D97-AF65-F5344CB8AC3E}">
        <p14:creationId xmlns:p14="http://schemas.microsoft.com/office/powerpoint/2010/main" val="3804314419"/>
      </p:ext>
    </p:extLst>
  </p:cSld>
  <p:clrMapOvr>
    <a:masterClrMapping/>
  </p:clrMapOvr>
  <p:transition spd="slow">
    <p:randomBar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2837221"/>
              </p:ext>
            </p:extLst>
          </p:nvPr>
        </p:nvGraphicFramePr>
        <p:xfrm>
          <a:off x="504825" y="1071563"/>
          <a:ext cx="11645900" cy="1976437"/>
        </p:xfrm>
        <a:graphic>
          <a:graphicData uri="http://schemas.openxmlformats.org/presentationml/2006/ole">
            <mc:AlternateContent xmlns:mc="http://schemas.openxmlformats.org/markup-compatibility/2006">
              <mc:Choice xmlns:v="urn:schemas-microsoft-com:vml" Requires="v">
                <p:oleObj spid="_x0000_s20502" name="文档" r:id="rId4" imgW="3826872" imgH="650836" progId="Word.Document.12">
                  <p:embed/>
                </p:oleObj>
              </mc:Choice>
              <mc:Fallback>
                <p:oleObj name="文档" r:id="rId4" imgW="3826872" imgH="650836" progId="Word.Document.12">
                  <p:embed/>
                  <p:pic>
                    <p:nvPicPr>
                      <p:cNvPr id="0" name=""/>
                      <p:cNvPicPr/>
                      <p:nvPr/>
                    </p:nvPicPr>
                    <p:blipFill>
                      <a:blip r:embed="rId5"/>
                      <a:stretch>
                        <a:fillRect/>
                      </a:stretch>
                    </p:blipFill>
                    <p:spPr>
                      <a:xfrm>
                        <a:off x="504825" y="1071563"/>
                        <a:ext cx="11645900" cy="1976437"/>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849600518"/>
              </p:ext>
            </p:extLst>
          </p:nvPr>
        </p:nvGraphicFramePr>
        <p:xfrm>
          <a:off x="510397" y="3228944"/>
          <a:ext cx="11671959" cy="1225447"/>
        </p:xfrm>
        <a:graphic>
          <a:graphicData uri="http://schemas.openxmlformats.org/presentationml/2006/ole">
            <mc:AlternateContent xmlns:mc="http://schemas.openxmlformats.org/markup-compatibility/2006">
              <mc:Choice xmlns:v="urn:schemas-microsoft-com:vml" Requires="v">
                <p:oleObj spid="_x0000_s20503" name="文档" r:id="rId7" imgW="3837724" imgH="403122" progId="Word.Document.12">
                  <p:embed/>
                </p:oleObj>
              </mc:Choice>
              <mc:Fallback>
                <p:oleObj name="文档" r:id="rId7" imgW="3837724" imgH="403122" progId="Word.Document.12">
                  <p:embed/>
                  <p:pic>
                    <p:nvPicPr>
                      <p:cNvPr id="0" name=""/>
                      <p:cNvPicPr/>
                      <p:nvPr/>
                    </p:nvPicPr>
                    <p:blipFill>
                      <a:blip r:embed="rId8"/>
                      <a:stretch>
                        <a:fillRect/>
                      </a:stretch>
                    </p:blipFill>
                    <p:spPr>
                      <a:xfrm>
                        <a:off x="510397" y="3228944"/>
                        <a:ext cx="11671959" cy="1225447"/>
                      </a:xfrm>
                      <a:prstGeom prst="rect">
                        <a:avLst/>
                      </a:prstGeom>
                    </p:spPr>
                  </p:pic>
                </p:oleObj>
              </mc:Fallback>
            </mc:AlternateContent>
          </a:graphicData>
        </a:graphic>
      </p:graphicFrame>
      <p:sp>
        <p:nvSpPr>
          <p:cNvPr id="4" name="矩形 3"/>
          <p:cNvSpPr>
            <a:spLocks noChangeAspect="1"/>
          </p:cNvSpPr>
          <p:nvPr/>
        </p:nvSpPr>
        <p:spPr>
          <a:xfrm>
            <a:off x="423234" y="4425479"/>
            <a:ext cx="152137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829076562"/>
              </p:ext>
            </p:extLst>
          </p:nvPr>
        </p:nvGraphicFramePr>
        <p:xfrm>
          <a:off x="504453" y="883487"/>
          <a:ext cx="11671959" cy="1842557"/>
        </p:xfrm>
        <a:graphic>
          <a:graphicData uri="http://schemas.openxmlformats.org/presentationml/2006/ole">
            <mc:AlternateContent xmlns:mc="http://schemas.openxmlformats.org/markup-compatibility/2006">
              <mc:Choice xmlns:v="urn:schemas-microsoft-com:vml" Requires="v">
                <p:oleObj spid="_x0000_s21526" name="文档" r:id="rId4" imgW="3826872" imgH="604117" progId="Word.Document.12">
                  <p:embed/>
                </p:oleObj>
              </mc:Choice>
              <mc:Fallback>
                <p:oleObj name="文档" r:id="rId4" imgW="3826872" imgH="604117" progId="Word.Document.12">
                  <p:embed/>
                  <p:pic>
                    <p:nvPicPr>
                      <p:cNvPr id="0" name=""/>
                      <p:cNvPicPr/>
                      <p:nvPr/>
                    </p:nvPicPr>
                    <p:blipFill>
                      <a:blip r:embed="rId5"/>
                      <a:stretch>
                        <a:fillRect/>
                      </a:stretch>
                    </p:blipFill>
                    <p:spPr>
                      <a:xfrm>
                        <a:off x="504453" y="883487"/>
                        <a:ext cx="11671959" cy="184255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967640126"/>
              </p:ext>
            </p:extLst>
          </p:nvPr>
        </p:nvGraphicFramePr>
        <p:xfrm>
          <a:off x="504453" y="2817871"/>
          <a:ext cx="11671959" cy="908671"/>
        </p:xfrm>
        <a:graphic>
          <a:graphicData uri="http://schemas.openxmlformats.org/presentationml/2006/ole">
            <mc:AlternateContent xmlns:mc="http://schemas.openxmlformats.org/markup-compatibility/2006">
              <mc:Choice xmlns:v="urn:schemas-microsoft-com:vml" Requires="v">
                <p:oleObj spid="_x0000_s21527" name="文档" r:id="rId7" imgW="3826872" imgH="297925" progId="Word.Document.12">
                  <p:embed/>
                </p:oleObj>
              </mc:Choice>
              <mc:Fallback>
                <p:oleObj name="文档" r:id="rId7" imgW="3826872" imgH="297925" progId="Word.Document.12">
                  <p:embed/>
                  <p:pic>
                    <p:nvPicPr>
                      <p:cNvPr id="0" name=""/>
                      <p:cNvPicPr/>
                      <p:nvPr/>
                    </p:nvPicPr>
                    <p:blipFill>
                      <a:blip r:embed="rId8"/>
                      <a:stretch>
                        <a:fillRect/>
                      </a:stretch>
                    </p:blipFill>
                    <p:spPr>
                      <a:xfrm>
                        <a:off x="504453" y="2817871"/>
                        <a:ext cx="11671959" cy="908671"/>
                      </a:xfrm>
                      <a:prstGeom prst="rect">
                        <a:avLst/>
                      </a:prstGeom>
                    </p:spPr>
                  </p:pic>
                </p:oleObj>
              </mc:Fallback>
            </mc:AlternateContent>
          </a:graphicData>
        </a:graphic>
      </p:graphicFrame>
      <p:sp>
        <p:nvSpPr>
          <p:cNvPr id="7" name="矩形 6"/>
          <p:cNvSpPr>
            <a:spLocks noChangeAspect="1"/>
          </p:cNvSpPr>
          <p:nvPr/>
        </p:nvSpPr>
        <p:spPr>
          <a:xfrm>
            <a:off x="361950" y="3755435"/>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的单调递增区间与</a:t>
            </a:r>
            <a:r>
              <a:rPr lang="en-US" altLang="zh-CN" i="1" dirty="0">
                <a:solidFill>
                  <a:srgbClr val="000000"/>
                </a:solidFill>
                <a:ea typeface="宋体" panose="02010600030101010101" pitchFamily="2" charset="-122"/>
                <a:cs typeface="Times New Roman" panose="02020603050405020304" pitchFamily="18" charset="0"/>
              </a:rPr>
              <a:t>u</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的单调递减区间相同</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即</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20961694"/>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0" dur="500"/>
                                        <p:tgtEl>
                                          <p:spTgt spid="7">
                                            <p:txEl>
                                              <p:pRg st="0" end="0"/>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randombar(horizontal)">
                                      <p:cBhvr>
                                        <p:cTn id="13" dur="50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randombar(horizontal)">
                                      <p:cBhvr>
                                        <p:cTn id="18"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61950" y="1431883"/>
            <a:ext cx="11814462" cy="3248364"/>
            <a:chOff x="361950" y="659459"/>
            <a:chExt cx="11814462" cy="3248364"/>
          </a:xfrm>
        </p:grpSpPr>
        <p:graphicFrame>
          <p:nvGraphicFramePr>
            <p:cNvPr id="2" name="对象 1"/>
            <p:cNvGraphicFramePr>
              <a:graphicFrameLocks noChangeAspect="1"/>
            </p:cNvGraphicFramePr>
            <p:nvPr>
              <p:extLst>
                <p:ext uri="{D42A27DB-BD31-4B8C-83A1-F6EECF244321}">
                  <p14:modId xmlns:p14="http://schemas.microsoft.com/office/powerpoint/2010/main" val="560506738"/>
                </p:ext>
              </p:extLst>
            </p:nvPr>
          </p:nvGraphicFramePr>
          <p:xfrm>
            <a:off x="504453" y="659459"/>
            <a:ext cx="11671959" cy="780428"/>
          </p:xfrm>
          <a:graphic>
            <a:graphicData uri="http://schemas.openxmlformats.org/presentationml/2006/ole">
              <mc:AlternateContent xmlns:mc="http://schemas.openxmlformats.org/markup-compatibility/2006">
                <mc:Choice xmlns:v="urn:schemas-microsoft-com:vml" Requires="v">
                  <p:oleObj spid="_x0000_s22540" name="文档" r:id="rId4" imgW="3826872" imgH="255878" progId="Word.Document.12">
                    <p:embed/>
                  </p:oleObj>
                </mc:Choice>
                <mc:Fallback>
                  <p:oleObj name="文档" r:id="rId4" imgW="3826872" imgH="255878" progId="Word.Document.12">
                    <p:embed/>
                    <p:pic>
                      <p:nvPicPr>
                        <p:cNvPr id="0" name=""/>
                        <p:cNvPicPr/>
                        <p:nvPr/>
                      </p:nvPicPr>
                      <p:blipFill>
                        <a:blip r:embed="rId5"/>
                        <a:stretch>
                          <a:fillRect/>
                        </a:stretch>
                      </p:blipFill>
                      <p:spPr>
                        <a:xfrm>
                          <a:off x="504453" y="659459"/>
                          <a:ext cx="11671959" cy="780428"/>
                        </a:xfrm>
                        <a:prstGeom prst="rect">
                          <a:avLst/>
                        </a:prstGeom>
                      </p:spPr>
                    </p:pic>
                  </p:oleObj>
                </mc:Fallback>
              </mc:AlternateContent>
            </a:graphicData>
          </a:graphic>
        </p:graphicFrame>
        <p:sp>
          <p:nvSpPr>
            <p:cNvPr id="3" name="矩形 2"/>
            <p:cNvSpPr>
              <a:spLocks noChangeAspect="1"/>
            </p:cNvSpPr>
            <p:nvPr/>
          </p:nvSpPr>
          <p:spPr>
            <a:xfrm>
              <a:off x="361950" y="1508320"/>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是奇函数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且在</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上是增函数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是偶函数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且在</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上是增函数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是奇函数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且在</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上是减函数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是偶函数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且在</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上是减函数</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944106576"/>
      </p:ext>
    </p:extLst>
  </p:cSld>
  <p:clrMapOvr>
    <a:masterClrMapping/>
  </p:clrMapOvr>
  <p:transition spd="slow">
    <p:comb/>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3826634003"/>
              </p:ext>
            </p:extLst>
          </p:nvPr>
        </p:nvGraphicFramePr>
        <p:xfrm>
          <a:off x="432445" y="1007839"/>
          <a:ext cx="11671959" cy="3522887"/>
        </p:xfrm>
        <a:graphic>
          <a:graphicData uri="http://schemas.openxmlformats.org/presentationml/2006/ole">
            <mc:AlternateContent xmlns:mc="http://schemas.openxmlformats.org/markup-compatibility/2006">
              <mc:Choice xmlns:v="urn:schemas-microsoft-com:vml" Requires="v">
                <p:oleObj spid="_x0000_s23564" name="文档" r:id="rId4" imgW="3826872" imgH="1155045" progId="Word.Document.12">
                  <p:embed/>
                </p:oleObj>
              </mc:Choice>
              <mc:Fallback>
                <p:oleObj name="文档" r:id="rId4" imgW="3826872" imgH="1155045" progId="Word.Document.12">
                  <p:embed/>
                  <p:pic>
                    <p:nvPicPr>
                      <p:cNvPr id="0" name=""/>
                      <p:cNvPicPr/>
                      <p:nvPr/>
                    </p:nvPicPr>
                    <p:blipFill>
                      <a:blip r:embed="rId5"/>
                      <a:stretch>
                        <a:fillRect/>
                      </a:stretch>
                    </p:blipFill>
                    <p:spPr>
                      <a:xfrm>
                        <a:off x="432445" y="1007839"/>
                        <a:ext cx="11671959" cy="3522887"/>
                      </a:xfrm>
                      <a:prstGeom prst="rect">
                        <a:avLst/>
                      </a:prstGeom>
                    </p:spPr>
                  </p:pic>
                </p:oleObj>
              </mc:Fallback>
            </mc:AlternateContent>
          </a:graphicData>
        </a:graphic>
      </p:graphicFrame>
      <p:sp>
        <p:nvSpPr>
          <p:cNvPr id="6" name="矩形 5"/>
          <p:cNvSpPr>
            <a:spLocks noChangeAspect="1"/>
          </p:cNvSpPr>
          <p:nvPr/>
        </p:nvSpPr>
        <p:spPr>
          <a:xfrm>
            <a:off x="380101" y="4645055"/>
            <a:ext cx="152137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600545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743663123"/>
              </p:ext>
            </p:extLst>
          </p:nvPr>
        </p:nvGraphicFramePr>
        <p:xfrm>
          <a:off x="504453" y="1223863"/>
          <a:ext cx="11671959" cy="991976"/>
        </p:xfrm>
        <a:graphic>
          <a:graphicData uri="http://schemas.openxmlformats.org/presentationml/2006/ole">
            <mc:AlternateContent xmlns:mc="http://schemas.openxmlformats.org/markup-compatibility/2006">
              <mc:Choice xmlns:v="urn:schemas-microsoft-com:vml" Requires="v">
                <p:oleObj spid="_x0000_s24598" name="文档" r:id="rId4" imgW="3826872" imgH="325238" progId="Word.Document.12">
                  <p:embed/>
                </p:oleObj>
              </mc:Choice>
              <mc:Fallback>
                <p:oleObj name="文档" r:id="rId4" imgW="3826872" imgH="325238" progId="Word.Document.12">
                  <p:embed/>
                  <p:pic>
                    <p:nvPicPr>
                      <p:cNvPr id="0" name=""/>
                      <p:cNvPicPr/>
                      <p:nvPr/>
                    </p:nvPicPr>
                    <p:blipFill>
                      <a:blip r:embed="rId5"/>
                      <a:stretch>
                        <a:fillRect/>
                      </a:stretch>
                    </p:blipFill>
                    <p:spPr>
                      <a:xfrm>
                        <a:off x="504453" y="1223863"/>
                        <a:ext cx="11671959" cy="991976"/>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436586583"/>
              </p:ext>
            </p:extLst>
          </p:nvPr>
        </p:nvGraphicFramePr>
        <p:xfrm>
          <a:off x="504452" y="2303983"/>
          <a:ext cx="11671959" cy="1825016"/>
        </p:xfrm>
        <a:graphic>
          <a:graphicData uri="http://schemas.openxmlformats.org/presentationml/2006/ole">
            <mc:AlternateContent xmlns:mc="http://schemas.openxmlformats.org/markup-compatibility/2006">
              <mc:Choice xmlns:v="urn:schemas-microsoft-com:vml" Requires="v">
                <p:oleObj spid="_x0000_s24599" name="文档" r:id="rId7" imgW="3826872" imgH="598366" progId="Word.Document.12">
                  <p:embed/>
                </p:oleObj>
              </mc:Choice>
              <mc:Fallback>
                <p:oleObj name="文档" r:id="rId7" imgW="3826872" imgH="598366" progId="Word.Document.12">
                  <p:embed/>
                  <p:pic>
                    <p:nvPicPr>
                      <p:cNvPr id="0" name=""/>
                      <p:cNvPicPr/>
                      <p:nvPr/>
                    </p:nvPicPr>
                    <p:blipFill>
                      <a:blip r:embed="rId8"/>
                      <a:stretch>
                        <a:fillRect/>
                      </a:stretch>
                    </p:blipFill>
                    <p:spPr>
                      <a:xfrm>
                        <a:off x="504452" y="2303983"/>
                        <a:ext cx="11671959" cy="1825016"/>
                      </a:xfrm>
                      <a:prstGeom prst="rect">
                        <a:avLst/>
                      </a:prstGeom>
                    </p:spPr>
                  </p:pic>
                </p:oleObj>
              </mc:Fallback>
            </mc:AlternateContent>
          </a:graphicData>
        </a:graphic>
      </p:graphicFrame>
      <p:sp>
        <p:nvSpPr>
          <p:cNvPr id="4" name="矩形 3"/>
          <p:cNvSpPr>
            <a:spLocks noChangeAspect="1"/>
          </p:cNvSpPr>
          <p:nvPr/>
        </p:nvSpPr>
        <p:spPr>
          <a:xfrm>
            <a:off x="525585" y="4258603"/>
            <a:ext cx="235513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29049223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830698374"/>
              </p:ext>
            </p:extLst>
          </p:nvPr>
        </p:nvGraphicFramePr>
        <p:xfrm>
          <a:off x="504825" y="2165350"/>
          <a:ext cx="11645900" cy="1817688"/>
        </p:xfrm>
        <a:graphic>
          <a:graphicData uri="http://schemas.openxmlformats.org/presentationml/2006/ole">
            <mc:AlternateContent xmlns:mc="http://schemas.openxmlformats.org/markup-compatibility/2006">
              <mc:Choice xmlns:v="urn:schemas-microsoft-com:vml" Requires="v">
                <p:oleObj spid="_x0000_s25612" name="文档" r:id="rId4" imgW="3826872" imgH="599445" progId="Word.Document.12">
                  <p:embed/>
                </p:oleObj>
              </mc:Choice>
              <mc:Fallback>
                <p:oleObj name="文档" r:id="rId4" imgW="3826872" imgH="599445" progId="Word.Document.12">
                  <p:embed/>
                  <p:pic>
                    <p:nvPicPr>
                      <p:cNvPr id="0" name=""/>
                      <p:cNvPicPr/>
                      <p:nvPr/>
                    </p:nvPicPr>
                    <p:blipFill>
                      <a:blip r:embed="rId5"/>
                      <a:stretch>
                        <a:fillRect/>
                      </a:stretch>
                    </p:blipFill>
                    <p:spPr>
                      <a:xfrm>
                        <a:off x="504825" y="2165350"/>
                        <a:ext cx="11645900" cy="1817688"/>
                      </a:xfrm>
                      <a:prstGeom prst="rect">
                        <a:avLst/>
                      </a:prstGeom>
                    </p:spPr>
                  </p:pic>
                </p:oleObj>
              </mc:Fallback>
            </mc:AlternateContent>
          </a:graphicData>
        </a:graphic>
      </p:graphicFrame>
    </p:spTree>
    <p:extLst>
      <p:ext uri="{BB962C8B-B14F-4D97-AF65-F5344CB8AC3E}">
        <p14:creationId xmlns:p14="http://schemas.microsoft.com/office/powerpoint/2010/main" val="739088732"/>
      </p:ext>
    </p:extLst>
  </p:cSld>
  <p:clrMapOvr>
    <a:masterClrMapping/>
  </p:clrMapOvr>
  <p:transition spd="slow">
    <p:comb/>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549662984"/>
              </p:ext>
            </p:extLst>
          </p:nvPr>
        </p:nvGraphicFramePr>
        <p:xfrm>
          <a:off x="420688" y="798820"/>
          <a:ext cx="11645900" cy="5391150"/>
        </p:xfrm>
        <a:graphic>
          <a:graphicData uri="http://schemas.openxmlformats.org/presentationml/2006/ole">
            <mc:AlternateContent xmlns:mc="http://schemas.openxmlformats.org/markup-compatibility/2006">
              <mc:Choice xmlns:v="urn:schemas-microsoft-com:vml" Requires="v">
                <p:oleObj spid="_x0000_s26636" name="文档" r:id="rId4" imgW="3826872" imgH="1775693" progId="Word.Document.12">
                  <p:embed/>
                </p:oleObj>
              </mc:Choice>
              <mc:Fallback>
                <p:oleObj name="文档" r:id="rId4" imgW="3826872" imgH="1775693" progId="Word.Document.12">
                  <p:embed/>
                  <p:pic>
                    <p:nvPicPr>
                      <p:cNvPr id="0" name=""/>
                      <p:cNvPicPr/>
                      <p:nvPr/>
                    </p:nvPicPr>
                    <p:blipFill>
                      <a:blip r:embed="rId5"/>
                      <a:stretch>
                        <a:fillRect/>
                      </a:stretch>
                    </p:blipFill>
                    <p:spPr>
                      <a:xfrm>
                        <a:off x="420688" y="798820"/>
                        <a:ext cx="11645900" cy="5391150"/>
                      </a:xfrm>
                      <a:prstGeom prst="rect">
                        <a:avLst/>
                      </a:prstGeom>
                    </p:spPr>
                  </p:pic>
                </p:oleObj>
              </mc:Fallback>
            </mc:AlternateContent>
          </a:graphicData>
        </a:graphic>
      </p:graphicFrame>
    </p:spTree>
    <p:extLst>
      <p:ext uri="{BB962C8B-B14F-4D97-AF65-F5344CB8AC3E}">
        <p14:creationId xmlns:p14="http://schemas.microsoft.com/office/powerpoint/2010/main" val="2463031508"/>
      </p:ext>
    </p:extLst>
  </p:cSld>
  <p:clrMapOvr>
    <a:masterClrMapping/>
  </p:clrMapOvr>
  <p:transition spd="slow">
    <p:comb/>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60</TotalTime>
  <Words>1296</Words>
  <Application>Microsoft Office PowerPoint</Application>
  <PresentationFormat>自定义</PresentationFormat>
  <Paragraphs>89</Paragraphs>
  <Slides>45</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60" baseType="lpstr">
      <vt:lpstr>NEU-BZ-S92</vt:lpstr>
      <vt:lpstr>方正书宋_GBK</vt:lpstr>
      <vt:lpstr>方正正中黑简体</vt:lpstr>
      <vt:lpstr>仿宋</vt:lpstr>
      <vt:lpstr>黑体</vt:lpstr>
      <vt:lpstr>华文新魏</vt:lpstr>
      <vt:lpstr>楷体</vt:lpstr>
      <vt:lpstr>隶书</vt:lpstr>
      <vt:lpstr>宋体</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21</cp:revision>
  <dcterms:created xsi:type="dcterms:W3CDTF">2020-09-12T05:36:12Z</dcterms:created>
  <dcterms:modified xsi:type="dcterms:W3CDTF">2025-08-18T05:17:30Z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