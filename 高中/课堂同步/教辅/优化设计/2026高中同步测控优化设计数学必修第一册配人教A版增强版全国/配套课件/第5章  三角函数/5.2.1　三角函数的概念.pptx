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56" r:id="rId7"/>
    <p:sldId id="749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37" r:id="rId19"/>
    <p:sldId id="750" r:id="rId20"/>
    <p:sldId id="767" r:id="rId21"/>
    <p:sldId id="768" r:id="rId22"/>
    <p:sldId id="769" r:id="rId23"/>
    <p:sldId id="770" r:id="rId24"/>
    <p:sldId id="771" r:id="rId25"/>
    <p:sldId id="754" r:id="rId26"/>
    <p:sldId id="772" r:id="rId27"/>
    <p:sldId id="773" r:id="rId28"/>
    <p:sldId id="785" r:id="rId29"/>
    <p:sldId id="774" r:id="rId30"/>
    <p:sldId id="775" r:id="rId31"/>
    <p:sldId id="755" r:id="rId32"/>
    <p:sldId id="776" r:id="rId33"/>
    <p:sldId id="777" r:id="rId34"/>
    <p:sldId id="786" r:id="rId35"/>
    <p:sldId id="747" r:id="rId36"/>
    <p:sldId id="751" r:id="rId37"/>
    <p:sldId id="778" r:id="rId38"/>
    <p:sldId id="779" r:id="rId39"/>
    <p:sldId id="780" r:id="rId40"/>
    <p:sldId id="781" r:id="rId41"/>
    <p:sldId id="748" r:id="rId42"/>
    <p:sldId id="752" r:id="rId43"/>
    <p:sldId id="782" r:id="rId44"/>
    <p:sldId id="783" r:id="rId45"/>
    <p:sldId id="784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4" Type="http://schemas.openxmlformats.org/officeDocument/2006/relationships/image" Target="../media/image4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1.xml"/><Relationship Id="rId5" Type="http://schemas.openxmlformats.org/officeDocument/2006/relationships/slide" Target="slide35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emf"/><Relationship Id="rId5" Type="http://schemas.openxmlformats.org/officeDocument/2006/relationships/image" Target="../media/image10.emf"/><Relationship Id="rId10" Type="http://schemas.openxmlformats.org/officeDocument/2006/relationships/package" Target="../embeddings/Microsoft_Word___8.docx"/><Relationship Id="rId4" Type="http://schemas.openxmlformats.org/officeDocument/2006/relationships/package" Target="../embeddings/Microsoft_Word___6.docx"/><Relationship Id="rId9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jpeg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emf"/><Relationship Id="rId5" Type="http://schemas.openxmlformats.org/officeDocument/2006/relationships/image" Target="../media/image15.emf"/><Relationship Id="rId10" Type="http://schemas.openxmlformats.org/officeDocument/2006/relationships/package" Target="../embeddings/Microsoft_Word___12.docx"/><Relationship Id="rId4" Type="http://schemas.openxmlformats.org/officeDocument/2006/relationships/package" Target="../embeddings/Microsoft_Word___10.docx"/><Relationship Id="rId9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3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4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5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6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7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8.docx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9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1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2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3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5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6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7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8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9.docx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0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2.docx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package" Target="../embeddings/Microsoft_Word___36.docx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package" Target="../embeddings/Microsoft_Word___35.docx"/><Relationship Id="rId4" Type="http://schemas.openxmlformats.org/officeDocument/2006/relationships/package" Target="../embeddings/Microsoft_Word___33.docx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3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37.docx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31665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 smtClean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三角函数的概念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95871"/>
            <a:ext cx="10729192" cy="3802022"/>
            <a:chOff x="360437" y="1166256"/>
            <a:chExt cx="10729192" cy="3802022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166256"/>
              <a:ext cx="10729192" cy="3802022"/>
              <a:chOff x="360437" y="1767643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67643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06990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242898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借助单位圆理解三角函数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正弦、余弦、正切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的定义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掌握三角函数在各象限的符号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掌握诱导公式一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并会应用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和直观想象素养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9181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一、三角函数的定义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在平面直角坐标系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Oxy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使锐角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的顶点与原点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始边与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轴的非负半轴重合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在终边上任取一点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不与原点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垂足为点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M.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pic>
        <p:nvPicPr>
          <p:cNvPr id="4" name="NMG1TRA19.eps" descr="id:214750711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3209668"/>
            <a:ext cx="3312368" cy="269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970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3796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|OP|=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的正弦、余弦、正切分别等于什么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253534"/>
              </p:ext>
            </p:extLst>
          </p:nvPr>
        </p:nvGraphicFramePr>
        <p:xfrm>
          <a:off x="481799" y="1317807"/>
          <a:ext cx="10607329" cy="668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文档" r:id="rId4" imgW="3477813" imgH="219229" progId="Word.Document.12">
                  <p:embed/>
                </p:oleObj>
              </mc:Choice>
              <mc:Fallback>
                <p:oleObj name="文档" r:id="rId4" imgW="3477813" imgH="2192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799" y="1317807"/>
                        <a:ext cx="10607329" cy="668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199628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|OP|=r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,tan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的值怎样表示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056076"/>
              </p:ext>
            </p:extLst>
          </p:nvPr>
        </p:nvGraphicFramePr>
        <p:xfrm>
          <a:off x="482300" y="2698401"/>
          <a:ext cx="10607329" cy="668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文档" r:id="rId7" imgW="3477813" imgH="219229" progId="Word.Document.12">
                  <p:embed/>
                </p:oleObj>
              </mc:Choice>
              <mc:Fallback>
                <p:oleObj name="文档" r:id="rId7" imgW="3477813" imgH="2192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300" y="2698401"/>
                        <a:ext cx="10607329" cy="668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361950" y="339834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对确定的锐角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,tan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的值是否随点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在终边上的位置的改变而改变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因为三角函数值是比值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其大小与点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在终边上的位置无关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的终边位置有关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即三角函数值的大小只与角的大小有关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781703"/>
            <a:ext cx="10807700" cy="5410712"/>
            <a:chOff x="361950" y="709695"/>
            <a:chExt cx="10807700" cy="541071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09695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是一个任意角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它的终边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单位圆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相交于点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把点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的纵坐标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叫做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正弦函数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记作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 smtClean="0">
                  <a:ea typeface="Microsoft Yi Baiti" panose="03000500000000000000" pitchFamily="66" charset="0"/>
                  <a:cs typeface="Times New Roman" panose="02020603050405020304" pitchFamily="18" charset="0"/>
                </a:rPr>
                <a:t>α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把点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的横坐标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叫做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余弦函数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记作</a:t>
              </a:r>
              <a:r>
                <a:rPr lang="en-US" altLang="zh-CN" dirty="0" err="1"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ea typeface="Microsoft Yi Baiti" panose="03000500000000000000" pitchFamily="66" charset="0"/>
                  <a:cs typeface="Times New Roman" panose="02020603050405020304" pitchFamily="18" charset="0"/>
                </a:rPr>
                <a:t>α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NMG1TRA20.eps" descr="id:2147507123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888829" y="1899929"/>
              <a:ext cx="3096344" cy="2897164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8007462" y="853065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003117" y="1317163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163457" y="4946987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159285" y="5411085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741478" y="4946987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736931" y="5411085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181675" y="5513296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5177503" y="5977394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759696" y="5513296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7755149" y="5977394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4976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242001"/>
              </p:ext>
            </p:extLst>
          </p:nvPr>
        </p:nvGraphicFramePr>
        <p:xfrm>
          <a:off x="360437" y="1799927"/>
          <a:ext cx="11671959" cy="2346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文档" r:id="rId4" imgW="3826872" imgH="769431" progId="Word.Document.12">
                  <p:embed/>
                </p:oleObj>
              </mc:Choice>
              <mc:Fallback>
                <p:oleObj name="文档" r:id="rId4" imgW="3826872" imgH="7694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799927"/>
                        <a:ext cx="11671959" cy="2346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8352400" y="1810685"/>
            <a:ext cx="80284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348227" y="2274783"/>
            <a:ext cx="8019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0108565" y="1799927"/>
            <a:ext cx="103437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0104120" y="2264025"/>
            <a:ext cx="10332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0747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13331"/>
              </p:ext>
            </p:extLst>
          </p:nvPr>
        </p:nvGraphicFramePr>
        <p:xfrm>
          <a:off x="504453" y="1151855"/>
          <a:ext cx="11671959" cy="169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文档" r:id="rId4" imgW="3826872" imgH="555960" progId="Word.Document.12">
                  <p:embed/>
                </p:oleObj>
              </mc:Choice>
              <mc:Fallback>
                <p:oleObj name="文档" r:id="rId4" imgW="3826872" imgH="555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51855"/>
                        <a:ext cx="11671959" cy="169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8321051" y="1152079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316879" y="1616177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125717" y="1717161"/>
            <a:ext cx="246978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121545" y="2181259"/>
            <a:ext cx="24669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434037" y="1717161"/>
            <a:ext cx="246978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429865" y="2181259"/>
            <a:ext cx="24669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701781" y="2231975"/>
            <a:ext cx="2469788" cy="601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697609" y="2834893"/>
            <a:ext cx="24669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055652"/>
              </p:ext>
            </p:extLst>
          </p:nvPr>
        </p:nvGraphicFramePr>
        <p:xfrm>
          <a:off x="512437" y="2962384"/>
          <a:ext cx="10607329" cy="1861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文档" r:id="rId7" imgW="3477813" imgH="610452" progId="Word.Document.12">
                  <p:embed/>
                </p:oleObj>
              </mc:Choice>
              <mc:Fallback>
                <p:oleObj name="文档" r:id="rId7" imgW="3477813" imgH="6104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437" y="2962384"/>
                        <a:ext cx="10607329" cy="1861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5620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199886"/>
              </p:ext>
            </p:extLst>
          </p:nvPr>
        </p:nvGraphicFramePr>
        <p:xfrm>
          <a:off x="357188" y="1082675"/>
          <a:ext cx="11603037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文档" r:id="rId4" imgW="3826872" imgH="457849" progId="Word.Document.12">
                  <p:embed/>
                </p:oleObj>
              </mc:Choice>
              <mc:Fallback>
                <p:oleObj name="文档" r:id="rId4" imgW="3826872" imgH="457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082675"/>
                        <a:ext cx="11603037" cy="1376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783282"/>
              </p:ext>
            </p:extLst>
          </p:nvPr>
        </p:nvGraphicFramePr>
        <p:xfrm>
          <a:off x="353253" y="2438971"/>
          <a:ext cx="1167130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name="文档" r:id="rId7" imgW="3837724" imgH="538698" progId="Word.Document.12">
                  <p:embed/>
                </p:oleObj>
              </mc:Choice>
              <mc:Fallback>
                <p:oleObj name="文档" r:id="rId7" imgW="3837724" imgH="5386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3253" y="2438971"/>
                        <a:ext cx="11671300" cy="163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157535"/>
              </p:ext>
            </p:extLst>
          </p:nvPr>
        </p:nvGraphicFramePr>
        <p:xfrm>
          <a:off x="353772" y="4114015"/>
          <a:ext cx="11671959" cy="7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name="文档" r:id="rId10" imgW="3826872" imgH="255159" progId="Word.Document.12">
                  <p:embed/>
                </p:oleObj>
              </mc:Choice>
              <mc:Fallback>
                <p:oleObj name="文档" r:id="rId10" imgW="3826872" imgH="2551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3772" y="4114015"/>
                        <a:ext cx="11671959" cy="77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24818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94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二、正弦函数、余弦函数、正切函数值在各象限的符号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在平面直角坐标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Oxy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是一个任意角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它的终边与单位圆相交于点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根据三角函数的定义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三角函数值的符号与什么有关系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的纵坐标和横坐标的符号有关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6617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980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如何判断正弦函数、余弦函数、正切函数的值在各象限的符号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2007579"/>
            <a:ext cx="13664346" cy="4099298"/>
            <a:chOff x="361950" y="2151595"/>
            <a:chExt cx="13664346" cy="4099298"/>
          </a:xfrm>
        </p:grpSpPr>
        <p:grpSp>
          <p:nvGrpSpPr>
            <p:cNvPr id="7" name="组合 6"/>
            <p:cNvGrpSpPr/>
            <p:nvPr/>
          </p:nvGrpSpPr>
          <p:grpSpPr>
            <a:xfrm>
              <a:off x="361950" y="2151595"/>
              <a:ext cx="13664346" cy="1808572"/>
              <a:chOff x="361950" y="2511635"/>
              <a:chExt cx="13664346" cy="1808572"/>
            </a:xfrm>
          </p:grpSpPr>
          <p:sp>
            <p:nvSpPr>
              <p:cNvPr id="5" name="矩形 4"/>
              <p:cNvSpPr>
                <a:spLocks noChangeAspect="1"/>
              </p:cNvSpPr>
              <p:nvPr/>
            </p:nvSpPr>
            <p:spPr>
              <a:xfrm>
                <a:off x="361950" y="2511635"/>
                <a:ext cx="10807700" cy="180857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提示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由三角函数的定义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可知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,cos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,tan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   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(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≠0)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为第一象限角时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y&gt;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0,cos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0,tan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0;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同理可得当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在其他象限时三角函数值的符号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如图所示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" name="对象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9809353"/>
                  </p:ext>
                </p:extLst>
              </p:nvPr>
            </p:nvGraphicFramePr>
            <p:xfrm>
              <a:off x="5256981" y="2536288"/>
              <a:ext cx="8769315" cy="632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40" name="文档" r:id="rId4" imgW="3826872" imgH="276003" progId="Word.Document.12">
                      <p:embed/>
                    </p:oleObj>
                  </mc:Choice>
                  <mc:Fallback>
                    <p:oleObj name="文档" r:id="rId4" imgW="3826872" imgH="276003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5256981" y="2536288"/>
                            <a:ext cx="8769315" cy="63246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8" name="NMG1TRA21.eps" descr="id:214750713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584573" y="3950007"/>
              <a:ext cx="6912768" cy="2300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77594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一、二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三、四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象限负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余弦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一、四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二、三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象限负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一、三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二、四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象限负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记忆口诀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一全正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二正弦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三正切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四余弦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是第四象限角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的符号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13686" y="127765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409341" y="174175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966240" y="127765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961895" y="174175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103732" y="188269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099387" y="234679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656286" y="188269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651941" y="234679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111654" y="244822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107309" y="291232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653450" y="244822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649105" y="291232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6262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4058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三、诱导公式一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它们的终边有什么特点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它们的三角函数值呢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它们的终边重合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由三角函数的定义知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它们的三角函数值相等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诱导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公式一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·2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,tan(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·2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51970" y="4536231"/>
            <a:ext cx="88240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747459" y="5000329"/>
            <a:ext cx="8814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594591" y="4536231"/>
            <a:ext cx="97064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590130" y="5000329"/>
            <a:ext cx="9695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80899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329795"/>
              </p:ext>
            </p:extLst>
          </p:nvPr>
        </p:nvGraphicFramePr>
        <p:xfrm>
          <a:off x="353774" y="1678868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文档" r:id="rId4" imgW="3826872" imgH="239347" progId="Word.Document.12">
                  <p:embed/>
                </p:oleObj>
              </mc:Choice>
              <mc:Fallback>
                <p:oleObj name="文档" r:id="rId4" imgW="3826872" imgH="23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3774" y="1678868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373133"/>
              </p:ext>
            </p:extLst>
          </p:nvPr>
        </p:nvGraphicFramePr>
        <p:xfrm>
          <a:off x="353774" y="3479068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文档" r:id="rId7" imgW="3826872" imgH="228565" progId="Word.Document.12">
                  <p:embed/>
                </p:oleObj>
              </mc:Choice>
              <mc:Fallback>
                <p:oleObj name="文档" r:id="rId7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3774" y="3479068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49842"/>
              </p:ext>
            </p:extLst>
          </p:nvPr>
        </p:nvGraphicFramePr>
        <p:xfrm>
          <a:off x="353773" y="2562628"/>
          <a:ext cx="11671959" cy="812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文档" r:id="rId10" imgW="3826872" imgH="266300" progId="Word.Document.12">
                  <p:embed/>
                </p:oleObj>
              </mc:Choice>
              <mc:Fallback>
                <p:oleObj name="文档" r:id="rId10" imgW="3826872" imgH="2663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3773" y="2562628"/>
                        <a:ext cx="11671959" cy="812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03161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9181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三角函数也是函数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它们都是以角为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自变量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以比值为函数值的函数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终边相同的角的同名三角函数值相等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同一个三角函数值能找到无数个角与之对应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52725" y="324008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74436" y="385722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49269" y="443328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073405" y="504028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4319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三角函数的定义求三角函数值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51100"/>
              </p:ext>
            </p:extLst>
          </p:nvPr>
        </p:nvGraphicFramePr>
        <p:xfrm>
          <a:off x="216421" y="1413702"/>
          <a:ext cx="11671959" cy="1477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文档" r:id="rId4" imgW="3826872" imgH="484443" progId="Word.Document.12">
                  <p:embed/>
                </p:oleObj>
              </mc:Choice>
              <mc:Fallback>
                <p:oleObj name="文档" r:id="rId4" imgW="3826872" imgH="484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413702"/>
                        <a:ext cx="11671959" cy="1477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NMG1TRA22.eps" descr="id:214750715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528789" y="2997878"/>
            <a:ext cx="3024336" cy="31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22718"/>
              </p:ext>
            </p:extLst>
          </p:nvPr>
        </p:nvGraphicFramePr>
        <p:xfrm>
          <a:off x="648469" y="1799927"/>
          <a:ext cx="11671959" cy="2279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文档" r:id="rId4" imgW="3826872" imgH="747509" progId="Word.Document.12">
                  <p:embed/>
                </p:oleObj>
              </mc:Choice>
              <mc:Fallback>
                <p:oleObj name="文档" r:id="rId4" imgW="3826872" imgH="747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469" y="1799927"/>
                        <a:ext cx="11671959" cy="2279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16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550557"/>
              </p:ext>
            </p:extLst>
          </p:nvPr>
        </p:nvGraphicFramePr>
        <p:xfrm>
          <a:off x="420688" y="842349"/>
          <a:ext cx="11645900" cy="527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文档" r:id="rId4" imgW="3826872" imgH="1738677" progId="Word.Document.12">
                  <p:embed/>
                </p:oleObj>
              </mc:Choice>
              <mc:Fallback>
                <p:oleObj name="文档" r:id="rId4" imgW="3826872" imgH="1738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842349"/>
                        <a:ext cx="11645900" cy="5275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969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56928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361950" y="945991"/>
            <a:ext cx="10807700" cy="4608512"/>
            <a:chOff x="361950" y="945991"/>
            <a:chExt cx="10807700" cy="4608512"/>
          </a:xfrm>
        </p:grpSpPr>
        <p:grpSp>
          <p:nvGrpSpPr>
            <p:cNvPr id="8" name="组合 7"/>
            <p:cNvGrpSpPr/>
            <p:nvPr/>
          </p:nvGrpSpPr>
          <p:grpSpPr>
            <a:xfrm>
              <a:off x="361950" y="945991"/>
              <a:ext cx="10807700" cy="4608512"/>
              <a:chOff x="361950" y="1079847"/>
              <a:chExt cx="10807700" cy="4608512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1079847"/>
                <a:ext cx="10807700" cy="245605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  <a:cs typeface="Times New Roman" panose="02020603050405020304" pitchFamily="18" charset="0"/>
                  </a:rPr>
                  <a:t>反思感悟</a:t>
                </a:r>
                <a:endParaRPr lang="zh-CN" altLang="zh-CN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先求出角的终边与单位圆的交点坐标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再利用正弦函数、余弦函数的定义求出相应三角函数值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;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也可以取角的终边上不与原点重合的任意一点的坐标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),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则对应角的正弦函数值</a:t>
                </a:r>
                <a:endParaRPr lang="zh-CN" altLang="en-US" dirty="0"/>
              </a:p>
            </p:txBody>
          </p:sp>
          <p:sp>
            <p:nvSpPr>
              <p:cNvPr id="7" name="矩形 6"/>
              <p:cNvSpPr>
                <a:spLocks noChangeAspect="1"/>
              </p:cNvSpPr>
              <p:nvPr/>
            </p:nvSpPr>
            <p:spPr>
              <a:xfrm>
                <a:off x="361950" y="4470718"/>
                <a:ext cx="10807700" cy="12176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当角</a:t>
                </a:r>
                <a:r>
                  <a:rPr lang="en-US" altLang="zh-CN" i="1" dirty="0">
                    <a:solidFill>
                      <a:srgbClr val="000000"/>
                    </a:solidFill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的终边上点的坐标是以参数形式给出时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要根据问题的实际情况对参数进行分类讨论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2833971"/>
                </p:ext>
              </p:extLst>
            </p:nvPr>
          </p:nvGraphicFramePr>
          <p:xfrm>
            <a:off x="504453" y="3323913"/>
            <a:ext cx="10607329" cy="1120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0" name="文档" r:id="rId4" imgW="3477813" imgH="367425" progId="Word.Document.12">
                    <p:embed/>
                  </p:oleObj>
                </mc:Choice>
                <mc:Fallback>
                  <p:oleObj name="文档" r:id="rId4" imgW="3477813" imgH="36742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3323913"/>
                          <a:ext cx="10607329" cy="11206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5567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的正弦值、余弦值和正切值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的终边与单位圆的交点坐标为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1,tan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17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301975"/>
              </p:ext>
            </p:extLst>
          </p:nvPr>
        </p:nvGraphicFramePr>
        <p:xfrm>
          <a:off x="577850" y="719807"/>
          <a:ext cx="11645900" cy="555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文档" r:id="rId4" imgW="3826872" imgH="1832115" progId="Word.Document.12">
                  <p:embed/>
                </p:oleObj>
              </mc:Choice>
              <mc:Fallback>
                <p:oleObj name="文档" r:id="rId4" imgW="3826872" imgH="18321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719807"/>
                        <a:ext cx="11645900" cy="555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532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三角函数</a:t>
            </a:r>
            <a:r>
              <a:rPr lang="zh-CN" altLang="zh-CN" dirty="0"/>
              <a:t>值符号的判断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3cos 4tan 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的符号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先确定角所在象限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再确定各式的符号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所在的象限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的符号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925999"/>
            <a:ext cx="11797967" cy="4953098"/>
            <a:chOff x="361950" y="1007839"/>
            <a:chExt cx="11797967" cy="4953098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9361189"/>
                </p:ext>
              </p:extLst>
            </p:nvPr>
          </p:nvGraphicFramePr>
          <p:xfrm>
            <a:off x="487958" y="1007839"/>
            <a:ext cx="11671959" cy="697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" name="文档" r:id="rId4" imgW="3826872" imgH="228565" progId="Word.Document.12">
                    <p:embed/>
                  </p:oleObj>
                </mc:Choice>
                <mc:Fallback>
                  <p:oleObj name="文档" r:id="rId4" imgW="3826872" imgH="2285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958" y="1007839"/>
                          <a:ext cx="11671959" cy="6971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732087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0,tan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4tan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 smtClean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err="1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同号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是第一或第四象限角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异号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是第三或第四象限角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是第四象限角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896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007839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530930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“sin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cos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的符号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是第二或第三象限角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是第三或第四象限角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是第三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0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7503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endParaRPr lang="zh-CN" altLang="zh-CN" dirty="0" smtClean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判断三角函数值正负的两个步骤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所在的象限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利用三角函数值的符号规律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一全正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二正弦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三正切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四余弦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来判断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的终边不一定落在第一象限或第二象限内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有可能终边落在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轴的非负半轴上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04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0633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(cos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位于第二象限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第二象限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第三象限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第四象限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为第三象限角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5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021443"/>
              </p:ext>
            </p:extLst>
          </p:nvPr>
        </p:nvGraphicFramePr>
        <p:xfrm>
          <a:off x="497790" y="1511895"/>
          <a:ext cx="11671959" cy="70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文档" r:id="rId4" imgW="3837724" imgH="231128" progId="Word.Document.12">
                  <p:embed/>
                </p:oleObj>
              </mc:Choice>
              <mc:Fallback>
                <p:oleObj name="文档" r:id="rId4" imgW="3837724" imgH="2311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790" y="1511895"/>
                        <a:ext cx="11671959" cy="70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61950" y="2321459"/>
            <a:ext cx="11807799" cy="1998748"/>
            <a:chOff x="361950" y="2321459"/>
            <a:chExt cx="11807799" cy="1998748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9407934"/>
                </p:ext>
              </p:extLst>
            </p:nvPr>
          </p:nvGraphicFramePr>
          <p:xfrm>
            <a:off x="497790" y="2321459"/>
            <a:ext cx="11671959" cy="702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1" name="文档" r:id="rId7" imgW="3826872" imgH="230362" progId="Word.Document.12">
                    <p:embed/>
                  </p:oleObj>
                </mc:Choice>
                <mc:Fallback>
                  <p:oleObj name="文档" r:id="rId7" imgW="3826872" imgH="2303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7790" y="2321459"/>
                          <a:ext cx="11671959" cy="7026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10256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是第二或第四象限角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是第四象限角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70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诱导</a:t>
            </a:r>
            <a:r>
              <a:rPr lang="zh-CN" altLang="zh-CN" dirty="0"/>
              <a:t>公式一的应用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336476"/>
              </p:ext>
            </p:extLst>
          </p:nvPr>
        </p:nvGraphicFramePr>
        <p:xfrm>
          <a:off x="465125" y="1790095"/>
          <a:ext cx="11671959" cy="178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文档" r:id="rId4" imgW="3826872" imgH="584351" progId="Word.Document.12">
                  <p:embed/>
                </p:oleObj>
              </mc:Choice>
              <mc:Fallback>
                <p:oleObj name="文档" r:id="rId4" imgW="3826872" imgH="5843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125" y="1790095"/>
                        <a:ext cx="11671959" cy="1782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626286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利用诱导公式一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先把每个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角化为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再利用特殊角的三角函数值求值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112214"/>
              </p:ext>
            </p:extLst>
          </p:nvPr>
        </p:nvGraphicFramePr>
        <p:xfrm>
          <a:off x="432445" y="1151855"/>
          <a:ext cx="11671959" cy="3784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文档" r:id="rId4" imgW="3826872" imgH="1240937" progId="Word.Document.12">
                  <p:embed/>
                </p:oleObj>
              </mc:Choice>
              <mc:Fallback>
                <p:oleObj name="文档" r:id="rId4" imgW="3826872" imgH="12409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51855"/>
                        <a:ext cx="11671959" cy="3784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720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诱导公式一可把任意角的三角函数值化为区间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上角的三角函数值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负化正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大化小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体现了数学中的转化与化归思想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05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203011"/>
              </p:ext>
            </p:extLst>
          </p:nvPr>
        </p:nvGraphicFramePr>
        <p:xfrm>
          <a:off x="432445" y="813122"/>
          <a:ext cx="10607329" cy="1788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文档" r:id="rId4" imgW="3477813" imgH="586294" progId="Word.Document.12">
                  <p:embed/>
                </p:oleObj>
              </mc:Choice>
              <mc:Fallback>
                <p:oleObj name="文档" r:id="rId4" imgW="3477813" imgH="5862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13122"/>
                        <a:ext cx="10607329" cy="1788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248710"/>
              </p:ext>
            </p:extLst>
          </p:nvPr>
        </p:nvGraphicFramePr>
        <p:xfrm>
          <a:off x="432444" y="2675498"/>
          <a:ext cx="10607329" cy="3094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文档" r:id="rId7" imgW="3477813" imgH="1014656" progId="Word.Document.12">
                  <p:embed/>
                </p:oleObj>
              </mc:Choice>
              <mc:Fallback>
                <p:oleObj name="文档" r:id="rId7" imgW="3477813" imgH="10146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2675498"/>
                        <a:ext cx="10607329" cy="3094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61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36463"/>
            <a:ext cx="11850688" cy="5791312"/>
            <a:chOff x="361950" y="536463"/>
            <a:chExt cx="11850688" cy="579131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3646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忽视对参数的分类讨论致错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的终边过点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6349993"/>
                </p:ext>
              </p:extLst>
            </p:nvPr>
          </p:nvGraphicFramePr>
          <p:xfrm>
            <a:off x="568325" y="1712913"/>
            <a:ext cx="11644313" cy="4614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4" name="文档" r:id="rId4" imgW="3826872" imgH="1519815" progId="Word.Document.12">
                    <p:embed/>
                  </p:oleObj>
                </mc:Choice>
                <mc:Fallback>
                  <p:oleObj name="文档" r:id="rId4" imgW="3826872" imgH="151981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8325" y="1712913"/>
                          <a:ext cx="11644313" cy="4614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733843"/>
              </p:ext>
            </p:extLst>
          </p:nvPr>
        </p:nvGraphicFramePr>
        <p:xfrm>
          <a:off x="504453" y="2518030"/>
          <a:ext cx="10607329" cy="215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文档" r:id="rId4" imgW="3477813" imgH="704922" progId="Word.Document.12">
                  <p:embed/>
                </p:oleObj>
              </mc:Choice>
              <mc:Fallback>
                <p:oleObj name="文档" r:id="rId4" imgW="3477813" imgH="7049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518030"/>
                        <a:ext cx="10607329" cy="2150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127620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2542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453760"/>
              </p:ext>
            </p:extLst>
          </p:nvPr>
        </p:nvGraphicFramePr>
        <p:xfrm>
          <a:off x="308093" y="989986"/>
          <a:ext cx="11645900" cy="450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文档" r:id="rId4" imgW="3826872" imgH="1484236" progId="Word.Document.12">
                  <p:embed/>
                </p:oleObj>
              </mc:Choice>
              <mc:Fallback>
                <p:oleObj name="文档" r:id="rId4" imgW="3826872" imgH="14842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093" y="989986"/>
                        <a:ext cx="11645900" cy="450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78477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17925" y="1533758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 dirty="0" smtClean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sz="3200" b="1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317652"/>
              </p:ext>
            </p:extLst>
          </p:nvPr>
        </p:nvGraphicFramePr>
        <p:xfrm>
          <a:off x="340773" y="2226854"/>
          <a:ext cx="11671959" cy="1815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文档" r:id="rId4" imgW="3826872" imgH="595851" progId="Word.Document.12">
                  <p:embed/>
                </p:oleObj>
              </mc:Choice>
              <mc:Fallback>
                <p:oleObj name="文档" r:id="rId4" imgW="3826872" imgH="5958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0773" y="2226854"/>
                        <a:ext cx="11671959" cy="1815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85274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48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的终边上一点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的三角函数值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0503"/>
              </p:ext>
            </p:extLst>
          </p:nvPr>
        </p:nvGraphicFramePr>
        <p:xfrm>
          <a:off x="473075" y="1985963"/>
          <a:ext cx="116459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文档" r:id="rId4" imgW="3826872" imgH="1405892" progId="Word.Document.12">
                  <p:embed/>
                </p:oleObj>
              </mc:Choice>
              <mc:Fallback>
                <p:oleObj name="文档" r:id="rId4" imgW="3826872" imgH="14058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5" y="1985963"/>
                        <a:ext cx="11645900" cy="426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93651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446535"/>
              </p:ext>
            </p:extLst>
          </p:nvPr>
        </p:nvGraphicFramePr>
        <p:xfrm>
          <a:off x="290032" y="1044727"/>
          <a:ext cx="11671959" cy="1567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文档" r:id="rId4" imgW="3837724" imgH="541943" progId="Word.Document.12">
                  <p:embed/>
                </p:oleObj>
              </mc:Choice>
              <mc:Fallback>
                <p:oleObj name="文档" r:id="rId4" imgW="3837724" imgH="5419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0032" y="1044727"/>
                        <a:ext cx="11671959" cy="1567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358464"/>
              </p:ext>
            </p:extLst>
          </p:nvPr>
        </p:nvGraphicFramePr>
        <p:xfrm>
          <a:off x="290032" y="2720575"/>
          <a:ext cx="11671959" cy="130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文档" r:id="rId7" imgW="3826872" imgH="426943" progId="Word.Document.12">
                  <p:embed/>
                </p:oleObj>
              </mc:Choice>
              <mc:Fallback>
                <p:oleObj name="文档" r:id="rId7" imgW="3826872" imgH="4269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032" y="2720575"/>
                        <a:ext cx="11671959" cy="1302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88429" y="413116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0783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1·cos 2·tan 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负数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不存在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853301"/>
            <a:ext cx="11681791" cy="1898954"/>
            <a:chOff x="361950" y="2997317"/>
            <a:chExt cx="11681791" cy="1898954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4296046"/>
                </p:ext>
              </p:extLst>
            </p:nvPr>
          </p:nvGraphicFramePr>
          <p:xfrm>
            <a:off x="371782" y="2997317"/>
            <a:ext cx="11671959" cy="642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4" name="文档" r:id="rId4" imgW="3837724" imgH="217426" progId="Word.Document.12">
                    <p:embed/>
                  </p:oleObj>
                </mc:Choice>
                <mc:Fallback>
                  <p:oleObj name="文档" r:id="rId4" imgW="3837724" imgH="21742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1782" y="2997317"/>
                          <a:ext cx="11671959" cy="6423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67863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0,tan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1·cos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2·tan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478907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38406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429946"/>
              </p:ext>
            </p:extLst>
          </p:nvPr>
        </p:nvGraphicFramePr>
        <p:xfrm>
          <a:off x="432445" y="906335"/>
          <a:ext cx="11671959" cy="1307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文档" r:id="rId4" imgW="3826872" imgH="428739" progId="Word.Document.12">
                  <p:embed/>
                </p:oleObj>
              </mc:Choice>
              <mc:Fallback>
                <p:oleObj name="文档" r:id="rId4" imgW="3826872" imgH="4287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06335"/>
                        <a:ext cx="11671959" cy="1307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288429" y="234649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134393"/>
              </p:ext>
            </p:extLst>
          </p:nvPr>
        </p:nvGraphicFramePr>
        <p:xfrm>
          <a:off x="432445" y="3066575"/>
          <a:ext cx="11671959" cy="70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文档" r:id="rId7" imgW="3826872" imgH="231800" progId="Word.Document.12">
                  <p:embed/>
                </p:oleObj>
              </mc:Choice>
              <mc:Fallback>
                <p:oleObj name="文档" r:id="rId7" imgW="3826872" imgH="231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066575"/>
                        <a:ext cx="11671959" cy="706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152078"/>
              </p:ext>
            </p:extLst>
          </p:nvPr>
        </p:nvGraphicFramePr>
        <p:xfrm>
          <a:off x="437246" y="3858663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2" name="文档" r:id="rId10" imgW="3826872" imgH="238987" progId="Word.Document.12">
                  <p:embed/>
                </p:oleObj>
              </mc:Choice>
              <mc:Fallback>
                <p:oleObj name="文档" r:id="rId10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7246" y="3858663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07182"/>
              </p:ext>
            </p:extLst>
          </p:nvPr>
        </p:nvGraphicFramePr>
        <p:xfrm>
          <a:off x="428843" y="4722759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3" name="文档" r:id="rId13" imgW="3826872" imgH="228565" progId="Word.Document.12">
                  <p:embed/>
                </p:oleObj>
              </mc:Choice>
              <mc:Fallback>
                <p:oleObj name="文档" r:id="rId13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8843" y="4722759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04956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283279" y="104880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≠0,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,tan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017891"/>
              </p:ext>
            </p:extLst>
          </p:nvPr>
        </p:nvGraphicFramePr>
        <p:xfrm>
          <a:off x="357188" y="1706134"/>
          <a:ext cx="11645900" cy="342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文档" r:id="rId4" imgW="3826872" imgH="1128810" progId="Word.Document.12">
                  <p:embed/>
                </p:oleObj>
              </mc:Choice>
              <mc:Fallback>
                <p:oleObj name="文档" r:id="rId4" imgW="3826872" imgH="11288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706134"/>
                        <a:ext cx="11645900" cy="342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032314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51</TotalTime>
  <Words>1425</Words>
  <Application>Microsoft Office PowerPoint</Application>
  <PresentationFormat>自定义</PresentationFormat>
  <Paragraphs>111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2025-08-18T05:35:53Z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