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37" r:id="rId12"/>
    <p:sldId id="750" r:id="rId13"/>
    <p:sldId id="760" r:id="rId14"/>
    <p:sldId id="761" r:id="rId15"/>
    <p:sldId id="762" r:id="rId16"/>
    <p:sldId id="754" r:id="rId17"/>
    <p:sldId id="763" r:id="rId18"/>
    <p:sldId id="764" r:id="rId19"/>
    <p:sldId id="765" r:id="rId20"/>
    <p:sldId id="766" r:id="rId21"/>
    <p:sldId id="773" r:id="rId22"/>
    <p:sldId id="774" r:id="rId23"/>
    <p:sldId id="775" r:id="rId24"/>
    <p:sldId id="777" r:id="rId25"/>
    <p:sldId id="778" r:id="rId26"/>
    <p:sldId id="747" r:id="rId27"/>
    <p:sldId id="751" r:id="rId28"/>
    <p:sldId id="779" r:id="rId29"/>
    <p:sldId id="780" r:id="rId30"/>
    <p:sldId id="787" r:id="rId31"/>
    <p:sldId id="788" r:id="rId32"/>
    <p:sldId id="781" r:id="rId33"/>
    <p:sldId id="789" r:id="rId34"/>
    <p:sldId id="748" r:id="rId35"/>
    <p:sldId id="752" r:id="rId36"/>
    <p:sldId id="782" r:id="rId37"/>
    <p:sldId id="783" r:id="rId38"/>
    <p:sldId id="784" r:id="rId39"/>
    <p:sldId id="785" r:id="rId40"/>
    <p:sldId id="786" r:id="rId41"/>
    <p:sldId id="735" r:id="rId42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41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4.xml"/><Relationship Id="rId5" Type="http://schemas.openxmlformats.org/officeDocument/2006/relationships/slide" Target="slide26.xml"/><Relationship Id="rId4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8.docx"/><Relationship Id="rId9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0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1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2.docx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4.docx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1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2.jpeg"/><Relationship Id="rId11" Type="http://schemas.openxmlformats.org/officeDocument/2006/relationships/package" Target="../embeddings/Microsoft_Word___15.docx"/><Relationship Id="rId5" Type="http://schemas.openxmlformats.org/officeDocument/2006/relationships/image" Target="../media/image19.emf"/><Relationship Id="rId10" Type="http://schemas.openxmlformats.org/officeDocument/2006/relationships/oleObject" Target="../embeddings/oleObject15.bin"/><Relationship Id="rId4" Type="http://schemas.openxmlformats.org/officeDocument/2006/relationships/package" Target="../embeddings/Microsoft_Word___13.docx"/><Relationship Id="rId9" Type="http://schemas.openxmlformats.org/officeDocument/2006/relationships/image" Target="../media/image2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4.jpeg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6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7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8.docx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19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0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2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1.jpeg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3.docx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4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4.jpeg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5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26.docx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27.docx"/><Relationship Id="rId9" Type="http://schemas.openxmlformats.org/officeDocument/2006/relationships/image" Target="../media/image38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29.docx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31.bin"/><Relationship Id="rId7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43.emf"/><Relationship Id="rId5" Type="http://schemas.openxmlformats.org/officeDocument/2006/relationships/image" Target="../media/image41.emf"/><Relationship Id="rId10" Type="http://schemas.openxmlformats.org/officeDocument/2006/relationships/package" Target="../embeddings/Microsoft_Word___33.docx"/><Relationship Id="rId4" Type="http://schemas.openxmlformats.org/officeDocument/2006/relationships/package" Target="../embeddings/Microsoft_Word___31.docx"/><Relationship Id="rId9" Type="http://schemas.openxmlformats.org/officeDocument/2006/relationships/oleObject" Target="../embeddings/oleObject33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44.emf"/><Relationship Id="rId4" Type="http://schemas.openxmlformats.org/officeDocument/2006/relationships/package" Target="../embeddings/Microsoft_Word___34.docx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45.emf"/><Relationship Id="rId4" Type="http://schemas.openxmlformats.org/officeDocument/2006/relationships/package" Target="../embeddings/Microsoft_Word___35.docx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46.emf"/><Relationship Id="rId4" Type="http://schemas.openxmlformats.org/officeDocument/2006/relationships/package" Target="../embeddings/Microsoft_Word___36.docx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288429" y="1943943"/>
            <a:ext cx="11015711" cy="2259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4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4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4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匀速圆周运动的数学模型</a:t>
            </a:r>
            <a:endParaRPr lang="zh-CN" altLang="zh-CN" sz="4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4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4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4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r>
              <a:rPr lang="en-US" altLang="zh-CN" sz="4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sz="4000" i="1" dirty="0" err="1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4000" dirty="0" err="1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sz="4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0" i="1" dirty="0" err="1">
                <a:solidFill>
                  <a:srgbClr val="00206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sz="4000" i="1" dirty="0" err="1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sz="4000" i="1" dirty="0" err="1">
                <a:solidFill>
                  <a:srgbClr val="00206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sz="4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4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的图象</a:t>
            </a:r>
            <a:endParaRPr lang="zh-CN" altLang="zh-CN" sz="4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4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4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2</a:t>
            </a:r>
            <a:r>
              <a:rPr lang="zh-CN" altLang="en-US" sz="4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　函数</a:t>
            </a:r>
            <a:r>
              <a:rPr lang="en-US" altLang="zh-CN" sz="4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y=</a:t>
            </a:r>
            <a:r>
              <a:rPr lang="en-US" altLang="zh-CN" sz="4000" dirty="0" err="1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Asin</a:t>
            </a:r>
            <a:r>
              <a:rPr lang="en-US" altLang="zh-CN" sz="4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n-US" altLang="zh-CN" sz="4000" dirty="0" err="1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ωx+φ</a:t>
            </a:r>
            <a:r>
              <a:rPr lang="en-US" altLang="zh-CN" sz="4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</a:t>
            </a:r>
            <a:r>
              <a:rPr lang="zh-CN" altLang="en-US" sz="4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的图象及其应用</a:t>
            </a:r>
            <a:endParaRPr lang="zh-CN" altLang="zh-CN" sz="4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91815"/>
            <a:ext cx="10729192" cy="5060491"/>
            <a:chOff x="360437" y="791815"/>
            <a:chExt cx="10729192" cy="506049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060491"/>
              <a:chOff x="360437" y="1511895"/>
              <a:chExt cx="10729192" cy="345638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45638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42288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五点法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画函数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能根据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的部分图象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确定其解析式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能根据实际问题建立数学模型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并能解决数学模型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体会数学建模的过程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数学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建模和数学运算素养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  范  解  答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9992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五点法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作</a:t>
            </a:r>
            <a:r>
              <a:rPr lang="zh-CN" altLang="en-US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画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的图象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五点法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五个关键点的横坐标依次取哪几个值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868341"/>
              </p:ext>
            </p:extLst>
          </p:nvPr>
        </p:nvGraphicFramePr>
        <p:xfrm>
          <a:off x="465125" y="3695092"/>
          <a:ext cx="11671959" cy="69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文档" r:id="rId4" imgW="3826872" imgH="228565" progId="Word.Document.12">
                  <p:embed/>
                </p:oleObj>
              </mc:Choice>
              <mc:Fallback>
                <p:oleObj name="文档" r:id="rId4" imgW="3826872" imgH="228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5125" y="3695092"/>
                        <a:ext cx="11671959" cy="69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367879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五点法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五个关键点的横坐标依次取哪几个值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50911"/>
              </p:ext>
            </p:extLst>
          </p:nvPr>
        </p:nvGraphicFramePr>
        <p:xfrm>
          <a:off x="465125" y="2634527"/>
          <a:ext cx="11671959" cy="1922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文档" r:id="rId4" imgW="3837724" imgH="632447" progId="Word.Document.12">
                  <p:embed/>
                </p:oleObj>
              </mc:Choice>
              <mc:Fallback>
                <p:oleObj name="文档" r:id="rId4" imgW="3837724" imgH="6324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5125" y="2634527"/>
                        <a:ext cx="11671959" cy="19225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642828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53991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五点法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的图象的步骤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第一步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列表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179930"/>
              </p:ext>
            </p:extLst>
          </p:nvPr>
        </p:nvGraphicFramePr>
        <p:xfrm>
          <a:off x="-117041" y="2070827"/>
          <a:ext cx="11844910" cy="2822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文档" r:id="rId4" imgW="3883577" imgH="925402" progId="Word.Document.12">
                  <p:embed/>
                </p:oleObj>
              </mc:Choice>
              <mc:Fallback>
                <p:oleObj name="文档" r:id="rId4" imgW="3883577" imgH="9254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17041" y="2070827"/>
                        <a:ext cx="11844910" cy="28224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1950" y="424486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第二步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在同一平面直角坐标系中描出各点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第三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用光滑曲线连接这些点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形成图象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44568" y="3660781"/>
            <a:ext cx="706495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467713" y="3675662"/>
            <a:ext cx="706495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2738790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5984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710134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的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性质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725560"/>
              </p:ext>
            </p:extLst>
          </p:nvPr>
        </p:nvGraphicFramePr>
        <p:xfrm>
          <a:off x="903288" y="1370855"/>
          <a:ext cx="988060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name="文档" r:id="rId4" imgW="3883577" imgH="2039477" progId="Word.Document.12">
                  <p:embed/>
                </p:oleObj>
              </mc:Choice>
              <mc:Fallback>
                <p:oleObj name="文档" r:id="rId4" imgW="3883577" imgH="20394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3288" y="1370855"/>
                        <a:ext cx="9880600" cy="518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4498979" y="1965223"/>
            <a:ext cx="1296144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494389" y="2326117"/>
            <a:ext cx="129467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837635" y="3010662"/>
            <a:ext cx="2651474" cy="6971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833045" y="3720838"/>
            <a:ext cx="26484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533039" y="3805694"/>
            <a:ext cx="2984044" cy="5552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5528449" y="4370271"/>
            <a:ext cx="29806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610657" y="4459732"/>
            <a:ext cx="329585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7605813" y="4823229"/>
            <a:ext cx="3292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964750" y="4948498"/>
            <a:ext cx="329585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7959906" y="5311995"/>
            <a:ext cx="3292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43016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  <p:bldP spid="14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88429" y="932094"/>
            <a:ext cx="11767046" cy="4644929"/>
            <a:chOff x="288429" y="779295"/>
            <a:chExt cx="11767046" cy="464492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288429" y="779295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3874742"/>
                </p:ext>
              </p:extLst>
            </p:nvPr>
          </p:nvGraphicFramePr>
          <p:xfrm>
            <a:off x="409575" y="2596887"/>
            <a:ext cx="11645900" cy="2827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4" name="文档" r:id="rId4" imgW="3826872" imgH="930073" progId="Word.Document.12">
                    <p:embed/>
                  </p:oleObj>
                </mc:Choice>
                <mc:Fallback>
                  <p:oleObj name="文档" r:id="rId4" imgW="3826872" imgH="93007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09575" y="2596887"/>
                          <a:ext cx="11645900" cy="2827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/>
          <p:nvPr/>
        </p:nvSpPr>
        <p:spPr>
          <a:xfrm>
            <a:off x="7417221" y="282665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37501" y="419480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813149" y="4876082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1328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736629"/>
              </p:ext>
            </p:extLst>
          </p:nvPr>
        </p:nvGraphicFramePr>
        <p:xfrm>
          <a:off x="360437" y="1400559"/>
          <a:ext cx="11671959" cy="125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" name="文档" r:id="rId4" imgW="3826872" imgH="411849" progId="Word.Document.12">
                  <p:embed/>
                </p:oleObj>
              </mc:Choice>
              <mc:Fallback>
                <p:oleObj name="文档" r:id="rId4" imgW="3826872" imgH="411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400559"/>
                        <a:ext cx="11671959" cy="1256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266720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先列表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再描点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最后连线形成图象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228062"/>
              </p:ext>
            </p:extLst>
          </p:nvPr>
        </p:nvGraphicFramePr>
        <p:xfrm>
          <a:off x="360437" y="3372873"/>
          <a:ext cx="11844910" cy="3356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" name="文档" r:id="rId7" imgW="3883577" imgH="1100419" progId="Word.Document.12">
                  <p:embed/>
                </p:oleObj>
              </mc:Choice>
              <mc:Fallback>
                <p:oleObj name="文档" r:id="rId7" imgW="3883577" imgH="11004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3372873"/>
                        <a:ext cx="11844910" cy="3356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燕尾形 5"/>
          <p:cNvSpPr/>
          <p:nvPr/>
        </p:nvSpPr>
        <p:spPr>
          <a:xfrm>
            <a:off x="768039" y="719807"/>
            <a:ext cx="10042883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探究一</a:t>
            </a:r>
            <a:r>
              <a:rPr lang="en-US" altLang="zh-CN" dirty="0"/>
              <a:t>  </a:t>
            </a:r>
            <a:r>
              <a:rPr lang="zh-CN" altLang="zh-CN" dirty="0"/>
              <a:t>用</a:t>
            </a:r>
            <a:r>
              <a:rPr lang="en-US" altLang="zh-CN" dirty="0"/>
              <a:t>“</a:t>
            </a:r>
            <a:r>
              <a:rPr lang="zh-CN" altLang="zh-CN" dirty="0"/>
              <a:t>五点法</a:t>
            </a:r>
            <a:r>
              <a:rPr lang="en-US" altLang="zh-CN" dirty="0"/>
              <a:t>”</a:t>
            </a:r>
            <a:r>
              <a:rPr lang="zh-CN" altLang="zh-CN" dirty="0" smtClean="0"/>
              <a:t>画</a:t>
            </a:r>
            <a:r>
              <a:rPr lang="zh-CN" altLang="en-US" dirty="0" smtClean="0"/>
              <a:t>函数</a:t>
            </a:r>
            <a:r>
              <a:rPr lang="en-US" altLang="zh-CN" i="1" dirty="0" smtClean="0"/>
              <a:t>y=</a:t>
            </a:r>
            <a:r>
              <a:rPr lang="en-US" altLang="zh-CN" i="1" dirty="0" err="1" smtClean="0"/>
              <a:t>A</a:t>
            </a:r>
            <a:r>
              <a:rPr lang="en-US" altLang="zh-CN" dirty="0" err="1" smtClean="0"/>
              <a:t>sin</a:t>
            </a:r>
            <a:r>
              <a:rPr lang="en-US" altLang="zh-CN" dirty="0" smtClean="0"/>
              <a:t>(</a:t>
            </a:r>
            <a:r>
              <a:rPr lang="en-US" altLang="zh-CN" i="1" dirty="0" err="1" smtClean="0"/>
              <a:t>ωx+φ</a:t>
            </a:r>
            <a:r>
              <a:rPr lang="en-US" altLang="zh-CN" dirty="0"/>
              <a:t>)</a:t>
            </a:r>
            <a:r>
              <a:rPr lang="zh-CN" altLang="zh-CN" dirty="0"/>
              <a:t>的图象</a:t>
            </a: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935831"/>
            <a:ext cx="254909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描点画图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ZMG1TRA15.eps" descr="id:214750936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096741" y="1619095"/>
            <a:ext cx="4896544" cy="39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6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61950" y="1151855"/>
                <a:ext cx="10807700" cy="388266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cs typeface="Times New Roman" panose="02020603050405020304" pitchFamily="18" charset="0"/>
                  </a:rPr>
                  <a:t>反思感悟</a:t>
                </a:r>
                <a:endParaRPr lang="zh-CN" altLang="zh-CN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用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五点法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画图时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可先令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x+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φ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分别为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i Baiti" panose="03000500000000000000" pitchFamily="66" charset="0"/>
                            <a:cs typeface="Times New Roman" panose="02020603050405020304" pitchFamily="18" charset="0"/>
                          </a:rPr>
                          <m:t>π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i Baiti" panose="03000500000000000000" pitchFamily="66" charset="0"/>
                            <a:cs typeface="Times New Roman" panose="02020603050405020304" pitchFamily="18" charset="0"/>
                          </a:rPr>
                          <m:t>π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,2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解出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从而确定这五点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en-US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画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y=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sin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x+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φ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在给定区间上的图象时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若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zh-CN" dirty="0">
                    <a:solidFill>
                      <a:srgbClr val="000000"/>
                    </a:solidFill>
                    <a:latin typeface="NEU-BZ-S92" panose="02020503000000020003" pitchFamily="18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∈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[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],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则应先求出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x+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φ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的相应范围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在求出的范围内先确定关键点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再确定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的值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最后描点、连线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形成图象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1151855"/>
                <a:ext cx="10807700" cy="3882666"/>
              </a:xfrm>
              <a:prstGeom prst="rect">
                <a:avLst/>
              </a:prstGeom>
              <a:blipFill rotWithShape="0">
                <a:blip r:embed="rId2"/>
                <a:stretch>
                  <a:fillRect l="-1352" t="-1408" r="-901" b="-266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48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257692"/>
              </p:ext>
            </p:extLst>
          </p:nvPr>
        </p:nvGraphicFramePr>
        <p:xfrm>
          <a:off x="-173115" y="698500"/>
          <a:ext cx="116617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8" name="文档" r:id="rId4" imgW="3826872" imgH="241862" progId="Word.Document.12">
                  <p:embed/>
                </p:oleObj>
              </mc:Choice>
              <mc:Fallback>
                <p:oleObj name="文档" r:id="rId4" imgW="3826872" imgH="2418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73115" y="698500"/>
                        <a:ext cx="11661775" cy="72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215900" y="1473200"/>
            <a:ext cx="11833225" cy="4895911"/>
            <a:chOff x="215900" y="1494437"/>
            <a:chExt cx="11833225" cy="4895911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9635634"/>
                </p:ext>
              </p:extLst>
            </p:nvPr>
          </p:nvGraphicFramePr>
          <p:xfrm>
            <a:off x="215900" y="1494437"/>
            <a:ext cx="11833225" cy="3529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39" name="文档" r:id="rId7" imgW="3894589" imgH="1165376" progId="Word.Document.12">
                    <p:embed/>
                  </p:oleObj>
                </mc:Choice>
                <mc:Fallback>
                  <p:oleObj name="文档" r:id="rId7" imgW="3894589" imgH="116537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5900" y="1494437"/>
                          <a:ext cx="11833225" cy="35290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288429" y="4329409"/>
              <a:ext cx="5333511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描点、连线得图象如图所示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9" name="ZMG1TRA16.eps" descr="id:2147509386;FounderCES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5977061" y="4392215"/>
              <a:ext cx="3456384" cy="19981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8405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24533" y="719807"/>
            <a:ext cx="912989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由</a:t>
            </a:r>
            <a:r>
              <a:rPr lang="zh-CN" altLang="zh-CN" dirty="0"/>
              <a:t>函数</a:t>
            </a:r>
            <a:r>
              <a:rPr lang="en-US" altLang="zh-CN" i="1" dirty="0"/>
              <a:t>y=</a:t>
            </a:r>
            <a:r>
              <a:rPr lang="en-US" altLang="zh-CN" i="1" dirty="0" err="1"/>
              <a:t>A</a:t>
            </a:r>
            <a:r>
              <a:rPr lang="en-US" altLang="zh-CN" dirty="0" err="1"/>
              <a:t>sin</a:t>
            </a:r>
            <a:r>
              <a:rPr lang="en-US" altLang="zh-CN" dirty="0"/>
              <a:t>(</a:t>
            </a:r>
            <a:r>
              <a:rPr lang="en-US" altLang="zh-CN" i="1" dirty="0" err="1"/>
              <a:t>ωx+φ</a:t>
            </a:r>
            <a:r>
              <a:rPr lang="en-US" altLang="zh-CN" dirty="0"/>
              <a:t>)</a:t>
            </a:r>
            <a:r>
              <a:rPr lang="zh-CN" altLang="zh-CN" dirty="0"/>
              <a:t>的图象求其解析式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48924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|&lt;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的解析式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ZMG1TRA17.eps" descr="id:214750940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705253" y="2209323"/>
            <a:ext cx="3384376" cy="2797333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2745863"/>
            <a:ext cx="726328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可以根据函数的图象逐一确定解析式中的参数值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从而得出函数的解析式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也可根据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五点法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画图原理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确定图中所给的某点与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五点法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中的哪个点对应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将坐标代入求得函数的解析式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83382"/>
              </p:ext>
            </p:extLst>
          </p:nvPr>
        </p:nvGraphicFramePr>
        <p:xfrm>
          <a:off x="430213" y="1155700"/>
          <a:ext cx="10583862" cy="413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文档" r:id="rId4" imgW="3467489" imgH="1354860" progId="Word.Document.12">
                  <p:embed/>
                </p:oleObj>
              </mc:Choice>
              <mc:Fallback>
                <p:oleObj name="文档" r:id="rId4" imgW="3467489" imgH="13548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155700"/>
                        <a:ext cx="10583862" cy="413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407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691870"/>
              </p:ext>
            </p:extLst>
          </p:nvPr>
        </p:nvGraphicFramePr>
        <p:xfrm>
          <a:off x="432445" y="1151855"/>
          <a:ext cx="10607329" cy="3569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2" name="文档" r:id="rId4" imgW="3467489" imgH="1167983" progId="Word.Document.12">
                  <p:embed/>
                </p:oleObj>
              </mc:Choice>
              <mc:Fallback>
                <p:oleObj name="文档" r:id="rId4" imgW="3467489" imgH="11679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151855"/>
                        <a:ext cx="10607329" cy="35697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2950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1417235"/>
            <a:ext cx="18943254" cy="3046988"/>
            <a:chOff x="361950" y="1129203"/>
            <a:chExt cx="18943254" cy="3046988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1129203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在观察函数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图象的基础上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可按以下规律来确定参数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由函数图象上点的纵坐标的最大值、最小值来确定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由函数图象与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轴的交点确定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确定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用代入法或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五点法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确定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的值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0849759"/>
                </p:ext>
              </p:extLst>
            </p:nvPr>
          </p:nvGraphicFramePr>
          <p:xfrm>
            <a:off x="7633245" y="2808039"/>
            <a:ext cx="11671959" cy="759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7" name="文档" r:id="rId4" imgW="3826872" imgH="249050" progId="Word.Document.12">
                    <p:embed/>
                  </p:oleObj>
                </mc:Choice>
                <mc:Fallback>
                  <p:oleObj name="文档" r:id="rId4" imgW="3826872" imgH="24905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633245" y="2808039"/>
                          <a:ext cx="11671959" cy="7596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4359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673004"/>
              </p:ext>
            </p:extLst>
          </p:nvPr>
        </p:nvGraphicFramePr>
        <p:xfrm>
          <a:off x="290513" y="1743075"/>
          <a:ext cx="11661775" cy="407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3" name="文档" r:id="rId4" imgW="3837724" imgH="1344942" progId="Word.Document.12">
                  <p:embed/>
                </p:oleObj>
              </mc:Choice>
              <mc:Fallback>
                <p:oleObj name="文档" r:id="rId4" imgW="3837724" imgH="13449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0513" y="1743075"/>
                        <a:ext cx="11661775" cy="407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ZMG1TRA18.eps" descr="id:2147509414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921277" y="2015951"/>
            <a:ext cx="3384774" cy="300586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728693"/>
              </p:ext>
            </p:extLst>
          </p:nvPr>
        </p:nvGraphicFramePr>
        <p:xfrm>
          <a:off x="432445" y="5678527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4" name="文档" r:id="rId8" imgW="3826872" imgH="238987" progId="Word.Document.12">
                  <p:embed/>
                </p:oleObj>
              </mc:Choice>
              <mc:Fallback>
                <p:oleObj name="文档" r:id="rId8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2445" y="5678527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001478"/>
              </p:ext>
            </p:extLst>
          </p:nvPr>
        </p:nvGraphicFramePr>
        <p:xfrm>
          <a:off x="290513" y="635623"/>
          <a:ext cx="11618912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5" name="文档" r:id="rId11" imgW="3837724" imgH="394829" progId="Word.Document.12">
                  <p:embed/>
                </p:oleObj>
              </mc:Choice>
              <mc:Fallback>
                <p:oleObj name="文档" r:id="rId11" imgW="3837724" imgH="3948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0513" y="635623"/>
                        <a:ext cx="11618912" cy="119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203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 smtClean="0"/>
              <a:t>探究</a:t>
            </a:r>
            <a:r>
              <a:rPr lang="zh-CN" altLang="en-US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三角函数</a:t>
            </a:r>
            <a:r>
              <a:rPr lang="zh-CN" altLang="zh-CN" dirty="0"/>
              <a:t>在实际问题中的应用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270495"/>
              </p:ext>
            </p:extLst>
          </p:nvPr>
        </p:nvGraphicFramePr>
        <p:xfrm>
          <a:off x="312738" y="1328551"/>
          <a:ext cx="11660187" cy="505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name="文档" r:id="rId4" imgW="3837724" imgH="1657920" progId="Word.Document.12">
                  <p:embed/>
                </p:oleObj>
              </mc:Choice>
              <mc:Fallback>
                <p:oleObj name="文档" r:id="rId4" imgW="3837724" imgH="16579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2738" y="1328551"/>
                        <a:ext cx="11660187" cy="5056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ZMG1TRA19.eps" descr="id:2147509442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9165077" y="3597797"/>
            <a:ext cx="2233647" cy="228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7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481200"/>
              </p:ext>
            </p:extLst>
          </p:nvPr>
        </p:nvGraphicFramePr>
        <p:xfrm>
          <a:off x="360437" y="811479"/>
          <a:ext cx="11671959" cy="504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文档" r:id="rId4" imgW="3826872" imgH="1655660" progId="Word.Document.12">
                  <p:embed/>
                </p:oleObj>
              </mc:Choice>
              <mc:Fallback>
                <p:oleObj name="文档" r:id="rId4" imgW="3826872" imgH="16556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811479"/>
                        <a:ext cx="11671959" cy="5049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961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069230"/>
              </p:ext>
            </p:extLst>
          </p:nvPr>
        </p:nvGraphicFramePr>
        <p:xfrm>
          <a:off x="430213" y="809591"/>
          <a:ext cx="11661775" cy="243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文档" r:id="rId4" imgW="3837724" imgH="803359" progId="Word.Document.12">
                  <p:embed/>
                </p:oleObj>
              </mc:Choice>
              <mc:Fallback>
                <p:oleObj name="文档" r:id="rId4" imgW="3837724" imgH="8033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809591"/>
                        <a:ext cx="11661775" cy="2430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8318" y="3264321"/>
            <a:ext cx="2114681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3937753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三角函数模型解决实际问题的关键是求出函数的解析式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利用函数的性质解决实际问题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053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0178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某摩天轮建筑的旋转半径为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最高点距离地面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运行一周大约需要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某人在最低点的位置坐上摩天轮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分钟时他到地面的距离为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A.75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B.85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D.110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米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48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747612"/>
              </p:ext>
            </p:extLst>
          </p:nvPr>
        </p:nvGraphicFramePr>
        <p:xfrm>
          <a:off x="432445" y="719807"/>
          <a:ext cx="11671959" cy="499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6" name="文档" r:id="rId4" imgW="3837724" imgH="1642776" progId="Word.Document.12">
                  <p:embed/>
                </p:oleObj>
              </mc:Choice>
              <mc:Fallback>
                <p:oleObj name="文档" r:id="rId4" imgW="3837724" imgH="16427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19807"/>
                        <a:ext cx="11671959" cy="499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0437" y="5688921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6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  范  解  答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814811"/>
            <a:ext cx="14295833" cy="2990434"/>
            <a:chOff x="361950" y="647799"/>
            <a:chExt cx="14295833" cy="2990434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647799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的图象与性质的综合应用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的图象的一条对称轴是直线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的单调递增区间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画出函数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[0,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上的图象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9009145"/>
                </p:ext>
              </p:extLst>
            </p:nvPr>
          </p:nvGraphicFramePr>
          <p:xfrm>
            <a:off x="2952725" y="1871935"/>
            <a:ext cx="11705058" cy="665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9" name="文档" r:id="rId4" imgW="3837724" imgH="218147" progId="Word.Document.12">
                    <p:embed/>
                  </p:oleObj>
                </mc:Choice>
                <mc:Fallback>
                  <p:oleObj name="文档" r:id="rId4" imgW="3837724" imgH="2181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952725" y="1871935"/>
                          <a:ext cx="11705058" cy="6653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361950" y="3856045"/>
            <a:ext cx="15293785" cy="1899028"/>
            <a:chOff x="361950" y="3658553"/>
            <a:chExt cx="15293785" cy="1899028"/>
          </a:xfrm>
        </p:grpSpPr>
        <p:sp>
          <p:nvSpPr>
            <p:cNvPr id="11" name="矩形 10"/>
            <p:cNvSpPr>
              <a:spLocks noChangeAspect="1"/>
            </p:cNvSpPr>
            <p:nvPr/>
          </p:nvSpPr>
          <p:spPr>
            <a:xfrm>
              <a:off x="361950" y="3692455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审题策略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利用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函数图象的一条对称轴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得出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即得出函数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的解析式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通过整体代换求出单调递增区间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利用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五点法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画出图象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0656150"/>
                </p:ext>
              </p:extLst>
            </p:nvPr>
          </p:nvGraphicFramePr>
          <p:xfrm>
            <a:off x="3950677" y="3658553"/>
            <a:ext cx="11705058" cy="665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60" name="文档" r:id="rId7" imgW="3837724" imgH="218147" progId="Word.Document.12">
                    <p:embed/>
                  </p:oleObj>
                </mc:Choice>
                <mc:Fallback>
                  <p:oleObj name="文档" r:id="rId7" imgW="3837724" imgH="2181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950677" y="3658553"/>
                          <a:ext cx="11705058" cy="6653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928752"/>
              </p:ext>
            </p:extLst>
          </p:nvPr>
        </p:nvGraphicFramePr>
        <p:xfrm>
          <a:off x="576461" y="702896"/>
          <a:ext cx="10640962" cy="5695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5" name="文档" r:id="rId4" imgW="3837724" imgH="2054191" progId="Word.Document.12">
                  <p:embed/>
                </p:oleObj>
              </mc:Choice>
              <mc:Fallback>
                <p:oleObj name="文档" r:id="rId4" imgW="3837724" imgH="20541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702896"/>
                        <a:ext cx="10640962" cy="56957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532777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164882"/>
              </p:ext>
            </p:extLst>
          </p:nvPr>
        </p:nvGraphicFramePr>
        <p:xfrm>
          <a:off x="576461" y="605691"/>
          <a:ext cx="10780771" cy="3662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4" name="文档" r:id="rId4" imgW="3534679" imgH="1200712" progId="Word.Document.12">
                  <p:embed/>
                </p:oleObj>
              </mc:Choice>
              <mc:Fallback>
                <p:oleObj name="文档" r:id="rId4" imgW="3534679" imgH="12007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605691"/>
                        <a:ext cx="10780771" cy="3662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598277" y="380631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上的图象如图所示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E01.eps" descr="id:2147494458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4104853" y="4433029"/>
            <a:ext cx="2592288" cy="190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8765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11895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答题模板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利用已知条件求出函数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↓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运用整体思想求函数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的单调增区间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↓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五点法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画出函数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1801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439887"/>
            <a:ext cx="16867801" cy="3046988"/>
            <a:chOff x="361950" y="1295871"/>
            <a:chExt cx="16867801" cy="3046988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295871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失误警示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造成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失分的主要原因如下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忽视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的取值范围将函数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的解析式求错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整体法求单调递增区间时计算错误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列表取点时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[0,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误认为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  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的范围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导致取点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错误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6833186"/>
                </p:ext>
              </p:extLst>
            </p:nvPr>
          </p:nvGraphicFramePr>
          <p:xfrm>
            <a:off x="5524693" y="3600127"/>
            <a:ext cx="11705058" cy="7258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79" name="文档" r:id="rId4" imgW="3837724" imgH="237979" progId="Word.Document.12">
                    <p:embed/>
                  </p:oleObj>
                </mc:Choice>
                <mc:Fallback>
                  <p:oleObj name="文档" r:id="rId4" imgW="3837724" imgH="23797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524693" y="3600127"/>
                          <a:ext cx="11705058" cy="7258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9363481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877701"/>
            <a:ext cx="20724865" cy="1217641"/>
            <a:chOff x="361950" y="719807"/>
            <a:chExt cx="20724865" cy="1217641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719807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一个周期的图象如图所示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33251"/>
                </p:ext>
              </p:extLst>
            </p:nvPr>
          </p:nvGraphicFramePr>
          <p:xfrm>
            <a:off x="9381757" y="722714"/>
            <a:ext cx="11705058" cy="663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20" name="文档" r:id="rId4" imgW="3837724" imgH="217426" progId="Word.Document.12">
                    <p:embed/>
                  </p:oleObj>
                </mc:Choice>
                <mc:Fallback>
                  <p:oleObj name="文档" r:id="rId4" imgW="3837724" imgH="21742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381757" y="722714"/>
                          <a:ext cx="11705058" cy="6631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" name="21E02.eps" descr="id:2147494472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456781" y="2139529"/>
            <a:ext cx="4032448" cy="2369656"/>
          </a:xfrm>
          <a:prstGeom prst="rect">
            <a:avLst/>
          </a:prstGeom>
        </p:spPr>
      </p:pic>
      <p:sp>
        <p:nvSpPr>
          <p:cNvPr id="11" name="矩形 10"/>
          <p:cNvSpPr>
            <a:spLocks noChangeAspect="1"/>
          </p:cNvSpPr>
          <p:nvPr/>
        </p:nvSpPr>
        <p:spPr>
          <a:xfrm>
            <a:off x="361950" y="4574094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的最小正周期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及最大值、最小值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的解析式及单调递增区间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7207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63375"/>
              </p:ext>
            </p:extLst>
          </p:nvPr>
        </p:nvGraphicFramePr>
        <p:xfrm>
          <a:off x="648469" y="671567"/>
          <a:ext cx="10640962" cy="568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3" name="文档" r:id="rId4" imgW="3837724" imgH="2051306" progId="Word.Document.12">
                  <p:embed/>
                </p:oleObj>
              </mc:Choice>
              <mc:Fallback>
                <p:oleObj name="文档" r:id="rId4" imgW="3837724" imgH="20513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8469" y="671567"/>
                        <a:ext cx="10640962" cy="5687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864638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411422"/>
              </p:ext>
            </p:extLst>
          </p:nvPr>
        </p:nvGraphicFramePr>
        <p:xfrm>
          <a:off x="484188" y="4067175"/>
          <a:ext cx="11618912" cy="145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0" name="文档" r:id="rId4" imgW="3837724" imgH="483169" progId="Word.Document.12">
                  <p:embed/>
                </p:oleObj>
              </mc:Choice>
              <mc:Fallback>
                <p:oleObj name="文档" r:id="rId4" imgW="3837724" imgH="4831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188" y="4067175"/>
                        <a:ext cx="11618912" cy="145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432445" y="5558311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61950" y="739471"/>
            <a:ext cx="11807799" cy="3213082"/>
            <a:chOff x="361950" y="647799"/>
            <a:chExt cx="11807799" cy="321308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47799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ω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+k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的图象如图所示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与最小正周期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分别是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7714836"/>
                </p:ext>
              </p:extLst>
            </p:nvPr>
          </p:nvGraphicFramePr>
          <p:xfrm>
            <a:off x="497790" y="2447999"/>
            <a:ext cx="11671959" cy="14128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41" name="文档" r:id="rId7" imgW="3826872" imgH="463240" progId="Word.Document.12">
                    <p:embed/>
                  </p:oleObj>
                </mc:Choice>
                <mc:Fallback>
                  <p:oleObj name="文档" r:id="rId7" imgW="3826872" imgH="46324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7790" y="2447999"/>
                          <a:ext cx="11671959" cy="141288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" name="ZMG1TRA20.eps" descr="id:2147509470;FounderCES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6769149" y="1295871"/>
              <a:ext cx="3672408" cy="24003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238097"/>
              </p:ext>
            </p:extLst>
          </p:nvPr>
        </p:nvGraphicFramePr>
        <p:xfrm>
          <a:off x="360437" y="988175"/>
          <a:ext cx="11671959" cy="143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2" name="文档" r:id="rId4" imgW="3826872" imgH="470787" progId="Word.Document.12">
                  <p:embed/>
                </p:oleObj>
              </mc:Choice>
              <mc:Fallback>
                <p:oleObj name="文档" r:id="rId4" imgW="3826872" imgH="4707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988175"/>
                        <a:ext cx="11671959" cy="143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935233"/>
              </p:ext>
            </p:extLst>
          </p:nvPr>
        </p:nvGraphicFramePr>
        <p:xfrm>
          <a:off x="355600" y="2549525"/>
          <a:ext cx="11660188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3" name="文档" r:id="rId7" imgW="3837724" imgH="586294" progId="Word.Document.12">
                  <p:embed/>
                </p:oleObj>
              </mc:Choice>
              <mc:Fallback>
                <p:oleObj name="文档" r:id="rId7" imgW="3837724" imgH="5862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5600" y="2549525"/>
                        <a:ext cx="11660188" cy="177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360436" y="4409367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68667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981453"/>
              </p:ext>
            </p:extLst>
          </p:nvPr>
        </p:nvGraphicFramePr>
        <p:xfrm>
          <a:off x="288429" y="906335"/>
          <a:ext cx="11671959" cy="1168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1" name="文档" r:id="rId4" imgW="3826872" imgH="383098" progId="Word.Document.12">
                  <p:embed/>
                </p:oleObj>
              </mc:Choice>
              <mc:Fallback>
                <p:oleObj name="文档" r:id="rId4" imgW="3826872" imgH="3830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906335"/>
                        <a:ext cx="11671959" cy="1168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204503"/>
              </p:ext>
            </p:extLst>
          </p:nvPr>
        </p:nvGraphicFramePr>
        <p:xfrm>
          <a:off x="293688" y="2135985"/>
          <a:ext cx="11645900" cy="272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2" name="文档" r:id="rId7" imgW="3826872" imgH="898807" progId="Word.Document.12">
                  <p:embed/>
                </p:oleObj>
              </mc:Choice>
              <mc:Fallback>
                <p:oleObj name="文档" r:id="rId7" imgW="3826872" imgH="8988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3688" y="2135985"/>
                        <a:ext cx="11645900" cy="2722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08974"/>
              </p:ext>
            </p:extLst>
          </p:nvPr>
        </p:nvGraphicFramePr>
        <p:xfrm>
          <a:off x="288429" y="4938857"/>
          <a:ext cx="11671959" cy="706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3" name="文档" r:id="rId10" imgW="3826872" imgH="231800" progId="Word.Document.12">
                  <p:embed/>
                </p:oleObj>
              </mc:Choice>
              <mc:Fallback>
                <p:oleObj name="文档" r:id="rId10" imgW="3826872" imgH="2318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8429" y="4938857"/>
                        <a:ext cx="11671959" cy="706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408578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520044"/>
              </p:ext>
            </p:extLst>
          </p:nvPr>
        </p:nvGraphicFramePr>
        <p:xfrm>
          <a:off x="360437" y="1583903"/>
          <a:ext cx="11671959" cy="2507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1" name="文档" r:id="rId4" imgW="3826872" imgH="822260" progId="Word.Document.12">
                  <p:embed/>
                </p:oleObj>
              </mc:Choice>
              <mc:Fallback>
                <p:oleObj name="文档" r:id="rId4" imgW="3826872" imgH="8222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583903"/>
                        <a:ext cx="11671959" cy="25078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507008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415339"/>
              </p:ext>
            </p:extLst>
          </p:nvPr>
        </p:nvGraphicFramePr>
        <p:xfrm>
          <a:off x="504453" y="719807"/>
          <a:ext cx="11671959" cy="5518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4" name="文档" r:id="rId4" imgW="3826872" imgH="1809474" progId="Word.Document.12">
                  <p:embed/>
                </p:oleObj>
              </mc:Choice>
              <mc:Fallback>
                <p:oleObj name="文档" r:id="rId4" imgW="3826872" imgH="18094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19807"/>
                        <a:ext cx="11671959" cy="55188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355972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285672"/>
              </p:ext>
            </p:extLst>
          </p:nvPr>
        </p:nvGraphicFramePr>
        <p:xfrm>
          <a:off x="432445" y="1965254"/>
          <a:ext cx="11671959" cy="199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8" name="文档" r:id="rId4" imgW="3826872" imgH="654070" progId="Word.Document.12">
                  <p:embed/>
                </p:oleObj>
              </mc:Choice>
              <mc:Fallback>
                <p:oleObj name="文档" r:id="rId4" imgW="3826872" imgH="6540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965254"/>
                        <a:ext cx="11671959" cy="1994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095210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68</TotalTime>
  <Words>935</Words>
  <Application>Microsoft Office PowerPoint</Application>
  <PresentationFormat>自定义</PresentationFormat>
  <Paragraphs>70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8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28</cp:revision>
  <dcterms:created xsi:type="dcterms:W3CDTF">2020-09-12T05:36:12Z</dcterms:created>
  <dcterms:modified xsi:type="dcterms:W3CDTF">2025-08-18T07:02:13Z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