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wav" ContentType="audio/x-wav"/>
  <Default Extension="docx" ContentType="application/vnd.openxmlformats-officedocument.wordprocessingml.document"/>
  <Default Extension="vml" ContentType="application/vnd.openxmlformats-officedocument.vmlDrawing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43"/>
  </p:notesMasterIdLst>
  <p:sldIdLst>
    <p:sldId id="731" r:id="rId2"/>
    <p:sldId id="753" r:id="rId3"/>
    <p:sldId id="736" r:id="rId4"/>
    <p:sldId id="744" r:id="rId5"/>
    <p:sldId id="746" r:id="rId6"/>
    <p:sldId id="749" r:id="rId7"/>
    <p:sldId id="756" r:id="rId8"/>
    <p:sldId id="757" r:id="rId9"/>
    <p:sldId id="758" r:id="rId10"/>
    <p:sldId id="759" r:id="rId11"/>
    <p:sldId id="760" r:id="rId12"/>
    <p:sldId id="737" r:id="rId13"/>
    <p:sldId id="750" r:id="rId14"/>
    <p:sldId id="761" r:id="rId15"/>
    <p:sldId id="762" r:id="rId16"/>
    <p:sldId id="763" r:id="rId17"/>
    <p:sldId id="764" r:id="rId18"/>
    <p:sldId id="765" r:id="rId19"/>
    <p:sldId id="766" r:id="rId20"/>
    <p:sldId id="754" r:id="rId21"/>
    <p:sldId id="768" r:id="rId22"/>
    <p:sldId id="769" r:id="rId23"/>
    <p:sldId id="770" r:id="rId24"/>
    <p:sldId id="771" r:id="rId25"/>
    <p:sldId id="772" r:id="rId26"/>
    <p:sldId id="773" r:id="rId27"/>
    <p:sldId id="774" r:id="rId28"/>
    <p:sldId id="747" r:id="rId29"/>
    <p:sldId id="751" r:id="rId30"/>
    <p:sldId id="785" r:id="rId31"/>
    <p:sldId id="775" r:id="rId32"/>
    <p:sldId id="778" r:id="rId33"/>
    <p:sldId id="779" r:id="rId34"/>
    <p:sldId id="748" r:id="rId35"/>
    <p:sldId id="752" r:id="rId36"/>
    <p:sldId id="780" r:id="rId37"/>
    <p:sldId id="781" r:id="rId38"/>
    <p:sldId id="782" r:id="rId39"/>
    <p:sldId id="783" r:id="rId40"/>
    <p:sldId id="784" r:id="rId41"/>
    <p:sldId id="735" r:id="rId42"/>
  </p:sldIdLst>
  <p:sldSz cx="11522075" cy="6480175"/>
  <p:notesSz cx="6858000" cy="9144000"/>
  <p:defaultTextStyle>
    <a:defPPr>
      <a:defRPr lang="zh-CN"/>
    </a:defPPr>
    <a:lvl1pPr algn="l" rtl="0" fontAlgn="base">
      <a:spcBef>
        <a:spcPct val="0"/>
      </a:spcBef>
      <a:spcAft>
        <a:spcPct val="0"/>
      </a:spcAft>
      <a:buFont typeface="Arial" panose="020B0604020202020204" pitchFamily="34" charset="0"/>
      <a:defRPr sz="3200" b="1" kern="1200">
        <a:solidFill>
          <a:srgbClr val="FF0000"/>
        </a:solidFill>
        <a:latin typeface="Times New Roman" panose="02020603050405020304" pitchFamily="18" charset="0"/>
        <a:ea typeface="黑体" panose="02010609060101010101" pitchFamily="49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buFont typeface="Arial" panose="020B0604020202020204" pitchFamily="34" charset="0"/>
      <a:defRPr sz="3200" b="1" kern="1200">
        <a:solidFill>
          <a:srgbClr val="FF0000"/>
        </a:solidFill>
        <a:latin typeface="Times New Roman" panose="02020603050405020304" pitchFamily="18" charset="0"/>
        <a:ea typeface="黑体" panose="02010609060101010101" pitchFamily="49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buFont typeface="Arial" panose="020B0604020202020204" pitchFamily="34" charset="0"/>
      <a:defRPr sz="3200" b="1" kern="1200">
        <a:solidFill>
          <a:srgbClr val="FF0000"/>
        </a:solidFill>
        <a:latin typeface="Times New Roman" panose="02020603050405020304" pitchFamily="18" charset="0"/>
        <a:ea typeface="黑体" panose="02010609060101010101" pitchFamily="49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buFont typeface="Arial" panose="020B0604020202020204" pitchFamily="34" charset="0"/>
      <a:defRPr sz="3200" b="1" kern="1200">
        <a:solidFill>
          <a:srgbClr val="FF0000"/>
        </a:solidFill>
        <a:latin typeface="Times New Roman" panose="02020603050405020304" pitchFamily="18" charset="0"/>
        <a:ea typeface="黑体" panose="02010609060101010101" pitchFamily="49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buFont typeface="Arial" panose="020B0604020202020204" pitchFamily="34" charset="0"/>
      <a:defRPr sz="3200" b="1" kern="1200">
        <a:solidFill>
          <a:srgbClr val="FF0000"/>
        </a:solidFill>
        <a:latin typeface="Times New Roman" panose="02020603050405020304" pitchFamily="18" charset="0"/>
        <a:ea typeface="黑体" panose="02010609060101010101" pitchFamily="49" charset="-122"/>
        <a:cs typeface="+mn-cs"/>
      </a:defRPr>
    </a:lvl5pPr>
    <a:lvl6pPr marL="2286000" algn="l" defTabSz="914400" rtl="0" eaLnBrk="1" latinLnBrk="0" hangingPunct="1">
      <a:defRPr sz="3200" b="1" kern="1200">
        <a:solidFill>
          <a:srgbClr val="FF0000"/>
        </a:solidFill>
        <a:latin typeface="Times New Roman" panose="02020603050405020304" pitchFamily="18" charset="0"/>
        <a:ea typeface="黑体" panose="02010609060101010101" pitchFamily="49" charset="-122"/>
        <a:cs typeface="+mn-cs"/>
      </a:defRPr>
    </a:lvl6pPr>
    <a:lvl7pPr marL="2743200" algn="l" defTabSz="914400" rtl="0" eaLnBrk="1" latinLnBrk="0" hangingPunct="1">
      <a:defRPr sz="3200" b="1" kern="1200">
        <a:solidFill>
          <a:srgbClr val="FF0000"/>
        </a:solidFill>
        <a:latin typeface="Times New Roman" panose="02020603050405020304" pitchFamily="18" charset="0"/>
        <a:ea typeface="黑体" panose="02010609060101010101" pitchFamily="49" charset="-122"/>
        <a:cs typeface="+mn-cs"/>
      </a:defRPr>
    </a:lvl7pPr>
    <a:lvl8pPr marL="3200400" algn="l" defTabSz="914400" rtl="0" eaLnBrk="1" latinLnBrk="0" hangingPunct="1">
      <a:defRPr sz="3200" b="1" kern="1200">
        <a:solidFill>
          <a:srgbClr val="FF0000"/>
        </a:solidFill>
        <a:latin typeface="Times New Roman" panose="02020603050405020304" pitchFamily="18" charset="0"/>
        <a:ea typeface="黑体" panose="02010609060101010101" pitchFamily="49" charset="-122"/>
        <a:cs typeface="+mn-cs"/>
      </a:defRPr>
    </a:lvl8pPr>
    <a:lvl9pPr marL="3657600" algn="l" defTabSz="914400" rtl="0" eaLnBrk="1" latinLnBrk="0" hangingPunct="1">
      <a:defRPr sz="3200" b="1" kern="1200">
        <a:solidFill>
          <a:srgbClr val="FF0000"/>
        </a:solidFill>
        <a:latin typeface="Times New Roman" panose="02020603050405020304" pitchFamily="18" charset="0"/>
        <a:ea typeface="黑体" panose="02010609060101010101" pitchFamily="49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059">
          <p15:clr>
            <a:srgbClr val="A4A3A4"/>
          </p15:clr>
        </p15:guide>
        <p15:guide id="2" pos="3629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6600"/>
    <a:srgbClr val="FF9933"/>
    <a:srgbClr val="FF3399"/>
    <a:srgbClr val="FF7C80"/>
    <a:srgbClr val="FFFFFF"/>
    <a:srgbClr val="C6A7DD"/>
    <a:srgbClr val="9E5ECE"/>
    <a:srgbClr val="D60093"/>
    <a:srgbClr val="934BC9"/>
    <a:srgbClr val="3399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4" autoAdjust="0"/>
    <p:restoredTop sz="94591" autoAdjust="0"/>
  </p:normalViewPr>
  <p:slideViewPr>
    <p:cSldViewPr>
      <p:cViewPr varScale="1">
        <p:scale>
          <a:sx n="97" d="100"/>
          <a:sy n="97" d="100"/>
        </p:scale>
        <p:origin x="504" y="78"/>
      </p:cViewPr>
      <p:guideLst>
        <p:guide orient="horz" pos="2059"/>
        <p:guide pos="3629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30" d="100"/>
        <a:sy n="13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emf"/></Relationships>
</file>

<file path=ppt/drawings/_rels/vmlDrawing3.v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image" Target="../media/image6.e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8.e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9.e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11.e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12.emf"/></Relationships>
</file>

<file path=ppt/drawings/_rels/vmlDrawing8.vml.rels><?xml version="1.0" encoding="UTF-8" standalone="yes"?>
<Relationships xmlns="http://schemas.openxmlformats.org/package/2006/relationships"><Relationship Id="rId1" Type="http://schemas.openxmlformats.org/officeDocument/2006/relationships/image" Target="../media/image13.emf"/></Relationships>
</file>

<file path=ppt/drawings/_rels/vmlDrawing9.vml.rels><?xml version="1.0" encoding="UTF-8" standalone="yes"?>
<Relationships xmlns="http://schemas.openxmlformats.org/package/2006/relationships"><Relationship Id="rId1" Type="http://schemas.openxmlformats.org/officeDocument/2006/relationships/image" Target="../media/image15.emf"/></Relationships>
</file>

<file path=ppt/drawings/_rels/vmlDrawing10.vml.rels><?xml version="1.0" encoding="UTF-8" standalone="yes"?>
<Relationships xmlns="http://schemas.openxmlformats.org/package/2006/relationships"><Relationship Id="rId1" Type="http://schemas.openxmlformats.org/officeDocument/2006/relationships/image" Target="../media/image17.emf"/></Relationships>
</file>

<file path=ppt/drawings/_rels/vmlDrawing1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8.emf"/></Relationships>
</file>

<file path=ppt/drawings/_rels/vmlDrawing1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9.emf"/></Relationships>
</file>

<file path=ppt/drawings/_rels/vmlDrawing13.vml.rels><?xml version="1.0" encoding="UTF-8" standalone="yes"?>
<Relationships xmlns="http://schemas.openxmlformats.org/package/2006/relationships"><Relationship Id="rId1" Type="http://schemas.openxmlformats.org/officeDocument/2006/relationships/image" Target="../media/image21.emf"/></Relationships>
</file>

<file path=ppt/drawings/_rels/vmlDrawing14.vml.rels><?xml version="1.0" encoding="UTF-8" standalone="yes"?>
<Relationships xmlns="http://schemas.openxmlformats.org/package/2006/relationships"><Relationship Id="rId1" Type="http://schemas.openxmlformats.org/officeDocument/2006/relationships/image" Target="../media/image22.emf"/></Relationships>
</file>

<file path=ppt/drawings/_rels/vmlDrawing15.vml.rels><?xml version="1.0" encoding="UTF-8" standalone="yes"?>
<Relationships xmlns="http://schemas.openxmlformats.org/package/2006/relationships"><Relationship Id="rId1" Type="http://schemas.openxmlformats.org/officeDocument/2006/relationships/image" Target="../media/image23.emf"/></Relationships>
</file>

<file path=ppt/drawings/_rels/vmlDrawing16.vml.rels><?xml version="1.0" encoding="UTF-8" standalone="yes"?>
<Relationships xmlns="http://schemas.openxmlformats.org/package/2006/relationships"><Relationship Id="rId1" Type="http://schemas.openxmlformats.org/officeDocument/2006/relationships/image" Target="../media/image24.emf"/></Relationships>
</file>

<file path=ppt/drawings/_rels/vmlDrawing17.vml.rels><?xml version="1.0" encoding="UTF-8" standalone="yes"?>
<Relationships xmlns="http://schemas.openxmlformats.org/package/2006/relationships"><Relationship Id="rId1" Type="http://schemas.openxmlformats.org/officeDocument/2006/relationships/image" Target="../media/image25.emf"/></Relationships>
</file>

<file path=ppt/drawings/_rels/vmlDrawing18.vml.rels><?xml version="1.0" encoding="UTF-8" standalone="yes"?>
<Relationships xmlns="http://schemas.openxmlformats.org/package/2006/relationships"><Relationship Id="rId2" Type="http://schemas.openxmlformats.org/officeDocument/2006/relationships/image" Target="../media/image27.emf"/><Relationship Id="rId1" Type="http://schemas.openxmlformats.org/officeDocument/2006/relationships/image" Target="../media/image26.emf"/></Relationships>
</file>

<file path=ppt/drawings/_rels/vmlDrawing19.vml.rels><?xml version="1.0" encoding="UTF-8" standalone="yes"?>
<Relationships xmlns="http://schemas.openxmlformats.org/package/2006/relationships"><Relationship Id="rId2" Type="http://schemas.openxmlformats.org/officeDocument/2006/relationships/image" Target="../media/image30.emf"/><Relationship Id="rId1" Type="http://schemas.openxmlformats.org/officeDocument/2006/relationships/image" Target="../media/image29.emf"/></Relationships>
</file>

<file path=ppt/drawings/_rels/vmlDrawing20.vml.rels><?xml version="1.0" encoding="UTF-8" standalone="yes"?>
<Relationships xmlns="http://schemas.openxmlformats.org/package/2006/relationships"><Relationship Id="rId1" Type="http://schemas.openxmlformats.org/officeDocument/2006/relationships/image" Target="../media/image31.emf"/></Relationships>
</file>

<file path=ppt/drawings/_rels/vmlDrawing21.vml.rels><?xml version="1.0" encoding="UTF-8" standalone="yes"?>
<Relationships xmlns="http://schemas.openxmlformats.org/package/2006/relationships"><Relationship Id="rId1" Type="http://schemas.openxmlformats.org/officeDocument/2006/relationships/image" Target="../media/image33.emf"/></Relationships>
</file>

<file path=ppt/drawings/_rels/vmlDrawing22.vml.rels><?xml version="1.0" encoding="UTF-8" standalone="yes"?>
<Relationships xmlns="http://schemas.openxmlformats.org/package/2006/relationships"><Relationship Id="rId1" Type="http://schemas.openxmlformats.org/officeDocument/2006/relationships/image" Target="../media/image34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buFontTx/>
              <a:buNone/>
              <a:defRPr sz="1200" b="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buFontTx/>
              <a:buNone/>
              <a:defRPr sz="1200" b="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124" name="幻灯片图像占位符 3"/>
          <p:cNvSpPr>
            <a:spLocks noGrp="1" noRot="1" noChangeAspect="1" noChangeArrowheads="1"/>
          </p:cNvSpPr>
          <p:nvPr>
            <p:ph type="sldImg" idx="4294967295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buFontTx/>
              <a:buNone/>
              <a:defRPr sz="1200" b="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b="0" noProof="1" dirty="0">
                <a:ea typeface="黑体" panose="02010609060101010101" pitchFamily="49" charset="-122"/>
              </a:defRPr>
            </a:lvl1pPr>
          </a:lstStyle>
          <a:p>
            <a:fld id="{A64CA497-71E0-4184-919F-D45F39379D11}" type="slidenum">
              <a:rPr lang="zh-CN" altLang="en-US"/>
              <a:pPr/>
              <a:t>‹#›</a:t>
            </a:fld>
            <a:endParaRPr lang="zh-CN" altLang="en-US">
              <a:ea typeface="黑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747822530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4CA497-71E0-4184-919F-D45F39379D11}" type="slidenum">
              <a:rPr lang="zh-CN" altLang="en-US" smtClean="0"/>
              <a:pPr/>
              <a:t>41</a:t>
            </a:fld>
            <a:endParaRPr lang="zh-CN" altLang="en-US">
              <a:ea typeface="黑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85814764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标题幻灯片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61196167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标题幻灯片">
    <p:bg>
      <p:bgPr>
        <a:pattFill prst="lgGrid">
          <a:fgClr>
            <a:schemeClr val="bg2">
              <a:lumMod val="90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云形标注 7"/>
          <p:cNvSpPr/>
          <p:nvPr userDrawn="1"/>
        </p:nvSpPr>
        <p:spPr>
          <a:xfrm>
            <a:off x="8868398" y="132726"/>
            <a:ext cx="2460413" cy="1360458"/>
          </a:xfrm>
          <a:prstGeom prst="cloudCallou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6600" dirty="0" smtClean="0">
                <a:solidFill>
                  <a:srgbClr val="FF0000"/>
                </a:solidFill>
              </a:rPr>
              <a:t>   </a:t>
            </a:r>
            <a:r>
              <a:rPr lang="zh-CN" altLang="en-US" sz="8800" dirty="0" smtClean="0">
                <a:solidFill>
                  <a:srgbClr val="FF0000"/>
                </a:solidFill>
              </a:rPr>
              <a:t>？</a:t>
            </a:r>
            <a:endParaRPr lang="zh-CN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92716598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2" presetClass="entr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7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ptsTypes="">
                                      <p:cBhvr>
                                        <p:cTn id="8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1" animBg="1"/>
    </p:bld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标题幻灯片">
    <p:bg>
      <p:bgPr>
        <a:pattFill prst="pct5">
          <a:fgClr>
            <a:schemeClr val="bg2">
              <a:lumMod val="75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75108201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5246955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4103702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128942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标题幻灯片">
    <p:bg>
      <p:bgPr>
        <a:gradFill>
          <a:gsLst>
            <a:gs pos="61000">
              <a:schemeClr val="bg2">
                <a:lumMod val="90000"/>
              </a:schemeClr>
            </a:gs>
            <a:gs pos="100000">
              <a:schemeClr val="bg2">
                <a:lumMod val="50000"/>
              </a:schemeClr>
            </a:gs>
            <a:gs pos="0">
              <a:schemeClr val="bg2">
                <a:lumMod val="50000"/>
              </a:schemeClr>
            </a:gs>
            <a:gs pos="40000">
              <a:schemeClr val="bg2">
                <a:lumMod val="9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801617" y="1129203"/>
            <a:ext cx="10071988" cy="3046988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r>
              <a:rPr lang="zh-CN" altLang="en-US" sz="9600" dirty="0" smtClean="0">
                <a:solidFill>
                  <a:schemeClr val="accent2"/>
                </a:solidFill>
                <a:effectLst>
                  <a:outerShdw dist="50800" dir="5400000" algn="ctr" rotWithShape="0">
                    <a:srgbClr val="000000">
                      <a:alpha val="60000"/>
                    </a:srgbClr>
                  </a:outerShdw>
                </a:effectLst>
                <a:latin typeface="隶书" panose="02010509060101010101" pitchFamily="49" charset="-122"/>
                <a:ea typeface="隶书" panose="02010509060101010101" pitchFamily="49" charset="-122"/>
              </a:rPr>
              <a:t>十年寒窗磨利剑，</a:t>
            </a:r>
            <a:endParaRPr lang="en-US" altLang="zh-CN" sz="9600" dirty="0" smtClean="0">
              <a:solidFill>
                <a:schemeClr val="accent2"/>
              </a:solidFill>
              <a:effectLst>
                <a:outerShdw dist="50800" dir="5400000" algn="ctr" rotWithShape="0">
                  <a:srgbClr val="000000">
                    <a:alpha val="60000"/>
                  </a:srgbClr>
                </a:outerShdw>
              </a:effectLst>
              <a:latin typeface="隶书" panose="02010509060101010101" pitchFamily="49" charset="-122"/>
              <a:ea typeface="隶书" panose="02010509060101010101" pitchFamily="49" charset="-122"/>
            </a:endParaRPr>
          </a:p>
          <a:p>
            <a:r>
              <a:rPr lang="zh-CN" altLang="en-US" sz="9600" dirty="0" smtClean="0">
                <a:solidFill>
                  <a:schemeClr val="accent2"/>
                </a:solidFill>
                <a:effectLst>
                  <a:outerShdw dist="50800" dir="5400000" algn="ctr" rotWithShape="0">
                    <a:srgbClr val="000000">
                      <a:alpha val="60000"/>
                    </a:srgbClr>
                  </a:outerShdw>
                </a:effectLst>
                <a:latin typeface="隶书" panose="02010509060101010101" pitchFamily="49" charset="-122"/>
                <a:ea typeface="隶书" panose="02010509060101010101" pitchFamily="49" charset="-122"/>
              </a:rPr>
              <a:t>一朝折桂展宏图！</a:t>
            </a:r>
            <a:endParaRPr lang="en-US" altLang="zh-CN" sz="9600" dirty="0" smtClean="0">
              <a:solidFill>
                <a:schemeClr val="accent2"/>
              </a:solidFill>
              <a:effectLst>
                <a:outerShdw dist="50800" dir="5400000" algn="ctr" rotWithShape="0">
                  <a:srgbClr val="000000">
                    <a:alpha val="60000"/>
                  </a:srgbClr>
                </a:outerShdw>
              </a:effectLst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26079027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audio" Target="../media/audio1.wav"/><Relationship Id="rId5" Type="http://schemas.openxmlformats.org/officeDocument/2006/relationships/slideLayout" Target="../slideLayouts/slideLayout5.xml"/><Relationship Id="rId10" Type="http://schemas.openxmlformats.org/officeDocument/2006/relationships/slide" Target="../slides/slide4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 userDrawn="1"/>
        </p:nvGrpSpPr>
        <p:grpSpPr>
          <a:xfrm>
            <a:off x="-1" y="36116"/>
            <a:ext cx="11522075" cy="611683"/>
            <a:chOff x="-1" y="36116"/>
            <a:chExt cx="11522075" cy="611683"/>
          </a:xfrm>
        </p:grpSpPr>
        <p:sp>
          <p:nvSpPr>
            <p:cNvPr id="7" name="矩形 6"/>
            <p:cNvSpPr/>
            <p:nvPr userDrawn="1"/>
          </p:nvSpPr>
          <p:spPr>
            <a:xfrm>
              <a:off x="-1" y="359767"/>
              <a:ext cx="11522075" cy="288032"/>
            </a:xfrm>
            <a:prstGeom prst="rect">
              <a:avLst/>
            </a:prstGeom>
            <a:gradFill flip="none" rotWithShape="1">
              <a:gsLst>
                <a:gs pos="65000">
                  <a:schemeClr val="bg2">
                    <a:lumMod val="90000"/>
                  </a:schemeClr>
                </a:gs>
                <a:gs pos="38000">
                  <a:schemeClr val="bg2">
                    <a:lumMod val="75000"/>
                  </a:schemeClr>
                </a:gs>
                <a:gs pos="1000">
                  <a:srgbClr val="0070C0"/>
                </a:gs>
                <a:gs pos="100000">
                  <a:schemeClr val="bg1"/>
                </a:gs>
              </a:gsLst>
              <a:path path="circle">
                <a:fillToRect r="100000" b="100000"/>
              </a:path>
              <a:tileRect l="-100000" t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8" name="图片 7"/>
            <p:cNvPicPr>
              <a:picLocks noChangeAspect="1"/>
            </p:cNvPicPr>
            <p:nvPr userDrawn="1"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88429" y="36116"/>
              <a:ext cx="576064" cy="576064"/>
            </a:xfrm>
            <a:prstGeom prst="rect">
              <a:avLst/>
            </a:prstGeom>
          </p:spPr>
        </p:pic>
      </p:grpSp>
      <p:sp>
        <p:nvSpPr>
          <p:cNvPr id="9" name="矩形 8"/>
          <p:cNvSpPr/>
          <p:nvPr userDrawn="1"/>
        </p:nvSpPr>
        <p:spPr>
          <a:xfrm>
            <a:off x="-9728" y="6404527"/>
            <a:ext cx="11522074" cy="72008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chemeClr val="bg2">
                    <a:lumMod val="50000"/>
                  </a:schemeClr>
                </a:solidFill>
              </a:ln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10" name="云形标注 9">
            <a:hlinkClick r:id="rId10" action="ppaction://hlinksldjump">
              <a:snd r:embed="rId11" name="camera.wav"/>
            </a:hlinkClick>
          </p:cNvPr>
          <p:cNvSpPr/>
          <p:nvPr userDrawn="1"/>
        </p:nvSpPr>
        <p:spPr>
          <a:xfrm>
            <a:off x="10441557" y="42551"/>
            <a:ext cx="864096" cy="432048"/>
          </a:xfrm>
          <a:prstGeom prst="cloudCallou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 smtClean="0"/>
              <a:t>  </a:t>
            </a:r>
            <a:r>
              <a:rPr lang="zh-CN" altLang="en-US" dirty="0" smtClean="0">
                <a:solidFill>
                  <a:srgbClr val="FF0000"/>
                </a:solidFill>
              </a:rPr>
              <a:t>？</a:t>
            </a:r>
            <a:endParaRPr lang="zh-CN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455861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95" r:id="rId2"/>
    <p:sldLayoutId id="2147483697" r:id="rId3"/>
    <p:sldLayoutId id="2147483690" r:id="rId4"/>
    <p:sldLayoutId id="2147483691" r:id="rId5"/>
    <p:sldLayoutId id="2147483692" r:id="rId6"/>
    <p:sldLayoutId id="2147483694" r:id="rId7"/>
  </p:sldLayoutIdLst>
  <p:timing>
    <p:tnLst>
      <p:par>
        <p:cTn id="1" dur="indefinite" restart="never" nodeType="tmRoot"/>
      </p:par>
    </p:tnLst>
  </p:timing>
  <p:txStyles>
    <p:titleStyle>
      <a:lvl1pPr algn="ctr" rtl="0" eaLnBrk="1" fontAlgn="base" hangingPunct="1">
        <a:spcBef>
          <a:spcPct val="0"/>
        </a:spcBef>
        <a:spcAft>
          <a:spcPct val="0"/>
        </a:spcAft>
        <a:defRPr sz="4158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158">
          <a:solidFill>
            <a:schemeClr val="tx1"/>
          </a:solidFill>
          <a:latin typeface="Arial" charset="0"/>
          <a:ea typeface="黑体" pitchFamily="2" charset="-122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158">
          <a:solidFill>
            <a:schemeClr val="tx1"/>
          </a:solidFill>
          <a:latin typeface="Arial" charset="0"/>
          <a:ea typeface="黑体" pitchFamily="2" charset="-122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158">
          <a:solidFill>
            <a:schemeClr val="tx1"/>
          </a:solidFill>
          <a:latin typeface="Arial" charset="0"/>
          <a:ea typeface="黑体" pitchFamily="2" charset="-122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158">
          <a:solidFill>
            <a:schemeClr val="tx1"/>
          </a:solidFill>
          <a:latin typeface="Arial" charset="0"/>
          <a:ea typeface="黑体" pitchFamily="2" charset="-122"/>
        </a:defRPr>
      </a:lvl5pPr>
      <a:lvl6pPr marL="432008" algn="ctr" rtl="0" eaLnBrk="1" fontAlgn="base" hangingPunct="1">
        <a:spcBef>
          <a:spcPct val="0"/>
        </a:spcBef>
        <a:spcAft>
          <a:spcPct val="0"/>
        </a:spcAft>
        <a:defRPr sz="4158">
          <a:solidFill>
            <a:schemeClr val="tx1"/>
          </a:solidFill>
          <a:latin typeface="Arial" charset="0"/>
          <a:ea typeface="黑体" pitchFamily="2" charset="-122"/>
        </a:defRPr>
      </a:lvl6pPr>
      <a:lvl7pPr marL="864017" algn="ctr" rtl="0" eaLnBrk="1" fontAlgn="base" hangingPunct="1">
        <a:spcBef>
          <a:spcPct val="0"/>
        </a:spcBef>
        <a:spcAft>
          <a:spcPct val="0"/>
        </a:spcAft>
        <a:defRPr sz="4158">
          <a:solidFill>
            <a:schemeClr val="tx1"/>
          </a:solidFill>
          <a:latin typeface="Arial" charset="0"/>
          <a:ea typeface="黑体" pitchFamily="2" charset="-122"/>
        </a:defRPr>
      </a:lvl7pPr>
      <a:lvl8pPr marL="1296025" algn="ctr" rtl="0" eaLnBrk="1" fontAlgn="base" hangingPunct="1">
        <a:spcBef>
          <a:spcPct val="0"/>
        </a:spcBef>
        <a:spcAft>
          <a:spcPct val="0"/>
        </a:spcAft>
        <a:defRPr sz="4158">
          <a:solidFill>
            <a:schemeClr val="tx1"/>
          </a:solidFill>
          <a:latin typeface="Arial" charset="0"/>
          <a:ea typeface="黑体" pitchFamily="2" charset="-122"/>
        </a:defRPr>
      </a:lvl8pPr>
      <a:lvl9pPr marL="1728033" algn="ctr" rtl="0" eaLnBrk="1" fontAlgn="base" hangingPunct="1">
        <a:spcBef>
          <a:spcPct val="0"/>
        </a:spcBef>
        <a:spcAft>
          <a:spcPct val="0"/>
        </a:spcAft>
        <a:defRPr sz="4158">
          <a:solidFill>
            <a:schemeClr val="tx1"/>
          </a:solidFill>
          <a:latin typeface="Arial" charset="0"/>
          <a:ea typeface="黑体" pitchFamily="2" charset="-122"/>
        </a:defRPr>
      </a:lvl9pPr>
    </p:titleStyle>
    <p:bodyStyle>
      <a:lvl1pPr marL="324006" indent="-324006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3024" kern="1200">
          <a:solidFill>
            <a:schemeClr val="tx1"/>
          </a:solidFill>
          <a:latin typeface="+mn-lt"/>
          <a:ea typeface="+mn-ea"/>
          <a:cs typeface="+mn-cs"/>
        </a:defRPr>
      </a:lvl1pPr>
      <a:lvl2pPr marL="702013" indent="-270005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2646" kern="1200">
          <a:solidFill>
            <a:schemeClr val="tx1"/>
          </a:solidFill>
          <a:latin typeface="+mn-lt"/>
          <a:ea typeface="+mn-ea"/>
          <a:cs typeface="+mn-cs"/>
        </a:defRPr>
      </a:lvl2pPr>
      <a:lvl3pPr marL="1080021" indent="-216004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2268" kern="1200">
          <a:solidFill>
            <a:schemeClr val="tx1"/>
          </a:solidFill>
          <a:latin typeface="+mn-lt"/>
          <a:ea typeface="+mn-ea"/>
          <a:cs typeface="+mn-cs"/>
        </a:defRPr>
      </a:lvl3pPr>
      <a:lvl4pPr marL="1512029" indent="-216004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1890" kern="1200">
          <a:solidFill>
            <a:schemeClr val="tx1"/>
          </a:solidFill>
          <a:latin typeface="+mn-lt"/>
          <a:ea typeface="+mn-ea"/>
          <a:cs typeface="+mn-cs"/>
        </a:defRPr>
      </a:lvl4pPr>
      <a:lvl5pPr marL="1944037" indent="-216004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»"/>
        <a:defRPr sz="1890" kern="1200">
          <a:solidFill>
            <a:schemeClr val="tx1"/>
          </a:solidFill>
          <a:latin typeface="+mn-lt"/>
          <a:ea typeface="+mn-ea"/>
          <a:cs typeface="+mn-cs"/>
        </a:defRPr>
      </a:lvl5pPr>
      <a:lvl6pPr marL="2376046" indent="-216004" algn="l" defTabSz="864017" rtl="0" eaLnBrk="1" latinLnBrk="0" hangingPunct="1">
        <a:spcBef>
          <a:spcPct val="20000"/>
        </a:spcBef>
        <a:buFont typeface="Arial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6pPr>
      <a:lvl7pPr marL="2808054" indent="-216004" algn="l" defTabSz="864017" rtl="0" eaLnBrk="1" latinLnBrk="0" hangingPunct="1">
        <a:spcBef>
          <a:spcPct val="20000"/>
        </a:spcBef>
        <a:buFont typeface="Arial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7pPr>
      <a:lvl8pPr marL="3240062" indent="-216004" algn="l" defTabSz="864017" rtl="0" eaLnBrk="1" latinLnBrk="0" hangingPunct="1">
        <a:spcBef>
          <a:spcPct val="20000"/>
        </a:spcBef>
        <a:buFont typeface="Arial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8pPr>
      <a:lvl9pPr marL="3672070" indent="-216004" algn="l" defTabSz="864017" rtl="0" eaLnBrk="1" latinLnBrk="0" hangingPunct="1">
        <a:spcBef>
          <a:spcPct val="20000"/>
        </a:spcBef>
        <a:buFont typeface="Arial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1pPr>
      <a:lvl2pPr marL="432008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2pPr>
      <a:lvl3pPr marL="864017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3pPr>
      <a:lvl4pPr marL="1296025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4pPr>
      <a:lvl5pPr marL="1728033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5pPr>
      <a:lvl6pPr marL="2160041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6pPr>
      <a:lvl7pPr marL="2592050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7pPr>
      <a:lvl8pPr marL="3024058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8pPr>
      <a:lvl9pPr marL="3456066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audio" Target="../media/audio2.wav"/><Relationship Id="rId2" Type="http://schemas.openxmlformats.org/officeDocument/2006/relationships/slide" Target="slide5.xml"/><Relationship Id="rId1" Type="http://schemas.openxmlformats.org/officeDocument/2006/relationships/slideLayout" Target="../slideLayouts/slideLayout3.xml"/><Relationship Id="rId6" Type="http://schemas.openxmlformats.org/officeDocument/2006/relationships/slide" Target="slide34.xml"/><Relationship Id="rId5" Type="http://schemas.openxmlformats.org/officeDocument/2006/relationships/slide" Target="slide28.xml"/><Relationship Id="rId4" Type="http://schemas.openxmlformats.org/officeDocument/2006/relationships/slide" Target="slide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5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4.emf"/><Relationship Id="rId4" Type="http://schemas.openxmlformats.org/officeDocument/2006/relationships/package" Target="../embeddings/Microsoft_Word___1.docx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5.xml"/><Relationship Id="rId1" Type="http://schemas.openxmlformats.org/officeDocument/2006/relationships/vmlDrawing" Target="../drawings/vmlDrawing2.vml"/><Relationship Id="rId5" Type="http://schemas.openxmlformats.org/officeDocument/2006/relationships/image" Target="../media/image5.emf"/><Relationship Id="rId4" Type="http://schemas.openxmlformats.org/officeDocument/2006/relationships/package" Target="../embeddings/Microsoft_Word___2.docx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emf"/><Relationship Id="rId3" Type="http://schemas.openxmlformats.org/officeDocument/2006/relationships/oleObject" Target="../embeddings/oleObject3.bin"/><Relationship Id="rId7" Type="http://schemas.openxmlformats.org/officeDocument/2006/relationships/package" Target="../embeddings/Microsoft_Word___4.docx"/><Relationship Id="rId2" Type="http://schemas.openxmlformats.org/officeDocument/2006/relationships/slideLayout" Target="../slideLayouts/slideLayout5.xml"/><Relationship Id="rId1" Type="http://schemas.openxmlformats.org/officeDocument/2006/relationships/vmlDrawing" Target="../drawings/vmlDrawing3.vml"/><Relationship Id="rId6" Type="http://schemas.openxmlformats.org/officeDocument/2006/relationships/oleObject" Target="../embeddings/oleObject4.bin"/><Relationship Id="rId5" Type="http://schemas.openxmlformats.org/officeDocument/2006/relationships/image" Target="../media/image6.emf"/><Relationship Id="rId4" Type="http://schemas.openxmlformats.org/officeDocument/2006/relationships/package" Target="../embeddings/Microsoft_Word___3.docx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4.vml"/><Relationship Id="rId5" Type="http://schemas.openxmlformats.org/officeDocument/2006/relationships/image" Target="../media/image8.emf"/><Relationship Id="rId4" Type="http://schemas.openxmlformats.org/officeDocument/2006/relationships/package" Target="../embeddings/Microsoft_Word___5.docx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5.vml"/><Relationship Id="rId5" Type="http://schemas.openxmlformats.org/officeDocument/2006/relationships/image" Target="../media/image9.emf"/><Relationship Id="rId4" Type="http://schemas.openxmlformats.org/officeDocument/2006/relationships/package" Target="../embeddings/Microsoft_Word___6.docx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6.vml"/><Relationship Id="rId5" Type="http://schemas.openxmlformats.org/officeDocument/2006/relationships/image" Target="../media/image11.emf"/><Relationship Id="rId4" Type="http://schemas.openxmlformats.org/officeDocument/2006/relationships/package" Target="../embeddings/Microsoft_Word___7.docx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7.vml"/><Relationship Id="rId5" Type="http://schemas.openxmlformats.org/officeDocument/2006/relationships/image" Target="../media/image12.emf"/><Relationship Id="rId4" Type="http://schemas.openxmlformats.org/officeDocument/2006/relationships/package" Target="../embeddings/Microsoft_Word___8.docx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8.vml"/><Relationship Id="rId6" Type="http://schemas.openxmlformats.org/officeDocument/2006/relationships/image" Target="../media/image13.emf"/><Relationship Id="rId5" Type="http://schemas.openxmlformats.org/officeDocument/2006/relationships/package" Target="../embeddings/Microsoft_Word___9.docx"/><Relationship Id="rId4" Type="http://schemas.openxmlformats.org/officeDocument/2006/relationships/oleObject" Target="../embeddings/oleObject9.bin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0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9.vml"/><Relationship Id="rId5" Type="http://schemas.openxmlformats.org/officeDocument/2006/relationships/image" Target="../media/image15.emf"/><Relationship Id="rId4" Type="http://schemas.openxmlformats.org/officeDocument/2006/relationships/package" Target="../embeddings/Microsoft_Word___10.docx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1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10.vml"/><Relationship Id="rId5" Type="http://schemas.openxmlformats.org/officeDocument/2006/relationships/image" Target="../media/image17.emf"/><Relationship Id="rId4" Type="http://schemas.openxmlformats.org/officeDocument/2006/relationships/package" Target="../embeddings/Microsoft_Word___11.docx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2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11.vml"/><Relationship Id="rId5" Type="http://schemas.openxmlformats.org/officeDocument/2006/relationships/image" Target="../media/image18.emf"/><Relationship Id="rId4" Type="http://schemas.openxmlformats.org/officeDocument/2006/relationships/package" Target="../embeddings/Microsoft_Word___12.docx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3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12.vml"/><Relationship Id="rId6" Type="http://schemas.openxmlformats.org/officeDocument/2006/relationships/image" Target="../media/image20.jpeg"/><Relationship Id="rId5" Type="http://schemas.openxmlformats.org/officeDocument/2006/relationships/image" Target="../media/image19.emf"/><Relationship Id="rId4" Type="http://schemas.openxmlformats.org/officeDocument/2006/relationships/package" Target="../embeddings/Microsoft_Word___13.docx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4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13.vml"/><Relationship Id="rId5" Type="http://schemas.openxmlformats.org/officeDocument/2006/relationships/image" Target="../media/image21.emf"/><Relationship Id="rId4" Type="http://schemas.openxmlformats.org/officeDocument/2006/relationships/package" Target="../embeddings/Microsoft_Word___14.docx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5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14.vml"/><Relationship Id="rId5" Type="http://schemas.openxmlformats.org/officeDocument/2006/relationships/image" Target="../media/image22.emf"/><Relationship Id="rId4" Type="http://schemas.openxmlformats.org/officeDocument/2006/relationships/package" Target="../embeddings/Microsoft_Word___15.docx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6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15.vml"/><Relationship Id="rId5" Type="http://schemas.openxmlformats.org/officeDocument/2006/relationships/image" Target="../media/image23.emf"/><Relationship Id="rId4" Type="http://schemas.openxmlformats.org/officeDocument/2006/relationships/package" Target="../embeddings/Microsoft_Word___16.docx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7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16.vml"/><Relationship Id="rId5" Type="http://schemas.openxmlformats.org/officeDocument/2006/relationships/image" Target="../media/image24.emf"/><Relationship Id="rId4" Type="http://schemas.openxmlformats.org/officeDocument/2006/relationships/package" Target="../embeddings/Microsoft_Word___17.docx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8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17.vml"/><Relationship Id="rId5" Type="http://schemas.openxmlformats.org/officeDocument/2006/relationships/image" Target="../media/image25.emf"/><Relationship Id="rId4" Type="http://schemas.openxmlformats.org/officeDocument/2006/relationships/package" Target="../embeddings/Microsoft_Word___18.docx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emf"/><Relationship Id="rId3" Type="http://schemas.openxmlformats.org/officeDocument/2006/relationships/oleObject" Target="../embeddings/oleObject19.bin"/><Relationship Id="rId7" Type="http://schemas.openxmlformats.org/officeDocument/2006/relationships/package" Target="../embeddings/Microsoft_Word___20.docx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18.vml"/><Relationship Id="rId6" Type="http://schemas.openxmlformats.org/officeDocument/2006/relationships/oleObject" Target="../embeddings/oleObject20.bin"/><Relationship Id="rId5" Type="http://schemas.openxmlformats.org/officeDocument/2006/relationships/image" Target="../media/image26.emf"/><Relationship Id="rId4" Type="http://schemas.openxmlformats.org/officeDocument/2006/relationships/package" Target="../embeddings/Microsoft_Word___19.docx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eg"/><Relationship Id="rId1" Type="http://schemas.openxmlformats.org/officeDocument/2006/relationships/slideLayout" Target="../slideLayouts/slideLayout4.xml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emf"/><Relationship Id="rId3" Type="http://schemas.openxmlformats.org/officeDocument/2006/relationships/oleObject" Target="../embeddings/oleObject21.bin"/><Relationship Id="rId7" Type="http://schemas.openxmlformats.org/officeDocument/2006/relationships/package" Target="../embeddings/Microsoft_Word___22.docx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19.vml"/><Relationship Id="rId6" Type="http://schemas.openxmlformats.org/officeDocument/2006/relationships/oleObject" Target="../embeddings/oleObject22.bin"/><Relationship Id="rId5" Type="http://schemas.openxmlformats.org/officeDocument/2006/relationships/image" Target="../media/image29.emf"/><Relationship Id="rId4" Type="http://schemas.openxmlformats.org/officeDocument/2006/relationships/package" Target="../embeddings/Microsoft_Word___21.docx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jpeg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20.vml"/><Relationship Id="rId6" Type="http://schemas.openxmlformats.org/officeDocument/2006/relationships/image" Target="../media/image31.emf"/><Relationship Id="rId5" Type="http://schemas.openxmlformats.org/officeDocument/2006/relationships/package" Target="../embeddings/Microsoft_Word___23.docx"/><Relationship Id="rId4" Type="http://schemas.openxmlformats.org/officeDocument/2006/relationships/oleObject" Target="../embeddings/oleObject23.bin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4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21.vml"/><Relationship Id="rId5" Type="http://schemas.openxmlformats.org/officeDocument/2006/relationships/image" Target="../media/image33.emf"/><Relationship Id="rId4" Type="http://schemas.openxmlformats.org/officeDocument/2006/relationships/package" Target="../embeddings/Microsoft_Word___24.docx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5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22.vml"/><Relationship Id="rId5" Type="http://schemas.openxmlformats.org/officeDocument/2006/relationships/image" Target="../media/image34.emf"/><Relationship Id="rId4" Type="http://schemas.openxmlformats.org/officeDocument/2006/relationships/package" Target="../embeddings/Microsoft_Word___25.docx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3513369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lgGrid">
          <a:fgClr>
            <a:schemeClr val="bg2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>
            <a:spLocks noChangeAspect="1"/>
          </p:cNvSpPr>
          <p:nvPr/>
        </p:nvSpPr>
        <p:spPr>
          <a:xfrm>
            <a:off x="361950" y="2592015"/>
            <a:ext cx="10807700" cy="1094339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sz="6000" dirty="0">
                <a:solidFill>
                  <a:srgbClr val="00206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5.7</a:t>
            </a:r>
            <a:r>
              <a:rPr lang="zh-CN" altLang="zh-CN" sz="6000" dirty="0">
                <a:solidFill>
                  <a:srgbClr val="00206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　</a:t>
            </a:r>
            <a:r>
              <a:rPr lang="zh-CN" altLang="zh-CN" sz="6000" dirty="0">
                <a:solidFill>
                  <a:srgbClr val="00206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三角函数的应用</a:t>
            </a:r>
            <a:endParaRPr lang="zh-CN" altLang="zh-CN" sz="6000" dirty="0">
              <a:solidFill>
                <a:srgbClr val="00206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54233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500">
        <p:checker/>
      </p:transition>
    </mc:Choice>
    <mc:Fallback xmlns="">
      <p:transition spd="slow">
        <p:checker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/>
        </p:nvGrpSpPr>
        <p:grpSpPr>
          <a:xfrm>
            <a:off x="360437" y="1338386"/>
            <a:ext cx="10729192" cy="3456385"/>
            <a:chOff x="360437" y="1272140"/>
            <a:chExt cx="10729192" cy="3456385"/>
          </a:xfrm>
        </p:grpSpPr>
        <p:grpSp>
          <p:nvGrpSpPr>
            <p:cNvPr id="13" name="组合 12"/>
            <p:cNvGrpSpPr/>
            <p:nvPr/>
          </p:nvGrpSpPr>
          <p:grpSpPr>
            <a:xfrm>
              <a:off x="360437" y="1272140"/>
              <a:ext cx="10729192" cy="3456385"/>
              <a:chOff x="360437" y="1839963"/>
              <a:chExt cx="10729192" cy="2360758"/>
            </a:xfrm>
          </p:grpSpPr>
          <p:sp>
            <p:nvSpPr>
              <p:cNvPr id="2" name="圆角矩形 1"/>
              <p:cNvSpPr/>
              <p:nvPr/>
            </p:nvSpPr>
            <p:spPr>
              <a:xfrm>
                <a:off x="360437" y="1839963"/>
                <a:ext cx="10729192" cy="2360758"/>
              </a:xfrm>
              <a:prstGeom prst="roundRect">
                <a:avLst/>
              </a:prstGeom>
            </p:spPr>
            <p:style>
              <a:lnRef idx="1">
                <a:schemeClr val="accent4"/>
              </a:lnRef>
              <a:fillRef idx="2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12" name="直接连接符 11"/>
              <p:cNvCxnSpPr/>
              <p:nvPr/>
            </p:nvCxnSpPr>
            <p:spPr>
              <a:xfrm>
                <a:off x="2448669" y="1878816"/>
                <a:ext cx="0" cy="2262392"/>
              </a:xfrm>
              <a:prstGeom prst="line">
                <a:avLst/>
              </a:prstGeom>
            </p:spPr>
            <p:style>
              <a:lnRef idx="3">
                <a:schemeClr val="accent4"/>
              </a:lnRef>
              <a:fillRef idx="0">
                <a:schemeClr val="accent4"/>
              </a:fillRef>
              <a:effectRef idx="2">
                <a:schemeClr val="accent4"/>
              </a:effectRef>
              <a:fontRef idx="minor">
                <a:schemeClr val="tx1"/>
              </a:fontRef>
            </p:style>
          </p:cxnSp>
        </p:grpSp>
        <p:sp>
          <p:nvSpPr>
            <p:cNvPr id="14" name="矩形 13"/>
            <p:cNvSpPr>
              <a:spLocks noChangeAspect="1"/>
            </p:cNvSpPr>
            <p:nvPr/>
          </p:nvSpPr>
          <p:spPr>
            <a:xfrm>
              <a:off x="360437" y="2447999"/>
              <a:ext cx="2086719" cy="119571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>
                <a:lnSpc>
                  <a:spcPct val="12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dirty="0">
                  <a:solidFill>
                    <a:srgbClr val="000000"/>
                  </a:solidFill>
                  <a:latin typeface="Arial" panose="020B0604020202020204" pitchFamily="34" charset="0"/>
                  <a:cs typeface="Times New Roman" panose="02020603050405020304" pitchFamily="18" charset="0"/>
                </a:rPr>
                <a:t>课标定位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 algn="ctr">
                <a:lnSpc>
                  <a:spcPct val="12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dirty="0">
                  <a:solidFill>
                    <a:srgbClr val="000000"/>
                  </a:solidFill>
                  <a:latin typeface="Arial" panose="020B0604020202020204" pitchFamily="34" charset="0"/>
                  <a:cs typeface="Times New Roman" panose="02020603050405020304" pitchFamily="18" charset="0"/>
                </a:rPr>
                <a:t>素养阐释</a:t>
              </a:r>
              <a:endParaRPr lang="zh-CN" altLang="zh-CN" dirty="0">
                <a:solidFill>
                  <a:srgbClr val="000000"/>
                </a:solidFill>
                <a:effectLst/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</p:txBody>
        </p:sp>
        <p:sp>
          <p:nvSpPr>
            <p:cNvPr id="15" name="矩形 14"/>
            <p:cNvSpPr>
              <a:spLocks noChangeAspect="1"/>
            </p:cNvSpPr>
            <p:nvPr/>
          </p:nvSpPr>
          <p:spPr>
            <a:xfrm>
              <a:off x="2552207" y="1407543"/>
              <a:ext cx="8496944" cy="3046988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1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会用三角函数解决简单的实际问题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2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体会可以利用三角函数构建刻画事物周期变化的数学模型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</a:pP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</a:rPr>
                <a:t>3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</a:rPr>
                <a:t>.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体会数学建模的过程</a:t>
              </a:r>
              <a:r>
                <a:rPr lang="en-US" altLang="zh-CN" dirty="0" smtClean="0">
                  <a:solidFill>
                    <a:srgbClr val="000000"/>
                  </a:solidFill>
                  <a:ea typeface="宋体" panose="02010600030101010101" pitchFamily="2" charset="-122"/>
                </a:rPr>
                <a:t>,</a:t>
              </a:r>
              <a:r>
                <a:rPr lang="zh-CN" altLang="en-US" dirty="0" smtClean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提升</a:t>
              </a:r>
              <a:r>
                <a:rPr lang="zh-CN" altLang="zh-CN" dirty="0" smtClean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数学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建模和数学运算素养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</a:rPr>
                <a:t>.</a:t>
              </a:r>
              <a:endParaRPr lang="zh-CN" alt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34307408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文框 2">
            <a:hlinkClick r:id="rId2" action="ppaction://hlinksldjump">
              <a:snd r:embed="rId3" name="chimes.wav"/>
            </a:hlinkClick>
          </p:cNvPr>
          <p:cNvSpPr/>
          <p:nvPr/>
        </p:nvSpPr>
        <p:spPr>
          <a:xfrm>
            <a:off x="1728589" y="503783"/>
            <a:ext cx="8136904" cy="1008112"/>
          </a:xfrm>
          <a:prstGeom prst="frame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zh-CN" sz="44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自主</a:t>
            </a:r>
            <a:r>
              <a:rPr lang="zh-CN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预习</a:t>
            </a:r>
            <a:r>
              <a:rPr lang="en-US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·</a:t>
            </a:r>
            <a:r>
              <a:rPr lang="zh-CN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新知</a:t>
            </a:r>
            <a:r>
              <a:rPr lang="zh-CN" altLang="zh-CN" sz="44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导学</a:t>
            </a:r>
          </a:p>
        </p:txBody>
      </p:sp>
      <p:sp>
        <p:nvSpPr>
          <p:cNvPr id="4" name="图文框 3">
            <a:hlinkClick r:id="rId4" action="ppaction://hlinksldjump">
              <a:snd r:embed="rId3" name="chimes.wav"/>
            </a:hlinkClick>
          </p:cNvPr>
          <p:cNvSpPr/>
          <p:nvPr/>
        </p:nvSpPr>
        <p:spPr>
          <a:xfrm>
            <a:off x="1728589" y="1871935"/>
            <a:ext cx="8136904" cy="1008112"/>
          </a:xfrm>
          <a:prstGeom prst="frame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zh-CN" sz="44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合作</a:t>
            </a:r>
            <a:r>
              <a:rPr lang="zh-CN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探究</a:t>
            </a:r>
            <a:r>
              <a:rPr lang="en-US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·</a:t>
            </a:r>
            <a:r>
              <a:rPr lang="zh-CN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释疑</a:t>
            </a:r>
            <a:r>
              <a:rPr lang="zh-CN" altLang="zh-CN" sz="44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解惑</a:t>
            </a:r>
          </a:p>
        </p:txBody>
      </p:sp>
      <p:sp>
        <p:nvSpPr>
          <p:cNvPr id="7" name="图文框 6">
            <a:hlinkClick r:id="rId5" action="ppaction://hlinksldjump">
              <a:snd r:embed="rId3" name="chimes.wav"/>
            </a:hlinkClick>
          </p:cNvPr>
          <p:cNvSpPr/>
          <p:nvPr/>
        </p:nvSpPr>
        <p:spPr>
          <a:xfrm>
            <a:off x="1728589" y="3279437"/>
            <a:ext cx="8136904" cy="1008112"/>
          </a:xfrm>
          <a:prstGeom prst="frame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易</a:t>
            </a:r>
            <a:r>
              <a:rPr lang="en-US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错</a:t>
            </a:r>
            <a:r>
              <a:rPr lang="en-US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辨</a:t>
            </a:r>
            <a:r>
              <a:rPr lang="en-US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析</a:t>
            </a:r>
            <a:endParaRPr lang="zh-CN" altLang="zh-CN" sz="4400" dirty="0">
              <a:solidFill>
                <a:srgbClr val="0070C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8" name="图文框 7">
            <a:hlinkClick r:id="rId6" action="ppaction://hlinksldjump">
              <a:snd r:embed="rId3" name="chimes.wav"/>
            </a:hlinkClick>
          </p:cNvPr>
          <p:cNvSpPr/>
          <p:nvPr/>
        </p:nvSpPr>
        <p:spPr>
          <a:xfrm>
            <a:off x="1728589" y="4647589"/>
            <a:ext cx="8136904" cy="1008112"/>
          </a:xfrm>
          <a:prstGeom prst="frame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随</a:t>
            </a:r>
            <a:r>
              <a:rPr lang="en-US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堂</a:t>
            </a:r>
            <a:r>
              <a:rPr lang="en-US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练</a:t>
            </a:r>
            <a:r>
              <a:rPr lang="en-US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习</a:t>
            </a:r>
            <a:endParaRPr lang="zh-CN" altLang="zh-CN" sz="4400" dirty="0">
              <a:solidFill>
                <a:srgbClr val="0070C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621409961"/>
      </p:ext>
    </p:extLst>
  </p:cSld>
  <p:clrMapOvr>
    <a:masterClrMapping/>
  </p:clrMapOvr>
  <p:transition spd="med">
    <p:pull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虚尾箭头 3"/>
          <p:cNvSpPr/>
          <p:nvPr/>
        </p:nvSpPr>
        <p:spPr>
          <a:xfrm>
            <a:off x="432445" y="1295871"/>
            <a:ext cx="10657184" cy="3528392"/>
          </a:xfrm>
          <a:prstGeom prst="stripedRightArrow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zh-CN" sz="66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66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自主</a:t>
            </a:r>
            <a:r>
              <a:rPr lang="zh-CN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预习</a:t>
            </a:r>
            <a:r>
              <a:rPr lang="en-US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·</a:t>
            </a:r>
            <a:r>
              <a:rPr lang="zh-CN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新知导学</a:t>
            </a:r>
          </a:p>
        </p:txBody>
      </p:sp>
    </p:spTree>
    <p:extLst>
      <p:ext uri="{BB962C8B-B14F-4D97-AF65-F5344CB8AC3E}">
        <p14:creationId xmlns:p14="http://schemas.microsoft.com/office/powerpoint/2010/main" val="27222246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ZMG1TRA34.eps" descr="id:2147509599;FounderCES"/>
          <p:cNvPicPr/>
          <p:nvPr/>
        </p:nvPicPr>
        <p:blipFill>
          <a:blip r:embed="rId2"/>
          <a:stretch>
            <a:fillRect/>
          </a:stretch>
        </p:blipFill>
        <p:spPr>
          <a:xfrm>
            <a:off x="3672805" y="2781426"/>
            <a:ext cx="3600400" cy="2546893"/>
          </a:xfrm>
          <a:prstGeom prst="rect">
            <a:avLst/>
          </a:prstGeom>
        </p:spPr>
      </p:pic>
      <p:sp>
        <p:nvSpPr>
          <p:cNvPr id="3" name="矩形 2"/>
          <p:cNvSpPr>
            <a:spLocks noChangeAspect="1"/>
          </p:cNvSpPr>
          <p:nvPr/>
        </p:nvSpPr>
        <p:spPr>
          <a:xfrm>
            <a:off x="361950" y="916300"/>
            <a:ext cx="10807700" cy="1865126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solidFill>
                  <a:srgbClr val="000000"/>
                </a:solidFill>
                <a:latin typeface="NEU-BZ-S92"/>
                <a:ea typeface="方正正中黑简体"/>
                <a:cs typeface="Times New Roman" panose="02020603050405020304" pitchFamily="18" charset="0"/>
              </a:rPr>
              <a:t>一、弹簧振子的运动模型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</a:rPr>
              <a:t>.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一个弹簧振子做简谐振动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在完成一次全振动的过程中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时间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</a:rPr>
              <a:t>t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(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单位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:s)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与位移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</a:rPr>
              <a:t>y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(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单位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:mm)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之间的关系如图所示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</a:rPr>
              <a:t>.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864289175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>
            <a:spLocks noChangeAspect="1"/>
          </p:cNvSpPr>
          <p:nvPr/>
        </p:nvSpPr>
        <p:spPr>
          <a:xfrm>
            <a:off x="361950" y="647799"/>
            <a:ext cx="10807700" cy="1217641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(1)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若用函数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</a:rPr>
              <a:t>y=</a:t>
            </a:r>
            <a:r>
              <a:rPr lang="en-US" altLang="zh-CN" i="1" dirty="0" err="1">
                <a:solidFill>
                  <a:srgbClr val="000000"/>
                </a:solidFill>
                <a:ea typeface="宋体" panose="02010600030101010101" pitchFamily="2" charset="-122"/>
              </a:rPr>
              <a:t>A</a:t>
            </a:r>
            <a:r>
              <a:rPr lang="en-US" altLang="zh-CN" dirty="0" err="1">
                <a:solidFill>
                  <a:srgbClr val="000000"/>
                </a:solidFill>
                <a:ea typeface="宋体" panose="02010600030101010101" pitchFamily="2" charset="-122"/>
              </a:rPr>
              <a:t>sin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(</a:t>
            </a:r>
            <a:r>
              <a:rPr lang="en-US" altLang="zh-CN" i="1" dirty="0" err="1">
                <a:solidFill>
                  <a:srgbClr val="000000"/>
                </a:solidFill>
                <a:ea typeface="Microsoft Yi Baiti" panose="03000500000000000000" pitchFamily="66" charset="0"/>
              </a:rPr>
              <a:t>ω</a:t>
            </a:r>
            <a:r>
              <a:rPr lang="en-US" altLang="zh-CN" i="1" dirty="0" err="1">
                <a:solidFill>
                  <a:srgbClr val="000000"/>
                </a:solidFill>
                <a:ea typeface="宋体" panose="02010600030101010101" pitchFamily="2" charset="-122"/>
              </a:rPr>
              <a:t>t+</a:t>
            </a:r>
            <a:r>
              <a:rPr lang="en-US" altLang="zh-CN" i="1" dirty="0" err="1">
                <a:solidFill>
                  <a:srgbClr val="000000"/>
                </a:solidFill>
                <a:ea typeface="Microsoft Yi Baiti" panose="03000500000000000000" pitchFamily="66" charset="0"/>
              </a:rPr>
              <a:t>φ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)(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</a:rPr>
              <a:t>A&gt;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0,</a:t>
            </a:r>
            <a:r>
              <a:rPr lang="en-US" altLang="zh-CN" i="1" dirty="0">
                <a:solidFill>
                  <a:srgbClr val="000000"/>
                </a:solidFill>
                <a:ea typeface="Microsoft Yi Baiti" panose="03000500000000000000" pitchFamily="66" charset="0"/>
              </a:rPr>
              <a:t>ω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</a:rPr>
              <a:t>&gt;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0,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</a:rPr>
              <a:t>|</a:t>
            </a:r>
            <a:r>
              <a:rPr lang="en-US" altLang="zh-CN" i="1" dirty="0">
                <a:solidFill>
                  <a:srgbClr val="000000"/>
                </a:solidFill>
                <a:ea typeface="Microsoft Yi Baiti" panose="03000500000000000000" pitchFamily="66" charset="0"/>
              </a:rPr>
              <a:t>φ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</a:rPr>
              <a:t>|&lt;</a:t>
            </a:r>
            <a:r>
              <a:rPr lang="en-US" altLang="zh-CN" dirty="0">
                <a:solidFill>
                  <a:srgbClr val="000000"/>
                </a:solidFill>
                <a:ea typeface="Microsoft Yi Baiti" panose="03000500000000000000" pitchFamily="66" charset="0"/>
              </a:rPr>
              <a:t>π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来刻画位移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</a:rPr>
              <a:t>y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随时间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</a:rPr>
              <a:t>t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的变化规律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你能写出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</a:rPr>
              <a:t>y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关于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</a:rPr>
              <a:t>t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的函数解析式吗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?</a:t>
            </a:r>
            <a:endParaRPr lang="zh-CN" altLang="en-US" dirty="0"/>
          </a:p>
        </p:txBody>
      </p:sp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63920318"/>
              </p:ext>
            </p:extLst>
          </p:nvPr>
        </p:nvGraphicFramePr>
        <p:xfrm>
          <a:off x="484789" y="1934111"/>
          <a:ext cx="11671959" cy="259886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5" name="文档" r:id="rId4" imgW="3837724" imgH="861051" progId="Word.Document.12">
                  <p:embed/>
                </p:oleObj>
              </mc:Choice>
              <mc:Fallback>
                <p:oleObj name="文档" r:id="rId4" imgW="3837724" imgH="861051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84789" y="1934111"/>
                        <a:ext cx="11671959" cy="259886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矩形 5"/>
          <p:cNvSpPr>
            <a:spLocks noChangeAspect="1"/>
          </p:cNvSpPr>
          <p:nvPr/>
        </p:nvSpPr>
        <p:spPr>
          <a:xfrm>
            <a:off x="361950" y="4546063"/>
            <a:ext cx="10807700" cy="1808572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(2)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函数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y=</a:t>
            </a:r>
            <a:r>
              <a:rPr lang="en-US" altLang="zh-CN" i="1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sin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 err="1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ω</a:t>
            </a:r>
            <a:r>
              <a:rPr lang="en-US" altLang="zh-CN" i="1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t+</a:t>
            </a:r>
            <a:r>
              <a:rPr lang="en-US" altLang="zh-CN" i="1" dirty="0" err="1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φ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中的参数</a:t>
            </a:r>
            <a:r>
              <a:rPr lang="en-US" altLang="zh-CN" i="1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 err="1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ω</a:t>
            </a:r>
            <a:r>
              <a:rPr lang="en-US" altLang="zh-CN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 err="1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φ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对其图象有怎样的影响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?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提示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影响函数的最值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ω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影响函数的周期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φ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决定函数的具体位置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65916441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85387521"/>
              </p:ext>
            </p:extLst>
          </p:nvPr>
        </p:nvGraphicFramePr>
        <p:xfrm>
          <a:off x="327757" y="811479"/>
          <a:ext cx="11671959" cy="502455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69" name="文档" r:id="rId4" imgW="3837724" imgH="1652872" progId="Word.Document.12">
                  <p:embed/>
                </p:oleObj>
              </mc:Choice>
              <mc:Fallback>
                <p:oleObj name="文档" r:id="rId4" imgW="3837724" imgH="1652872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327757" y="811479"/>
                        <a:ext cx="11671959" cy="502455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矩形 2"/>
          <p:cNvSpPr/>
          <p:nvPr/>
        </p:nvSpPr>
        <p:spPr>
          <a:xfrm>
            <a:off x="720477" y="2311443"/>
            <a:ext cx="1641253" cy="4629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4" name="直接连接符 3"/>
          <p:cNvCxnSpPr/>
          <p:nvPr/>
        </p:nvCxnSpPr>
        <p:spPr>
          <a:xfrm>
            <a:off x="716305" y="2775541"/>
            <a:ext cx="1639395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" name="矩形 4"/>
          <p:cNvSpPr/>
          <p:nvPr/>
        </p:nvSpPr>
        <p:spPr>
          <a:xfrm>
            <a:off x="8811061" y="2923079"/>
            <a:ext cx="2062544" cy="4629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6" name="直接连接符 5"/>
          <p:cNvCxnSpPr/>
          <p:nvPr/>
        </p:nvCxnSpPr>
        <p:spPr>
          <a:xfrm>
            <a:off x="8806889" y="3387177"/>
            <a:ext cx="2060209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8" name="矩形 7"/>
          <p:cNvSpPr/>
          <p:nvPr/>
        </p:nvSpPr>
        <p:spPr>
          <a:xfrm>
            <a:off x="340987" y="3554274"/>
            <a:ext cx="2838519" cy="4629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9" name="直接连接符 8"/>
          <p:cNvCxnSpPr/>
          <p:nvPr/>
        </p:nvCxnSpPr>
        <p:spPr>
          <a:xfrm>
            <a:off x="336816" y="4018372"/>
            <a:ext cx="2835306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1" name="矩形 10"/>
          <p:cNvSpPr/>
          <p:nvPr/>
        </p:nvSpPr>
        <p:spPr>
          <a:xfrm>
            <a:off x="5256981" y="4773771"/>
            <a:ext cx="777144" cy="4629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2" name="直接连接符 11"/>
          <p:cNvCxnSpPr/>
          <p:nvPr/>
        </p:nvCxnSpPr>
        <p:spPr>
          <a:xfrm>
            <a:off x="5252391" y="5237869"/>
            <a:ext cx="776265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3" name="矩形 12"/>
          <p:cNvSpPr/>
          <p:nvPr/>
        </p:nvSpPr>
        <p:spPr>
          <a:xfrm>
            <a:off x="2707725" y="5299551"/>
            <a:ext cx="777144" cy="4629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4" name="直接连接符 13"/>
          <p:cNvCxnSpPr/>
          <p:nvPr/>
        </p:nvCxnSpPr>
        <p:spPr>
          <a:xfrm>
            <a:off x="2703135" y="5763649"/>
            <a:ext cx="776265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5" name="矩形 14"/>
          <p:cNvSpPr/>
          <p:nvPr/>
        </p:nvSpPr>
        <p:spPr>
          <a:xfrm>
            <a:off x="7273205" y="5281959"/>
            <a:ext cx="777144" cy="4629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6" name="直接连接符 15"/>
          <p:cNvCxnSpPr/>
          <p:nvPr/>
        </p:nvCxnSpPr>
        <p:spPr>
          <a:xfrm>
            <a:off x="7268615" y="5746057"/>
            <a:ext cx="776265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55082422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4" presetClass="exit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2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2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5" grpId="0" animBg="1"/>
      <p:bldP spid="8" grpId="0" animBg="1"/>
      <p:bldP spid="11" grpId="0" animBg="1"/>
      <p:bldP spid="13" grpId="0" animBg="1"/>
      <p:bldP spid="15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12357065"/>
              </p:ext>
            </p:extLst>
          </p:nvPr>
        </p:nvGraphicFramePr>
        <p:xfrm>
          <a:off x="430213" y="2017713"/>
          <a:ext cx="11645900" cy="7254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2" name="文档" r:id="rId4" imgW="3826872" imgH="239347" progId="Word.Document.12">
                  <p:embed/>
                </p:oleObj>
              </mc:Choice>
              <mc:Fallback>
                <p:oleObj name="文档" r:id="rId4" imgW="3826872" imgH="239347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30213" y="2017713"/>
                        <a:ext cx="11645900" cy="7254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09522652"/>
              </p:ext>
            </p:extLst>
          </p:nvPr>
        </p:nvGraphicFramePr>
        <p:xfrm>
          <a:off x="432445" y="2870215"/>
          <a:ext cx="11671959" cy="64451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3" name="文档" r:id="rId7" imgW="3826872" imgH="211315" progId="Word.Document.12">
                  <p:embed/>
                </p:oleObj>
              </mc:Choice>
              <mc:Fallback>
                <p:oleObj name="文档" r:id="rId7" imgW="3826872" imgH="211315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432445" y="2870215"/>
                        <a:ext cx="11671959" cy="64451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383998683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61950" y="1799927"/>
            <a:ext cx="10807700" cy="2456057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solidFill>
                  <a:srgbClr val="000000"/>
                </a:solidFill>
                <a:latin typeface="NEU-BZ-S92"/>
                <a:ea typeface="方正正中黑简体"/>
                <a:cs typeface="Times New Roman" panose="02020603050405020304" pitchFamily="18" charset="0"/>
              </a:rPr>
              <a:t>二、拟合函数模型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zh-CN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我们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可以利用收集到的数据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首先画出相应的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“</a:t>
            </a:r>
            <a:r>
              <a:rPr lang="zh-CN" altLang="zh-CN" dirty="0">
                <a:uFill>
                  <a:solidFill>
                    <a:srgbClr val="000000"/>
                  </a:solidFill>
                </a:uFill>
                <a:ea typeface="宋体" panose="02010600030101010101" pitchFamily="2" charset="-122"/>
                <a:cs typeface="Times New Roman" panose="02020603050405020304" pitchFamily="18" charset="0"/>
              </a:rPr>
              <a:t>散点图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”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并观察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然后进行函数拟合获得具体的函数模型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最后利用这个函数模型来解决相应的实际问题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</a:rPr>
              <a:t>.</a:t>
            </a:r>
            <a:endParaRPr lang="zh-CN" altLang="en-US" dirty="0"/>
          </a:p>
        </p:txBody>
      </p:sp>
      <p:sp>
        <p:nvSpPr>
          <p:cNvPr id="3" name="矩形 2"/>
          <p:cNvSpPr/>
          <p:nvPr/>
        </p:nvSpPr>
        <p:spPr>
          <a:xfrm>
            <a:off x="8547001" y="2428855"/>
            <a:ext cx="1174476" cy="4629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4" name="直接连接符 3"/>
          <p:cNvCxnSpPr/>
          <p:nvPr/>
        </p:nvCxnSpPr>
        <p:spPr>
          <a:xfrm>
            <a:off x="8542656" y="2892953"/>
            <a:ext cx="1173148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52963634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>
            <a:spLocks noChangeAspect="1"/>
          </p:cNvSpPr>
          <p:nvPr/>
        </p:nvSpPr>
        <p:spPr>
          <a:xfrm>
            <a:off x="361950" y="922750"/>
            <a:ext cx="10807700" cy="4189545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solidFill>
                  <a:srgbClr val="0000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【思考辨析】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判断下列说法是否正确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正确的在后面的括号内打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“</a:t>
            </a:r>
            <a:r>
              <a:rPr lang="en-US" altLang="zh-CN" dirty="0">
                <a:solidFill>
                  <a:srgbClr val="000000"/>
                </a:solidFill>
                <a:latin typeface="Cambria Math" panose="02040503050406030204" pitchFamily="18" charset="0"/>
                <a:ea typeface="NEU-BZ-S92"/>
                <a:cs typeface="Times New Roman" panose="02020603050405020304" pitchFamily="18" charset="0"/>
              </a:rPr>
              <a:t>√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”,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错误的打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“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×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”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(1)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三角函数模型是描述周期变化现象的重要函数模型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  </a:t>
            </a:r>
            <a:r>
              <a:rPr lang="en-US" altLang="zh-CN" dirty="0"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√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  )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(2)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在研究具体问题时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我们常常利用搜集到的数据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作出相应的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“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散点图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”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来获得相应的函数模型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  </a:t>
            </a:r>
            <a:r>
              <a:rPr lang="en-US" altLang="zh-CN" dirty="0"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√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  )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(3)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函数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y=|</a:t>
            </a:r>
            <a:r>
              <a:rPr lang="en-US" altLang="zh-CN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cos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x|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的图象是以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dirty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π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为周期的波浪形曲线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  </a:t>
            </a:r>
            <a:r>
              <a:rPr lang="en-US" altLang="zh-CN" dirty="0"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×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  )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10358791" y="2808039"/>
            <a:ext cx="482545" cy="4629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6985173" y="3960167"/>
            <a:ext cx="482545" cy="4629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/>
          <p:cNvSpPr/>
          <p:nvPr/>
        </p:nvSpPr>
        <p:spPr>
          <a:xfrm>
            <a:off x="9721477" y="4602455"/>
            <a:ext cx="482545" cy="4629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40416969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虚尾箭头 1"/>
          <p:cNvSpPr/>
          <p:nvPr/>
        </p:nvSpPr>
        <p:spPr>
          <a:xfrm>
            <a:off x="432445" y="1295871"/>
            <a:ext cx="10657184" cy="3528392"/>
          </a:xfrm>
          <a:prstGeom prst="stripedRightArrow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zh-CN" sz="66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66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合作</a:t>
            </a:r>
            <a:r>
              <a:rPr lang="zh-CN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探究</a:t>
            </a:r>
            <a:r>
              <a:rPr lang="en-US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·</a:t>
            </a:r>
            <a:r>
              <a:rPr lang="zh-CN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释疑解惑</a:t>
            </a:r>
          </a:p>
        </p:txBody>
      </p:sp>
    </p:spTree>
    <p:extLst>
      <p:ext uri="{BB962C8B-B14F-4D97-AF65-F5344CB8AC3E}">
        <p14:creationId xmlns:p14="http://schemas.microsoft.com/office/powerpoint/2010/main" val="9169604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燕尾形 2"/>
          <p:cNvSpPr/>
          <p:nvPr/>
        </p:nvSpPr>
        <p:spPr>
          <a:xfrm>
            <a:off x="1239655" y="689327"/>
            <a:ext cx="8625838" cy="576064"/>
          </a:xfrm>
          <a:prstGeom prst="chevron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zh-CN" dirty="0"/>
              <a:t>探究</a:t>
            </a:r>
            <a:r>
              <a:rPr lang="zh-CN" altLang="zh-CN" dirty="0" smtClean="0"/>
              <a:t>一</a:t>
            </a:r>
            <a:r>
              <a:rPr lang="en-US" altLang="zh-CN" dirty="0" smtClean="0"/>
              <a:t>  </a:t>
            </a:r>
            <a:r>
              <a:rPr lang="zh-CN" altLang="zh-CN" dirty="0" smtClean="0"/>
              <a:t>三角函数</a:t>
            </a:r>
            <a:r>
              <a:rPr lang="zh-CN" altLang="zh-CN" dirty="0"/>
              <a:t>模型在物理中的应用</a:t>
            </a:r>
          </a:p>
        </p:txBody>
      </p:sp>
      <p:sp>
        <p:nvSpPr>
          <p:cNvPr id="4" name="矩形 3"/>
          <p:cNvSpPr>
            <a:spLocks noChangeAspect="1"/>
          </p:cNvSpPr>
          <p:nvPr/>
        </p:nvSpPr>
        <p:spPr>
          <a:xfrm>
            <a:off x="361950" y="5544497"/>
            <a:ext cx="10807700" cy="626710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分析</a:t>
            </a:r>
            <a:r>
              <a:rPr lang="en-US" altLang="zh-CN" dirty="0" smtClean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确定函数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</a:rPr>
              <a:t>y=</a:t>
            </a:r>
            <a:r>
              <a:rPr lang="en-US" altLang="zh-CN" i="1" dirty="0" err="1">
                <a:solidFill>
                  <a:srgbClr val="000000"/>
                </a:solidFill>
                <a:ea typeface="宋体" panose="02010600030101010101" pitchFamily="2" charset="-122"/>
              </a:rPr>
              <a:t>A</a:t>
            </a:r>
            <a:r>
              <a:rPr lang="en-US" altLang="zh-CN" dirty="0" err="1">
                <a:solidFill>
                  <a:srgbClr val="000000"/>
                </a:solidFill>
                <a:ea typeface="宋体" panose="02010600030101010101" pitchFamily="2" charset="-122"/>
              </a:rPr>
              <a:t>sin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(</a:t>
            </a:r>
            <a:r>
              <a:rPr lang="en-US" altLang="zh-CN" i="1" dirty="0" err="1">
                <a:solidFill>
                  <a:srgbClr val="000000"/>
                </a:solidFill>
                <a:ea typeface="Microsoft Yi Baiti" panose="03000500000000000000" pitchFamily="66" charset="0"/>
              </a:rPr>
              <a:t>ω</a:t>
            </a:r>
            <a:r>
              <a:rPr lang="en-US" altLang="zh-CN" i="1" dirty="0" err="1">
                <a:solidFill>
                  <a:srgbClr val="000000"/>
                </a:solidFill>
                <a:ea typeface="宋体" panose="02010600030101010101" pitchFamily="2" charset="-122"/>
              </a:rPr>
              <a:t>x+</a:t>
            </a:r>
            <a:r>
              <a:rPr lang="en-US" altLang="zh-CN" i="1" dirty="0" err="1">
                <a:solidFill>
                  <a:srgbClr val="000000"/>
                </a:solidFill>
                <a:ea typeface="Microsoft Yi Baiti" panose="03000500000000000000" pitchFamily="66" charset="0"/>
              </a:rPr>
              <a:t>φ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)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中的参数</a:t>
            </a:r>
            <a:r>
              <a:rPr lang="en-US" altLang="zh-CN" i="1" dirty="0" err="1">
                <a:solidFill>
                  <a:srgbClr val="000000"/>
                </a:solidFill>
                <a:ea typeface="宋体" panose="02010600030101010101" pitchFamily="2" charset="-122"/>
              </a:rPr>
              <a:t>A</a:t>
            </a:r>
            <a:r>
              <a:rPr lang="en-US" altLang="zh-CN" dirty="0" err="1">
                <a:solidFill>
                  <a:srgbClr val="000000"/>
                </a:solidFill>
                <a:ea typeface="宋体" panose="02010600030101010101" pitchFamily="2" charset="-122"/>
              </a:rPr>
              <a:t>,</a:t>
            </a:r>
            <a:r>
              <a:rPr lang="en-US" altLang="zh-CN" i="1" dirty="0" err="1">
                <a:solidFill>
                  <a:srgbClr val="000000"/>
                </a:solidFill>
                <a:ea typeface="Microsoft Yi Baiti" panose="03000500000000000000" pitchFamily="66" charset="0"/>
              </a:rPr>
              <a:t>ω</a:t>
            </a:r>
            <a:r>
              <a:rPr lang="en-US" altLang="zh-CN" dirty="0" err="1">
                <a:solidFill>
                  <a:srgbClr val="000000"/>
                </a:solidFill>
                <a:ea typeface="宋体" panose="02010600030101010101" pitchFamily="2" charset="-122"/>
              </a:rPr>
              <a:t>,</a:t>
            </a:r>
            <a:r>
              <a:rPr lang="en-US" altLang="zh-CN" i="1" dirty="0" err="1">
                <a:solidFill>
                  <a:srgbClr val="000000"/>
                </a:solidFill>
                <a:ea typeface="Microsoft Yi Baiti" panose="03000500000000000000" pitchFamily="66" charset="0"/>
              </a:rPr>
              <a:t>φ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的物理意义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</a:rPr>
              <a:t>.</a:t>
            </a:r>
            <a:endParaRPr lang="zh-CN" altLang="en-US" dirty="0"/>
          </a:p>
        </p:txBody>
      </p:sp>
      <p:grpSp>
        <p:nvGrpSpPr>
          <p:cNvPr id="9" name="组合 8"/>
          <p:cNvGrpSpPr/>
          <p:nvPr/>
        </p:nvGrpSpPr>
        <p:grpSpPr>
          <a:xfrm>
            <a:off x="361950" y="1389087"/>
            <a:ext cx="14367841" cy="4320029"/>
            <a:chOff x="361950" y="1295871"/>
            <a:chExt cx="14367841" cy="4320029"/>
          </a:xfrm>
        </p:grpSpPr>
        <p:sp>
          <p:nvSpPr>
            <p:cNvPr id="7" name="矩形 6"/>
            <p:cNvSpPr>
              <a:spLocks noChangeAspect="1"/>
            </p:cNvSpPr>
            <p:nvPr/>
          </p:nvSpPr>
          <p:spPr>
            <a:xfrm>
              <a:off x="361950" y="1295871"/>
              <a:ext cx="10807700" cy="4320029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dirty="0">
                  <a:solidFill>
                    <a:srgbClr val="000000"/>
                  </a:solidFill>
                  <a:latin typeface="Arial" panose="020B0604020202020204" pitchFamily="34" charset="0"/>
                  <a:cs typeface="Times New Roman" panose="02020603050405020304" pitchFamily="18" charset="0"/>
                </a:rPr>
                <a:t>【例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1</a:t>
              </a:r>
              <a:r>
                <a:rPr lang="zh-CN" altLang="zh-CN" dirty="0">
                  <a:solidFill>
                    <a:srgbClr val="000000"/>
                  </a:solidFill>
                  <a:latin typeface="Arial" panose="020B0604020202020204" pitchFamily="34" charset="0"/>
                  <a:cs typeface="Times New Roman" panose="02020603050405020304" pitchFamily="18" charset="0"/>
                </a:rPr>
                <a:t>】</a:t>
              </a:r>
              <a:r>
                <a:rPr lang="zh-CN" altLang="zh-CN" dirty="0">
                  <a:solidFill>
                    <a:srgbClr val="000000"/>
                  </a:solidFill>
                  <a:latin typeface="NEU-BZ-S92"/>
                  <a:ea typeface="Arial" panose="020B0604020202020204" pitchFamily="34" charset="0"/>
                  <a:cs typeface="Times New Roman" panose="02020603050405020304" pitchFamily="18" charset="0"/>
                </a:rPr>
                <a:t> 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已知弹簧上挂着的小球做上下振动时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规定向上为正方向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小球离开平衡位置的位移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s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单位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:cm)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随时间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t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单位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:s)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的变化规律为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 </a:t>
              </a:r>
              <a:r>
                <a:rPr lang="en-US" altLang="zh-CN" dirty="0" smtClean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                      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t</a:t>
              </a:r>
              <a:r>
                <a:rPr lang="zh-CN" altLang="zh-CN" dirty="0">
                  <a:solidFill>
                    <a:srgbClr val="000000"/>
                  </a:solidFill>
                  <a:latin typeface="NEU-BZ-S92"/>
                  <a:ea typeface="宋体" panose="02010600030101010101" pitchFamily="2" charset="-122"/>
                  <a:cs typeface="宋体" panose="02010600030101010101" pitchFamily="2" charset="-122"/>
                </a:rPr>
                <a:t>∈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[0,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+∞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)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作出这个函数的简图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并回答下列问题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(1)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小球在开始振动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t=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0)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时的位移是多少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?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(2)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小球上升到最高点和下降到最低点时的位移分别是多少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?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(3)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经过多长时间小球往复振动一次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?</a:t>
              </a:r>
              <a:endParaRPr lang="zh-CN" altLang="zh-CN" dirty="0">
                <a:solidFill>
                  <a:srgbClr val="000000"/>
                </a:solidFill>
                <a:effectLst/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8" name="对象 7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061694298"/>
                </p:ext>
              </p:extLst>
            </p:nvPr>
          </p:nvGraphicFramePr>
          <p:xfrm>
            <a:off x="3024733" y="2489527"/>
            <a:ext cx="11705058" cy="66534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117" name="文档" r:id="rId4" imgW="3837724" imgH="218147" progId="Word.Document.12">
                    <p:embed/>
                  </p:oleObj>
                </mc:Choice>
                <mc:Fallback>
                  <p:oleObj name="文档" r:id="rId4" imgW="3837724" imgH="218147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5"/>
                        <a:stretch>
                          <a:fillRect/>
                        </a:stretch>
                      </p:blipFill>
                      <p:spPr>
                        <a:xfrm>
                          <a:off x="3024733" y="2489527"/>
                          <a:ext cx="11705058" cy="665348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20264129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61950" y="1101300"/>
            <a:ext cx="2619628" cy="68326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解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列表如下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</a:rPr>
              <a:t>: </a:t>
            </a:r>
            <a:endParaRPr lang="zh-CN" altLang="en-US" dirty="0"/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08616089"/>
              </p:ext>
            </p:extLst>
          </p:nvPr>
        </p:nvGraphicFramePr>
        <p:xfrm>
          <a:off x="366180" y="1794163"/>
          <a:ext cx="10798633" cy="316428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41" name="文档" r:id="rId4" imgW="3894589" imgH="1141217" progId="Word.Document.12">
                  <p:embed/>
                </p:oleObj>
              </mc:Choice>
              <mc:Fallback>
                <p:oleObj name="文档" r:id="rId4" imgW="3894589" imgH="1141217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366180" y="1794163"/>
                        <a:ext cx="10798633" cy="316428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0679029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61950" y="950185"/>
            <a:ext cx="5024132" cy="68326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描点、连线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图象如图所示</a:t>
            </a:r>
            <a:r>
              <a:rPr lang="en-US" altLang="zh-CN" i="1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 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pic>
        <p:nvPicPr>
          <p:cNvPr id="4" name="ZMG1TRA36.eps" descr="id:2147509628;FounderCES"/>
          <p:cNvPicPr/>
          <p:nvPr/>
        </p:nvPicPr>
        <p:blipFill>
          <a:blip r:embed="rId2"/>
          <a:stretch>
            <a:fillRect/>
          </a:stretch>
        </p:blipFill>
        <p:spPr>
          <a:xfrm>
            <a:off x="2520677" y="1633448"/>
            <a:ext cx="6264696" cy="30467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27792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7270467"/>
              </p:ext>
            </p:extLst>
          </p:nvPr>
        </p:nvGraphicFramePr>
        <p:xfrm>
          <a:off x="439788" y="1295871"/>
          <a:ext cx="10607329" cy="361048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65" name="文档" r:id="rId4" imgW="3477813" imgH="1183765" progId="Word.Document.12">
                  <p:embed/>
                </p:oleObj>
              </mc:Choice>
              <mc:Fallback>
                <p:oleObj name="文档" r:id="rId4" imgW="3477813" imgH="1183765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39788" y="1295871"/>
                        <a:ext cx="10607329" cy="361048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490480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61950" y="1511895"/>
            <a:ext cx="10807700" cy="3046988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en-US" dirty="0">
                <a:solidFill>
                  <a:srgbClr val="000000"/>
                </a:solidFill>
                <a:latin typeface="黑体" panose="02010609060101010101" pitchFamily="49" charset="-122"/>
                <a:cs typeface="Times New Roman" panose="02020603050405020304" pitchFamily="18" charset="0"/>
              </a:rPr>
              <a:t>反思感悟</a:t>
            </a:r>
            <a:endParaRPr lang="zh-CN" altLang="zh-CN" dirty="0">
              <a:solidFill>
                <a:srgbClr val="000000"/>
              </a:solidFill>
              <a:latin typeface="黑体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 smtClean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三角函数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模型在物理中的应用主要体现在简谐运动中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其中对弹簧振子和单摆的运动等有关问题考查最多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解决这类问题</a:t>
            </a:r>
            <a:r>
              <a:rPr lang="zh-CN" altLang="zh-CN" dirty="0" smtClean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时要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弄清振幅、频率、周期、平衡位置等物理概念的意义和表示方法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658514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4"/>
          <p:cNvGrpSpPr/>
          <p:nvPr/>
        </p:nvGrpSpPr>
        <p:grpSpPr>
          <a:xfrm>
            <a:off x="139700" y="1193800"/>
            <a:ext cx="11661775" cy="3630463"/>
            <a:chOff x="139700" y="1193800"/>
            <a:chExt cx="11661775" cy="3630463"/>
          </a:xfrm>
        </p:grpSpPr>
        <p:graphicFrame>
          <p:nvGraphicFramePr>
            <p:cNvPr id="3" name="对象 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601029238"/>
                </p:ext>
              </p:extLst>
            </p:nvPr>
          </p:nvGraphicFramePr>
          <p:xfrm>
            <a:off x="139700" y="1193800"/>
            <a:ext cx="11661775" cy="12477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189" name="文档" r:id="rId4" imgW="3837724" imgH="413218" progId="Word.Document.12">
                    <p:embed/>
                  </p:oleObj>
                </mc:Choice>
                <mc:Fallback>
                  <p:oleObj name="文档" r:id="rId4" imgW="3837724" imgH="413218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5"/>
                        <a:stretch>
                          <a:fillRect/>
                        </a:stretch>
                      </p:blipFill>
                      <p:spPr>
                        <a:xfrm>
                          <a:off x="139700" y="1193800"/>
                          <a:ext cx="11661775" cy="1247775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" name="矩形 3"/>
            <p:cNvSpPr>
              <a:spLocks noChangeAspect="1"/>
            </p:cNvSpPr>
            <p:nvPr/>
          </p:nvSpPr>
          <p:spPr>
            <a:xfrm>
              <a:off x="361950" y="2424760"/>
              <a:ext cx="10807700" cy="2399503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(1)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作出该函数的图象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;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(2)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当单摆开始摆动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t=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0)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时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离开平衡位置的距离是多少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?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(3)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当单摆摆动到最右边时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离开平衡位置的距离是多少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?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(4)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单摆来回摆动一次需多长时间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?</a:t>
              </a:r>
              <a:endParaRPr lang="zh-CN" altLang="zh-CN" dirty="0">
                <a:solidFill>
                  <a:srgbClr val="000000"/>
                </a:solidFill>
                <a:effectLst/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8837551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组合 6"/>
          <p:cNvGrpSpPr/>
          <p:nvPr/>
        </p:nvGrpSpPr>
        <p:grpSpPr>
          <a:xfrm>
            <a:off x="361950" y="598639"/>
            <a:ext cx="10807700" cy="3152544"/>
            <a:chOff x="361950" y="807593"/>
            <a:chExt cx="10807700" cy="3152544"/>
          </a:xfrm>
        </p:grpSpPr>
        <p:sp>
          <p:nvSpPr>
            <p:cNvPr id="2" name="矩形 1"/>
            <p:cNvSpPr>
              <a:spLocks noChangeAspect="1"/>
            </p:cNvSpPr>
            <p:nvPr/>
          </p:nvSpPr>
          <p:spPr>
            <a:xfrm>
              <a:off x="361950" y="807593"/>
              <a:ext cx="10807700" cy="683264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zh-CN" altLang="zh-CN" dirty="0">
                  <a:latin typeface="Arial" panose="020B0604020202020204" pitchFamily="34" charset="0"/>
                  <a:cs typeface="Times New Roman" panose="02020603050405020304" pitchFamily="18" charset="0"/>
                </a:rPr>
                <a:t>解</a:t>
              </a:r>
              <a:r>
                <a:rPr lang="en-US" altLang="zh-CN" dirty="0">
                  <a:latin typeface="Arial" panose="020B0604020202020204" pitchFamily="34" charset="0"/>
                  <a:cs typeface="Times New Roman" panose="02020603050405020304" pitchFamily="18" charset="0"/>
                </a:rPr>
                <a:t>: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(1)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利用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“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五点法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”</a:t>
              </a:r>
              <a:r>
                <a:rPr lang="zh-CN" altLang="zh-CN" dirty="0" smtClean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可</a:t>
              </a:r>
              <a:r>
                <a:rPr lang="zh-CN" altLang="en-US" dirty="0" smtClean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画</a:t>
              </a:r>
              <a:r>
                <a:rPr lang="zh-CN" altLang="zh-CN" dirty="0" smtClean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出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其图象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如图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endParaRPr lang="zh-CN" altLang="zh-CN" dirty="0">
                <a:solidFill>
                  <a:srgbClr val="000000"/>
                </a:solidFill>
                <a:effectLst/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</p:txBody>
        </p:sp>
        <p:pic>
          <p:nvPicPr>
            <p:cNvPr id="6" name="ZMG1TRA37.eps" descr="id:2147509642;FounderCES"/>
            <p:cNvPicPr/>
            <p:nvPr/>
          </p:nvPicPr>
          <p:blipFill>
            <a:blip r:embed="rId3"/>
            <a:stretch>
              <a:fillRect/>
            </a:stretch>
          </p:blipFill>
          <p:spPr>
            <a:xfrm>
              <a:off x="3744813" y="1370641"/>
              <a:ext cx="2736304" cy="2589496"/>
            </a:xfrm>
            <a:prstGeom prst="rect">
              <a:avLst/>
            </a:prstGeom>
          </p:spPr>
        </p:pic>
      </p:grpSp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12451219"/>
              </p:ext>
            </p:extLst>
          </p:nvPr>
        </p:nvGraphicFramePr>
        <p:xfrm>
          <a:off x="504825" y="3856449"/>
          <a:ext cx="10752138" cy="2470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13" name="文档" r:id="rId5" imgW="3531791" imgH="809322" progId="Word.Document.12">
                  <p:embed/>
                </p:oleObj>
              </mc:Choice>
              <mc:Fallback>
                <p:oleObj name="文档" r:id="rId5" imgW="3531791" imgH="809322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504825" y="3856449"/>
                        <a:ext cx="10752138" cy="24701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0431916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燕尾形 2"/>
          <p:cNvSpPr/>
          <p:nvPr/>
        </p:nvSpPr>
        <p:spPr>
          <a:xfrm>
            <a:off x="1239655" y="719807"/>
            <a:ext cx="8625838" cy="576064"/>
          </a:xfrm>
          <a:prstGeom prst="chevron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zh-CN" dirty="0"/>
              <a:t>探究</a:t>
            </a:r>
            <a:r>
              <a:rPr lang="zh-CN" altLang="zh-CN" dirty="0" smtClean="0"/>
              <a:t>二</a:t>
            </a:r>
            <a:r>
              <a:rPr lang="en-US" altLang="zh-CN" dirty="0" smtClean="0"/>
              <a:t>  </a:t>
            </a:r>
            <a:r>
              <a:rPr lang="zh-CN" altLang="zh-CN" dirty="0" smtClean="0"/>
              <a:t>数据拟合</a:t>
            </a:r>
            <a:r>
              <a:rPr lang="zh-CN" altLang="zh-CN" dirty="0"/>
              <a:t>问题</a:t>
            </a:r>
          </a:p>
        </p:txBody>
      </p:sp>
      <p:grpSp>
        <p:nvGrpSpPr>
          <p:cNvPr id="6" name="组合 5"/>
          <p:cNvGrpSpPr/>
          <p:nvPr/>
        </p:nvGrpSpPr>
        <p:grpSpPr>
          <a:xfrm>
            <a:off x="361950" y="1469383"/>
            <a:ext cx="10840586" cy="4176464"/>
            <a:chOff x="361950" y="1511895"/>
            <a:chExt cx="10840586" cy="4176464"/>
          </a:xfrm>
        </p:grpSpPr>
        <p:sp>
          <p:nvSpPr>
            <p:cNvPr id="2" name="矩形 1"/>
            <p:cNvSpPr>
              <a:spLocks noChangeAspect="1"/>
            </p:cNvSpPr>
            <p:nvPr/>
          </p:nvSpPr>
          <p:spPr>
            <a:xfrm>
              <a:off x="361950" y="1511895"/>
              <a:ext cx="10807700" cy="1217641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zh-CN" altLang="zh-CN" dirty="0">
                  <a:solidFill>
                    <a:srgbClr val="000000"/>
                  </a:solidFill>
                  <a:latin typeface="Arial" panose="020B0604020202020204" pitchFamily="34" charset="0"/>
                  <a:cs typeface="Times New Roman" panose="02020603050405020304" pitchFamily="18" charset="0"/>
                </a:rPr>
                <a:t>【例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</a:rPr>
                <a:t>2</a:t>
              </a:r>
              <a:r>
                <a:rPr lang="zh-CN" altLang="zh-CN" dirty="0">
                  <a:solidFill>
                    <a:srgbClr val="000000"/>
                  </a:solidFill>
                  <a:latin typeface="Arial" panose="020B0604020202020204" pitchFamily="34" charset="0"/>
                  <a:cs typeface="Times New Roman" panose="02020603050405020304" pitchFamily="18" charset="0"/>
                </a:rPr>
                <a:t>】</a:t>
              </a:r>
              <a:r>
                <a:rPr lang="zh-CN" altLang="zh-CN" dirty="0">
                  <a:solidFill>
                    <a:srgbClr val="000000"/>
                  </a:solidFill>
                  <a:ea typeface="Arial" panose="020B0604020202020204" pitchFamily="34" charset="0"/>
                  <a:cs typeface="Times New Roman" panose="02020603050405020304" pitchFamily="18" charset="0"/>
                </a:rPr>
                <a:t> 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某港口的水深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</a:rPr>
                <a:t>y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</a:rPr>
                <a:t>(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单位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</a:rPr>
                <a:t>:m)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是时间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</a:rPr>
                <a:t>t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</a:rPr>
                <a:t>(0</a:t>
              </a:r>
              <a:r>
                <a:rPr lang="en-US" altLang="zh-CN" dirty="0">
                  <a:solidFill>
                    <a:srgbClr val="000000"/>
                  </a:solidFill>
                  <a:latin typeface="宋体" panose="02010600030101010101" pitchFamily="2" charset="-122"/>
                  <a:cs typeface="Times New Roman" panose="02020603050405020304" pitchFamily="18" charset="0"/>
                </a:rPr>
                <a:t>≤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</a:rPr>
                <a:t>t</a:t>
              </a:r>
              <a:r>
                <a:rPr lang="en-US" altLang="zh-CN" dirty="0">
                  <a:solidFill>
                    <a:srgbClr val="000000"/>
                  </a:solidFill>
                  <a:latin typeface="宋体" panose="02010600030101010101" pitchFamily="2" charset="-122"/>
                  <a:cs typeface="Times New Roman" panose="02020603050405020304" pitchFamily="18" charset="0"/>
                </a:rPr>
                <a:t>≤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</a:rPr>
                <a:t>24,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单位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</a:rPr>
                <a:t>:h)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的函数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下面是有关时间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</a:rPr>
                <a:t>t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与水深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</a:rPr>
                <a:t>y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的数据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</a:rPr>
                <a:t>:</a:t>
              </a:r>
              <a:endParaRPr lang="zh-CN" altLang="en-US" dirty="0"/>
            </a:p>
          </p:txBody>
        </p:sp>
        <p:graphicFrame>
          <p:nvGraphicFramePr>
            <p:cNvPr id="4" name="对象 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849821594"/>
                </p:ext>
              </p:extLst>
            </p:nvPr>
          </p:nvGraphicFramePr>
          <p:xfrm>
            <a:off x="432445" y="2779209"/>
            <a:ext cx="10770091" cy="168501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261" name="文档" r:id="rId4" imgW="3884295" imgH="607710" progId="Word.Document.12">
                    <p:embed/>
                  </p:oleObj>
                </mc:Choice>
                <mc:Fallback>
                  <p:oleObj name="文档" r:id="rId4" imgW="3884295" imgH="607710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5"/>
                        <a:stretch>
                          <a:fillRect/>
                        </a:stretch>
                      </p:blipFill>
                      <p:spPr>
                        <a:xfrm>
                          <a:off x="432445" y="2779209"/>
                          <a:ext cx="10770091" cy="1685014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" name="矩形 4"/>
            <p:cNvSpPr>
              <a:spLocks noChangeAspect="1"/>
            </p:cNvSpPr>
            <p:nvPr/>
          </p:nvSpPr>
          <p:spPr>
            <a:xfrm>
              <a:off x="361950" y="3879787"/>
              <a:ext cx="10807700" cy="1808572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(1)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在平面直角坐标系中描出上表中的点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(2)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根据表中的数据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你能选用一个函数描述时间与水深的关系吗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?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并求出选用函数的解析式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endParaRPr lang="zh-CN" altLang="zh-CN" dirty="0">
                <a:solidFill>
                  <a:srgbClr val="000000"/>
                </a:solidFill>
                <a:effectLst/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5849948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>
            <a:spLocks noChangeAspect="1"/>
          </p:cNvSpPr>
          <p:nvPr/>
        </p:nvSpPr>
        <p:spPr>
          <a:xfrm>
            <a:off x="361950" y="2310478"/>
            <a:ext cx="10807700" cy="1217641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>
                <a:latin typeface="Arial" panose="020B0604020202020204" pitchFamily="34" charset="0"/>
                <a:cs typeface="Times New Roman" panose="02020603050405020304" pitchFamily="18" charset="0"/>
              </a:rPr>
              <a:t>分析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(1)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先建立平面直角坐标系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再描点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;(2)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根据散点分布趋势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寻找函数关系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409432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61950" y="719807"/>
            <a:ext cx="10807700" cy="1865126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解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(1)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以时间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t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单位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:h)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为横轴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水深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y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单位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:m)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为纵轴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建立平面直角坐标系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在平面直角坐标系中画出</a:t>
            </a:r>
            <a:r>
              <a:rPr lang="zh-CN" altLang="zh-CN" dirty="0" smtClean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散点图</a:t>
            </a:r>
            <a:r>
              <a:rPr lang="en-US" altLang="zh-CN" dirty="0" smtClean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,</a:t>
            </a:r>
            <a:r>
              <a:rPr lang="zh-CN" altLang="zh-CN" dirty="0" smtClean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如图</a:t>
            </a:r>
            <a:r>
              <a:rPr lang="zh-CN" altLang="en-US" dirty="0" smtClean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所示</a:t>
            </a:r>
            <a:r>
              <a:rPr lang="en-US" altLang="zh-CN" i="1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pic>
        <p:nvPicPr>
          <p:cNvPr id="5" name="21E76.eps" descr="id:2147494687;FounderCES"/>
          <p:cNvPicPr/>
          <p:nvPr/>
        </p:nvPicPr>
        <p:blipFill>
          <a:blip r:embed="rId2"/>
          <a:stretch>
            <a:fillRect/>
          </a:stretch>
        </p:blipFill>
        <p:spPr>
          <a:xfrm>
            <a:off x="2880717" y="2584933"/>
            <a:ext cx="5328592" cy="34043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45705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99890940"/>
              </p:ext>
            </p:extLst>
          </p:nvPr>
        </p:nvGraphicFramePr>
        <p:xfrm>
          <a:off x="360437" y="935831"/>
          <a:ext cx="11671959" cy="462118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84" name="文档" r:id="rId4" imgW="3826872" imgH="1515143" progId="Word.Document.12">
                  <p:embed/>
                </p:oleObj>
              </mc:Choice>
              <mc:Fallback>
                <p:oleObj name="文档" r:id="rId4" imgW="3826872" imgH="1515143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360437" y="935831"/>
                        <a:ext cx="11671959" cy="462118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9708859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61950" y="1163496"/>
            <a:ext cx="10807700" cy="3637919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en-US" dirty="0">
                <a:solidFill>
                  <a:srgbClr val="000000"/>
                </a:solidFill>
                <a:latin typeface="黑体" panose="02010609060101010101" pitchFamily="49" charset="-122"/>
                <a:cs typeface="Times New Roman" panose="02020603050405020304" pitchFamily="18" charset="0"/>
              </a:rPr>
              <a:t>反思感悟</a:t>
            </a:r>
            <a:endParaRPr lang="zh-CN" altLang="zh-CN" dirty="0">
              <a:solidFill>
                <a:srgbClr val="000000"/>
              </a:solidFill>
              <a:latin typeface="黑体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本题中没有明确函数的类型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可通过画散点图来拟合曲线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此类问题的一般解法是先由表中数据分析求出待定系数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再转化为三角不等式对实际问题进行预测判断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因为实际问题的背景往往比较复杂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所以要注意认真审题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从中抽取基本的数学关系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072340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/>
        </p:nvGrpSpPr>
        <p:grpSpPr>
          <a:xfrm>
            <a:off x="361950" y="759135"/>
            <a:ext cx="10831023" cy="5355650"/>
            <a:chOff x="361950" y="719807"/>
            <a:chExt cx="10831023" cy="5355650"/>
          </a:xfrm>
        </p:grpSpPr>
        <p:sp>
          <p:nvSpPr>
            <p:cNvPr id="3" name="矩形 2"/>
            <p:cNvSpPr>
              <a:spLocks noChangeAspect="1"/>
            </p:cNvSpPr>
            <p:nvPr/>
          </p:nvSpPr>
          <p:spPr>
            <a:xfrm>
              <a:off x="361950" y="719807"/>
              <a:ext cx="10807700" cy="1808572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zh-CN" altLang="zh-CN" dirty="0">
                  <a:solidFill>
                    <a:srgbClr val="000000"/>
                  </a:solidFill>
                  <a:latin typeface="Arial" panose="020B0604020202020204" pitchFamily="34" charset="0"/>
                  <a:cs typeface="Times New Roman" panose="02020603050405020304" pitchFamily="18" charset="0"/>
                </a:rPr>
                <a:t>【变式训练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</a:rPr>
                <a:t>2</a:t>
              </a:r>
              <a:r>
                <a:rPr lang="zh-CN" altLang="zh-CN" dirty="0">
                  <a:solidFill>
                    <a:srgbClr val="000000"/>
                  </a:solidFill>
                  <a:latin typeface="Arial" panose="020B0604020202020204" pitchFamily="34" charset="0"/>
                  <a:cs typeface="Times New Roman" panose="02020603050405020304" pitchFamily="18" charset="0"/>
                </a:rPr>
                <a:t>】</a:t>
              </a:r>
              <a:r>
                <a:rPr lang="zh-CN" altLang="zh-CN" dirty="0">
                  <a:solidFill>
                    <a:srgbClr val="000000"/>
                  </a:solidFill>
                  <a:ea typeface="Arial" panose="020B0604020202020204" pitchFamily="34" charset="0"/>
                  <a:cs typeface="Times New Roman" panose="02020603050405020304" pitchFamily="18" charset="0"/>
                </a:rPr>
                <a:t> 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已知某海滨浴场海浪的高度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</a:rPr>
                <a:t>y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</a:rPr>
                <a:t>(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单位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</a:rPr>
                <a:t>:m)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是时间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</a:rPr>
                <a:t>t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</a:rPr>
                <a:t>(0</a:t>
              </a:r>
              <a:r>
                <a:rPr lang="en-US" altLang="zh-CN" dirty="0">
                  <a:solidFill>
                    <a:srgbClr val="000000"/>
                  </a:solidFill>
                  <a:latin typeface="宋体" panose="02010600030101010101" pitchFamily="2" charset="-122"/>
                  <a:cs typeface="Times New Roman" panose="02020603050405020304" pitchFamily="18" charset="0"/>
                </a:rPr>
                <a:t>≤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</a:rPr>
                <a:t>t</a:t>
              </a:r>
              <a:r>
                <a:rPr lang="en-US" altLang="zh-CN" dirty="0">
                  <a:solidFill>
                    <a:srgbClr val="000000"/>
                  </a:solidFill>
                  <a:latin typeface="宋体" panose="02010600030101010101" pitchFamily="2" charset="-122"/>
                  <a:cs typeface="Times New Roman" panose="02020603050405020304" pitchFamily="18" charset="0"/>
                </a:rPr>
                <a:t>≤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</a:rPr>
                <a:t>24,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单位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</a:rPr>
                <a:t>:h)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的函数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记作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</a:rPr>
                <a:t>: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</a:rPr>
                <a:t>y=f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</a:rPr>
                <a:t>(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</a:rPr>
                <a:t>t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</a:rPr>
                <a:t>),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下表是某日各时的浪高数据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</a:rPr>
                <a:t>.</a:t>
              </a:r>
              <a:endParaRPr lang="zh-CN" altLang="en-US" dirty="0"/>
            </a:p>
          </p:txBody>
        </p:sp>
        <p:graphicFrame>
          <p:nvGraphicFramePr>
            <p:cNvPr id="4" name="对象 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006740770"/>
                </p:ext>
              </p:extLst>
            </p:nvPr>
          </p:nvGraphicFramePr>
          <p:xfrm>
            <a:off x="422882" y="2528379"/>
            <a:ext cx="10770091" cy="168501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307" name="文档" r:id="rId4" imgW="3884295" imgH="607710" progId="Word.Document.12">
                    <p:embed/>
                  </p:oleObj>
                </mc:Choice>
                <mc:Fallback>
                  <p:oleObj name="文档" r:id="rId4" imgW="3884295" imgH="607710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5"/>
                        <a:stretch>
                          <a:fillRect/>
                        </a:stretch>
                      </p:blipFill>
                      <p:spPr>
                        <a:xfrm>
                          <a:off x="422882" y="2528379"/>
                          <a:ext cx="10770091" cy="1685014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" name="矩形 4"/>
            <p:cNvSpPr>
              <a:spLocks noChangeAspect="1"/>
            </p:cNvSpPr>
            <p:nvPr/>
          </p:nvSpPr>
          <p:spPr>
            <a:xfrm>
              <a:off x="361950" y="3619400"/>
              <a:ext cx="10807700" cy="2456057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(1)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根据以上数据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求函数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y=f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t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)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的函数解析式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;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</a:pP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</a:rPr>
                <a:t>(2)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依据规定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当海浪高度高于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</a:rPr>
                <a:t>1 m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时才对冲浪爱好者开放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请依据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</a:rPr>
                <a:t>(1)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的结论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判断一天内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</a:rPr>
                <a:t>8:00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至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</a:rPr>
                <a:t>20:00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之间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有多少时间可供冲浪爱好者进行运动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</a:rPr>
                <a:t>?</a:t>
              </a:r>
              <a:endParaRPr lang="zh-CN" alt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7414591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61950" y="701119"/>
            <a:ext cx="10807700" cy="1217641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解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(1)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由表中数据描出各点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并把这些点用光滑的曲线连接起来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如图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),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7" name="对象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91852031"/>
              </p:ext>
            </p:extLst>
          </p:nvPr>
        </p:nvGraphicFramePr>
        <p:xfrm>
          <a:off x="504453" y="3384103"/>
          <a:ext cx="11671959" cy="297812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31" name="文档" r:id="rId4" imgW="3837724" imgH="979680" progId="Word.Document.12">
                  <p:embed/>
                </p:oleObj>
              </mc:Choice>
              <mc:Fallback>
                <p:oleObj name="文档" r:id="rId4" imgW="3837724" imgH="979680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504453" y="3384103"/>
                        <a:ext cx="11671959" cy="297812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8" name="ZMG1TRA39.eps" descr="id:2147509686;FounderCES"/>
          <p:cNvPicPr/>
          <p:nvPr/>
        </p:nvPicPr>
        <p:blipFill>
          <a:blip r:embed="rId6"/>
          <a:stretch>
            <a:fillRect/>
          </a:stretch>
        </p:blipFill>
        <p:spPr>
          <a:xfrm>
            <a:off x="4320877" y="1258204"/>
            <a:ext cx="3816424" cy="21609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4577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4"/>
          <p:cNvGrpSpPr/>
          <p:nvPr/>
        </p:nvGrpSpPr>
        <p:grpSpPr>
          <a:xfrm>
            <a:off x="361950" y="1079847"/>
            <a:ext cx="11765287" cy="4124120"/>
            <a:chOff x="361950" y="1079847"/>
            <a:chExt cx="11765287" cy="4124120"/>
          </a:xfrm>
        </p:grpSpPr>
        <p:graphicFrame>
          <p:nvGraphicFramePr>
            <p:cNvPr id="3" name="对象 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10234758"/>
                </p:ext>
              </p:extLst>
            </p:nvPr>
          </p:nvGraphicFramePr>
          <p:xfrm>
            <a:off x="455278" y="1079847"/>
            <a:ext cx="11671959" cy="292331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4355" name="文档" r:id="rId4" imgW="3826872" imgH="958464" progId="Word.Document.12">
                    <p:embed/>
                  </p:oleObj>
                </mc:Choice>
                <mc:Fallback>
                  <p:oleObj name="文档" r:id="rId4" imgW="3826872" imgH="958464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5"/>
                        <a:stretch>
                          <a:fillRect/>
                        </a:stretch>
                      </p:blipFill>
                      <p:spPr>
                        <a:xfrm>
                          <a:off x="455278" y="1079847"/>
                          <a:ext cx="11671959" cy="2923315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" name="矩形 3"/>
            <p:cNvSpPr>
              <a:spLocks noChangeAspect="1"/>
            </p:cNvSpPr>
            <p:nvPr/>
          </p:nvSpPr>
          <p:spPr>
            <a:xfrm>
              <a:off x="361950" y="3986326"/>
              <a:ext cx="10807700" cy="1217641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所以在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</a:rPr>
                <a:t>8:00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至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</a:rPr>
                <a:t>20:00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之间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有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</a:rPr>
                <a:t>6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个小时的时间可供冲浪爱好者运动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即上午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</a:rPr>
                <a:t>9:00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至下午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</a:rPr>
                <a:t>15:00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</a:rPr>
                <a:t>.</a:t>
              </a:r>
              <a:endParaRPr lang="zh-CN" alt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7231135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虚尾箭头 1"/>
          <p:cNvSpPr/>
          <p:nvPr/>
        </p:nvSpPr>
        <p:spPr>
          <a:xfrm>
            <a:off x="432445" y="1295871"/>
            <a:ext cx="10657184" cy="3528392"/>
          </a:xfrm>
          <a:prstGeom prst="stripedRightArrow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易</a:t>
            </a:r>
            <a:r>
              <a:rPr lang="en-US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错</a:t>
            </a:r>
            <a:r>
              <a:rPr lang="en-US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辨</a:t>
            </a:r>
            <a:r>
              <a:rPr lang="en-US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析</a:t>
            </a:r>
          </a:p>
        </p:txBody>
      </p:sp>
    </p:spTree>
    <p:extLst>
      <p:ext uri="{BB962C8B-B14F-4D97-AF65-F5344CB8AC3E}">
        <p14:creationId xmlns:p14="http://schemas.microsoft.com/office/powerpoint/2010/main" val="41619904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>
            <a:spLocks noChangeAspect="1"/>
          </p:cNvSpPr>
          <p:nvPr/>
        </p:nvSpPr>
        <p:spPr>
          <a:xfrm>
            <a:off x="361950" y="1151855"/>
            <a:ext cx="10807700" cy="4172296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solidFill>
                  <a:srgbClr val="0000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不能正确认识简谐运动的过程致错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solidFill>
                  <a:srgbClr val="0000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【典例】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弹簧振子以点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O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为平衡位置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在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两点间做简谐运动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两点相距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20 cm,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初始时刻振子处在点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经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0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5 s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振子首先到达点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C.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求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: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(1)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振子振动的振幅、周期和频率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;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(2)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振子在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5 s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内通过的路程及这时相对平衡位置的距离的大小</a:t>
            </a:r>
            <a:r>
              <a:rPr lang="en-US" altLang="zh-CN" i="1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43944478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/>
        </p:nvGrpSpPr>
        <p:grpSpPr>
          <a:xfrm>
            <a:off x="361950" y="781655"/>
            <a:ext cx="15663985" cy="3637919"/>
            <a:chOff x="361950" y="1871935"/>
            <a:chExt cx="15663985" cy="3637919"/>
          </a:xfrm>
        </p:grpSpPr>
        <p:sp>
          <p:nvSpPr>
            <p:cNvPr id="4" name="矩形 3"/>
            <p:cNvSpPr>
              <a:spLocks noChangeAspect="1"/>
            </p:cNvSpPr>
            <p:nvPr/>
          </p:nvSpPr>
          <p:spPr>
            <a:xfrm>
              <a:off x="361950" y="1871935"/>
              <a:ext cx="10807700" cy="3637919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dirty="0" smtClean="0">
                  <a:solidFill>
                    <a:srgbClr val="000000"/>
                  </a:solidFill>
                  <a:latin typeface="Arial" panose="020B0604020202020204" pitchFamily="34" charset="0"/>
                  <a:cs typeface="Times New Roman" panose="02020603050405020304" pitchFamily="18" charset="0"/>
                </a:rPr>
                <a:t>错</a:t>
              </a:r>
              <a:r>
                <a:rPr lang="zh-CN" altLang="zh-CN" dirty="0">
                  <a:solidFill>
                    <a:srgbClr val="000000"/>
                  </a:solidFill>
                  <a:latin typeface="Arial" panose="020B0604020202020204" pitchFamily="34" charset="0"/>
                  <a:cs typeface="Times New Roman" panose="02020603050405020304" pitchFamily="18" charset="0"/>
                </a:rPr>
                <a:t>解</a:t>
              </a:r>
              <a:r>
                <a:rPr lang="en-US" altLang="zh-CN" dirty="0">
                  <a:solidFill>
                    <a:srgbClr val="000000"/>
                  </a:solidFill>
                  <a:latin typeface="Arial" panose="020B0604020202020204" pitchFamily="34" charset="0"/>
                  <a:cs typeface="Times New Roman" panose="02020603050405020304" pitchFamily="18" charset="0"/>
                </a:rPr>
                <a:t>: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(1)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因为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B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C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两点相距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20 cm,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所以振幅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A=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20 cm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因为振子从点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B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经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0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5 s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首次达到点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C</a:t>
              </a:r>
              <a:r>
                <a:rPr lang="en-US" altLang="zh-CN" dirty="0" smtClean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dirty="0" smtClean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所以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周期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T=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0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5 s,</a:t>
              </a:r>
              <a:r>
                <a:rPr lang="zh-CN" altLang="zh-CN" dirty="0" smtClean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频率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(2)5 s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内的路程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=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距离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=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5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A=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100(cm</a:t>
              </a:r>
              <a:r>
                <a:rPr lang="en-US" altLang="zh-CN" dirty="0" smtClean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)</a:t>
              </a:r>
              <a:r>
                <a:rPr lang="en-US" altLang="zh-CN" i="1" dirty="0" smtClean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以上解答过程中都有哪些错误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?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出错的原因是什么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?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你如何改正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?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你如何防范</a:t>
              </a:r>
              <a:r>
                <a:rPr lang="en-US" altLang="zh-CN" dirty="0" smtClean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?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5" name="对象 4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32949987"/>
                </p:ext>
              </p:extLst>
            </p:nvPr>
          </p:nvGraphicFramePr>
          <p:xfrm>
            <a:off x="4320877" y="3012191"/>
            <a:ext cx="11705058" cy="72583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3561" name="文档" r:id="rId4" imgW="3837724" imgH="237979" progId="Word.Document.12">
                    <p:embed/>
                  </p:oleObj>
                </mc:Choice>
                <mc:Fallback>
                  <p:oleObj name="文档" r:id="rId4" imgW="3837724" imgH="237979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5"/>
                        <a:stretch>
                          <a:fillRect/>
                        </a:stretch>
                      </p:blipFill>
                      <p:spPr>
                        <a:xfrm>
                          <a:off x="4320877" y="3012191"/>
                          <a:ext cx="11705058" cy="725836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7" name="矩形 6"/>
          <p:cNvSpPr>
            <a:spLocks noChangeAspect="1"/>
          </p:cNvSpPr>
          <p:nvPr/>
        </p:nvSpPr>
        <p:spPr>
          <a:xfrm>
            <a:off x="361950" y="4320207"/>
            <a:ext cx="10807700" cy="1808572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提示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(1)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算错了振幅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误认为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两点的距离是振幅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算错了周期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误认为由点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到点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是一个周期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实际上是半个周期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;(2)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混淆了物理上的路程和位移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导致错解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30294706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组合 8"/>
          <p:cNvGrpSpPr/>
          <p:nvPr/>
        </p:nvGrpSpPr>
        <p:grpSpPr>
          <a:xfrm>
            <a:off x="361950" y="874327"/>
            <a:ext cx="14295833" cy="2990434"/>
            <a:chOff x="361950" y="1367879"/>
            <a:chExt cx="14295833" cy="2990434"/>
          </a:xfrm>
        </p:grpSpPr>
        <p:sp>
          <p:nvSpPr>
            <p:cNvPr id="7" name="矩形 6"/>
            <p:cNvSpPr>
              <a:spLocks noChangeAspect="1"/>
            </p:cNvSpPr>
            <p:nvPr/>
          </p:nvSpPr>
          <p:spPr>
            <a:xfrm>
              <a:off x="361950" y="1367879"/>
              <a:ext cx="10807700" cy="2990434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dirty="0">
                  <a:latin typeface="Arial" panose="020B0604020202020204" pitchFamily="34" charset="0"/>
                  <a:cs typeface="Times New Roman" panose="02020603050405020304" pitchFamily="18" charset="0"/>
                </a:rPr>
                <a:t>正解</a:t>
              </a:r>
              <a:r>
                <a:rPr lang="en-US" altLang="zh-CN" dirty="0">
                  <a:latin typeface="Arial" panose="020B0604020202020204" pitchFamily="34" charset="0"/>
                  <a:cs typeface="Times New Roman" panose="02020603050405020304" pitchFamily="18" charset="0"/>
                </a:rPr>
                <a:t>: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(1)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设振幅为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A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则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2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A=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20 cm,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即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A=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10 cm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设周期为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T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则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       </a:t>
              </a:r>
              <a:r>
                <a:rPr lang="en-US" altLang="zh-CN" dirty="0" smtClean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       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T=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1 s,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故频率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f=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1 Hz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(2)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振子在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1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个周期内通过的路程为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4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A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当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t=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5 s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时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振子振动了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5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个周期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故路程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s=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5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×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4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A=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20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A=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20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×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10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=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200(cm)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=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2(m)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因为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5 s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末振子处在点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B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所以它相对平衡位置的距离为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10 cm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endParaRPr lang="zh-CN" altLang="zh-CN" dirty="0">
                <a:solidFill>
                  <a:srgbClr val="000000"/>
                </a:solidFill>
                <a:effectLst/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8" name="对象 7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99288523"/>
                </p:ext>
              </p:extLst>
            </p:nvPr>
          </p:nvGraphicFramePr>
          <p:xfrm>
            <a:off x="2952725" y="1940386"/>
            <a:ext cx="11705058" cy="72363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5378" name="文档" r:id="rId4" imgW="3837724" imgH="237258" progId="Word.Document.12">
                    <p:embed/>
                  </p:oleObj>
                </mc:Choice>
                <mc:Fallback>
                  <p:oleObj name="文档" r:id="rId4" imgW="3837724" imgH="237258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5"/>
                        <a:stretch>
                          <a:fillRect/>
                        </a:stretch>
                      </p:blipFill>
                      <p:spPr>
                        <a:xfrm>
                          <a:off x="2952725" y="1940386"/>
                          <a:ext cx="11705058" cy="723637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0" name="矩形 9"/>
          <p:cNvSpPr>
            <a:spLocks noChangeAspect="1"/>
          </p:cNvSpPr>
          <p:nvPr/>
        </p:nvSpPr>
        <p:spPr>
          <a:xfrm>
            <a:off x="361950" y="3885081"/>
            <a:ext cx="10807700" cy="1865126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en-US" dirty="0">
                <a:solidFill>
                  <a:srgbClr val="000000"/>
                </a:solidFill>
                <a:latin typeface="黑体" panose="02010609060101010101" pitchFamily="49" charset="-122"/>
                <a:cs typeface="Times New Roman" panose="02020603050405020304" pitchFamily="18" charset="0"/>
              </a:rPr>
              <a:t>防范措施</a:t>
            </a:r>
            <a:endParaRPr lang="zh-CN" altLang="zh-CN" dirty="0">
              <a:solidFill>
                <a:srgbClr val="000000"/>
              </a:solidFill>
              <a:latin typeface="黑体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 smtClean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在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应用三角函数模型求解物理问题时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要注意对物理量的准确理解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防止出错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89987937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/>
        </p:nvGrpSpPr>
        <p:grpSpPr>
          <a:xfrm>
            <a:off x="361950" y="1511895"/>
            <a:ext cx="10807700" cy="2987507"/>
            <a:chOff x="361950" y="719807"/>
            <a:chExt cx="10807700" cy="2987507"/>
          </a:xfrm>
        </p:grpSpPr>
        <p:graphicFrame>
          <p:nvGraphicFramePr>
            <p:cNvPr id="2" name="对象 1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752406159"/>
                </p:ext>
              </p:extLst>
            </p:nvPr>
          </p:nvGraphicFramePr>
          <p:xfrm>
            <a:off x="432445" y="719807"/>
            <a:ext cx="10607329" cy="117893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7426" name="文档" r:id="rId4" imgW="3477813" imgH="386536" progId="Word.Document.12">
                    <p:embed/>
                  </p:oleObj>
                </mc:Choice>
                <mc:Fallback>
                  <p:oleObj name="文档" r:id="rId4" imgW="3477813" imgH="386536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5"/>
                        <a:stretch>
                          <a:fillRect/>
                        </a:stretch>
                      </p:blipFill>
                      <p:spPr>
                        <a:xfrm>
                          <a:off x="432445" y="719807"/>
                          <a:ext cx="10607329" cy="1178935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" name="矩形 3"/>
            <p:cNvSpPr>
              <a:spLocks noChangeAspect="1"/>
            </p:cNvSpPr>
            <p:nvPr/>
          </p:nvSpPr>
          <p:spPr>
            <a:xfrm>
              <a:off x="361950" y="1898742"/>
              <a:ext cx="10807700" cy="1808572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(1)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开始时的电压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;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(2)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电压最小值重复出现一次的时间间隔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;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(3)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电压的最大值和第一次获得最大值的时间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endParaRPr lang="zh-CN" altLang="zh-CN" dirty="0">
                <a:solidFill>
                  <a:srgbClr val="000000"/>
                </a:solidFill>
                <a:effectLst/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808265216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4710594"/>
              </p:ext>
            </p:extLst>
          </p:nvPr>
        </p:nvGraphicFramePr>
        <p:xfrm>
          <a:off x="504453" y="1439887"/>
          <a:ext cx="10607329" cy="311119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50" name="文档" r:id="rId4" imgW="3477813" imgH="1020064" progId="Word.Document.12">
                  <p:embed/>
                </p:oleObj>
              </mc:Choice>
              <mc:Fallback>
                <p:oleObj name="文档" r:id="rId4" imgW="3477813" imgH="1020064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504453" y="1439887"/>
                        <a:ext cx="10607329" cy="311119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884727716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虚尾箭头 1"/>
          <p:cNvSpPr/>
          <p:nvPr/>
        </p:nvSpPr>
        <p:spPr>
          <a:xfrm>
            <a:off x="432445" y="1367879"/>
            <a:ext cx="10657184" cy="3528392"/>
          </a:xfrm>
          <a:prstGeom prst="stripedRightArrow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随</a:t>
            </a:r>
            <a:r>
              <a:rPr lang="en-US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堂</a:t>
            </a:r>
            <a:r>
              <a:rPr lang="en-US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练</a:t>
            </a:r>
            <a:r>
              <a:rPr lang="en-US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习</a:t>
            </a:r>
          </a:p>
        </p:txBody>
      </p:sp>
    </p:spTree>
    <p:extLst>
      <p:ext uri="{BB962C8B-B14F-4D97-AF65-F5344CB8AC3E}">
        <p14:creationId xmlns:p14="http://schemas.microsoft.com/office/powerpoint/2010/main" val="40755146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34475484"/>
              </p:ext>
            </p:extLst>
          </p:nvPr>
        </p:nvGraphicFramePr>
        <p:xfrm>
          <a:off x="288429" y="935831"/>
          <a:ext cx="11671959" cy="272382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488" name="文档" r:id="rId4" imgW="3837724" imgH="896027" progId="Word.Document.12">
                  <p:embed/>
                </p:oleObj>
              </mc:Choice>
              <mc:Fallback>
                <p:oleObj name="文档" r:id="rId4" imgW="3837724" imgH="896027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88429" y="935831"/>
                        <a:ext cx="11671959" cy="272382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73774427"/>
              </p:ext>
            </p:extLst>
          </p:nvPr>
        </p:nvGraphicFramePr>
        <p:xfrm>
          <a:off x="290513" y="3776663"/>
          <a:ext cx="11661775" cy="1419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489" name="文档" r:id="rId7" imgW="3837724" imgH="471270" progId="Word.Document.12">
                  <p:embed/>
                </p:oleObj>
              </mc:Choice>
              <mc:Fallback>
                <p:oleObj name="文档" r:id="rId7" imgW="3837724" imgH="471270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290513" y="3776663"/>
                        <a:ext cx="11661775" cy="14192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矩形 3"/>
          <p:cNvSpPr>
            <a:spLocks noChangeAspect="1"/>
          </p:cNvSpPr>
          <p:nvPr/>
        </p:nvSpPr>
        <p:spPr>
          <a:xfrm>
            <a:off x="244314" y="5155829"/>
            <a:ext cx="1544012" cy="68326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答案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 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62406242"/>
      </p:ext>
    </p:extLst>
  </p:cSld>
  <p:clrMapOvr>
    <a:masterClrMapping/>
  </p:clrMapOvr>
  <p:transition spd="slow">
    <p:comb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>
            <a:spLocks noChangeAspect="1"/>
          </p:cNvSpPr>
          <p:nvPr/>
        </p:nvSpPr>
        <p:spPr>
          <a:xfrm>
            <a:off x="361950" y="791815"/>
            <a:ext cx="10807700" cy="5410712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多选题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一质点做简谐运动的图象如图所示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则</a:t>
            </a:r>
            <a:r>
              <a:rPr lang="zh-CN" altLang="zh-CN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下列</a:t>
            </a:r>
            <a:r>
              <a:rPr lang="zh-CN" altLang="en-US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说法</a:t>
            </a:r>
            <a:r>
              <a:rPr lang="zh-CN" altLang="zh-CN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正确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的是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zh-CN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　　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 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A.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该质点的运动周期为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0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7 s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B.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该质点的振幅为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5 cm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C.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该质点在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0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 s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和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0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5 s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时运动速度为零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D.</a:t>
            </a:r>
            <a:r>
              <a:rPr lang="zh-CN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该质点在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0</a:t>
            </a:r>
            <a:r>
              <a:rPr lang="en-US" altLang="zh-CN" i="1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3 s</a:t>
            </a:r>
            <a:r>
              <a:rPr lang="zh-CN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和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0</a:t>
            </a:r>
            <a:r>
              <a:rPr lang="en-US" altLang="zh-CN" i="1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7 s</a:t>
            </a:r>
            <a:r>
              <a:rPr lang="zh-CN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时运动速度最大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 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解析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zh-CN" altLang="zh-CN" dirty="0" smtClean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由题意知</a:t>
            </a:r>
            <a:r>
              <a:rPr lang="en-US" altLang="zh-CN" i="1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T=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×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(0</a:t>
            </a:r>
            <a:r>
              <a:rPr lang="en-US" altLang="zh-CN" i="1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7</a:t>
            </a:r>
            <a:r>
              <a:rPr lang="en-US" altLang="zh-CN" i="1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0</a:t>
            </a:r>
            <a:r>
              <a:rPr lang="en-US" altLang="zh-CN" i="1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3)</a:t>
            </a:r>
            <a:r>
              <a:rPr lang="en-US" altLang="zh-CN" i="1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0</a:t>
            </a:r>
            <a:r>
              <a:rPr lang="en-US" altLang="zh-CN" i="1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8(s),</a:t>
            </a:r>
            <a:r>
              <a:rPr lang="zh-CN" altLang="zh-CN" dirty="0" smtClean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故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zh-CN" altLang="zh-CN" dirty="0" smtClean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不正确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;</a:t>
            </a:r>
            <a:r>
              <a:rPr lang="zh-CN" altLang="zh-CN" dirty="0" smtClean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振幅为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5</a:t>
            </a:r>
            <a:r>
              <a:rPr lang="en-US" altLang="zh-CN" dirty="0" smtClean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cm,</a:t>
            </a:r>
            <a:r>
              <a:rPr lang="zh-CN" altLang="zh-CN" dirty="0" smtClean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故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zh-CN" altLang="zh-CN" dirty="0" smtClean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正确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;</a:t>
            </a:r>
            <a:r>
              <a:rPr lang="zh-CN" altLang="zh-CN" dirty="0" smtClean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由物理意义知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,CD</a:t>
            </a:r>
            <a:r>
              <a:rPr lang="zh-CN" altLang="zh-CN" dirty="0" smtClean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正确</a:t>
            </a:r>
            <a:r>
              <a:rPr lang="en-US" altLang="zh-CN" i="1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 smtClean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答案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 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BCD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pic>
        <p:nvPicPr>
          <p:cNvPr id="7" name="ZMG1TRA40.eps" descr="id:2147509714;FounderCES"/>
          <p:cNvPicPr/>
          <p:nvPr/>
        </p:nvPicPr>
        <p:blipFill>
          <a:blip r:embed="rId2"/>
          <a:stretch>
            <a:fillRect/>
          </a:stretch>
        </p:blipFill>
        <p:spPr>
          <a:xfrm>
            <a:off x="7417221" y="1449261"/>
            <a:ext cx="3744416" cy="19348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0173579"/>
      </p:ext>
    </p:extLst>
  </p:cSld>
  <p:clrMapOvr>
    <a:masterClrMapping/>
  </p:clrMapOvr>
  <p:transition spd="slow">
    <p:comb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99113267"/>
              </p:ext>
            </p:extLst>
          </p:nvPr>
        </p:nvGraphicFramePr>
        <p:xfrm>
          <a:off x="288429" y="863823"/>
          <a:ext cx="11671959" cy="2544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12" name="文档" r:id="rId4" imgW="3826872" imgH="834119" progId="Word.Document.12">
                  <p:embed/>
                </p:oleObj>
              </mc:Choice>
              <mc:Fallback>
                <p:oleObj name="文档" r:id="rId4" imgW="3826872" imgH="834119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88429" y="863823"/>
                        <a:ext cx="11671959" cy="254406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36859703"/>
              </p:ext>
            </p:extLst>
          </p:nvPr>
        </p:nvGraphicFramePr>
        <p:xfrm>
          <a:off x="288428" y="3507069"/>
          <a:ext cx="11671959" cy="149070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13" name="文档" r:id="rId7" imgW="3826872" imgH="488756" progId="Word.Document.12">
                  <p:embed/>
                </p:oleObj>
              </mc:Choice>
              <mc:Fallback>
                <p:oleObj name="文档" r:id="rId7" imgW="3826872" imgH="488756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288428" y="3507069"/>
                        <a:ext cx="11671959" cy="149070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矩形 3"/>
          <p:cNvSpPr>
            <a:spLocks noChangeAspect="1"/>
          </p:cNvSpPr>
          <p:nvPr/>
        </p:nvSpPr>
        <p:spPr>
          <a:xfrm>
            <a:off x="288428" y="5077103"/>
            <a:ext cx="1521379" cy="68326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答案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 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96537345"/>
      </p:ext>
    </p:extLst>
  </p:cSld>
  <p:clrMapOvr>
    <a:masterClrMapping/>
  </p:clrMapOvr>
  <p:transition spd="slow">
    <p:comb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>
            <a:spLocks noChangeAspect="1"/>
          </p:cNvSpPr>
          <p:nvPr/>
        </p:nvSpPr>
        <p:spPr>
          <a:xfrm>
            <a:off x="361950" y="729010"/>
            <a:ext cx="10807700" cy="1274195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4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某质点做简谐运动的图象如图所示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则简谐运动的频率</a:t>
            </a:r>
            <a:r>
              <a:rPr lang="zh-CN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为</a:t>
            </a:r>
            <a:endParaRPr lang="en-US" altLang="zh-CN" dirty="0" smtClean="0">
              <a:solidFill>
                <a:srgbClr val="000000"/>
              </a:solidFill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i="1" u="sng" dirty="0">
                <a:uFill>
                  <a:solidFill>
                    <a:srgbClr val="000000"/>
                  </a:solidFill>
                </a:uFill>
                <a:ea typeface="宋体" panose="02010600030101010101" pitchFamily="2" charset="-122"/>
                <a:cs typeface="Times New Roman" panose="02020603050405020304" pitchFamily="18" charset="0"/>
              </a:rPr>
              <a:t>　　　　　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i="1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 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pic>
        <p:nvPicPr>
          <p:cNvPr id="7" name="ZMG1TRA41.eps" descr="id:2147509721;FounderCES"/>
          <p:cNvPicPr/>
          <p:nvPr/>
        </p:nvPicPr>
        <p:blipFill>
          <a:blip r:embed="rId3"/>
          <a:stretch>
            <a:fillRect/>
          </a:stretch>
        </p:blipFill>
        <p:spPr>
          <a:xfrm>
            <a:off x="2952725" y="1924279"/>
            <a:ext cx="4464496" cy="2671254"/>
          </a:xfrm>
          <a:prstGeom prst="rect">
            <a:avLst/>
          </a:prstGeom>
        </p:spPr>
      </p:pic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95355372"/>
              </p:ext>
            </p:extLst>
          </p:nvPr>
        </p:nvGraphicFramePr>
        <p:xfrm>
          <a:off x="462135" y="4654827"/>
          <a:ext cx="10607329" cy="72583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582" name="文档" r:id="rId5" imgW="3477813" imgH="237979" progId="Word.Document.12">
                  <p:embed/>
                </p:oleObj>
              </mc:Choice>
              <mc:Fallback>
                <p:oleObj name="文档" r:id="rId5" imgW="3477813" imgH="237979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462135" y="4654827"/>
                        <a:ext cx="10607329" cy="72583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矩形 3"/>
          <p:cNvSpPr>
            <a:spLocks noChangeAspect="1"/>
          </p:cNvSpPr>
          <p:nvPr/>
        </p:nvSpPr>
        <p:spPr>
          <a:xfrm>
            <a:off x="349944" y="5380663"/>
            <a:ext cx="2569934" cy="68326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答案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25 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Hz 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81250583"/>
      </p:ext>
    </p:extLst>
  </p:cSld>
  <p:clrMapOvr>
    <a:masterClrMapping/>
  </p:clrMapOvr>
  <p:transition spd="slow">
    <p:comb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84421441"/>
              </p:ext>
            </p:extLst>
          </p:nvPr>
        </p:nvGraphicFramePr>
        <p:xfrm>
          <a:off x="288429" y="1511895"/>
          <a:ext cx="11671959" cy="283562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21" name="文档" r:id="rId4" imgW="3826872" imgH="929714" progId="Word.Document.12">
                  <p:embed/>
                </p:oleObj>
              </mc:Choice>
              <mc:Fallback>
                <p:oleObj name="文档" r:id="rId4" imgW="3826872" imgH="929714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88429" y="1511895"/>
                        <a:ext cx="11671959" cy="283562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577862625"/>
      </p:ext>
    </p:extLst>
  </p:cSld>
  <p:clrMapOvr>
    <a:masterClrMapping/>
  </p:clrMapOvr>
  <p:transition spd="slow">
    <p:comb/>
  </p:transition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35344142"/>
              </p:ext>
            </p:extLst>
          </p:nvPr>
        </p:nvGraphicFramePr>
        <p:xfrm>
          <a:off x="482300" y="791815"/>
          <a:ext cx="10607329" cy="529310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545" name="文档" r:id="rId4" imgW="3477813" imgH="1735443" progId="Word.Document.12">
                  <p:embed/>
                </p:oleObj>
              </mc:Choice>
              <mc:Fallback>
                <p:oleObj name="文档" r:id="rId4" imgW="3477813" imgH="1735443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82300" y="791815"/>
                        <a:ext cx="10607329" cy="529310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329232937"/>
      </p:ext>
    </p:extLst>
  </p:cSld>
  <p:clrMapOvr>
    <a:masterClrMapping/>
  </p:clrMapOvr>
  <p:transition spd="slow">
    <p:comb/>
  </p:transition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790819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专业教辅课件Q:251490010">
  <a:themeElements>
    <a:clrScheme name="穿越">
      <a:dk1>
        <a:sysClr val="windowText" lastClr="000000"/>
      </a:dk1>
      <a:lt1>
        <a:sysClr val="window" lastClr="FFFFFF"/>
      </a:lt1>
      <a:dk2>
        <a:srgbClr val="4E5B6F"/>
      </a:dk2>
      <a:lt2>
        <a:srgbClr val="D6ECFF"/>
      </a:lt2>
      <a:accent1>
        <a:srgbClr val="7FD13B"/>
      </a:accent1>
      <a:accent2>
        <a:srgbClr val="EA157A"/>
      </a:accent2>
      <a:accent3>
        <a:srgbClr val="FEB80A"/>
      </a:accent3>
      <a:accent4>
        <a:srgbClr val="00ADDC"/>
      </a:accent4>
      <a:accent5>
        <a:srgbClr val="738AC8"/>
      </a:accent5>
      <a:accent6>
        <a:srgbClr val="1AB39F"/>
      </a:accent6>
      <a:hlink>
        <a:srgbClr val="EB8803"/>
      </a:hlink>
      <a:folHlink>
        <a:srgbClr val="5F7791"/>
      </a:folHlink>
    </a:clrScheme>
    <a:fontScheme name="Office 经典">
      <a:majorFont>
        <a:latin typeface="Arial"/>
        <a:ea typeface=""/>
        <a:cs typeface=""/>
        <a:font script="Jpan" typeface="ＭＳ Ｐゴシック"/>
        <a:font script="Hang" typeface="돋움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Times New Roman"/>
        <a:ea typeface=""/>
        <a:cs typeface=""/>
        <a:font script="Jpan" typeface="ＭＳ Ｐ明朝"/>
        <a:font script="Hang" typeface="바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演示文稿3" id="{7F1B58FA-3D69-4926-A2BA-EEBABBAD5E6B}" vid="{76CC91B4-AC1E-4E21-9BDB-923C2B156DCE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新教材 高中同步</Template>
  <TotalTime>58</TotalTime>
  <Words>1444</Words>
  <Application>Microsoft Office PowerPoint</Application>
  <PresentationFormat>自定义</PresentationFormat>
  <Paragraphs>88</Paragraphs>
  <Slides>41</Slides>
  <Notes>1</Notes>
  <HiddenSlides>0</HiddenSlides>
  <MMClips>0</MMClips>
  <ScaleCrop>false</ScaleCrop>
  <HeadingPairs>
    <vt:vector size="8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41</vt:i4>
      </vt:variant>
    </vt:vector>
  </HeadingPairs>
  <TitlesOfParts>
    <vt:vector size="57" baseType="lpstr">
      <vt:lpstr>NEU-BZ-S92</vt:lpstr>
      <vt:lpstr>方正书宋_GBK</vt:lpstr>
      <vt:lpstr>方正正中黑简体</vt:lpstr>
      <vt:lpstr>仿宋</vt:lpstr>
      <vt:lpstr>黑体</vt:lpstr>
      <vt:lpstr>华文新魏</vt:lpstr>
      <vt:lpstr>楷体</vt:lpstr>
      <vt:lpstr>隶书</vt:lpstr>
      <vt:lpstr>宋体</vt:lpstr>
      <vt:lpstr>Arial</vt:lpstr>
      <vt:lpstr>Calibri</vt:lpstr>
      <vt:lpstr>Cambria Math</vt:lpstr>
      <vt:lpstr>Microsoft Yi Baiti</vt:lpstr>
      <vt:lpstr>Times New Roman</vt:lpstr>
      <vt:lpstr>专业教辅课件Q:251490010</vt:lpstr>
      <vt:lpstr>文档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微软中国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Administrator</dc:creator>
  <cp:lastModifiedBy>Microsoft</cp:lastModifiedBy>
  <cp:revision>21</cp:revision>
  <dcterms:created xsi:type="dcterms:W3CDTF">2020-09-12T05:36:12Z</dcterms:created>
  <dcterms:modified xsi:type="dcterms:W3CDTF">2025-08-18T07:05:23Z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XTAG2">
    <vt:lpwstr>0008007650000000000001024140</vt:lpwstr>
  </property>
  <property fmtid="{D5CDD505-2E9C-101B-9397-08002B2CF9AE}" pid="3" name="KSOProductBuildVer">
    <vt:lpwstr>2052-10.1.0.7698</vt:lpwstr>
  </property>
</Properties>
</file>