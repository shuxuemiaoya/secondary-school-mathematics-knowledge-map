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64" r:id="rId16"/>
    <p:sldId id="765" r:id="rId17"/>
    <p:sldId id="737" r:id="rId18"/>
    <p:sldId id="750" r:id="rId19"/>
    <p:sldId id="766" r:id="rId20"/>
    <p:sldId id="783" r:id="rId21"/>
    <p:sldId id="784" r:id="rId22"/>
    <p:sldId id="785" r:id="rId23"/>
    <p:sldId id="786" r:id="rId24"/>
    <p:sldId id="754" r:id="rId25"/>
    <p:sldId id="772" r:id="rId26"/>
    <p:sldId id="773" r:id="rId27"/>
    <p:sldId id="774" r:id="rId28"/>
    <p:sldId id="755" r:id="rId29"/>
    <p:sldId id="787" r:id="rId30"/>
    <p:sldId id="775" r:id="rId31"/>
    <p:sldId id="776" r:id="rId32"/>
    <p:sldId id="747" r:id="rId33"/>
    <p:sldId id="751" r:id="rId34"/>
    <p:sldId id="777" r:id="rId35"/>
    <p:sldId id="778" r:id="rId36"/>
    <p:sldId id="748" r:id="rId37"/>
    <p:sldId id="752" r:id="rId38"/>
    <p:sldId id="779" r:id="rId39"/>
    <p:sldId id="780" r:id="rId40"/>
    <p:sldId id="781" r:id="rId41"/>
    <p:sldId id="782" r:id="rId42"/>
    <p:sldId id="735" r:id="rId43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2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42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6.xml"/><Relationship Id="rId5" Type="http://schemas.openxmlformats.org/officeDocument/2006/relationships/slide" Target="slide32.xml"/><Relationship Id="rId4" Type="http://schemas.openxmlformats.org/officeDocument/2006/relationships/slide" Target="slide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jpeg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3.docx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4.docx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6.docx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5.emf"/><Relationship Id="rId5" Type="http://schemas.openxmlformats.org/officeDocument/2006/relationships/image" Target="../media/image13.emf"/><Relationship Id="rId10" Type="http://schemas.openxmlformats.org/officeDocument/2006/relationships/package" Target="../embeddings/Microsoft_Word___9.docx"/><Relationship Id="rId4" Type="http://schemas.openxmlformats.org/officeDocument/2006/relationships/package" Target="../embeddings/Microsoft_Word___7.docx"/><Relationship Id="rId9" Type="http://schemas.openxmlformats.org/officeDocument/2006/relationships/oleObject" Target="../embeddings/oleObject9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0.docx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1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2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3.docx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4.bin"/><Relationship Id="rId7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4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6.docx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17.bin"/><Relationship Id="rId7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7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9.docx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20.bin"/><Relationship Id="rId7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0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2.docx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3.bin"/><Relationship Id="rId7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3.docx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5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6.docx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7.docx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28.bin"/><Relationship Id="rId7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28.docx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0.bin"/><Relationship Id="rId7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30.docx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011883"/>
            <a:ext cx="10807700" cy="199131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正弦函数、余弦函数的性质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单调性与最值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791815"/>
            <a:ext cx="10729192" cy="5060491"/>
            <a:chOff x="360437" y="791815"/>
            <a:chExt cx="10729192" cy="5060491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791815"/>
              <a:ext cx="10729192" cy="5060491"/>
              <a:chOff x="360437" y="1511895"/>
              <a:chExt cx="10729192" cy="345638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11895"/>
                <a:ext cx="10729192" cy="345638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573017"/>
                <a:ext cx="0" cy="3312368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965327"/>
              <a:ext cx="8496944" cy="48197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了解正弦函数和余弦函数的单调性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并能利用单调性比较大小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了解正弦函数和余弦函数的最大值与最小值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并会求简单三角函数的值域和最值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借助图象理解正弦函数、余弦函数在区间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[0,2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]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上的性质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体会数学抽象的过程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逻辑推理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988175"/>
            <a:ext cx="11886470" cy="4751984"/>
            <a:chOff x="361950" y="1157437"/>
            <a:chExt cx="11886470" cy="475198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157437"/>
              <a:ext cx="10807700" cy="64434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一、正弦函数、余弦函数的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单调性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8151610"/>
                </p:ext>
              </p:extLst>
            </p:nvPr>
          </p:nvGraphicFramePr>
          <p:xfrm>
            <a:off x="576461" y="1873007"/>
            <a:ext cx="11671959" cy="1451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" name="文档" r:id="rId4" imgW="3826872" imgH="475818" progId="Word.Document.12">
                    <p:embed/>
                  </p:oleObj>
                </mc:Choice>
                <mc:Fallback>
                  <p:oleObj name="文档" r:id="rId4" imgW="3826872" imgH="47581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76461" y="1873007"/>
                          <a:ext cx="11671959" cy="14512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" name="YMG1TRA33.eps" descr="id:2147508172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3672805" y="3456111"/>
              <a:ext cx="4248472" cy="24533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634938"/>
              </p:ext>
            </p:extLst>
          </p:nvPr>
        </p:nvGraphicFramePr>
        <p:xfrm>
          <a:off x="288429" y="1583903"/>
          <a:ext cx="11671959" cy="2702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文档" r:id="rId4" imgW="3826872" imgH="886229" progId="Word.Document.12">
                  <p:embed/>
                </p:oleObj>
              </mc:Choice>
              <mc:Fallback>
                <p:oleObj name="文档" r:id="rId4" imgW="3826872" imgH="8862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1583903"/>
                        <a:ext cx="11671959" cy="2702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021426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0783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观察余弦函数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余弦函数在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区间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上函数值的变化有什么特点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推广到整个定义域呢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YMG1TRA34.eps" descr="id:214750817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456781" y="2312214"/>
            <a:ext cx="3767092" cy="258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5643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3356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观察图象可知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,0]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曲线逐渐上升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,0]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的值由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增大到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曲线逐渐下降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的值由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减小到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推广到整个定义域可得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[(2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k-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1)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],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k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Z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余弦函数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函数值由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增大到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1;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余弦函数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函数值由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减小到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9908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0779947"/>
              </p:ext>
            </p:extLst>
          </p:nvPr>
        </p:nvGraphicFramePr>
        <p:xfrm>
          <a:off x="209758" y="1256543"/>
          <a:ext cx="11671959" cy="3556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文档" r:id="rId4" imgW="3837724" imgH="1170063" progId="Word.Document.12">
                  <p:embed/>
                </p:oleObj>
              </mc:Choice>
              <mc:Fallback>
                <p:oleObj name="文档" r:id="rId4" imgW="3837724" imgH="11700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9758" y="1256543"/>
                        <a:ext cx="11671959" cy="35568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5476998" y="1256543"/>
            <a:ext cx="4824536" cy="7183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5473005" y="1975993"/>
            <a:ext cx="48190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11664" y="2509249"/>
            <a:ext cx="4824536" cy="7183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207671" y="3228699"/>
            <a:ext cx="48190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195731" y="3248819"/>
            <a:ext cx="243751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5191559" y="3712917"/>
            <a:ext cx="24347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413281" y="3799064"/>
            <a:ext cx="258811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6409109" y="4263162"/>
            <a:ext cx="25851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66570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242860"/>
              </p:ext>
            </p:extLst>
          </p:nvPr>
        </p:nvGraphicFramePr>
        <p:xfrm>
          <a:off x="360437" y="1051276"/>
          <a:ext cx="11671959" cy="1977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name="文档" r:id="rId4" imgW="3826872" imgH="649758" progId="Word.Document.12">
                  <p:embed/>
                </p:oleObj>
              </mc:Choice>
              <mc:Fallback>
                <p:oleObj name="文档" r:id="rId4" imgW="3826872" imgH="6497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051276"/>
                        <a:ext cx="11671959" cy="19773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983481"/>
              </p:ext>
            </p:extLst>
          </p:nvPr>
        </p:nvGraphicFramePr>
        <p:xfrm>
          <a:off x="360017" y="3105903"/>
          <a:ext cx="10607329" cy="1391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文档" r:id="rId7" imgW="3477813" imgH="456126" progId="Word.Document.12">
                  <p:embed/>
                </p:oleObj>
              </mc:Choice>
              <mc:Fallback>
                <p:oleObj name="文档" r:id="rId7" imgW="3477813" imgH="4561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017" y="3105903"/>
                        <a:ext cx="10607329" cy="13911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298261" y="4546063"/>
            <a:ext cx="1544012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63995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41000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二、正弦函数、余弦函数的最值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观察下图中的正弦曲线和余弦曲线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正弦曲线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YMG1TRA35.eps" descr="id:214750818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48469" y="2806126"/>
            <a:ext cx="10009112" cy="251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1092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234966"/>
            <a:ext cx="10404820" cy="3661305"/>
            <a:chOff x="361950" y="1090950"/>
            <a:chExt cx="10404820" cy="3661305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090950"/>
              <a:ext cx="2071401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余弦曲线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5" name="YMG1TRA36.eps" descr="id:2147508193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48469" y="1798580"/>
              <a:ext cx="10118301" cy="2953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445756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07839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从正弦曲线、余弦曲线上很容易看出正弦函数、余弦函数的定义域都是实数集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值域是什么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1,1]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取何值时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正弦函数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分别取得最大值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和最小值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360794"/>
              </p:ext>
            </p:extLst>
          </p:nvPr>
        </p:nvGraphicFramePr>
        <p:xfrm>
          <a:off x="494621" y="4009341"/>
          <a:ext cx="11671959" cy="1284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文档" r:id="rId4" imgW="3837724" imgH="434852" progId="Word.Document.12">
                  <p:embed/>
                </p:oleObj>
              </mc:Choice>
              <mc:Fallback>
                <p:oleObj name="文档" r:id="rId4" imgW="3837724" imgH="4348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4621" y="4009341"/>
                        <a:ext cx="11671959" cy="12846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312097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656212"/>
              </p:ext>
            </p:extLst>
          </p:nvPr>
        </p:nvGraphicFramePr>
        <p:xfrm>
          <a:off x="288429" y="873655"/>
          <a:ext cx="11671959" cy="2336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8" name="文档" r:id="rId4" imgW="3837724" imgH="768744" progId="Word.Document.12">
                  <p:embed/>
                </p:oleObj>
              </mc:Choice>
              <mc:Fallback>
                <p:oleObj name="文档" r:id="rId4" imgW="3837724" imgH="7687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873655"/>
                        <a:ext cx="11671959" cy="23369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211271" y="3271281"/>
            <a:ext cx="108077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取得最大值时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74475"/>
              </p:ext>
            </p:extLst>
          </p:nvPr>
        </p:nvGraphicFramePr>
        <p:xfrm>
          <a:off x="281766" y="3953678"/>
          <a:ext cx="11671959" cy="1168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9" name="文档" r:id="rId7" imgW="3826872" imgH="383098" progId="Word.Document.12">
                  <p:embed/>
                </p:oleObj>
              </mc:Choice>
              <mc:Fallback>
                <p:oleObj name="文档" r:id="rId7" imgW="3826872" imgH="3830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1766" y="3953678"/>
                        <a:ext cx="11671959" cy="11684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289989"/>
              </p:ext>
            </p:extLst>
          </p:nvPr>
        </p:nvGraphicFramePr>
        <p:xfrm>
          <a:off x="288429" y="5194135"/>
          <a:ext cx="11671959" cy="642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0" name="文档" r:id="rId10" imgW="3826872" imgH="210596" progId="Word.Document.12">
                  <p:embed/>
                </p:oleObj>
              </mc:Choice>
              <mc:Fallback>
                <p:oleObj name="文档" r:id="rId10" imgW="3826872" imgH="2105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88429" y="5194135"/>
                        <a:ext cx="11671959" cy="6423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4911117" y="873655"/>
            <a:ext cx="2227903" cy="6402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906773" y="1514969"/>
            <a:ext cx="22253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631128" y="2140715"/>
            <a:ext cx="180537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4627049" y="2604813"/>
            <a:ext cx="18033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96563" y="2700501"/>
            <a:ext cx="2516201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792485" y="3164599"/>
            <a:ext cx="25133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08606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983678"/>
            <a:ext cx="11775134" cy="3659753"/>
            <a:chOff x="361950" y="880476"/>
            <a:chExt cx="11775134" cy="365975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880476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[0,3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]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仅在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时取得最大值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2728024"/>
                </p:ext>
              </p:extLst>
            </p:nvPr>
          </p:nvGraphicFramePr>
          <p:xfrm>
            <a:off x="465125" y="3280901"/>
            <a:ext cx="11671959" cy="562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3" name="文档" r:id="rId4" imgW="3837724" imgH="184975" progId="Word.Document.12">
                    <p:embed/>
                  </p:oleObj>
                </mc:Choice>
                <mc:Fallback>
                  <p:oleObj name="文档" r:id="rId4" imgW="3837724" imgH="18497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65125" y="3280901"/>
                          <a:ext cx="11671959" cy="5623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3856965"/>
              <a:ext cx="10807700" cy="68326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余弦函数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[0,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]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上单调递减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10225533" y="288004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059831" y="3456111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353325" y="4146240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790114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333942" y="719807"/>
            <a:ext cx="10777840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探究</a:t>
            </a:r>
            <a:r>
              <a:rPr lang="zh-CN" altLang="en-US" dirty="0" smtClean="0"/>
              <a:t>一  求</a:t>
            </a:r>
            <a:r>
              <a:rPr lang="zh-CN" altLang="en-US" dirty="0"/>
              <a:t>与正弦函数、余弦函数有关的函数的单调区间</a:t>
            </a:r>
            <a:endParaRPr lang="zh-CN" altLang="zh-CN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969231"/>
              </p:ext>
            </p:extLst>
          </p:nvPr>
        </p:nvGraphicFramePr>
        <p:xfrm>
          <a:off x="504453" y="2447999"/>
          <a:ext cx="10607329" cy="1462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文档" r:id="rId4" imgW="3477813" imgH="479564" progId="Word.Document.12">
                  <p:embed/>
                </p:oleObj>
              </mc:Choice>
              <mc:Fallback>
                <p:oleObj name="文档" r:id="rId4" imgW="3477813" imgH="4795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447999"/>
                        <a:ext cx="10607329" cy="1462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72632"/>
              </p:ext>
            </p:extLst>
          </p:nvPr>
        </p:nvGraphicFramePr>
        <p:xfrm>
          <a:off x="504453" y="863823"/>
          <a:ext cx="10607329" cy="494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文档" r:id="rId4" imgW="3477813" imgH="1622223" progId="Word.Document.12">
                  <p:embed/>
                </p:oleObj>
              </mc:Choice>
              <mc:Fallback>
                <p:oleObj name="文档" r:id="rId4" imgW="3477813" imgH="16222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63823"/>
                        <a:ext cx="10607329" cy="4947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134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534929"/>
              </p:ext>
            </p:extLst>
          </p:nvPr>
        </p:nvGraphicFramePr>
        <p:xfrm>
          <a:off x="576461" y="1712644"/>
          <a:ext cx="10607329" cy="2751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文档" r:id="rId4" imgW="3477813" imgH="902157" progId="Word.Document.12">
                  <p:embed/>
                </p:oleObj>
              </mc:Choice>
              <mc:Fallback>
                <p:oleObj name="文档" r:id="rId4" imgW="3477813" imgH="9021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712644"/>
                        <a:ext cx="10607329" cy="27515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7407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39887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用整体代换法求函数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为常数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的单调区间时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如果式子中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的系数为负数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那么先利用诱导公式将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的系数变为正数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再求其单调区间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求单调区间时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需将最终结果写成区间形式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681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964202"/>
              </p:ext>
            </p:extLst>
          </p:nvPr>
        </p:nvGraphicFramePr>
        <p:xfrm>
          <a:off x="360437" y="1079847"/>
          <a:ext cx="10607329" cy="198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0" name="文档" r:id="rId4" imgW="3477813" imgH="651918" progId="Word.Document.12">
                  <p:embed/>
                </p:oleObj>
              </mc:Choice>
              <mc:Fallback>
                <p:oleObj name="文档" r:id="rId4" imgW="3477813" imgH="6519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079847"/>
                        <a:ext cx="10607329" cy="1988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557707"/>
              </p:ext>
            </p:extLst>
          </p:nvPr>
        </p:nvGraphicFramePr>
        <p:xfrm>
          <a:off x="360437" y="3148415"/>
          <a:ext cx="10607329" cy="2059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文档" r:id="rId7" imgW="3477813" imgH="675355" progId="Word.Document.12">
                  <p:embed/>
                </p:oleObj>
              </mc:Choice>
              <mc:Fallback>
                <p:oleObj name="文档" r:id="rId7" imgW="3477813" imgH="6753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3148415"/>
                        <a:ext cx="10607329" cy="20598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178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780130"/>
              </p:ext>
            </p:extLst>
          </p:nvPr>
        </p:nvGraphicFramePr>
        <p:xfrm>
          <a:off x="504453" y="739456"/>
          <a:ext cx="10607329" cy="5361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文档" r:id="rId4" imgW="3477813" imgH="1757799" progId="Word.Document.12">
                  <p:embed/>
                </p:oleObj>
              </mc:Choice>
              <mc:Fallback>
                <p:oleObj name="文档" r:id="rId4" imgW="3477813" imgH="17577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739456"/>
                        <a:ext cx="10607329" cy="5361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595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436341" y="719807"/>
            <a:ext cx="1043726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探究</a:t>
            </a:r>
            <a:r>
              <a:rPr lang="zh-CN" altLang="en-US" dirty="0" smtClean="0"/>
              <a:t>二  利用</a:t>
            </a:r>
            <a:r>
              <a:rPr lang="zh-CN" altLang="en-US" dirty="0"/>
              <a:t>正弦函数、余弦函数的单调性比较大小</a:t>
            </a:r>
            <a:endParaRPr lang="zh-CN" altLang="zh-CN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88866"/>
              </p:ext>
            </p:extLst>
          </p:nvPr>
        </p:nvGraphicFramePr>
        <p:xfrm>
          <a:off x="576461" y="1431359"/>
          <a:ext cx="11671959" cy="1782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2" name="文档" r:id="rId4" imgW="3826872" imgH="584351" progId="Word.Document.12">
                  <p:embed/>
                </p:oleObj>
              </mc:Choice>
              <mc:Fallback>
                <p:oleObj name="文档" r:id="rId4" imgW="3826872" imgH="5843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431359"/>
                        <a:ext cx="11671959" cy="17822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301746"/>
              </p:ext>
            </p:extLst>
          </p:nvPr>
        </p:nvGraphicFramePr>
        <p:xfrm>
          <a:off x="576460" y="3291199"/>
          <a:ext cx="11671959" cy="2632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3" name="文档" r:id="rId7" imgW="3837724" imgH="866099" progId="Word.Document.12">
                  <p:embed/>
                </p:oleObj>
              </mc:Choice>
              <mc:Fallback>
                <p:oleObj name="文档" r:id="rId7" imgW="3837724" imgH="8660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6460" y="3291199"/>
                        <a:ext cx="11671959" cy="2632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070011"/>
              </p:ext>
            </p:extLst>
          </p:nvPr>
        </p:nvGraphicFramePr>
        <p:xfrm>
          <a:off x="576461" y="1223863"/>
          <a:ext cx="11671959" cy="3586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文档" r:id="rId4" imgW="3837724" imgH="1179799" progId="Word.Document.12">
                  <p:embed/>
                </p:oleObj>
              </mc:Choice>
              <mc:Fallback>
                <p:oleObj name="文档" r:id="rId4" imgW="3837724" imgH="11797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223863"/>
                        <a:ext cx="11671959" cy="35864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534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20134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正弦函数或余弦函数的单调性比较大小时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应先将异名化同名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把不在同一单调区间内的角用诱导公式转化到同一单调区间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再利用单调性来比较大小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53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73789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1,cos 2,cos 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的大小关系是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连接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3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46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333941" y="719807"/>
            <a:ext cx="10899703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探究</a:t>
            </a:r>
            <a:r>
              <a:rPr lang="zh-CN" altLang="en-US" dirty="0" smtClean="0"/>
              <a:t>三  求</a:t>
            </a:r>
            <a:r>
              <a:rPr lang="zh-CN" altLang="en-US" dirty="0"/>
              <a:t>与正弦函数、余弦函数有关的函数的值域</a:t>
            </a:r>
            <a:r>
              <a:rPr lang="en-US" altLang="zh-CN" dirty="0"/>
              <a:t>(</a:t>
            </a:r>
            <a:r>
              <a:rPr lang="zh-CN" altLang="en-US" dirty="0"/>
              <a:t>最值</a:t>
            </a:r>
            <a:r>
              <a:rPr lang="en-US" altLang="zh-CN" dirty="0"/>
              <a:t>)</a:t>
            </a:r>
            <a:endParaRPr lang="zh-CN" altLang="zh-CN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6843057"/>
              </p:ext>
            </p:extLst>
          </p:nvPr>
        </p:nvGraphicFramePr>
        <p:xfrm>
          <a:off x="432445" y="1583903"/>
          <a:ext cx="10607329" cy="1459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" name="文档" r:id="rId4" imgW="3477813" imgH="478482" progId="Word.Document.12">
                  <p:embed/>
                </p:oleObj>
              </mc:Choice>
              <mc:Fallback>
                <p:oleObj name="文档" r:id="rId4" imgW="3477813" imgH="4784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583903"/>
                        <a:ext cx="10607329" cy="1459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578915"/>
              </p:ext>
            </p:extLst>
          </p:nvPr>
        </p:nvGraphicFramePr>
        <p:xfrm>
          <a:off x="432444" y="3153075"/>
          <a:ext cx="10607329" cy="21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" name="文档" r:id="rId7" imgW="3477813" imgH="709971" progId="Word.Document.12">
                  <p:embed/>
                </p:oleObj>
              </mc:Choice>
              <mc:Fallback>
                <p:oleObj name="文档" r:id="rId7" imgW="3477813" imgH="7099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4" y="3153075"/>
                        <a:ext cx="10607329" cy="2165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963858"/>
              </p:ext>
            </p:extLst>
          </p:nvPr>
        </p:nvGraphicFramePr>
        <p:xfrm>
          <a:off x="504453" y="1007839"/>
          <a:ext cx="10607329" cy="441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文档" r:id="rId4" imgW="3477813" imgH="1448787" progId="Word.Document.12">
                  <p:embed/>
                </p:oleObj>
              </mc:Choice>
              <mc:Fallback>
                <p:oleObj name="文档" r:id="rId4" imgW="3477813" imgH="14487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007839"/>
                        <a:ext cx="10607329" cy="441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7511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236085" y="722840"/>
            <a:ext cx="11087719" cy="548259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求与三角函数有关的函数的值域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或最值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的常见类型有以下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几种</a:t>
            </a:r>
            <a:endParaRPr lang="en-US" altLang="zh-CN" dirty="0" smtClean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形如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t=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先根据题中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再利用三角函数的单调性求出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的最值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或值域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形如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可先设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转化为关于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的二次函数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y=at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+bt+c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再根据二次函数的单调性求值域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或最值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求形如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的函数的最值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要注意对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的讨论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2738790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119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230097"/>
              </p:ext>
            </p:extLst>
          </p:nvPr>
        </p:nvGraphicFramePr>
        <p:xfrm>
          <a:off x="444376" y="1367879"/>
          <a:ext cx="11671959" cy="1223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2" name="文档" r:id="rId4" imgW="3826872" imgH="401067" progId="Word.Document.12">
                  <p:embed/>
                </p:oleObj>
              </mc:Choice>
              <mc:Fallback>
                <p:oleObj name="文档" r:id="rId4" imgW="3826872" imgH="4010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4376" y="1367879"/>
                        <a:ext cx="11671959" cy="1223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608521"/>
              </p:ext>
            </p:extLst>
          </p:nvPr>
        </p:nvGraphicFramePr>
        <p:xfrm>
          <a:off x="444376" y="2683687"/>
          <a:ext cx="11671959" cy="1360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3" name="文档" r:id="rId7" imgW="3837724" imgH="450357" progId="Word.Document.12">
                  <p:embed/>
                </p:oleObj>
              </mc:Choice>
              <mc:Fallback>
                <p:oleObj name="文档" r:id="rId7" imgW="3837724" imgH="4503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4376" y="2683687"/>
                        <a:ext cx="11671959" cy="13602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70269" y="4150109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06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90311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求与三角函数有关的函数的最值时忽视分类讨论致错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372144"/>
              </p:ext>
            </p:extLst>
          </p:nvPr>
        </p:nvGraphicFramePr>
        <p:xfrm>
          <a:off x="432445" y="1295092"/>
          <a:ext cx="10607329" cy="4946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文档" r:id="rId4" imgW="3477813" imgH="1621863" progId="Word.Document.12">
                  <p:embed/>
                </p:oleObj>
              </mc:Choice>
              <mc:Fallback>
                <p:oleObj name="文档" r:id="rId4" imgW="3477813" imgH="16218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295092"/>
                        <a:ext cx="10607329" cy="49466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35464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错解中默认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忽视了对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这一情况的讨论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导致丢解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195928"/>
              </p:ext>
            </p:extLst>
          </p:nvPr>
        </p:nvGraphicFramePr>
        <p:xfrm>
          <a:off x="432639" y="1635880"/>
          <a:ext cx="10607329" cy="3764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文档" r:id="rId4" imgW="3477813" imgH="1234245" progId="Word.Document.12">
                  <p:embed/>
                </p:oleObj>
              </mc:Choice>
              <mc:Fallback>
                <p:oleObj name="文档" r:id="rId4" imgW="3477813" imgH="12342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639" y="1635880"/>
                        <a:ext cx="10607329" cy="3764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822025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720134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形如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其最值与参数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的正负有关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因此在解决这类问题时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要注意分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两种情况进行讨论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44547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49" y="709695"/>
            <a:ext cx="10943703" cy="541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下列不等式正确的是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11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168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B.sin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168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11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11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168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D.sin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168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11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由诱导公式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168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单调递增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168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18135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的值域是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1,0]	B.[0,1]	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1,1]	D.[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2,0]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674192"/>
              </p:ext>
            </p:extLst>
          </p:nvPr>
        </p:nvGraphicFramePr>
        <p:xfrm>
          <a:off x="442277" y="3048901"/>
          <a:ext cx="11671959" cy="100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文档" r:id="rId4" imgW="3826872" imgH="328832" progId="Word.Document.12">
                  <p:embed/>
                </p:oleObj>
              </mc:Choice>
              <mc:Fallback>
                <p:oleObj name="文档" r:id="rId4" imgW="3826872" imgH="32883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277" y="3048901"/>
                        <a:ext cx="11671959" cy="1002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614" y="4131066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45831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011704"/>
              </p:ext>
            </p:extLst>
          </p:nvPr>
        </p:nvGraphicFramePr>
        <p:xfrm>
          <a:off x="504454" y="647799"/>
          <a:ext cx="11671959" cy="2180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" name="文档" r:id="rId4" imgW="3826872" imgH="714805" progId="Word.Document.12">
                  <p:embed/>
                </p:oleObj>
              </mc:Choice>
              <mc:Fallback>
                <p:oleObj name="文档" r:id="rId4" imgW="3826872" imgH="71480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4" y="647799"/>
                        <a:ext cx="11671959" cy="2180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346651"/>
              </p:ext>
            </p:extLst>
          </p:nvPr>
        </p:nvGraphicFramePr>
        <p:xfrm>
          <a:off x="504453" y="2971970"/>
          <a:ext cx="11671959" cy="2888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name="文档" r:id="rId7" imgW="3826872" imgH="946964" progId="Word.Document.12">
                  <p:embed/>
                </p:oleObj>
              </mc:Choice>
              <mc:Fallback>
                <p:oleObj name="文档" r:id="rId7" imgW="3826872" imgH="9469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2971970"/>
                        <a:ext cx="11671959" cy="2888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504453" y="5826407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25393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39887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,0]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所以只有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时满足条件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,0]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,0]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75142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411255"/>
              </p:ext>
            </p:extLst>
          </p:nvPr>
        </p:nvGraphicFramePr>
        <p:xfrm>
          <a:off x="298261" y="2013992"/>
          <a:ext cx="11671959" cy="419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name="文档" r:id="rId4" imgW="3826872" imgH="1376422" progId="Word.Document.12">
                  <p:embed/>
                </p:oleObj>
              </mc:Choice>
              <mc:Fallback>
                <p:oleObj name="文档" r:id="rId4" imgW="3826872" imgH="137642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8261" y="2013992"/>
                        <a:ext cx="11671959" cy="4198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951800"/>
              </p:ext>
            </p:extLst>
          </p:nvPr>
        </p:nvGraphicFramePr>
        <p:xfrm>
          <a:off x="298262" y="739262"/>
          <a:ext cx="11671959" cy="1223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7" name="文档" r:id="rId7" imgW="3826872" imgH="401067" progId="Word.Document.12">
                  <p:embed/>
                </p:oleObj>
              </mc:Choice>
              <mc:Fallback>
                <p:oleObj name="文档" r:id="rId7" imgW="3826872" imgH="4010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8262" y="739262"/>
                        <a:ext cx="11671959" cy="1223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145809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57</TotalTime>
  <Words>925</Words>
  <Application>Microsoft Office PowerPoint</Application>
  <PresentationFormat>自定义</PresentationFormat>
  <Paragraphs>77</Paragraphs>
  <Slides>42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9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18</cp:revision>
  <dcterms:created xsi:type="dcterms:W3CDTF">2020-09-12T05:36:12Z</dcterms:created>
  <dcterms:modified xsi:type="dcterms:W3CDTF">2025-08-18T06:34:58Z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