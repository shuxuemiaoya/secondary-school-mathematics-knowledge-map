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1" r:id="rId12"/>
    <p:sldId id="737" r:id="rId13"/>
    <p:sldId id="754" r:id="rId14"/>
    <p:sldId id="762" r:id="rId15"/>
    <p:sldId id="763" r:id="rId16"/>
    <p:sldId id="764" r:id="rId17"/>
    <p:sldId id="765" r:id="rId18"/>
    <p:sldId id="750" r:id="rId19"/>
    <p:sldId id="766" r:id="rId20"/>
    <p:sldId id="784" r:id="rId21"/>
    <p:sldId id="767" r:id="rId22"/>
    <p:sldId id="768" r:id="rId23"/>
    <p:sldId id="769" r:id="rId24"/>
    <p:sldId id="770" r:id="rId25"/>
    <p:sldId id="771" r:id="rId26"/>
    <p:sldId id="755" r:id="rId27"/>
    <p:sldId id="772" r:id="rId28"/>
    <p:sldId id="773" r:id="rId29"/>
    <p:sldId id="774" r:id="rId30"/>
    <p:sldId id="747" r:id="rId31"/>
    <p:sldId id="751" r:id="rId32"/>
    <p:sldId id="775" r:id="rId33"/>
    <p:sldId id="776" r:id="rId34"/>
    <p:sldId id="777" r:id="rId35"/>
    <p:sldId id="778" r:id="rId36"/>
    <p:sldId id="748" r:id="rId37"/>
    <p:sldId id="752" r:id="rId38"/>
    <p:sldId id="779" r:id="rId39"/>
    <p:sldId id="780" r:id="rId40"/>
    <p:sldId id="781" r:id="rId41"/>
    <p:sldId id="782" r:id="rId42"/>
    <p:sldId id="783" r:id="rId43"/>
    <p:sldId id="735" r:id="rId44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2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43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6.xml"/><Relationship Id="rId5" Type="http://schemas.openxmlformats.org/officeDocument/2006/relationships/slide" Target="slide30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8.docx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9.bin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9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1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2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3.docx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4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5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6.docx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7.bin"/><Relationship Id="rId7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7.docx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20.docx"/><Relationship Id="rId3" Type="http://schemas.openxmlformats.org/officeDocument/2006/relationships/image" Target="../media/image23.jpeg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1.emf"/><Relationship Id="rId5" Type="http://schemas.openxmlformats.org/officeDocument/2006/relationships/package" Target="../embeddings/Microsoft_Word___19.docx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1.docx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22.bin"/><Relationship Id="rId7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2.docx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4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5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6.docx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7.bin"/><Relationship Id="rId7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3.emf"/><Relationship Id="rId5" Type="http://schemas.openxmlformats.org/officeDocument/2006/relationships/image" Target="../media/image31.emf"/><Relationship Id="rId10" Type="http://schemas.openxmlformats.org/officeDocument/2006/relationships/package" Target="../embeddings/Microsoft_Word___29.docx"/><Relationship Id="rId4" Type="http://schemas.openxmlformats.org/officeDocument/2006/relationships/package" Target="../embeddings/Microsoft_Word___27.docx"/><Relationship Id="rId9" Type="http://schemas.openxmlformats.org/officeDocument/2006/relationships/oleObject" Target="../embeddings/oleObject29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30.docx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31.bin"/><Relationship Id="rId7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31.docx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33.bin"/><Relationship Id="rId7" Type="http://schemas.openxmlformats.org/officeDocument/2006/relationships/package" Target="../embeddings/Microsoft_Word___3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33.docx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39.emf"/><Relationship Id="rId4" Type="http://schemas.openxmlformats.org/officeDocument/2006/relationships/package" Target="../embeddings/Microsoft_Word___35.docx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36.bin"/><Relationship Id="rId7" Type="http://schemas.openxmlformats.org/officeDocument/2006/relationships/package" Target="../embeddings/Microsoft_Word___3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2.emf"/><Relationship Id="rId5" Type="http://schemas.openxmlformats.org/officeDocument/2006/relationships/image" Target="../media/image40.emf"/><Relationship Id="rId10" Type="http://schemas.openxmlformats.org/officeDocument/2006/relationships/package" Target="../embeddings/Microsoft_Word___38.docx"/><Relationship Id="rId4" Type="http://schemas.openxmlformats.org/officeDocument/2006/relationships/package" Target="../embeddings/Microsoft_Word___36.docx"/><Relationship Id="rId9" Type="http://schemas.openxmlformats.org/officeDocument/2006/relationships/oleObject" Target="../embeddings/oleObject38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oleObject" Target="../embeddings/oleObject39.bin"/><Relationship Id="rId7" Type="http://schemas.openxmlformats.org/officeDocument/2006/relationships/package" Target="../embeddings/Microsoft_Word___4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3.emf"/><Relationship Id="rId4" Type="http://schemas.openxmlformats.org/officeDocument/2006/relationships/package" Target="../embeddings/Microsoft_Word___39.docx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216421" y="2399798"/>
            <a:ext cx="110877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同角三角函数的基本关系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0437" y="791815"/>
            <a:ext cx="15503873" cy="5060491"/>
            <a:chOff x="360437" y="791815"/>
            <a:chExt cx="15503873" cy="5060491"/>
          </a:xfrm>
        </p:grpSpPr>
        <p:grpSp>
          <p:nvGrpSpPr>
            <p:cNvPr id="3" name="组合 2"/>
            <p:cNvGrpSpPr/>
            <p:nvPr/>
          </p:nvGrpSpPr>
          <p:grpSpPr>
            <a:xfrm>
              <a:off x="360437" y="791815"/>
              <a:ext cx="10729192" cy="5060491"/>
              <a:chOff x="360437" y="791815"/>
              <a:chExt cx="10729192" cy="5060491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360437" y="791815"/>
                <a:ext cx="10729192" cy="5060491"/>
                <a:chOff x="360437" y="1511895"/>
                <a:chExt cx="10729192" cy="3456384"/>
              </a:xfrm>
            </p:grpSpPr>
            <p:sp>
              <p:nvSpPr>
                <p:cNvPr id="2" name="圆角矩形 1"/>
                <p:cNvSpPr/>
                <p:nvPr/>
              </p:nvSpPr>
              <p:spPr>
                <a:xfrm>
                  <a:off x="360437" y="1511895"/>
                  <a:ext cx="10729192" cy="3456384"/>
                </a:xfrm>
                <a:prstGeom prst="round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" name="直接连接符 11"/>
                <p:cNvCxnSpPr/>
                <p:nvPr/>
              </p:nvCxnSpPr>
              <p:spPr>
                <a:xfrm>
                  <a:off x="2448669" y="1573017"/>
                  <a:ext cx="0" cy="3312368"/>
                </a:xfrm>
                <a:prstGeom prst="line">
                  <a:avLst/>
                </a:prstGeom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矩形 13"/>
              <p:cNvSpPr>
                <a:spLocks noChangeAspect="1"/>
              </p:cNvSpPr>
              <p:nvPr/>
            </p:nvSpPr>
            <p:spPr>
              <a:xfrm>
                <a:off x="360437" y="2447999"/>
                <a:ext cx="2086719" cy="11957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课标定位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素养阐释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矩形 14"/>
              <p:cNvSpPr>
                <a:spLocks noChangeAspect="1"/>
              </p:cNvSpPr>
              <p:nvPr/>
            </p:nvSpPr>
            <p:spPr>
              <a:xfrm>
                <a:off x="2552207" y="1162741"/>
                <a:ext cx="8496944" cy="42288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能通过三角函数的定义推导出同角三角函数的基本关系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理解同角三角函数的基本关系式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: sin</a:t>
                </a:r>
                <a:r>
                  <a:rPr lang="en-US" altLang="zh-CN" baseline="30000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x+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cos</a:t>
                </a:r>
                <a:r>
                  <a:rPr lang="en-US" altLang="zh-CN" baseline="30000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x=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能运用同角三角函数的基本关系进行三角函数式的化简、求值和证明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体会逻辑推理的过程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 smtClean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提升</a:t>
                </a:r>
                <a:r>
                  <a:rPr lang="zh-CN" altLang="zh-CN" dirty="0" smtClean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数学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运算素养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4843038"/>
                </p:ext>
              </p:extLst>
            </p:nvPr>
          </p:nvGraphicFramePr>
          <p:xfrm>
            <a:off x="5256981" y="2895315"/>
            <a:ext cx="10607329" cy="7027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09" name="文档" r:id="rId4" imgW="3477813" imgH="230407" progId="Word.Document.12">
                    <p:embed/>
                  </p:oleObj>
                </mc:Choice>
                <mc:Fallback>
                  <p:oleObj name="文档" r:id="rId4" imgW="3477813" imgH="23040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256981" y="2895315"/>
                          <a:ext cx="10607329" cy="70274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58352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同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角三角函数的基本关系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计算下列式子的值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由此你能得出什么结论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尝试证明它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73789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个式子的值均为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由此可以猜想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对于任意角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下面用三角函数的定义证明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的终边与单位圆</a:t>
            </a:r>
            <a:r>
              <a:rPr lang="en-US" altLang="zh-CN" dirty="0">
                <a:solidFill>
                  <a:srgbClr val="000000"/>
                </a:solidFill>
                <a:latin typeface="Segoe UI Symbol" panose="020B0502040204020203" pitchFamily="34" charset="0"/>
                <a:ea typeface="宋体" panose="02010600030101010101" pitchFamily="2" charset="-122"/>
                <a:cs typeface="Segoe UI Symbol" panose="020B0502040204020203" pitchFamily="34" charset="0"/>
              </a:rPr>
              <a:t>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的交点为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),</a:t>
            </a:r>
          </a:p>
          <a:p>
            <a:pPr>
              <a:lnSpc>
                <a:spcPct val="120000"/>
              </a:lnSpc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由三角函数的定义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,cos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=x.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=|OP|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41951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72791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由三角函数的定义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,tan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之间具有怎样的等量关系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530924"/>
              </p:ext>
            </p:extLst>
          </p:nvPr>
        </p:nvGraphicFramePr>
        <p:xfrm>
          <a:off x="432445" y="2956701"/>
          <a:ext cx="11671959" cy="1375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文档" r:id="rId4" imgW="3826872" imgH="451021" progId="Word.Document.12">
                  <p:embed/>
                </p:oleObj>
              </mc:Choice>
              <mc:Fallback>
                <p:oleObj name="文档" r:id="rId4" imgW="3826872" imgH="4510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956701"/>
                        <a:ext cx="11671959" cy="13756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493641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356709"/>
              </p:ext>
            </p:extLst>
          </p:nvPr>
        </p:nvGraphicFramePr>
        <p:xfrm>
          <a:off x="355600" y="719807"/>
          <a:ext cx="11671300" cy="517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文档" r:id="rId4" imgW="3837724" imgH="1705516" progId="Word.Document.12">
                  <p:embed/>
                </p:oleObj>
              </mc:Choice>
              <mc:Fallback>
                <p:oleObj name="文档" r:id="rId4" imgW="3837724" imgH="170551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5600" y="719807"/>
                        <a:ext cx="11671300" cy="5173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4802512" y="1223069"/>
            <a:ext cx="29962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797651" y="1687167"/>
            <a:ext cx="2992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816821" y="1727125"/>
            <a:ext cx="4248472" cy="7909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3812828" y="2519213"/>
            <a:ext cx="42436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095461" y="3012511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090871" y="3476609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888651" y="4052897"/>
            <a:ext cx="120808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1884062" y="4516995"/>
            <a:ext cx="12067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4392886" y="4052897"/>
            <a:ext cx="115212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4388296" y="4516995"/>
            <a:ext cx="11508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941724" y="4564279"/>
            <a:ext cx="245927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2937135" y="5028377"/>
            <a:ext cx="24564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8050218" y="4564279"/>
            <a:ext cx="237167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838925" y="5158937"/>
            <a:ext cx="174220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>
            <a:off x="1834336" y="5623035"/>
            <a:ext cx="174023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4871587" y="5148179"/>
            <a:ext cx="894028" cy="6634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>
            <a:off x="4866519" y="5812711"/>
            <a:ext cx="8930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8045629" y="5028377"/>
            <a:ext cx="23689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36822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  <p:bldP spid="10" grpId="0" animBg="1"/>
      <p:bldP spid="13" grpId="0" animBg="1"/>
      <p:bldP spid="18" grpId="0" animBg="1"/>
      <p:bldP spid="22" grpId="0" animBg="1"/>
      <p:bldP spid="24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01647"/>
            <a:ext cx="10807700" cy="241713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(1)sin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4 092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4 092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A.0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B.1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C.4 092	D.4 092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tan 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61950" y="3218784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由平方关系知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092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092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954818"/>
              </p:ext>
            </p:extLst>
          </p:nvPr>
        </p:nvGraphicFramePr>
        <p:xfrm>
          <a:off x="-70180" y="4422827"/>
          <a:ext cx="11671959" cy="811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文档" r:id="rId4" imgW="3826872" imgH="265941" progId="Word.Document.12">
                  <p:embed/>
                </p:oleObj>
              </mc:Choice>
              <mc:Fallback>
                <p:oleObj name="文档" r:id="rId4" imgW="3826872" imgH="2659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70180" y="4422827"/>
                        <a:ext cx="11671959" cy="811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>
            <a:spLocks noChangeAspect="1"/>
          </p:cNvSpPr>
          <p:nvPr/>
        </p:nvSpPr>
        <p:spPr>
          <a:xfrm>
            <a:off x="361950" y="5410159"/>
            <a:ext cx="3499676" cy="6443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(1)B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75351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839817"/>
            <a:ext cx="11742454" cy="4959878"/>
            <a:chOff x="361950" y="800489"/>
            <a:chExt cx="11742454" cy="495987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800489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4967866"/>
                </p:ext>
              </p:extLst>
            </p:nvPr>
          </p:nvGraphicFramePr>
          <p:xfrm>
            <a:off x="432445" y="2609061"/>
            <a:ext cx="11671959" cy="3151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5" name="文档" r:id="rId4" imgW="3826872" imgH="1033215" progId="Word.Document.12">
                    <p:embed/>
                  </p:oleObj>
                </mc:Choice>
                <mc:Fallback>
                  <p:oleObj name="文档" r:id="rId4" imgW="3826872" imgH="103321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2609061"/>
                          <a:ext cx="11671959" cy="31513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/>
          <p:nvPr/>
        </p:nvSpPr>
        <p:spPr>
          <a:xfrm>
            <a:off x="2304653" y="338410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777261" y="3864921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888829" y="4456961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535988" y="518430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27435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348146"/>
              </p:ext>
            </p:extLst>
          </p:nvPr>
        </p:nvGraphicFramePr>
        <p:xfrm>
          <a:off x="425782" y="1492231"/>
          <a:ext cx="11671959" cy="2637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name="文档" r:id="rId4" imgW="3826872" imgH="864666" progId="Word.Document.12">
                  <p:embed/>
                </p:oleObj>
              </mc:Choice>
              <mc:Fallback>
                <p:oleObj name="文档" r:id="rId4" imgW="3826872" imgH="8646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1492231"/>
                        <a:ext cx="11671959" cy="26372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50" y="4225198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直接代入公式求解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注意角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对未指出角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所在象限的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要先确定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所在的象限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6" name="燕尾形 5"/>
          <p:cNvSpPr/>
          <p:nvPr/>
        </p:nvSpPr>
        <p:spPr>
          <a:xfrm>
            <a:off x="936501" y="719807"/>
            <a:ext cx="956194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探究一</a:t>
            </a:r>
            <a:r>
              <a:rPr lang="en-US" altLang="zh-CN" dirty="0"/>
              <a:t>  </a:t>
            </a:r>
            <a:r>
              <a:rPr lang="zh-CN" altLang="zh-CN" dirty="0"/>
              <a:t>利用同角三角函数的基本关系求值</a:t>
            </a: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328634"/>
              </p:ext>
            </p:extLst>
          </p:nvPr>
        </p:nvGraphicFramePr>
        <p:xfrm>
          <a:off x="432445" y="594656"/>
          <a:ext cx="11671959" cy="5823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文档" r:id="rId4" imgW="3826872" imgH="1909382" progId="Word.Document.12">
                  <p:embed/>
                </p:oleObj>
              </mc:Choice>
              <mc:Fallback>
                <p:oleObj name="文档" r:id="rId4" imgW="3826872" imgH="19093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594656"/>
                        <a:ext cx="11671959" cy="5823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275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686430"/>
              </p:ext>
            </p:extLst>
          </p:nvPr>
        </p:nvGraphicFramePr>
        <p:xfrm>
          <a:off x="504453" y="1151855"/>
          <a:ext cx="11671959" cy="3894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name="文档" r:id="rId4" imgW="3826872" imgH="1276874" progId="Word.Document.12">
                  <p:embed/>
                </p:oleObj>
              </mc:Choice>
              <mc:Fallback>
                <p:oleObj name="文档" r:id="rId4" imgW="3826872" imgH="12768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151855"/>
                        <a:ext cx="11671959" cy="38944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054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14336"/>
            <a:ext cx="10807700" cy="36379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利用同角三角函数的基本关系解决给值求值问题的要点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已知角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的某一种三角函数值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的其余三角函数值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选择对应的公式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所在的象限已经确定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则求另两种三角函数值时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只有一组结果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若角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所在的象限不确定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则应分类讨论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一般有两组结果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65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477874"/>
              </p:ext>
            </p:extLst>
          </p:nvPr>
        </p:nvGraphicFramePr>
        <p:xfrm>
          <a:off x="288429" y="795073"/>
          <a:ext cx="11671959" cy="706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" name="文档" r:id="rId4" imgW="3826872" imgH="231800" progId="Word.Document.12">
                  <p:embed/>
                </p:oleObj>
              </mc:Choice>
              <mc:Fallback>
                <p:oleObj name="文档" r:id="rId4" imgW="3826872" imgH="2318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795073"/>
                        <a:ext cx="11671959" cy="706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778811"/>
              </p:ext>
            </p:extLst>
          </p:nvPr>
        </p:nvGraphicFramePr>
        <p:xfrm>
          <a:off x="353774" y="1576016"/>
          <a:ext cx="11671959" cy="4524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" name="文档" r:id="rId7" imgW="3826872" imgH="1483517" progId="Word.Document.12">
                  <p:embed/>
                </p:oleObj>
              </mc:Choice>
              <mc:Fallback>
                <p:oleObj name="文档" r:id="rId7" imgW="3826872" imgH="14835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3774" y="1576016"/>
                        <a:ext cx="11671959" cy="45247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3304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936501" y="719807"/>
            <a:ext cx="956194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利用</a:t>
            </a:r>
            <a:r>
              <a:rPr lang="zh-CN" altLang="zh-CN" dirty="0"/>
              <a:t>同角三角函数的基本关系化简或证明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653773"/>
              </p:ext>
            </p:extLst>
          </p:nvPr>
        </p:nvGraphicFramePr>
        <p:xfrm>
          <a:off x="474957" y="1583903"/>
          <a:ext cx="11671959" cy="2231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文档" r:id="rId4" imgW="3826872" imgH="731696" progId="Word.Document.12">
                  <p:embed/>
                </p:oleObj>
              </mc:Choice>
              <mc:Fallback>
                <p:oleObj name="文档" r:id="rId4" imgW="3826872" imgH="7316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4957" y="1583903"/>
                        <a:ext cx="11671959" cy="22316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3946998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根据平方关系化简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注意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“1”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的妙用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由右向左证明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或由左向右证明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也可以两边同时进行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证明左、右两边等于同一个式子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410343"/>
              </p:ext>
            </p:extLst>
          </p:nvPr>
        </p:nvGraphicFramePr>
        <p:xfrm>
          <a:off x="432445" y="1007839"/>
          <a:ext cx="10607329" cy="442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文档" r:id="rId4" imgW="3477813" imgH="1449869" progId="Word.Document.12">
                  <p:embed/>
                </p:oleObj>
              </mc:Choice>
              <mc:Fallback>
                <p:oleObj name="文档" r:id="rId4" imgW="3477813" imgH="14498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007839"/>
                        <a:ext cx="10607329" cy="442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309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934397"/>
              </p:ext>
            </p:extLst>
          </p:nvPr>
        </p:nvGraphicFramePr>
        <p:xfrm>
          <a:off x="504453" y="1007839"/>
          <a:ext cx="10607329" cy="4594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2" name="文档" r:id="rId4" imgW="3477813" imgH="1506479" progId="Word.Document.12">
                  <p:embed/>
                </p:oleObj>
              </mc:Choice>
              <mc:Fallback>
                <p:oleObj name="文档" r:id="rId4" imgW="3477813" imgH="15064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007839"/>
                        <a:ext cx="10607329" cy="45947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525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11895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</a:t>
            </a:r>
            <a:r>
              <a:rPr lang="zh-CN" altLang="en-US" dirty="0" smtClean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感悟</a:t>
            </a:r>
            <a:endParaRPr lang="en-US" altLang="zh-CN" dirty="0" smtClean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三角函数式的化简技巧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化切为弦减少函数名称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即把正切函数化为正弦函数、余弦函数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含有根号的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常把根号里面的部分化成完全平方式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将含高次的三角函数式降次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往往借助因式分解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或构造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29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1317602"/>
            <a:ext cx="11765302" cy="3637919"/>
            <a:chOff x="361950" y="1101578"/>
            <a:chExt cx="11765302" cy="363791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101578"/>
              <a:ext cx="10807700" cy="36379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证明三角恒等式的过程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实质上是化异为同的过程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证明恒等式常用以下方法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一般是由繁的一边到简的一边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证明左、右两边等于同一个式子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左、右归一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2077923"/>
                </p:ext>
              </p:extLst>
            </p:nvPr>
          </p:nvGraphicFramePr>
          <p:xfrm>
            <a:off x="455293" y="3582921"/>
            <a:ext cx="11671959" cy="891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3" name="文档" r:id="rId4" imgW="3837724" imgH="293147" progId="Word.Document.12">
                    <p:embed/>
                  </p:oleObj>
                </mc:Choice>
                <mc:Fallback>
                  <p:oleObj name="文档" r:id="rId4" imgW="3837724" imgH="2931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55293" y="3582921"/>
                          <a:ext cx="11671959" cy="89113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6735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6528335"/>
              </p:ext>
            </p:extLst>
          </p:nvPr>
        </p:nvGraphicFramePr>
        <p:xfrm>
          <a:off x="288429" y="1780589"/>
          <a:ext cx="11671959" cy="181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name="文档" r:id="rId4" imgW="3826872" imgH="596570" progId="Word.Document.12">
                  <p:embed/>
                </p:oleObj>
              </mc:Choice>
              <mc:Fallback>
                <p:oleObj name="文档" r:id="rId4" imgW="3826872" imgH="5965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1780589"/>
                        <a:ext cx="11671959" cy="1819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5675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7899392"/>
              </p:ext>
            </p:extLst>
          </p:nvPr>
        </p:nvGraphicFramePr>
        <p:xfrm>
          <a:off x="504453" y="801647"/>
          <a:ext cx="10607329" cy="5321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" name="文档" r:id="rId4" imgW="3477813" imgH="1744818" progId="Word.Document.12">
                  <p:embed/>
                </p:oleObj>
              </mc:Choice>
              <mc:Fallback>
                <p:oleObj name="文档" r:id="rId4" imgW="3477813" imgH="17448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801647"/>
                        <a:ext cx="10607329" cy="5321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039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燕尾形 3"/>
          <p:cNvSpPr/>
          <p:nvPr/>
        </p:nvSpPr>
        <p:spPr>
          <a:xfrm>
            <a:off x="936501" y="719807"/>
            <a:ext cx="956194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探究三</a:t>
            </a:r>
            <a:r>
              <a:rPr lang="en-US" altLang="zh-CN" dirty="0"/>
              <a:t>  </a:t>
            </a:r>
            <a:r>
              <a:rPr lang="zh-CN" altLang="zh-CN" dirty="0"/>
              <a:t>同角三角函数的基本关系的综合应用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907575"/>
              </p:ext>
            </p:extLst>
          </p:nvPr>
        </p:nvGraphicFramePr>
        <p:xfrm>
          <a:off x="413807" y="1583903"/>
          <a:ext cx="10607329" cy="70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2" name="文档" r:id="rId4" imgW="3477813" imgH="230046" progId="Word.Document.12">
                  <p:embed/>
                </p:oleObj>
              </mc:Choice>
              <mc:Fallback>
                <p:oleObj name="文档" r:id="rId4" imgW="3477813" imgH="2300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3807" y="1583903"/>
                        <a:ext cx="10607329" cy="701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705578"/>
              </p:ext>
            </p:extLst>
          </p:nvPr>
        </p:nvGraphicFramePr>
        <p:xfrm>
          <a:off x="576461" y="2343106"/>
          <a:ext cx="10607329" cy="2635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3" name="文档" r:id="rId7" imgW="3477813" imgH="863936" progId="Word.Document.12">
                  <p:embed/>
                </p:oleObj>
              </mc:Choice>
              <mc:Fallback>
                <p:oleObj name="文档" r:id="rId7" imgW="3477813" imgH="8639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6461" y="2343106"/>
                        <a:ext cx="10607329" cy="2635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718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3960837" y="925999"/>
            <a:ext cx="2740119" cy="499725"/>
          </a:xfrm>
          <a:prstGeom prst="rect">
            <a:avLst/>
          </a:prstGeom>
        </p:spPr>
      </p:pic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369912"/>
              </p:ext>
            </p:extLst>
          </p:nvPr>
        </p:nvGraphicFramePr>
        <p:xfrm>
          <a:off x="576461" y="1517396"/>
          <a:ext cx="10607329" cy="777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6" name="文档" r:id="rId5" imgW="3477813" imgH="254926" progId="Word.Document.12">
                  <p:embed/>
                </p:oleObj>
              </mc:Choice>
              <mc:Fallback>
                <p:oleObj name="文档" r:id="rId5" imgW="3477813" imgH="2549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6461" y="1517396"/>
                        <a:ext cx="10607329" cy="777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2571312"/>
              </p:ext>
            </p:extLst>
          </p:nvPr>
        </p:nvGraphicFramePr>
        <p:xfrm>
          <a:off x="576461" y="2477803"/>
          <a:ext cx="10607329" cy="2577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7" name="文档" r:id="rId8" imgW="3477813" imgH="845186" progId="Word.Document.12">
                  <p:embed/>
                </p:oleObj>
              </mc:Choice>
              <mc:Fallback>
                <p:oleObj name="文档" r:id="rId8" imgW="3477813" imgH="8451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6461" y="2477803"/>
                        <a:ext cx="10607329" cy="25778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655911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本例条件不变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328902"/>
              </p:ext>
            </p:extLst>
          </p:nvPr>
        </p:nvGraphicFramePr>
        <p:xfrm>
          <a:off x="442277" y="2363400"/>
          <a:ext cx="10607329" cy="1990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name="文档" r:id="rId4" imgW="3477813" imgH="652639" progId="Word.Document.12">
                  <p:embed/>
                </p:oleObj>
              </mc:Choice>
              <mc:Fallback>
                <p:oleObj name="文档" r:id="rId4" imgW="3477813" imgH="6526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2277" y="2363400"/>
                        <a:ext cx="10607329" cy="19905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1885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27461"/>
            <a:ext cx="10807700" cy="4228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关于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的齐次式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可以通过分子、分母同除以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转化为关于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tan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的式子后再求值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已知正切值求形如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,2sin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等的值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代数式中不含分母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可以视分母为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灵活地进行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“1”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的代换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即先将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代换后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再同除以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构造出关于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tan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的代数式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89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721322"/>
              </p:ext>
            </p:extLst>
          </p:nvPr>
        </p:nvGraphicFramePr>
        <p:xfrm>
          <a:off x="432445" y="866994"/>
          <a:ext cx="11671959" cy="200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2" name="文档" r:id="rId4" imgW="3826872" imgH="656586" progId="Word.Document.12">
                  <p:embed/>
                </p:oleObj>
              </mc:Choice>
              <mc:Fallback>
                <p:oleObj name="文档" r:id="rId4" imgW="3826872" imgH="6565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66994"/>
                        <a:ext cx="11671959" cy="2002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586509"/>
              </p:ext>
            </p:extLst>
          </p:nvPr>
        </p:nvGraphicFramePr>
        <p:xfrm>
          <a:off x="432445" y="2965058"/>
          <a:ext cx="11671959" cy="2837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3" name="文档" r:id="rId7" imgW="3826872" imgH="930433" progId="Word.Document.12">
                  <p:embed/>
                </p:oleObj>
              </mc:Choice>
              <mc:Fallback>
                <p:oleObj name="文档" r:id="rId7" imgW="3826872" imgH="9304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965058"/>
                        <a:ext cx="11671959" cy="28378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936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863823"/>
            <a:ext cx="11671959" cy="4824536"/>
            <a:chOff x="361950" y="791815"/>
            <a:chExt cx="11671959" cy="482453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91815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利用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平方关系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求值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忽略角的取值范围致错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2643578"/>
                </p:ext>
              </p:extLst>
            </p:nvPr>
          </p:nvGraphicFramePr>
          <p:xfrm>
            <a:off x="361950" y="1475811"/>
            <a:ext cx="11671959" cy="2844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8" name="文档" r:id="rId4" imgW="3826872" imgH="932589" progId="Word.Document.12">
                    <p:embed/>
                  </p:oleObj>
                </mc:Choice>
                <mc:Fallback>
                  <p:oleObj name="文档" r:id="rId4" imgW="3826872" imgH="93258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61950" y="1475811"/>
                          <a:ext cx="11671959" cy="284439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4398710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以上解答过程中都有哪些错误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出错的原因是什么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你如何改正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你如何防范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734482"/>
              </p:ext>
            </p:extLst>
          </p:nvPr>
        </p:nvGraphicFramePr>
        <p:xfrm>
          <a:off x="504453" y="2447999"/>
          <a:ext cx="10607329" cy="1254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" name="文档" r:id="rId4" imgW="3477813" imgH="411415" progId="Word.Document.12">
                  <p:embed/>
                </p:oleObj>
              </mc:Choice>
              <mc:Fallback>
                <p:oleObj name="文档" r:id="rId4" imgW="3477813" imgH="4114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2447999"/>
                        <a:ext cx="10607329" cy="12548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914002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126979"/>
              </p:ext>
            </p:extLst>
          </p:nvPr>
        </p:nvGraphicFramePr>
        <p:xfrm>
          <a:off x="430213" y="657631"/>
          <a:ext cx="11645900" cy="569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" name="文档" r:id="rId4" imgW="3826872" imgH="1874881" progId="Word.Document.12">
                  <p:embed/>
                </p:oleObj>
              </mc:Choice>
              <mc:Fallback>
                <p:oleObj name="文档" r:id="rId4" imgW="3826872" imgH="18748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657631"/>
                        <a:ext cx="11645900" cy="5697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501761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>
                <a:spLocks noChangeAspect="1"/>
              </p:cNvSpPr>
              <p:nvPr/>
            </p:nvSpPr>
            <p:spPr>
              <a:xfrm>
                <a:off x="361950" y="1339970"/>
                <a:ext cx="10807700" cy="312425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en-US" dirty="0">
                    <a:solidFill>
                      <a:srgbClr val="000000"/>
                    </a:solidFill>
                    <a:latin typeface="+mn-lt"/>
                    <a:cs typeface="Times New Roman" panose="02020603050405020304" pitchFamily="18" charset="0"/>
                  </a:rPr>
                  <a:t>防范措施</a:t>
                </a:r>
                <a:endParaRPr lang="zh-CN" altLang="zh-CN" dirty="0">
                  <a:solidFill>
                    <a:srgbClr val="000000"/>
                  </a:solidFill>
                  <a:latin typeface="+mn-lt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 smtClean="0">
                    <a:solidFill>
                      <a:srgbClr val="000000"/>
                    </a:solidFill>
                    <a:latin typeface="+mn-lt"/>
                    <a:ea typeface="仿宋" panose="02010609060101010101" pitchFamily="49" charset="-122"/>
                    <a:cs typeface="Times New Roman" panose="02020603050405020304" pitchFamily="18" charset="0"/>
                  </a:rPr>
                  <a:t>使用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sin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仿宋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±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co</m:t>
                        </m:r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+mn-lt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+mn-lt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+mn-lt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rad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仿宋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cos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仿宋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±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si</m:t>
                        </m:r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effectLst/>
                                <a:latin typeface="+mn-lt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+mn-lt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effectLst/>
                                <a:latin typeface="+mn-lt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rad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仿宋" panose="02010609060101010101" pitchFamily="49" charset="-122"/>
                    <a:cs typeface="Times New Roman" panose="02020603050405020304" pitchFamily="18" charset="0"/>
                  </a:rPr>
                  <a:t>时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仿宋" panose="02010609060101010101" pitchFamily="49" charset="-122"/>
                    <a:cs typeface="Times New Roman" panose="02020603050405020304" pitchFamily="18" charset="0"/>
                  </a:rPr>
                  <a:t>要注意正、负号的选取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仿宋" panose="02010609060101010101" pitchFamily="49" charset="-122"/>
                    <a:cs typeface="Times New Roman" panose="02020603050405020304" pitchFamily="18" charset="0"/>
                  </a:rPr>
                  <a:t>如果角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仿宋" panose="02010609060101010101" pitchFamily="49" charset="-122"/>
                    <a:cs typeface="Times New Roman" panose="02020603050405020304" pitchFamily="18" charset="0"/>
                  </a:rPr>
                  <a:t>所在的象限是已知的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仿宋" panose="02010609060101010101" pitchFamily="49" charset="-122"/>
                    <a:cs typeface="Times New Roman" panose="02020603050405020304" pitchFamily="18" charset="0"/>
                  </a:rPr>
                  <a:t>那么按三角函数值在各个象限的符号来确定正负号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;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仿宋" panose="02010609060101010101" pitchFamily="49" charset="-122"/>
                    <a:cs typeface="Times New Roman" panose="02020603050405020304" pitchFamily="18" charset="0"/>
                  </a:rPr>
                  <a:t>如果角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α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仿宋" panose="02010609060101010101" pitchFamily="49" charset="-122"/>
                    <a:cs typeface="Times New Roman" panose="02020603050405020304" pitchFamily="18" charset="0"/>
                  </a:rPr>
                  <a:t>所在的象限是未知的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仿宋" panose="02010609060101010101" pitchFamily="49" charset="-122"/>
                    <a:cs typeface="Times New Roman" panose="02020603050405020304" pitchFamily="18" charset="0"/>
                  </a:rPr>
                  <a:t>那么需按象限进行讨论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1339970"/>
                <a:ext cx="10807700" cy="3124253"/>
              </a:xfrm>
              <a:prstGeom prst="rect">
                <a:avLst/>
              </a:prstGeom>
              <a:blipFill rotWithShape="0">
                <a:blip r:embed="rId2"/>
                <a:stretch>
                  <a:fillRect l="-1352" t="-1751" r="-1014" b="-389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373392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434757"/>
              </p:ext>
            </p:extLst>
          </p:nvPr>
        </p:nvGraphicFramePr>
        <p:xfrm>
          <a:off x="576461" y="812574"/>
          <a:ext cx="10607329" cy="1227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0" name="文档" r:id="rId4" imgW="3477813" imgH="402401" progId="Word.Document.12">
                  <p:embed/>
                </p:oleObj>
              </mc:Choice>
              <mc:Fallback>
                <p:oleObj name="文档" r:id="rId4" imgW="3477813" imgH="4024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812574"/>
                        <a:ext cx="10607329" cy="1227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151897"/>
              </p:ext>
            </p:extLst>
          </p:nvPr>
        </p:nvGraphicFramePr>
        <p:xfrm>
          <a:off x="576461" y="2108718"/>
          <a:ext cx="10607329" cy="3129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1" name="文档" r:id="rId7" imgW="3477813" imgH="1026194" progId="Word.Document.12">
                  <p:embed/>
                </p:oleObj>
              </mc:Choice>
              <mc:Fallback>
                <p:oleObj name="文档" r:id="rId7" imgW="3477813" imgH="10261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6461" y="2108718"/>
                        <a:ext cx="10607329" cy="31298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513253"/>
              </p:ext>
            </p:extLst>
          </p:nvPr>
        </p:nvGraphicFramePr>
        <p:xfrm>
          <a:off x="576461" y="5307431"/>
          <a:ext cx="10607329" cy="70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2" name="文档" r:id="rId10" imgW="3477813" imgH="230046" progId="Word.Document.12">
                  <p:embed/>
                </p:oleObj>
              </mc:Choice>
              <mc:Fallback>
                <p:oleObj name="文档" r:id="rId10" imgW="3477813" imgH="2300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76461" y="5307431"/>
                        <a:ext cx="10607329" cy="701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229813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391730"/>
              </p:ext>
            </p:extLst>
          </p:nvPr>
        </p:nvGraphicFramePr>
        <p:xfrm>
          <a:off x="425782" y="935831"/>
          <a:ext cx="11671959" cy="250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7" name="文档" r:id="rId4" imgW="3837724" imgH="825354" progId="Word.Document.12">
                  <p:embed/>
                </p:oleObj>
              </mc:Choice>
              <mc:Fallback>
                <p:oleObj name="文档" r:id="rId4" imgW="3837724" imgH="8253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935831"/>
                        <a:ext cx="11671959" cy="2508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61950" y="3528119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由商数关系可知选项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不成立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为第二象限角时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0,sin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不成立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选项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AB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681820"/>
              </p:ext>
            </p:extLst>
          </p:nvPr>
        </p:nvGraphicFramePr>
        <p:xfrm>
          <a:off x="432445" y="1142023"/>
          <a:ext cx="11671959" cy="1480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" name="文档" r:id="rId4" imgW="3826872" imgH="485521" progId="Word.Document.12">
                  <p:embed/>
                </p:oleObj>
              </mc:Choice>
              <mc:Fallback>
                <p:oleObj name="文档" r:id="rId4" imgW="3826872" imgH="4855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142023"/>
                        <a:ext cx="11671959" cy="14808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164991"/>
              </p:ext>
            </p:extLst>
          </p:nvPr>
        </p:nvGraphicFramePr>
        <p:xfrm>
          <a:off x="432445" y="2798207"/>
          <a:ext cx="11671959" cy="1398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5" name="文档" r:id="rId7" imgW="3826872" imgH="458568" progId="Word.Document.12">
                  <p:embed/>
                </p:oleObj>
              </mc:Choice>
              <mc:Fallback>
                <p:oleObj name="文档" r:id="rId7" imgW="3826872" imgH="4585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798207"/>
                        <a:ext cx="11671959" cy="13986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432445" y="4266249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03583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30945"/>
              </p:ext>
            </p:extLst>
          </p:nvPr>
        </p:nvGraphicFramePr>
        <p:xfrm>
          <a:off x="576461" y="1079847"/>
          <a:ext cx="11671959" cy="1462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8" name="文档" r:id="rId4" imgW="3826872" imgH="479412" progId="Word.Document.12">
                  <p:embed/>
                </p:oleObj>
              </mc:Choice>
              <mc:Fallback>
                <p:oleObj name="文档" r:id="rId4" imgW="3826872" imgH="4794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079847"/>
                        <a:ext cx="11671959" cy="14622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0971191"/>
              </p:ext>
            </p:extLst>
          </p:nvPr>
        </p:nvGraphicFramePr>
        <p:xfrm>
          <a:off x="504453" y="2673855"/>
          <a:ext cx="11671959" cy="2515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9" name="文档" r:id="rId7" imgW="3826872" imgH="824775" progId="Word.Document.12">
                  <p:embed/>
                </p:oleObj>
              </mc:Choice>
              <mc:Fallback>
                <p:oleObj name="文档" r:id="rId7" imgW="3826872" imgH="8247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2673855"/>
                        <a:ext cx="11671959" cy="25155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323493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484443"/>
              </p:ext>
            </p:extLst>
          </p:nvPr>
        </p:nvGraphicFramePr>
        <p:xfrm>
          <a:off x="504453" y="1511895"/>
          <a:ext cx="11671959" cy="1991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9" name="文档" r:id="rId4" imgW="3826872" imgH="652992" progId="Word.Document.12">
                  <p:embed/>
                </p:oleObj>
              </mc:Choice>
              <mc:Fallback>
                <p:oleObj name="文档" r:id="rId4" imgW="3826872" imgH="6529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511895"/>
                        <a:ext cx="11671959" cy="19916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489550" y="367213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82283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655118"/>
              </p:ext>
            </p:extLst>
          </p:nvPr>
        </p:nvGraphicFramePr>
        <p:xfrm>
          <a:off x="504453" y="1460651"/>
          <a:ext cx="11671959" cy="69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9" name="文档" r:id="rId4" imgW="3826872" imgH="228565" progId="Word.Document.12">
                  <p:embed/>
                </p:oleObj>
              </mc:Choice>
              <mc:Fallback>
                <p:oleObj name="文档" r:id="rId4" imgW="3826872" imgH="2285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460651"/>
                        <a:ext cx="11671959" cy="697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1676032"/>
              </p:ext>
            </p:extLst>
          </p:nvPr>
        </p:nvGraphicFramePr>
        <p:xfrm>
          <a:off x="504825" y="2263579"/>
          <a:ext cx="11672888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0" name="文档" r:id="rId7" imgW="3837724" imgH="499756" progId="Word.Document.12">
                  <p:embed/>
                </p:oleObj>
              </mc:Choice>
              <mc:Fallback>
                <p:oleObj name="文档" r:id="rId7" imgW="3837724" imgH="4997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825" y="2263579"/>
                        <a:ext cx="11672888" cy="151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7980340"/>
              </p:ext>
            </p:extLst>
          </p:nvPr>
        </p:nvGraphicFramePr>
        <p:xfrm>
          <a:off x="504318" y="3764907"/>
          <a:ext cx="11671959" cy="699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1" name="文档" r:id="rId10" imgW="3826872" imgH="229284" progId="Word.Document.12">
                  <p:embed/>
                </p:oleObj>
              </mc:Choice>
              <mc:Fallback>
                <p:oleObj name="文档" r:id="rId10" imgW="3826872" imgH="2292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4318" y="3764907"/>
                        <a:ext cx="11671959" cy="699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092572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668072"/>
              </p:ext>
            </p:extLst>
          </p:nvPr>
        </p:nvGraphicFramePr>
        <p:xfrm>
          <a:off x="425782" y="1871935"/>
          <a:ext cx="11671959" cy="835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0" name="文档" r:id="rId4" imgW="3826872" imgH="273847" progId="Word.Document.12">
                  <p:embed/>
                </p:oleObj>
              </mc:Choice>
              <mc:Fallback>
                <p:oleObj name="文档" r:id="rId4" imgW="3826872" imgH="2738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1871935"/>
                        <a:ext cx="11671959" cy="8352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355665"/>
              </p:ext>
            </p:extLst>
          </p:nvPr>
        </p:nvGraphicFramePr>
        <p:xfrm>
          <a:off x="425781" y="2884796"/>
          <a:ext cx="11671959" cy="859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1" name="文档" r:id="rId7" imgW="3826872" imgH="281753" progId="Word.Document.12">
                  <p:embed/>
                </p:oleObj>
              </mc:Choice>
              <mc:Fallback>
                <p:oleObj name="文档" r:id="rId7" imgW="3826872" imgH="2817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5781" y="2884796"/>
                        <a:ext cx="11671959" cy="8593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254628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50</TotalTime>
  <Words>818</Words>
  <Application>Microsoft Office PowerPoint</Application>
  <PresentationFormat>自定义</PresentationFormat>
  <Paragraphs>61</Paragraphs>
  <Slides>43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61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Segoe UI Symbol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19</cp:revision>
  <dcterms:created xsi:type="dcterms:W3CDTF">2020-09-12T05:36:12Z</dcterms:created>
  <dcterms:modified xsi:type="dcterms:W3CDTF">2025-08-18T05:37:38Z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