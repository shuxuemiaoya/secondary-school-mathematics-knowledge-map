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81" r:id="rId9"/>
    <p:sldId id="757" r:id="rId10"/>
    <p:sldId id="758" r:id="rId11"/>
    <p:sldId id="759" r:id="rId12"/>
    <p:sldId id="760" r:id="rId13"/>
    <p:sldId id="761" r:id="rId14"/>
    <p:sldId id="762" r:id="rId15"/>
    <p:sldId id="763" r:id="rId16"/>
    <p:sldId id="764" r:id="rId17"/>
    <p:sldId id="737" r:id="rId18"/>
    <p:sldId id="750" r:id="rId19"/>
    <p:sldId id="766" r:id="rId20"/>
    <p:sldId id="767" r:id="rId21"/>
    <p:sldId id="754" r:id="rId22"/>
    <p:sldId id="768" r:id="rId23"/>
    <p:sldId id="782" r:id="rId24"/>
    <p:sldId id="769" r:id="rId25"/>
    <p:sldId id="770" r:id="rId26"/>
    <p:sldId id="755" r:id="rId27"/>
    <p:sldId id="771" r:id="rId28"/>
    <p:sldId id="773" r:id="rId29"/>
    <p:sldId id="774" r:id="rId30"/>
    <p:sldId id="783" r:id="rId31"/>
    <p:sldId id="775" r:id="rId32"/>
    <p:sldId id="776" r:id="rId33"/>
    <p:sldId id="747" r:id="rId34"/>
    <p:sldId id="751" r:id="rId35"/>
    <p:sldId id="778" r:id="rId36"/>
    <p:sldId id="784" r:id="rId37"/>
    <p:sldId id="748" r:id="rId38"/>
    <p:sldId id="752" r:id="rId39"/>
    <p:sldId id="779" r:id="rId40"/>
    <p:sldId id="780" r:id="rId41"/>
    <p:sldId id="735" r:id="rId4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4" Type="http://schemas.openxmlformats.org/officeDocument/2006/relationships/image" Target="../media/image43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41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5" Type="http://schemas.openxmlformats.org/officeDocument/2006/relationships/slide" Target="slide33.xml"/><Relationship Id="rId4" Type="http://schemas.openxmlformats.org/officeDocument/2006/relationships/slide" Target="slide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6.docx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7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9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0.docx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1.docx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3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4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6.docx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7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9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0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1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8.jpeg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2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3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4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5.docx"/><Relationship Id="rId9" Type="http://schemas.openxmlformats.org/officeDocument/2006/relationships/image" Target="../media/image3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7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28.bin"/><Relationship Id="rId7" Type="http://schemas.openxmlformats.org/officeDocument/2006/relationships/package" Target="../embeddings/Microsoft_Word___2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8.docx"/><Relationship Id="rId9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emf"/><Relationship Id="rId3" Type="http://schemas.openxmlformats.org/officeDocument/2006/relationships/oleObject" Target="../embeddings/oleObject30.bin"/><Relationship Id="rId7" Type="http://schemas.openxmlformats.org/officeDocument/2006/relationships/package" Target="../embeddings/Microsoft_Word___3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0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package" Target="../embeddings/Microsoft_Word___35.docx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12" Type="http://schemas.openxmlformats.org/officeDocument/2006/relationships/oleObject" Target="../embeddings/oleObject3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42.emf"/><Relationship Id="rId5" Type="http://schemas.openxmlformats.org/officeDocument/2006/relationships/image" Target="../media/image40.emf"/><Relationship Id="rId10" Type="http://schemas.openxmlformats.org/officeDocument/2006/relationships/package" Target="../embeddings/Microsoft_Word___34.docx"/><Relationship Id="rId4" Type="http://schemas.openxmlformats.org/officeDocument/2006/relationships/package" Target="../embeddings/Microsoft_Word___32.docx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43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4.emf"/><Relationship Id="rId4" Type="http://schemas.openxmlformats.org/officeDocument/2006/relationships/package" Target="../embeddings/Microsoft_Word___36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37.bin"/><Relationship Id="rId7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7.emf"/><Relationship Id="rId5" Type="http://schemas.openxmlformats.org/officeDocument/2006/relationships/image" Target="../media/image45.emf"/><Relationship Id="rId10" Type="http://schemas.openxmlformats.org/officeDocument/2006/relationships/package" Target="../embeddings/Microsoft_Word___39.docx"/><Relationship Id="rId4" Type="http://schemas.openxmlformats.org/officeDocument/2006/relationships/package" Target="../embeddings/Microsoft_Word___37.docx"/><Relationship Id="rId9" Type="http://schemas.openxmlformats.org/officeDocument/2006/relationships/oleObject" Target="../embeddings/oleObject39.bin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75681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弧度制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238264"/>
            <a:ext cx="10729192" cy="3802023"/>
            <a:chOff x="360437" y="1151856"/>
            <a:chExt cx="10729192" cy="3802023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151856"/>
              <a:ext cx="10729192" cy="3802023"/>
              <a:chOff x="360437" y="1757807"/>
              <a:chExt cx="10729192" cy="2596833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757807"/>
                <a:ext cx="10729192" cy="2596833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06990"/>
                <a:ext cx="0" cy="248863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231975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了解弧度制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能进行弧度与角度的互化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体会引入弧度制的必要性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能运用弧长公式和扇形面积公式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体会数学抽象的过程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逻辑推理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984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一、角度制与弧度制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阅读下面的语句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并回答问题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在初中学过的角度制中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度的角是如何规定的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003825"/>
              </p:ext>
            </p:extLst>
          </p:nvPr>
        </p:nvGraphicFramePr>
        <p:xfrm>
          <a:off x="465125" y="3000667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文档" r:id="rId4" imgW="3826872" imgH="229284" progId="Word.Document.12">
                  <p:embed/>
                </p:oleObj>
              </mc:Choice>
              <mc:Fallback>
                <p:oleObj name="文档" r:id="rId4" imgW="3826872" imgH="22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5125" y="3000667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75567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在给定半径的圆中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弧长一定时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圆心角确定吗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205467" y="719807"/>
            <a:ext cx="22257135" cy="5601170"/>
            <a:chOff x="-143619" y="647799"/>
            <a:chExt cx="22257135" cy="5601170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647799"/>
              <a:ext cx="3956532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角度制和弧度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制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zh-CN" altLang="en-US" dirty="0"/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2281094"/>
                </p:ext>
              </p:extLst>
            </p:nvPr>
          </p:nvGraphicFramePr>
          <p:xfrm>
            <a:off x="-143619" y="1358047"/>
            <a:ext cx="12004724" cy="3725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6" name="文档" r:id="rId4" imgW="3935975" imgH="1221530" progId="Word.Document.12">
                    <p:embed/>
                  </p:oleObj>
                </mc:Choice>
                <mc:Fallback>
                  <p:oleObj name="文档" r:id="rId4" imgW="3935975" imgH="122153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43619" y="1358047"/>
                          <a:ext cx="12004724" cy="37256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4383843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单位圆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半径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ea typeface="宋体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圆叫做单位圆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角的弧度数的计算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在半径为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的圆中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弧长为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的弧所对的圆心角为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rad,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那么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145013"/>
                </p:ext>
              </p:extLst>
            </p:nvPr>
          </p:nvGraphicFramePr>
          <p:xfrm>
            <a:off x="10441557" y="5497778"/>
            <a:ext cx="11671959" cy="7047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7" name="文档" r:id="rId7" imgW="3826872" imgH="231081" progId="Word.Document.12">
                    <p:embed/>
                  </p:oleObj>
                </mc:Choice>
                <mc:Fallback>
                  <p:oleObj name="文档" r:id="rId7" imgW="3826872" imgH="23108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441557" y="5497778"/>
                          <a:ext cx="11671959" cy="7047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2234705" y="1582825"/>
            <a:ext cx="362544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475361" y="2838779"/>
            <a:ext cx="120555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134673" y="2829185"/>
            <a:ext cx="120555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681430" y="3368665"/>
            <a:ext cx="74855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013303" y="3356635"/>
            <a:ext cx="74855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453845" y="4514939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3449040" y="4979037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95270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29561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任意角的弧度数与实数的对应关系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正角的弧度数是一个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正数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负角的弧度数是一个</a:t>
            </a:r>
            <a:r>
              <a:rPr lang="zh-CN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负数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零角的弧度数是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110378" y="2939669"/>
            <a:ext cx="81371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4105614" y="3403767"/>
            <a:ext cx="8127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8686301" y="2949501"/>
            <a:ext cx="81371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8681537" y="3413599"/>
            <a:ext cx="81279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104114" y="3528119"/>
            <a:ext cx="16098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2098981" y="3992217"/>
            <a:ext cx="16080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56909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91183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说法错误的是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弧度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是度量角的两种不同的度量单位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76590"/>
              </p:ext>
            </p:extLst>
          </p:nvPr>
        </p:nvGraphicFramePr>
        <p:xfrm>
          <a:off x="461941" y="2397330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文档" r:id="rId4" imgW="3826872" imgH="229284" progId="Word.Document.12">
                  <p:embed/>
                </p:oleObj>
              </mc:Choice>
              <mc:Fallback>
                <p:oleObj name="文档" r:id="rId4" imgW="3826872" imgH="22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1941" y="2397330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315970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C.1 rad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的角比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的角要大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用角度制和弧度制度量角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都与圆的半径有关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1026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151855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二、角度制与弧度制的换算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角度制和弧度制都是度量角的单位制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它们之间如何进行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换算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262618"/>
              </p:ext>
            </p:extLst>
          </p:nvPr>
        </p:nvGraphicFramePr>
        <p:xfrm>
          <a:off x="452109" y="3136076"/>
          <a:ext cx="11671959" cy="1256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文档" r:id="rId4" imgW="3826872" imgH="411849" progId="Word.Document.12">
                  <p:embed/>
                </p:oleObj>
              </mc:Choice>
              <mc:Fallback>
                <p:oleObj name="文档" r:id="rId4" imgW="3826872" imgH="4118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109" y="3136076"/>
                        <a:ext cx="11671959" cy="1256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596258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56655" y="791815"/>
            <a:ext cx="11844910" cy="6048672"/>
            <a:chOff x="-156655" y="719807"/>
            <a:chExt cx="11844910" cy="6048672"/>
          </a:xfrm>
        </p:grpSpPr>
        <p:grpSp>
          <p:nvGrpSpPr>
            <p:cNvPr id="3" name="组合 2"/>
            <p:cNvGrpSpPr/>
            <p:nvPr/>
          </p:nvGrpSpPr>
          <p:grpSpPr>
            <a:xfrm>
              <a:off x="361950" y="719807"/>
              <a:ext cx="8135391" cy="2882109"/>
              <a:chOff x="361950" y="1511895"/>
              <a:chExt cx="8135391" cy="2882109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61950" y="1511895"/>
                <a:ext cx="4368504" cy="6832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1)</a:t>
                </a:r>
                <a:r>
                  <a:rPr lang="zh-CN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角度与弧度的互</a:t>
                </a:r>
                <a:r>
                  <a:rPr lang="zh-CN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化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" name="NMG1TRA11J.eps" descr="id:2147506938;FounderCES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6581" y="2244252"/>
                <a:ext cx="6840760" cy="2149752"/>
              </a:xfrm>
              <a:prstGeom prst="rect">
                <a:avLst/>
              </a:prstGeom>
            </p:spPr>
          </p:pic>
        </p:grpSp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3685987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一些特殊角的度数与弧度数的对应关系</a:t>
              </a:r>
              <a:endParaRPr lang="zh-CN" altLang="en-US" dirty="0"/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4837655"/>
                </p:ext>
              </p:extLst>
            </p:nvPr>
          </p:nvGraphicFramePr>
          <p:xfrm>
            <a:off x="-156655" y="4343891"/>
            <a:ext cx="11844910" cy="2424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4" name="文档" r:id="rId5" imgW="3883577" imgH="794947" progId="Word.Document.12">
                    <p:embed/>
                  </p:oleObj>
                </mc:Choice>
                <mc:Fallback>
                  <p:oleObj name="文档" r:id="rId5" imgW="3883577" imgH="7949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-156655" y="4343891"/>
                          <a:ext cx="11844910" cy="24245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/>
          <p:nvPr/>
        </p:nvSpPr>
        <p:spPr>
          <a:xfrm>
            <a:off x="2810875" y="2343261"/>
            <a:ext cx="16913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520851" y="1737662"/>
            <a:ext cx="125641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035665" y="3024063"/>
            <a:ext cx="103835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92485" y="5305725"/>
            <a:ext cx="330853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857494" y="4535928"/>
            <a:ext cx="53284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497167" y="4540566"/>
            <a:ext cx="532842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337889" y="4535928"/>
            <a:ext cx="69777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9339921" y="4535928"/>
            <a:ext cx="74159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07949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6512604"/>
              </p:ext>
            </p:extLst>
          </p:nvPr>
        </p:nvGraphicFramePr>
        <p:xfrm>
          <a:off x="577850" y="1155700"/>
          <a:ext cx="10583863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文档" r:id="rId4" imgW="3467489" imgH="651195" progId="Word.Document.12">
                  <p:embed/>
                </p:oleObj>
              </mc:Choice>
              <mc:Fallback>
                <p:oleObj name="文档" r:id="rId4" imgW="3467489" imgH="6511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7850" y="1155700"/>
                        <a:ext cx="10583863" cy="198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533407"/>
              </p:ext>
            </p:extLst>
          </p:nvPr>
        </p:nvGraphicFramePr>
        <p:xfrm>
          <a:off x="576460" y="3240087"/>
          <a:ext cx="10607329" cy="72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文档" r:id="rId7" imgW="3477813" imgH="238340" progId="Word.Document.12">
                  <p:embed/>
                </p:oleObj>
              </mc:Choice>
              <mc:Fallback>
                <p:oleObj name="文档" r:id="rId7" imgW="3477813" imgH="2383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460" y="3240087"/>
                        <a:ext cx="10607329" cy="726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494621" y="3987272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10097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9331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三、扇形的弧长及面积公式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初中所学的扇形的弧长、面积分别是什么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用弧度怎么表示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270924"/>
              </p:ext>
            </p:extLst>
          </p:nvPr>
        </p:nvGraphicFramePr>
        <p:xfrm>
          <a:off x="409575" y="2834317"/>
          <a:ext cx="11671300" cy="282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文档" r:id="rId4" imgW="3837724" imgH="939656" progId="Word.Document.12">
                  <p:embed/>
                </p:oleObj>
              </mc:Choice>
              <mc:Fallback>
                <p:oleObj name="文档" r:id="rId4" imgW="3837724" imgH="9396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9575" y="2834317"/>
                        <a:ext cx="11671300" cy="282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814565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136100"/>
              </p:ext>
            </p:extLst>
          </p:nvPr>
        </p:nvGraphicFramePr>
        <p:xfrm>
          <a:off x="432445" y="2274401"/>
          <a:ext cx="10607329" cy="1253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文档" r:id="rId4" imgW="3477813" imgH="411776" progId="Word.Document.12">
                  <p:embed/>
                </p:oleObj>
              </mc:Choice>
              <mc:Fallback>
                <p:oleObj name="文档" r:id="rId4" imgW="3477813" imgH="4117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274401"/>
                        <a:ext cx="10607329" cy="1253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2136403" y="2877493"/>
            <a:ext cx="64226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131737" y="3341591"/>
            <a:ext cx="6415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579079" y="2808040"/>
            <a:ext cx="77714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5574489" y="3529230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25126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883271"/>
              </p:ext>
            </p:extLst>
          </p:nvPr>
        </p:nvGraphicFramePr>
        <p:xfrm>
          <a:off x="430213" y="1366838"/>
          <a:ext cx="116459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2" name="文档" r:id="rId4" imgW="3826872" imgH="401786" progId="Word.Document.12">
                  <p:embed/>
                </p:oleObj>
              </mc:Choice>
              <mc:Fallback>
                <p:oleObj name="文档" r:id="rId4" imgW="3826872" imgH="401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366838"/>
                        <a:ext cx="116459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383954"/>
              </p:ext>
            </p:extLst>
          </p:nvPr>
        </p:nvGraphicFramePr>
        <p:xfrm>
          <a:off x="432444" y="2696814"/>
          <a:ext cx="11671959" cy="139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3" name="文档" r:id="rId7" imgW="3826872" imgH="458209" progId="Word.Document.12">
                  <p:embed/>
                </p:oleObj>
              </mc:Choice>
              <mc:Fallback>
                <p:oleObj name="文档" r:id="rId7" imgW="3826872" imgH="4582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2696814"/>
                        <a:ext cx="11671959" cy="1397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0437" y="4213007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3883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754035"/>
            <a:ext cx="11722790" cy="5438380"/>
            <a:chOff x="361950" y="691859"/>
            <a:chExt cx="11722790" cy="5438380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691859"/>
              <a:ext cx="10807700" cy="478047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(1)1 rad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的角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57</a:t>
              </a:r>
              <a:r>
                <a:rPr lang="en-US" altLang="zh-CN" dirty="0" smtClean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的角大小相等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用弧度来表示的角都是正角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(3)“1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弧度的角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的大小和所在圆的半径大小无关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若扇形的半径为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 cm,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圆心角为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则扇形的弧长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l=|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|r=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30 cm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3432575"/>
                </p:ext>
              </p:extLst>
            </p:nvPr>
          </p:nvGraphicFramePr>
          <p:xfrm>
            <a:off x="412781" y="5430923"/>
            <a:ext cx="11671959" cy="699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4" name="文档" r:id="rId4" imgW="3837724" imgH="228965" progId="Word.Document.12">
                    <p:embed/>
                  </p:oleObj>
                </mc:Choice>
                <mc:Fallback>
                  <p:oleObj name="文档" r:id="rId4" imgW="3837724" imgH="22896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12781" y="5430923"/>
                          <a:ext cx="11671959" cy="69931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6502628" y="266402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248760" y="317970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289429" y="3820650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024733" y="496827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003117" y="554618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092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角度</a:t>
            </a:r>
            <a:r>
              <a:rPr lang="zh-CN" altLang="zh-CN" dirty="0"/>
              <a:t>与弧度的互化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53155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把下列各角从角度化成弧度或从弧度化成角度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不必求近似值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797216"/>
              </p:ext>
            </p:extLst>
          </p:nvPr>
        </p:nvGraphicFramePr>
        <p:xfrm>
          <a:off x="504453" y="2770672"/>
          <a:ext cx="11671959" cy="694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文档" r:id="rId4" imgW="3826872" imgH="227846" progId="Word.Document.12">
                  <p:embed/>
                </p:oleObj>
              </mc:Choice>
              <mc:Fallback>
                <p:oleObj name="文档" r:id="rId4" imgW="3826872" imgH="2278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770672"/>
                        <a:ext cx="11671959" cy="694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530454"/>
              </p:ext>
            </p:extLst>
          </p:nvPr>
        </p:nvGraphicFramePr>
        <p:xfrm>
          <a:off x="504453" y="3465943"/>
          <a:ext cx="11671959" cy="2767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name="文档" r:id="rId7" imgW="3826872" imgH="907433" progId="Word.Document.12">
                  <p:embed/>
                </p:oleObj>
              </mc:Choice>
              <mc:Fallback>
                <p:oleObj name="文档" r:id="rId7" imgW="3826872" imgH="9074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3465943"/>
                        <a:ext cx="11671959" cy="27676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1720134"/>
            <a:ext cx="14674462" cy="2456057"/>
            <a:chOff x="361950" y="1556928"/>
            <a:chExt cx="14674462" cy="2456057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556928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角度转化为弧度时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要先把带有分、秒的部分化为度之后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再用公式化成弧度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牢记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rad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180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把弧度转化为角度时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直接用弧度数乘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    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6127493"/>
                </p:ext>
              </p:extLst>
            </p:nvPr>
          </p:nvGraphicFramePr>
          <p:xfrm>
            <a:off x="3364453" y="3284075"/>
            <a:ext cx="11671959" cy="7289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4" name="文档" r:id="rId4" imgW="3826872" imgH="238987" progId="Word.Document.12">
                    <p:embed/>
                  </p:oleObj>
                </mc:Choice>
                <mc:Fallback>
                  <p:oleObj name="文档" r:id="rId4" imgW="3826872" imgH="23898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364453" y="3284075"/>
                          <a:ext cx="11671959" cy="7289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83813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753808"/>
              </p:ext>
            </p:extLst>
          </p:nvPr>
        </p:nvGraphicFramePr>
        <p:xfrm>
          <a:off x="432445" y="1079847"/>
          <a:ext cx="11671959" cy="1233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8" name="文档" r:id="rId4" imgW="3826872" imgH="404302" progId="Word.Document.12">
                  <p:embed/>
                </p:oleObj>
              </mc:Choice>
              <mc:Fallback>
                <p:oleObj name="文档" r:id="rId4" imgW="3826872" imgH="4043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79847"/>
                        <a:ext cx="11671959" cy="1233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8211392"/>
              </p:ext>
            </p:extLst>
          </p:nvPr>
        </p:nvGraphicFramePr>
        <p:xfrm>
          <a:off x="432445" y="2385823"/>
          <a:ext cx="11671959" cy="2809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9" name="文档" r:id="rId7" imgW="3826872" imgH="921089" progId="Word.Document.12">
                  <p:embed/>
                </p:oleObj>
              </mc:Choice>
              <mc:Fallback>
                <p:oleObj name="文档" r:id="rId7" imgW="3826872" imgH="9210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385823"/>
                        <a:ext cx="11671959" cy="2809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062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用</a:t>
            </a:r>
            <a:r>
              <a:rPr lang="zh-CN" altLang="zh-CN" dirty="0"/>
              <a:t>弧度制表示角及其范围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37437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用弧度表示终边落在下列各图所示阴影部分内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不包括边界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的角的集合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1590386" y="2648474"/>
            <a:ext cx="2880320" cy="3759965"/>
            <a:chOff x="1590386" y="2648474"/>
            <a:chExt cx="2880320" cy="3759965"/>
          </a:xfrm>
        </p:grpSpPr>
        <p:pic>
          <p:nvPicPr>
            <p:cNvPr id="5" name="21Q16.eps" descr="id:214749747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590386" y="2648474"/>
              <a:ext cx="2880320" cy="3331726"/>
            </a:xfrm>
            <a:prstGeom prst="rect">
              <a:avLst/>
            </a:prstGeom>
          </p:spPr>
        </p:pic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2581348" y="5803658"/>
              <a:ext cx="803425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en-US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642630" y="2640828"/>
            <a:ext cx="3574791" cy="3698221"/>
            <a:chOff x="5642630" y="2640828"/>
            <a:chExt cx="3574791" cy="3698221"/>
          </a:xfrm>
        </p:grpSpPr>
        <p:pic>
          <p:nvPicPr>
            <p:cNvPr id="6" name="21Q16a.eps" descr="id:2147497484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642630" y="2640828"/>
              <a:ext cx="3574791" cy="3156372"/>
            </a:xfrm>
            <a:prstGeom prst="rect">
              <a:avLst/>
            </a:prstGeom>
          </p:spPr>
        </p:pic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7226535" y="5734268"/>
              <a:ext cx="596637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14785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先将边界角由角度化为弧度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再根据阴影部分写出角的集合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65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438406"/>
              </p:ext>
            </p:extLst>
          </p:nvPr>
        </p:nvGraphicFramePr>
        <p:xfrm>
          <a:off x="432445" y="903012"/>
          <a:ext cx="10640962" cy="49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文档" r:id="rId4" imgW="3837724" imgH="1793135" progId="Word.Document.12">
                  <p:embed/>
                </p:oleObj>
              </mc:Choice>
              <mc:Fallback>
                <p:oleObj name="文档" r:id="rId4" imgW="3837724" imgH="17931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03012"/>
                        <a:ext cx="10640962" cy="4971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180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524103"/>
            <a:ext cx="13431737" cy="6001643"/>
            <a:chOff x="361950" y="524103"/>
            <a:chExt cx="13431737" cy="600164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24103"/>
              <a:ext cx="10807700" cy="600164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用弧度制表示角应注意的问题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用弧度表示区域角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角度表示区域角在弧度制下的应用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必要时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需进行角度与弧度的换算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注意单位要统一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角度数与弧度数不能混用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在表示角的集合时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可以先写出一周范围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~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~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内的角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再加上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终边在同一直线上的角的集合可以合并为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{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x|x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+k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k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Z};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终边在相互垂直的两直线上的角的集合可以合并为</a:t>
              </a:r>
              <a:endParaRPr lang="zh-CN" altLang="en-US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3747757"/>
                </p:ext>
              </p:extLst>
            </p:nvPr>
          </p:nvGraphicFramePr>
          <p:xfrm>
            <a:off x="2088629" y="5695608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6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088629" y="5695608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7523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9545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以弧度为单位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写出终边落在直线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y=-x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上的角的集合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280127"/>
              </p:ext>
            </p:extLst>
          </p:nvPr>
        </p:nvGraphicFramePr>
        <p:xfrm>
          <a:off x="527050" y="1826546"/>
          <a:ext cx="10639425" cy="456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8" name="文档" r:id="rId4" imgW="3837724" imgH="1650709" progId="Word.Document.12">
                  <p:embed/>
                </p:oleObj>
              </mc:Choice>
              <mc:Fallback>
                <p:oleObj name="文档" r:id="rId4" imgW="3837724" imgH="16507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7050" y="1826546"/>
                        <a:ext cx="10639425" cy="4560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995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扇形</a:t>
            </a:r>
            <a:r>
              <a:rPr lang="zh-CN" altLang="zh-CN" dirty="0"/>
              <a:t>的弧长、面积公式的应用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745781"/>
              </p:ext>
            </p:extLst>
          </p:nvPr>
        </p:nvGraphicFramePr>
        <p:xfrm>
          <a:off x="432445" y="1395496"/>
          <a:ext cx="10607329" cy="270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文档" r:id="rId4" imgW="3477813" imgH="888094" progId="Word.Document.12">
                  <p:embed/>
                </p:oleObj>
              </mc:Choice>
              <mc:Fallback>
                <p:oleObj name="文档" r:id="rId4" imgW="3477813" imgH="8880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395496"/>
                        <a:ext cx="10607329" cy="2708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NMG1TRA12.eps" descr="id:2147497505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4320877" y="4094350"/>
            <a:ext cx="2376264" cy="22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分别表示扇形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ADG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并写出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为何值时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草坪的面积最大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求出最大面积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361950" y="2816411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计算扇形面积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根据条件可得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CF+AG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不大于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列出草坪面积的函数解析式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根据二次函数图象的对称轴与定义区间的位置关系求最值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600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340134"/>
              </p:ext>
            </p:extLst>
          </p:nvPr>
        </p:nvGraphicFramePr>
        <p:xfrm>
          <a:off x="410292" y="863823"/>
          <a:ext cx="10607329" cy="4726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name="文档" r:id="rId4" imgW="3477813" imgH="1549748" progId="Word.Document.12">
                  <p:embed/>
                </p:oleObj>
              </mc:Choice>
              <mc:Fallback>
                <p:oleObj name="文档" r:id="rId4" imgW="3477813" imgH="15497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0292" y="863823"/>
                        <a:ext cx="10607329" cy="47267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3868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970957"/>
              </p:ext>
            </p:extLst>
          </p:nvPr>
        </p:nvGraphicFramePr>
        <p:xfrm>
          <a:off x="432445" y="863823"/>
          <a:ext cx="10607329" cy="4877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文档" r:id="rId4" imgW="3477813" imgH="1599146" progId="Word.Document.12">
                  <p:embed/>
                </p:oleObj>
              </mc:Choice>
              <mc:Fallback>
                <p:oleObj name="文档" r:id="rId4" imgW="3477813" imgH="15991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63823"/>
                        <a:ext cx="10607329" cy="4877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91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078127"/>
            <a:ext cx="10807700" cy="18651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求扇形的弧长和面积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关键在于确定扇形的半径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和扇形的圆心角弧度数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解题时通常要根据已知条件列出方程求解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59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67064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弧度的圆心角所对的弦长为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那么这个圆心角所对的弧长为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876995"/>
              </p:ext>
            </p:extLst>
          </p:nvPr>
        </p:nvGraphicFramePr>
        <p:xfrm>
          <a:off x="432445" y="1898120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name="文档" r:id="rId4" imgW="3826872" imgH="229284" progId="Word.Document.12">
                  <p:embed/>
                </p:oleObj>
              </mc:Choice>
              <mc:Fallback>
                <p:oleObj name="文档" r:id="rId4" imgW="3826872" imgH="22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898120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432445" y="2706535"/>
            <a:ext cx="11671959" cy="2994840"/>
            <a:chOff x="432445" y="3187743"/>
            <a:chExt cx="11671959" cy="2994840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6588632"/>
                </p:ext>
              </p:extLst>
            </p:nvPr>
          </p:nvGraphicFramePr>
          <p:xfrm>
            <a:off x="432445" y="3204462"/>
            <a:ext cx="11671959" cy="2978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1" name="文档" r:id="rId7" imgW="3826872" imgH="976433" progId="Word.Document.12">
                    <p:embed/>
                  </p:oleObj>
                </mc:Choice>
                <mc:Fallback>
                  <p:oleObj name="文档" r:id="rId7" imgW="3826872" imgH="97643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2445" y="3204462"/>
                          <a:ext cx="11671959" cy="297812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NMG1TRA13.eps" descr="id:2147507017;FounderCES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7057181" y="3187743"/>
              <a:ext cx="2232248" cy="2292500"/>
            </a:xfrm>
            <a:prstGeom prst="rect">
              <a:avLst/>
            </a:prstGeom>
          </p:spPr>
        </p:pic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413051" y="570137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55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已知一个扇形的面积为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周长为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求圆心角的弧度数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533903"/>
              </p:ext>
            </p:extLst>
          </p:nvPr>
        </p:nvGraphicFramePr>
        <p:xfrm>
          <a:off x="412781" y="2464164"/>
          <a:ext cx="11671959" cy="1928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文档" r:id="rId4" imgW="3826872" imgH="632148" progId="Word.Document.12">
                  <p:embed/>
                </p:oleObj>
              </mc:Choice>
              <mc:Fallback>
                <p:oleObj name="文档" r:id="rId4" imgW="3826872" imgH="6321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2781" y="2464164"/>
                        <a:ext cx="11671959" cy="1928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561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980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因角度制与弧度制混用致错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1 485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化成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的形式为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1 485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315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1 485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可以表示为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315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315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化为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形式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出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315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724489"/>
              </p:ext>
            </p:extLst>
          </p:nvPr>
        </p:nvGraphicFramePr>
        <p:xfrm>
          <a:off x="432445" y="1060183"/>
          <a:ext cx="11671959" cy="1221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3" name="文档" r:id="rId4" imgW="3826872" imgH="400348" progId="Word.Document.12">
                  <p:embed/>
                </p:oleObj>
              </mc:Choice>
              <mc:Fallback>
                <p:oleObj name="文档" r:id="rId4" imgW="3826872" imgH="4003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60183"/>
                        <a:ext cx="11671959" cy="1221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804518"/>
              </p:ext>
            </p:extLst>
          </p:nvPr>
        </p:nvGraphicFramePr>
        <p:xfrm>
          <a:off x="432445" y="2366159"/>
          <a:ext cx="11671959" cy="694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84" name="文档" r:id="rId7" imgW="3826872" imgH="227846" progId="Word.Document.12">
                  <p:embed/>
                </p:oleObj>
              </mc:Choice>
              <mc:Fallback>
                <p:oleObj name="文档" r:id="rId7" imgW="3826872" imgH="2278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366159"/>
                        <a:ext cx="11671959" cy="694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61950" y="3187743"/>
                <a:ext cx="10807700" cy="206178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en-US" dirty="0">
                    <a:solidFill>
                      <a:srgbClr val="000000"/>
                    </a:solidFill>
                    <a:latin typeface="+mn-lt"/>
                    <a:cs typeface="Times New Roman" panose="02020603050405020304" pitchFamily="18" charset="0"/>
                  </a:rPr>
                  <a:t>防范措施</a:t>
                </a:r>
                <a:endParaRPr lang="zh-CN" altLang="zh-CN" dirty="0">
                  <a:solidFill>
                    <a:srgbClr val="000000"/>
                  </a:solidFill>
                  <a:latin typeface="+mn-lt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 smtClean="0">
                    <a:solidFill>
                      <a:srgbClr val="000000"/>
                    </a:solidFill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在</a:t>
                </a:r>
                <a:r>
                  <a:rPr lang="zh-CN" altLang="zh-CN" dirty="0">
                    <a:solidFill>
                      <a:srgbClr val="000000"/>
                    </a:solidFill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同一式子中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两种单位不能混用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如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45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°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k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Microsoft Yi Baiti" panose="03000500000000000000" pitchFamily="66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∈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Z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k·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360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ea"/>
                    <a:ea typeface="+mn-ea"/>
                    <a:cs typeface="Times New Roman" panose="02020603050405020304" pitchFamily="18" charset="0"/>
                  </a:rPr>
                  <a:t>°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Microsoft Yi Baiti" panose="03000500000000000000" pitchFamily="66" charset="0"/>
                            <a:cs typeface="Times New Roman" panose="020206030504050203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CN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仿宋" panose="02010609060101010101" pitchFamily="49" charset="-122"/>
                    <a:cs typeface="Times New Roman" panose="02020603050405020304" pitchFamily="18" charset="0"/>
                  </a:rPr>
                  <a:t>都是错误的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3187743"/>
                <a:ext cx="10807700" cy="2061783"/>
              </a:xfrm>
              <a:prstGeom prst="rect">
                <a:avLst/>
              </a:prstGeom>
              <a:blipFill rotWithShape="0">
                <a:blip r:embed="rId9"/>
                <a:stretch>
                  <a:fillRect l="-1352" t="-2647" b="-264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68303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647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把下列各角化成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并指出是第几象限角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929754"/>
              </p:ext>
            </p:extLst>
          </p:nvPr>
        </p:nvGraphicFramePr>
        <p:xfrm>
          <a:off x="638637" y="1929267"/>
          <a:ext cx="10607329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2" name="文档" r:id="rId4" imgW="3477813" imgH="238700" progId="Word.Document.12">
                  <p:embed/>
                </p:oleObj>
              </mc:Choice>
              <mc:Fallback>
                <p:oleObj name="文档" r:id="rId4" imgW="3477813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8637" y="1929267"/>
                        <a:ext cx="10607329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264034"/>
              </p:ext>
            </p:extLst>
          </p:nvPr>
        </p:nvGraphicFramePr>
        <p:xfrm>
          <a:off x="611331" y="2730436"/>
          <a:ext cx="10607329" cy="3183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name="文档" r:id="rId7" imgW="3477813" imgH="1043862" progId="Word.Document.12">
                  <p:embed/>
                </p:oleObj>
              </mc:Choice>
              <mc:Fallback>
                <p:oleObj name="文档" r:id="rId7" imgW="3477813" imgH="10438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1331" y="2730436"/>
                        <a:ext cx="10607329" cy="3183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19623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358382"/>
              </p:ext>
            </p:extLst>
          </p:nvPr>
        </p:nvGraphicFramePr>
        <p:xfrm>
          <a:off x="477056" y="739471"/>
          <a:ext cx="11671959" cy="1233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8" name="文档" r:id="rId4" imgW="3826872" imgH="404302" progId="Word.Document.12">
                  <p:embed/>
                </p:oleObj>
              </mc:Choice>
              <mc:Fallback>
                <p:oleObj name="文档" r:id="rId4" imgW="3826872" imgH="4043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7056" y="739471"/>
                        <a:ext cx="11671959" cy="1233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420848"/>
              </p:ext>
            </p:extLst>
          </p:nvPr>
        </p:nvGraphicFramePr>
        <p:xfrm>
          <a:off x="477056" y="2035615"/>
          <a:ext cx="11671959" cy="706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9" name="文档" r:id="rId7" imgW="3826872" imgH="231800" progId="Word.Document.12">
                  <p:embed/>
                </p:oleObj>
              </mc:Choice>
              <mc:Fallback>
                <p:oleObj name="文档" r:id="rId7" imgW="3826872" imgH="2318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7056" y="2035615"/>
                        <a:ext cx="11671959" cy="7069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0437" y="2792511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227922"/>
              </p:ext>
            </p:extLst>
          </p:nvPr>
        </p:nvGraphicFramePr>
        <p:xfrm>
          <a:off x="477056" y="3474464"/>
          <a:ext cx="11671959" cy="1225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0" name="文档" r:id="rId10" imgW="3826872" imgH="401786" progId="Word.Document.12">
                  <p:embed/>
                </p:oleObj>
              </mc:Choice>
              <mc:Fallback>
                <p:oleObj name="文档" r:id="rId10" imgW="3826872" imgH="401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7056" y="3474464"/>
                        <a:ext cx="11671959" cy="1225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238876"/>
              </p:ext>
            </p:extLst>
          </p:nvPr>
        </p:nvGraphicFramePr>
        <p:xfrm>
          <a:off x="477056" y="4699911"/>
          <a:ext cx="11671959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1" name="文档" r:id="rId13" imgW="3826872" imgH="238987" progId="Word.Document.12">
                  <p:embed/>
                </p:oleObj>
              </mc:Choice>
              <mc:Fallback>
                <p:oleObj name="文档" r:id="rId13" imgW="3826872" imgH="23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7056" y="4699911"/>
                        <a:ext cx="11671959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0437" y="5518983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361950" y="100783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若扇形的周长是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圆心角是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弧度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则扇形的面积是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A.16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B.32</a:t>
            </a:r>
            <a:r>
              <a:rPr lang="en-US" altLang="zh-CN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C.16	D.32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0373847"/>
              </p:ext>
            </p:extLst>
          </p:nvPr>
        </p:nvGraphicFramePr>
        <p:xfrm>
          <a:off x="432445" y="2240015"/>
          <a:ext cx="11671959" cy="2247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3" name="文档" r:id="rId4" imgW="3826872" imgH="736727" progId="Word.Document.12">
                  <p:embed/>
                </p:oleObj>
              </mc:Choice>
              <mc:Fallback>
                <p:oleObj name="文档" r:id="rId4" imgW="3826872" imgH="7367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240015"/>
                        <a:ext cx="11671959" cy="22470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>
            <a:spLocks noChangeAspect="1"/>
          </p:cNvSpPr>
          <p:nvPr/>
        </p:nvSpPr>
        <p:spPr>
          <a:xfrm>
            <a:off x="361950" y="457304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44591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88429" y="760510"/>
            <a:ext cx="10807700" cy="643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2 370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化成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的形式为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428339"/>
              </p:ext>
            </p:extLst>
          </p:nvPr>
        </p:nvGraphicFramePr>
        <p:xfrm>
          <a:off x="360438" y="1428246"/>
          <a:ext cx="11671959" cy="122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7" name="文档" r:id="rId4" imgW="3826872" imgH="401067" progId="Word.Document.12">
                  <p:embed/>
                </p:oleObj>
              </mc:Choice>
              <mc:Fallback>
                <p:oleObj name="文档" r:id="rId4" imgW="3826872" imgH="4010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8" y="1428246"/>
                        <a:ext cx="11671959" cy="1223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874320"/>
              </p:ext>
            </p:extLst>
          </p:nvPr>
        </p:nvGraphicFramePr>
        <p:xfrm>
          <a:off x="360437" y="2723062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8" name="文档" r:id="rId7" imgW="3826872" imgH="228565" progId="Word.Document.12">
                  <p:embed/>
                </p:oleObj>
              </mc:Choice>
              <mc:Fallback>
                <p:oleObj name="文档" r:id="rId7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2723062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88429" y="350330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已知扇形的半径为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 cm,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圆心角为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求扇形的弧长和面积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821761"/>
              </p:ext>
            </p:extLst>
          </p:nvPr>
        </p:nvGraphicFramePr>
        <p:xfrm>
          <a:off x="288429" y="4750340"/>
          <a:ext cx="11671959" cy="1350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9" name="文档" r:id="rId10" imgW="3826872" imgH="442755" progId="Word.Document.12">
                  <p:embed/>
                </p:oleObj>
              </mc:Choice>
              <mc:Fallback>
                <p:oleObj name="文档" r:id="rId10" imgW="3826872" imgH="4427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8429" y="4750340"/>
                        <a:ext cx="11671959" cy="13504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186142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57</TotalTime>
  <Words>1112</Words>
  <Application>Microsoft Office PowerPoint</Application>
  <PresentationFormat>自定义</PresentationFormat>
  <Paragraphs>86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8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26</cp:revision>
  <dcterms:created xsi:type="dcterms:W3CDTF">2020-09-12T05:36:12Z</dcterms:created>
  <dcterms:modified xsi:type="dcterms:W3CDTF">2025-08-18T05:33:33Z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