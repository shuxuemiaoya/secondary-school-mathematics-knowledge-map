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8"/>
  </p:notesMasterIdLst>
  <p:sldIdLst>
    <p:sldId id="731" r:id="rId2"/>
    <p:sldId id="753" r:id="rId3"/>
    <p:sldId id="736" r:id="rId4"/>
    <p:sldId id="744" r:id="rId5"/>
    <p:sldId id="746" r:id="rId6"/>
    <p:sldId id="749" r:id="rId7"/>
    <p:sldId id="756" r:id="rId8"/>
    <p:sldId id="783" r:id="rId9"/>
    <p:sldId id="757" r:id="rId10"/>
    <p:sldId id="758" r:id="rId11"/>
    <p:sldId id="759" r:id="rId12"/>
    <p:sldId id="784" r:id="rId13"/>
    <p:sldId id="761" r:id="rId14"/>
    <p:sldId id="762" r:id="rId15"/>
    <p:sldId id="763" r:id="rId16"/>
    <p:sldId id="764" r:id="rId17"/>
    <p:sldId id="765" r:id="rId18"/>
    <p:sldId id="737" r:id="rId19"/>
    <p:sldId id="750" r:id="rId20"/>
    <p:sldId id="766" r:id="rId21"/>
    <p:sldId id="785" r:id="rId22"/>
    <p:sldId id="786" r:id="rId23"/>
    <p:sldId id="767" r:id="rId24"/>
    <p:sldId id="768" r:id="rId25"/>
    <p:sldId id="754" r:id="rId26"/>
    <p:sldId id="769" r:id="rId27"/>
    <p:sldId id="770" r:id="rId28"/>
    <p:sldId id="771" r:id="rId29"/>
    <p:sldId id="787" r:id="rId30"/>
    <p:sldId id="755" r:id="rId31"/>
    <p:sldId id="772" r:id="rId32"/>
    <p:sldId id="773" r:id="rId33"/>
    <p:sldId id="774" r:id="rId34"/>
    <p:sldId id="747" r:id="rId35"/>
    <p:sldId id="751" r:id="rId36"/>
    <p:sldId id="775" r:id="rId37"/>
    <p:sldId id="776" r:id="rId38"/>
    <p:sldId id="777" r:id="rId39"/>
    <p:sldId id="778" r:id="rId40"/>
    <p:sldId id="748" r:id="rId41"/>
    <p:sldId id="752" r:id="rId42"/>
    <p:sldId id="779" r:id="rId43"/>
    <p:sldId id="780" r:id="rId44"/>
    <p:sldId id="781" r:id="rId45"/>
    <p:sldId id="782" r:id="rId46"/>
    <p:sldId id="735" r:id="rId47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72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image" Target="../media/image7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image" Target="../media/image9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image" Target="../media/image12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image" Target="../media/image18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image" Target="../media/image21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1.emf"/><Relationship Id="rId1" Type="http://schemas.openxmlformats.org/officeDocument/2006/relationships/image" Target="../media/image30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e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image" Target="../media/image36.e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image" Target="../media/image38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emf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image" Target="../media/image42.emf"/></Relationships>
</file>

<file path=ppt/drawings/_rels/vmlDrawing27.v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image" Target="../media/image44.emf"/></Relationships>
</file>

<file path=ppt/drawings/_rels/vmlDrawing28.v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image" Target="../media/image46.e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e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2" Type="http://schemas.openxmlformats.org/officeDocument/2006/relationships/image" Target="../media/image50.emf"/><Relationship Id="rId1" Type="http://schemas.openxmlformats.org/officeDocument/2006/relationships/image" Target="../media/image49.emf"/></Relationships>
</file>

<file path=ppt/drawings/_rels/vmlDrawing3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3.emf"/><Relationship Id="rId1" Type="http://schemas.openxmlformats.org/officeDocument/2006/relationships/image" Target="../media/image52.emf"/></Relationships>
</file>

<file path=ppt/drawings/_rels/vmlDrawing3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5.emf"/><Relationship Id="rId1" Type="http://schemas.openxmlformats.org/officeDocument/2006/relationships/image" Target="../media/image54.emf"/></Relationships>
</file>

<file path=ppt/drawings/_rels/vmlDrawing3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7.emf"/><Relationship Id="rId1" Type="http://schemas.openxmlformats.org/officeDocument/2006/relationships/image" Target="../media/image56.e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60.emf"/><Relationship Id="rId2" Type="http://schemas.openxmlformats.org/officeDocument/2006/relationships/image" Target="../media/image59.emf"/><Relationship Id="rId1" Type="http://schemas.openxmlformats.org/officeDocument/2006/relationships/image" Target="../media/image58.emf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46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__1.docx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40.xml"/><Relationship Id="rId5" Type="http://schemas.openxmlformats.org/officeDocument/2006/relationships/slide" Target="slide34.xml"/><Relationship Id="rId4" Type="http://schemas.openxmlformats.org/officeDocument/2006/relationships/slide" Target="slide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oleObject" Target="../embeddings/oleObject2.bin"/><Relationship Id="rId7" Type="http://schemas.openxmlformats.org/officeDocument/2006/relationships/package" Target="../embeddings/Microsoft_Word___3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__2.docx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6.emf"/><Relationship Id="rId4" Type="http://schemas.openxmlformats.org/officeDocument/2006/relationships/package" Target="../embeddings/Microsoft_Word___4.docx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oleObject" Target="../embeddings/oleObject5.bin"/><Relationship Id="rId7" Type="http://schemas.openxmlformats.org/officeDocument/2006/relationships/package" Target="../embeddings/Microsoft_Word___6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7.emf"/><Relationship Id="rId4" Type="http://schemas.openxmlformats.org/officeDocument/2006/relationships/package" Target="../embeddings/Microsoft_Word___5.docx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oleObject" Target="../embeddings/oleObject7.bin"/><Relationship Id="rId7" Type="http://schemas.openxmlformats.org/officeDocument/2006/relationships/package" Target="../embeddings/Microsoft_Word___8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9.emf"/><Relationship Id="rId4" Type="http://schemas.openxmlformats.org/officeDocument/2006/relationships/package" Target="../embeddings/Microsoft_Word___7.docx"/><Relationship Id="rId9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3" Type="http://schemas.openxmlformats.org/officeDocument/2006/relationships/oleObject" Target="../embeddings/oleObject9.bin"/><Relationship Id="rId7" Type="http://schemas.openxmlformats.org/officeDocument/2006/relationships/package" Target="../embeddings/Microsoft_Word___10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12.emf"/><Relationship Id="rId4" Type="http://schemas.openxmlformats.org/officeDocument/2006/relationships/package" Target="../embeddings/Microsoft_Word___9.docx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5.jpeg"/><Relationship Id="rId5" Type="http://schemas.openxmlformats.org/officeDocument/2006/relationships/image" Target="../media/image14.emf"/><Relationship Id="rId4" Type="http://schemas.openxmlformats.org/officeDocument/2006/relationships/package" Target="../embeddings/Microsoft_Word___11.docx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6.emf"/><Relationship Id="rId4" Type="http://schemas.openxmlformats.org/officeDocument/2006/relationships/package" Target="../embeddings/Microsoft_Word___12.docx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7.emf"/><Relationship Id="rId4" Type="http://schemas.openxmlformats.org/officeDocument/2006/relationships/package" Target="../embeddings/Microsoft_Word___13.docx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3" Type="http://schemas.openxmlformats.org/officeDocument/2006/relationships/oleObject" Target="../embeddings/oleObject14.bin"/><Relationship Id="rId7" Type="http://schemas.openxmlformats.org/officeDocument/2006/relationships/package" Target="../embeddings/Microsoft_Word___15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18.emf"/><Relationship Id="rId4" Type="http://schemas.openxmlformats.org/officeDocument/2006/relationships/package" Target="../embeddings/Microsoft_Word___14.docx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20.emf"/><Relationship Id="rId4" Type="http://schemas.openxmlformats.org/officeDocument/2006/relationships/package" Target="../embeddings/Microsoft_Word___16.docx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3" Type="http://schemas.openxmlformats.org/officeDocument/2006/relationships/oleObject" Target="../embeddings/oleObject17.bin"/><Relationship Id="rId7" Type="http://schemas.openxmlformats.org/officeDocument/2006/relationships/package" Target="../embeddings/Microsoft_Word___18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18.bin"/><Relationship Id="rId5" Type="http://schemas.openxmlformats.org/officeDocument/2006/relationships/image" Target="../media/image21.emf"/><Relationship Id="rId4" Type="http://schemas.openxmlformats.org/officeDocument/2006/relationships/package" Target="../embeddings/Microsoft_Word___17.docx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23.emf"/><Relationship Id="rId4" Type="http://schemas.openxmlformats.org/officeDocument/2006/relationships/package" Target="../embeddings/Microsoft_Word___19.docx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24.emf"/><Relationship Id="rId4" Type="http://schemas.openxmlformats.org/officeDocument/2006/relationships/package" Target="../embeddings/Microsoft_Word___20.docx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25.emf"/><Relationship Id="rId4" Type="http://schemas.openxmlformats.org/officeDocument/2006/relationships/package" Target="../embeddings/Microsoft_Word___21.docx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26.emf"/><Relationship Id="rId5" Type="http://schemas.openxmlformats.org/officeDocument/2006/relationships/package" Target="../embeddings/Microsoft_Word___22.docx"/><Relationship Id="rId4" Type="http://schemas.openxmlformats.org/officeDocument/2006/relationships/oleObject" Target="../embeddings/oleObject22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28.emf"/><Relationship Id="rId4" Type="http://schemas.openxmlformats.org/officeDocument/2006/relationships/package" Target="../embeddings/Microsoft_Word___23.docx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29.emf"/><Relationship Id="rId4" Type="http://schemas.openxmlformats.org/officeDocument/2006/relationships/package" Target="../embeddings/Microsoft_Word___24.docx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3" Type="http://schemas.openxmlformats.org/officeDocument/2006/relationships/oleObject" Target="../embeddings/oleObject25.bin"/><Relationship Id="rId7" Type="http://schemas.openxmlformats.org/officeDocument/2006/relationships/package" Target="../embeddings/Microsoft_Word___26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26.bin"/><Relationship Id="rId11" Type="http://schemas.openxmlformats.org/officeDocument/2006/relationships/image" Target="../media/image32.emf"/><Relationship Id="rId5" Type="http://schemas.openxmlformats.org/officeDocument/2006/relationships/image" Target="../media/image30.emf"/><Relationship Id="rId10" Type="http://schemas.openxmlformats.org/officeDocument/2006/relationships/package" Target="../embeddings/Microsoft_Word___27.docx"/><Relationship Id="rId4" Type="http://schemas.openxmlformats.org/officeDocument/2006/relationships/package" Target="../embeddings/Microsoft_Word___25.docx"/><Relationship Id="rId9" Type="http://schemas.openxmlformats.org/officeDocument/2006/relationships/oleObject" Target="../embeddings/oleObject27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0.vml"/><Relationship Id="rId5" Type="http://schemas.openxmlformats.org/officeDocument/2006/relationships/image" Target="../media/image33.emf"/><Relationship Id="rId4" Type="http://schemas.openxmlformats.org/officeDocument/2006/relationships/package" Target="../embeddings/Microsoft_Word___28.docx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1.vml"/><Relationship Id="rId5" Type="http://schemas.openxmlformats.org/officeDocument/2006/relationships/image" Target="../media/image34.emf"/><Relationship Id="rId4" Type="http://schemas.openxmlformats.org/officeDocument/2006/relationships/package" Target="../embeddings/Microsoft_Word___29.docx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emf"/><Relationship Id="rId3" Type="http://schemas.openxmlformats.org/officeDocument/2006/relationships/oleObject" Target="../embeddings/oleObject30.bin"/><Relationship Id="rId7" Type="http://schemas.openxmlformats.org/officeDocument/2006/relationships/package" Target="../embeddings/Microsoft_Word___31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31.bin"/><Relationship Id="rId5" Type="http://schemas.openxmlformats.org/officeDocument/2006/relationships/image" Target="../media/image36.emf"/><Relationship Id="rId4" Type="http://schemas.openxmlformats.org/officeDocument/2006/relationships/package" Target="../embeddings/Microsoft_Word___30.docx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emf"/><Relationship Id="rId3" Type="http://schemas.openxmlformats.org/officeDocument/2006/relationships/oleObject" Target="../embeddings/oleObject32.bin"/><Relationship Id="rId7" Type="http://schemas.openxmlformats.org/officeDocument/2006/relationships/package" Target="../embeddings/Microsoft_Word___33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33.bin"/><Relationship Id="rId5" Type="http://schemas.openxmlformats.org/officeDocument/2006/relationships/image" Target="../media/image38.emf"/><Relationship Id="rId4" Type="http://schemas.openxmlformats.org/officeDocument/2006/relationships/package" Target="../embeddings/Microsoft_Word___32.docx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4.vml"/><Relationship Id="rId5" Type="http://schemas.openxmlformats.org/officeDocument/2006/relationships/image" Target="../media/image40.emf"/><Relationship Id="rId4" Type="http://schemas.openxmlformats.org/officeDocument/2006/relationships/package" Target="../embeddings/Microsoft_Word___34.docx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5.vml"/><Relationship Id="rId5" Type="http://schemas.openxmlformats.org/officeDocument/2006/relationships/image" Target="../media/image41.emf"/><Relationship Id="rId4" Type="http://schemas.openxmlformats.org/officeDocument/2006/relationships/package" Target="../embeddings/Microsoft_Word___35.docx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emf"/><Relationship Id="rId3" Type="http://schemas.openxmlformats.org/officeDocument/2006/relationships/oleObject" Target="../embeddings/oleObject36.bin"/><Relationship Id="rId7" Type="http://schemas.openxmlformats.org/officeDocument/2006/relationships/package" Target="../embeddings/Microsoft_Word___37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6.vml"/><Relationship Id="rId6" Type="http://schemas.openxmlformats.org/officeDocument/2006/relationships/oleObject" Target="../embeddings/oleObject37.bin"/><Relationship Id="rId5" Type="http://schemas.openxmlformats.org/officeDocument/2006/relationships/image" Target="../media/image42.emf"/><Relationship Id="rId4" Type="http://schemas.openxmlformats.org/officeDocument/2006/relationships/package" Target="../embeddings/Microsoft_Word___36.docx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emf"/><Relationship Id="rId3" Type="http://schemas.openxmlformats.org/officeDocument/2006/relationships/oleObject" Target="../embeddings/oleObject38.bin"/><Relationship Id="rId7" Type="http://schemas.openxmlformats.org/officeDocument/2006/relationships/package" Target="../embeddings/Microsoft_Word___39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39.bin"/><Relationship Id="rId5" Type="http://schemas.openxmlformats.org/officeDocument/2006/relationships/image" Target="../media/image44.emf"/><Relationship Id="rId4" Type="http://schemas.openxmlformats.org/officeDocument/2006/relationships/package" Target="../embeddings/Microsoft_Word___38.docx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emf"/><Relationship Id="rId3" Type="http://schemas.openxmlformats.org/officeDocument/2006/relationships/oleObject" Target="../embeddings/oleObject40.bin"/><Relationship Id="rId7" Type="http://schemas.openxmlformats.org/officeDocument/2006/relationships/package" Target="../embeddings/Microsoft_Word___41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41.bin"/><Relationship Id="rId5" Type="http://schemas.openxmlformats.org/officeDocument/2006/relationships/image" Target="../media/image46.emf"/><Relationship Id="rId4" Type="http://schemas.openxmlformats.org/officeDocument/2006/relationships/package" Target="../embeddings/Microsoft_Word___40.docx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9.vml"/><Relationship Id="rId5" Type="http://schemas.openxmlformats.org/officeDocument/2006/relationships/image" Target="../media/image48.emf"/><Relationship Id="rId4" Type="http://schemas.openxmlformats.org/officeDocument/2006/relationships/package" Target="../embeddings/Microsoft_Word___42.docx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emf"/><Relationship Id="rId3" Type="http://schemas.openxmlformats.org/officeDocument/2006/relationships/oleObject" Target="../embeddings/oleObject43.bin"/><Relationship Id="rId7" Type="http://schemas.openxmlformats.org/officeDocument/2006/relationships/package" Target="../embeddings/Microsoft_Word___44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0.vml"/><Relationship Id="rId6" Type="http://schemas.openxmlformats.org/officeDocument/2006/relationships/oleObject" Target="../embeddings/oleObject44.bin"/><Relationship Id="rId11" Type="http://schemas.openxmlformats.org/officeDocument/2006/relationships/image" Target="../media/image51.emf"/><Relationship Id="rId5" Type="http://schemas.openxmlformats.org/officeDocument/2006/relationships/image" Target="../media/image49.emf"/><Relationship Id="rId10" Type="http://schemas.openxmlformats.org/officeDocument/2006/relationships/package" Target="../embeddings/Microsoft_Word___45.docx"/><Relationship Id="rId4" Type="http://schemas.openxmlformats.org/officeDocument/2006/relationships/package" Target="../embeddings/Microsoft_Word___43.docx"/><Relationship Id="rId9" Type="http://schemas.openxmlformats.org/officeDocument/2006/relationships/oleObject" Target="../embeddings/oleObject45.bin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emf"/><Relationship Id="rId3" Type="http://schemas.openxmlformats.org/officeDocument/2006/relationships/oleObject" Target="../embeddings/oleObject46.bin"/><Relationship Id="rId7" Type="http://schemas.openxmlformats.org/officeDocument/2006/relationships/package" Target="../embeddings/Microsoft_Word___47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1.vml"/><Relationship Id="rId6" Type="http://schemas.openxmlformats.org/officeDocument/2006/relationships/oleObject" Target="../embeddings/oleObject47.bin"/><Relationship Id="rId5" Type="http://schemas.openxmlformats.org/officeDocument/2006/relationships/image" Target="../media/image52.emf"/><Relationship Id="rId4" Type="http://schemas.openxmlformats.org/officeDocument/2006/relationships/package" Target="../embeddings/Microsoft_Word___46.docx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emf"/><Relationship Id="rId3" Type="http://schemas.openxmlformats.org/officeDocument/2006/relationships/oleObject" Target="../embeddings/oleObject48.bin"/><Relationship Id="rId7" Type="http://schemas.openxmlformats.org/officeDocument/2006/relationships/package" Target="../embeddings/Microsoft_Word___49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2.vml"/><Relationship Id="rId6" Type="http://schemas.openxmlformats.org/officeDocument/2006/relationships/oleObject" Target="../embeddings/oleObject49.bin"/><Relationship Id="rId5" Type="http://schemas.openxmlformats.org/officeDocument/2006/relationships/image" Target="../media/image54.emf"/><Relationship Id="rId4" Type="http://schemas.openxmlformats.org/officeDocument/2006/relationships/package" Target="../embeddings/Microsoft_Word___48.docx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emf"/><Relationship Id="rId3" Type="http://schemas.openxmlformats.org/officeDocument/2006/relationships/oleObject" Target="../embeddings/oleObject50.bin"/><Relationship Id="rId7" Type="http://schemas.openxmlformats.org/officeDocument/2006/relationships/package" Target="../embeddings/Microsoft_Word___51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3.vml"/><Relationship Id="rId6" Type="http://schemas.openxmlformats.org/officeDocument/2006/relationships/oleObject" Target="../embeddings/oleObject51.bin"/><Relationship Id="rId5" Type="http://schemas.openxmlformats.org/officeDocument/2006/relationships/image" Target="../media/image56.emf"/><Relationship Id="rId4" Type="http://schemas.openxmlformats.org/officeDocument/2006/relationships/package" Target="../embeddings/Microsoft_Word___50.docx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emf"/><Relationship Id="rId3" Type="http://schemas.openxmlformats.org/officeDocument/2006/relationships/oleObject" Target="../embeddings/oleObject52.bin"/><Relationship Id="rId7" Type="http://schemas.openxmlformats.org/officeDocument/2006/relationships/package" Target="../embeddings/Microsoft_Word___53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4.vml"/><Relationship Id="rId6" Type="http://schemas.openxmlformats.org/officeDocument/2006/relationships/oleObject" Target="../embeddings/oleObject53.bin"/><Relationship Id="rId11" Type="http://schemas.openxmlformats.org/officeDocument/2006/relationships/image" Target="../media/image60.emf"/><Relationship Id="rId5" Type="http://schemas.openxmlformats.org/officeDocument/2006/relationships/image" Target="../media/image58.emf"/><Relationship Id="rId10" Type="http://schemas.openxmlformats.org/officeDocument/2006/relationships/package" Target="../embeddings/Microsoft_Word___54.docx"/><Relationship Id="rId4" Type="http://schemas.openxmlformats.org/officeDocument/2006/relationships/package" Target="../embeddings/Microsoft_Word___52.docx"/><Relationship Id="rId9" Type="http://schemas.openxmlformats.org/officeDocument/2006/relationships/oleObject" Target="../embeddings/oleObject54.bin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62.jpeg"/><Relationship Id="rId5" Type="http://schemas.openxmlformats.org/officeDocument/2006/relationships/image" Target="../media/image61.emf"/><Relationship Id="rId4" Type="http://schemas.openxmlformats.org/officeDocument/2006/relationships/package" Target="../embeddings/Microsoft_Word___55.docx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361950" y="2503673"/>
            <a:ext cx="10807700" cy="109645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正切函数的性质与图象</a:t>
            </a:r>
            <a:endParaRPr lang="zh-CN" altLang="zh-CN" sz="60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60437" y="1429729"/>
            <a:ext cx="12817424" cy="3456385"/>
            <a:chOff x="360437" y="1429729"/>
            <a:chExt cx="12817424" cy="3456385"/>
          </a:xfrm>
        </p:grpSpPr>
        <p:grpSp>
          <p:nvGrpSpPr>
            <p:cNvPr id="3" name="组合 2"/>
            <p:cNvGrpSpPr/>
            <p:nvPr/>
          </p:nvGrpSpPr>
          <p:grpSpPr>
            <a:xfrm>
              <a:off x="360437" y="1429729"/>
              <a:ext cx="10729192" cy="3456385"/>
              <a:chOff x="360437" y="1429729"/>
              <a:chExt cx="10729192" cy="3456385"/>
            </a:xfrm>
          </p:grpSpPr>
          <p:grpSp>
            <p:nvGrpSpPr>
              <p:cNvPr id="13" name="组合 12"/>
              <p:cNvGrpSpPr/>
              <p:nvPr/>
            </p:nvGrpSpPr>
            <p:grpSpPr>
              <a:xfrm>
                <a:off x="360437" y="1429729"/>
                <a:ext cx="10729192" cy="3456385"/>
                <a:chOff x="360437" y="1947598"/>
                <a:chExt cx="10729192" cy="2360758"/>
              </a:xfrm>
            </p:grpSpPr>
            <p:sp>
              <p:nvSpPr>
                <p:cNvPr id="2" name="圆角矩形 1"/>
                <p:cNvSpPr/>
                <p:nvPr/>
              </p:nvSpPr>
              <p:spPr>
                <a:xfrm>
                  <a:off x="360437" y="1947598"/>
                  <a:ext cx="10729192" cy="2360758"/>
                </a:xfrm>
                <a:prstGeom prst="roundRect">
                  <a:avLst/>
                </a:prstGeom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2" name="直接连接符 11"/>
                <p:cNvCxnSpPr/>
                <p:nvPr/>
              </p:nvCxnSpPr>
              <p:spPr>
                <a:xfrm>
                  <a:off x="2448669" y="1985894"/>
                  <a:ext cx="0" cy="2262392"/>
                </a:xfrm>
                <a:prstGeom prst="line">
                  <a:avLst/>
                </a:prstGeom>
              </p:spPr>
              <p:style>
                <a:lnRef idx="3">
                  <a:schemeClr val="accent4"/>
                </a:lnRef>
                <a:fillRef idx="0">
                  <a:schemeClr val="accent4"/>
                </a:fillRef>
                <a:effectRef idx="2">
                  <a:schemeClr val="accent4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4" name="矩形 13"/>
              <p:cNvSpPr>
                <a:spLocks noChangeAspect="1"/>
              </p:cNvSpPr>
              <p:nvPr/>
            </p:nvSpPr>
            <p:spPr>
              <a:xfrm>
                <a:off x="360437" y="2447999"/>
                <a:ext cx="2086719" cy="119571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dirty="0">
                    <a:solidFill>
                      <a:srgbClr val="000000"/>
                    </a:solidFill>
                    <a:latin typeface="Arial" panose="020B0604020202020204" pitchFamily="34" charset="0"/>
                    <a:cs typeface="Times New Roman" panose="02020603050405020304" pitchFamily="18" charset="0"/>
                  </a:rPr>
                  <a:t>课标定位</a:t>
                </a:r>
                <a:endParaRPr lang="zh-CN" altLang="zh-CN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dirty="0">
                    <a:solidFill>
                      <a:srgbClr val="000000"/>
                    </a:solidFill>
                    <a:latin typeface="Arial" panose="020B0604020202020204" pitchFamily="34" charset="0"/>
                    <a:cs typeface="Times New Roman" panose="02020603050405020304" pitchFamily="18" charset="0"/>
                  </a:rPr>
                  <a:t>素养阐释</a:t>
                </a:r>
                <a:endParaRPr lang="zh-CN" altLang="zh-CN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矩形 14"/>
              <p:cNvSpPr>
                <a:spLocks noChangeAspect="1"/>
              </p:cNvSpPr>
              <p:nvPr/>
            </p:nvSpPr>
            <p:spPr>
              <a:xfrm>
                <a:off x="2552207" y="1545797"/>
                <a:ext cx="8496944" cy="30469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能作出正切函数的图象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endParaRPr lang="zh-CN" altLang="zh-CN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能借助图象理解正切函数在区间</a:t>
                </a:r>
                <a:r>
                  <a:rPr lang="en-US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     </a:t>
                </a:r>
                <a:r>
                  <a:rPr lang="en-US" altLang="zh-CN" dirty="0" smtClean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     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上的性质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endParaRPr lang="zh-CN" altLang="zh-CN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体会数学抽象的过程</a:t>
                </a:r>
                <a:r>
                  <a:rPr lang="en-US" altLang="zh-CN" dirty="0" smtClean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en-US" dirty="0" smtClean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提升</a:t>
                </a:r>
                <a:r>
                  <a:rPr lang="zh-CN" altLang="zh-CN" dirty="0" smtClean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逻辑推理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和数学运算素养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endParaRPr lang="zh-CN" altLang="zh-CN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</p:grpSp>
        <p:graphicFrame>
          <p:nvGraphicFramePr>
            <p:cNvPr id="10" name="对象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63880067"/>
                </p:ext>
              </p:extLst>
            </p:nvPr>
          </p:nvGraphicFramePr>
          <p:xfrm>
            <a:off x="5208418" y="2133193"/>
            <a:ext cx="7969443" cy="6296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86" name="文档" r:id="rId4" imgW="3477813" imgH="274758" progId="Word.Document.12">
                    <p:embed/>
                  </p:oleObj>
                </mc:Choice>
                <mc:Fallback>
                  <p:oleObj name="文档" r:id="rId4" imgW="3477813" imgH="27475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208418" y="2133193"/>
                          <a:ext cx="7969443" cy="62961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50378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87193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7" name="图文框 6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7943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图文框 7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6475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048389"/>
            <a:ext cx="10807700" cy="127419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一、正切函数的周期性和奇偶性</a:t>
            </a:r>
            <a:endParaRPr lang="zh-CN" altLang="en-US" dirty="0"/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正切函数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tan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的定义域是什么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7859145"/>
              </p:ext>
            </p:extLst>
          </p:nvPr>
        </p:nvGraphicFramePr>
        <p:xfrm>
          <a:off x="432445" y="2360214"/>
          <a:ext cx="11671959" cy="7256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4" name="文档" r:id="rId4" imgW="3826872" imgH="237909" progId="Word.Document.12">
                  <p:embed/>
                </p:oleObj>
              </mc:Choice>
              <mc:Fallback>
                <p:oleObj name="文档" r:id="rId4" imgW="3826872" imgH="23790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2360214"/>
                        <a:ext cx="11671959" cy="7256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1963432"/>
              </p:ext>
            </p:extLst>
          </p:nvPr>
        </p:nvGraphicFramePr>
        <p:xfrm>
          <a:off x="432444" y="3203699"/>
          <a:ext cx="11671959" cy="11684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" name="文档" r:id="rId7" imgW="3826872" imgH="383098" progId="Word.Document.12">
                  <p:embed/>
                </p:oleObj>
              </mc:Choice>
              <mc:Fallback>
                <p:oleObj name="文档" r:id="rId7" imgW="3826872" imgH="38309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44" y="3203699"/>
                        <a:ext cx="11671959" cy="11684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60437" y="4429031"/>
            <a:ext cx="2585964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周期性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2355727"/>
              </p:ext>
            </p:extLst>
          </p:nvPr>
        </p:nvGraphicFramePr>
        <p:xfrm>
          <a:off x="360437" y="1375179"/>
          <a:ext cx="11671959" cy="11684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2" name="文档" r:id="rId4" imgW="3826872" imgH="383098" progId="Word.Document.12">
                  <p:embed/>
                </p:oleObj>
              </mc:Choice>
              <mc:Fallback>
                <p:oleObj name="文档" r:id="rId4" imgW="3826872" imgH="38309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1375179"/>
                        <a:ext cx="11671959" cy="11684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>
            <a:spLocks noChangeAspect="1"/>
          </p:cNvSpPr>
          <p:nvPr/>
        </p:nvSpPr>
        <p:spPr>
          <a:xfrm>
            <a:off x="332805" y="2583787"/>
            <a:ext cx="2585964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奇偶性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3236750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周期性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正切函数是</a:t>
            </a:r>
            <a:r>
              <a:rPr lang="zh-CN" altLang="zh-CN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周期函数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周期是</a:t>
            </a:r>
            <a:r>
              <a:rPr lang="en-US" altLang="zh-CN" dirty="0">
                <a:uFill>
                  <a:solidFill>
                    <a:srgbClr val="000000"/>
                  </a:solidFill>
                </a:u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奇偶性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正切函数是</a:t>
            </a:r>
            <a:r>
              <a:rPr lang="zh-CN" altLang="zh-CN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奇函数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612527" y="3317610"/>
            <a:ext cx="1641253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连接符 20"/>
          <p:cNvCxnSpPr/>
          <p:nvPr/>
        </p:nvCxnSpPr>
        <p:spPr>
          <a:xfrm>
            <a:off x="4608355" y="3781708"/>
            <a:ext cx="163939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7575959" y="3317610"/>
            <a:ext cx="247623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3" name="直接连接符 22"/>
          <p:cNvCxnSpPr/>
          <p:nvPr/>
        </p:nvCxnSpPr>
        <p:spPr>
          <a:xfrm>
            <a:off x="7571069" y="3781708"/>
            <a:ext cx="24734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4340541" y="3863409"/>
            <a:ext cx="117447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连接符 24"/>
          <p:cNvCxnSpPr/>
          <p:nvPr/>
        </p:nvCxnSpPr>
        <p:spPr>
          <a:xfrm>
            <a:off x="4336196" y="4327507"/>
            <a:ext cx="117314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4023387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0" grpId="0" animBg="1"/>
      <p:bldP spid="22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1401416"/>
              </p:ext>
            </p:extLst>
          </p:nvPr>
        </p:nvGraphicFramePr>
        <p:xfrm>
          <a:off x="430213" y="735013"/>
          <a:ext cx="10583862" cy="186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24" name="文档" r:id="rId4" imgW="3467489" imgH="610226" progId="Word.Document.12">
                  <p:embed/>
                </p:oleObj>
              </mc:Choice>
              <mc:Fallback>
                <p:oleObj name="文档" r:id="rId4" imgW="3467489" imgH="61022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0213" y="735013"/>
                        <a:ext cx="10583862" cy="1860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1505728"/>
              </p:ext>
            </p:extLst>
          </p:nvPr>
        </p:nvGraphicFramePr>
        <p:xfrm>
          <a:off x="432445" y="2633746"/>
          <a:ext cx="10607329" cy="28582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25" name="文档" r:id="rId7" imgW="3477813" imgH="937132" progId="Word.Document.12">
                  <p:embed/>
                </p:oleObj>
              </mc:Choice>
              <mc:Fallback>
                <p:oleObj name="文档" r:id="rId7" imgW="3477813" imgH="93713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45" y="2633746"/>
                        <a:ext cx="10607329" cy="28582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>
            <a:spLocks noChangeAspect="1"/>
          </p:cNvSpPr>
          <p:nvPr/>
        </p:nvSpPr>
        <p:spPr>
          <a:xfrm>
            <a:off x="308093" y="5446975"/>
            <a:ext cx="1521570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065814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361950" y="935831"/>
            <a:ext cx="13274918" cy="3637919"/>
            <a:chOff x="361950" y="1237144"/>
            <a:chExt cx="13274918" cy="3637919"/>
          </a:xfrm>
        </p:grpSpPr>
        <p:sp>
          <p:nvSpPr>
            <p:cNvPr id="7" name="矩形 6"/>
            <p:cNvSpPr>
              <a:spLocks noChangeAspect="1"/>
            </p:cNvSpPr>
            <p:nvPr/>
          </p:nvSpPr>
          <p:spPr>
            <a:xfrm>
              <a:off x="361950" y="1237144"/>
              <a:ext cx="7487319" cy="36379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方正正中黑简体"/>
                  <a:cs typeface="Times New Roman" panose="02020603050405020304" pitchFamily="18" charset="0"/>
                </a:rPr>
                <a:t>二、正切函数的图象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如图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设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 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        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在平面直角坐标系中画出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角</a:t>
              </a:r>
              <a:r>
                <a:rPr lang="el-GR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α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终边与单位圆的交点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过点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作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轴的垂线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垂足为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过点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(1,0)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作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轴的垂线与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角</a:t>
              </a:r>
              <a:r>
                <a:rPr lang="el-GR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α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终边交于点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T.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你能推导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出</a:t>
              </a:r>
              <a:r>
                <a:rPr lang="el-GR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α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正切值与哪条线段的长度有关吗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1" name="对象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02471534"/>
                </p:ext>
              </p:extLst>
            </p:nvPr>
          </p:nvGraphicFramePr>
          <p:xfrm>
            <a:off x="1975093" y="1785626"/>
            <a:ext cx="11661775" cy="720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2" name="文档" r:id="rId4" imgW="3826872" imgH="239347" progId="Word.Document.12">
                    <p:embed/>
                  </p:oleObj>
                </mc:Choice>
                <mc:Fallback>
                  <p:oleObj name="文档" r:id="rId4" imgW="3826872" imgH="239347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975093" y="1785626"/>
                          <a:ext cx="11661775" cy="7207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3942854"/>
              </p:ext>
            </p:extLst>
          </p:nvPr>
        </p:nvGraphicFramePr>
        <p:xfrm>
          <a:off x="484188" y="4528185"/>
          <a:ext cx="10607675" cy="1323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" name="文档" r:id="rId7" imgW="3467489" imgH="434489" progId="Word.Document.12">
                  <p:embed/>
                </p:oleObj>
              </mc:Choice>
              <mc:Fallback>
                <p:oleObj name="文档" r:id="rId7" imgW="3467489" imgH="43448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84188" y="4528185"/>
                        <a:ext cx="10607675" cy="1323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24N21.eps" descr="id:2147527935;FounderCES"/>
          <p:cNvPicPr/>
          <p:nvPr/>
        </p:nvPicPr>
        <p:blipFill>
          <a:blip r:embed="rId9"/>
          <a:stretch>
            <a:fillRect/>
          </a:stretch>
        </p:blipFill>
        <p:spPr>
          <a:xfrm>
            <a:off x="7932648" y="1727919"/>
            <a:ext cx="3084973" cy="2628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57719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9866964"/>
              </p:ext>
            </p:extLst>
          </p:nvPr>
        </p:nvGraphicFramePr>
        <p:xfrm>
          <a:off x="432445" y="1995744"/>
          <a:ext cx="10607329" cy="7313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6" name="文档" r:id="rId4" imgW="3477813" imgH="239782" progId="Word.Document.12">
                  <p:embed/>
                </p:oleObj>
              </mc:Choice>
              <mc:Fallback>
                <p:oleObj name="文档" r:id="rId4" imgW="3477813" imgH="23978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1995744"/>
                        <a:ext cx="10607329" cy="7313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5908446"/>
              </p:ext>
            </p:extLst>
          </p:nvPr>
        </p:nvGraphicFramePr>
        <p:xfrm>
          <a:off x="432444" y="2859840"/>
          <a:ext cx="10607329" cy="11723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7" name="文档" r:id="rId7" imgW="3477813" imgH="384372" progId="Word.Document.12">
                  <p:embed/>
                </p:oleObj>
              </mc:Choice>
              <mc:Fallback>
                <p:oleObj name="文档" r:id="rId7" imgW="3477813" imgH="38437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44" y="2859840"/>
                        <a:ext cx="10607329" cy="11723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4541524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719807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正切函数的图象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dirty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dirty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正切函数的图象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我们把它叫做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正切曲线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正切曲线是被与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轴平行的一系列直线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____________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所隔开的无穷多支形状相同的曲线组成的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2383082"/>
              </p:ext>
            </p:extLst>
          </p:nvPr>
        </p:nvGraphicFramePr>
        <p:xfrm>
          <a:off x="7705253" y="4762415"/>
          <a:ext cx="10607329" cy="6444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5" name="文档" r:id="rId4" imgW="3477813" imgH="211296" progId="Word.Document.12">
                  <p:embed/>
                </p:oleObj>
              </mc:Choice>
              <mc:Fallback>
                <p:oleObj name="文档" r:id="rId4" imgW="3477813" imgH="21129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705253" y="4762415"/>
                        <a:ext cx="10607329" cy="6444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21Q24.eps" descr="id:2147498793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2880717" y="1336151"/>
            <a:ext cx="4536504" cy="2939994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6337102" y="4296465"/>
            <a:ext cx="159433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6332929" y="4760563"/>
            <a:ext cx="159253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291147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598513"/>
              </p:ext>
            </p:extLst>
          </p:nvPr>
        </p:nvGraphicFramePr>
        <p:xfrm>
          <a:off x="432445" y="2159967"/>
          <a:ext cx="10607329" cy="14626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31" name="文档" r:id="rId4" imgW="3477813" imgH="479564" progId="Word.Document.12">
                  <p:embed/>
                </p:oleObj>
              </mc:Choice>
              <mc:Fallback>
                <p:oleObj name="文档" r:id="rId4" imgW="3477813" imgH="47956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2159967"/>
                        <a:ext cx="10607329" cy="14626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88746968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4401739"/>
              </p:ext>
            </p:extLst>
          </p:nvPr>
        </p:nvGraphicFramePr>
        <p:xfrm>
          <a:off x="504453" y="1511895"/>
          <a:ext cx="11671959" cy="728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4" name="文档" r:id="rId4" imgW="3826872" imgH="239347" progId="Word.Document.12">
                  <p:embed/>
                </p:oleObj>
              </mc:Choice>
              <mc:Fallback>
                <p:oleObj name="文档" r:id="rId4" imgW="3826872" imgH="23934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1511895"/>
                        <a:ext cx="11671959" cy="7289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61950" y="2303983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关于原点对称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B.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关于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轴对称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关于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轴对称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D.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没有对称轴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805431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935831"/>
            <a:ext cx="10807700" cy="64434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三、正切函数的单调性和值域</a:t>
            </a:r>
            <a:endParaRPr lang="zh-CN" altLang="zh-CN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>
            <a:spLocks noChangeAspect="1"/>
          </p:cNvSpPr>
          <p:nvPr/>
        </p:nvSpPr>
        <p:spPr>
          <a:xfrm>
            <a:off x="432445" y="3004614"/>
            <a:ext cx="2895344" cy="6267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单调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递增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endParaRPr lang="zh-CN" alt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3174038"/>
              </p:ext>
            </p:extLst>
          </p:nvPr>
        </p:nvGraphicFramePr>
        <p:xfrm>
          <a:off x="506072" y="3676397"/>
          <a:ext cx="11671959" cy="728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5" name="文档" r:id="rId4" imgW="3826872" imgH="238987" progId="Word.Document.12">
                  <p:embed/>
                </p:oleObj>
              </mc:Choice>
              <mc:Fallback>
                <p:oleObj name="文档" r:id="rId4" imgW="3826872" imgH="23898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6072" y="3676397"/>
                        <a:ext cx="11671959" cy="7289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9212851"/>
              </p:ext>
            </p:extLst>
          </p:nvPr>
        </p:nvGraphicFramePr>
        <p:xfrm>
          <a:off x="536157" y="1712587"/>
          <a:ext cx="10607329" cy="12603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6" name="文档" r:id="rId7" imgW="3477813" imgH="413218" progId="Word.Document.12">
                  <p:embed/>
                </p:oleObj>
              </mc:Choice>
              <mc:Fallback>
                <p:oleObj name="文档" r:id="rId7" imgW="3477813" imgH="41321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36157" y="1712587"/>
                        <a:ext cx="10607329" cy="12603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>
            <a:spLocks noChangeAspect="1"/>
          </p:cNvSpPr>
          <p:nvPr/>
        </p:nvSpPr>
        <p:spPr>
          <a:xfrm>
            <a:off x="506072" y="4608239"/>
            <a:ext cx="2779928" cy="6443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值域是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236232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2690090"/>
              </p:ext>
            </p:extLst>
          </p:nvPr>
        </p:nvGraphicFramePr>
        <p:xfrm>
          <a:off x="355600" y="1655911"/>
          <a:ext cx="11671300" cy="2636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1" name="文档" r:id="rId4" imgW="3837724" imgH="868623" progId="Word.Document.12">
                  <p:embed/>
                </p:oleObj>
              </mc:Choice>
              <mc:Fallback>
                <p:oleObj name="文档" r:id="rId4" imgW="3837724" imgH="8686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5600" y="1655911"/>
                        <a:ext cx="11671300" cy="26368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5270806" y="1660396"/>
            <a:ext cx="4608512" cy="722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5266813" y="2383838"/>
            <a:ext cx="460329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4094095" y="2909634"/>
            <a:ext cx="1620000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4079165" y="3373732"/>
            <a:ext cx="163939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813431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7384020"/>
              </p:ext>
            </p:extLst>
          </p:nvPr>
        </p:nvGraphicFramePr>
        <p:xfrm>
          <a:off x="504453" y="1295871"/>
          <a:ext cx="10607329" cy="7258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8" name="文档" r:id="rId4" imgW="3467489" imgH="237550" progId="Word.Document.12">
                  <p:embed/>
                </p:oleObj>
              </mc:Choice>
              <mc:Fallback>
                <p:oleObj name="文档" r:id="rId4" imgW="3467489" imgH="23755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1295871"/>
                        <a:ext cx="10607329" cy="7258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5349149"/>
              </p:ext>
            </p:extLst>
          </p:nvPr>
        </p:nvGraphicFramePr>
        <p:xfrm>
          <a:off x="504825" y="2060575"/>
          <a:ext cx="10583863" cy="146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9" name="文档" r:id="rId7" imgW="3467489" imgH="481928" progId="Word.Document.12">
                  <p:embed/>
                </p:oleObj>
              </mc:Choice>
              <mc:Fallback>
                <p:oleObj name="文档" r:id="rId7" imgW="3467489" imgH="48192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4825" y="2060575"/>
                        <a:ext cx="10583863" cy="146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>
            <a:spLocks noChangeAspect="1"/>
          </p:cNvSpPr>
          <p:nvPr/>
        </p:nvSpPr>
        <p:spPr>
          <a:xfrm>
            <a:off x="361950" y="3672135"/>
            <a:ext cx="3913251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1]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[1,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+∞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42374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61950" y="954866"/>
            <a:ext cx="11752286" cy="4301445"/>
            <a:chOff x="361950" y="810850"/>
            <a:chExt cx="11752286" cy="4301445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810850"/>
              <a:ext cx="10807700" cy="358136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【思考辨析】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判断下列说法是否正确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正确的在后面的括号内打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√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错误的打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函数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tan 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在其定义域上是增函数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  </a:t>
              </a:r>
              <a:r>
                <a:rPr lang="en-US" altLang="zh-CN" dirty="0"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)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函数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tan 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的图象的对称中心是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k</a:t>
              </a:r>
              <a:r>
                <a:rPr lang="en-US" altLang="zh-CN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,0)(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k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∈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Z)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  </a:t>
              </a:r>
              <a:r>
                <a:rPr lang="en-US" altLang="zh-CN" dirty="0"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)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(3)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正切函数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tan 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无单调递减区间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  </a:t>
              </a:r>
              <a:r>
                <a:rPr lang="en-US" altLang="zh-CN" dirty="0"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√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)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72283785"/>
                </p:ext>
              </p:extLst>
            </p:nvPr>
          </p:nvGraphicFramePr>
          <p:xfrm>
            <a:off x="442277" y="4386673"/>
            <a:ext cx="11671959" cy="7256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88" name="文档" r:id="rId4" imgW="3826872" imgH="237909" progId="Word.Document.12">
                    <p:embed/>
                  </p:oleObj>
                </mc:Choice>
                <mc:Fallback>
                  <p:oleObj name="文档" r:id="rId4" imgW="3826872" imgH="23790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42277" y="4386673"/>
                          <a:ext cx="11671959" cy="72562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" name="矩形 4"/>
          <p:cNvSpPr/>
          <p:nvPr/>
        </p:nvSpPr>
        <p:spPr>
          <a:xfrm>
            <a:off x="7489229" y="2880047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217421" y="3473874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7052436" y="4002282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478495" y="4752255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425334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936501" y="719807"/>
            <a:ext cx="9488422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探究</a:t>
            </a:r>
            <a:r>
              <a:rPr lang="zh-CN" altLang="en-US" dirty="0" smtClean="0"/>
              <a:t>一  求</a:t>
            </a:r>
            <a:r>
              <a:rPr lang="zh-CN" altLang="en-US" dirty="0"/>
              <a:t>与正切函数有关的函数的定义域</a:t>
            </a:r>
            <a:endParaRPr lang="zh-CN" altLang="zh-CN" dirty="0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1508018"/>
              </p:ext>
            </p:extLst>
          </p:nvPr>
        </p:nvGraphicFramePr>
        <p:xfrm>
          <a:off x="504453" y="2159967"/>
          <a:ext cx="11671959" cy="22470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1" name="文档" r:id="rId4" imgW="3826872" imgH="736727" progId="Word.Document.12">
                  <p:embed/>
                </p:oleObj>
              </mc:Choice>
              <mc:Fallback>
                <p:oleObj name="文档" r:id="rId4" imgW="3826872" imgH="73672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2159967"/>
                        <a:ext cx="11671959" cy="22470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8252875"/>
              </p:ext>
            </p:extLst>
          </p:nvPr>
        </p:nvGraphicFramePr>
        <p:xfrm>
          <a:off x="425782" y="853991"/>
          <a:ext cx="11671959" cy="4943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5" name="文档" r:id="rId4" imgW="3837724" imgH="1630877" progId="Word.Document.12">
                  <p:embed/>
                </p:oleObj>
              </mc:Choice>
              <mc:Fallback>
                <p:oleObj name="文档" r:id="rId4" imgW="3837724" imgH="16308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5782" y="853991"/>
                        <a:ext cx="11671959" cy="49434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7587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延伸探究H.eps" descr="id:2147492067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4062812" y="1740537"/>
            <a:ext cx="2740119" cy="499725"/>
          </a:xfrm>
          <a:prstGeom prst="rect">
            <a:avLst/>
          </a:prstGeom>
        </p:spPr>
      </p:pic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0677126"/>
              </p:ext>
            </p:extLst>
          </p:nvPr>
        </p:nvGraphicFramePr>
        <p:xfrm>
          <a:off x="360437" y="2385425"/>
          <a:ext cx="10607329" cy="1286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9" name="文档" r:id="rId5" imgW="3477813" imgH="421872" progId="Word.Document.12">
                  <p:embed/>
                </p:oleObj>
              </mc:Choice>
              <mc:Fallback>
                <p:oleObj name="文档" r:id="rId5" imgW="3477813" imgH="42187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0437" y="2385425"/>
                        <a:ext cx="10607329" cy="12867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28632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6467097"/>
              </p:ext>
            </p:extLst>
          </p:nvPr>
        </p:nvGraphicFramePr>
        <p:xfrm>
          <a:off x="504453" y="863823"/>
          <a:ext cx="10607329" cy="481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3" name="文档" r:id="rId4" imgW="3477813" imgH="1577873" progId="Word.Document.12">
                  <p:embed/>
                </p:oleObj>
              </mc:Choice>
              <mc:Fallback>
                <p:oleObj name="文档" r:id="rId4" imgW="3477813" imgH="157787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863823"/>
                        <a:ext cx="10607329" cy="48125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70540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50605" y="1620719"/>
            <a:ext cx="11681791" cy="2411456"/>
            <a:chOff x="350605" y="1404695"/>
            <a:chExt cx="11681791" cy="2411456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50605" y="1404695"/>
              <a:ext cx="1832553" cy="6832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en-US" sz="3200" b="1" dirty="0" smtClean="0">
                  <a:solidFill>
                    <a:srgbClr val="000000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反思感悟</a:t>
              </a:r>
              <a:endParaRPr lang="zh-CN" altLang="zh-CN" sz="3200" b="1" dirty="0"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81389931"/>
                </p:ext>
              </p:extLst>
            </p:nvPr>
          </p:nvGraphicFramePr>
          <p:xfrm>
            <a:off x="360437" y="2120473"/>
            <a:ext cx="11671959" cy="16956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59" name="文档" r:id="rId4" imgW="3826872" imgH="555960" progId="Word.Document.12">
                    <p:embed/>
                  </p:oleObj>
                </mc:Choice>
                <mc:Fallback>
                  <p:oleObj name="文档" r:id="rId4" imgW="3826872" imgH="55596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60437" y="2120473"/>
                          <a:ext cx="11671959" cy="169567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274018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3542538"/>
              </p:ext>
            </p:extLst>
          </p:nvPr>
        </p:nvGraphicFramePr>
        <p:xfrm>
          <a:off x="288429" y="1410391"/>
          <a:ext cx="11671959" cy="728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25" name="文档" r:id="rId4" imgW="3826872" imgH="238987" progId="Word.Document.12">
                  <p:embed/>
                </p:oleObj>
              </mc:Choice>
              <mc:Fallback>
                <p:oleObj name="文档" r:id="rId4" imgW="3826872" imgH="23898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8429" y="1410391"/>
                        <a:ext cx="11671959" cy="7289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746203"/>
              </p:ext>
            </p:extLst>
          </p:nvPr>
        </p:nvGraphicFramePr>
        <p:xfrm>
          <a:off x="432445" y="2251639"/>
          <a:ext cx="11671959" cy="14238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26" name="文档" r:id="rId7" imgW="3826872" imgH="466834" progId="Word.Document.12">
                  <p:embed/>
                </p:oleObj>
              </mc:Choice>
              <mc:Fallback>
                <p:oleObj name="文档" r:id="rId7" imgW="3826872" imgH="46683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45" y="2251639"/>
                        <a:ext cx="11671959" cy="14238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4523147"/>
              </p:ext>
            </p:extLst>
          </p:nvPr>
        </p:nvGraphicFramePr>
        <p:xfrm>
          <a:off x="432445" y="3810609"/>
          <a:ext cx="11671959" cy="7256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27" name="文档" r:id="rId10" imgW="3826872" imgH="237909" progId="Word.Document.12">
                  <p:embed/>
                </p:oleObj>
              </mc:Choice>
              <mc:Fallback>
                <p:oleObj name="文档" r:id="rId10" imgW="3826872" imgH="23790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32445" y="3810609"/>
                        <a:ext cx="11671959" cy="7256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8440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547168" y="719807"/>
            <a:ext cx="10437264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探究二求与正切函数有关的函数的单调性和周期性</a:t>
            </a:r>
            <a:endParaRPr lang="zh-CN" altLang="zh-CN" dirty="0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4628180"/>
              </p:ext>
            </p:extLst>
          </p:nvPr>
        </p:nvGraphicFramePr>
        <p:xfrm>
          <a:off x="350605" y="2087959"/>
          <a:ext cx="11671959" cy="728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7" name="文档" r:id="rId4" imgW="3826872" imgH="238987" progId="Word.Document.12">
                  <p:embed/>
                </p:oleObj>
              </mc:Choice>
              <mc:Fallback>
                <p:oleObj name="文档" r:id="rId4" imgW="3826872" imgH="23898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0605" y="2087959"/>
                        <a:ext cx="11671959" cy="7289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61950" y="2906206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先化简已知解析式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再根据正切函数的单调性建立不等式求解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7510285"/>
              </p:ext>
            </p:extLst>
          </p:nvPr>
        </p:nvGraphicFramePr>
        <p:xfrm>
          <a:off x="504453" y="1151855"/>
          <a:ext cx="11671959" cy="44249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1" name="文档" r:id="rId4" imgW="3837724" imgH="1455638" progId="Word.Document.12">
                  <p:embed/>
                </p:oleObj>
              </mc:Choice>
              <mc:Fallback>
                <p:oleObj name="文档" r:id="rId4" imgW="3837724" imgH="145563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1151855"/>
                        <a:ext cx="11671959" cy="44249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52679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>
                <a:spLocks noChangeAspect="1"/>
              </p:cNvSpPr>
              <p:nvPr/>
            </p:nvSpPr>
            <p:spPr>
              <a:xfrm>
                <a:off x="361950" y="719807"/>
                <a:ext cx="10807700" cy="560371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029335" algn="l"/>
                    <a:tab pos="1850390" algn="l"/>
                    <a:tab pos="2538095" algn="l"/>
                    <a:tab pos="3221990" algn="l"/>
                  </a:tabLst>
                </a:pPr>
                <a:r>
                  <a:rPr lang="zh-CN" altLang="en-US" dirty="0">
                    <a:solidFill>
                      <a:srgbClr val="000000"/>
                    </a:solidFill>
                    <a:latin typeface="黑体" panose="02010609060101010101" pitchFamily="49" charset="-122"/>
                    <a:cs typeface="Times New Roman" panose="02020603050405020304" pitchFamily="18" charset="0"/>
                  </a:rPr>
                  <a:t>反思感悟</a:t>
                </a:r>
                <a:endParaRPr lang="zh-CN" altLang="zh-CN" dirty="0">
                  <a:solidFill>
                    <a:srgbClr val="000000"/>
                  </a:solidFill>
                  <a:latin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求函数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y=</a:t>
                </a:r>
                <a:r>
                  <a:rPr lang="en-US" altLang="zh-CN" i="1" dirty="0" err="1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dirty="0" err="1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tan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i="1" dirty="0" err="1">
                    <a:solidFill>
                      <a:srgbClr val="000000"/>
                    </a:solidFill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ω</a:t>
                </a:r>
                <a:r>
                  <a:rPr lang="en-US" altLang="zh-CN" i="1" dirty="0" err="1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x+</a:t>
                </a:r>
                <a:r>
                  <a:rPr lang="en-US" altLang="zh-CN" i="1" dirty="0" err="1">
                    <a:solidFill>
                      <a:srgbClr val="000000"/>
                    </a:solidFill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φ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)(</a:t>
                </a:r>
                <a:r>
                  <a:rPr lang="en-US" altLang="zh-CN" i="1" dirty="0" err="1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dirty="0" err="1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en-US" altLang="zh-CN" i="1" dirty="0" err="1">
                    <a:solidFill>
                      <a:srgbClr val="000000"/>
                    </a:solidFill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ω</a:t>
                </a:r>
                <a:r>
                  <a:rPr lang="en-US" altLang="zh-CN" dirty="0" err="1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en-US" altLang="zh-CN" i="1" dirty="0" err="1">
                    <a:solidFill>
                      <a:srgbClr val="000000"/>
                    </a:solidFill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φ</a:t>
                </a: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都是常数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且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≠0,</a:t>
                </a:r>
                <a:r>
                  <a:rPr lang="en-US" altLang="zh-CN" i="1" dirty="0">
                    <a:solidFill>
                      <a:srgbClr val="000000"/>
                    </a:solidFill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ω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≠0)</a:t>
                </a: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的单调区间的</a:t>
                </a:r>
                <a:r>
                  <a:rPr lang="zh-CN" altLang="zh-CN" dirty="0" smtClean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方法</a:t>
                </a:r>
                <a:endParaRPr lang="en-US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(1)</a:t>
                </a: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当</a:t>
                </a:r>
                <a:r>
                  <a:rPr lang="en-US" altLang="zh-CN" i="1" dirty="0">
                    <a:solidFill>
                      <a:srgbClr val="000000"/>
                    </a:solidFill>
                    <a:ea typeface="Microsoft Yi Baiti" panose="03000500000000000000" pitchFamily="66" charset="0"/>
                  </a:rPr>
                  <a:t>ω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&gt;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0</a:t>
                </a: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时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由于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y=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tan</a:t>
                </a:r>
                <a:r>
                  <a:rPr lang="en-US" altLang="zh-CN" dirty="0">
                    <a:solidFill>
                      <a:srgbClr val="000000"/>
                    </a:solidFill>
                    <a:ea typeface="仿宋" panose="02010609060101010101" pitchFamily="49" charset="-122"/>
                  </a:rPr>
                  <a:t> 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x</a:t>
                </a: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在每一个单调区间上都单调递增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故可用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“</a:t>
                </a: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整体代换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”</a:t>
                </a: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思想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令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k</a:t>
                </a:r>
                <a:r>
                  <a:rPr lang="en-US" altLang="zh-CN" dirty="0">
                    <a:solidFill>
                      <a:srgbClr val="000000"/>
                    </a:solidFill>
                    <a:ea typeface="Microsoft Yi Baiti" panose="03000500000000000000" pitchFamily="66" charset="0"/>
                  </a:rPr>
                  <a:t>π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-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i Baiti" panose="03000500000000000000" pitchFamily="66" charset="0"/>
                            <a:cs typeface="Times New Roman" panose="02020603050405020304" pitchFamily="18" charset="0"/>
                          </a:rPr>
                          <m:t>π</m:t>
                        </m:r>
                      </m:num>
                      <m:den>
                        <m:r>
                          <a:rPr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&lt;</a:t>
                </a:r>
                <a:r>
                  <a:rPr lang="en-US" altLang="zh-CN" i="1" dirty="0" err="1">
                    <a:solidFill>
                      <a:srgbClr val="000000"/>
                    </a:solidFill>
                    <a:ea typeface="Microsoft Yi Baiti" panose="03000500000000000000" pitchFamily="66" charset="0"/>
                  </a:rPr>
                  <a:t>ω</a:t>
                </a:r>
                <a:r>
                  <a:rPr lang="en-US" altLang="zh-CN" i="1" dirty="0" err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x+</a:t>
                </a:r>
                <a:r>
                  <a:rPr lang="en-US" altLang="zh-CN" i="1" dirty="0" err="1">
                    <a:solidFill>
                      <a:srgbClr val="000000"/>
                    </a:solidFill>
                    <a:ea typeface="Microsoft Yi Baiti" panose="03000500000000000000" pitchFamily="66" charset="0"/>
                  </a:rPr>
                  <a:t>φ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&lt;k</a:t>
                </a:r>
                <a:r>
                  <a:rPr lang="en-US" altLang="zh-CN" dirty="0">
                    <a:solidFill>
                      <a:srgbClr val="000000"/>
                    </a:solidFill>
                    <a:ea typeface="Microsoft Yi Baiti" panose="03000500000000000000" pitchFamily="66" charset="0"/>
                  </a:rPr>
                  <a:t>π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+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i Baiti" panose="03000500000000000000" pitchFamily="66" charset="0"/>
                            <a:cs typeface="Times New Roman" panose="02020603050405020304" pitchFamily="18" charset="0"/>
                          </a:rPr>
                          <m:t>π</m:t>
                        </m:r>
                      </m:num>
                      <m:den>
                        <m:r>
                          <a:rPr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,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k</a:t>
                </a:r>
                <a:r>
                  <a:rPr lang="zh-CN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宋体" panose="02010600030101010101" pitchFamily="2" charset="-122"/>
                  </a:rPr>
                  <a:t>∈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Z,</a:t>
                </a: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解得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x</a:t>
                </a: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的取值范围</a:t>
                </a:r>
                <a:r>
                  <a:rPr lang="en-US" altLang="zh-CN" i="1" dirty="0" smtClean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.</a:t>
                </a:r>
                <a:endParaRPr lang="en-US" altLang="zh-CN" dirty="0" smtClean="0"/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(2)</a:t>
                </a: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当</a:t>
                </a:r>
                <a:r>
                  <a:rPr lang="en-US" altLang="zh-CN" i="1" dirty="0">
                    <a:solidFill>
                      <a:srgbClr val="000000"/>
                    </a:solidFill>
                    <a:ea typeface="Microsoft Yi Baiti" panose="03000500000000000000" pitchFamily="66" charset="0"/>
                  </a:rPr>
                  <a:t>ω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&lt;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0</a:t>
                </a: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时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可利用诱导公式先把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y=</a:t>
                </a:r>
                <a:r>
                  <a:rPr lang="en-US" altLang="zh-CN" i="1" dirty="0" err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A</a:t>
                </a:r>
                <a:r>
                  <a:rPr lang="en-US" altLang="zh-CN" dirty="0" err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tan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(</a:t>
                </a:r>
                <a:r>
                  <a:rPr lang="en-US" altLang="zh-CN" i="1" dirty="0" err="1">
                    <a:solidFill>
                      <a:srgbClr val="000000"/>
                    </a:solidFill>
                    <a:ea typeface="Microsoft Yi Baiti" panose="03000500000000000000" pitchFamily="66" charset="0"/>
                  </a:rPr>
                  <a:t>ω</a:t>
                </a:r>
                <a:r>
                  <a:rPr lang="en-US" altLang="zh-CN" i="1" dirty="0" err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x+</a:t>
                </a:r>
                <a:r>
                  <a:rPr lang="en-US" altLang="zh-CN" i="1" dirty="0" err="1">
                    <a:solidFill>
                      <a:srgbClr val="000000"/>
                    </a:solidFill>
                    <a:ea typeface="Microsoft Yi Baiti" panose="03000500000000000000" pitchFamily="66" charset="0"/>
                  </a:rPr>
                  <a:t>φ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)</a:t>
                </a: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转化为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y=</a:t>
                </a:r>
                <a:r>
                  <a:rPr lang="en-US" altLang="zh-CN" i="1" dirty="0" err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A</a:t>
                </a:r>
                <a:r>
                  <a:rPr lang="en-US" altLang="zh-CN" dirty="0" err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tan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[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-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(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-</a:t>
                </a:r>
                <a:r>
                  <a:rPr lang="en-US" altLang="zh-CN" i="1" dirty="0" err="1">
                    <a:solidFill>
                      <a:srgbClr val="000000"/>
                    </a:solidFill>
                    <a:ea typeface="Microsoft Yi Baiti" panose="03000500000000000000" pitchFamily="66" charset="0"/>
                  </a:rPr>
                  <a:t>ω</a:t>
                </a:r>
                <a:r>
                  <a:rPr lang="en-US" altLang="zh-CN" i="1" dirty="0" err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x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-</a:t>
                </a:r>
                <a:r>
                  <a:rPr lang="en-US" altLang="zh-CN" i="1" dirty="0">
                    <a:solidFill>
                      <a:srgbClr val="000000"/>
                    </a:solidFill>
                    <a:ea typeface="Microsoft Yi Baiti" panose="03000500000000000000" pitchFamily="66" charset="0"/>
                  </a:rPr>
                  <a:t>φ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)]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=-</a:t>
                </a:r>
                <a:r>
                  <a:rPr lang="en-US" altLang="zh-CN" i="1" dirty="0" err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A</a:t>
                </a:r>
                <a:r>
                  <a:rPr lang="en-US" altLang="zh-CN" dirty="0" err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tan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(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-</a:t>
                </a:r>
                <a:r>
                  <a:rPr lang="en-US" altLang="zh-CN" i="1" dirty="0" err="1">
                    <a:solidFill>
                      <a:srgbClr val="000000"/>
                    </a:solidFill>
                    <a:ea typeface="Microsoft Yi Baiti" panose="03000500000000000000" pitchFamily="66" charset="0"/>
                  </a:rPr>
                  <a:t>ω</a:t>
                </a:r>
                <a:r>
                  <a:rPr lang="en-US" altLang="zh-CN" i="1" dirty="0" err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x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-</a:t>
                </a:r>
                <a:r>
                  <a:rPr lang="en-US" altLang="zh-CN" i="1" dirty="0">
                    <a:solidFill>
                      <a:srgbClr val="000000"/>
                    </a:solidFill>
                    <a:ea typeface="Microsoft Yi Baiti" panose="03000500000000000000" pitchFamily="66" charset="0"/>
                  </a:rPr>
                  <a:t>φ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),</a:t>
                </a: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即把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x</a:t>
                </a: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的系数化为正值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再利用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“</a:t>
                </a: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整体代换</a:t>
                </a:r>
                <a:r>
                  <a:rPr lang="en-US" altLang="zh-CN" smtClean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”</a:t>
                </a:r>
                <a:r>
                  <a:rPr lang="zh-CN" altLang="zh-CN" smtClean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思想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求得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x</a:t>
                </a: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的取值范围</a:t>
                </a:r>
                <a:r>
                  <a:rPr lang="en-US" altLang="zh-CN" i="1" dirty="0" smtClean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.</a:t>
                </a:r>
                <a:endParaRPr lang="zh-CN" altLang="en-US" dirty="0"/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950" y="719807"/>
                <a:ext cx="10807700" cy="5603714"/>
              </a:xfrm>
              <a:prstGeom prst="rect">
                <a:avLst/>
              </a:prstGeom>
              <a:blipFill rotWithShape="0">
                <a:blip r:embed="rId2"/>
                <a:stretch>
                  <a:fillRect l="-1352" t="-977" r="-958" b="-152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/>
          <p:cNvSpPr>
            <a:spLocks noChangeAspect="1"/>
          </p:cNvSpPr>
          <p:nvPr/>
        </p:nvSpPr>
        <p:spPr>
          <a:xfrm>
            <a:off x="361950" y="1320004"/>
            <a:ext cx="10807700" cy="63171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93355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121221"/>
              </p:ext>
            </p:extLst>
          </p:nvPr>
        </p:nvGraphicFramePr>
        <p:xfrm>
          <a:off x="338284" y="978343"/>
          <a:ext cx="10607329" cy="14626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00" name="文档" r:id="rId4" imgW="3477813" imgH="479564" progId="Word.Document.12">
                  <p:embed/>
                </p:oleObj>
              </mc:Choice>
              <mc:Fallback>
                <p:oleObj name="文档" r:id="rId4" imgW="3477813" imgH="47956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38284" y="978343"/>
                        <a:ext cx="10607329" cy="14626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007919"/>
              </p:ext>
            </p:extLst>
          </p:nvPr>
        </p:nvGraphicFramePr>
        <p:xfrm>
          <a:off x="338284" y="2490511"/>
          <a:ext cx="10607329" cy="2165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01" name="文档" r:id="rId7" imgW="3477813" imgH="709971" progId="Word.Document.12">
                  <p:embed/>
                </p:oleObj>
              </mc:Choice>
              <mc:Fallback>
                <p:oleObj name="文档" r:id="rId7" imgW="3477813" imgH="70997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38284" y="2490511"/>
                        <a:ext cx="10607329" cy="21654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04574" y="4687567"/>
            <a:ext cx="145264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1958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8037572"/>
              </p:ext>
            </p:extLst>
          </p:nvPr>
        </p:nvGraphicFramePr>
        <p:xfrm>
          <a:off x="512095" y="1070015"/>
          <a:ext cx="10607329" cy="7313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00" name="文档" r:id="rId4" imgW="3477813" imgH="239782" progId="Word.Document.12">
                  <p:embed/>
                </p:oleObj>
              </mc:Choice>
              <mc:Fallback>
                <p:oleObj name="文档" r:id="rId4" imgW="3477813" imgH="23978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12095" y="1070015"/>
                        <a:ext cx="10607329" cy="7313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3887520"/>
              </p:ext>
            </p:extLst>
          </p:nvPr>
        </p:nvGraphicFramePr>
        <p:xfrm>
          <a:off x="504453" y="1882472"/>
          <a:ext cx="10607329" cy="33443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01" name="文档" r:id="rId7" imgW="3477813" imgH="1096506" progId="Word.Document.12">
                  <p:embed/>
                </p:oleObj>
              </mc:Choice>
              <mc:Fallback>
                <p:oleObj name="文档" r:id="rId7" imgW="3477813" imgH="109650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4453" y="1882472"/>
                        <a:ext cx="10607329" cy="33443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70274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三</a:t>
            </a:r>
            <a:r>
              <a:rPr lang="en-US" altLang="zh-CN" dirty="0" smtClean="0"/>
              <a:t>  </a:t>
            </a:r>
            <a:r>
              <a:rPr lang="zh-CN" altLang="zh-CN" dirty="0" smtClean="0"/>
              <a:t>比较</a:t>
            </a:r>
            <a:r>
              <a:rPr lang="zh-CN" altLang="zh-CN" dirty="0"/>
              <a:t>大小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5478724"/>
              </p:ext>
            </p:extLst>
          </p:nvPr>
        </p:nvGraphicFramePr>
        <p:xfrm>
          <a:off x="504453" y="2177896"/>
          <a:ext cx="11671959" cy="17822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3" name="文档" r:id="rId4" imgW="3826872" imgH="584351" progId="Word.Document.12">
                  <p:embed/>
                </p:oleObj>
              </mc:Choice>
              <mc:Fallback>
                <p:oleObj name="文档" r:id="rId4" imgW="3826872" imgH="58435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2177896"/>
                        <a:ext cx="11671959" cy="17822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956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6373330"/>
              </p:ext>
            </p:extLst>
          </p:nvPr>
        </p:nvGraphicFramePr>
        <p:xfrm>
          <a:off x="432445" y="742655"/>
          <a:ext cx="11671959" cy="44962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7" name="文档" r:id="rId4" imgW="3826872" imgH="1474174" progId="Word.Document.12">
                  <p:embed/>
                </p:oleObj>
              </mc:Choice>
              <mc:Fallback>
                <p:oleObj name="文档" r:id="rId4" imgW="3826872" imgH="147417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742655"/>
                        <a:ext cx="11671959" cy="44962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>
            <a:spLocks noChangeAspect="1"/>
          </p:cNvSpPr>
          <p:nvPr/>
        </p:nvSpPr>
        <p:spPr>
          <a:xfrm>
            <a:off x="360437" y="5335639"/>
            <a:ext cx="3082895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8481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367879"/>
            <a:ext cx="10807700" cy="304698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运用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正切函数的单调性比较大小的步骤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运用正切函数的周期性或诱导公式将角转化到同一单调区间内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运用正切函数的单调性比较大小关系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1058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2618205"/>
              </p:ext>
            </p:extLst>
          </p:nvPr>
        </p:nvGraphicFramePr>
        <p:xfrm>
          <a:off x="206589" y="988175"/>
          <a:ext cx="11671959" cy="728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0" name="文档" r:id="rId4" imgW="3826872" imgH="238987" progId="Word.Document.12">
                  <p:embed/>
                </p:oleObj>
              </mc:Choice>
              <mc:Fallback>
                <p:oleObj name="文档" r:id="rId4" imgW="3826872" imgH="23898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06589" y="988175"/>
                        <a:ext cx="11671959" cy="7289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9880148"/>
              </p:ext>
            </p:extLst>
          </p:nvPr>
        </p:nvGraphicFramePr>
        <p:xfrm>
          <a:off x="321109" y="1828243"/>
          <a:ext cx="11671959" cy="28323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1" name="文档" r:id="rId7" imgW="3826872" imgH="928636" progId="Word.Document.12">
                  <p:embed/>
                </p:oleObj>
              </mc:Choice>
              <mc:Fallback>
                <p:oleObj name="文档" r:id="rId7" imgW="3826872" imgH="92863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21109" y="1828243"/>
                        <a:ext cx="11671959" cy="28323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>
            <a:spLocks noChangeAspect="1"/>
          </p:cNvSpPr>
          <p:nvPr/>
        </p:nvSpPr>
        <p:spPr>
          <a:xfrm>
            <a:off x="375603" y="4721273"/>
            <a:ext cx="1481496" cy="6267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6690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647799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将正切曲线的对称中心误认为是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,0)(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Z)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致错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3739991"/>
              </p:ext>
            </p:extLst>
          </p:nvPr>
        </p:nvGraphicFramePr>
        <p:xfrm>
          <a:off x="432445" y="1266375"/>
          <a:ext cx="11671959" cy="44973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9" name="文档" r:id="rId4" imgW="3826872" imgH="1474533" progId="Word.Document.12">
                  <p:embed/>
                </p:oleObj>
              </mc:Choice>
              <mc:Fallback>
                <p:oleObj name="文档" r:id="rId4" imgW="3826872" imgH="147453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1266375"/>
                        <a:ext cx="11671959" cy="44973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4827728"/>
              </p:ext>
            </p:extLst>
          </p:nvPr>
        </p:nvGraphicFramePr>
        <p:xfrm>
          <a:off x="462135" y="5694081"/>
          <a:ext cx="10607329" cy="6653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80" name="文档" r:id="rId7" imgW="3477813" imgH="218147" progId="Word.Document.12">
                  <p:embed/>
                </p:oleObj>
              </mc:Choice>
              <mc:Fallback>
                <p:oleObj name="文档" r:id="rId7" imgW="3477813" imgH="21814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62135" y="5694081"/>
                        <a:ext cx="10607329" cy="6653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1935571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以上</a:t>
            </a:r>
            <a:r>
              <a:rPr lang="zh-CN" altLang="en-US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解答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过程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中都有哪些错误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出错的原因是什么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你如何改正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怎么防范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误认为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tan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图象的对称中心是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,0)(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致错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531891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2153283"/>
              </p:ext>
            </p:extLst>
          </p:nvPr>
        </p:nvGraphicFramePr>
        <p:xfrm>
          <a:off x="576461" y="732469"/>
          <a:ext cx="11671959" cy="48020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18" name="文档" r:id="rId4" imgW="3826872" imgH="1574440" progId="Word.Document.12">
                  <p:embed/>
                </p:oleObj>
              </mc:Choice>
              <mc:Fallback>
                <p:oleObj name="文档" r:id="rId4" imgW="3826872" imgH="157444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6461" y="732469"/>
                        <a:ext cx="11671959" cy="48020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9506118"/>
              </p:ext>
            </p:extLst>
          </p:nvPr>
        </p:nvGraphicFramePr>
        <p:xfrm>
          <a:off x="576460" y="5645847"/>
          <a:ext cx="11671959" cy="6445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19" name="文档" r:id="rId7" imgW="3826872" imgH="211315" progId="Word.Document.12">
                  <p:embed/>
                </p:oleObj>
              </mc:Choice>
              <mc:Fallback>
                <p:oleObj name="文档" r:id="rId7" imgW="3826872" imgH="21131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76460" y="5645847"/>
                        <a:ext cx="11671959" cy="6445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1689067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433151" y="1876748"/>
            <a:ext cx="1832553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sz="3200" b="1" dirty="0" smtClean="0"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防范措施</a:t>
            </a:r>
            <a:endParaRPr lang="zh-CN" altLang="zh-CN" sz="3200" b="1" dirty="0">
              <a:solidFill>
                <a:srgbClr val="000000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1669509"/>
              </p:ext>
            </p:extLst>
          </p:nvPr>
        </p:nvGraphicFramePr>
        <p:xfrm>
          <a:off x="432445" y="2560012"/>
          <a:ext cx="11671959" cy="12561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2" name="文档" r:id="rId4" imgW="3826872" imgH="411849" progId="Word.Document.12">
                  <p:embed/>
                </p:oleObj>
              </mc:Choice>
              <mc:Fallback>
                <p:oleObj name="文档" r:id="rId4" imgW="3826872" imgH="41184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2560012"/>
                        <a:ext cx="11671959" cy="12561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5390529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8151927"/>
              </p:ext>
            </p:extLst>
          </p:nvPr>
        </p:nvGraphicFramePr>
        <p:xfrm>
          <a:off x="288429" y="1402947"/>
          <a:ext cx="11671959" cy="728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83" name="文档" r:id="rId4" imgW="3826872" imgH="238987" progId="Word.Document.12">
                  <p:embed/>
                </p:oleObj>
              </mc:Choice>
              <mc:Fallback>
                <p:oleObj name="文档" r:id="rId4" imgW="3826872" imgH="23898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8429" y="1402947"/>
                        <a:ext cx="11671959" cy="7289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8117656"/>
              </p:ext>
            </p:extLst>
          </p:nvPr>
        </p:nvGraphicFramePr>
        <p:xfrm>
          <a:off x="432445" y="2241807"/>
          <a:ext cx="11671959" cy="143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84" name="文档" r:id="rId7" imgW="3837724" imgH="486775" progId="Word.Document.12">
                  <p:embed/>
                </p:oleObj>
              </mc:Choice>
              <mc:Fallback>
                <p:oleObj name="文档" r:id="rId7" imgW="3837724" imgH="48677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45" y="2241807"/>
                        <a:ext cx="11671959" cy="143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2518243"/>
              </p:ext>
            </p:extLst>
          </p:nvPr>
        </p:nvGraphicFramePr>
        <p:xfrm>
          <a:off x="454300" y="3807321"/>
          <a:ext cx="11671959" cy="728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85" name="文档" r:id="rId10" imgW="3826872" imgH="238987" progId="Word.Document.12">
                  <p:embed/>
                </p:oleObj>
              </mc:Choice>
              <mc:Fallback>
                <p:oleObj name="文档" r:id="rId10" imgW="3826872" imgH="23898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54300" y="3807321"/>
                        <a:ext cx="11671959" cy="7289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462684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5302785"/>
              </p:ext>
            </p:extLst>
          </p:nvPr>
        </p:nvGraphicFramePr>
        <p:xfrm>
          <a:off x="504453" y="1223863"/>
          <a:ext cx="11671959" cy="20157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86" name="文档" r:id="rId4" imgW="3826872" imgH="660898" progId="Word.Document.12">
                  <p:embed/>
                </p:oleObj>
              </mc:Choice>
              <mc:Fallback>
                <p:oleObj name="文档" r:id="rId4" imgW="3826872" imgH="66089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1223863"/>
                        <a:ext cx="11671959" cy="20157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6253937"/>
              </p:ext>
            </p:extLst>
          </p:nvPr>
        </p:nvGraphicFramePr>
        <p:xfrm>
          <a:off x="504452" y="3374271"/>
          <a:ext cx="11671959" cy="7047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87" name="文档" r:id="rId7" imgW="3826872" imgH="231081" progId="Word.Document.12">
                  <p:embed/>
                </p:oleObj>
              </mc:Choice>
              <mc:Fallback>
                <p:oleObj name="文档" r:id="rId7" imgW="3826872" imgH="23108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4452" y="3374271"/>
                        <a:ext cx="11671959" cy="7047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413211" y="4140999"/>
            <a:ext cx="1521570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9414335"/>
              </p:ext>
            </p:extLst>
          </p:nvPr>
        </p:nvGraphicFramePr>
        <p:xfrm>
          <a:off x="432445" y="657631"/>
          <a:ext cx="11671959" cy="28060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10" name="文档" r:id="rId4" imgW="3826872" imgH="920011" progId="Word.Document.12">
                  <p:embed/>
                </p:oleObj>
              </mc:Choice>
              <mc:Fallback>
                <p:oleObj name="文档" r:id="rId4" imgW="3826872" imgH="92001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657631"/>
                        <a:ext cx="11671959" cy="28060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4833191"/>
              </p:ext>
            </p:extLst>
          </p:nvPr>
        </p:nvGraphicFramePr>
        <p:xfrm>
          <a:off x="432445" y="3496112"/>
          <a:ext cx="11671959" cy="22020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11" name="文档" r:id="rId7" imgW="3826872" imgH="721993" progId="Word.Document.12">
                  <p:embed/>
                </p:oleObj>
              </mc:Choice>
              <mc:Fallback>
                <p:oleObj name="文档" r:id="rId7" imgW="3826872" imgH="72199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45" y="3496112"/>
                        <a:ext cx="11671959" cy="22020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>
            <a:spLocks noChangeAspect="1"/>
          </p:cNvSpPr>
          <p:nvPr/>
        </p:nvSpPr>
        <p:spPr>
          <a:xfrm>
            <a:off x="430557" y="5708023"/>
            <a:ext cx="1521379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4420506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1729183"/>
              </p:ext>
            </p:extLst>
          </p:nvPr>
        </p:nvGraphicFramePr>
        <p:xfrm>
          <a:off x="504453" y="1511895"/>
          <a:ext cx="11671959" cy="7036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34" name="文档" r:id="rId4" imgW="3826872" imgH="230721" progId="Word.Document.12">
                  <p:embed/>
                </p:oleObj>
              </mc:Choice>
              <mc:Fallback>
                <p:oleObj name="文档" r:id="rId4" imgW="3826872" imgH="23072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1511895"/>
                        <a:ext cx="11671959" cy="7036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7536895"/>
              </p:ext>
            </p:extLst>
          </p:nvPr>
        </p:nvGraphicFramePr>
        <p:xfrm>
          <a:off x="504452" y="2313815"/>
          <a:ext cx="11671959" cy="14084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35" name="文档" r:id="rId7" imgW="3826872" imgH="461802" progId="Word.Document.12">
                  <p:embed/>
                </p:oleObj>
              </mc:Choice>
              <mc:Fallback>
                <p:oleObj name="文档" r:id="rId7" imgW="3826872" imgH="46180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4452" y="2313815"/>
                        <a:ext cx="11671959" cy="14084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489835" y="3858663"/>
            <a:ext cx="1481496" cy="6267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2904851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3383483"/>
              </p:ext>
            </p:extLst>
          </p:nvPr>
        </p:nvGraphicFramePr>
        <p:xfrm>
          <a:off x="576461" y="1367879"/>
          <a:ext cx="10607329" cy="7379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3" name="文档" r:id="rId4" imgW="3477813" imgH="241945" progId="Word.Document.12">
                  <p:embed/>
                </p:oleObj>
              </mc:Choice>
              <mc:Fallback>
                <p:oleObj name="文档" r:id="rId4" imgW="3477813" imgH="24194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6461" y="1367879"/>
                        <a:ext cx="10607329" cy="7379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6983005"/>
              </p:ext>
            </p:extLst>
          </p:nvPr>
        </p:nvGraphicFramePr>
        <p:xfrm>
          <a:off x="576460" y="2159967"/>
          <a:ext cx="10607329" cy="14571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4" name="文档" r:id="rId7" imgW="3477813" imgH="477761" progId="Word.Document.12">
                  <p:embed/>
                </p:oleObj>
              </mc:Choice>
              <mc:Fallback>
                <p:oleObj name="文档" r:id="rId7" imgW="3477813" imgH="47776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76460" y="2159967"/>
                        <a:ext cx="10607329" cy="14571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3286144"/>
              </p:ext>
            </p:extLst>
          </p:nvPr>
        </p:nvGraphicFramePr>
        <p:xfrm>
          <a:off x="592522" y="3744143"/>
          <a:ext cx="10607329" cy="527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5" name="文档" r:id="rId10" imgW="3477813" imgH="173076" progId="Word.Document.12">
                  <p:embed/>
                </p:oleObj>
              </mc:Choice>
              <mc:Fallback>
                <p:oleObj name="文档" r:id="rId10" imgW="3477813" imgH="17307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92522" y="3744143"/>
                        <a:ext cx="10607329" cy="5278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93047554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575791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tan 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的定义域、值域和周期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并画出它在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区间</a:t>
            </a: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上的图象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3196728"/>
              </p:ext>
            </p:extLst>
          </p:nvPr>
        </p:nvGraphicFramePr>
        <p:xfrm>
          <a:off x="432445" y="1799927"/>
          <a:ext cx="11671959" cy="2065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4" name="文档" r:id="rId4" imgW="3837724" imgH="688697" progId="Word.Document.12">
                  <p:embed/>
                </p:oleObj>
              </mc:Choice>
              <mc:Fallback>
                <p:oleObj name="文档" r:id="rId4" imgW="3837724" imgH="68869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1799927"/>
                        <a:ext cx="11671959" cy="2065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YMG1TRA41.eps" descr="id:2147508397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3456781" y="3816151"/>
            <a:ext cx="3384376" cy="2498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270594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65</TotalTime>
  <Words>589</Words>
  <Application>Microsoft Office PowerPoint</Application>
  <PresentationFormat>自定义</PresentationFormat>
  <Paragraphs>69</Paragraphs>
  <Slides>46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63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微软雅黑</vt:lpstr>
      <vt:lpstr>Arial</vt:lpstr>
      <vt:lpstr>Calibri</vt:lpstr>
      <vt:lpstr>Cambria Math</vt:lpstr>
      <vt:lpstr>Microsoft Yi Baiti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27</cp:revision>
  <dcterms:created xsi:type="dcterms:W3CDTF">2020-09-12T05:36:12Z</dcterms:created>
  <dcterms:modified xsi:type="dcterms:W3CDTF">2025-08-18T06:37:32Z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