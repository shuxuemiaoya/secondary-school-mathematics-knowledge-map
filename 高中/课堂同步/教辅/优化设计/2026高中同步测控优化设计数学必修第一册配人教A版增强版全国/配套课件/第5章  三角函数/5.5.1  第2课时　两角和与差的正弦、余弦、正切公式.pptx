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37" r:id="rId16"/>
    <p:sldId id="750" r:id="rId17"/>
    <p:sldId id="764" r:id="rId18"/>
    <p:sldId id="765" r:id="rId19"/>
    <p:sldId id="766" r:id="rId20"/>
    <p:sldId id="767" r:id="rId21"/>
    <p:sldId id="754" r:id="rId22"/>
    <p:sldId id="768" r:id="rId23"/>
    <p:sldId id="769" r:id="rId24"/>
    <p:sldId id="770" r:id="rId25"/>
    <p:sldId id="771" r:id="rId26"/>
    <p:sldId id="772" r:id="rId27"/>
    <p:sldId id="773" r:id="rId28"/>
    <p:sldId id="774" r:id="rId29"/>
    <p:sldId id="755" r:id="rId30"/>
    <p:sldId id="775" r:id="rId31"/>
    <p:sldId id="777" r:id="rId32"/>
    <p:sldId id="778" r:id="rId33"/>
    <p:sldId id="787" r:id="rId34"/>
    <p:sldId id="747" r:id="rId35"/>
    <p:sldId id="751" r:id="rId36"/>
    <p:sldId id="779" r:id="rId37"/>
    <p:sldId id="780" r:id="rId38"/>
    <p:sldId id="782" r:id="rId39"/>
    <p:sldId id="783" r:id="rId40"/>
    <p:sldId id="748" r:id="rId41"/>
    <p:sldId id="752" r:id="rId42"/>
    <p:sldId id="784" r:id="rId43"/>
    <p:sldId id="785" r:id="rId44"/>
    <p:sldId id="786" r:id="rId45"/>
    <p:sldId id="735" r:id="rId46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18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image" Target="../media/image44.emf"/><Relationship Id="rId4" Type="http://schemas.openxmlformats.org/officeDocument/2006/relationships/image" Target="../media/image47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45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0.xml"/><Relationship Id="rId5" Type="http://schemas.openxmlformats.org/officeDocument/2006/relationships/slide" Target="slide34.xml"/><Relationship Id="rId4" Type="http://schemas.openxmlformats.org/officeDocument/2006/relationships/slide" Target="slide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9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1.doc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2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4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6.docx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7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9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Word___20.docx"/><Relationship Id="rId4" Type="http://schemas.openxmlformats.org/officeDocument/2006/relationships/oleObject" Target="../embeddings/oleObject20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1.docx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2.bin"/><Relationship Id="rId7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2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4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5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6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7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8.docx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4.emf"/><Relationship Id="rId5" Type="http://schemas.openxmlformats.org/officeDocument/2006/relationships/image" Target="../media/image32.emf"/><Relationship Id="rId10" Type="http://schemas.openxmlformats.org/officeDocument/2006/relationships/package" Target="../embeddings/Microsoft_Word___31.docx"/><Relationship Id="rId4" Type="http://schemas.openxmlformats.org/officeDocument/2006/relationships/package" Target="../embeddings/Microsoft_Word___29.docx"/><Relationship Id="rId9" Type="http://schemas.openxmlformats.org/officeDocument/2006/relationships/oleObject" Target="../embeddings/oleObject31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32.docx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34.docx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5.bin"/><Relationship Id="rId7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5.docx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7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38.bin"/><Relationship Id="rId7" Type="http://schemas.openxmlformats.org/officeDocument/2006/relationships/package" Target="../embeddings/Microsoft_Word___3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3.emf"/><Relationship Id="rId5" Type="http://schemas.openxmlformats.org/officeDocument/2006/relationships/image" Target="../media/image41.emf"/><Relationship Id="rId10" Type="http://schemas.openxmlformats.org/officeDocument/2006/relationships/package" Target="../embeddings/Microsoft_Word___40.docx"/><Relationship Id="rId4" Type="http://schemas.openxmlformats.org/officeDocument/2006/relationships/package" Target="../embeddings/Microsoft_Word___38.docx"/><Relationship Id="rId9" Type="http://schemas.openxmlformats.org/officeDocument/2006/relationships/oleObject" Target="../embeddings/oleObject40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package" Target="../embeddings/Microsoft_Word___44.docx"/><Relationship Id="rId3" Type="http://schemas.openxmlformats.org/officeDocument/2006/relationships/oleObject" Target="../embeddings/oleObject41.bin"/><Relationship Id="rId7" Type="http://schemas.openxmlformats.org/officeDocument/2006/relationships/package" Target="../embeddings/Microsoft_Word___42.docx"/><Relationship Id="rId12" Type="http://schemas.openxmlformats.org/officeDocument/2006/relationships/oleObject" Target="../embeddings/oleObject4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6.emf"/><Relationship Id="rId5" Type="http://schemas.openxmlformats.org/officeDocument/2006/relationships/image" Target="../media/image44.emf"/><Relationship Id="rId10" Type="http://schemas.openxmlformats.org/officeDocument/2006/relationships/package" Target="../embeddings/Microsoft_Word___43.docx"/><Relationship Id="rId4" Type="http://schemas.openxmlformats.org/officeDocument/2006/relationships/package" Target="../embeddings/Microsoft_Word___41.docx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7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oleObject" Target="../embeddings/oleObject45.bin"/><Relationship Id="rId7" Type="http://schemas.openxmlformats.org/officeDocument/2006/relationships/package" Target="../embeddings/Microsoft_Word___4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48.emf"/><Relationship Id="rId4" Type="http://schemas.openxmlformats.org/officeDocument/2006/relationships/package" Target="../embeddings/Microsoft_Word___45.docx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oleObject" Target="../embeddings/oleObject47.bin"/><Relationship Id="rId7" Type="http://schemas.openxmlformats.org/officeDocument/2006/relationships/package" Target="../embeddings/Microsoft_Word___4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50.emf"/><Relationship Id="rId4" Type="http://schemas.openxmlformats.org/officeDocument/2006/relationships/package" Target="../embeddings/Microsoft_Word___47.docx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oleObject" Target="../embeddings/oleObject49.bin"/><Relationship Id="rId7" Type="http://schemas.openxmlformats.org/officeDocument/2006/relationships/package" Target="../embeddings/Microsoft_Word___5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52.emf"/><Relationship Id="rId4" Type="http://schemas.openxmlformats.org/officeDocument/2006/relationships/package" Target="../embeddings/Microsoft_Word___49.docx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244632"/>
            <a:ext cx="10807700" cy="164352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4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4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4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两角和与差的正弦、余弦、正切公式</a:t>
            </a:r>
            <a:endParaRPr lang="zh-CN" altLang="zh-CN" sz="4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4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4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4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4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两角和与差</a:t>
            </a:r>
            <a:r>
              <a:rPr lang="zh-CN" altLang="zh-CN" sz="4000" dirty="0" smtClean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的正弦</a:t>
            </a:r>
            <a:r>
              <a:rPr lang="zh-CN" altLang="zh-CN" sz="4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、余弦</a:t>
            </a:r>
            <a:r>
              <a:rPr lang="zh-CN" altLang="zh-CN" sz="4000" dirty="0" smtClean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、正切</a:t>
            </a:r>
            <a:r>
              <a:rPr lang="zh-CN" altLang="zh-CN" sz="4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公式</a:t>
            </a:r>
            <a:endParaRPr lang="zh-CN" altLang="zh-CN" sz="4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2147859"/>
            <a:ext cx="10807700" cy="60478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083918"/>
            <a:ext cx="10729192" cy="4182225"/>
            <a:chOff x="360437" y="930071"/>
            <a:chExt cx="10729192" cy="418222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930071"/>
              <a:ext cx="10729192" cy="4182225"/>
              <a:chOff x="360437" y="1606325"/>
              <a:chExt cx="10729192" cy="2856516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606325"/>
                <a:ext cx="10729192" cy="2856516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654949"/>
                <a:ext cx="0" cy="2737494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302911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能从两角差的余弦公式推导出两角和与差的正弦、余弦、正切公式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熟记两角和与差的正弦、余弦、正切公式的形式及符号特征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并能利用公式进行求值、计算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体会类比推理的过程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逻辑推理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2386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一、两角和的余弦公式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在两角差的余弦公式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代换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你会得到什么公式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β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baseline="-25000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baseline="-25000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24669" y="3674616"/>
            <a:ext cx="359640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2520677" y="4138714"/>
            <a:ext cx="35923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984490"/>
              </p:ext>
            </p:extLst>
          </p:nvPr>
        </p:nvGraphicFramePr>
        <p:xfrm>
          <a:off x="433151" y="1223863"/>
          <a:ext cx="11671959" cy="2003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文档" r:id="rId4" imgW="3826872" imgH="656945" progId="Word.Document.12">
                  <p:embed/>
                </p:oleObj>
              </mc:Choice>
              <mc:Fallback>
                <p:oleObj name="文档" r:id="rId4" imgW="3826872" imgH="6569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3151" y="1223863"/>
                        <a:ext cx="11671959" cy="20036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125357"/>
              </p:ext>
            </p:extLst>
          </p:nvPr>
        </p:nvGraphicFramePr>
        <p:xfrm>
          <a:off x="432445" y="3341591"/>
          <a:ext cx="11671959" cy="69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文档" r:id="rId7" imgW="3826872" imgH="228565" progId="Word.Document.12">
                  <p:embed/>
                </p:oleObj>
              </mc:Choice>
              <mc:Fallback>
                <p:oleObj name="文档" r:id="rId7" imgW="3826872" imgH="228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3341591"/>
                        <a:ext cx="11671959" cy="69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0101" y="4068991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08560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2599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二、两角和与差的正弦公式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如何利用两角差的余弦公式和诱导公式得到两角和的正弦公式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449635"/>
              </p:ext>
            </p:extLst>
          </p:nvPr>
        </p:nvGraphicFramePr>
        <p:xfrm>
          <a:off x="432445" y="2791125"/>
          <a:ext cx="11671959" cy="2650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文档" r:id="rId4" imgW="3826872" imgH="868979" progId="Word.Document.12">
                  <p:embed/>
                </p:oleObj>
              </mc:Choice>
              <mc:Fallback>
                <p:oleObj name="文档" r:id="rId4" imgW="3826872" imgH="8689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791125"/>
                        <a:ext cx="11671959" cy="26503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313756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151855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怎样由两角和的正弦公式得到两角差的正弦公式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代换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角和与差的正弦公式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046461"/>
              </p:ext>
            </p:extLst>
          </p:nvPr>
        </p:nvGraphicFramePr>
        <p:xfrm>
          <a:off x="-156655" y="2961948"/>
          <a:ext cx="11844910" cy="2419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文档" r:id="rId4" imgW="3883577" imgH="793150" progId="Word.Document.12">
                  <p:embed/>
                </p:oleObj>
              </mc:Choice>
              <mc:Fallback>
                <p:oleObj name="文档" r:id="rId4" imgW="3883577" imgH="7931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56655" y="2961948"/>
                        <a:ext cx="11844910" cy="24191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5328989" y="3674465"/>
            <a:ext cx="403244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5324996" y="4055935"/>
            <a:ext cx="40278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188966" y="4181178"/>
            <a:ext cx="403244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5184973" y="4551890"/>
            <a:ext cx="40278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20330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546512"/>
              </p:ext>
            </p:extLst>
          </p:nvPr>
        </p:nvGraphicFramePr>
        <p:xfrm>
          <a:off x="430213" y="1151855"/>
          <a:ext cx="116459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文档" r:id="rId4" imgW="3826872" imgH="445990" progId="Word.Document.12">
                  <p:embed/>
                </p:oleObj>
              </mc:Choice>
              <mc:Fallback>
                <p:oleObj name="文档" r:id="rId4" imgW="3826872" imgH="4459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151855"/>
                        <a:ext cx="11645900" cy="1355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048389"/>
              </p:ext>
            </p:extLst>
          </p:nvPr>
        </p:nvGraphicFramePr>
        <p:xfrm>
          <a:off x="425782" y="2569724"/>
          <a:ext cx="11671959" cy="1750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文档" r:id="rId7" imgW="3826872" imgH="573929" progId="Word.Document.12">
                  <p:embed/>
                </p:oleObj>
              </mc:Choice>
              <mc:Fallback>
                <p:oleObj name="文档" r:id="rId7" imgW="3826872" imgH="5739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782" y="2569724"/>
                        <a:ext cx="11671959" cy="17504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60437" y="4429031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44801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79847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三、两角和与差的正切公式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怎样由两角和的正弦、余弦公式得到两角和的正切公式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983628"/>
              </p:ext>
            </p:extLst>
          </p:nvPr>
        </p:nvGraphicFramePr>
        <p:xfrm>
          <a:off x="432445" y="2395430"/>
          <a:ext cx="11671959" cy="1293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文档" r:id="rId4" imgW="3826872" imgH="424068" progId="Word.Document.12">
                  <p:embed/>
                </p:oleObj>
              </mc:Choice>
              <mc:Fallback>
                <p:oleObj name="文档" r:id="rId4" imgW="3826872" imgH="4240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395430"/>
                        <a:ext cx="11671959" cy="12934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750638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由两角和的正切公式如何得到两角差的正切公式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替换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即可得到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41431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213480" y="1007839"/>
            <a:ext cx="10956170" cy="4104456"/>
            <a:chOff x="213480" y="935831"/>
            <a:chExt cx="10956170" cy="4104456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935831"/>
              <a:ext cx="10807700" cy="6832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两角和与差的正切公式</a:t>
              </a:r>
              <a:endParaRPr lang="zh-CN" altLang="en-US" dirty="0"/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5547266"/>
                </p:ext>
              </p:extLst>
            </p:nvPr>
          </p:nvGraphicFramePr>
          <p:xfrm>
            <a:off x="213480" y="1583903"/>
            <a:ext cx="10770091" cy="2805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0" name="文档" r:id="rId4" imgW="3884295" imgH="1011653" progId="Word.Document.12">
                    <p:embed/>
                  </p:oleObj>
                </mc:Choice>
                <mc:Fallback>
                  <p:oleObj name="文档" r:id="rId4" imgW="3884295" imgH="101165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3480" y="1583903"/>
                          <a:ext cx="10770091" cy="28050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3822646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(2)S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,T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都叫做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角公式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;S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,T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都叫做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差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角公式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5008683" y="3959202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003878" y="4423300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8008" y="4560647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443203" y="5024745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7535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005085"/>
              </p:ext>
            </p:extLst>
          </p:nvPr>
        </p:nvGraphicFramePr>
        <p:xfrm>
          <a:off x="430213" y="1367879"/>
          <a:ext cx="1164590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name="文档" r:id="rId4" imgW="3826872" imgH="238268" progId="Word.Document.12">
                  <p:embed/>
                </p:oleObj>
              </mc:Choice>
              <mc:Fallback>
                <p:oleObj name="文档" r:id="rId4" imgW="3826872" imgH="2382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367879"/>
                        <a:ext cx="11645900" cy="725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362478"/>
              </p:ext>
            </p:extLst>
          </p:nvPr>
        </p:nvGraphicFramePr>
        <p:xfrm>
          <a:off x="432444" y="2212311"/>
          <a:ext cx="11671959" cy="1785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" name="文档" r:id="rId7" imgW="3826872" imgH="585429" progId="Word.Document.12">
                  <p:embed/>
                </p:oleObj>
              </mc:Choice>
              <mc:Fallback>
                <p:oleObj name="文档" r:id="rId7" imgW="3826872" imgH="5854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2212311"/>
                        <a:ext cx="11671959" cy="17855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432444" y="4011833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85039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761847"/>
            <a:ext cx="11742454" cy="5296384"/>
            <a:chOff x="361950" y="761847"/>
            <a:chExt cx="11742454" cy="5296384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761847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9301531"/>
                </p:ext>
              </p:extLst>
            </p:nvPr>
          </p:nvGraphicFramePr>
          <p:xfrm>
            <a:off x="432445" y="2570419"/>
            <a:ext cx="11671959" cy="3487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8" name="文档" r:id="rId4" imgW="3826872" imgH="1143545" progId="Word.Document.12">
                    <p:embed/>
                  </p:oleObj>
                </mc:Choice>
                <mc:Fallback>
                  <p:oleObj name="文档" r:id="rId4" imgW="3826872" imgH="114354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570419"/>
                          <a:ext cx="11671959" cy="34878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/>
          <p:nvPr/>
        </p:nvSpPr>
        <p:spPr>
          <a:xfrm>
            <a:off x="8569349" y="2595712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024733" y="414749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929389" y="483550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937501" y="547233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76942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给</a:t>
            </a:r>
            <a:r>
              <a:rPr lang="zh-CN" altLang="zh-CN" dirty="0"/>
              <a:t>角求值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317013"/>
              </p:ext>
            </p:extLst>
          </p:nvPr>
        </p:nvGraphicFramePr>
        <p:xfrm>
          <a:off x="432445" y="2231975"/>
          <a:ext cx="11671959" cy="2100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文档" r:id="rId4" imgW="3826872" imgH="688571" progId="Word.Document.12">
                  <p:embed/>
                </p:oleObj>
              </mc:Choice>
              <mc:Fallback>
                <p:oleObj name="文档" r:id="rId4" imgW="3826872" imgH="6885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231975"/>
                        <a:ext cx="11671959" cy="2100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650326"/>
              </p:ext>
            </p:extLst>
          </p:nvPr>
        </p:nvGraphicFramePr>
        <p:xfrm>
          <a:off x="432445" y="853991"/>
          <a:ext cx="10607329" cy="4980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文档" r:id="rId4" imgW="3477813" imgH="1633040" progId="Word.Document.12">
                  <p:embed/>
                </p:oleObj>
              </mc:Choice>
              <mc:Fallback>
                <p:oleObj name="文档" r:id="rId4" imgW="3477813" imgH="16330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53991"/>
                        <a:ext cx="10607329" cy="49807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643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8604"/>
            <a:ext cx="10807700" cy="54107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对于非特殊角的三角函数式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要利用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两角和与差的正弦、余弦、正切公式求出具体数值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一般有以下三种途径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化为特殊角的三角函数值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化为正负相消的项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相消去求值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化为分子、分母形式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先约分再求值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在进行求值过程的变换中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一定要本着先整体后局部的基本原则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整体分析三角函数式的特点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如果整体符合三角公式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那么整体变形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否则要进行局部的变换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746590"/>
              </p:ext>
            </p:extLst>
          </p:nvPr>
        </p:nvGraphicFramePr>
        <p:xfrm>
          <a:off x="504453" y="1162244"/>
          <a:ext cx="11671959" cy="1831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2" name="文档" r:id="rId4" imgW="3826872" imgH="600523" progId="Word.Document.12">
                  <p:embed/>
                </p:oleObj>
              </mc:Choice>
              <mc:Fallback>
                <p:oleObj name="文档" r:id="rId4" imgW="3826872" imgH="6005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162244"/>
                        <a:ext cx="11671959" cy="1831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122396"/>
              </p:ext>
            </p:extLst>
          </p:nvPr>
        </p:nvGraphicFramePr>
        <p:xfrm>
          <a:off x="504453" y="3096071"/>
          <a:ext cx="10607329" cy="1782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文档" r:id="rId7" imgW="3477813" imgH="584491" progId="Word.Document.12">
                  <p:embed/>
                </p:oleObj>
              </mc:Choice>
              <mc:Fallback>
                <p:oleObj name="文档" r:id="rId7" imgW="3477813" imgH="5844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3096071"/>
                        <a:ext cx="10607329" cy="17826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905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70544"/>
              </p:ext>
            </p:extLst>
          </p:nvPr>
        </p:nvGraphicFramePr>
        <p:xfrm>
          <a:off x="482300" y="1151855"/>
          <a:ext cx="10607329" cy="391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文档" r:id="rId4" imgW="3477813" imgH="1284365" progId="Word.Document.12">
                  <p:embed/>
                </p:oleObj>
              </mc:Choice>
              <mc:Fallback>
                <p:oleObj name="文档" r:id="rId4" imgW="3477813" imgH="12843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2300" y="1151855"/>
                        <a:ext cx="10607329" cy="3917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383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给</a:t>
            </a:r>
            <a:r>
              <a:rPr lang="zh-CN" altLang="zh-CN" dirty="0"/>
              <a:t>值求值</a:t>
            </a:r>
            <a:r>
              <a:rPr lang="en-US" altLang="zh-CN" dirty="0"/>
              <a:t>(</a:t>
            </a:r>
            <a:r>
              <a:rPr lang="zh-CN" altLang="zh-CN" dirty="0"/>
              <a:t>角</a:t>
            </a:r>
            <a:r>
              <a:rPr lang="en-US" altLang="zh-CN" dirty="0"/>
              <a:t>)</a:t>
            </a:r>
            <a:endParaRPr lang="zh-CN" altLang="zh-CN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622177"/>
              </p:ext>
            </p:extLst>
          </p:nvPr>
        </p:nvGraphicFramePr>
        <p:xfrm>
          <a:off x="360437" y="1530313"/>
          <a:ext cx="11671959" cy="125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name="文档" r:id="rId4" imgW="3826872" imgH="411849" progId="Word.Document.12">
                  <p:embed/>
                </p:oleObj>
              </mc:Choice>
              <mc:Fallback>
                <p:oleObj name="文档" r:id="rId4" imgW="3826872" imgH="411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530313"/>
                        <a:ext cx="11671959" cy="1256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848973"/>
              </p:ext>
            </p:extLst>
          </p:nvPr>
        </p:nvGraphicFramePr>
        <p:xfrm>
          <a:off x="360913" y="2878801"/>
          <a:ext cx="11671959" cy="2852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文档" r:id="rId7" imgW="3826872" imgH="935105" progId="Word.Document.12">
                  <p:embed/>
                </p:oleObj>
              </mc:Choice>
              <mc:Fallback>
                <p:oleObj name="文档" r:id="rId7" imgW="3826872" imgH="93510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913" y="2878801"/>
                        <a:ext cx="11671959" cy="2852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905488"/>
              </p:ext>
            </p:extLst>
          </p:nvPr>
        </p:nvGraphicFramePr>
        <p:xfrm>
          <a:off x="432445" y="1583903"/>
          <a:ext cx="11671959" cy="291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name="文档" r:id="rId4" imgW="3826872" imgH="955230" progId="Word.Document.12">
                  <p:embed/>
                </p:oleObj>
              </mc:Choice>
              <mc:Fallback>
                <p:oleObj name="文档" r:id="rId4" imgW="3826872" imgH="9552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583903"/>
                        <a:ext cx="11671959" cy="29134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07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971068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496486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本例条件不变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cos(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400768"/>
              </p:ext>
            </p:extLst>
          </p:nvPr>
        </p:nvGraphicFramePr>
        <p:xfrm>
          <a:off x="432445" y="2168553"/>
          <a:ext cx="11671959" cy="2852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文档" r:id="rId5" imgW="3826872" imgH="935105" progId="Word.Document.12">
                  <p:embed/>
                </p:oleObj>
              </mc:Choice>
              <mc:Fallback>
                <p:oleObj name="文档" r:id="rId5" imgW="3826872" imgH="93510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445" y="2168553"/>
                        <a:ext cx="11671959" cy="2852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671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3951034"/>
              </p:ext>
            </p:extLst>
          </p:nvPr>
        </p:nvGraphicFramePr>
        <p:xfrm>
          <a:off x="504453" y="1655911"/>
          <a:ext cx="11671959" cy="2713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文档" r:id="rId4" imgW="3826872" imgH="889823" progId="Word.Document.12">
                  <p:embed/>
                </p:oleObj>
              </mc:Choice>
              <mc:Fallback>
                <p:oleObj name="文档" r:id="rId4" imgW="3826872" imgH="889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655911"/>
                        <a:ext cx="11671959" cy="2713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526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239007"/>
              </p:ext>
            </p:extLst>
          </p:nvPr>
        </p:nvGraphicFramePr>
        <p:xfrm>
          <a:off x="288429" y="595455"/>
          <a:ext cx="11671959" cy="1457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6" name="文档" r:id="rId4" imgW="3837724" imgH="479564" progId="Word.Document.12">
                  <p:embed/>
                </p:oleObj>
              </mc:Choice>
              <mc:Fallback>
                <p:oleObj name="文档" r:id="rId4" imgW="3837724" imgH="4795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595455"/>
                        <a:ext cx="11671959" cy="14578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920660"/>
              </p:ext>
            </p:extLst>
          </p:nvPr>
        </p:nvGraphicFramePr>
        <p:xfrm>
          <a:off x="288428" y="2015951"/>
          <a:ext cx="11671959" cy="437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7" name="文档" r:id="rId7" imgW="3826872" imgH="1434283" progId="Word.Document.12">
                  <p:embed/>
                </p:oleObj>
              </mc:Choice>
              <mc:Fallback>
                <p:oleObj name="文档" r:id="rId7" imgW="3826872" imgH="14342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8428" y="2015951"/>
                        <a:ext cx="11671959" cy="4374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3336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930754"/>
            <a:ext cx="10807700" cy="4819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给值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求值问题的解题策略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有两个时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所求角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一般表示为两个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的和或差的形式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有一个时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此时应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</a:t>
            </a:r>
            <a:r>
              <a:rPr lang="zh-CN" altLang="en-US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所求角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的和或差的关系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再应用诱导公式把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所求角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变成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给值求角问题本质上为给值求值问题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解题时应注意对角的取值范围加以讨论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以免产生增解或漏解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42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24510"/>
              </p:ext>
            </p:extLst>
          </p:nvPr>
        </p:nvGraphicFramePr>
        <p:xfrm>
          <a:off x="576461" y="1583903"/>
          <a:ext cx="11671959" cy="2857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文档" r:id="rId4" imgW="3837724" imgH="940017" progId="Word.Document.12">
                  <p:embed/>
                </p:oleObj>
              </mc:Choice>
              <mc:Fallback>
                <p:oleObj name="文档" r:id="rId4" imgW="3837724" imgH="9400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583903"/>
                        <a:ext cx="11671959" cy="2857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712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037761"/>
              </p:ext>
            </p:extLst>
          </p:nvPr>
        </p:nvGraphicFramePr>
        <p:xfrm>
          <a:off x="432445" y="726587"/>
          <a:ext cx="11671959" cy="4899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文档" r:id="rId4" imgW="3837724" imgH="1611767" progId="Word.Document.12">
                  <p:embed/>
                </p:oleObj>
              </mc:Choice>
              <mc:Fallback>
                <p:oleObj name="文档" r:id="rId4" imgW="3837724" imgH="16117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26587"/>
                        <a:ext cx="11671959" cy="48995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298261" y="5682663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78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和</a:t>
            </a:r>
            <a:r>
              <a:rPr lang="zh-CN" altLang="zh-CN" dirty="0"/>
              <a:t>角、差角公式的变形使用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763820"/>
              </p:ext>
            </p:extLst>
          </p:nvPr>
        </p:nvGraphicFramePr>
        <p:xfrm>
          <a:off x="425782" y="1799927"/>
          <a:ext cx="11671959" cy="1877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文档" r:id="rId4" imgW="3826872" imgH="615617" progId="Word.Document.12">
                  <p:embed/>
                </p:oleObj>
              </mc:Choice>
              <mc:Fallback>
                <p:oleObj name="文档" r:id="rId4" imgW="3826872" imgH="6156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1799927"/>
                        <a:ext cx="11671959" cy="1877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750638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37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所以可逆用正切公式求解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先提取公因数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再逆用两角和与差的正弦公式或余弦公式求解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457603"/>
              </p:ext>
            </p:extLst>
          </p:nvPr>
        </p:nvGraphicFramePr>
        <p:xfrm>
          <a:off x="576461" y="873655"/>
          <a:ext cx="10607329" cy="4982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name="文档" r:id="rId4" imgW="3477813" imgH="1633762" progId="Word.Document.12">
                  <p:embed/>
                </p:oleObj>
              </mc:Choice>
              <mc:Fallback>
                <p:oleObj name="文档" r:id="rId4" imgW="3477813" imgH="16337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873655"/>
                        <a:ext cx="10607329" cy="4982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298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886671"/>
            <a:ext cx="11703361" cy="4820368"/>
            <a:chOff x="361950" y="1012007"/>
            <a:chExt cx="11703361" cy="4820368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012007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两角和与差的正切公式有两种变形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形式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4614734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研究形如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</a:rPr>
                <a:t> 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x+b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的函数的性质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要逆用两角和差的正弦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或余弦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公式进行变换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8232175"/>
                </p:ext>
              </p:extLst>
            </p:nvPr>
          </p:nvGraphicFramePr>
          <p:xfrm>
            <a:off x="393352" y="2214343"/>
            <a:ext cx="11671959" cy="2344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6" name="文档" r:id="rId4" imgW="3837724" imgH="771268" progId="Word.Document.12">
                    <p:embed/>
                  </p:oleObj>
                </mc:Choice>
                <mc:Fallback>
                  <p:oleObj name="文档" r:id="rId4" imgW="3837724" imgH="77126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93352" y="2214343"/>
                          <a:ext cx="11671959" cy="234457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0036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716395"/>
              </p:ext>
            </p:extLst>
          </p:nvPr>
        </p:nvGraphicFramePr>
        <p:xfrm>
          <a:off x="504453" y="719807"/>
          <a:ext cx="10607329" cy="1897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9" name="文档" r:id="rId4" imgW="3477813" imgH="621990" progId="Word.Document.12">
                  <p:embed/>
                </p:oleObj>
              </mc:Choice>
              <mc:Fallback>
                <p:oleObj name="文档" r:id="rId4" imgW="3477813" imgH="6219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19807"/>
                        <a:ext cx="10607329" cy="18970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10925"/>
              </p:ext>
            </p:extLst>
          </p:nvPr>
        </p:nvGraphicFramePr>
        <p:xfrm>
          <a:off x="502890" y="2615398"/>
          <a:ext cx="10607329" cy="3793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0" name="文档" r:id="rId7" imgW="3477813" imgH="1243620" progId="Word.Document.12">
                  <p:embed/>
                </p:oleObj>
              </mc:Choice>
              <mc:Fallback>
                <p:oleObj name="文档" r:id="rId7" imgW="3477813" imgH="12436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2890" y="2615398"/>
                        <a:ext cx="10607329" cy="3793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420550"/>
              </p:ext>
            </p:extLst>
          </p:nvPr>
        </p:nvGraphicFramePr>
        <p:xfrm>
          <a:off x="7755108" y="4341165"/>
          <a:ext cx="10607329" cy="1295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1" name="文档" r:id="rId10" imgW="3477813" imgH="424756" progId="Word.Document.12">
                  <p:embed/>
                </p:oleObj>
              </mc:Choice>
              <mc:Fallback>
                <p:oleObj name="文档" r:id="rId10" imgW="3477813" imgH="4247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55108" y="4341165"/>
                        <a:ext cx="10607329" cy="1295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715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663256"/>
              </p:ext>
            </p:extLst>
          </p:nvPr>
        </p:nvGraphicFramePr>
        <p:xfrm>
          <a:off x="504453" y="1223863"/>
          <a:ext cx="10607329" cy="561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2" name="文档" r:id="rId4" imgW="3477813" imgH="184253" progId="Word.Document.12">
                  <p:embed/>
                </p:oleObj>
              </mc:Choice>
              <mc:Fallback>
                <p:oleObj name="文档" r:id="rId4" imgW="3477813" imgH="1842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223863"/>
                        <a:ext cx="10607329" cy="5619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652064"/>
              </p:ext>
            </p:extLst>
          </p:nvPr>
        </p:nvGraphicFramePr>
        <p:xfrm>
          <a:off x="504453" y="1881767"/>
          <a:ext cx="10607329" cy="3156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3" name="文档" r:id="rId7" imgW="3477813" imgH="1034848" progId="Word.Document.12">
                  <p:embed/>
                </p:oleObj>
              </mc:Choice>
              <mc:Fallback>
                <p:oleObj name="文档" r:id="rId7" imgW="3477813" imgH="10348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1881767"/>
                        <a:ext cx="10607329" cy="31562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506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3608" y="637967"/>
            <a:ext cx="4304383" cy="6047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忽略角的取值范围致错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98304"/>
              </p:ext>
            </p:extLst>
          </p:nvPr>
        </p:nvGraphicFramePr>
        <p:xfrm>
          <a:off x="504453" y="1293739"/>
          <a:ext cx="10640962" cy="5032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4" name="文档" r:id="rId4" imgW="3837724" imgH="1815130" progId="Word.Document.12">
                  <p:embed/>
                </p:oleObj>
              </mc:Choice>
              <mc:Fallback>
                <p:oleObj name="文档" r:id="rId4" imgW="3837724" imgH="1815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293739"/>
                        <a:ext cx="10640962" cy="5032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76688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没有依据题设条件进一步缩小角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导致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的取值范围过大而致错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73539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67525"/>
              </p:ext>
            </p:extLst>
          </p:nvPr>
        </p:nvGraphicFramePr>
        <p:xfrm>
          <a:off x="504453" y="801647"/>
          <a:ext cx="10607329" cy="4340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4" name="文档" r:id="rId4" imgW="3477813" imgH="1423186" progId="Word.Document.12">
                  <p:embed/>
                </p:oleObj>
              </mc:Choice>
              <mc:Fallback>
                <p:oleObj name="文档" r:id="rId4" imgW="3477813" imgH="14231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01647"/>
                        <a:ext cx="10607329" cy="43407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022007"/>
              </p:ext>
            </p:extLst>
          </p:nvPr>
        </p:nvGraphicFramePr>
        <p:xfrm>
          <a:off x="504453" y="5224606"/>
          <a:ext cx="10607329" cy="699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5" name="文档" r:id="rId7" imgW="3477813" imgH="229325" progId="Word.Document.12">
                  <p:embed/>
                </p:oleObj>
              </mc:Choice>
              <mc:Fallback>
                <p:oleObj name="文档" r:id="rId7" imgW="3477813" imgH="2293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5224606"/>
                        <a:ext cx="10607329" cy="699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776219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449719"/>
            <a:ext cx="12063585" cy="3046988"/>
            <a:chOff x="361950" y="1556928"/>
            <a:chExt cx="12063585" cy="3046988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556928"/>
              <a:ext cx="10807700" cy="304698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防范措施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</a:pPr>
              <a:r>
                <a:rPr lang="zh-CN" altLang="zh-CN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对于</a:t>
              </a:r>
              <a:r>
                <a:rPr lang="zh-CN" altLang="en-US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给</a:t>
              </a:r>
              <a:r>
                <a:rPr lang="zh-CN" altLang="zh-CN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值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求角问题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个别条件所附带的信息有时较为隐蔽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应注意依据需要对题设隐含条件进一步挖掘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如本例要依据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来进一步限定角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的取值范围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0793162"/>
                </p:ext>
              </p:extLst>
            </p:nvPr>
          </p:nvGraphicFramePr>
          <p:xfrm>
            <a:off x="720477" y="3282019"/>
            <a:ext cx="11705058" cy="7258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86" name="文档" r:id="rId4" imgW="3837724" imgH="237979" progId="Word.Document.12">
                    <p:embed/>
                  </p:oleObj>
                </mc:Choice>
                <mc:Fallback>
                  <p:oleObj name="文档" r:id="rId4" imgW="3837724" imgH="23797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20477" y="3282019"/>
                          <a:ext cx="11705058" cy="7258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440820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220553"/>
              </p:ext>
            </p:extLst>
          </p:nvPr>
        </p:nvGraphicFramePr>
        <p:xfrm>
          <a:off x="432445" y="945663"/>
          <a:ext cx="11671959" cy="125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4" name="文档" r:id="rId4" imgW="3826872" imgH="411849" progId="Word.Document.12">
                  <p:embed/>
                </p:oleObj>
              </mc:Choice>
              <mc:Fallback>
                <p:oleObj name="文档" r:id="rId4" imgW="3826872" imgH="411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945663"/>
                        <a:ext cx="11671959" cy="1256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23414"/>
              </p:ext>
            </p:extLst>
          </p:nvPr>
        </p:nvGraphicFramePr>
        <p:xfrm>
          <a:off x="432445" y="2271303"/>
          <a:ext cx="11671959" cy="2259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5" name="文档" r:id="rId7" imgW="3826872" imgH="740681" progId="Word.Document.12">
                  <p:embed/>
                </p:oleObj>
              </mc:Choice>
              <mc:Fallback>
                <p:oleObj name="文档" r:id="rId7" imgW="3826872" imgH="7406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271303"/>
                        <a:ext cx="11671959" cy="22590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372546"/>
              </p:ext>
            </p:extLst>
          </p:nvPr>
        </p:nvGraphicFramePr>
        <p:xfrm>
          <a:off x="432445" y="4653053"/>
          <a:ext cx="11671959" cy="694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6" name="文档" r:id="rId10" imgW="3826872" imgH="227846" progId="Word.Document.12">
                  <p:embed/>
                </p:oleObj>
              </mc:Choice>
              <mc:Fallback>
                <p:oleObj name="文档" r:id="rId10" imgW="3826872" imgH="2278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2445" y="4653053"/>
                        <a:ext cx="11671959" cy="694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232340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367842"/>
              </p:ext>
            </p:extLst>
          </p:nvPr>
        </p:nvGraphicFramePr>
        <p:xfrm>
          <a:off x="504453" y="647799"/>
          <a:ext cx="11671959" cy="1302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6" name="文档" r:id="rId4" imgW="3826872" imgH="426943" progId="Word.Document.12">
                  <p:embed/>
                </p:oleObj>
              </mc:Choice>
              <mc:Fallback>
                <p:oleObj name="文档" r:id="rId4" imgW="3826872" imgH="4269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647799"/>
                        <a:ext cx="11671959" cy="1302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601943"/>
              </p:ext>
            </p:extLst>
          </p:nvPr>
        </p:nvGraphicFramePr>
        <p:xfrm>
          <a:off x="504453" y="1993764"/>
          <a:ext cx="11671959" cy="774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7" name="文档" r:id="rId7" imgW="3826872" imgH="254081" progId="Word.Document.12">
                  <p:embed/>
                </p:oleObj>
              </mc:Choice>
              <mc:Fallback>
                <p:oleObj name="文档" r:id="rId7" imgW="3826872" imgH="2540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1993764"/>
                        <a:ext cx="11671959" cy="7749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402949" y="276301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714342"/>
              </p:ext>
            </p:extLst>
          </p:nvPr>
        </p:nvGraphicFramePr>
        <p:xfrm>
          <a:off x="504453" y="3369428"/>
          <a:ext cx="11671959" cy="139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8" name="文档" r:id="rId10" imgW="3826872" imgH="458209" progId="Word.Document.12">
                  <p:embed/>
                </p:oleObj>
              </mc:Choice>
              <mc:Fallback>
                <p:oleObj name="文档" r:id="rId10" imgW="3826872" imgH="4582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4453" y="3369428"/>
                        <a:ext cx="11671959" cy="1397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94067"/>
              </p:ext>
            </p:extLst>
          </p:nvPr>
        </p:nvGraphicFramePr>
        <p:xfrm>
          <a:off x="504452" y="4792927"/>
          <a:ext cx="11671959" cy="1085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9" name="文档" r:id="rId13" imgW="3826872" imgH="355785" progId="Word.Document.12">
                  <p:embed/>
                </p:oleObj>
              </mc:Choice>
              <mc:Fallback>
                <p:oleObj name="文档" r:id="rId13" imgW="3826872" imgH="355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4452" y="4792927"/>
                        <a:ext cx="11671959" cy="1085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425582" y="5791561"/>
            <a:ext cx="1521379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334440"/>
              </p:ext>
            </p:extLst>
          </p:nvPr>
        </p:nvGraphicFramePr>
        <p:xfrm>
          <a:off x="370269" y="853328"/>
          <a:ext cx="11671959" cy="1424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6" name="文档" r:id="rId4" imgW="3826872" imgH="467193" progId="Word.Document.12">
                  <p:embed/>
                </p:oleObj>
              </mc:Choice>
              <mc:Fallback>
                <p:oleObj name="文档" r:id="rId4" imgW="3826872" imgH="4671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0269" y="853328"/>
                        <a:ext cx="11671959" cy="14249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1356375"/>
              </p:ext>
            </p:extLst>
          </p:nvPr>
        </p:nvGraphicFramePr>
        <p:xfrm>
          <a:off x="371317" y="2257798"/>
          <a:ext cx="11671959" cy="2897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7" name="文档" r:id="rId7" imgW="3826872" imgH="949839" progId="Word.Document.12">
                  <p:embed/>
                </p:oleObj>
              </mc:Choice>
              <mc:Fallback>
                <p:oleObj name="文档" r:id="rId7" imgW="3826872" imgH="9498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1317" y="2257798"/>
                        <a:ext cx="11671959" cy="28970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288429" y="5191623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77539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667683"/>
              </p:ext>
            </p:extLst>
          </p:nvPr>
        </p:nvGraphicFramePr>
        <p:xfrm>
          <a:off x="360437" y="1007839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0" name="文档" r:id="rId4" imgW="3826872" imgH="238987" progId="Word.Document.12">
                  <p:embed/>
                </p:oleObj>
              </mc:Choice>
              <mc:Fallback>
                <p:oleObj name="文档" r:id="rId4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007839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252262"/>
              </p:ext>
            </p:extLst>
          </p:nvPr>
        </p:nvGraphicFramePr>
        <p:xfrm>
          <a:off x="360436" y="1819591"/>
          <a:ext cx="11671959" cy="252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1" name="文档" r:id="rId7" imgW="3826872" imgH="827291" progId="Word.Document.12">
                  <p:embed/>
                </p:oleObj>
              </mc:Choice>
              <mc:Fallback>
                <p:oleObj name="文档" r:id="rId7" imgW="3826872" imgH="8272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6" y="1819591"/>
                        <a:ext cx="11671959" cy="252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0436" y="4342829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76784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189339"/>
              </p:ext>
            </p:extLst>
          </p:nvPr>
        </p:nvGraphicFramePr>
        <p:xfrm>
          <a:off x="425782" y="1295871"/>
          <a:ext cx="11671959" cy="761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4" name="文档" r:id="rId4" imgW="3826872" imgH="249769" progId="Word.Document.12">
                  <p:embed/>
                </p:oleObj>
              </mc:Choice>
              <mc:Fallback>
                <p:oleObj name="文档" r:id="rId4" imgW="3826872" imgH="2497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1295871"/>
                        <a:ext cx="11671959" cy="761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046933"/>
              </p:ext>
            </p:extLst>
          </p:nvPr>
        </p:nvGraphicFramePr>
        <p:xfrm>
          <a:off x="425781" y="2179631"/>
          <a:ext cx="11671959" cy="2649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5" name="文档" r:id="rId7" imgW="3826872" imgH="868620" progId="Word.Document.12">
                  <p:embed/>
                </p:oleObj>
              </mc:Choice>
              <mc:Fallback>
                <p:oleObj name="文档" r:id="rId7" imgW="3826872" imgH="8686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781" y="2179631"/>
                        <a:ext cx="11671959" cy="26492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335399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32</TotalTime>
  <Words>881</Words>
  <Application>Microsoft Office PowerPoint</Application>
  <PresentationFormat>自定义</PresentationFormat>
  <Paragraphs>66</Paragraphs>
  <Slides>45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2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19</cp:revision>
  <dcterms:created xsi:type="dcterms:W3CDTF">2020-09-12T05:36:12Z</dcterms:created>
  <dcterms:modified xsi:type="dcterms:W3CDTF">2025-08-18T06:47:00Z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