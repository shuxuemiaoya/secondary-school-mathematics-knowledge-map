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37" r:id="rId13"/>
    <p:sldId id="750" r:id="rId14"/>
    <p:sldId id="761" r:id="rId15"/>
    <p:sldId id="762" r:id="rId16"/>
    <p:sldId id="763" r:id="rId17"/>
    <p:sldId id="764" r:id="rId18"/>
    <p:sldId id="754" r:id="rId19"/>
    <p:sldId id="765" r:id="rId20"/>
    <p:sldId id="766" r:id="rId21"/>
    <p:sldId id="767" r:id="rId22"/>
    <p:sldId id="755" r:id="rId23"/>
    <p:sldId id="768" r:id="rId24"/>
    <p:sldId id="769" r:id="rId25"/>
    <p:sldId id="747" r:id="rId26"/>
    <p:sldId id="751" r:id="rId27"/>
    <p:sldId id="770" r:id="rId28"/>
    <p:sldId id="771" r:id="rId29"/>
    <p:sldId id="772" r:id="rId30"/>
    <p:sldId id="773" r:id="rId31"/>
    <p:sldId id="748" r:id="rId32"/>
    <p:sldId id="752" r:id="rId33"/>
    <p:sldId id="774" r:id="rId34"/>
    <p:sldId id="775" r:id="rId35"/>
    <p:sldId id="776" r:id="rId36"/>
    <p:sldId id="777" r:id="rId37"/>
    <p:sldId id="735" r:id="rId38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image" Target="../media/image4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37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1.xml"/><Relationship Id="rId5" Type="http://schemas.openxmlformats.org/officeDocument/2006/relationships/slide" Target="slide25.xml"/><Relationship Id="rId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2.docx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jpeg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Relationship Id="rId9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3.bin"/><Relationship Id="rId7" Type="http://schemas.openxmlformats.org/officeDocument/2006/relationships/package" Target="../embeddings/Microsoft_Word___4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8.emf"/><Relationship Id="rId5" Type="http://schemas.openxmlformats.org/officeDocument/2006/relationships/image" Target="../media/image6.emf"/><Relationship Id="rId10" Type="http://schemas.openxmlformats.org/officeDocument/2006/relationships/package" Target="../embeddings/Microsoft_Word___5.docx"/><Relationship Id="rId4" Type="http://schemas.openxmlformats.org/officeDocument/2006/relationships/package" Target="../embeddings/Microsoft_Word___3.docx"/><Relationship Id="rId9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6.bin"/><Relationship Id="rId7" Type="http://schemas.openxmlformats.org/officeDocument/2006/relationships/package" Target="../embeddings/Microsoft_Word___7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6.docx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8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9.doc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10.bin"/><Relationship Id="rId7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0.docx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3.docx"/><Relationship Id="rId3" Type="http://schemas.openxmlformats.org/officeDocument/2006/relationships/image" Target="../media/image17.jpeg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.emf"/><Relationship Id="rId5" Type="http://schemas.openxmlformats.org/officeDocument/2006/relationships/package" Target="../embeddings/Microsoft_Word___12.docx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4.bin"/><Relationship Id="rId7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4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6.docx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17.bin"/><Relationship Id="rId7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7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9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20.docx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21.bin"/><Relationship Id="rId7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7.emf"/><Relationship Id="rId5" Type="http://schemas.openxmlformats.org/officeDocument/2006/relationships/image" Target="../media/image25.emf"/><Relationship Id="rId10" Type="http://schemas.openxmlformats.org/officeDocument/2006/relationships/package" Target="../embeddings/Microsoft_Word___23.docx"/><Relationship Id="rId4" Type="http://schemas.openxmlformats.org/officeDocument/2006/relationships/package" Target="../embeddings/Microsoft_Word___21.docx"/><Relationship Id="rId9" Type="http://schemas.openxmlformats.org/officeDocument/2006/relationships/oleObject" Target="../embeddings/oleObject2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oleObject" Target="../embeddings/oleObject24.bin"/><Relationship Id="rId7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4.docx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oleObject" Target="../embeddings/oleObject26.bin"/><Relationship Id="rId7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6.docx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28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29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30.docx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31.bin"/><Relationship Id="rId7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31.docx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33.bin"/><Relationship Id="rId7" Type="http://schemas.openxmlformats.org/officeDocument/2006/relationships/package" Target="../embeddings/Microsoft_Word___3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7.emf"/><Relationship Id="rId4" Type="http://schemas.openxmlformats.org/officeDocument/2006/relationships/package" Target="../embeddings/Microsoft_Word___33.docx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oleObject" Target="../embeddings/oleObject35.bin"/><Relationship Id="rId7" Type="http://schemas.openxmlformats.org/officeDocument/2006/relationships/package" Target="../embeddings/Microsoft_Word___3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39.emf"/><Relationship Id="rId4" Type="http://schemas.openxmlformats.org/officeDocument/2006/relationships/package" Target="../embeddings/Microsoft_Word___35.docx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oleObject" Target="../embeddings/oleObject37.bin"/><Relationship Id="rId7" Type="http://schemas.openxmlformats.org/officeDocument/2006/relationships/package" Target="../embeddings/Microsoft_Word___3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3.emf"/><Relationship Id="rId5" Type="http://schemas.openxmlformats.org/officeDocument/2006/relationships/image" Target="../media/image41.emf"/><Relationship Id="rId10" Type="http://schemas.openxmlformats.org/officeDocument/2006/relationships/package" Target="../embeddings/Microsoft_Word___39.docx"/><Relationship Id="rId4" Type="http://schemas.openxmlformats.org/officeDocument/2006/relationships/package" Target="../embeddings/Microsoft_Word___37.docx"/><Relationship Id="rId9" Type="http://schemas.openxmlformats.org/officeDocument/2006/relationships/oleObject" Target="../embeddings/oleObject39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oleObject" Target="../embeddings/oleObject40.bin"/><Relationship Id="rId7" Type="http://schemas.openxmlformats.org/officeDocument/2006/relationships/package" Target="../embeddings/Microsoft_Word___4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6.emf"/><Relationship Id="rId5" Type="http://schemas.openxmlformats.org/officeDocument/2006/relationships/image" Target="../media/image44.emf"/><Relationship Id="rId10" Type="http://schemas.openxmlformats.org/officeDocument/2006/relationships/package" Target="../embeddings/Microsoft_Word___42.docx"/><Relationship Id="rId4" Type="http://schemas.openxmlformats.org/officeDocument/2006/relationships/package" Target="../embeddings/Microsoft_Word___40.docx"/><Relationship Id="rId9" Type="http://schemas.openxmlformats.org/officeDocument/2006/relationships/oleObject" Target="../embeddings/oleObject42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oleObject" Target="../embeddings/oleObject43.bin"/><Relationship Id="rId7" Type="http://schemas.openxmlformats.org/officeDocument/2006/relationships/package" Target="../embeddings/Microsoft_Word___4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47.emf"/><Relationship Id="rId4" Type="http://schemas.openxmlformats.org/officeDocument/2006/relationships/package" Target="../embeddings/Microsoft_Word___43.docx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011883"/>
            <a:ext cx="10807700" cy="220233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5.3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诱导公式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诱导公式五、六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295871"/>
            <a:ext cx="10729192" cy="3802024"/>
            <a:chOff x="360437" y="1536125"/>
            <a:chExt cx="10729192" cy="3802024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536125"/>
              <a:ext cx="10729192" cy="3802024"/>
              <a:chOff x="360437" y="2020270"/>
              <a:chExt cx="10729192" cy="259683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2020270"/>
                <a:ext cx="10729192" cy="259683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067675"/>
                <a:ext cx="0" cy="2488633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764455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698423"/>
              <a:ext cx="8496944" cy="3637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借助单位圆的对称性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利用定义推导出诱导公式五和公式六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能应用诱导公式解决简单的求值、化简与证明问题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体会知识的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发生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”“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发现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过程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逻辑推理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63823"/>
            <a:ext cx="10807700" cy="6443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一、诱导公式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五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208915"/>
              </p:ext>
            </p:extLst>
          </p:nvPr>
        </p:nvGraphicFramePr>
        <p:xfrm>
          <a:off x="493713" y="1649413"/>
          <a:ext cx="11645900" cy="197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文档" r:id="rId4" imgW="3928207" imgH="666648" progId="Word.Document.12">
                  <p:embed/>
                </p:oleObj>
              </mc:Choice>
              <mc:Fallback>
                <p:oleObj name="文档" r:id="rId4" imgW="3928207" imgH="6666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3713" y="1649413"/>
                        <a:ext cx="11645900" cy="1976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NMG1TRA28.eps" descr="id:2147507476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8209309" y="3092343"/>
            <a:ext cx="2592288" cy="2940549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7024550"/>
              </p:ext>
            </p:extLst>
          </p:nvPr>
        </p:nvGraphicFramePr>
        <p:xfrm>
          <a:off x="489889" y="3700921"/>
          <a:ext cx="11671959" cy="1695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文档" r:id="rId8" imgW="3826872" imgH="555960" progId="Word.Document.12">
                  <p:embed/>
                </p:oleObj>
              </mc:Choice>
              <mc:Fallback>
                <p:oleObj name="文档" r:id="rId8" imgW="3826872" imgH="5559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9889" y="3700921"/>
                        <a:ext cx="11671959" cy="1695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3690721"/>
              </p:ext>
            </p:extLst>
          </p:nvPr>
        </p:nvGraphicFramePr>
        <p:xfrm>
          <a:off x="504453" y="781983"/>
          <a:ext cx="11671959" cy="198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" name="文档" r:id="rId4" imgW="3837724" imgH="653000" progId="Word.Document.12">
                  <p:embed/>
                </p:oleObj>
              </mc:Choice>
              <mc:Fallback>
                <p:oleObj name="文档" r:id="rId4" imgW="3837724" imgH="6530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781983"/>
                        <a:ext cx="11671959" cy="198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3898464"/>
              </p:ext>
            </p:extLst>
          </p:nvPr>
        </p:nvGraphicFramePr>
        <p:xfrm>
          <a:off x="504825" y="2922588"/>
          <a:ext cx="11645900" cy="150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" name="文档" r:id="rId7" imgW="3826872" imgH="494506" progId="Word.Document.12">
                  <p:embed/>
                </p:oleObj>
              </mc:Choice>
              <mc:Fallback>
                <p:oleObj name="文档" r:id="rId7" imgW="3826872" imgH="4945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825" y="2922588"/>
                        <a:ext cx="11645900" cy="1501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54092"/>
              </p:ext>
            </p:extLst>
          </p:nvPr>
        </p:nvGraphicFramePr>
        <p:xfrm>
          <a:off x="504451" y="4536231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" name="文档" r:id="rId10" imgW="3826872" imgH="238987" progId="Word.Document.12">
                  <p:embed/>
                </p:oleObj>
              </mc:Choice>
              <mc:Fallback>
                <p:oleObj name="文档" r:id="rId10" imgW="3826872" imgH="238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4451" y="4536231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504451" y="5376477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76661" y="1381031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2372316" y="1845129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372316" y="2116508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367971" y="2580606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87062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79847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二、诱导公式六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代替公式五中的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你会得到什么公式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8286588"/>
              </p:ext>
            </p:extLst>
          </p:nvPr>
        </p:nvGraphicFramePr>
        <p:xfrm>
          <a:off x="462135" y="2390895"/>
          <a:ext cx="10607329" cy="73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文档" r:id="rId4" imgW="3477813" imgH="239782" progId="Word.Document.12">
                  <p:embed/>
                </p:oleObj>
              </mc:Choice>
              <mc:Fallback>
                <p:oleObj name="文档" r:id="rId4" imgW="3477813" imgH="2397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2135" y="2390895"/>
                        <a:ext cx="10607329" cy="73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61950" y="3234981"/>
            <a:ext cx="2654894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诱导公式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六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67127"/>
              </p:ext>
            </p:extLst>
          </p:nvPr>
        </p:nvGraphicFramePr>
        <p:xfrm>
          <a:off x="519469" y="3935397"/>
          <a:ext cx="10607329" cy="1462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文档" r:id="rId7" imgW="3477813" imgH="479564" progId="Word.Document.12">
                  <p:embed/>
                </p:oleObj>
              </mc:Choice>
              <mc:Fallback>
                <p:oleObj name="文档" r:id="rId7" imgW="3477813" imgH="4795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9469" y="3935397"/>
                        <a:ext cx="10607329" cy="14626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2635197" y="3984274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667455" y="4737079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65504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655911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15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15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75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D.cos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49282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68936"/>
              </p:ext>
            </p:extLst>
          </p:nvPr>
        </p:nvGraphicFramePr>
        <p:xfrm>
          <a:off x="576461" y="1954382"/>
          <a:ext cx="11671959" cy="2221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文档" r:id="rId4" imgW="3826872" imgH="728462" progId="Word.Document.12">
                  <p:embed/>
                </p:oleObj>
              </mc:Choice>
              <mc:Fallback>
                <p:oleObj name="文档" r:id="rId4" imgW="3826872" imgH="7284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1954382"/>
                        <a:ext cx="11671959" cy="22218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2581927" y="2645805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2577582" y="3109903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5941268" y="2645805"/>
            <a:ext cx="106770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5936862" y="3109903"/>
            <a:ext cx="10664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880717" y="3455555"/>
            <a:ext cx="106770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2876311" y="3919653"/>
            <a:ext cx="10664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506814" y="3455555"/>
            <a:ext cx="882401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6502303" y="3919653"/>
            <a:ext cx="88140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22668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1001559"/>
            <a:ext cx="11714163" cy="4295929"/>
            <a:chOff x="361950" y="691859"/>
            <a:chExt cx="11714163" cy="429592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691859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诱导公式五、公式六与诱导公式一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~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公式四的区别在于函数名称要改变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(2)sin(90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 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9262074"/>
                </p:ext>
              </p:extLst>
            </p:nvPr>
          </p:nvGraphicFramePr>
          <p:xfrm>
            <a:off x="430213" y="4262300"/>
            <a:ext cx="11645900" cy="725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4" name="文档" r:id="rId4" imgW="3826872" imgH="239347" progId="Word.Document.12">
                    <p:embed/>
                  </p:oleObj>
                </mc:Choice>
                <mc:Fallback>
                  <p:oleObj name="文档" r:id="rId4" imgW="3826872" imgH="2393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0213" y="4262300"/>
                          <a:ext cx="11645900" cy="7254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/>
          <p:nvPr/>
        </p:nvSpPr>
        <p:spPr>
          <a:xfrm>
            <a:off x="3312765" y="3416219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608909" y="4114884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905053" y="4699470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13369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利用</a:t>
            </a:r>
            <a:r>
              <a:rPr lang="zh-CN" altLang="zh-CN" dirty="0"/>
              <a:t>诱导公式求值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894701"/>
              </p:ext>
            </p:extLst>
          </p:nvPr>
        </p:nvGraphicFramePr>
        <p:xfrm>
          <a:off x="360437" y="1459551"/>
          <a:ext cx="11671959" cy="812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6" name="文档" r:id="rId4" imgW="3826872" imgH="266300" progId="Word.Document.12">
                  <p:embed/>
                </p:oleObj>
              </mc:Choice>
              <mc:Fallback>
                <p:oleObj name="文档" r:id="rId4" imgW="3826872" imgH="2663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459551"/>
                        <a:ext cx="11671959" cy="8122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2330142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先分析已知角与未知角的关系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再合理地选用诱导公式求值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015989"/>
              </p:ext>
            </p:extLst>
          </p:nvPr>
        </p:nvGraphicFramePr>
        <p:xfrm>
          <a:off x="360437" y="3547783"/>
          <a:ext cx="11671959" cy="2187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" name="文档" r:id="rId7" imgW="3826872" imgH="717321" progId="Word.Document.12">
                  <p:embed/>
                </p:oleObj>
              </mc:Choice>
              <mc:Fallback>
                <p:oleObj name="文档" r:id="rId7" imgW="3826872" imgH="7173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7" y="3547783"/>
                        <a:ext cx="11671959" cy="2187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721230"/>
            <a:ext cx="2740119" cy="499725"/>
          </a:xfrm>
          <a:prstGeom prst="rect">
            <a:avLst/>
          </a:prstGeom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590547"/>
              </p:ext>
            </p:extLst>
          </p:nvPr>
        </p:nvGraphicFramePr>
        <p:xfrm>
          <a:off x="441780" y="1351955"/>
          <a:ext cx="10575841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name="文档" r:id="rId5" imgW="3467489" imgH="238987" progId="Word.Document.12">
                  <p:embed/>
                </p:oleObj>
              </mc:Choice>
              <mc:Fallback>
                <p:oleObj name="文档" r:id="rId5" imgW="3467489" imgH="238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1780" y="1351955"/>
                        <a:ext cx="10575841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740779"/>
              </p:ext>
            </p:extLst>
          </p:nvPr>
        </p:nvGraphicFramePr>
        <p:xfrm>
          <a:off x="441780" y="2153875"/>
          <a:ext cx="10575841" cy="3668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文档" r:id="rId8" imgW="3467489" imgH="1202842" progId="Word.Document.12">
                  <p:embed/>
                </p:oleObj>
              </mc:Choice>
              <mc:Fallback>
                <p:oleObj name="文档" r:id="rId8" imgW="3467489" imgH="120284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41780" y="2153875"/>
                        <a:ext cx="10575841" cy="36686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0451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9324015"/>
              </p:ext>
            </p:extLst>
          </p:nvPr>
        </p:nvGraphicFramePr>
        <p:xfrm>
          <a:off x="432445" y="1007839"/>
          <a:ext cx="10575841" cy="746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4" name="文档" r:id="rId4" imgW="3467489" imgH="244737" progId="Word.Document.12">
                  <p:embed/>
                </p:oleObj>
              </mc:Choice>
              <mc:Fallback>
                <p:oleObj name="文档" r:id="rId4" imgW="3467489" imgH="2447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007839"/>
                        <a:ext cx="10575841" cy="7464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2454112"/>
              </p:ext>
            </p:extLst>
          </p:nvPr>
        </p:nvGraphicFramePr>
        <p:xfrm>
          <a:off x="432445" y="1871935"/>
          <a:ext cx="10575841" cy="3305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" name="文档" r:id="rId7" imgW="3467489" imgH="1083888" progId="Word.Document.12">
                  <p:embed/>
                </p:oleObj>
              </mc:Choice>
              <mc:Fallback>
                <p:oleObj name="文档" r:id="rId7" imgW="3467489" imgH="10838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1871935"/>
                        <a:ext cx="10575841" cy="33058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3208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54795" y="1655911"/>
            <a:ext cx="183255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 dirty="0" smtClean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sz="3200" b="1" dirty="0">
              <a:solidFill>
                <a:srgbClr val="0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641589"/>
              </p:ext>
            </p:extLst>
          </p:nvPr>
        </p:nvGraphicFramePr>
        <p:xfrm>
          <a:off x="420688" y="2354263"/>
          <a:ext cx="10583862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name="文档" r:id="rId4" imgW="3467489" imgH="456412" progId="Word.Document.12">
                  <p:embed/>
                </p:oleObj>
              </mc:Choice>
              <mc:Fallback>
                <p:oleObj name="文档" r:id="rId4" imgW="3467489" imgH="4564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0688" y="2354263"/>
                        <a:ext cx="10583862" cy="1387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9652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4992078"/>
              </p:ext>
            </p:extLst>
          </p:nvPr>
        </p:nvGraphicFramePr>
        <p:xfrm>
          <a:off x="288429" y="1439887"/>
          <a:ext cx="11671959" cy="790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0" name="文档" r:id="rId4" imgW="3826872" imgH="259112" progId="Word.Document.12">
                  <p:embed/>
                </p:oleObj>
              </mc:Choice>
              <mc:Fallback>
                <p:oleObj name="文档" r:id="rId4" imgW="3826872" imgH="2591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1439887"/>
                        <a:ext cx="11671959" cy="7902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740454"/>
              </p:ext>
            </p:extLst>
          </p:nvPr>
        </p:nvGraphicFramePr>
        <p:xfrm>
          <a:off x="288429" y="2340460"/>
          <a:ext cx="11671959" cy="2248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" name="文档" r:id="rId7" imgW="3826872" imgH="737087" progId="Word.Document.12">
                  <p:embed/>
                </p:oleObj>
              </mc:Choice>
              <mc:Fallback>
                <p:oleObj name="文档" r:id="rId7" imgW="3826872" imgH="7370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8429" y="2340460"/>
                        <a:ext cx="11671959" cy="2248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6174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利用</a:t>
            </a:r>
            <a:r>
              <a:rPr lang="zh-CN" altLang="zh-CN" dirty="0"/>
              <a:t>诱导公式进行化简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3764841"/>
              </p:ext>
            </p:extLst>
          </p:nvPr>
        </p:nvGraphicFramePr>
        <p:xfrm>
          <a:off x="360437" y="1917449"/>
          <a:ext cx="11671959" cy="2186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6" name="文档" r:id="rId4" imgW="3826872" imgH="716962" progId="Word.Document.12">
                  <p:embed/>
                </p:oleObj>
              </mc:Choice>
              <mc:Fallback>
                <p:oleObj name="文档" r:id="rId4" imgW="3826872" imgH="7169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917449"/>
                        <a:ext cx="11671959" cy="21867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9672277"/>
              </p:ext>
            </p:extLst>
          </p:nvPr>
        </p:nvGraphicFramePr>
        <p:xfrm>
          <a:off x="504453" y="1007839"/>
          <a:ext cx="11671959" cy="4378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0" name="文档" r:id="rId4" imgW="3826872" imgH="1435720" progId="Word.Document.12">
                  <p:embed/>
                </p:oleObj>
              </mc:Choice>
              <mc:Fallback>
                <p:oleObj name="文档" r:id="rId4" imgW="3826872" imgH="14357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007839"/>
                        <a:ext cx="11671959" cy="43789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5615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14031"/>
            <a:ext cx="10807700" cy="36379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进行三角函数式化简时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一是注意化异为同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即化异角为同角、化异名为同名、化异次为齐次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二是对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切弦混合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一般作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切化弦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处理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化简结果要求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角尽量少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函数名尽量少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函数次数尽量低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尽量不含分母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必须有分母时分母中尽量不含根式等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349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6469475"/>
              </p:ext>
            </p:extLst>
          </p:nvPr>
        </p:nvGraphicFramePr>
        <p:xfrm>
          <a:off x="432445" y="883487"/>
          <a:ext cx="11671959" cy="1689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6" name="文档" r:id="rId4" imgW="3826872" imgH="553803" progId="Word.Document.12">
                  <p:embed/>
                </p:oleObj>
              </mc:Choice>
              <mc:Fallback>
                <p:oleObj name="文档" r:id="rId4" imgW="3826872" imgH="5538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83487"/>
                        <a:ext cx="11671959" cy="16890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466199"/>
              </p:ext>
            </p:extLst>
          </p:nvPr>
        </p:nvGraphicFramePr>
        <p:xfrm>
          <a:off x="432445" y="2660091"/>
          <a:ext cx="11671959" cy="202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7" name="文档" r:id="rId7" imgW="3826872" imgH="665570" progId="Word.Document.12">
                  <p:embed/>
                </p:oleObj>
              </mc:Choice>
              <mc:Fallback>
                <p:oleObj name="文档" r:id="rId7" imgW="3826872" imgH="66557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660091"/>
                        <a:ext cx="11671959" cy="2029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758772"/>
              </p:ext>
            </p:extLst>
          </p:nvPr>
        </p:nvGraphicFramePr>
        <p:xfrm>
          <a:off x="432445" y="4864691"/>
          <a:ext cx="11671959" cy="699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8" name="文档" r:id="rId10" imgW="3826872" imgH="229284" progId="Word.Document.12">
                  <p:embed/>
                </p:oleObj>
              </mc:Choice>
              <mc:Fallback>
                <p:oleObj name="文档" r:id="rId10" imgW="3826872" imgH="2292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2445" y="4864691"/>
                        <a:ext cx="11671959" cy="699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1775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利用</a:t>
            </a:r>
            <a:r>
              <a:rPr lang="zh-CN" altLang="zh-CN" dirty="0"/>
              <a:t>诱导公式证明三角恒等式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215410"/>
              </p:ext>
            </p:extLst>
          </p:nvPr>
        </p:nvGraphicFramePr>
        <p:xfrm>
          <a:off x="432445" y="1444921"/>
          <a:ext cx="11671959" cy="97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4" name="文档" r:id="rId4" imgW="3826872" imgH="319488" progId="Word.Document.12">
                  <p:embed/>
                </p:oleObj>
              </mc:Choice>
              <mc:Fallback>
                <p:oleObj name="文档" r:id="rId4" imgW="3826872" imgH="3194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444921"/>
                        <a:ext cx="11671959" cy="974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2439023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观察待证等式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左边比较复杂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可以由左向右证明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6927723"/>
              </p:ext>
            </p:extLst>
          </p:nvPr>
        </p:nvGraphicFramePr>
        <p:xfrm>
          <a:off x="434636" y="3105439"/>
          <a:ext cx="11671959" cy="2458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5" name="文档" r:id="rId7" imgW="3826872" imgH="806088" progId="Word.Document.12">
                  <p:embed/>
                </p:oleObj>
              </mc:Choice>
              <mc:Fallback>
                <p:oleObj name="文档" r:id="rId7" imgW="3826872" imgH="8060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4636" y="3105439"/>
                        <a:ext cx="11671959" cy="24585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1223863"/>
            <a:ext cx="10807700" cy="36379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利用诱导公式证明等式问题的常用方法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从一边开始变形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使得它等于另一边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一般由繁到简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左右归一法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即证明左、右两边都等于同一个式子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相</a:t>
            </a:r>
            <a:r>
              <a:rPr lang="zh-CN" altLang="en-US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凑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即针对题设与结论间的差异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有针对性地进行变形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以消除其差异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化异为同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039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7866735"/>
              </p:ext>
            </p:extLst>
          </p:nvPr>
        </p:nvGraphicFramePr>
        <p:xfrm>
          <a:off x="432445" y="1017671"/>
          <a:ext cx="11671959" cy="96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6" name="文档" r:id="rId4" imgW="3826872" imgH="316254" progId="Word.Document.12">
                  <p:embed/>
                </p:oleObj>
              </mc:Choice>
              <mc:Fallback>
                <p:oleObj name="文档" r:id="rId4" imgW="3826872" imgH="3162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017671"/>
                        <a:ext cx="11671959" cy="964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2940036"/>
              </p:ext>
            </p:extLst>
          </p:nvPr>
        </p:nvGraphicFramePr>
        <p:xfrm>
          <a:off x="432445" y="2097791"/>
          <a:ext cx="11671959" cy="3303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7" name="文档" r:id="rId7" imgW="3826872" imgH="1083169" progId="Word.Document.12">
                  <p:embed/>
                </p:oleObj>
              </mc:Choice>
              <mc:Fallback>
                <p:oleObj name="文档" r:id="rId7" imgW="3826872" imgH="10831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097791"/>
                        <a:ext cx="11671959" cy="33036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8600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549479"/>
            <a:ext cx="11814462" cy="5858960"/>
            <a:chOff x="361950" y="549479"/>
            <a:chExt cx="11814462" cy="585896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144729" y="549479"/>
              <a:ext cx="5242141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对诱导公式记忆不准确致</a:t>
              </a:r>
              <a:r>
                <a:rPr lang="zh-CN" altLang="zh-CN" dirty="0" smtClean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错</a:t>
              </a:r>
              <a:r>
                <a:rPr lang="en-US" altLang="zh-CN" dirty="0" smtClean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2374630"/>
                </p:ext>
              </p:extLst>
            </p:nvPr>
          </p:nvGraphicFramePr>
          <p:xfrm>
            <a:off x="504453" y="1163919"/>
            <a:ext cx="11671959" cy="4112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4" name="文档" r:id="rId4" imgW="3826872" imgH="1348391" progId="Word.Document.12">
                    <p:embed/>
                  </p:oleObj>
                </mc:Choice>
                <mc:Fallback>
                  <p:oleObj name="文档" r:id="rId4" imgW="3826872" imgH="134839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1163919"/>
                          <a:ext cx="11671959" cy="41125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5190798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以上解答过程中都有哪些错误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出错的原因是什么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你如何改正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你如何防范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053071"/>
              </p:ext>
            </p:extLst>
          </p:nvPr>
        </p:nvGraphicFramePr>
        <p:xfrm>
          <a:off x="482300" y="1871935"/>
          <a:ext cx="10607329" cy="1796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8" name="文档" r:id="rId4" imgW="3477813" imgH="589178" progId="Word.Document.12">
                  <p:embed/>
                </p:oleObj>
              </mc:Choice>
              <mc:Fallback>
                <p:oleObj name="文档" r:id="rId4" imgW="3477813" imgH="5891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2300" y="1871935"/>
                        <a:ext cx="10607329" cy="17969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274527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170233"/>
              </p:ext>
            </p:extLst>
          </p:nvPr>
        </p:nvGraphicFramePr>
        <p:xfrm>
          <a:off x="504453" y="916167"/>
          <a:ext cx="11671959" cy="4842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2" name="文档" r:id="rId4" imgW="3826872" imgH="1587737" progId="Word.Document.12">
                  <p:embed/>
                </p:oleObj>
              </mc:Choice>
              <mc:Fallback>
                <p:oleObj name="文档" r:id="rId4" imgW="3826872" imgH="15877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916167"/>
                        <a:ext cx="11671959" cy="4842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207921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943943"/>
            <a:ext cx="10807700" cy="18651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诱导公式共有六组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数量较多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易错记错用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如本题错解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应特别注意诱导公式右边的符号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26598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063167"/>
              </p:ext>
            </p:extLst>
          </p:nvPr>
        </p:nvGraphicFramePr>
        <p:xfrm>
          <a:off x="432445" y="1871935"/>
          <a:ext cx="11671959" cy="1099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0" name="文档" r:id="rId4" imgW="3826872" imgH="360457" progId="Word.Document.12">
                  <p:embed/>
                </p:oleObj>
              </mc:Choice>
              <mc:Fallback>
                <p:oleObj name="文档" r:id="rId4" imgW="3826872" imgH="3604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871935"/>
                        <a:ext cx="11671959" cy="10993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397730"/>
              </p:ext>
            </p:extLst>
          </p:nvPr>
        </p:nvGraphicFramePr>
        <p:xfrm>
          <a:off x="432445" y="3052926"/>
          <a:ext cx="11671959" cy="835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1" name="文档" r:id="rId7" imgW="3826872" imgH="273847" progId="Word.Document.12">
                  <p:embed/>
                </p:oleObj>
              </mc:Choice>
              <mc:Fallback>
                <p:oleObj name="文档" r:id="rId7" imgW="3826872" imgH="2738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3052926"/>
                        <a:ext cx="11671959" cy="8352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664591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9605602"/>
              </p:ext>
            </p:extLst>
          </p:nvPr>
        </p:nvGraphicFramePr>
        <p:xfrm>
          <a:off x="504453" y="1161687"/>
          <a:ext cx="11671959" cy="1782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2" name="文档" r:id="rId4" imgW="3826872" imgH="584351" progId="Word.Document.12">
                  <p:embed/>
                </p:oleObj>
              </mc:Choice>
              <mc:Fallback>
                <p:oleObj name="文档" r:id="rId4" imgW="3826872" imgH="5843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161687"/>
                        <a:ext cx="11671959" cy="17822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7847425"/>
              </p:ext>
            </p:extLst>
          </p:nvPr>
        </p:nvGraphicFramePr>
        <p:xfrm>
          <a:off x="504453" y="3001892"/>
          <a:ext cx="11671959" cy="1256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3" name="文档" r:id="rId7" imgW="3826872" imgH="411849" progId="Word.Document.12">
                  <p:embed/>
                </p:oleObj>
              </mc:Choice>
              <mc:Fallback>
                <p:oleObj name="文档" r:id="rId7" imgW="3826872" imgH="4118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3001892"/>
                        <a:ext cx="11671959" cy="12561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403379" y="4294847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998054"/>
              </p:ext>
            </p:extLst>
          </p:nvPr>
        </p:nvGraphicFramePr>
        <p:xfrm>
          <a:off x="425782" y="762319"/>
          <a:ext cx="11671959" cy="1195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4" name="文档" r:id="rId4" imgW="3826872" imgH="392083" progId="Word.Document.12">
                  <p:embed/>
                </p:oleObj>
              </mc:Choice>
              <mc:Fallback>
                <p:oleObj name="文档" r:id="rId4" imgW="3826872" imgH="3920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762319"/>
                        <a:ext cx="11671959" cy="11958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46222"/>
              </p:ext>
            </p:extLst>
          </p:nvPr>
        </p:nvGraphicFramePr>
        <p:xfrm>
          <a:off x="425781" y="2048631"/>
          <a:ext cx="11671959" cy="3200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5" name="文档" r:id="rId7" imgW="3826872" imgH="1049387" progId="Word.Document.12">
                  <p:embed/>
                </p:oleObj>
              </mc:Choice>
              <mc:Fallback>
                <p:oleObj name="文档" r:id="rId7" imgW="3826872" imgH="10493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5781" y="2048631"/>
                        <a:ext cx="11671959" cy="3200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60437" y="5335639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63942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7806168"/>
              </p:ext>
            </p:extLst>
          </p:nvPr>
        </p:nvGraphicFramePr>
        <p:xfrm>
          <a:off x="209758" y="1079847"/>
          <a:ext cx="11671959" cy="699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0" name="文档" r:id="rId4" imgW="3826872" imgH="229284" progId="Word.Document.12">
                  <p:embed/>
                </p:oleObj>
              </mc:Choice>
              <mc:Fallback>
                <p:oleObj name="文档" r:id="rId4" imgW="3826872" imgH="2292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9758" y="1079847"/>
                        <a:ext cx="11671959" cy="699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2213083"/>
              </p:ext>
            </p:extLst>
          </p:nvPr>
        </p:nvGraphicFramePr>
        <p:xfrm>
          <a:off x="209757" y="1866963"/>
          <a:ext cx="11671959" cy="2256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1" name="文档" r:id="rId7" imgW="3826872" imgH="739962" progId="Word.Document.12">
                  <p:embed/>
                </p:oleObj>
              </mc:Choice>
              <mc:Fallback>
                <p:oleObj name="文档" r:id="rId7" imgW="3826872" imgH="7399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9757" y="1866963"/>
                        <a:ext cx="11671959" cy="2256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7835777"/>
              </p:ext>
            </p:extLst>
          </p:nvPr>
        </p:nvGraphicFramePr>
        <p:xfrm>
          <a:off x="204726" y="4248199"/>
          <a:ext cx="11671959" cy="779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2" name="文档" r:id="rId10" imgW="3826872" imgH="255519" progId="Word.Document.12">
                  <p:embed/>
                </p:oleObj>
              </mc:Choice>
              <mc:Fallback>
                <p:oleObj name="文档" r:id="rId10" imgW="3826872" imgH="25551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04726" y="4248199"/>
                        <a:ext cx="11671959" cy="7793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355287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455251"/>
              </p:ext>
            </p:extLst>
          </p:nvPr>
        </p:nvGraphicFramePr>
        <p:xfrm>
          <a:off x="442277" y="700143"/>
          <a:ext cx="10607329" cy="740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4" name="文档" r:id="rId4" imgW="3467489" imgH="242581" progId="Word.Document.12">
                  <p:embed/>
                </p:oleObj>
              </mc:Choice>
              <mc:Fallback>
                <p:oleObj name="文档" r:id="rId4" imgW="3467489" imgH="2425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2277" y="700143"/>
                        <a:ext cx="10607329" cy="7401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1599975"/>
              </p:ext>
            </p:extLst>
          </p:nvPr>
        </p:nvGraphicFramePr>
        <p:xfrm>
          <a:off x="442277" y="1520929"/>
          <a:ext cx="10607329" cy="3951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5" name="文档" r:id="rId7" imgW="3477813" imgH="1295543" progId="Word.Document.12">
                  <p:embed/>
                </p:oleObj>
              </mc:Choice>
              <mc:Fallback>
                <p:oleObj name="文档" r:id="rId7" imgW="3477813" imgH="12955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2277" y="1520929"/>
                        <a:ext cx="10607329" cy="39514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203644"/>
              </p:ext>
            </p:extLst>
          </p:nvPr>
        </p:nvGraphicFramePr>
        <p:xfrm>
          <a:off x="439246" y="5548419"/>
          <a:ext cx="10607329" cy="725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6" name="文档" r:id="rId10" imgW="3477813" imgH="237979" progId="Word.Document.12">
                  <p:embed/>
                </p:oleObj>
              </mc:Choice>
              <mc:Fallback>
                <p:oleObj name="文档" r:id="rId10" imgW="3477813" imgH="2379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9246" y="5548419"/>
                        <a:ext cx="10607329" cy="7258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394568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3711044"/>
              </p:ext>
            </p:extLst>
          </p:nvPr>
        </p:nvGraphicFramePr>
        <p:xfrm>
          <a:off x="504453" y="1242712"/>
          <a:ext cx="11671959" cy="1095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2" name="文档" r:id="rId4" imgW="3826872" imgH="359020" progId="Word.Document.12">
                  <p:embed/>
                </p:oleObj>
              </mc:Choice>
              <mc:Fallback>
                <p:oleObj name="文档" r:id="rId4" imgW="3826872" imgH="3590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242712"/>
                        <a:ext cx="11671959" cy="10950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7049986"/>
              </p:ext>
            </p:extLst>
          </p:nvPr>
        </p:nvGraphicFramePr>
        <p:xfrm>
          <a:off x="504452" y="2486512"/>
          <a:ext cx="11671959" cy="2049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3" name="文档" r:id="rId7" imgW="3826872" imgH="672039" progId="Word.Document.12">
                  <p:embed/>
                </p:oleObj>
              </mc:Choice>
              <mc:Fallback>
                <p:oleObj name="文档" r:id="rId7" imgW="3826872" imgH="6720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2" y="2486512"/>
                        <a:ext cx="11671959" cy="20497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33107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47</TotalTime>
  <Words>502</Words>
  <Application>Microsoft Office PowerPoint</Application>
  <PresentationFormat>自定义</PresentationFormat>
  <Paragraphs>50</Paragraphs>
  <Slides>37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3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21</cp:revision>
  <dcterms:created xsi:type="dcterms:W3CDTF">2020-09-12T05:36:12Z</dcterms:created>
  <dcterms:modified xsi:type="dcterms:W3CDTF">2025-08-18T05:40:40Z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