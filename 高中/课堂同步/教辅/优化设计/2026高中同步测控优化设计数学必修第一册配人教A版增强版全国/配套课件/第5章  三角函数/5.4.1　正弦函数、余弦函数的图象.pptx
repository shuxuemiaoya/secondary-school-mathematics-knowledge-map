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8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66" r:id="rId17"/>
    <p:sldId id="737" r:id="rId18"/>
    <p:sldId id="750" r:id="rId19"/>
    <p:sldId id="767" r:id="rId20"/>
    <p:sldId id="768" r:id="rId21"/>
    <p:sldId id="769" r:id="rId22"/>
    <p:sldId id="770" r:id="rId23"/>
    <p:sldId id="754" r:id="rId24"/>
    <p:sldId id="787" r:id="rId25"/>
    <p:sldId id="788" r:id="rId26"/>
    <p:sldId id="789" r:id="rId27"/>
    <p:sldId id="790" r:id="rId28"/>
    <p:sldId id="791" r:id="rId29"/>
    <p:sldId id="786" r:id="rId30"/>
    <p:sldId id="792" r:id="rId31"/>
    <p:sldId id="771" r:id="rId32"/>
    <p:sldId id="772" r:id="rId33"/>
    <p:sldId id="773" r:id="rId34"/>
    <p:sldId id="774" r:id="rId35"/>
    <p:sldId id="775" r:id="rId36"/>
    <p:sldId id="747" r:id="rId37"/>
    <p:sldId id="751" r:id="rId38"/>
    <p:sldId id="793" r:id="rId39"/>
    <p:sldId id="794" r:id="rId40"/>
    <p:sldId id="795" r:id="rId41"/>
    <p:sldId id="748" r:id="rId42"/>
    <p:sldId id="752" r:id="rId43"/>
    <p:sldId id="782" r:id="rId44"/>
    <p:sldId id="783" r:id="rId45"/>
    <p:sldId id="784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27" autoAdjust="0"/>
    <p:restoredTop sz="94591" autoAdjust="0"/>
  </p:normalViewPr>
  <p:slideViewPr>
    <p:cSldViewPr>
      <p:cViewPr varScale="1">
        <p:scale>
          <a:sx n="97" d="100"/>
          <a:sy n="97" d="100"/>
        </p:scale>
        <p:origin x="552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1.xml"/><Relationship Id="rId5" Type="http://schemas.openxmlformats.org/officeDocument/2006/relationships/slide" Target="slide36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jpeg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5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6.docx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7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jpeg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2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3.docx"/><Relationship Id="rId9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5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7.jpeg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6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17.docx"/><Relationship Id="rId4" Type="http://schemas.openxmlformats.org/officeDocument/2006/relationships/oleObject" Target="../embeddings/oleObject17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18.docx"/><Relationship Id="rId9" Type="http://schemas.openxmlformats.org/officeDocument/2006/relationships/image" Target="../media/image3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0.docx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2.docx"/><Relationship Id="rId3" Type="http://schemas.openxmlformats.org/officeDocument/2006/relationships/image" Target="../media/image29.jpeg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__21.docx"/><Relationship Id="rId10" Type="http://schemas.openxmlformats.org/officeDocument/2006/relationships/image" Target="../media/image37.jpe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23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24.docx"/><Relationship Id="rId9" Type="http://schemas.openxmlformats.org/officeDocument/2006/relationships/image" Target="../media/image41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26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28.docx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9.emf"/><Relationship Id="rId4" Type="http://schemas.openxmlformats.org/officeDocument/2006/relationships/package" Target="../embeddings/Microsoft_Word___30.docx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51.emf"/><Relationship Id="rId4" Type="http://schemas.openxmlformats.org/officeDocument/2006/relationships/package" Target="../embeddings/Microsoft_Word___32.docx"/><Relationship Id="rId9" Type="http://schemas.openxmlformats.org/officeDocument/2006/relationships/image" Target="../media/image53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32077"/>
            <a:ext cx="10807700" cy="9960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正弦函数、余弦函数的图象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497656"/>
            <a:ext cx="10729192" cy="3142169"/>
            <a:chOff x="360437" y="1675574"/>
            <a:chExt cx="10729192" cy="3142169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675574"/>
              <a:ext cx="10729192" cy="3142169"/>
              <a:chOff x="360437" y="2115515"/>
              <a:chExt cx="10729192" cy="214614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15515"/>
                <a:ext cx="10729192" cy="214614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282512"/>
                <a:ext cx="0" cy="1869746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713883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了解利用三角函数的定义画正弦曲线的方法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五点法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画正弦函数和余弦函数的图象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理解正弦曲线与余弦曲线之间的联系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体会直观想象的过程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想象和逻辑推理素养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8390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一、正弦函数的图象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画函数图象最基本的方法是什么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如果用描点法画正弦函数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可取哪些点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867092"/>
              </p:ext>
            </p:extLst>
          </p:nvPr>
        </p:nvGraphicFramePr>
        <p:xfrm>
          <a:off x="462135" y="3466602"/>
          <a:ext cx="10607329" cy="735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文档" r:id="rId4" imgW="3477813" imgH="241224" progId="Word.Document.12">
                  <p:embed/>
                </p:oleObj>
              </mc:Choice>
              <mc:Fallback>
                <p:oleObj name="文档" r:id="rId4" imgW="3477813" imgH="2412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3466602"/>
                        <a:ext cx="10607329" cy="735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15185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如何在平面直角坐标系中比较精确地描出这些点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并画出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1950" y="2424760"/>
            <a:ext cx="11847561" cy="2399503"/>
            <a:chOff x="361950" y="2673491"/>
            <a:chExt cx="11847561" cy="2399503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673491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把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轴上从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这一段分成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等份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的值分别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endPara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再在单位圆中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利用正弦函数的定义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对应的纵坐标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先画出点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再将这些点用光滑的曲线连接起来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就得到函数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10352"/>
                </p:ext>
              </p:extLst>
            </p:nvPr>
          </p:nvGraphicFramePr>
          <p:xfrm>
            <a:off x="504453" y="3302263"/>
            <a:ext cx="11705058" cy="665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" name="文档" r:id="rId4" imgW="3837724" imgH="218147" progId="Word.Document.12">
                    <p:embed/>
                  </p:oleObj>
                </mc:Choice>
                <mc:Fallback>
                  <p:oleObj name="文档" r:id="rId4" imgW="3837724" imgH="218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3302263"/>
                          <a:ext cx="11705058" cy="6653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708858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正弦函数的图象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叫做正弦曲线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波浪起伏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的连续光滑曲线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92485" y="1213105"/>
            <a:ext cx="280831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88492" y="1677203"/>
            <a:ext cx="2805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YMG1TRA04.eps" descr="id:21474981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008509" y="2355104"/>
            <a:ext cx="9256105" cy="241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430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04825" y="661988"/>
            <a:ext cx="11645900" cy="5701161"/>
            <a:chOff x="504825" y="661988"/>
            <a:chExt cx="11645900" cy="5701161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1773534"/>
                </p:ext>
              </p:extLst>
            </p:nvPr>
          </p:nvGraphicFramePr>
          <p:xfrm>
            <a:off x="504825" y="661988"/>
            <a:ext cx="116459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6" name="文档" r:id="rId4" imgW="3826872" imgH="237909" progId="Word.Document.12">
                    <p:embed/>
                  </p:oleObj>
                </mc:Choice>
                <mc:Fallback>
                  <p:oleObj name="文档" r:id="rId4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825" y="661988"/>
                          <a:ext cx="11645900" cy="714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YMG1TRA04A.eps" descr="id:2147507716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232645" y="1441441"/>
              <a:ext cx="6264696" cy="2375865"/>
            </a:xfrm>
            <a:prstGeom prst="rect">
              <a:avLst/>
            </a:prstGeom>
          </p:spPr>
        </p:pic>
        <p:pic>
          <p:nvPicPr>
            <p:cNvPr id="7" name="YMG1TRA04AB.eps" descr="id:2147507723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2304653" y="3891588"/>
              <a:ext cx="6264696" cy="2471561"/>
            </a:xfrm>
            <a:prstGeom prst="rect">
              <a:avLst/>
            </a:prstGeom>
          </p:spPr>
        </p:pic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423043" y="576036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308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14202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作正弦函数的图象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在确定正弦函数的图象时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哪些点是关键点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185803"/>
              </p:ext>
            </p:extLst>
          </p:nvPr>
        </p:nvGraphicFramePr>
        <p:xfrm>
          <a:off x="462135" y="2436707"/>
          <a:ext cx="10607329" cy="1269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文档" r:id="rId4" imgW="3477813" imgH="416103" progId="Word.Document.12">
                  <p:embed/>
                </p:oleObj>
              </mc:Choice>
              <mc:Fallback>
                <p:oleObj name="文档" r:id="rId4" imgW="3477813" imgH="4161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2436707"/>
                        <a:ext cx="10607329" cy="1269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3802982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画正弦函数图象的一般步骤是什么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描点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8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35256"/>
              </p:ext>
            </p:extLst>
          </p:nvPr>
        </p:nvGraphicFramePr>
        <p:xfrm>
          <a:off x="538163" y="1719187"/>
          <a:ext cx="10186987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文档" r:id="rId4" imgW="3348246" imgH="759369" progId="Word.Document.12">
                  <p:embed/>
                </p:oleObj>
              </mc:Choice>
              <mc:Fallback>
                <p:oleObj name="文档" r:id="rId4" imgW="3348246" imgH="7593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8163" y="1719187"/>
                        <a:ext cx="10186987" cy="2312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8827885" y="1725889"/>
            <a:ext cx="9403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8823387" y="2189987"/>
            <a:ext cx="9392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671716" y="2353989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1667169" y="2818087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373221" y="2334325"/>
            <a:ext cx="95762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368723" y="2798423"/>
            <a:ext cx="9565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298033" y="2320565"/>
            <a:ext cx="79142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6293441" y="2784663"/>
            <a:ext cx="7905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325469" y="2982181"/>
            <a:ext cx="79142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320877" y="3446279"/>
            <a:ext cx="7905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7455781" y="2982181"/>
            <a:ext cx="230425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7451189" y="3446279"/>
            <a:ext cx="23016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9153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737289"/>
              </p:ext>
            </p:extLst>
          </p:nvPr>
        </p:nvGraphicFramePr>
        <p:xfrm>
          <a:off x="357188" y="1366838"/>
          <a:ext cx="116459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文档" r:id="rId4" imgW="3826872" imgH="805009" progId="Word.Document.12">
                  <p:embed/>
                </p:oleObj>
              </mc:Choice>
              <mc:Fallback>
                <p:oleObj name="文档" r:id="rId4" imgW="3826872" imgH="8050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1366838"/>
                        <a:ext cx="11645900" cy="243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08093" y="3852967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12777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7834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三、余弦函数的图象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如何由正弦函数的图象通过图形变换得到余弦函数的图象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552677"/>
              </p:ext>
            </p:extLst>
          </p:nvPr>
        </p:nvGraphicFramePr>
        <p:xfrm>
          <a:off x="432445" y="2291927"/>
          <a:ext cx="11671959" cy="116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文档" r:id="rId4" imgW="3826872" imgH="383098" progId="Word.Document.12">
                  <p:embed/>
                </p:oleObj>
              </mc:Choice>
              <mc:Fallback>
                <p:oleObj name="文档" r:id="rId4" imgW="3826872" imgH="383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291927"/>
                        <a:ext cx="11671959" cy="1168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3498036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在确定余弦函数在区间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哪些点是关键点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294440"/>
              </p:ext>
            </p:extLst>
          </p:nvPr>
        </p:nvGraphicFramePr>
        <p:xfrm>
          <a:off x="430213" y="4202448"/>
          <a:ext cx="11672887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文档" r:id="rId7" imgW="3837724" imgH="435934" progId="Word.Document.12">
                  <p:embed/>
                </p:oleObj>
              </mc:Choice>
              <mc:Fallback>
                <p:oleObj name="文档" r:id="rId7" imgW="3837724" imgH="4359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4202448"/>
                        <a:ext cx="11672887" cy="132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31048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151855"/>
            <a:ext cx="10807700" cy="3475966"/>
            <a:chOff x="361950" y="1204281"/>
            <a:chExt cx="10807700" cy="347596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04281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余弦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的图象叫做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余弦曲线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它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是与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正弦曲线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具有相同形状的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波浪起伏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的连续光滑曲线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YMG1TRA55.eps" descr="id:214750773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90981" y="2476032"/>
              <a:ext cx="10153128" cy="2204215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6720978" y="1227161"/>
            <a:ext cx="15841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716805" y="1691259"/>
            <a:ext cx="15823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99613" y="1810685"/>
            <a:ext cx="15841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695440" y="2274783"/>
            <a:ext cx="15823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0716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492231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不等式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964870"/>
              </p:ext>
            </p:extLst>
          </p:nvPr>
        </p:nvGraphicFramePr>
        <p:xfrm>
          <a:off x="412781" y="2182815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文档" r:id="rId4" imgW="3837724" imgH="416103" progId="Word.Document.12">
                  <p:embed/>
                </p:oleObj>
              </mc:Choice>
              <mc:Fallback>
                <p:oleObj name="文档" r:id="rId4" imgW="3837724" imgH="4161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781" y="2182815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699806"/>
              </p:ext>
            </p:extLst>
          </p:nvPr>
        </p:nvGraphicFramePr>
        <p:xfrm>
          <a:off x="443000" y="3571633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文档" r:id="rId7" imgW="3826872" imgH="238987" progId="Word.Document.12">
                  <p:embed/>
                </p:oleObj>
              </mc:Choice>
              <mc:Fallback>
                <p:oleObj name="文档" r:id="rId7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3000" y="3571633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23798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45707"/>
            <a:ext cx="10807700" cy="47804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的图象完全相同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余弦函数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轴有无数个交点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余弦函数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的图象形状和位置都不一样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95421" y="275944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772242" y="328115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29389" y="392922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56581" y="511229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3614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1595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下列函数的简图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上找出五个关键点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用光滑的曲线连接即可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燕尾形 4"/>
          <p:cNvSpPr/>
          <p:nvPr/>
        </p:nvSpPr>
        <p:spPr>
          <a:xfrm>
            <a:off x="144413" y="791815"/>
            <a:ext cx="11233248" cy="1008112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探究一用“五点法”画与正弦函数</a:t>
            </a:r>
            <a:r>
              <a:rPr lang="zh-CN" altLang="en-US" dirty="0" smtClean="0"/>
              <a:t>、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余弦</a:t>
            </a:r>
            <a:r>
              <a:rPr lang="zh-CN" altLang="en-US" dirty="0"/>
              <a:t>函数有关的函数的图象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466962"/>
              </p:ext>
            </p:extLst>
          </p:nvPr>
        </p:nvGraphicFramePr>
        <p:xfrm>
          <a:off x="252831" y="685096"/>
          <a:ext cx="11844910" cy="4191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文档" r:id="rId4" imgW="3894589" imgH="1378836" progId="Word.Document.12">
                  <p:embed/>
                </p:oleObj>
              </mc:Choice>
              <mc:Fallback>
                <p:oleObj name="文档" r:id="rId4" imgW="3894589" imgH="1378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2831" y="685096"/>
                        <a:ext cx="11844910" cy="4191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1TRA05.eps" descr="id:214750775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686588" y="4356859"/>
            <a:ext cx="3378705" cy="197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6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220340"/>
              </p:ext>
            </p:extLst>
          </p:nvPr>
        </p:nvGraphicFramePr>
        <p:xfrm>
          <a:off x="360437" y="684416"/>
          <a:ext cx="11844910" cy="293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文档" r:id="rId4" imgW="3883577" imgH="962418" progId="Word.Document.12">
                  <p:embed/>
                </p:oleObj>
              </mc:Choice>
              <mc:Fallback>
                <p:oleObj name="文档" r:id="rId4" imgW="3883577" imgH="9624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84416"/>
                        <a:ext cx="11844910" cy="293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1TRA06.eps" descr="id:2147507774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744813" y="3590295"/>
            <a:ext cx="4536504" cy="275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7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49719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是画与三角函数有关的函数的图象的常用方法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五点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即函数图象与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轴的交点、最高点和最低点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列表、描点、连线是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作图过程中的三个基本环节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注意用光滑的曲线连接五个关键点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13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752263"/>
              </p:ext>
            </p:extLst>
          </p:nvPr>
        </p:nvGraphicFramePr>
        <p:xfrm>
          <a:off x="209758" y="719807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文档" r:id="rId4" imgW="3837724" imgH="240142" progId="Word.Document.12">
                  <p:embed/>
                </p:oleObj>
              </mc:Choice>
              <mc:Fallback>
                <p:oleObj name="文档" r:id="rId4" imgW="3837724" imgH="2401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758" y="719807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284786"/>
              </p:ext>
            </p:extLst>
          </p:nvPr>
        </p:nvGraphicFramePr>
        <p:xfrm>
          <a:off x="209909" y="1504771"/>
          <a:ext cx="11844910" cy="3650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文档" r:id="rId7" imgW="3883577" imgH="1196733" progId="Word.Document.12">
                  <p:embed/>
                </p:oleObj>
              </mc:Choice>
              <mc:Fallback>
                <p:oleObj name="文档" r:id="rId7" imgW="3883577" imgH="11967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909" y="1504771"/>
                        <a:ext cx="11844910" cy="3650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1TRA07.eps" descr="id:2147507796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3816821" y="4680246"/>
            <a:ext cx="4464496" cy="16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2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燕尾形 7"/>
          <p:cNvSpPr/>
          <p:nvPr/>
        </p:nvSpPr>
        <p:spPr>
          <a:xfrm>
            <a:off x="144413" y="719807"/>
            <a:ext cx="11233248" cy="1008112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探究二利用“图象变换法”</a:t>
            </a:r>
            <a:r>
              <a:rPr lang="zh-CN" altLang="en-US" dirty="0" smtClean="0"/>
              <a:t>画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与</a:t>
            </a:r>
            <a:r>
              <a:rPr lang="zh-CN" altLang="en-US" dirty="0"/>
              <a:t>三角函数有关的函数的图象</a:t>
            </a:r>
            <a:endParaRPr lang="zh-CN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361950" y="1884951"/>
            <a:ext cx="10807700" cy="1968640"/>
            <a:chOff x="361950" y="1655911"/>
            <a:chExt cx="10807700" cy="1968640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65591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利用图象变换法画出下列函数的图象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7924795"/>
                </p:ext>
              </p:extLst>
            </p:nvPr>
          </p:nvGraphicFramePr>
          <p:xfrm>
            <a:off x="422613" y="2893216"/>
            <a:ext cx="10607329" cy="731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0" name="文档" r:id="rId4" imgW="3477813" imgH="239782" progId="Word.Document.12">
                    <p:embed/>
                  </p:oleObj>
                </mc:Choice>
                <mc:Fallback>
                  <p:oleObj name="文档" r:id="rId4" imgW="3477813" imgH="23978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2613" y="2893216"/>
                          <a:ext cx="10607329" cy="7313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393213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先画函数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先将解析式化简为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再画出函数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365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五点法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再画该图象关于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轴的对称图象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最后将该图象向上平移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个单位长度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0" name="21Q19.eps" descr="id:214749829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05560" y="2692059"/>
            <a:ext cx="4320480" cy="271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4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40262"/>
            <a:ext cx="13143705" cy="2511855"/>
            <a:chOff x="361950" y="1501130"/>
            <a:chExt cx="13143705" cy="251185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56928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因此只需画出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轴上方的图象保持不动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轴下方的图象关于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轴作轴对称翻折到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轴上方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1910819"/>
                </p:ext>
              </p:extLst>
            </p:nvPr>
          </p:nvGraphicFramePr>
          <p:xfrm>
            <a:off x="1800597" y="1501130"/>
            <a:ext cx="11705058" cy="731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9" name="文档" r:id="rId4" imgW="3837724" imgH="239782" progId="Word.Document.12">
                    <p:embed/>
                  </p:oleObj>
                </mc:Choice>
                <mc:Fallback>
                  <p:oleObj name="文档" r:id="rId4" imgW="3837724" imgH="23978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00597" y="1501130"/>
                          <a:ext cx="11705058" cy="7313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21Q20.eps" descr="id:214749829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1656581" y="3352117"/>
            <a:ext cx="7992888" cy="256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6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694487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如何利用图象变换画出函数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的简图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749831"/>
              </p:ext>
            </p:extLst>
          </p:nvPr>
        </p:nvGraphicFramePr>
        <p:xfrm>
          <a:off x="504453" y="2377264"/>
          <a:ext cx="10607329" cy="259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文档" r:id="rId5" imgW="3477813" imgH="849513" progId="Word.Document.12">
                  <p:embed/>
                </p:oleObj>
              </mc:Choice>
              <mc:Fallback>
                <p:oleObj name="文档" r:id="rId5" imgW="3477813" imgH="8495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453" y="2377264"/>
                        <a:ext cx="10607329" cy="2591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21Q21.eps" descr="id:2147498312;FounderCES"/>
          <p:cNvPicPr/>
          <p:nvPr/>
        </p:nvPicPr>
        <p:blipFill>
          <a:blip r:embed="rId7"/>
          <a:stretch>
            <a:fillRect/>
          </a:stretch>
        </p:blipFill>
        <p:spPr>
          <a:xfrm>
            <a:off x="3798702" y="4980203"/>
            <a:ext cx="3474503" cy="134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0437" y="1037293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图象变换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的规律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左右平移变换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的图象是由函数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的图象向左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或向右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|a|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个单位长度得到的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的图象是由函数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的图象向上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或向下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|b|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个单位长度得到的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73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0437" y="978343"/>
            <a:ext cx="10807700" cy="47632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对称变换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的图象是将函数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轴上方的部分不动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下方的部分对称翻折到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轴上方得到的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的图象是将函数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轴右边的部分不动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并将其对称翻折到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轴左边得到的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的图象关于原点对称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84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燕尾形 7"/>
          <p:cNvSpPr/>
          <p:nvPr/>
        </p:nvSpPr>
        <p:spPr>
          <a:xfrm>
            <a:off x="144413" y="719807"/>
            <a:ext cx="1123324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正弦函数、余弦函数的图象解不等式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52800"/>
              </p:ext>
            </p:extLst>
          </p:nvPr>
        </p:nvGraphicFramePr>
        <p:xfrm>
          <a:off x="504453" y="1398350"/>
          <a:ext cx="10607329" cy="699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文档" r:id="rId4" imgW="3477813" imgH="229325" progId="Word.Document.12">
                  <p:embed/>
                </p:oleObj>
              </mc:Choice>
              <mc:Fallback>
                <p:oleObj name="文档" r:id="rId4" imgW="3477813" imgH="229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398350"/>
                        <a:ext cx="10607329" cy="699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288737"/>
              </p:ext>
            </p:extLst>
          </p:nvPr>
        </p:nvGraphicFramePr>
        <p:xfrm>
          <a:off x="648469" y="2190438"/>
          <a:ext cx="10607329" cy="1227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文档" r:id="rId7" imgW="3477813" imgH="402401" progId="Word.Document.12">
                  <p:embed/>
                </p:oleObj>
              </mc:Choice>
              <mc:Fallback>
                <p:oleObj name="文档" r:id="rId7" imgW="3477813" imgH="4024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8469" y="2190438"/>
                        <a:ext cx="10607329" cy="1227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YMG1TRA09.eps" descr="id:2147498333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2880717" y="3513682"/>
            <a:ext cx="5400600" cy="258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7280"/>
              </p:ext>
            </p:extLst>
          </p:nvPr>
        </p:nvGraphicFramePr>
        <p:xfrm>
          <a:off x="410292" y="1511895"/>
          <a:ext cx="10607329" cy="2863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文档" r:id="rId4" imgW="3477813" imgH="938935" progId="Word.Document.12">
                  <p:embed/>
                </p:oleObj>
              </mc:Choice>
              <mc:Fallback>
                <p:oleObj name="文档" r:id="rId4" imgW="3477813" imgH="9389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0292" y="1511895"/>
                        <a:ext cx="10607329" cy="2863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773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719807"/>
            <a:ext cx="2740119" cy="499725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390916"/>
              </p:ext>
            </p:extLst>
          </p:nvPr>
        </p:nvGraphicFramePr>
        <p:xfrm>
          <a:off x="432445" y="1243527"/>
          <a:ext cx="11671959" cy="130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文档" r:id="rId5" imgW="3837724" imgH="432689" progId="Word.Document.12">
                  <p:embed/>
                </p:oleObj>
              </mc:Choice>
              <mc:Fallback>
                <p:oleObj name="文档" r:id="rId5" imgW="3837724" imgH="4326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1243527"/>
                        <a:ext cx="11671959" cy="1302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064018"/>
              </p:ext>
            </p:extLst>
          </p:nvPr>
        </p:nvGraphicFramePr>
        <p:xfrm>
          <a:off x="432444" y="2549503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文档" r:id="rId8" imgW="3837724" imgH="411055" progId="Word.Document.12">
                  <p:embed/>
                </p:oleObj>
              </mc:Choice>
              <mc:Fallback>
                <p:oleObj name="文档" r:id="rId8" imgW="3837724" imgH="4110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44" y="2549503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YMG1TRA10.eps" descr="id:2147507824;FounderCES"/>
          <p:cNvPicPr/>
          <p:nvPr/>
        </p:nvPicPr>
        <p:blipFill>
          <a:blip r:embed="rId10"/>
          <a:stretch>
            <a:fillRect/>
          </a:stretch>
        </p:blipFill>
        <p:spPr>
          <a:xfrm>
            <a:off x="3240757" y="3847220"/>
            <a:ext cx="5112568" cy="243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9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747023"/>
              </p:ext>
            </p:extLst>
          </p:nvPr>
        </p:nvGraphicFramePr>
        <p:xfrm>
          <a:off x="248931" y="752487"/>
          <a:ext cx="11671300" cy="532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文档" r:id="rId4" imgW="3837724" imgH="1755275" progId="Word.Document.12">
                  <p:embed/>
                </p:oleObj>
              </mc:Choice>
              <mc:Fallback>
                <p:oleObj name="文档" r:id="rId4" imgW="3837724" imgH="17552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931" y="752487"/>
                        <a:ext cx="11671300" cy="5326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250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759201"/>
              </p:ext>
            </p:extLst>
          </p:nvPr>
        </p:nvGraphicFramePr>
        <p:xfrm>
          <a:off x="360437" y="719807"/>
          <a:ext cx="11671959" cy="774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文档" r:id="rId4" imgW="3837724" imgH="259253" progId="Word.Document.12">
                  <p:embed/>
                </p:oleObj>
              </mc:Choice>
              <mc:Fallback>
                <p:oleObj name="文档" r:id="rId4" imgW="3837724" imgH="259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719807"/>
                        <a:ext cx="11671959" cy="7749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839305"/>
              </p:ext>
            </p:extLst>
          </p:nvPr>
        </p:nvGraphicFramePr>
        <p:xfrm>
          <a:off x="360436" y="1511895"/>
          <a:ext cx="11671959" cy="2802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文档" r:id="rId7" imgW="3826872" imgH="918933" progId="Word.Document.12">
                  <p:embed/>
                </p:oleObj>
              </mc:Choice>
              <mc:Fallback>
                <p:oleObj name="文档" r:id="rId7" imgW="3826872" imgH="9189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1511895"/>
                        <a:ext cx="11671959" cy="2802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1TRA11.eps" descr="id:2147507831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6121077" y="3744143"/>
            <a:ext cx="4680520" cy="253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三角函数的图象解三角不等式的方法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画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相应正弦函数或余弦函数在区间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写出适合不等式在区间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上的解集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根据诱导公式一写出不等式的解集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7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775979"/>
              </p:ext>
            </p:extLst>
          </p:nvPr>
        </p:nvGraphicFramePr>
        <p:xfrm>
          <a:off x="288429" y="978343"/>
          <a:ext cx="11671959" cy="99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文档" r:id="rId4" imgW="3826872" imgH="325238" progId="Word.Document.12">
                  <p:embed/>
                </p:oleObj>
              </mc:Choice>
              <mc:Fallback>
                <p:oleObj name="文档" r:id="rId4" imgW="3826872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978343"/>
                        <a:ext cx="11671959" cy="99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613683"/>
              </p:ext>
            </p:extLst>
          </p:nvPr>
        </p:nvGraphicFramePr>
        <p:xfrm>
          <a:off x="360437" y="2078560"/>
          <a:ext cx="11671959" cy="3190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文档" r:id="rId7" imgW="3826872" imgH="1046153" progId="Word.Document.12">
                  <p:embed/>
                </p:oleObj>
              </mc:Choice>
              <mc:Fallback>
                <p:oleObj name="文档" r:id="rId7" imgW="3826872" imgH="10461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078560"/>
                        <a:ext cx="11671959" cy="3190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966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82606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利用数形结合思想方法解决问题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的解的个数为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</a:t>
            </a: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视角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方程无法用求根公式求解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且只要求得到方程根的个数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是基本初等函数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其图象容易画出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因此可采用数形结合的方法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在同一平面直角坐标系中画出两个函数的图象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观察它们交点的个数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即得方程根的个数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575791"/>
                <a:ext cx="10807700" cy="274953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dirty="0" smtClean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</a:t>
                </a:r>
                <a:r>
                  <a:rPr lang="zh-CN" altLang="en-US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析</a:t>
                </a:r>
                <a:r>
                  <a:rPr lang="en-US" altLang="zh-CN" dirty="0" smtClean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先用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“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五点法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”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画出函数</a:t>
                </a:r>
                <a:r>
                  <a:rPr lang="en-US" altLang="zh-CN" i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y=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sin </a:t>
                </a:r>
                <a:r>
                  <a:rPr lang="en-US" altLang="zh-CN" i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的图象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再在同一平面直角坐标系内描出点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altLang="zh-CN">
                            <a:solidFill>
                              <a:schemeClr val="tx1"/>
                            </a:solidFill>
                            <a:ea typeface="宋体" panose="02010600030101010101" pitchFamily="2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i="1">
                            <a:solidFill>
                              <a:schemeClr val="tx1"/>
                            </a:solidFill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,(1,0),(10,1),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并用光滑曲线连接得到</a:t>
                </a:r>
                <a:r>
                  <a:rPr lang="en-US" altLang="zh-CN" i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y=</a:t>
                </a:r>
                <a:r>
                  <a:rPr lang="en-US" altLang="zh-CN" dirty="0" err="1">
                    <a:solidFill>
                      <a:schemeClr val="tx1"/>
                    </a:solidFill>
                    <a:ea typeface="宋体" panose="02010600030101010101" pitchFamily="2" charset="-122"/>
                  </a:rPr>
                  <a:t>lg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i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的图象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i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.</a:t>
                </a:r>
                <a:endParaRPr lang="zh-CN" alt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由图象可知方程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lg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x=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sin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的解的个数为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575791"/>
                <a:ext cx="10807700" cy="2749535"/>
              </a:xfrm>
              <a:prstGeom prst="rect">
                <a:avLst/>
              </a:prstGeom>
              <a:blipFill rotWithShape="0">
                <a:blip r:embed="rId2"/>
                <a:stretch>
                  <a:fillRect l="-1410" t="-2217" b="-4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21Q29.eps" descr="id:2147498375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057388" y="3312095"/>
            <a:ext cx="7416824" cy="2577928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5719553"/>
            <a:ext cx="1441420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35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67879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对于方程解的个数问题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常借助函数的图象用数形结合的方法求解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函数的图象是研究函数的重要工具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体现了数形</a:t>
            </a:r>
            <a:r>
              <a:rPr lang="zh-CN" altLang="zh-CN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结合</a:t>
            </a:r>
            <a:r>
              <a:rPr lang="zh-CN" altLang="zh-CN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思想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能直观地解决抽象的代数问题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7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8170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的解的个数为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A.0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无穷多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5709721"/>
            <a:ext cx="1813317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1863563"/>
            <a:ext cx="10807700" cy="3749744"/>
            <a:chOff x="361950" y="1863563"/>
            <a:chExt cx="10807700" cy="3749744"/>
          </a:xfrm>
        </p:grpSpPr>
        <p:pic>
          <p:nvPicPr>
            <p:cNvPr id="5" name="21Q28.eps" descr="id:2147498389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84773" y="3667291"/>
              <a:ext cx="3168352" cy="1946016"/>
            </a:xfrm>
            <a:prstGeom prst="rect">
              <a:avLst/>
            </a:prstGeom>
          </p:spPr>
        </p:pic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86356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先用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五点法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画出函数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再在同一平面直角坐标内画出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由图象可知方程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即方程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的解的个数为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72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027088"/>
              </p:ext>
            </p:extLst>
          </p:nvPr>
        </p:nvGraphicFramePr>
        <p:xfrm>
          <a:off x="432445" y="1223863"/>
          <a:ext cx="11671959" cy="1662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4" name="文档" r:id="rId4" imgW="3826872" imgH="545178" progId="Word.Document.12">
                  <p:embed/>
                </p:oleObj>
              </mc:Choice>
              <mc:Fallback>
                <p:oleObj name="文档" r:id="rId4" imgW="3826872" imgH="5451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23863"/>
                        <a:ext cx="11671959" cy="1662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407729"/>
              </p:ext>
            </p:extLst>
          </p:nvPr>
        </p:nvGraphicFramePr>
        <p:xfrm>
          <a:off x="432444" y="3076407"/>
          <a:ext cx="11671959" cy="64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5" name="文档" r:id="rId7" imgW="3837724" imgH="217426" progId="Word.Document.12">
                  <p:embed/>
                </p:oleObj>
              </mc:Choice>
              <mc:Fallback>
                <p:oleObj name="文档" r:id="rId7" imgW="3837724" imgH="2174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076407"/>
                        <a:ext cx="11671959" cy="642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40773" y="381615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785913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在同一平面直角坐标系内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形状相同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位置不同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形状不同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位置不同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根据正弦曲线的作法可知函数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endParaRPr lang="en-US" altLang="zh-CN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的图象只是位置不同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形状相同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89445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642318"/>
              </p:ext>
            </p:extLst>
          </p:nvPr>
        </p:nvGraphicFramePr>
        <p:xfrm>
          <a:off x="360437" y="1583903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文档" r:id="rId4" imgW="3826872" imgH="228565" progId="Word.Document.12">
                  <p:embed/>
                </p:oleObj>
              </mc:Choice>
              <mc:Fallback>
                <p:oleObj name="文档" r:id="rId4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583903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434697"/>
              </p:ext>
            </p:extLst>
          </p:nvPr>
        </p:nvGraphicFramePr>
        <p:xfrm>
          <a:off x="360437" y="2375991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文档" r:id="rId7" imgW="3837724" imgH="402401" progId="Word.Document.12">
                  <p:embed/>
                </p:oleObj>
              </mc:Choice>
              <mc:Fallback>
                <p:oleObj name="文档" r:id="rId7" imgW="3837724" imgH="4024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375991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88429" y="3672135"/>
            <a:ext cx="145264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79927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544939"/>
              </p:ext>
            </p:extLst>
          </p:nvPr>
        </p:nvGraphicFramePr>
        <p:xfrm>
          <a:off x="648469" y="647799"/>
          <a:ext cx="10607329" cy="790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文档" r:id="rId4" imgW="3467489" imgH="258394" progId="Word.Document.12">
                  <p:embed/>
                </p:oleObj>
              </mc:Choice>
              <mc:Fallback>
                <p:oleObj name="文档" r:id="rId4" imgW="3467489" imgH="2583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469" y="647799"/>
                        <a:ext cx="10607329" cy="790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937441"/>
              </p:ext>
            </p:extLst>
          </p:nvPr>
        </p:nvGraphicFramePr>
        <p:xfrm>
          <a:off x="648469" y="1470422"/>
          <a:ext cx="10607329" cy="2857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文档" r:id="rId7" imgW="3477813" imgH="936772" progId="Word.Document.12">
                  <p:embed/>
                </p:oleObj>
              </mc:Choice>
              <mc:Fallback>
                <p:oleObj name="文档" r:id="rId7" imgW="3477813" imgH="9367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8469" y="1470422"/>
                        <a:ext cx="10607329" cy="2857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1Q22.eps" descr="id:2147498403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5044083" y="3608404"/>
            <a:ext cx="5037434" cy="274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232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69</TotalTime>
  <Words>1373</Words>
  <Application>Microsoft Office PowerPoint</Application>
  <PresentationFormat>自定义</PresentationFormat>
  <Paragraphs>95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29</cp:revision>
  <dcterms:created xsi:type="dcterms:W3CDTF">2020-09-12T05:36:12Z</dcterms:created>
  <dcterms:modified xsi:type="dcterms:W3CDTF">2025-08-18T05:46:02Z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