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95" r:id="rId15"/>
    <p:sldId id="763" r:id="rId16"/>
    <p:sldId id="764" r:id="rId17"/>
    <p:sldId id="768" r:id="rId18"/>
    <p:sldId id="737" r:id="rId19"/>
    <p:sldId id="750" r:id="rId20"/>
    <p:sldId id="769" r:id="rId21"/>
    <p:sldId id="770" r:id="rId22"/>
    <p:sldId id="754" r:id="rId23"/>
    <p:sldId id="771" r:id="rId24"/>
    <p:sldId id="772" r:id="rId25"/>
    <p:sldId id="755" r:id="rId26"/>
    <p:sldId id="773" r:id="rId27"/>
    <p:sldId id="774" r:id="rId28"/>
    <p:sldId id="775" r:id="rId29"/>
    <p:sldId id="776" r:id="rId30"/>
    <p:sldId id="777" r:id="rId31"/>
    <p:sldId id="747" r:id="rId32"/>
    <p:sldId id="751" r:id="rId33"/>
    <p:sldId id="787" r:id="rId34"/>
    <p:sldId id="789" r:id="rId35"/>
    <p:sldId id="790" r:id="rId36"/>
    <p:sldId id="748" r:id="rId37"/>
    <p:sldId id="752" r:id="rId38"/>
    <p:sldId id="791" r:id="rId39"/>
    <p:sldId id="792" r:id="rId40"/>
    <p:sldId id="793" r:id="rId41"/>
    <p:sldId id="794" r:id="rId42"/>
    <p:sldId id="735" r:id="rId43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180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42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6.xml"/><Relationship Id="rId5" Type="http://schemas.openxmlformats.org/officeDocument/2006/relationships/slide" Target="slide31.xml"/><Relationship Id="rId4" Type="http://schemas.openxmlformats.org/officeDocument/2006/relationships/slide" Target="slide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7" Type="http://schemas.openxmlformats.org/officeDocument/2006/relationships/package" Target="../embeddings/Microsoft_Word___3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8.docx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3.emf"/><Relationship Id="rId5" Type="http://schemas.openxmlformats.org/officeDocument/2006/relationships/image" Target="../media/image11.emf"/><Relationship Id="rId10" Type="http://schemas.openxmlformats.org/officeDocument/2006/relationships/package" Target="../embeddings/Microsoft_Word___11.docx"/><Relationship Id="rId4" Type="http://schemas.openxmlformats.org/officeDocument/2006/relationships/package" Target="../embeddings/Microsoft_Word___9.docx"/><Relationship Id="rId9" Type="http://schemas.openxmlformats.org/officeDocument/2006/relationships/oleObject" Target="../embeddings/oleObject1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2.bin"/><Relationship Id="rId7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2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4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5.docx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6.bin"/><Relationship Id="rId7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6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8.docx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9.bin"/><Relationship Id="rId7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3.emf"/><Relationship Id="rId5" Type="http://schemas.openxmlformats.org/officeDocument/2006/relationships/image" Target="../media/image21.emf"/><Relationship Id="rId10" Type="http://schemas.openxmlformats.org/officeDocument/2006/relationships/package" Target="../embeddings/Microsoft_Word___21.docx"/><Relationship Id="rId4" Type="http://schemas.openxmlformats.org/officeDocument/2006/relationships/package" Target="../embeddings/Microsoft_Word___19.docx"/><Relationship Id="rId9" Type="http://schemas.openxmlformats.org/officeDocument/2006/relationships/oleObject" Target="../embeddings/oleObject2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7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2.docx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4.docx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26.bin"/><Relationship Id="rId7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6.docx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8.bin"/><Relationship Id="rId7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8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30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31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32.docx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33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34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35.docx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36.bin"/><Relationship Id="rId7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36.docx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8.bin"/><Relationship Id="rId7" Type="http://schemas.openxmlformats.org/officeDocument/2006/relationships/package" Target="../embeddings/Microsoft_Word___3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8.docx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oleObject" Target="../embeddings/oleObject40.bin"/><Relationship Id="rId7" Type="http://schemas.openxmlformats.org/officeDocument/2006/relationships/package" Target="../embeddings/Microsoft_Word___4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40.docx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oleObject" Target="../embeddings/oleObject42.bin"/><Relationship Id="rId7" Type="http://schemas.openxmlformats.org/officeDocument/2006/relationships/package" Target="../embeddings/Microsoft_Word___4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44.emf"/><Relationship Id="rId4" Type="http://schemas.openxmlformats.org/officeDocument/2006/relationships/package" Target="../embeddings/Microsoft_Word___42.docx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46.emf"/><Relationship Id="rId4" Type="http://schemas.openxmlformats.org/officeDocument/2006/relationships/package" Target="../embeddings/Microsoft_Word___44.docx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oleObject" Target="../embeddings/oleObject45.bin"/><Relationship Id="rId7" Type="http://schemas.openxmlformats.org/officeDocument/2006/relationships/package" Target="../embeddings/Microsoft_Word___4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47.emf"/><Relationship Id="rId4" Type="http://schemas.openxmlformats.org/officeDocument/2006/relationships/package" Target="../embeddings/Microsoft_Word___45.docx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oleObject" Target="../embeddings/oleObject47.bin"/><Relationship Id="rId7" Type="http://schemas.openxmlformats.org/officeDocument/2006/relationships/package" Target="../embeddings/Microsoft_Word___4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49.emf"/><Relationship Id="rId4" Type="http://schemas.openxmlformats.org/officeDocument/2006/relationships/package" Target="../embeddings/Microsoft_Word___47.docx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03673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简单的三角恒等变换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791815"/>
            <a:ext cx="10729192" cy="5060491"/>
            <a:chOff x="360437" y="791815"/>
            <a:chExt cx="10729192" cy="5060491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5"/>
              <a:ext cx="10729192" cy="5060491"/>
              <a:chOff x="360437" y="1511895"/>
              <a:chExt cx="10729192" cy="345638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5"/>
                <a:ext cx="10729192" cy="345638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573017"/>
                <a:ext cx="0" cy="3312368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965327"/>
              <a:ext cx="8496944" cy="48197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能用二倍角公式推导出半角公式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以及进行简单的应用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能运用两角和与差以及二倍角的正弦、余弦、正切公式进行简单的恒等变换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掌握三角恒等变换在三角函数图象与性质中的应用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体会三角恒等变换的基本思想方法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逻辑推理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23863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一、半角公式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我们知道在倍角公式中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倍角是相对的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对余弦的二倍角公式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若用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替换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则能得到什么结论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236265"/>
              </p:ext>
            </p:extLst>
          </p:nvPr>
        </p:nvGraphicFramePr>
        <p:xfrm>
          <a:off x="432445" y="3175202"/>
          <a:ext cx="11671959" cy="1289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文档" r:id="rId4" imgW="3837724" imgH="424035" progId="Word.Document.12">
                  <p:embed/>
                </p:oleObj>
              </mc:Choice>
              <mc:Fallback>
                <p:oleObj name="文档" r:id="rId4" imgW="3837724" imgH="4240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3175202"/>
                        <a:ext cx="11671959" cy="12890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469484"/>
              </p:ext>
            </p:extLst>
          </p:nvPr>
        </p:nvGraphicFramePr>
        <p:xfrm>
          <a:off x="360437" y="963147"/>
          <a:ext cx="11671959" cy="644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文档" r:id="rId4" imgW="3826872" imgH="211315" progId="Word.Document.12">
                  <p:embed/>
                </p:oleObj>
              </mc:Choice>
              <mc:Fallback>
                <p:oleObj name="文档" r:id="rId4" imgW="3826872" imgH="2113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963147"/>
                        <a:ext cx="11671959" cy="644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831541"/>
              </p:ext>
            </p:extLst>
          </p:nvPr>
        </p:nvGraphicFramePr>
        <p:xfrm>
          <a:off x="360437" y="1693059"/>
          <a:ext cx="11671959" cy="3749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文档" r:id="rId7" imgW="3826872" imgH="1229436" progId="Word.Document.12">
                  <p:embed/>
                </p:oleObj>
              </mc:Choice>
              <mc:Fallback>
                <p:oleObj name="文档" r:id="rId7" imgW="3826872" imgH="12294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1693059"/>
                        <a:ext cx="11671959" cy="3749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240783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544432"/>
              </p:ext>
            </p:extLst>
          </p:nvPr>
        </p:nvGraphicFramePr>
        <p:xfrm>
          <a:off x="353774" y="1276207"/>
          <a:ext cx="11671959" cy="1227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文档" r:id="rId4" imgW="3826872" imgH="402505" progId="Word.Document.12">
                  <p:embed/>
                </p:oleObj>
              </mc:Choice>
              <mc:Fallback>
                <p:oleObj name="文档" r:id="rId4" imgW="3826872" imgH="40250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3774" y="1276207"/>
                        <a:ext cx="11671959" cy="1227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986466"/>
              </p:ext>
            </p:extLst>
          </p:nvPr>
        </p:nvGraphicFramePr>
        <p:xfrm>
          <a:off x="353773" y="2548957"/>
          <a:ext cx="11671959" cy="1997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文档" r:id="rId7" imgW="3826872" imgH="654789" progId="Word.Document.12">
                  <p:embed/>
                </p:oleObj>
              </mc:Choice>
              <mc:Fallback>
                <p:oleObj name="文档" r:id="rId7" imgW="3826872" imgH="6547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3773" y="2548957"/>
                        <a:ext cx="11671959" cy="19971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721237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998910"/>
              </p:ext>
            </p:extLst>
          </p:nvPr>
        </p:nvGraphicFramePr>
        <p:xfrm>
          <a:off x="576461" y="925999"/>
          <a:ext cx="11671959" cy="4920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文档" r:id="rId4" imgW="3837724" imgH="1618617" progId="Word.Document.12">
                  <p:embed/>
                </p:oleObj>
              </mc:Choice>
              <mc:Fallback>
                <p:oleObj name="文档" r:id="rId4" imgW="3837724" imgH="16186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925999"/>
                        <a:ext cx="11671959" cy="49204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020793" y="1511895"/>
            <a:ext cx="1796028" cy="916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2016621" y="2429781"/>
            <a:ext cx="17939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051599" y="2504950"/>
            <a:ext cx="1796028" cy="916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2047427" y="3422836"/>
            <a:ext cx="17939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046836" y="3495580"/>
            <a:ext cx="1796028" cy="916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2042664" y="4413466"/>
            <a:ext cx="17939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43694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25282"/>
              </p:ext>
            </p:extLst>
          </p:nvPr>
        </p:nvGraphicFramePr>
        <p:xfrm>
          <a:off x="504453" y="1367879"/>
          <a:ext cx="11671959" cy="3314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文档" r:id="rId4" imgW="3826872" imgH="1086763" progId="Word.Document.12">
                  <p:embed/>
                </p:oleObj>
              </mc:Choice>
              <mc:Fallback>
                <p:oleObj name="文档" r:id="rId4" imgW="3826872" imgH="10867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367879"/>
                        <a:ext cx="11671959" cy="3314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120702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130124"/>
              </p:ext>
            </p:extLst>
          </p:nvPr>
        </p:nvGraphicFramePr>
        <p:xfrm>
          <a:off x="432445" y="1223863"/>
          <a:ext cx="11671959" cy="3616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文档" r:id="rId4" imgW="3826872" imgH="1185592" progId="Word.Document.12">
                  <p:embed/>
                </p:oleObj>
              </mc:Choice>
              <mc:Fallback>
                <p:oleObj name="文档" r:id="rId4" imgW="3826872" imgH="1185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223863"/>
                        <a:ext cx="11671959" cy="3616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612776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146412"/>
              </p:ext>
            </p:extLst>
          </p:nvPr>
        </p:nvGraphicFramePr>
        <p:xfrm>
          <a:off x="504453" y="1079847"/>
          <a:ext cx="11671959" cy="69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9" name="文档" r:id="rId4" imgW="3826872" imgH="229284" progId="Word.Document.12">
                  <p:embed/>
                </p:oleObj>
              </mc:Choice>
              <mc:Fallback>
                <p:oleObj name="文档" r:id="rId4" imgW="3826872" imgH="2292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079847"/>
                        <a:ext cx="11671959" cy="699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2101"/>
              </p:ext>
            </p:extLst>
          </p:nvPr>
        </p:nvGraphicFramePr>
        <p:xfrm>
          <a:off x="504453" y="1862103"/>
          <a:ext cx="11671959" cy="2199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" name="文档" r:id="rId7" imgW="3826872" imgH="721274" progId="Word.Document.12">
                  <p:embed/>
                </p:oleObj>
              </mc:Choice>
              <mc:Fallback>
                <p:oleObj name="文档" r:id="rId7" imgW="3826872" imgH="7212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1862103"/>
                        <a:ext cx="11671959" cy="21998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612772"/>
              </p:ext>
            </p:extLst>
          </p:nvPr>
        </p:nvGraphicFramePr>
        <p:xfrm>
          <a:off x="504453" y="4186756"/>
          <a:ext cx="11671959" cy="781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文档" r:id="rId10" imgW="3826872" imgH="256237" progId="Word.Document.12">
                  <p:embed/>
                </p:oleObj>
              </mc:Choice>
              <mc:Fallback>
                <p:oleObj name="文档" r:id="rId10" imgW="3826872" imgH="2562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4453" y="4186756"/>
                        <a:ext cx="11671959" cy="7815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761424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94039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二、辅助角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公式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5886539"/>
              </p:ext>
            </p:extLst>
          </p:nvPr>
        </p:nvGraphicFramePr>
        <p:xfrm>
          <a:off x="550829" y="1420223"/>
          <a:ext cx="10640962" cy="1378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8" name="文档" r:id="rId4" imgW="3837724" imgH="497592" progId="Word.Document.12">
                  <p:embed/>
                </p:oleObj>
              </mc:Choice>
              <mc:Fallback>
                <p:oleObj name="文档" r:id="rId4" imgW="3837724" imgH="497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0829" y="1420223"/>
                        <a:ext cx="10640962" cy="13786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679760"/>
              </p:ext>
            </p:extLst>
          </p:nvPr>
        </p:nvGraphicFramePr>
        <p:xfrm>
          <a:off x="445319" y="2645740"/>
          <a:ext cx="10640962" cy="358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9" name="文档" r:id="rId7" imgW="3826872" imgH="1291609" progId="Word.Document.12">
                  <p:embed/>
                </p:oleObj>
              </mc:Choice>
              <mc:Fallback>
                <p:oleObj name="文档" r:id="rId7" imgW="3826872" imgH="12916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5319" y="2645740"/>
                        <a:ext cx="10640962" cy="3589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592725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770584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的化简结果是什么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026657"/>
              </p:ext>
            </p:extLst>
          </p:nvPr>
        </p:nvGraphicFramePr>
        <p:xfrm>
          <a:off x="395962" y="1432351"/>
          <a:ext cx="11705058" cy="4524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6" name="文档" r:id="rId4" imgW="3837724" imgH="1483402" progId="Word.Document.12">
                  <p:embed/>
                </p:oleObj>
              </mc:Choice>
              <mc:Fallback>
                <p:oleObj name="文档" r:id="rId4" imgW="3837724" imgH="14834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5962" y="1432351"/>
                        <a:ext cx="11705058" cy="45243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50682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761048"/>
              </p:ext>
            </p:extLst>
          </p:nvPr>
        </p:nvGraphicFramePr>
        <p:xfrm>
          <a:off x="432445" y="1511895"/>
          <a:ext cx="10607329" cy="3232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0" name="文档" r:id="rId4" imgW="3477813" imgH="1059727" progId="Word.Document.12">
                  <p:embed/>
                </p:oleObj>
              </mc:Choice>
              <mc:Fallback>
                <p:oleObj name="文档" r:id="rId4" imgW="3477813" imgH="10597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511895"/>
                        <a:ext cx="10607329" cy="32321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795915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210641"/>
              </p:ext>
            </p:extLst>
          </p:nvPr>
        </p:nvGraphicFramePr>
        <p:xfrm>
          <a:off x="430213" y="588963"/>
          <a:ext cx="10583862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name="文档" r:id="rId4" imgW="3467489" imgH="679946" progId="Word.Document.12">
                  <p:embed/>
                </p:oleObj>
              </mc:Choice>
              <mc:Fallback>
                <p:oleObj name="文档" r:id="rId4" imgW="3467489" imgH="6799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588963"/>
                        <a:ext cx="10583862" cy="207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027784"/>
              </p:ext>
            </p:extLst>
          </p:nvPr>
        </p:nvGraphicFramePr>
        <p:xfrm>
          <a:off x="432445" y="2621511"/>
          <a:ext cx="10607329" cy="3216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4" name="文档" r:id="rId7" imgW="3477813" imgH="1054679" progId="Word.Document.12">
                  <p:embed/>
                </p:oleObj>
              </mc:Choice>
              <mc:Fallback>
                <p:oleObj name="文档" r:id="rId7" imgW="3477813" imgH="10546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621511"/>
                        <a:ext cx="10607329" cy="3216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0437" y="5820031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31408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791815"/>
            <a:ext cx="11814462" cy="5256584"/>
            <a:chOff x="361950" y="719807"/>
            <a:chExt cx="11814462" cy="5256584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719807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0916401"/>
                </p:ext>
              </p:extLst>
            </p:nvPr>
          </p:nvGraphicFramePr>
          <p:xfrm>
            <a:off x="504453" y="2599288"/>
            <a:ext cx="11671959" cy="33771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8" name="文档" r:id="rId4" imgW="3826872" imgH="1107247" progId="Word.Document.12">
                    <p:embed/>
                  </p:oleObj>
                </mc:Choice>
                <mc:Fallback>
                  <p:oleObj name="文档" r:id="rId4" imgW="3826872" imgH="11072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2599288"/>
                          <a:ext cx="11671959" cy="33771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/>
          <p:nvPr/>
        </p:nvSpPr>
        <p:spPr>
          <a:xfrm>
            <a:off x="4176861" y="295205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841157" y="374414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281317" y="446422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040044" y="540032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86018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用</a:t>
            </a:r>
            <a:r>
              <a:rPr lang="zh-CN" altLang="zh-CN" dirty="0"/>
              <a:t>半角公式解决求值问题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623597"/>
              </p:ext>
            </p:extLst>
          </p:nvPr>
        </p:nvGraphicFramePr>
        <p:xfrm>
          <a:off x="360437" y="1418448"/>
          <a:ext cx="11671959" cy="706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name="文档" r:id="rId4" imgW="3826872" imgH="231800" progId="Word.Document.12">
                  <p:embed/>
                </p:oleObj>
              </mc:Choice>
              <mc:Fallback>
                <p:oleObj name="文档" r:id="rId4" imgW="3826872" imgH="2318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418448"/>
                        <a:ext cx="11671959" cy="706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184917"/>
              </p:ext>
            </p:extLst>
          </p:nvPr>
        </p:nvGraphicFramePr>
        <p:xfrm>
          <a:off x="432445" y="2207278"/>
          <a:ext cx="10607329" cy="125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4" name="文档" r:id="rId7" imgW="3477813" imgH="412136" progId="Word.Document.12">
                  <p:embed/>
                </p:oleObj>
              </mc:Choice>
              <mc:Fallback>
                <p:oleObj name="文档" r:id="rId7" imgW="3477813" imgH="4121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207278"/>
                        <a:ext cx="10607329" cy="1257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525383"/>
              </p:ext>
            </p:extLst>
          </p:nvPr>
        </p:nvGraphicFramePr>
        <p:xfrm>
          <a:off x="432445" y="3455696"/>
          <a:ext cx="10607329" cy="2530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文档" r:id="rId10" imgW="3477813" imgH="829681" progId="Word.Document.12">
                  <p:embed/>
                </p:oleObj>
              </mc:Choice>
              <mc:Fallback>
                <p:oleObj name="文档" r:id="rId10" imgW="3477813" imgH="8296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2445" y="3455696"/>
                        <a:ext cx="10607329" cy="25305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2087835" y="1345227"/>
            <a:ext cx="13257485" cy="3046988"/>
            <a:chOff x="-2087835" y="1186344"/>
            <a:chExt cx="13257485" cy="3046988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1186344"/>
              <a:ext cx="10807700" cy="304698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已知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的某个三角函数值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的三角函数值的步骤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的取值范围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利用同角三角函数基本关系式求得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的其他三角函数值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注意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的取值范围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代入半角公式计算即可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5303223"/>
                </p:ext>
              </p:extLst>
            </p:nvPr>
          </p:nvGraphicFramePr>
          <p:xfrm>
            <a:off x="1408245" y="1760250"/>
            <a:ext cx="7994713" cy="6549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50" name="文档" r:id="rId4" imgW="3837724" imgH="314421" progId="Word.Document.12">
                    <p:embed/>
                  </p:oleObj>
                </mc:Choice>
                <mc:Fallback>
                  <p:oleObj name="文档" r:id="rId4" imgW="3837724" imgH="31442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408245" y="1760250"/>
                          <a:ext cx="7994713" cy="6549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8487947"/>
                </p:ext>
              </p:extLst>
            </p:nvPr>
          </p:nvGraphicFramePr>
          <p:xfrm>
            <a:off x="-2087835" y="3515853"/>
            <a:ext cx="7994713" cy="6549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51" name="文档" r:id="rId7" imgW="3837724" imgH="314421" progId="Word.Document.12">
                    <p:embed/>
                  </p:oleObj>
                </mc:Choice>
                <mc:Fallback>
                  <p:oleObj name="文档" r:id="rId7" imgW="3837724" imgH="31442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2087835" y="3515853"/>
                          <a:ext cx="7994713" cy="6549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3967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626052"/>
              </p:ext>
            </p:extLst>
          </p:nvPr>
        </p:nvGraphicFramePr>
        <p:xfrm>
          <a:off x="432445" y="873655"/>
          <a:ext cx="10607329" cy="1312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name="文档" r:id="rId4" imgW="3477813" imgH="430165" progId="Word.Document.12">
                  <p:embed/>
                </p:oleObj>
              </mc:Choice>
              <mc:Fallback>
                <p:oleObj name="文档" r:id="rId4" imgW="3477813" imgH="4301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73655"/>
                        <a:ext cx="10607329" cy="1312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4752444"/>
              </p:ext>
            </p:extLst>
          </p:nvPr>
        </p:nvGraphicFramePr>
        <p:xfrm>
          <a:off x="460093" y="2226261"/>
          <a:ext cx="10607329" cy="3337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文档" r:id="rId7" imgW="3477813" imgH="1094343" progId="Word.Document.12">
                  <p:embed/>
                </p:oleObj>
              </mc:Choice>
              <mc:Fallback>
                <p:oleObj name="文档" r:id="rId7" imgW="3477813" imgH="10943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0093" y="2226261"/>
                        <a:ext cx="10607329" cy="33377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384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三</a:t>
            </a:r>
            <a:r>
              <a:rPr lang="zh-CN" altLang="zh-CN" dirty="0"/>
              <a:t>角恒等式的证明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638036"/>
              </p:ext>
            </p:extLst>
          </p:nvPr>
        </p:nvGraphicFramePr>
        <p:xfrm>
          <a:off x="360437" y="1318719"/>
          <a:ext cx="11671959" cy="835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0" name="文档" r:id="rId4" imgW="3826872" imgH="273847" progId="Word.Document.12">
                  <p:embed/>
                </p:oleObj>
              </mc:Choice>
              <mc:Fallback>
                <p:oleObj name="文档" r:id="rId4" imgW="3826872" imgH="2738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318719"/>
                        <a:ext cx="11671959" cy="8352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208795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先将原式转化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左右统一名称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再左右归一证明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892788"/>
              </p:ext>
            </p:extLst>
          </p:nvPr>
        </p:nvGraphicFramePr>
        <p:xfrm>
          <a:off x="432445" y="2726199"/>
          <a:ext cx="11671959" cy="371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1" name="文档" r:id="rId7" imgW="3826872" imgH="1217217" progId="Word.Document.12">
                  <p:embed/>
                </p:oleObj>
              </mc:Choice>
              <mc:Fallback>
                <p:oleObj name="文档" r:id="rId7" imgW="3826872" imgH="12172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726199"/>
                        <a:ext cx="11671959" cy="3712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1489243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证明三角恒等式的实质是消除等式两边的差异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有目的地化繁为简、左右归一或变更论证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常用定义法、化弦法、化切法、拆项拆角法、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“1”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的代换法、公式变形法等方法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要熟练掌握基本公式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从中选择巧妙简捷的方法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51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1975706"/>
              </p:ext>
            </p:extLst>
          </p:nvPr>
        </p:nvGraphicFramePr>
        <p:xfrm>
          <a:off x="432445" y="895849"/>
          <a:ext cx="11671959" cy="700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name="文档" r:id="rId4" imgW="3826872" imgH="229643" progId="Word.Document.12">
                  <p:embed/>
                </p:oleObj>
              </mc:Choice>
              <mc:Fallback>
                <p:oleObj name="文档" r:id="rId4" imgW="3826872" imgH="2296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95849"/>
                        <a:ext cx="11671959" cy="7004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211748"/>
              </p:ext>
            </p:extLst>
          </p:nvPr>
        </p:nvGraphicFramePr>
        <p:xfrm>
          <a:off x="432445" y="1737751"/>
          <a:ext cx="11671959" cy="3918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name="文档" r:id="rId7" imgW="3826872" imgH="1284781" progId="Word.Document.12">
                  <p:embed/>
                </p:oleObj>
              </mc:Choice>
              <mc:Fallback>
                <p:oleObj name="文档" r:id="rId7" imgW="3826872" imgH="12847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1737751"/>
                        <a:ext cx="11671959" cy="39185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512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三</a:t>
            </a:r>
            <a:r>
              <a:rPr lang="zh-CN" altLang="zh-CN" dirty="0"/>
              <a:t>角恒等变换与三角函数的综合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460896"/>
              </p:ext>
            </p:extLst>
          </p:nvPr>
        </p:nvGraphicFramePr>
        <p:xfrm>
          <a:off x="504825" y="1639888"/>
          <a:ext cx="116459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文档" r:id="rId4" imgW="3826872" imgH="584351" progId="Word.Document.12">
                  <p:embed/>
                </p:oleObj>
              </mc:Choice>
              <mc:Fallback>
                <p:oleObj name="文档" r:id="rId4" imgW="3826872" imgH="5843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1639888"/>
                        <a:ext cx="11645900" cy="176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462606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先利用辅助角公式将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化为一个角的三角函数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再根据三角函数的性质求解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889017"/>
              </p:ext>
            </p:extLst>
          </p:nvPr>
        </p:nvGraphicFramePr>
        <p:xfrm>
          <a:off x="504453" y="1007839"/>
          <a:ext cx="11671959" cy="4404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文档" r:id="rId4" imgW="3826872" imgH="1443986" progId="Word.Document.12">
                  <p:embed/>
                </p:oleObj>
              </mc:Choice>
              <mc:Fallback>
                <p:oleObj name="文档" r:id="rId4" imgW="3826872" imgH="14439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007839"/>
                        <a:ext cx="11671959" cy="44041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9019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535308"/>
              </p:ext>
            </p:extLst>
          </p:nvPr>
        </p:nvGraphicFramePr>
        <p:xfrm>
          <a:off x="504453" y="1798644"/>
          <a:ext cx="11671959" cy="2161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文档" r:id="rId4" imgW="3826872" imgH="708696" progId="Word.Document.12">
                  <p:embed/>
                </p:oleObj>
              </mc:Choice>
              <mc:Fallback>
                <p:oleObj name="文档" r:id="rId4" imgW="3826872" imgH="7086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798644"/>
                        <a:ext cx="11671959" cy="21615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507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79847"/>
            <a:ext cx="10807700" cy="4228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为了研究有关三角函数的性质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要充分利用三角变换公式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将已知函数转化为正弦型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或余弦型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这是解决问题的前提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解此类题时要充分运用两角和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公式、二倍角公式、辅助角公式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减少角的种类和函数式的项数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方便讨论函数的性质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1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287499"/>
            <a:ext cx="11814462" cy="3320740"/>
            <a:chOff x="361950" y="1215491"/>
            <a:chExt cx="11814462" cy="3320740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6726379"/>
                </p:ext>
              </p:extLst>
            </p:nvPr>
          </p:nvGraphicFramePr>
          <p:xfrm>
            <a:off x="504453" y="1215491"/>
            <a:ext cx="11671959" cy="14260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8" name="文档" r:id="rId4" imgW="3826872" imgH="467552" progId="Word.Document.12">
                    <p:embed/>
                  </p:oleObj>
                </mc:Choice>
                <mc:Fallback>
                  <p:oleObj name="文档" r:id="rId4" imgW="3826872" imgH="46755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1215491"/>
                          <a:ext cx="11671959" cy="142603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727659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的最小正周期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的最大值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并求使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取得最大值时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的取值集合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437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607837"/>
              </p:ext>
            </p:extLst>
          </p:nvPr>
        </p:nvGraphicFramePr>
        <p:xfrm>
          <a:off x="576461" y="791815"/>
          <a:ext cx="11671959" cy="5199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文档" r:id="rId4" imgW="3826872" imgH="1704895" progId="Word.Document.12">
                  <p:embed/>
                </p:oleObj>
              </mc:Choice>
              <mc:Fallback>
                <p:oleObj name="文档" r:id="rId4" imgW="3826872" imgH="17048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791815"/>
                        <a:ext cx="11671959" cy="5199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546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898106"/>
              </p:ext>
            </p:extLst>
          </p:nvPr>
        </p:nvGraphicFramePr>
        <p:xfrm>
          <a:off x="504453" y="853175"/>
          <a:ext cx="10607329" cy="5195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3" name="文档" r:id="rId4" imgW="3477813" imgH="1703352" progId="Word.Document.12">
                  <p:embed/>
                </p:oleObj>
              </mc:Choice>
              <mc:Fallback>
                <p:oleObj name="文档" r:id="rId4" imgW="3477813" imgH="17033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53175"/>
                        <a:ext cx="10607329" cy="51952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4779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381590"/>
              </p:ext>
            </p:extLst>
          </p:nvPr>
        </p:nvGraphicFramePr>
        <p:xfrm>
          <a:off x="462135" y="1845776"/>
          <a:ext cx="10607329" cy="1205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2" name="文档" r:id="rId4" imgW="3477813" imgH="395189" progId="Word.Document.12">
                  <p:embed/>
                </p:oleObj>
              </mc:Choice>
              <mc:Fallback>
                <p:oleObj name="文档" r:id="rId4" imgW="3477813" imgH="3951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2135" y="1845776"/>
                        <a:ext cx="10607329" cy="12053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358560"/>
              </p:ext>
            </p:extLst>
          </p:nvPr>
        </p:nvGraphicFramePr>
        <p:xfrm>
          <a:off x="442972" y="3058933"/>
          <a:ext cx="10607329" cy="2753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3" name="文档" r:id="rId7" imgW="3477813" imgH="902878" progId="Word.Document.12">
                  <p:embed/>
                </p:oleObj>
              </mc:Choice>
              <mc:Fallback>
                <p:oleObj name="文档" r:id="rId7" imgW="3477813" imgH="9028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2972" y="3058933"/>
                        <a:ext cx="10607329" cy="27537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1949" y="5777247"/>
            <a:ext cx="158889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49409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61950" y="964988"/>
                <a:ext cx="10807700" cy="442550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cs typeface="Times New Roman" panose="02020603050405020304" pitchFamily="18" charset="0"/>
                  </a:rPr>
                  <a:t>防范措施</a:t>
                </a:r>
                <a:endParaRPr lang="zh-CN" altLang="zh-CN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正确使用辅助角公式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把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y=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sin</a:t>
                </a:r>
                <a:r>
                  <a:rPr lang="en-US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x+b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cos</a:t>
                </a:r>
                <a:r>
                  <a:rPr lang="en-US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转化为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y=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sin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x+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φ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)(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y=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cos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x+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))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的形式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要注意以下两点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: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(1)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熟记两角和差的正弦、余弦公式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;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(2)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逆用两角和差的正弦、余弦公式时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要注意分清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i Baiti" panose="03000500000000000000" pitchFamily="66" charset="0"/>
                            <a:cs typeface="Times New Roman" panose="02020603050405020304" pitchFamily="18" charset="0"/>
                          </a:rPr>
                          <m:t>π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  <m:r>
                      <a:rPr lang="zh-CN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rPr>
                      <m:t>和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i Baiti" panose="03000500000000000000" pitchFamily="66" charset="0"/>
                            <a:cs typeface="Times New Roman" panose="02020603050405020304" pitchFamily="18" charset="0"/>
                          </a:rPr>
                          <m:t>π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的正弦值和余弦值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.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964988"/>
                <a:ext cx="10807700" cy="4425507"/>
              </a:xfrm>
              <a:prstGeom prst="rect">
                <a:avLst/>
              </a:prstGeom>
              <a:blipFill rotWithShape="0">
                <a:blip r:embed="rId2"/>
                <a:stretch>
                  <a:fillRect l="-1352" t="-1236" r="-1352" b="-21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48006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065642"/>
              </p:ext>
            </p:extLst>
          </p:nvPr>
        </p:nvGraphicFramePr>
        <p:xfrm>
          <a:off x="504453" y="719807"/>
          <a:ext cx="10607329" cy="2545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0" name="文档" r:id="rId4" imgW="3477813" imgH="834729" progId="Word.Document.12">
                  <p:embed/>
                </p:oleObj>
              </mc:Choice>
              <mc:Fallback>
                <p:oleObj name="文档" r:id="rId4" imgW="3477813" imgH="8347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19807"/>
                        <a:ext cx="10607329" cy="25459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211452"/>
              </p:ext>
            </p:extLst>
          </p:nvPr>
        </p:nvGraphicFramePr>
        <p:xfrm>
          <a:off x="504452" y="3376732"/>
          <a:ext cx="10607329" cy="2167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1" name="文档" r:id="rId7" imgW="3477813" imgH="710692" progId="Word.Document.12">
                  <p:embed/>
                </p:oleObj>
              </mc:Choice>
              <mc:Fallback>
                <p:oleObj name="文档" r:id="rId7" imgW="3477813" imgH="7106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3376732"/>
                        <a:ext cx="10607329" cy="21676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494620" y="5581159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99411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869948"/>
              </p:ext>
            </p:extLst>
          </p:nvPr>
        </p:nvGraphicFramePr>
        <p:xfrm>
          <a:off x="504453" y="853991"/>
          <a:ext cx="11671959" cy="2254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2" name="文档" r:id="rId4" imgW="3826872" imgH="739243" progId="Word.Document.12">
                  <p:embed/>
                </p:oleObj>
              </mc:Choice>
              <mc:Fallback>
                <p:oleObj name="文档" r:id="rId4" imgW="3826872" imgH="7392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53991"/>
                        <a:ext cx="11671959" cy="2254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1313157"/>
              </p:ext>
            </p:extLst>
          </p:nvPr>
        </p:nvGraphicFramePr>
        <p:xfrm>
          <a:off x="504453" y="3185217"/>
          <a:ext cx="11671959" cy="1720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3" name="文档" r:id="rId7" imgW="3826872" imgH="564225" progId="Word.Document.12">
                  <p:embed/>
                </p:oleObj>
              </mc:Choice>
              <mc:Fallback>
                <p:oleObj name="文档" r:id="rId7" imgW="3826872" imgH="5642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3185217"/>
                        <a:ext cx="11671959" cy="17208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482614" y="4923255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039773"/>
              </p:ext>
            </p:extLst>
          </p:nvPr>
        </p:nvGraphicFramePr>
        <p:xfrm>
          <a:off x="425782" y="1079847"/>
          <a:ext cx="11671959" cy="2097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6" name="文档" r:id="rId4" imgW="3826872" imgH="687852" progId="Word.Document.12">
                  <p:embed/>
                </p:oleObj>
              </mc:Choice>
              <mc:Fallback>
                <p:oleObj name="文档" r:id="rId4" imgW="3826872" imgH="6878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1079847"/>
                        <a:ext cx="11671959" cy="20979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336797"/>
              </p:ext>
            </p:extLst>
          </p:nvPr>
        </p:nvGraphicFramePr>
        <p:xfrm>
          <a:off x="407737" y="3269583"/>
          <a:ext cx="11671959" cy="10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7" name="文档" r:id="rId7" imgW="3826872" imgH="356504" progId="Word.Document.12">
                  <p:embed/>
                </p:oleObj>
              </mc:Choice>
              <mc:Fallback>
                <p:oleObj name="文档" r:id="rId7" imgW="3826872" imgH="3565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7737" y="3269583"/>
                        <a:ext cx="11671959" cy="1087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51035" y="4458527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47307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48003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的最小正周期为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620523"/>
              </p:ext>
            </p:extLst>
          </p:nvPr>
        </p:nvGraphicFramePr>
        <p:xfrm>
          <a:off x="452109" y="2201976"/>
          <a:ext cx="11671959" cy="1469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2" name="文档" r:id="rId4" imgW="3826872" imgH="481928" progId="Word.Document.12">
                  <p:embed/>
                </p:oleObj>
              </mc:Choice>
              <mc:Fallback>
                <p:oleObj name="文档" r:id="rId4" imgW="3826872" imgH="4819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2109" y="2201976"/>
                        <a:ext cx="11671959" cy="1469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71782" y="3708951"/>
            <a:ext cx="1471878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02456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469700"/>
              </p:ext>
            </p:extLst>
          </p:nvPr>
        </p:nvGraphicFramePr>
        <p:xfrm>
          <a:off x="432445" y="859901"/>
          <a:ext cx="11671959" cy="1302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4" name="文档" r:id="rId4" imgW="3826872" imgH="426943" progId="Word.Document.12">
                  <p:embed/>
                </p:oleObj>
              </mc:Choice>
              <mc:Fallback>
                <p:oleObj name="文档" r:id="rId4" imgW="3826872" imgH="4269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59901"/>
                        <a:ext cx="11671959" cy="1302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7421124"/>
              </p:ext>
            </p:extLst>
          </p:nvPr>
        </p:nvGraphicFramePr>
        <p:xfrm>
          <a:off x="432445" y="2228053"/>
          <a:ext cx="11671959" cy="2557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5" name="文档" r:id="rId7" imgW="3826872" imgH="838432" progId="Word.Document.12">
                  <p:embed/>
                </p:oleObj>
              </mc:Choice>
              <mc:Fallback>
                <p:oleObj name="文档" r:id="rId7" imgW="3826872" imgH="83843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228053"/>
                        <a:ext cx="11671959" cy="25572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432445" y="4851247"/>
            <a:ext cx="2308645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c&lt;a&lt;b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35440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138267"/>
              </p:ext>
            </p:extLst>
          </p:nvPr>
        </p:nvGraphicFramePr>
        <p:xfrm>
          <a:off x="504453" y="762319"/>
          <a:ext cx="11671959" cy="1223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8" name="文档" r:id="rId4" imgW="3826872" imgH="401067" progId="Word.Document.12">
                  <p:embed/>
                </p:oleObj>
              </mc:Choice>
              <mc:Fallback>
                <p:oleObj name="文档" r:id="rId4" imgW="3826872" imgH="4010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62319"/>
                        <a:ext cx="11671959" cy="1223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241937"/>
              </p:ext>
            </p:extLst>
          </p:nvPr>
        </p:nvGraphicFramePr>
        <p:xfrm>
          <a:off x="504453" y="2028085"/>
          <a:ext cx="11671959" cy="4027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9" name="文档" r:id="rId7" imgW="3826872" imgH="1320359" progId="Word.Document.12">
                  <p:embed/>
                </p:oleObj>
              </mc:Choice>
              <mc:Fallback>
                <p:oleObj name="文档" r:id="rId7" imgW="3826872" imgH="13203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2028085"/>
                        <a:ext cx="11671959" cy="4027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273991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96</TotalTime>
  <Words>618</Words>
  <Application>Microsoft Office PowerPoint</Application>
  <PresentationFormat>自定义</PresentationFormat>
  <Paragraphs>52</Paragraphs>
  <Slides>42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9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15</cp:revision>
  <dcterms:created xsi:type="dcterms:W3CDTF">2020-09-12T05:36:12Z</dcterms:created>
  <dcterms:modified xsi:type="dcterms:W3CDTF">2025-08-18T06:58:28Z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