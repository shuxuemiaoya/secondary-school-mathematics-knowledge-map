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2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8" r:id="rId10"/>
    <p:sldId id="780" r:id="rId11"/>
    <p:sldId id="781" r:id="rId12"/>
    <p:sldId id="759" r:id="rId13"/>
    <p:sldId id="737" r:id="rId14"/>
    <p:sldId id="750" r:id="rId15"/>
    <p:sldId id="760" r:id="rId16"/>
    <p:sldId id="762" r:id="rId17"/>
    <p:sldId id="763" r:id="rId18"/>
    <p:sldId id="754" r:id="rId19"/>
    <p:sldId id="764" r:id="rId20"/>
    <p:sldId id="765" r:id="rId21"/>
    <p:sldId id="766" r:id="rId22"/>
    <p:sldId id="767" r:id="rId23"/>
    <p:sldId id="768" r:id="rId24"/>
    <p:sldId id="755" r:id="rId25"/>
    <p:sldId id="769" r:id="rId26"/>
    <p:sldId id="770" r:id="rId27"/>
    <p:sldId id="771" r:id="rId28"/>
    <p:sldId id="747" r:id="rId29"/>
    <p:sldId id="751" r:id="rId30"/>
    <p:sldId id="772" r:id="rId31"/>
    <p:sldId id="773" r:id="rId32"/>
    <p:sldId id="774" r:id="rId33"/>
    <p:sldId id="775" r:id="rId34"/>
    <p:sldId id="748" r:id="rId35"/>
    <p:sldId id="752" r:id="rId36"/>
    <p:sldId id="776" r:id="rId37"/>
    <p:sldId id="777" r:id="rId38"/>
    <p:sldId id="778" r:id="rId39"/>
    <p:sldId id="779" r:id="rId40"/>
    <p:sldId id="735" r:id="rId41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image" Target="../media/image23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image" Target="../media/image25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image" Target="../media/image29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image" Target="../media/image34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image" Target="../media/image36.e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image" Target="../media/image38.e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image" Target="../media/image40.e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image" Target="../media/image42.e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image" Target="../media/image4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40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4.xml"/><Relationship Id="rId5" Type="http://schemas.openxmlformats.org/officeDocument/2006/relationships/slide" Target="slide28.xml"/><Relationship Id="rId4" Type="http://schemas.openxmlformats.org/officeDocument/2006/relationships/slide" Target="slide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2.docx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oleObject" Target="../embeddings/oleObject3.bin"/><Relationship Id="rId7" Type="http://schemas.openxmlformats.org/officeDocument/2006/relationships/package" Target="../embeddings/Microsoft_Word___4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7.emf"/><Relationship Id="rId5" Type="http://schemas.openxmlformats.org/officeDocument/2006/relationships/image" Target="../media/image5.emf"/><Relationship Id="rId10" Type="http://schemas.openxmlformats.org/officeDocument/2006/relationships/package" Target="../embeddings/Microsoft_Word___5.docx"/><Relationship Id="rId4" Type="http://schemas.openxmlformats.org/officeDocument/2006/relationships/package" Target="../embeddings/Microsoft_Word___3.docx"/><Relationship Id="rId9" Type="http://schemas.openxmlformats.org/officeDocument/2006/relationships/oleObject" Target="../embeddings/oleObject5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__6.docx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oleObject" Target="../embeddings/oleObject7.bin"/><Relationship Id="rId7" Type="http://schemas.openxmlformats.org/officeDocument/2006/relationships/package" Target="../embeddings/Microsoft_Word___8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1.emf"/><Relationship Id="rId5" Type="http://schemas.openxmlformats.org/officeDocument/2006/relationships/image" Target="../media/image9.emf"/><Relationship Id="rId10" Type="http://schemas.openxmlformats.org/officeDocument/2006/relationships/package" Target="../embeddings/Microsoft_Word___9.docx"/><Relationship Id="rId4" Type="http://schemas.openxmlformats.org/officeDocument/2006/relationships/package" Target="../embeddings/Microsoft_Word___7.docx"/><Relationship Id="rId9" Type="http://schemas.openxmlformats.org/officeDocument/2006/relationships/oleObject" Target="../embeddings/oleObject9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10.docx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oleObject" Target="../embeddings/oleObject11.bin"/><Relationship Id="rId7" Type="http://schemas.openxmlformats.org/officeDocument/2006/relationships/package" Target="../embeddings/Microsoft_Word___12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11.docx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__13.docx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oleObject" Target="../embeddings/oleObject14.bin"/><Relationship Id="rId7" Type="http://schemas.openxmlformats.org/officeDocument/2006/relationships/package" Target="../embeddings/Microsoft_Word___15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14.docx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oleObject" Target="../embeddings/oleObject16.bin"/><Relationship Id="rId7" Type="http://schemas.openxmlformats.org/officeDocument/2006/relationships/package" Target="../embeddings/Microsoft_Word___17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__16.docx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20.emf"/><Relationship Id="rId4" Type="http://schemas.openxmlformats.org/officeDocument/2006/relationships/package" Target="../embeddings/Microsoft_Word___18.docx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1.emf"/><Relationship Id="rId5" Type="http://schemas.openxmlformats.org/officeDocument/2006/relationships/package" Target="../embeddings/Microsoft_Word___19.docx"/><Relationship Id="rId4" Type="http://schemas.openxmlformats.org/officeDocument/2006/relationships/oleObject" Target="../embeddings/oleObject19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oleObject" Target="../embeddings/oleObject20.bin"/><Relationship Id="rId7" Type="http://schemas.openxmlformats.org/officeDocument/2006/relationships/package" Target="../embeddings/Microsoft_Word___21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23.emf"/><Relationship Id="rId4" Type="http://schemas.openxmlformats.org/officeDocument/2006/relationships/package" Target="../embeddings/Microsoft_Word___20.docx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oleObject" Target="../embeddings/oleObject22.bin"/><Relationship Id="rId7" Type="http://schemas.openxmlformats.org/officeDocument/2006/relationships/package" Target="../embeddings/Microsoft_Word___23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25.emf"/><Relationship Id="rId4" Type="http://schemas.openxmlformats.org/officeDocument/2006/relationships/package" Target="../embeddings/Microsoft_Word___22.docx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27.emf"/><Relationship Id="rId4" Type="http://schemas.openxmlformats.org/officeDocument/2006/relationships/package" Target="../embeddings/Microsoft_Word___24.docx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28.emf"/><Relationship Id="rId4" Type="http://schemas.openxmlformats.org/officeDocument/2006/relationships/package" Target="../embeddings/Microsoft_Word___25.docx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oleObject" Target="../embeddings/oleObject26.bin"/><Relationship Id="rId7" Type="http://schemas.openxmlformats.org/officeDocument/2006/relationships/package" Target="../embeddings/Microsoft_Word___27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27.bin"/><Relationship Id="rId5" Type="http://schemas.openxmlformats.org/officeDocument/2006/relationships/image" Target="../media/image29.emf"/><Relationship Id="rId4" Type="http://schemas.openxmlformats.org/officeDocument/2006/relationships/package" Target="../embeddings/Microsoft_Word___26.docx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31.emf"/><Relationship Id="rId4" Type="http://schemas.openxmlformats.org/officeDocument/2006/relationships/package" Target="../embeddings/Microsoft_Word___28.docx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32.emf"/><Relationship Id="rId4" Type="http://schemas.openxmlformats.org/officeDocument/2006/relationships/package" Target="../embeddings/Microsoft_Word___29.docx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33.emf"/><Relationship Id="rId4" Type="http://schemas.openxmlformats.org/officeDocument/2006/relationships/package" Target="../embeddings/Microsoft_Word___30.docx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3" Type="http://schemas.openxmlformats.org/officeDocument/2006/relationships/oleObject" Target="../embeddings/oleObject31.bin"/><Relationship Id="rId7" Type="http://schemas.openxmlformats.org/officeDocument/2006/relationships/package" Target="../embeddings/Microsoft_Word___32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32.bin"/><Relationship Id="rId5" Type="http://schemas.openxmlformats.org/officeDocument/2006/relationships/image" Target="../media/image34.emf"/><Relationship Id="rId4" Type="http://schemas.openxmlformats.org/officeDocument/2006/relationships/package" Target="../embeddings/Microsoft_Word___31.docx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3" Type="http://schemas.openxmlformats.org/officeDocument/2006/relationships/oleObject" Target="../embeddings/oleObject33.bin"/><Relationship Id="rId7" Type="http://schemas.openxmlformats.org/officeDocument/2006/relationships/package" Target="../embeddings/Microsoft_Word___34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34.bin"/><Relationship Id="rId5" Type="http://schemas.openxmlformats.org/officeDocument/2006/relationships/image" Target="../media/image36.emf"/><Relationship Id="rId4" Type="http://schemas.openxmlformats.org/officeDocument/2006/relationships/package" Target="../embeddings/Microsoft_Word___33.docx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emf"/><Relationship Id="rId3" Type="http://schemas.openxmlformats.org/officeDocument/2006/relationships/oleObject" Target="../embeddings/oleObject35.bin"/><Relationship Id="rId7" Type="http://schemas.openxmlformats.org/officeDocument/2006/relationships/package" Target="../embeddings/Microsoft_Word___36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36.bin"/><Relationship Id="rId5" Type="http://schemas.openxmlformats.org/officeDocument/2006/relationships/image" Target="../media/image38.emf"/><Relationship Id="rId4" Type="http://schemas.openxmlformats.org/officeDocument/2006/relationships/package" Target="../embeddings/Microsoft_Word___35.docx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3" Type="http://schemas.openxmlformats.org/officeDocument/2006/relationships/oleObject" Target="../embeddings/oleObject37.bin"/><Relationship Id="rId7" Type="http://schemas.openxmlformats.org/officeDocument/2006/relationships/package" Target="../embeddings/Microsoft_Word___38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38.bin"/><Relationship Id="rId5" Type="http://schemas.openxmlformats.org/officeDocument/2006/relationships/image" Target="../media/image40.emf"/><Relationship Id="rId4" Type="http://schemas.openxmlformats.org/officeDocument/2006/relationships/package" Target="../embeddings/Microsoft_Word___37.docx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emf"/><Relationship Id="rId3" Type="http://schemas.openxmlformats.org/officeDocument/2006/relationships/oleObject" Target="../embeddings/oleObject39.bin"/><Relationship Id="rId7" Type="http://schemas.openxmlformats.org/officeDocument/2006/relationships/package" Target="../embeddings/Microsoft_Word___40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40.bin"/><Relationship Id="rId5" Type="http://schemas.openxmlformats.org/officeDocument/2006/relationships/image" Target="../media/image42.emf"/><Relationship Id="rId4" Type="http://schemas.openxmlformats.org/officeDocument/2006/relationships/package" Target="../embeddings/Microsoft_Word___39.docx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emf"/><Relationship Id="rId3" Type="http://schemas.openxmlformats.org/officeDocument/2006/relationships/oleObject" Target="../embeddings/oleObject41.bin"/><Relationship Id="rId7" Type="http://schemas.openxmlformats.org/officeDocument/2006/relationships/package" Target="../embeddings/Microsoft_Word___42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42.bin"/><Relationship Id="rId5" Type="http://schemas.openxmlformats.org/officeDocument/2006/relationships/image" Target="../media/image44.emf"/><Relationship Id="rId4" Type="http://schemas.openxmlformats.org/officeDocument/2006/relationships/package" Target="../embeddings/Microsoft_Word___41.docx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314782"/>
            <a:ext cx="10807700" cy="171739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4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sz="4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4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sz="4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4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4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44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两角和与差的正弦、余弦、正切公式</a:t>
            </a:r>
            <a:endParaRPr lang="zh-CN" altLang="zh-CN" sz="44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44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第</a:t>
            </a:r>
            <a:r>
              <a:rPr lang="en-US" altLang="zh-CN" sz="4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44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课时</a:t>
            </a:r>
            <a:r>
              <a:rPr lang="zh-CN" altLang="zh-CN" sz="4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44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二倍角的正弦、余弦、正切公式</a:t>
            </a:r>
            <a:endParaRPr lang="zh-CN" altLang="zh-CN" sz="44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079847"/>
            <a:ext cx="10729192" cy="4182224"/>
            <a:chOff x="360437" y="1079847"/>
            <a:chExt cx="10729192" cy="4182224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1079847"/>
              <a:ext cx="10729192" cy="4182224"/>
              <a:chOff x="360437" y="1708625"/>
              <a:chExt cx="10729192" cy="2856516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708625"/>
                <a:ext cx="10729192" cy="2856516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1856172"/>
                <a:ext cx="0" cy="2488631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334570"/>
              <a:ext cx="8496944" cy="36379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能从两角和的正弦、余弦、正切公式推导出二倍角的正弦、余弦、正切公式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能熟练运用二倍角的公式进行简单的恒等变换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并能灵活地将公式变形运用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体会类比推理的过程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en-US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逻辑推理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和数学运算素养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1151855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一、二倍角公式的推导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在两角和的正弦、余弦、正切公式中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令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将得到怎样的结果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988322"/>
              </p:ext>
            </p:extLst>
          </p:nvPr>
        </p:nvGraphicFramePr>
        <p:xfrm>
          <a:off x="452303" y="3044711"/>
          <a:ext cx="10607329" cy="182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" name="文档" r:id="rId4" imgW="3477813" imgH="596750" progId="Word.Document.12">
                  <p:embed/>
                </p:oleObj>
              </mc:Choice>
              <mc:Fallback>
                <p:oleObj name="文档" r:id="rId4" imgW="3477813" imgH="59675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2303" y="3044711"/>
                        <a:ext cx="10607329" cy="1820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799927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根据同角三角函数的基本关系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能否只用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表示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 2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2cos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2sin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845894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1007839"/>
            <a:ext cx="2242922" cy="6443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倍角公式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3955195"/>
              </p:ext>
            </p:extLst>
          </p:nvPr>
        </p:nvGraphicFramePr>
        <p:xfrm>
          <a:off x="576461" y="1662955"/>
          <a:ext cx="10780771" cy="29748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3" name="文档" r:id="rId4" imgW="3534679" imgH="979319" progId="Word.Document.12">
                  <p:embed/>
                </p:oleObj>
              </mc:Choice>
              <mc:Fallback>
                <p:oleObj name="文档" r:id="rId4" imgW="3534679" imgH="97931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6461" y="1662955"/>
                        <a:ext cx="10780771" cy="29748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>
            <a:spLocks noChangeAspect="1"/>
          </p:cNvSpPr>
          <p:nvPr/>
        </p:nvSpPr>
        <p:spPr>
          <a:xfrm>
            <a:off x="361950" y="4205946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以上这些公式都叫做倍角公式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倍角公式给出了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的三角函数与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的三角函数之间的关系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397043" y="2357815"/>
            <a:ext cx="2146249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446868" y="2861511"/>
            <a:ext cx="1900066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597946" y="2861511"/>
            <a:ext cx="1333163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8204970" y="2859558"/>
            <a:ext cx="1444499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4412549" y="3355375"/>
            <a:ext cx="1174476" cy="668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/>
          <p:cNvCxnSpPr/>
          <p:nvPr/>
        </p:nvCxnSpPr>
        <p:spPr>
          <a:xfrm>
            <a:off x="4408204" y="4034729"/>
            <a:ext cx="11731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168404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5969023"/>
              </p:ext>
            </p:extLst>
          </p:nvPr>
        </p:nvGraphicFramePr>
        <p:xfrm>
          <a:off x="504453" y="1007839"/>
          <a:ext cx="10607329" cy="14538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文档" r:id="rId4" imgW="3467489" imgH="475459" progId="Word.Document.12">
                  <p:embed/>
                </p:oleObj>
              </mc:Choice>
              <mc:Fallback>
                <p:oleObj name="文档" r:id="rId4" imgW="3467489" imgH="4754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007839"/>
                        <a:ext cx="10607329" cy="14538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2302113"/>
              </p:ext>
            </p:extLst>
          </p:nvPr>
        </p:nvGraphicFramePr>
        <p:xfrm>
          <a:off x="504452" y="2520007"/>
          <a:ext cx="10607329" cy="1668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文档" r:id="rId7" imgW="3477813" imgH="546991" progId="Word.Document.12">
                  <p:embed/>
                </p:oleObj>
              </mc:Choice>
              <mc:Fallback>
                <p:oleObj name="文档" r:id="rId7" imgW="3477813" imgH="54699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452" y="2520007"/>
                        <a:ext cx="10607329" cy="1668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4129266"/>
              </p:ext>
            </p:extLst>
          </p:nvPr>
        </p:nvGraphicFramePr>
        <p:xfrm>
          <a:off x="504452" y="4246627"/>
          <a:ext cx="10607329" cy="728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文档" r:id="rId10" imgW="3477813" imgH="238700" progId="Word.Document.12">
                  <p:embed/>
                </p:oleObj>
              </mc:Choice>
              <mc:Fallback>
                <p:oleObj name="文档" r:id="rId10" imgW="3477813" imgH="2387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04452" y="4246627"/>
                        <a:ext cx="10607329" cy="7280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3560561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007839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二、二倍角公式的变形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2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“1”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代换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2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可化为什么形式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根据二倍角的余弦公式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,sin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,cos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 2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的关系分别如何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1252993"/>
              </p:ext>
            </p:extLst>
          </p:nvPr>
        </p:nvGraphicFramePr>
        <p:xfrm>
          <a:off x="432639" y="4135827"/>
          <a:ext cx="10607329" cy="13394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6" name="文档" r:id="rId4" imgW="3477813" imgH="439179" progId="Word.Document.12">
                  <p:embed/>
                </p:oleObj>
              </mc:Choice>
              <mc:Fallback>
                <p:oleObj name="文档" r:id="rId4" imgW="3477813" imgH="43917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639" y="4135827"/>
                        <a:ext cx="10607329" cy="13394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4383625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304541"/>
              </p:ext>
            </p:extLst>
          </p:nvPr>
        </p:nvGraphicFramePr>
        <p:xfrm>
          <a:off x="577850" y="935038"/>
          <a:ext cx="10583863" cy="201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2" name="文档" r:id="rId4" imgW="3467489" imgH="664133" progId="Word.Document.12">
                  <p:embed/>
                </p:oleObj>
              </mc:Choice>
              <mc:Fallback>
                <p:oleObj name="文档" r:id="rId4" imgW="3467489" imgH="66413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7850" y="935038"/>
                        <a:ext cx="10583863" cy="2017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4356760"/>
              </p:ext>
            </p:extLst>
          </p:nvPr>
        </p:nvGraphicFramePr>
        <p:xfrm>
          <a:off x="576460" y="3010301"/>
          <a:ext cx="10607329" cy="1597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3" name="文档" r:id="rId7" imgW="3477813" imgH="523914" progId="Word.Document.12">
                  <p:embed/>
                </p:oleObj>
              </mc:Choice>
              <mc:Fallback>
                <p:oleObj name="文档" r:id="rId7" imgW="3477813" imgH="52391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6460" y="3010301"/>
                        <a:ext cx="10607329" cy="1597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3698419"/>
              </p:ext>
            </p:extLst>
          </p:nvPr>
        </p:nvGraphicFramePr>
        <p:xfrm>
          <a:off x="576460" y="4680515"/>
          <a:ext cx="10607329" cy="791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4" name="文档" r:id="rId10" imgW="3477813" imgH="259613" progId="Word.Document.12">
                  <p:embed/>
                </p:oleObj>
              </mc:Choice>
              <mc:Fallback>
                <p:oleObj name="文档" r:id="rId10" imgW="3477813" imgH="25961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76460" y="4680515"/>
                        <a:ext cx="10607329" cy="7918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661467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883422"/>
            <a:ext cx="11742454" cy="4929289"/>
            <a:chOff x="361950" y="850742"/>
            <a:chExt cx="11742454" cy="4929289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850742"/>
              <a:ext cx="10807700" cy="418954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【思考辨析】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判断下列说法是否正确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正确的在后面的括号内打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√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错误的打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二倍角的正弦、余弦、正切公式的适用范围是任意角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</a:p>
            <a:p>
              <a:pPr algn="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  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存在角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使得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sin 2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2sin 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成立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  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√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对任意角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cos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2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2cos 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都不成立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  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)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83817930"/>
                </p:ext>
              </p:extLst>
            </p:nvPr>
          </p:nvGraphicFramePr>
          <p:xfrm>
            <a:off x="432445" y="5020429"/>
            <a:ext cx="11671959" cy="7596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2" name="文档" r:id="rId4" imgW="3826872" imgH="249050" progId="Word.Document.12">
                    <p:embed/>
                  </p:oleObj>
                </mc:Choice>
                <mc:Fallback>
                  <p:oleObj name="文档" r:id="rId4" imgW="3826872" imgH="24905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2445" y="5020429"/>
                          <a:ext cx="11671959" cy="75960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矩形 4"/>
          <p:cNvSpPr/>
          <p:nvPr/>
        </p:nvSpPr>
        <p:spPr>
          <a:xfrm>
            <a:off x="10297541" y="3353164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841157" y="3929228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7359872" y="4587634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5977061" y="5153364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399513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给</a:t>
            </a:r>
            <a:r>
              <a:rPr lang="zh-CN" altLang="zh-CN" dirty="0"/>
              <a:t>角求值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4738095"/>
              </p:ext>
            </p:extLst>
          </p:nvPr>
        </p:nvGraphicFramePr>
        <p:xfrm>
          <a:off x="504453" y="1529122"/>
          <a:ext cx="10607329" cy="20070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0" name="文档" r:id="rId4" imgW="3477813" imgH="658048" progId="Word.Document.12">
                  <p:embed/>
                </p:oleObj>
              </mc:Choice>
              <mc:Fallback>
                <p:oleObj name="文档" r:id="rId4" imgW="3477813" imgH="65804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529122"/>
                        <a:ext cx="10607329" cy="20070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361950" y="3623123"/>
            <a:ext cx="21064585" cy="1808572"/>
            <a:chOff x="361950" y="3574434"/>
            <a:chExt cx="21064585" cy="1808572"/>
          </a:xfrm>
        </p:grpSpPr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61950" y="3574434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分析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逆用正弦二倍角公式求解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;(2)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用余弦二倍角公式求解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 (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转化为正切二倍角公式求解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;(4)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先分子、分母都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乘</a:t>
              </a:r>
              <a:r>
                <a:rPr lang="en-US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         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再利用正弦二倍角公式求解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8442408"/>
                </p:ext>
              </p:extLst>
            </p:nvPr>
          </p:nvGraphicFramePr>
          <p:xfrm>
            <a:off x="9721477" y="4189970"/>
            <a:ext cx="11705058" cy="6444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1" name="文档" r:id="rId7" imgW="3837724" imgH="211296" progId="Word.Document.12">
                    <p:embed/>
                  </p:oleObj>
                </mc:Choice>
                <mc:Fallback>
                  <p:oleObj name="文档" r:id="rId7" imgW="3837724" imgH="21129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9721477" y="4189970"/>
                          <a:ext cx="11705058" cy="64445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2165698"/>
              </p:ext>
            </p:extLst>
          </p:nvPr>
        </p:nvGraphicFramePr>
        <p:xfrm>
          <a:off x="648469" y="1007839"/>
          <a:ext cx="10607329" cy="43517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9" name="文档" r:id="rId4" imgW="3477813" imgH="1426792" progId="Word.Document.12">
                  <p:embed/>
                </p:oleObj>
              </mc:Choice>
              <mc:Fallback>
                <p:oleObj name="文档" r:id="rId4" imgW="3477813" imgH="142679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48469" y="1007839"/>
                        <a:ext cx="10607329" cy="43517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67035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78410"/>
            <a:ext cx="10807700" cy="481978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对于给角求值问题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一般有两种情况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直接正用、逆用二倍角公式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结合诱导公式和同角三角函数的基本关系对已知式子进行转化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一般可以化为特殊角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若形式为几个非特殊角的三角函数式相乘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则一般逆用二倍角的正弦公式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在求解过程中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需利用互余关系配凑出应用二倍角公式的条件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使得问题出现可以连用二倍角的正弦公式的形式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4811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2056768"/>
              </p:ext>
            </p:extLst>
          </p:nvPr>
        </p:nvGraphicFramePr>
        <p:xfrm>
          <a:off x="482300" y="895469"/>
          <a:ext cx="10607329" cy="2365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0" name="文档" r:id="rId4" imgW="3477813" imgH="775595" progId="Word.Document.12">
                  <p:embed/>
                </p:oleObj>
              </mc:Choice>
              <mc:Fallback>
                <p:oleObj name="文档" r:id="rId4" imgW="3477813" imgH="77559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2300" y="895469"/>
                        <a:ext cx="10607329" cy="23655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9774342"/>
              </p:ext>
            </p:extLst>
          </p:nvPr>
        </p:nvGraphicFramePr>
        <p:xfrm>
          <a:off x="482299" y="3333909"/>
          <a:ext cx="10607329" cy="22006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1" name="文档" r:id="rId7" imgW="3477813" imgH="721509" progId="Word.Document.12">
                  <p:embed/>
                </p:oleObj>
              </mc:Choice>
              <mc:Fallback>
                <p:oleObj name="文档" r:id="rId7" imgW="3477813" imgH="72150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2299" y="3333909"/>
                        <a:ext cx="10607329" cy="22006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57111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给</a:t>
            </a:r>
            <a:r>
              <a:rPr lang="zh-CN" altLang="zh-CN" dirty="0"/>
              <a:t>值求值</a:t>
            </a:r>
            <a:r>
              <a:rPr lang="en-US" altLang="zh-CN" dirty="0"/>
              <a:t>(</a:t>
            </a:r>
            <a:r>
              <a:rPr lang="zh-CN" altLang="zh-CN" dirty="0"/>
              <a:t>角</a:t>
            </a:r>
            <a:r>
              <a:rPr lang="en-US" altLang="zh-CN" dirty="0"/>
              <a:t>)</a:t>
            </a:r>
            <a:endParaRPr lang="zh-CN" altLang="zh-CN" dirty="0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5983072"/>
              </p:ext>
            </p:extLst>
          </p:nvPr>
        </p:nvGraphicFramePr>
        <p:xfrm>
          <a:off x="216421" y="1488383"/>
          <a:ext cx="11671959" cy="728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4" name="文档" r:id="rId4" imgW="3826872" imgH="238987" progId="Word.Document.12">
                  <p:embed/>
                </p:oleObj>
              </mc:Choice>
              <mc:Fallback>
                <p:oleObj name="文档" r:id="rId4" imgW="3826872" imgH="23898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6421" y="1488383"/>
                        <a:ext cx="11671959" cy="728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0238442"/>
              </p:ext>
            </p:extLst>
          </p:nvPr>
        </p:nvGraphicFramePr>
        <p:xfrm>
          <a:off x="360437" y="2331813"/>
          <a:ext cx="11671959" cy="3408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5" name="文档" r:id="rId7" imgW="3826872" imgH="1117669" progId="Word.Document.12">
                  <p:embed/>
                </p:oleObj>
              </mc:Choice>
              <mc:Fallback>
                <p:oleObj name="文档" r:id="rId7" imgW="3826872" imgH="111766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0437" y="2331813"/>
                        <a:ext cx="11671959" cy="34088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1488510"/>
              </p:ext>
            </p:extLst>
          </p:nvPr>
        </p:nvGraphicFramePr>
        <p:xfrm>
          <a:off x="576461" y="787848"/>
          <a:ext cx="11671959" cy="53325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5" name="文档" r:id="rId4" imgW="3826872" imgH="1748380" progId="Word.Document.12">
                  <p:embed/>
                </p:oleObj>
              </mc:Choice>
              <mc:Fallback>
                <p:oleObj name="文档" r:id="rId4" imgW="3826872" imgH="174838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6461" y="787848"/>
                        <a:ext cx="11671959" cy="53325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2700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延伸探究H.eps" descr="id:2147492067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4062812" y="1272491"/>
            <a:ext cx="2740119" cy="499725"/>
          </a:xfrm>
          <a:prstGeom prst="rect">
            <a:avLst/>
          </a:prstGeom>
        </p:spPr>
      </p:pic>
      <p:sp>
        <p:nvSpPr>
          <p:cNvPr id="2" name="矩形 1"/>
          <p:cNvSpPr>
            <a:spLocks noChangeAspect="1"/>
          </p:cNvSpPr>
          <p:nvPr/>
        </p:nvSpPr>
        <p:spPr>
          <a:xfrm>
            <a:off x="361950" y="1838723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若本例条件不变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sin 4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1425229"/>
              </p:ext>
            </p:extLst>
          </p:nvPr>
        </p:nvGraphicFramePr>
        <p:xfrm>
          <a:off x="452109" y="2531940"/>
          <a:ext cx="11671959" cy="14282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9" name="文档" r:id="rId5" imgW="3837724" imgH="469828" progId="Word.Document.12">
                  <p:embed/>
                </p:oleObj>
              </mc:Choice>
              <mc:Fallback>
                <p:oleObj name="文档" r:id="rId5" imgW="3837724" imgH="46982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2109" y="2531940"/>
                        <a:ext cx="11671959" cy="14282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24898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5703813"/>
              </p:ext>
            </p:extLst>
          </p:nvPr>
        </p:nvGraphicFramePr>
        <p:xfrm>
          <a:off x="360437" y="680479"/>
          <a:ext cx="11671959" cy="91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6" name="文档" r:id="rId4" imgW="3837724" imgH="299998" progId="Word.Document.12">
                  <p:embed/>
                </p:oleObj>
              </mc:Choice>
              <mc:Fallback>
                <p:oleObj name="文档" r:id="rId4" imgW="3837724" imgH="29999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680479"/>
                        <a:ext cx="11671959" cy="911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0847290"/>
              </p:ext>
            </p:extLst>
          </p:nvPr>
        </p:nvGraphicFramePr>
        <p:xfrm>
          <a:off x="360437" y="1529310"/>
          <a:ext cx="11671959" cy="47154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7" name="文档" r:id="rId7" imgW="3826872" imgH="1546049" progId="Word.Document.12">
                  <p:embed/>
                </p:oleObj>
              </mc:Choice>
              <mc:Fallback>
                <p:oleObj name="文档" r:id="rId7" imgW="3826872" imgH="154604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0437" y="1529310"/>
                        <a:ext cx="11671959" cy="47154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06499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151855"/>
            <a:ext cx="10807700" cy="36379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三角函数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的条件求值问题常有两种解题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途径</a:t>
            </a:r>
            <a:endParaRPr lang="en-US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对题设条件变形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把条件中的角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或函数名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向结论中的角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或函数名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靠拢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dirty="0" smtClean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对结论变形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将结论中的角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或函数名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向题设条件中的角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或函数名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靠拢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以便将题设条件代入结论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188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6484790"/>
              </p:ext>
            </p:extLst>
          </p:nvPr>
        </p:nvGraphicFramePr>
        <p:xfrm>
          <a:off x="504453" y="821311"/>
          <a:ext cx="11671959" cy="13964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0" name="文档" r:id="rId4" imgW="3826872" imgH="457849" progId="Word.Document.12">
                  <p:embed/>
                </p:oleObj>
              </mc:Choice>
              <mc:Fallback>
                <p:oleObj name="文档" r:id="rId4" imgW="3826872" imgH="45784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821311"/>
                        <a:ext cx="11671959" cy="13964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3433343"/>
              </p:ext>
            </p:extLst>
          </p:nvPr>
        </p:nvGraphicFramePr>
        <p:xfrm>
          <a:off x="504453" y="2333479"/>
          <a:ext cx="11671959" cy="2648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1" name="文档" r:id="rId7" imgW="3826872" imgH="868260" progId="Word.Document.12">
                  <p:embed/>
                </p:oleObj>
              </mc:Choice>
              <mc:Fallback>
                <p:oleObj name="文档" r:id="rId7" imgW="3826872" imgH="86826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453" y="2333479"/>
                        <a:ext cx="11671959" cy="26481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504453" y="5034591"/>
            <a:ext cx="152137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838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利用</a:t>
            </a:r>
            <a:r>
              <a:rPr lang="zh-CN" altLang="zh-CN" dirty="0"/>
              <a:t>倍角公式化简、证明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535717"/>
              </p:ext>
            </p:extLst>
          </p:nvPr>
        </p:nvGraphicFramePr>
        <p:xfrm>
          <a:off x="360437" y="1943943"/>
          <a:ext cx="11671959" cy="970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0" name="文档" r:id="rId4" imgW="3826872" imgH="318051" progId="Word.Document.12">
                  <p:embed/>
                </p:oleObj>
              </mc:Choice>
              <mc:Fallback>
                <p:oleObj name="文档" r:id="rId4" imgW="3826872" imgH="31805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1943943"/>
                        <a:ext cx="11671959" cy="9700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1950" y="3030558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首先切化弦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然后利用二倍角公式统一角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最后化简得结果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8335788"/>
              </p:ext>
            </p:extLst>
          </p:nvPr>
        </p:nvGraphicFramePr>
        <p:xfrm>
          <a:off x="504453" y="966451"/>
          <a:ext cx="11671959" cy="42276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4" name="文档" r:id="rId4" imgW="3826872" imgH="1386126" progId="Word.Document.12">
                  <p:embed/>
                </p:oleObj>
              </mc:Choice>
              <mc:Fallback>
                <p:oleObj name="文档" r:id="rId4" imgW="3826872" imgH="138612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966451"/>
                        <a:ext cx="11671959" cy="42276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78630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955453"/>
            <a:ext cx="10807700" cy="422885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化简的方法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弦切互化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异名化同名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异角化同角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降幂或升幂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证明恒等式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要观察恒等式两端的结构形式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处理原则是从复杂到简单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高次到低次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复角化单角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如果两端都比较复杂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那么将两端都化简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即采用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两头凑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的思想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1467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0968995"/>
              </p:ext>
            </p:extLst>
          </p:nvPr>
        </p:nvGraphicFramePr>
        <p:xfrm>
          <a:off x="288429" y="767473"/>
          <a:ext cx="11671959" cy="8385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0" name="文档" r:id="rId4" imgW="3826872" imgH="274925" progId="Word.Document.12">
                  <p:embed/>
                </p:oleObj>
              </mc:Choice>
              <mc:Fallback>
                <p:oleObj name="文档" r:id="rId4" imgW="3826872" imgH="27492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8429" y="767473"/>
                        <a:ext cx="11671959" cy="8385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9179230"/>
              </p:ext>
            </p:extLst>
          </p:nvPr>
        </p:nvGraphicFramePr>
        <p:xfrm>
          <a:off x="432445" y="1708255"/>
          <a:ext cx="11671959" cy="40862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1" name="文档" r:id="rId7" imgW="3826872" imgH="1339766" progId="Word.Document.12">
                  <p:embed/>
                </p:oleObj>
              </mc:Choice>
              <mc:Fallback>
                <p:oleObj name="文档" r:id="rId7" imgW="3826872" imgH="133976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1708255"/>
                        <a:ext cx="11671959" cy="40862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22196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5758328"/>
              </p:ext>
            </p:extLst>
          </p:nvPr>
        </p:nvGraphicFramePr>
        <p:xfrm>
          <a:off x="288429" y="888842"/>
          <a:ext cx="11671959" cy="47275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2" name="文档" r:id="rId4" imgW="3826872" imgH="1550003" progId="Word.Document.12">
                  <p:embed/>
                </p:oleObj>
              </mc:Choice>
              <mc:Fallback>
                <p:oleObj name="文档" r:id="rId4" imgW="3826872" imgH="155000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8429" y="888842"/>
                        <a:ext cx="11671959" cy="47275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479215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出错的原因是什么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你如何改正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你如何防范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6638810"/>
              </p:ext>
            </p:extLst>
          </p:nvPr>
        </p:nvGraphicFramePr>
        <p:xfrm>
          <a:off x="432445" y="2733625"/>
          <a:ext cx="11671959" cy="12265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6" name="文档" r:id="rId4" imgW="3826872" imgH="402145" progId="Word.Document.12">
                  <p:embed/>
                </p:oleObj>
              </mc:Choice>
              <mc:Fallback>
                <p:oleObj name="文档" r:id="rId4" imgW="3826872" imgH="40214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2733625"/>
                        <a:ext cx="11671959" cy="12265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2033158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6002056"/>
              </p:ext>
            </p:extLst>
          </p:nvPr>
        </p:nvGraphicFramePr>
        <p:xfrm>
          <a:off x="504453" y="749303"/>
          <a:ext cx="11671959" cy="54903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0" name="文档" r:id="rId4" imgW="3826872" imgH="1800131" progId="Word.Document.12">
                  <p:embed/>
                </p:oleObj>
              </mc:Choice>
              <mc:Fallback>
                <p:oleObj name="文档" r:id="rId4" imgW="3826872" imgH="18001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749303"/>
                        <a:ext cx="11671959" cy="54903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5236971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648126"/>
            <a:ext cx="10807700" cy="245605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防范措施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解决与三角函数有关的问题时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不能盲目地运用公式化简函数的解析式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要注意函数的定义域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熟练掌握角的终边所在象限的确定方法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81455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621440"/>
              </p:ext>
            </p:extLst>
          </p:nvPr>
        </p:nvGraphicFramePr>
        <p:xfrm>
          <a:off x="432445" y="772355"/>
          <a:ext cx="11671959" cy="16134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6" name="文档" r:id="rId4" imgW="3826872" imgH="529006" progId="Word.Document.12">
                  <p:embed/>
                </p:oleObj>
              </mc:Choice>
              <mc:Fallback>
                <p:oleObj name="文档" r:id="rId4" imgW="3826872" imgH="52900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772355"/>
                        <a:ext cx="11671959" cy="16134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9775001"/>
              </p:ext>
            </p:extLst>
          </p:nvPr>
        </p:nvGraphicFramePr>
        <p:xfrm>
          <a:off x="434350" y="2467663"/>
          <a:ext cx="11671959" cy="23928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7" name="文档" r:id="rId7" imgW="3826872" imgH="784525" progId="Word.Document.12">
                  <p:embed/>
                </p:oleObj>
              </mc:Choice>
              <mc:Fallback>
                <p:oleObj name="文档" r:id="rId7" imgW="3826872" imgH="78452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4350" y="2467663"/>
                        <a:ext cx="11671959" cy="23928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432445" y="4987943"/>
            <a:ext cx="145264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727328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61950" y="768967"/>
            <a:ext cx="10807700" cy="1870232"/>
            <a:chOff x="361950" y="1495268"/>
            <a:chExt cx="10807700" cy="1870232"/>
          </a:xfrm>
        </p:grpSpPr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61950" y="1539679"/>
              <a:ext cx="10807700" cy="182582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多选题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下列各式中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值为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A.2sin 22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cos 22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en-US" altLang="zh-CN" dirty="0" smtClean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		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B.cos</a:t>
              </a:r>
              <a:r>
                <a:rPr lang="en-US" altLang="zh-CN" baseline="30000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22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sin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32397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C.2sin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	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		D.sin</a:t>
              </a:r>
              <a:r>
                <a:rPr lang="en-US" altLang="zh-CN" baseline="30000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22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cos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6329087"/>
                </p:ext>
              </p:extLst>
            </p:nvPr>
          </p:nvGraphicFramePr>
          <p:xfrm>
            <a:off x="1427909" y="1495268"/>
            <a:ext cx="7994713" cy="714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26" name="文档" r:id="rId4" imgW="3837724" imgH="342906" progId="Word.Document.12">
                    <p:embed/>
                  </p:oleObj>
                </mc:Choice>
                <mc:Fallback>
                  <p:oleObj name="文档" r:id="rId4" imgW="3837724" imgH="34290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427909" y="1495268"/>
                          <a:ext cx="7994713" cy="71433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4956499"/>
              </p:ext>
            </p:extLst>
          </p:nvPr>
        </p:nvGraphicFramePr>
        <p:xfrm>
          <a:off x="462135" y="2577023"/>
          <a:ext cx="10607329" cy="29055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7" name="文档" r:id="rId7" imgW="3477813" imgH="952637" progId="Word.Document.12">
                  <p:embed/>
                </p:oleObj>
              </mc:Choice>
              <mc:Fallback>
                <p:oleObj name="文档" r:id="rId7" imgW="3477813" imgH="95263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2135" y="2577023"/>
                        <a:ext cx="10607329" cy="29055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>
            <a:spLocks noChangeAspect="1"/>
          </p:cNvSpPr>
          <p:nvPr/>
        </p:nvSpPr>
        <p:spPr>
          <a:xfrm>
            <a:off x="381613" y="5536671"/>
            <a:ext cx="1818126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5346975"/>
              </p:ext>
            </p:extLst>
          </p:nvPr>
        </p:nvGraphicFramePr>
        <p:xfrm>
          <a:off x="360437" y="1151855"/>
          <a:ext cx="11671959" cy="1417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8" name="文档" r:id="rId4" imgW="3826872" imgH="464677" progId="Word.Document.12">
                  <p:embed/>
                </p:oleObj>
              </mc:Choice>
              <mc:Fallback>
                <p:oleObj name="文档" r:id="rId4" imgW="3826872" imgH="4646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1151855"/>
                        <a:ext cx="11671959" cy="14172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0519725"/>
              </p:ext>
            </p:extLst>
          </p:nvPr>
        </p:nvGraphicFramePr>
        <p:xfrm>
          <a:off x="360436" y="2664023"/>
          <a:ext cx="11671959" cy="1519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9" name="文档" r:id="rId7" imgW="3826872" imgH="498100" progId="Word.Document.12">
                  <p:embed/>
                </p:oleObj>
              </mc:Choice>
              <mc:Fallback>
                <p:oleObj name="文档" r:id="rId7" imgW="3826872" imgH="4981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0436" y="2664023"/>
                        <a:ext cx="11671959" cy="15192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216421" y="4292052"/>
            <a:ext cx="152157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301302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6565667"/>
              </p:ext>
            </p:extLst>
          </p:nvPr>
        </p:nvGraphicFramePr>
        <p:xfrm>
          <a:off x="360437" y="791815"/>
          <a:ext cx="11671959" cy="1924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2" name="文档" r:id="rId4" imgW="3826872" imgH="631070" progId="Word.Document.12">
                  <p:embed/>
                </p:oleObj>
              </mc:Choice>
              <mc:Fallback>
                <p:oleObj name="文档" r:id="rId4" imgW="3826872" imgH="63107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791815"/>
                        <a:ext cx="11671959" cy="1924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5893261"/>
              </p:ext>
            </p:extLst>
          </p:nvPr>
        </p:nvGraphicFramePr>
        <p:xfrm>
          <a:off x="360436" y="2798207"/>
          <a:ext cx="11671959" cy="244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3" name="文档" r:id="rId7" imgW="3826872" imgH="803213" progId="Word.Document.12">
                  <p:embed/>
                </p:oleObj>
              </mc:Choice>
              <mc:Fallback>
                <p:oleObj name="文档" r:id="rId7" imgW="3826872" imgH="80321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0436" y="2798207"/>
                        <a:ext cx="11671959" cy="244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25869" y="5365135"/>
            <a:ext cx="152137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183736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154394"/>
              </p:ext>
            </p:extLst>
          </p:nvPr>
        </p:nvGraphicFramePr>
        <p:xfrm>
          <a:off x="454208" y="1799927"/>
          <a:ext cx="11671959" cy="7004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6" name="文档" r:id="rId4" imgW="3826872" imgH="229643" progId="Word.Document.12">
                  <p:embed/>
                </p:oleObj>
              </mc:Choice>
              <mc:Fallback>
                <p:oleObj name="文档" r:id="rId4" imgW="3826872" imgH="22964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4208" y="1799927"/>
                        <a:ext cx="11671959" cy="7004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2394006"/>
              </p:ext>
            </p:extLst>
          </p:nvPr>
        </p:nvGraphicFramePr>
        <p:xfrm>
          <a:off x="454208" y="2664023"/>
          <a:ext cx="11671959" cy="7004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7" name="文档" r:id="rId7" imgW="3826872" imgH="229643" progId="Word.Document.12">
                  <p:embed/>
                </p:oleObj>
              </mc:Choice>
              <mc:Fallback>
                <p:oleObj name="文档" r:id="rId7" imgW="3826872" imgH="22964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4208" y="2664023"/>
                        <a:ext cx="11671959" cy="7004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380101" y="3483296"/>
            <a:ext cx="145264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9554847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8209730"/>
              </p:ext>
            </p:extLst>
          </p:nvPr>
        </p:nvGraphicFramePr>
        <p:xfrm>
          <a:off x="430213" y="914400"/>
          <a:ext cx="11645900" cy="174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0" name="文档" r:id="rId4" imgW="3826872" imgH="574288" progId="Word.Document.12">
                  <p:embed/>
                </p:oleObj>
              </mc:Choice>
              <mc:Fallback>
                <p:oleObj name="文档" r:id="rId4" imgW="3826872" imgH="57428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213" y="914400"/>
                        <a:ext cx="11645900" cy="1744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3512449"/>
              </p:ext>
            </p:extLst>
          </p:nvPr>
        </p:nvGraphicFramePr>
        <p:xfrm>
          <a:off x="432445" y="2717582"/>
          <a:ext cx="11671959" cy="2797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1" name="文档" r:id="rId7" imgW="3826872" imgH="917136" progId="Word.Document.12">
                  <p:embed/>
                </p:oleObj>
              </mc:Choice>
              <mc:Fallback>
                <p:oleObj name="文档" r:id="rId7" imgW="3826872" imgH="91713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2717582"/>
                        <a:ext cx="11671959" cy="27972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0101551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43</TotalTime>
  <Words>803</Words>
  <Application>Microsoft Office PowerPoint</Application>
  <PresentationFormat>自定义</PresentationFormat>
  <Paragraphs>64</Paragraphs>
  <Slides>40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57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Microsoft Yi Baiti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17</cp:revision>
  <dcterms:created xsi:type="dcterms:W3CDTF">2020-09-12T05:36:12Z</dcterms:created>
  <dcterms:modified xsi:type="dcterms:W3CDTF">2025-08-18T06:53:03Z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