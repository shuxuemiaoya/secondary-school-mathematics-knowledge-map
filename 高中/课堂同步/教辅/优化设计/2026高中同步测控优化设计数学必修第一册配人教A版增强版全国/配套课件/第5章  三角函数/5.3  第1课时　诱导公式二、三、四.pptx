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0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61" r:id="rId13"/>
    <p:sldId id="762" r:id="rId14"/>
    <p:sldId id="763" r:id="rId15"/>
    <p:sldId id="737" r:id="rId16"/>
    <p:sldId id="750" r:id="rId17"/>
    <p:sldId id="764" r:id="rId18"/>
    <p:sldId id="765" r:id="rId19"/>
    <p:sldId id="766" r:id="rId20"/>
    <p:sldId id="754" r:id="rId21"/>
    <p:sldId id="767" r:id="rId22"/>
    <p:sldId id="768" r:id="rId23"/>
    <p:sldId id="755" r:id="rId24"/>
    <p:sldId id="769" r:id="rId25"/>
    <p:sldId id="770" r:id="rId26"/>
    <p:sldId id="771" r:id="rId27"/>
    <p:sldId id="772" r:id="rId28"/>
    <p:sldId id="747" r:id="rId29"/>
    <p:sldId id="751" r:id="rId30"/>
    <p:sldId id="773" r:id="rId31"/>
    <p:sldId id="774" r:id="rId32"/>
    <p:sldId id="748" r:id="rId33"/>
    <p:sldId id="752" r:id="rId34"/>
    <p:sldId id="775" r:id="rId35"/>
    <p:sldId id="776" r:id="rId36"/>
    <p:sldId id="777" r:id="rId37"/>
    <p:sldId id="778" r:id="rId38"/>
    <p:sldId id="735" r:id="rId39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image" Target="../media/image33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image" Target="../media/image35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image" Target="../media/image37.emf"/><Relationship Id="rId4" Type="http://schemas.openxmlformats.org/officeDocument/2006/relationships/image" Target="../media/image4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38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2.xml"/><Relationship Id="rId5" Type="http://schemas.openxmlformats.org/officeDocument/2006/relationships/slide" Target="slide28.xml"/><Relationship Id="rId4" Type="http://schemas.openxmlformats.org/officeDocument/2006/relationships/slide" Target="slide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../embeddings/oleObject1.bin"/><Relationship Id="rId7" Type="http://schemas.openxmlformats.org/officeDocument/2006/relationships/package" Target="../embeddings/Microsoft_Word___2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1.docx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3.bin"/><Relationship Id="rId7" Type="http://schemas.openxmlformats.org/officeDocument/2006/relationships/package" Target="../embeddings/Microsoft_Word___4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9.emf"/><Relationship Id="rId5" Type="http://schemas.openxmlformats.org/officeDocument/2006/relationships/image" Target="../media/image7.emf"/><Relationship Id="rId10" Type="http://schemas.openxmlformats.org/officeDocument/2006/relationships/package" Target="../embeddings/Microsoft_Word___5.docx"/><Relationship Id="rId4" Type="http://schemas.openxmlformats.org/officeDocument/2006/relationships/package" Target="../embeddings/Microsoft_Word___3.docx"/><Relationship Id="rId9" Type="http://schemas.openxmlformats.org/officeDocument/2006/relationships/oleObject" Target="../embeddings/oleObject5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6.docx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7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8.docx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9.docx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oleObject" Target="../embeddings/oleObject10.bin"/><Relationship Id="rId7" Type="http://schemas.openxmlformats.org/officeDocument/2006/relationships/package" Target="../embeddings/Microsoft_Word___1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0.docx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oleObject" Target="../embeddings/oleObject12.bin"/><Relationship Id="rId7" Type="http://schemas.openxmlformats.org/officeDocument/2006/relationships/package" Target="../embeddings/Microsoft_Word___13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2.docx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4.docx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5.docx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17.docx"/><Relationship Id="rId3" Type="http://schemas.openxmlformats.org/officeDocument/2006/relationships/image" Target="../media/image23.jpeg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1.emf"/><Relationship Id="rId5" Type="http://schemas.openxmlformats.org/officeDocument/2006/relationships/package" Target="../embeddings/Microsoft_Word___16.docx"/><Relationship Id="rId4" Type="http://schemas.openxmlformats.org/officeDocument/2006/relationships/oleObject" Target="../embeddings/oleObject16.bin"/><Relationship Id="rId9" Type="http://schemas.openxmlformats.org/officeDocument/2006/relationships/image" Target="../media/image22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18.docx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emf"/><Relationship Id="rId3" Type="http://schemas.openxmlformats.org/officeDocument/2006/relationships/oleObject" Target="../embeddings/oleObject19.bin"/><Relationship Id="rId7" Type="http://schemas.openxmlformats.org/officeDocument/2006/relationships/package" Target="../embeddings/Microsoft_Word___2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19.docx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21.docx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22.docx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oleObject" Target="../embeddings/oleObject23.bin"/><Relationship Id="rId7" Type="http://schemas.openxmlformats.org/officeDocument/2006/relationships/package" Target="../embeddings/Microsoft_Word___2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23.docx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oleObject" Target="../embeddings/oleObject25.bin"/><Relationship Id="rId7" Type="http://schemas.openxmlformats.org/officeDocument/2006/relationships/package" Target="../embeddings/Microsoft_Word___2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31.emf"/><Relationship Id="rId4" Type="http://schemas.openxmlformats.org/officeDocument/2006/relationships/package" Target="../embeddings/Microsoft_Word___25.docx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emf"/><Relationship Id="rId3" Type="http://schemas.openxmlformats.org/officeDocument/2006/relationships/oleObject" Target="../embeddings/oleObject27.bin"/><Relationship Id="rId7" Type="http://schemas.openxmlformats.org/officeDocument/2006/relationships/package" Target="../embeddings/Microsoft_Word___2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33.emf"/><Relationship Id="rId4" Type="http://schemas.openxmlformats.org/officeDocument/2006/relationships/package" Target="../embeddings/Microsoft_Word___27.docx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oleObject" Target="../embeddings/oleObject29.bin"/><Relationship Id="rId7" Type="http://schemas.openxmlformats.org/officeDocument/2006/relationships/package" Target="../embeddings/Microsoft_Word___3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35.emf"/><Relationship Id="rId4" Type="http://schemas.openxmlformats.org/officeDocument/2006/relationships/package" Target="../embeddings/Microsoft_Word___29.docx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13" Type="http://schemas.openxmlformats.org/officeDocument/2006/relationships/package" Target="../embeddings/Microsoft_Word___34.docx"/><Relationship Id="rId3" Type="http://schemas.openxmlformats.org/officeDocument/2006/relationships/oleObject" Target="../embeddings/oleObject31.bin"/><Relationship Id="rId7" Type="http://schemas.openxmlformats.org/officeDocument/2006/relationships/package" Target="../embeddings/Microsoft_Word___32.docx"/><Relationship Id="rId12" Type="http://schemas.openxmlformats.org/officeDocument/2006/relationships/oleObject" Target="../embeddings/oleObject3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9.emf"/><Relationship Id="rId5" Type="http://schemas.openxmlformats.org/officeDocument/2006/relationships/image" Target="../media/image37.emf"/><Relationship Id="rId10" Type="http://schemas.openxmlformats.org/officeDocument/2006/relationships/package" Target="../embeddings/Microsoft_Word___33.docx"/><Relationship Id="rId4" Type="http://schemas.openxmlformats.org/officeDocument/2006/relationships/package" Target="../embeddings/Microsoft_Word___31.docx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40.e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011883"/>
            <a:ext cx="10807700" cy="220233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5.3</a:t>
            </a:r>
            <a:r>
              <a:rPr lang="zh-CN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诱导公式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第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课时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诱导公式二、三、四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655911"/>
            <a:ext cx="10729192" cy="3142169"/>
            <a:chOff x="360437" y="1538077"/>
            <a:chExt cx="10729192" cy="3142169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538077"/>
              <a:ext cx="10729192" cy="3142169"/>
              <a:chOff x="360437" y="2021603"/>
              <a:chExt cx="10729192" cy="2146144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2021603"/>
                <a:ext cx="10729192" cy="2146144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2052902"/>
                <a:ext cx="0" cy="2056721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545797"/>
              <a:ext cx="8496944" cy="30469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借助单位圆的对称性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利用定义推导出诱导公式二、三、四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能应用有关诱导公式解决一些三角函数的求值、化简和证明问题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体会逻辑推理的过程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数学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39471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一、诱导公式二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角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的终边与角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的终边有什么关系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角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的终边与单位圆的交点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),sin(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,sin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有什么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关系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角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的终边与角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的终边关于原点对称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也关于原点对称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NMG1TRA24.eps" descr="id:2147507356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248869" y="2547928"/>
            <a:ext cx="3456384" cy="231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704680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诱导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公式二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sin(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i="1" dirty="0" smtClean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>
                <a:uFill>
                  <a:solidFill>
                    <a:srgbClr val="000000"/>
                  </a:solidFill>
                </a:u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uFill>
                  <a:solidFill>
                    <a:srgbClr val="000000"/>
                  </a:solidFill>
                </a:u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i="1" dirty="0" smtClean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err="1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uFill>
                  <a:solidFill>
                    <a:srgbClr val="000000"/>
                  </a:solidFill>
                </a:u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uFill>
                  <a:solidFill>
                    <a:srgbClr val="000000"/>
                  </a:solidFill>
                </a:u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tan(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tan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175740" y="2325499"/>
            <a:ext cx="11744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2171395" y="2789597"/>
            <a:ext cx="1173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2211129" y="2934982"/>
            <a:ext cx="11744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2206784" y="3399080"/>
            <a:ext cx="1173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436282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3257187"/>
              </p:ext>
            </p:extLst>
          </p:nvPr>
        </p:nvGraphicFramePr>
        <p:xfrm>
          <a:off x="452438" y="1082675"/>
          <a:ext cx="11644312" cy="184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" name="文档" r:id="rId4" imgW="3826872" imgH="611663" progId="Word.Document.12">
                  <p:embed/>
                </p:oleObj>
              </mc:Choice>
              <mc:Fallback>
                <p:oleObj name="文档" r:id="rId4" imgW="3826872" imgH="61166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2438" y="1082675"/>
                        <a:ext cx="11644312" cy="1849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7507796"/>
              </p:ext>
            </p:extLst>
          </p:nvPr>
        </p:nvGraphicFramePr>
        <p:xfrm>
          <a:off x="453778" y="3024063"/>
          <a:ext cx="11671959" cy="1398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" name="文档" r:id="rId7" imgW="3826872" imgH="458568" progId="Word.Document.12">
                  <p:embed/>
                </p:oleObj>
              </mc:Choice>
              <mc:Fallback>
                <p:oleObj name="文档" r:id="rId7" imgW="3826872" imgH="45856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3778" y="3024063"/>
                        <a:ext cx="11671959" cy="13986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432445" y="4485726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92777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49" y="749023"/>
            <a:ext cx="10871695" cy="5410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二、诱导公式三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的终边与角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的终边有什么关系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的终边与单位圆的交点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),sin(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,sin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有怎样的关系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的终边与角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的终边关于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轴对称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也关于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轴对称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NMG1TRA25.eps" descr="id:2147507363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72805" y="2621231"/>
            <a:ext cx="3528392" cy="230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6071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704680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诱导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公式三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dirty="0" err="1" smtClean="0"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tan(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tan </a:t>
            </a:r>
            <a:r>
              <a:rPr lang="en-US" altLang="zh-CN" i="1" dirty="0"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872605" y="2347015"/>
            <a:ext cx="122413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1868015" y="2811113"/>
            <a:ext cx="122275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1867593" y="2945207"/>
            <a:ext cx="122413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1863003" y="3409305"/>
            <a:ext cx="122275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883363" y="3509023"/>
            <a:ext cx="122413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1878773" y="3973121"/>
            <a:ext cx="122275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918026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5489468"/>
              </p:ext>
            </p:extLst>
          </p:nvPr>
        </p:nvGraphicFramePr>
        <p:xfrm>
          <a:off x="514350" y="1292225"/>
          <a:ext cx="11645900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7" name="文档" r:id="rId4" imgW="3826872" imgH="239347" progId="Word.Document.12">
                  <p:embed/>
                </p:oleObj>
              </mc:Choice>
              <mc:Fallback>
                <p:oleObj name="文档" r:id="rId4" imgW="3826872" imgH="2393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4350" y="1292225"/>
                        <a:ext cx="11645900" cy="725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8608684"/>
              </p:ext>
            </p:extLst>
          </p:nvPr>
        </p:nvGraphicFramePr>
        <p:xfrm>
          <a:off x="504453" y="2159967"/>
          <a:ext cx="11671959" cy="1519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8" name="文档" r:id="rId7" imgW="3826872" imgH="498100" progId="Word.Document.12">
                  <p:embed/>
                </p:oleObj>
              </mc:Choice>
              <mc:Fallback>
                <p:oleObj name="文档" r:id="rId7" imgW="3826872" imgH="4981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3" y="2159967"/>
                        <a:ext cx="11671959" cy="15192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3267230"/>
              </p:ext>
            </p:extLst>
          </p:nvPr>
        </p:nvGraphicFramePr>
        <p:xfrm>
          <a:off x="504453" y="3761284"/>
          <a:ext cx="11671959" cy="7749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" name="文档" r:id="rId10" imgW="3826872" imgH="254081" progId="Word.Document.12">
                  <p:embed/>
                </p:oleObj>
              </mc:Choice>
              <mc:Fallback>
                <p:oleObj name="文档" r:id="rId10" imgW="3826872" imgH="2540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04453" y="3761284"/>
                        <a:ext cx="11671959" cy="7749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405345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19807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三、诱导公式四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角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的终边与角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的终边有什么关系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角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的终边与单位圆的交点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(cos(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),sin(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(cos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,sin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有什么关系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endParaRPr lang="zh-CN" altLang="en-US" dirty="0"/>
          </a:p>
        </p:txBody>
      </p:sp>
      <p:sp>
        <p:nvSpPr>
          <p:cNvPr id="6" name="矩形 5"/>
          <p:cNvSpPr>
            <a:spLocks noChangeAspect="1"/>
          </p:cNvSpPr>
          <p:nvPr/>
        </p:nvSpPr>
        <p:spPr>
          <a:xfrm>
            <a:off x="361950" y="3960670"/>
            <a:ext cx="5039047" cy="18085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角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的终边与角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的终边关于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轴对称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也关于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轴对称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  <p:pic>
        <p:nvPicPr>
          <p:cNvPr id="9" name="21Q17.eps" descr="id:2147497865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6337101" y="2880047"/>
            <a:ext cx="3667645" cy="295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94588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27461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诱导公式四</a:t>
            </a:r>
            <a:endParaRPr lang="zh-CN" altLang="en-US" dirty="0"/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sin(</a:t>
            </a:r>
            <a:r>
              <a:rPr lang="en-US" altLang="zh-CN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sin </a:t>
            </a:r>
            <a:r>
              <a:rPr lang="en-US" altLang="zh-CN" i="1" dirty="0"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tan(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tan </a:t>
            </a:r>
            <a:r>
              <a:rPr lang="en-US" altLang="zh-CN" i="1" dirty="0"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110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 70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等于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sin(180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110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110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=a.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088629" y="1675533"/>
            <a:ext cx="11744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2084284" y="2139631"/>
            <a:ext cx="1173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2127531" y="2259281"/>
            <a:ext cx="11744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2123186" y="2723379"/>
            <a:ext cx="1173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2156465" y="2834775"/>
            <a:ext cx="11744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2152120" y="3298873"/>
            <a:ext cx="1173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488180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-844035" y="863823"/>
            <a:ext cx="12013685" cy="4780476"/>
            <a:chOff x="-844035" y="907883"/>
            <a:chExt cx="12013685" cy="4780476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907883"/>
              <a:ext cx="10807700" cy="478047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【思考辨析】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判断下列说法是否正确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正确的在后面的括号内打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错误的打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(1)tan 210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 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诱导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公式中的角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一定是锐角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由公式三知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β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)]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=-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β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(4)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,sin(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A+B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√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(5)sin(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sin 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  </a:t>
              </a:r>
              <a:r>
                <a:rPr lang="en-US" altLang="zh-CN" dirty="0"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95821889"/>
                </p:ext>
              </p:extLst>
            </p:nvPr>
          </p:nvGraphicFramePr>
          <p:xfrm>
            <a:off x="-844035" y="2619596"/>
            <a:ext cx="7972105" cy="6999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3" name="文档" r:id="rId4" imgW="3826872" imgH="336020" progId="Word.Document.12">
                    <p:embed/>
                  </p:oleObj>
                </mc:Choice>
                <mc:Fallback>
                  <p:oleObj name="文档" r:id="rId4" imgW="3826872" imgH="33602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-844035" y="2619596"/>
                          <a:ext cx="7972105" cy="69999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矩形 6"/>
          <p:cNvSpPr/>
          <p:nvPr/>
        </p:nvSpPr>
        <p:spPr>
          <a:xfrm>
            <a:off x="3888829" y="2705092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440452" y="3318015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886797" y="3932342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121077" y="4524257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766324" y="5081356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68906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利用</a:t>
            </a:r>
            <a:r>
              <a:rPr lang="zh-CN" altLang="zh-CN" dirty="0"/>
              <a:t>诱导公式解决给角求值问题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263515"/>
              </p:ext>
            </p:extLst>
          </p:nvPr>
        </p:nvGraphicFramePr>
        <p:xfrm>
          <a:off x="504453" y="2105888"/>
          <a:ext cx="11671959" cy="17822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7" name="文档" r:id="rId4" imgW="3826872" imgH="584351" progId="Word.Document.12">
                  <p:embed/>
                </p:oleObj>
              </mc:Choice>
              <mc:Fallback>
                <p:oleObj name="文档" r:id="rId4" imgW="3826872" imgH="58435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2105888"/>
                        <a:ext cx="11671959" cy="17822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758025"/>
              </p:ext>
            </p:extLst>
          </p:nvPr>
        </p:nvGraphicFramePr>
        <p:xfrm>
          <a:off x="432445" y="975159"/>
          <a:ext cx="11671959" cy="42616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" name="文档" r:id="rId4" imgW="3826872" imgH="1397266" progId="Word.Document.12">
                  <p:embed/>
                </p:oleObj>
              </mc:Choice>
              <mc:Fallback>
                <p:oleObj name="文档" r:id="rId4" imgW="3826872" imgH="139726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975159"/>
                        <a:ext cx="11671959" cy="42616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74983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95871"/>
            <a:ext cx="10807700" cy="30469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诱导公式求任意角的三角函数值的步骤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:(1)“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负化正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用公式一或公式三来转化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大化小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用公式一将角化为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~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角化锐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用公式二或公式四将大于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的角转化为锐角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锐求值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得到锐角的三角函数后求值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510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288429" y="821311"/>
            <a:ext cx="10807700" cy="123489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1 200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)·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1 290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1 020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sin(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1 050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tan 945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2983081"/>
              </p:ext>
            </p:extLst>
          </p:nvPr>
        </p:nvGraphicFramePr>
        <p:xfrm>
          <a:off x="430932" y="2103868"/>
          <a:ext cx="11671959" cy="3407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5" name="文档" r:id="rId4" imgW="3826872" imgH="1117310" progId="Word.Document.12">
                  <p:embed/>
                </p:oleObj>
              </mc:Choice>
              <mc:Fallback>
                <p:oleObj name="文档" r:id="rId4" imgW="3826872" imgH="111731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932" y="2103868"/>
                        <a:ext cx="11671959" cy="34077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3012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利用</a:t>
            </a:r>
            <a:r>
              <a:rPr lang="zh-CN" altLang="zh-CN" dirty="0"/>
              <a:t>诱导公式解决给值求值问题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1224188"/>
              </p:ext>
            </p:extLst>
          </p:nvPr>
        </p:nvGraphicFramePr>
        <p:xfrm>
          <a:off x="288429" y="1494027"/>
          <a:ext cx="11671959" cy="7902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8" name="文档" r:id="rId4" imgW="3826872" imgH="259112" progId="Word.Document.12">
                  <p:embed/>
                </p:oleObj>
              </mc:Choice>
              <mc:Fallback>
                <p:oleObj name="文档" r:id="rId4" imgW="3826872" imgH="2591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1494027"/>
                        <a:ext cx="11671959" cy="7902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2356327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先利用诱导公式将待求式化简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再根据已知求值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8224088"/>
              </p:ext>
            </p:extLst>
          </p:nvPr>
        </p:nvGraphicFramePr>
        <p:xfrm>
          <a:off x="363569" y="3049671"/>
          <a:ext cx="11671959" cy="2475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9" name="文档" r:id="rId7" imgW="3826872" imgH="811478" progId="Word.Document.12">
                  <p:embed/>
                </p:oleObj>
              </mc:Choice>
              <mc:Fallback>
                <p:oleObj name="文档" r:id="rId7" imgW="3826872" imgH="8114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3569" y="3049671"/>
                        <a:ext cx="11671959" cy="24750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>
            <a:off x="361950" y="1446731"/>
            <a:ext cx="10807700" cy="304698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利用诱导公式解决给值求值问题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首先要仔细观察条件与所求式之间的角、函数名称及有关运算之间的差异及联系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然后利用诱导公式进行变形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将已知式向所求式转化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或将所求式向已知式转化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668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0068775"/>
              </p:ext>
            </p:extLst>
          </p:nvPr>
        </p:nvGraphicFramePr>
        <p:xfrm>
          <a:off x="360437" y="935831"/>
          <a:ext cx="11671959" cy="2288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0" name="文档" r:id="rId4" imgW="3826872" imgH="750384" progId="Word.Document.12">
                  <p:embed/>
                </p:oleObj>
              </mc:Choice>
              <mc:Fallback>
                <p:oleObj name="文档" r:id="rId4" imgW="3826872" imgH="7503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935831"/>
                        <a:ext cx="11671959" cy="22886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7289414"/>
              </p:ext>
            </p:extLst>
          </p:nvPr>
        </p:nvGraphicFramePr>
        <p:xfrm>
          <a:off x="360437" y="3312095"/>
          <a:ext cx="11671959" cy="14578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1" name="文档" r:id="rId7" imgW="3826872" imgH="477974" progId="Word.Document.12">
                  <p:embed/>
                </p:oleObj>
              </mc:Choice>
              <mc:Fallback>
                <p:oleObj name="文档" r:id="rId7" imgW="3826872" imgH="47797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0437" y="3312095"/>
                        <a:ext cx="11671959" cy="14578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60437" y="4863640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4973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利用</a:t>
            </a:r>
            <a:r>
              <a:rPr lang="zh-CN" altLang="zh-CN" dirty="0"/>
              <a:t>诱导公式化简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3851905"/>
              </p:ext>
            </p:extLst>
          </p:nvPr>
        </p:nvGraphicFramePr>
        <p:xfrm>
          <a:off x="360437" y="2087959"/>
          <a:ext cx="11671959" cy="21483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" name="文档" r:id="rId4" imgW="3826872" imgH="704383" progId="Word.Document.12">
                  <p:embed/>
                </p:oleObj>
              </mc:Choice>
              <mc:Fallback>
                <p:oleObj name="文档" r:id="rId4" imgW="3826872" imgH="70438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0437" y="2087959"/>
                        <a:ext cx="11671959" cy="21483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4238179"/>
              </p:ext>
            </p:extLst>
          </p:nvPr>
        </p:nvGraphicFramePr>
        <p:xfrm>
          <a:off x="432445" y="1007839"/>
          <a:ext cx="11671959" cy="42057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" name="文档" r:id="rId4" imgW="3826872" imgH="1378938" progId="Word.Document.12">
                  <p:embed/>
                </p:oleObj>
              </mc:Choice>
              <mc:Fallback>
                <p:oleObj name="文档" r:id="rId4" imgW="3826872" imgH="137893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007839"/>
                        <a:ext cx="11671959" cy="42057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8537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延伸探究H.eps" descr="id:2147492067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062812" y="1151855"/>
            <a:ext cx="2740119" cy="499725"/>
          </a:xfrm>
          <a:prstGeom prst="rect">
            <a:avLst/>
          </a:prstGeom>
        </p:spPr>
      </p:pic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3478996"/>
              </p:ext>
            </p:extLst>
          </p:nvPr>
        </p:nvGraphicFramePr>
        <p:xfrm>
          <a:off x="432445" y="1727919"/>
          <a:ext cx="11671959" cy="8352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2" name="文档" r:id="rId5" imgW="3826872" imgH="273847" progId="Word.Document.12">
                  <p:embed/>
                </p:oleObj>
              </mc:Choice>
              <mc:Fallback>
                <p:oleObj name="文档" r:id="rId5" imgW="3826872" imgH="2738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2445" y="1727919"/>
                        <a:ext cx="11671959" cy="8352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3094156"/>
              </p:ext>
            </p:extLst>
          </p:nvPr>
        </p:nvGraphicFramePr>
        <p:xfrm>
          <a:off x="432445" y="2683687"/>
          <a:ext cx="11671959" cy="16704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3" name="文档" r:id="rId8" imgW="3826872" imgH="547694" progId="Word.Document.12">
                  <p:embed/>
                </p:oleObj>
              </mc:Choice>
              <mc:Fallback>
                <p:oleObj name="文档" r:id="rId8" imgW="3826872" imgH="5476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32445" y="2683687"/>
                        <a:ext cx="11671959" cy="16704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38373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1407403"/>
            <a:ext cx="11742454" cy="3046988"/>
            <a:chOff x="361950" y="1556928"/>
            <a:chExt cx="11742454" cy="3046988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556928"/>
              <a:ext cx="10807700" cy="304698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en-US" dirty="0">
                  <a:solidFill>
                    <a:srgbClr val="000000"/>
                  </a:solidFill>
                  <a:latin typeface="黑体" panose="02010609060101010101" pitchFamily="49" charset="-122"/>
                  <a:cs typeface="Times New Roman" panose="02020603050405020304" pitchFamily="18" charset="0"/>
                </a:rPr>
                <a:t>反思感悟</a:t>
              </a:r>
              <a:endParaRPr lang="zh-CN" altLang="zh-CN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三角函数式的化简方法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:(1)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利用诱导公式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将任意角的三角函数转化为锐角的三角函数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常用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切化弦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”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即将式中的正切化为正弦、余弦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注意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“1”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的变形应用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:</a:t>
              </a:r>
              <a:endParaRPr lang="zh-CN" altLang="en-US" dirty="0"/>
            </a:p>
            <a:p>
              <a:pPr>
                <a:lnSpc>
                  <a:spcPct val="120000"/>
                </a:lnSpc>
              </a:pPr>
              <a:endParaRPr lang="zh-CN" altLang="en-US" dirty="0"/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3306508"/>
                </p:ext>
              </p:extLst>
            </p:nvPr>
          </p:nvGraphicFramePr>
          <p:xfrm>
            <a:off x="432445" y="3933192"/>
            <a:ext cx="11671959" cy="642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7" name="文档" r:id="rId4" imgW="3826872" imgH="210596" progId="Word.Document.12">
                    <p:embed/>
                  </p:oleObj>
                </mc:Choice>
                <mc:Fallback>
                  <p:oleObj name="文档" r:id="rId4" imgW="3826872" imgH="21059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3933192"/>
                          <a:ext cx="11671959" cy="64231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186308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3747971"/>
              </p:ext>
            </p:extLst>
          </p:nvPr>
        </p:nvGraphicFramePr>
        <p:xfrm>
          <a:off x="432445" y="774488"/>
          <a:ext cx="11671959" cy="2123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8" name="文档" r:id="rId4" imgW="3826872" imgH="696118" progId="Word.Document.12">
                  <p:embed/>
                </p:oleObj>
              </mc:Choice>
              <mc:Fallback>
                <p:oleObj name="文档" r:id="rId4" imgW="3826872" imgH="69611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774488"/>
                        <a:ext cx="11671959" cy="21231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6141532"/>
              </p:ext>
            </p:extLst>
          </p:nvPr>
        </p:nvGraphicFramePr>
        <p:xfrm>
          <a:off x="432445" y="2964224"/>
          <a:ext cx="11671959" cy="30318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9" name="文档" r:id="rId7" imgW="3826872" imgH="994043" progId="Word.Document.12">
                  <p:embed/>
                </p:oleObj>
              </mc:Choice>
              <mc:Fallback>
                <p:oleObj name="文档" r:id="rId7" imgW="3826872" imgH="9940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2964224"/>
                        <a:ext cx="11671959" cy="30318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1617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0030379"/>
              </p:ext>
            </p:extLst>
          </p:nvPr>
        </p:nvGraphicFramePr>
        <p:xfrm>
          <a:off x="461941" y="1416478"/>
          <a:ext cx="11671959" cy="16704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3" name="文档" r:id="rId4" imgW="3826872" imgH="547694" progId="Word.Document.12">
                  <p:embed/>
                </p:oleObj>
              </mc:Choice>
              <mc:Fallback>
                <p:oleObj name="文档" r:id="rId4" imgW="3826872" imgH="5476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1941" y="1416478"/>
                        <a:ext cx="11671959" cy="16704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61950" y="3193439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sin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</a:rPr>
              <a:t>α</a:t>
            </a:r>
            <a:endParaRPr lang="zh-CN" altLang="en-US" dirty="0"/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解答过程中都有哪些错误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上述求解忽略了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的奇偶性致错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是整数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可能是奇数也可能是偶数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所以需要对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n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的奇偶性进行讨论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061374" y="709975"/>
            <a:ext cx="5408852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忽略讨论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Z)</a:t>
            </a: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的取值致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错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7617828"/>
              </p:ext>
            </p:extLst>
          </p:nvPr>
        </p:nvGraphicFramePr>
        <p:xfrm>
          <a:off x="430213" y="1177945"/>
          <a:ext cx="11645900" cy="322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7" name="文档" r:id="rId4" imgW="3928207" imgH="1111919" progId="Word.Document.12">
                  <p:embed/>
                </p:oleObj>
              </mc:Choice>
              <mc:Fallback>
                <p:oleObj name="文档" r:id="rId4" imgW="3928207" imgH="111191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1177945"/>
                        <a:ext cx="11645900" cy="322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61950" y="4475753"/>
            <a:ext cx="2388795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sin </a:t>
            </a:r>
            <a:r>
              <a:rPr lang="en-US" altLang="zh-CN" i="1" dirty="0" smtClean="0">
                <a:solidFill>
                  <a:srgbClr val="000000"/>
                </a:solidFill>
                <a:ea typeface="Microsoft Yi Baiti" panose="03000500000000000000" pitchFamily="66" charset="0"/>
              </a:rPr>
              <a:t>α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513391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720134"/>
            <a:ext cx="10807700" cy="24560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诱导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公式是一个有机的整体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解题时要根据角的特征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选取适当的公式进行化简计算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对形如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π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±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要注意对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的奇偶性进行讨论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95624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7261089"/>
              </p:ext>
            </p:extLst>
          </p:nvPr>
        </p:nvGraphicFramePr>
        <p:xfrm>
          <a:off x="432445" y="1259158"/>
          <a:ext cx="11671959" cy="15926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4" name="文档" r:id="rId4" imgW="3826872" imgH="522178" progId="Word.Document.12">
                  <p:embed/>
                </p:oleObj>
              </mc:Choice>
              <mc:Fallback>
                <p:oleObj name="文档" r:id="rId4" imgW="3826872" imgH="5221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259158"/>
                        <a:ext cx="11671959" cy="15926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8386604"/>
              </p:ext>
            </p:extLst>
          </p:nvPr>
        </p:nvGraphicFramePr>
        <p:xfrm>
          <a:off x="432445" y="2970457"/>
          <a:ext cx="11671959" cy="108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5" name="文档" r:id="rId7" imgW="3826872" imgH="356504" progId="Word.Document.12">
                  <p:embed/>
                </p:oleObj>
              </mc:Choice>
              <mc:Fallback>
                <p:oleObj name="文档" r:id="rId7" imgW="3826872" imgH="35650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2970457"/>
                        <a:ext cx="11671959" cy="1087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17925" y="4121335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4705776"/>
              </p:ext>
            </p:extLst>
          </p:nvPr>
        </p:nvGraphicFramePr>
        <p:xfrm>
          <a:off x="504453" y="925999"/>
          <a:ext cx="11671959" cy="2126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6" name="文档" r:id="rId4" imgW="3826872" imgH="697196" progId="Word.Document.12">
                  <p:embed/>
                </p:oleObj>
              </mc:Choice>
              <mc:Fallback>
                <p:oleObj name="文档" r:id="rId4" imgW="3826872" imgH="6971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925999"/>
                        <a:ext cx="11671959" cy="21264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360772"/>
              </p:ext>
            </p:extLst>
          </p:nvPr>
        </p:nvGraphicFramePr>
        <p:xfrm>
          <a:off x="504452" y="3177911"/>
          <a:ext cx="11671959" cy="1428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7" name="文档" r:id="rId7" imgW="3837724" imgH="481367" progId="Word.Document.12">
                  <p:embed/>
                </p:oleObj>
              </mc:Choice>
              <mc:Fallback>
                <p:oleObj name="文档" r:id="rId7" imgW="3837724" imgH="4813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2" y="3177911"/>
                        <a:ext cx="11671959" cy="14282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494620" y="4699911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45603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7604999"/>
              </p:ext>
            </p:extLst>
          </p:nvPr>
        </p:nvGraphicFramePr>
        <p:xfrm>
          <a:off x="576461" y="1125869"/>
          <a:ext cx="11671959" cy="21779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0" name="文档" r:id="rId4" imgW="3837724" imgH="716461" progId="Word.Document.12">
                  <p:embed/>
                </p:oleObj>
              </mc:Choice>
              <mc:Fallback>
                <p:oleObj name="文档" r:id="rId4" imgW="3837724" imgH="71646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1125869"/>
                        <a:ext cx="11671959" cy="21779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8739142"/>
              </p:ext>
            </p:extLst>
          </p:nvPr>
        </p:nvGraphicFramePr>
        <p:xfrm>
          <a:off x="581025" y="3392872"/>
          <a:ext cx="11671300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61" name="文档" r:id="rId7" imgW="3837724" imgH="269349" progId="Word.Document.12">
                  <p:embed/>
                </p:oleObj>
              </mc:Choice>
              <mc:Fallback>
                <p:oleObj name="文档" r:id="rId7" imgW="3837724" imgH="26934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1025" y="3392872"/>
                        <a:ext cx="11671300" cy="8175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494621" y="4131167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40722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8090507"/>
              </p:ext>
            </p:extLst>
          </p:nvPr>
        </p:nvGraphicFramePr>
        <p:xfrm>
          <a:off x="432445" y="762867"/>
          <a:ext cx="11671959" cy="20968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2" name="文档" r:id="rId4" imgW="3826872" imgH="687492" progId="Word.Document.12">
                  <p:embed/>
                </p:oleObj>
              </mc:Choice>
              <mc:Fallback>
                <p:oleObj name="文档" r:id="rId4" imgW="3826872" imgH="6874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762867"/>
                        <a:ext cx="11671959" cy="20968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4286336"/>
              </p:ext>
            </p:extLst>
          </p:nvPr>
        </p:nvGraphicFramePr>
        <p:xfrm>
          <a:off x="432445" y="2962435"/>
          <a:ext cx="11671959" cy="24125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3" name="文档" r:id="rId7" imgW="3826872" imgH="790994" progId="Word.Document.12">
                  <p:embed/>
                </p:oleObj>
              </mc:Choice>
              <mc:Fallback>
                <p:oleObj name="文档" r:id="rId7" imgW="3826872" imgH="7909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2962435"/>
                        <a:ext cx="11671959" cy="24125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432445" y="5374967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46596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55495"/>
            <a:ext cx="10807700" cy="64395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角的终边上有一点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5702234"/>
              </p:ext>
            </p:extLst>
          </p:nvPr>
        </p:nvGraphicFramePr>
        <p:xfrm>
          <a:off x="376583" y="1603567"/>
          <a:ext cx="11671959" cy="1225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6" name="文档" r:id="rId4" imgW="3826872" imgH="401786" progId="Word.Document.12">
                  <p:embed/>
                </p:oleObj>
              </mc:Choice>
              <mc:Fallback>
                <p:oleObj name="文档" r:id="rId4" imgW="3826872" imgH="4017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6583" y="1603567"/>
                        <a:ext cx="11671959" cy="12254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3038537"/>
              </p:ext>
            </p:extLst>
          </p:nvPr>
        </p:nvGraphicFramePr>
        <p:xfrm>
          <a:off x="361950" y="2915664"/>
          <a:ext cx="11671959" cy="560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7" name="文档" r:id="rId7" imgW="3826872" imgH="183643" progId="Word.Document.12">
                  <p:embed/>
                </p:oleObj>
              </mc:Choice>
              <mc:Fallback>
                <p:oleObj name="文档" r:id="rId7" imgW="3826872" imgH="1836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1950" y="2915664"/>
                        <a:ext cx="11671959" cy="5601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9326122"/>
              </p:ext>
            </p:extLst>
          </p:nvPr>
        </p:nvGraphicFramePr>
        <p:xfrm>
          <a:off x="361950" y="3562425"/>
          <a:ext cx="11671959" cy="8308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8" name="文档" r:id="rId10" imgW="3826872" imgH="272409" progId="Word.Document.12">
                  <p:embed/>
                </p:oleObj>
              </mc:Choice>
              <mc:Fallback>
                <p:oleObj name="文档" r:id="rId10" imgW="3826872" imgH="2724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61950" y="3562425"/>
                        <a:ext cx="11671959" cy="8308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986834"/>
              </p:ext>
            </p:extLst>
          </p:nvPr>
        </p:nvGraphicFramePr>
        <p:xfrm>
          <a:off x="376238" y="4486275"/>
          <a:ext cx="11672887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9" name="文档" r:id="rId13" imgW="3837724" imgH="297834" progId="Word.Document.12">
                  <p:embed/>
                </p:oleObj>
              </mc:Choice>
              <mc:Fallback>
                <p:oleObj name="文档" r:id="rId13" imgW="3837724" imgH="29783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76238" y="4486275"/>
                        <a:ext cx="11672887" cy="9032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3479668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30</TotalTime>
  <Words>882</Words>
  <Application>Microsoft Office PowerPoint</Application>
  <PresentationFormat>自定义</PresentationFormat>
  <Paragraphs>80</Paragraphs>
  <Slides>38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4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20</cp:revision>
  <dcterms:created xsi:type="dcterms:W3CDTF">2020-09-12T05:36:12Z</dcterms:created>
  <dcterms:modified xsi:type="dcterms:W3CDTF">2025-08-18T05:39:22Z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