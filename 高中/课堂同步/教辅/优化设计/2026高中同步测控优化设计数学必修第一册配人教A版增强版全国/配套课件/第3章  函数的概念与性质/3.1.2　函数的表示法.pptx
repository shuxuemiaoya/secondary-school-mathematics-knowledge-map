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37" r:id="rId14"/>
    <p:sldId id="750" r:id="rId15"/>
    <p:sldId id="762" r:id="rId16"/>
    <p:sldId id="763" r:id="rId17"/>
    <p:sldId id="764" r:id="rId18"/>
    <p:sldId id="765" r:id="rId19"/>
    <p:sldId id="754" r:id="rId20"/>
    <p:sldId id="766" r:id="rId21"/>
    <p:sldId id="767" r:id="rId22"/>
    <p:sldId id="770" r:id="rId23"/>
    <p:sldId id="771" r:id="rId24"/>
    <p:sldId id="786" r:id="rId25"/>
    <p:sldId id="755" r:id="rId26"/>
    <p:sldId id="772" r:id="rId27"/>
    <p:sldId id="773" r:id="rId28"/>
    <p:sldId id="774" r:id="rId29"/>
    <p:sldId id="747" r:id="rId30"/>
    <p:sldId id="751" r:id="rId31"/>
    <p:sldId id="775" r:id="rId32"/>
    <p:sldId id="776" r:id="rId33"/>
    <p:sldId id="777" r:id="rId34"/>
    <p:sldId id="778" r:id="rId35"/>
    <p:sldId id="779" r:id="rId36"/>
    <p:sldId id="780" r:id="rId37"/>
    <p:sldId id="748" r:id="rId38"/>
    <p:sldId id="752" r:id="rId39"/>
    <p:sldId id="781" r:id="rId40"/>
    <p:sldId id="782" r:id="rId41"/>
    <p:sldId id="783" r:id="rId42"/>
    <p:sldId id="784" r:id="rId43"/>
    <p:sldId id="785" r:id="rId44"/>
    <p:sldId id="735" r:id="rId45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44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5" Type="http://schemas.openxmlformats.org/officeDocument/2006/relationships/slide" Target="slide29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jpeg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7.docx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15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jpeg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8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jpeg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9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9.jpeg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0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1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2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3.jpeg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3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4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5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6.docx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0.jpeg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18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19.docx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0.docx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4.jpeg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1.docx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75681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函数的表示法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在实际情境中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会根据不同的需要选择恰当的方法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如图象法、列表法、解析法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表示函数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理解函数图象的作用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掌握函数图象的作法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通过具体实例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了解简单的分段函数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并能简单应用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体验数学抽象的过程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想象和数学建模素养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  <p:sp>
        <p:nvSpPr>
          <p:cNvPr id="4" name="矩形 3"/>
          <p:cNvSpPr>
            <a:spLocks noChangeAspect="1"/>
          </p:cNvSpPr>
          <p:nvPr/>
        </p:nvSpPr>
        <p:spPr>
          <a:xfrm>
            <a:off x="361950" y="965997"/>
            <a:ext cx="10807700" cy="6317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  范  解  答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29748" y="925999"/>
            <a:ext cx="10839902" cy="4918856"/>
            <a:chOff x="329748" y="1129543"/>
            <a:chExt cx="10839902" cy="491885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216078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一、函数的表示方法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给出下列三个对应关系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altLang="en-US" dirty="0"/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4010606"/>
                </p:ext>
              </p:extLst>
            </p:nvPr>
          </p:nvGraphicFramePr>
          <p:xfrm>
            <a:off x="329748" y="3672135"/>
            <a:ext cx="10768100" cy="1793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3" name="文档" r:id="rId4" imgW="3883577" imgH="646883" progId="Word.Document.12">
                    <p:embed/>
                  </p:oleObj>
                </mc:Choice>
                <mc:Fallback>
                  <p:oleObj name="文档" r:id="rId4" imgW="3883577" imgH="64688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29748" y="3672135"/>
                          <a:ext cx="10768100" cy="17936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4830758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③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它们分别是用什么形式表达两个变量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之间的对应关系的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它们是否都是函数关系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NMG1TRA37.eps" descr="id:2147495030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769149" y="1129543"/>
              <a:ext cx="2592288" cy="24705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238248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分别用解析法、列表法、图象法表示对应关系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它们都是函数关系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31877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20134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的三种表示方法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解析法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就是用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数学表达式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表示两个变量之间的对应关系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列表法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就是列出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表格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表示两个变量之间的对应关系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就是用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图象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表达两个变量之间的对应关系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67539" y="2376816"/>
            <a:ext cx="202298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463546" y="2840914"/>
            <a:ext cx="20206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899587" y="2953104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894997" y="341720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485062" y="3530224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3480472" y="399432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24718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80549" y="1080211"/>
            <a:ext cx="11918250" cy="4824172"/>
            <a:chOff x="-180549" y="1080211"/>
            <a:chExt cx="11918250" cy="4824172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080211"/>
              <a:ext cx="5126724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函数三种表示方法的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比较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133577"/>
                </p:ext>
              </p:extLst>
            </p:nvPr>
          </p:nvGraphicFramePr>
          <p:xfrm>
            <a:off x="-180549" y="1747947"/>
            <a:ext cx="11918250" cy="4156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6" name="文档" r:id="rId4" imgW="3907623" imgH="1362766" progId="Word.Document.12">
                    <p:embed/>
                  </p:oleObj>
                </mc:Choice>
                <mc:Fallback>
                  <p:oleObj name="文档" r:id="rId4" imgW="3907623" imgH="136276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80549" y="1747947"/>
                          <a:ext cx="11918250" cy="41564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6537754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746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二、分段函数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某商店销售一种商品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当销售量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当销售量超过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超出部分按原件的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那么销售收入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与销售量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的函数关系应怎么表达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函数定义域内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对于自变量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的不同取值区间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有着不同的对应关系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这样的函数叫做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分段函数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45130" y="4598407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040957" y="5062505"/>
            <a:ext cx="15931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6572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891468"/>
              </p:ext>
            </p:extLst>
          </p:nvPr>
        </p:nvGraphicFramePr>
        <p:xfrm>
          <a:off x="432445" y="1299053"/>
          <a:ext cx="11671959" cy="2744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文档" r:id="rId4" imgW="3826872" imgH="901683" progId="Word.Document.12">
                  <p:embed/>
                </p:oleObj>
              </mc:Choice>
              <mc:Fallback>
                <p:oleObj name="文档" r:id="rId4" imgW="3826872" imgH="9016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99053"/>
                        <a:ext cx="11671959" cy="27446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404370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49130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94758"/>
            <a:ext cx="10807700" cy="41895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任何函数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解析式表示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不能用列表法表示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函数的图象一定是一条连续不断的曲线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分段函数是由几个函数组合而成的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36812" y="285803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25133" y="345611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81317" y="410418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417221" y="468024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2504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函数</a:t>
            </a:r>
            <a:r>
              <a:rPr lang="zh-CN" altLang="zh-CN" dirty="0"/>
              <a:t>的表示方法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49170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某商店新进了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部手机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每部售价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3 000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试分别用列表法、图象法、解析法表示售出部数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与销售额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之间的函数关系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1950" y="3276354"/>
            <a:ext cx="10807700" cy="2503677"/>
            <a:chOff x="361950" y="3132887"/>
            <a:chExt cx="10807700" cy="2503677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3132887"/>
              <a:ext cx="4023858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列表法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如下表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 </a:t>
              </a:r>
              <a:endParaRPr lang="zh-CN" altLang="en-US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703870"/>
                </p:ext>
              </p:extLst>
            </p:nvPr>
          </p:nvGraphicFramePr>
          <p:xfrm>
            <a:off x="399559" y="3842934"/>
            <a:ext cx="10770091" cy="1793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4" name="文档" r:id="rId4" imgW="3884295" imgH="646883" progId="Word.Document.12">
                    <p:embed/>
                  </p:oleObj>
                </mc:Choice>
                <mc:Fallback>
                  <p:oleObj name="文档" r:id="rId4" imgW="3884295" imgH="64688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9559" y="3842934"/>
                          <a:ext cx="10770091" cy="17936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762039"/>
            <a:ext cx="10807700" cy="5410712"/>
            <a:chOff x="361950" y="711435"/>
            <a:chExt cx="10807700" cy="5410712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711435"/>
              <a:ext cx="10807700" cy="54107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图象法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解析法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000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{1,2,3,</a:t>
              </a:r>
              <a:r>
                <a:rPr lang="en-US" altLang="zh-CN" dirty="0">
                  <a:solidFill>
                    <a:srgbClr val="000000"/>
                  </a:solidFill>
                  <a:latin typeface="楷体" panose="02010609060101010101" pitchFamily="49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,10}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9" name="NMG1TRA38.eps" descr="id:214749506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736701" y="1377711"/>
              <a:ext cx="5616624" cy="40811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253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361950" y="1345227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列表法、图象法、解析法都是函数的表示法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无论用哪种方式表示函数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都要满足函数的概念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函数的三种表示法互相兼容或补充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许多函数是可以用三种方法表示的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但在实际操作中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仍以解析法为主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68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935707" y="935831"/>
            <a:ext cx="12105357" cy="4536504"/>
            <a:chOff x="-935707" y="719807"/>
            <a:chExt cx="12105357" cy="453650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19807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分别由下表给出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endParaRPr lang="zh-CN" altLang="en-US" dirty="0"/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4581353"/>
                </p:ext>
              </p:extLst>
            </p:nvPr>
          </p:nvGraphicFramePr>
          <p:xfrm>
            <a:off x="-935707" y="1439887"/>
            <a:ext cx="11844910" cy="1853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4" name="文档" r:id="rId4" imgW="3883577" imgH="607710" progId="Word.Document.12">
                    <p:embed/>
                  </p:oleObj>
                </mc:Choice>
                <mc:Fallback>
                  <p:oleObj name="文档" r:id="rId4" imgW="3883577" imgH="6077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935707" y="1439887"/>
                          <a:ext cx="11844910" cy="185351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6925357"/>
                </p:ext>
              </p:extLst>
            </p:nvPr>
          </p:nvGraphicFramePr>
          <p:xfrm>
            <a:off x="-935707" y="2808039"/>
            <a:ext cx="11844910" cy="1853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5" name="文档" r:id="rId7" imgW="3883577" imgH="607710" progId="Word.Document.12">
                    <p:embed/>
                  </p:oleObj>
                </mc:Choice>
                <mc:Fallback>
                  <p:oleObj name="文档" r:id="rId7" imgW="3883577" imgH="6077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-935707" y="2808039"/>
                          <a:ext cx="11844910" cy="185351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4038670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求满足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597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不符合题意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符合题意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不符合题意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综上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的值等于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87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函数</a:t>
            </a:r>
            <a:r>
              <a:rPr lang="zh-CN" altLang="zh-CN" dirty="0"/>
              <a:t>的图象及其画法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889380"/>
              </p:ext>
            </p:extLst>
          </p:nvPr>
        </p:nvGraphicFramePr>
        <p:xfrm>
          <a:off x="504825" y="1765597"/>
          <a:ext cx="11672888" cy="291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文档" r:id="rId4" imgW="3837724" imgH="960930" progId="Word.Document.12">
                  <p:embed/>
                </p:oleObj>
              </mc:Choice>
              <mc:Fallback>
                <p:oleObj name="文档" r:id="rId4" imgW="3837724" imgH="9609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765597"/>
                        <a:ext cx="11672888" cy="291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248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图象为一次函数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所对应的直线上的一些离散的点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NMG1TRA40.eps" descr="id:214749586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384773" y="1960959"/>
            <a:ext cx="4392488" cy="417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650936"/>
              </p:ext>
            </p:extLst>
          </p:nvPr>
        </p:nvGraphicFramePr>
        <p:xfrm>
          <a:off x="504453" y="680479"/>
          <a:ext cx="10607329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文档" r:id="rId4" imgW="3477813" imgH="238700" progId="Word.Document.12">
                  <p:embed/>
                </p:oleObj>
              </mc:Choice>
              <mc:Fallback>
                <p:oleObj name="文档" r:id="rId4" imgW="3477813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80479"/>
                        <a:ext cx="10607329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21Q35.eps" descr="id:2147495875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456781" y="1408514"/>
            <a:ext cx="3456384" cy="1821002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320075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该函数为分段函数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其图象由两部分组成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为抛物线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的一段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NMG1TRA42.eps" descr="id:2147495882;FounderCES"/>
          <p:cNvPicPr/>
          <p:nvPr/>
        </p:nvPicPr>
        <p:blipFill>
          <a:blip r:embed="rId7"/>
          <a:stretch>
            <a:fillRect/>
          </a:stretch>
        </p:blipFill>
        <p:spPr>
          <a:xfrm>
            <a:off x="5184973" y="4392215"/>
            <a:ext cx="1872208" cy="189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08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画函数图象的常用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描点作图法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这是画函数图象的基本方法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其步骤是列表、描点、连线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基本函数法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对于我们熟悉的一次函数、二次函数、反比例函数等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可直接根据以前学过的知识画出图象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分段函数分段法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对于分段函数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应分段画图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将每一段区间上对应的函数图象画出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即得该分段函数的图象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13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5791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画出下列函数的图象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并求出定义域和值域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011849"/>
              </p:ext>
            </p:extLst>
          </p:nvPr>
        </p:nvGraphicFramePr>
        <p:xfrm>
          <a:off x="562321" y="1151855"/>
          <a:ext cx="10607329" cy="165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name="文档" r:id="rId4" imgW="3477813" imgH="542664" progId="Word.Document.12">
                  <p:embed/>
                </p:oleObj>
              </mc:Choice>
              <mc:Fallback>
                <p:oleObj name="文档" r:id="rId4" imgW="3477813" imgH="5426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2321" y="1151855"/>
                        <a:ext cx="10607329" cy="165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61950" y="2860383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观察函数图象可知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值域为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[0,1]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21Q03.eps" descr="id:214749589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4104853" y="3454334"/>
            <a:ext cx="3744416" cy="243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1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006191"/>
              </p:ext>
            </p:extLst>
          </p:nvPr>
        </p:nvGraphicFramePr>
        <p:xfrm>
          <a:off x="432445" y="759135"/>
          <a:ext cx="10607329" cy="1560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" name="文档" r:id="rId4" imgW="3477813" imgH="511655" progId="Word.Document.12">
                  <p:embed/>
                </p:oleObj>
              </mc:Choice>
              <mc:Fallback>
                <p:oleObj name="文档" r:id="rId4" imgW="3477813" imgH="5116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59135"/>
                        <a:ext cx="10607329" cy="1560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21Q04.eps" descr="id:214749590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816821" y="2420766"/>
            <a:ext cx="2880320" cy="2807423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5244993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观察函数图象可知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值域为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1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分段</a:t>
            </a:r>
            <a:r>
              <a:rPr lang="zh-CN" altLang="zh-CN" dirty="0"/>
              <a:t>函数的求值问题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800360"/>
              </p:ext>
            </p:extLst>
          </p:nvPr>
        </p:nvGraphicFramePr>
        <p:xfrm>
          <a:off x="360437" y="1871935"/>
          <a:ext cx="11671959" cy="2684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文档" r:id="rId4" imgW="3826872" imgH="880120" progId="Word.Document.12">
                  <p:embed/>
                </p:oleObj>
              </mc:Choice>
              <mc:Fallback>
                <p:oleObj name="文档" r:id="rId4" imgW="3826872" imgH="8801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871935"/>
                        <a:ext cx="11671959" cy="26843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372553"/>
              </p:ext>
            </p:extLst>
          </p:nvPr>
        </p:nvGraphicFramePr>
        <p:xfrm>
          <a:off x="360437" y="1583903"/>
          <a:ext cx="11671959" cy="2636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文档" r:id="rId4" imgW="3826872" imgH="864307" progId="Word.Document.12">
                  <p:embed/>
                </p:oleObj>
              </mc:Choice>
              <mc:Fallback>
                <p:oleObj name="文档" r:id="rId4" imgW="3826872" imgH="8643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583903"/>
                        <a:ext cx="11671959" cy="2636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022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981798"/>
              </p:ext>
            </p:extLst>
          </p:nvPr>
        </p:nvGraphicFramePr>
        <p:xfrm>
          <a:off x="474957" y="1749902"/>
          <a:ext cx="11671959" cy="155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文档" r:id="rId4" imgW="3837724" imgH="511655" progId="Word.Document.12">
                  <p:embed/>
                </p:oleObj>
              </mc:Choice>
              <mc:Fallback>
                <p:oleObj name="文档" r:id="rId4" imgW="3837724" imgH="5116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4957" y="1749902"/>
                        <a:ext cx="11671959" cy="155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340274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依题意有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延伸探究H.eps" descr="id:214749206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4062812" y="1151855"/>
            <a:ext cx="2740119" cy="49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2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分段函数的函数值的方法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确定要求值的自变量属于哪一段区间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代入相应段的解析式求值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直到求出值为止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当出现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形式的求值问题时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应由内到外依次求值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72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  范  解  答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53124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分段函数的解析式问题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若定义函数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2)))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审题策略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由给出的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通过解不等式得出自变量的两个不同取值区间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按照分段函数的形式写出解析式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由内向外逐步求值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565959"/>
            <a:ext cx="11671959" cy="5875551"/>
            <a:chOff x="361950" y="565959"/>
            <a:chExt cx="11671959" cy="5875551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565959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规范展示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此时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此时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7636623"/>
                </p:ext>
              </p:extLst>
            </p:nvPr>
          </p:nvGraphicFramePr>
          <p:xfrm>
            <a:off x="361950" y="2912727"/>
            <a:ext cx="11671959" cy="11826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4" name="文档" r:id="rId4" imgW="3826872" imgH="387770" progId="Word.Document.12">
                    <p:embed/>
                  </p:oleObj>
                </mc:Choice>
                <mc:Fallback>
                  <p:oleObj name="文档" r:id="rId4" imgW="3826872" imgH="38777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61950" y="2912727"/>
                          <a:ext cx="11671959" cy="118269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4042007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2)))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(0)),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2)))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=h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500758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6417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答题模板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并写出此时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的解析式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⇓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并写出此时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的解析式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⇓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根据分段函数的形式写出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的解析式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⇓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先求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最后求得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2)))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87916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17235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失误展示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造成失分的主要原因如下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解错不等式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导致分段函数的分段范围错误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计算化简错误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导致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的解析式错误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的结果不符合分段函数的要求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5593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鼓励节约用水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某市打算出台一项水费政策措施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规定每季度每人用水量不超过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吨时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每吨水费收基本价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吨而不超过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吨时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超过部分的水费加收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200%,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吨而不超过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7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吨时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超过部分的水费加收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400%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如果某人本季度实际用水量为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7)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那么本季度他应缴多少水费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310915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203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表示本季度应缴水费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应把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分成两部分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第一部分收基本水费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第二部分由基本水费与加价水费组成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200%),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200%)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200%)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6)(1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%)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13184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756554"/>
              </p:ext>
            </p:extLst>
          </p:nvPr>
        </p:nvGraphicFramePr>
        <p:xfrm>
          <a:off x="432445" y="2353275"/>
          <a:ext cx="11671959" cy="1606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文档" r:id="rId4" imgW="3826872" imgH="526850" progId="Word.Document.12">
                  <p:embed/>
                </p:oleObj>
              </mc:Choice>
              <mc:Fallback>
                <p:oleObj name="文档" r:id="rId4" imgW="3826872" imgH="5268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353275"/>
                        <a:ext cx="11671959" cy="1606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724629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294937"/>
              </p:ext>
            </p:extLst>
          </p:nvPr>
        </p:nvGraphicFramePr>
        <p:xfrm>
          <a:off x="432445" y="945663"/>
          <a:ext cx="11671959" cy="205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4" name="文档" r:id="rId4" imgW="3837724" imgH="676077" progId="Word.Document.12">
                  <p:embed/>
                </p:oleObj>
              </mc:Choice>
              <mc:Fallback>
                <p:oleObj name="文档" r:id="rId4" imgW="3837724" imgH="6760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45663"/>
                        <a:ext cx="11671959" cy="205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697772"/>
              </p:ext>
            </p:extLst>
          </p:nvPr>
        </p:nvGraphicFramePr>
        <p:xfrm>
          <a:off x="432444" y="3099964"/>
          <a:ext cx="11671959" cy="1518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5" name="文档" r:id="rId7" imgW="3826872" imgH="497740" progId="Word.Document.12">
                  <p:embed/>
                </p:oleObj>
              </mc:Choice>
              <mc:Fallback>
                <p:oleObj name="文档" r:id="rId7" imgW="3826872" imgH="4977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3099964"/>
                        <a:ext cx="11671959" cy="1518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0867" y="4699911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237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某市某一天的温度随时间变化情况的图象如图所示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由图象可知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下列说法中正确的是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这一天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时的温度最高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这一天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时的温度最低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这一天的最高温度与最低温度相差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13 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℃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这一天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时的温度是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 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℃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由题中图象知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时温度最高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时温度最低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22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时温度为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21Q05.eps" descr="id:214749595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993285" y="1400559"/>
            <a:ext cx="3312368" cy="292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7986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48469" y="887280"/>
            <a:ext cx="11671959" cy="3377246"/>
            <a:chOff x="648469" y="791815"/>
            <a:chExt cx="11671959" cy="3377246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4186811"/>
                </p:ext>
              </p:extLst>
            </p:nvPr>
          </p:nvGraphicFramePr>
          <p:xfrm>
            <a:off x="648469" y="791815"/>
            <a:ext cx="11671959" cy="1087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3" name="文档" r:id="rId4" imgW="3826872" imgH="356504" progId="Word.Document.12">
                    <p:embed/>
                  </p:oleObj>
                </mc:Choice>
                <mc:Fallback>
                  <p:oleObj name="文档" r:id="rId4" imgW="3826872" imgH="35650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48469" y="791815"/>
                          <a:ext cx="11671959" cy="1087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NMG1TRA45.eps" descr="id:2147495203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819276" y="2038800"/>
              <a:ext cx="8614169" cy="2130261"/>
            </a:xfrm>
            <a:prstGeom prst="rect">
              <a:avLst/>
            </a:prstGeom>
          </p:spPr>
        </p:pic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361950" y="4336534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由分段函数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解析式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97150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168706"/>
              </p:ext>
            </p:extLst>
          </p:nvPr>
        </p:nvGraphicFramePr>
        <p:xfrm>
          <a:off x="353774" y="1583903"/>
          <a:ext cx="11671959" cy="949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文档" r:id="rId4" imgW="3826872" imgH="311222" progId="Word.Document.12">
                  <p:embed/>
                </p:oleObj>
              </mc:Choice>
              <mc:Fallback>
                <p:oleObj name="文档" r:id="rId4" imgW="3826872" imgH="3112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3774" y="1583903"/>
                        <a:ext cx="11671959" cy="949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81929" y="2668774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于是有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1180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655911"/>
            <a:ext cx="11814462" cy="2664296"/>
            <a:chOff x="361950" y="1655911"/>
            <a:chExt cx="11814462" cy="2664296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1500337"/>
                </p:ext>
              </p:extLst>
            </p:nvPr>
          </p:nvGraphicFramePr>
          <p:xfrm>
            <a:off x="504453" y="1655911"/>
            <a:ext cx="11671959" cy="772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0" name="文档" r:id="rId4" imgW="3826872" imgH="253362" progId="Word.Document.12">
                    <p:embed/>
                  </p:oleObj>
                </mc:Choice>
                <mc:Fallback>
                  <p:oleObj name="文档" r:id="rId4" imgW="3826872" imgH="25336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1655911"/>
                          <a:ext cx="11671959" cy="7727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2511635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用分段函数的形式表示函数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画出函数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写出函数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157208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646113"/>
            <a:ext cx="11757025" cy="5632590"/>
            <a:chOff x="361950" y="646113"/>
            <a:chExt cx="11757025" cy="5632590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2510115"/>
                </p:ext>
              </p:extLst>
            </p:nvPr>
          </p:nvGraphicFramePr>
          <p:xfrm>
            <a:off x="417513" y="646113"/>
            <a:ext cx="11701462" cy="2549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4" name="文档" r:id="rId4" imgW="3837724" imgH="837253" progId="Word.Document.12">
                    <p:embed/>
                  </p:oleObj>
                </mc:Choice>
                <mc:Fallback>
                  <p:oleObj name="文档" r:id="rId4" imgW="3837724" imgH="83725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7513" y="646113"/>
                          <a:ext cx="11701462" cy="2549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231715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的图象如图所示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2,2]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上的值域为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[1,3)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NMG1TRA46.eps" descr="id:2147495210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193085" y="2880047"/>
              <a:ext cx="3024336" cy="26840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491043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35</TotalTime>
  <Words>1755</Words>
  <Application>Microsoft Office PowerPoint</Application>
  <PresentationFormat>自定义</PresentationFormat>
  <Paragraphs>137</Paragraphs>
  <Slides>44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0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29</cp:revision>
  <dcterms:created xsi:type="dcterms:W3CDTF">2020-09-12T05:36:12Z</dcterms:created>
  <dcterms:modified xsi:type="dcterms:W3CDTF">2025-08-18T03:25:50Z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