
<file path=[Content_Types].xml><?xml version="1.0" encoding="utf-8"?>
<Types xmlns="http://schemas.openxmlformats.org/package/2006/content-types">
  <Default Extension="png" ContentType="image/png"/>
  <Default Extension="bin" ContentType="application/vnd.openxmlformats-officedocument.oleObject"/>
  <Default Extension="emf" ContentType="image/x-emf"/>
  <Default Extension="jpeg" ContentType="image/jpeg"/>
  <Default Extension="rels" ContentType="application/vnd.openxmlformats-package.relationships+xml"/>
  <Default Extension="xml" ContentType="application/xml"/>
  <Default Extension="wav" ContentType="audio/x-wav"/>
  <Default Extension="docx" ContentType="application/vnd.openxmlformats-officedocument.wordprocessingml.document"/>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1"/>
  </p:notesMasterIdLst>
  <p:sldIdLst>
    <p:sldId id="731" r:id="rId2"/>
    <p:sldId id="753" r:id="rId3"/>
    <p:sldId id="736" r:id="rId4"/>
    <p:sldId id="744" r:id="rId5"/>
    <p:sldId id="746" r:id="rId6"/>
    <p:sldId id="749" r:id="rId7"/>
    <p:sldId id="756" r:id="rId8"/>
    <p:sldId id="757" r:id="rId9"/>
    <p:sldId id="758" r:id="rId10"/>
    <p:sldId id="759" r:id="rId11"/>
    <p:sldId id="737" r:id="rId12"/>
    <p:sldId id="750" r:id="rId13"/>
    <p:sldId id="760" r:id="rId14"/>
    <p:sldId id="762" r:id="rId15"/>
    <p:sldId id="761" r:id="rId16"/>
    <p:sldId id="763" r:id="rId17"/>
    <p:sldId id="764" r:id="rId18"/>
    <p:sldId id="765" r:id="rId19"/>
    <p:sldId id="766" r:id="rId20"/>
    <p:sldId id="754" r:id="rId21"/>
    <p:sldId id="767" r:id="rId22"/>
    <p:sldId id="768" r:id="rId23"/>
    <p:sldId id="769" r:id="rId24"/>
    <p:sldId id="755" r:id="rId25"/>
    <p:sldId id="770" r:id="rId26"/>
    <p:sldId id="771" r:id="rId27"/>
    <p:sldId id="772" r:id="rId28"/>
    <p:sldId id="773" r:id="rId29"/>
    <p:sldId id="774" r:id="rId30"/>
    <p:sldId id="775" r:id="rId31"/>
    <p:sldId id="747" r:id="rId32"/>
    <p:sldId id="751" r:id="rId33"/>
    <p:sldId id="776" r:id="rId34"/>
    <p:sldId id="777" r:id="rId35"/>
    <p:sldId id="778" r:id="rId36"/>
    <p:sldId id="779" r:id="rId37"/>
    <p:sldId id="780" r:id="rId38"/>
    <p:sldId id="781" r:id="rId39"/>
    <p:sldId id="782" r:id="rId40"/>
    <p:sldId id="783" r:id="rId41"/>
    <p:sldId id="748" r:id="rId42"/>
    <p:sldId id="752" r:id="rId43"/>
    <p:sldId id="784" r:id="rId44"/>
    <p:sldId id="785" r:id="rId45"/>
    <p:sldId id="786" r:id="rId46"/>
    <p:sldId id="787" r:id="rId47"/>
    <p:sldId id="788" r:id="rId48"/>
    <p:sldId id="789" r:id="rId49"/>
    <p:sldId id="735" r:id="rId50"/>
  </p:sldIdLst>
  <p:sldSz cx="11522075" cy="6480175"/>
  <p:notesSz cx="6858000" cy="9144000"/>
  <p:defaultTextStyle>
    <a:defPPr>
      <a:defRPr lang="zh-CN"/>
    </a:defPPr>
    <a:lvl1pPr algn="l" rtl="0" fontAlgn="base">
      <a:spcBef>
        <a:spcPct val="0"/>
      </a:spcBef>
      <a:spcAft>
        <a:spcPct val="0"/>
      </a:spcAft>
      <a:buFont typeface="Arial" panose="020B0604020202020204" pitchFamily="34" charset="0"/>
      <a:defRPr sz="3200" b="1" kern="1200">
        <a:solidFill>
          <a:srgbClr val="FF0000"/>
        </a:solidFill>
        <a:latin typeface="Times New Roman" panose="02020603050405020304" pitchFamily="18" charset="0"/>
        <a:ea typeface="黑体" panose="02010609060101010101" pitchFamily="49" charset="-122"/>
        <a:cs typeface="+mn-cs"/>
      </a:defRPr>
    </a:lvl1pPr>
    <a:lvl2pPr marL="457200" algn="l" rtl="0" fontAlgn="base">
      <a:spcBef>
        <a:spcPct val="0"/>
      </a:spcBef>
      <a:spcAft>
        <a:spcPct val="0"/>
      </a:spcAft>
      <a:buFont typeface="Arial" panose="020B0604020202020204" pitchFamily="34" charset="0"/>
      <a:defRPr sz="3200" b="1" kern="1200">
        <a:solidFill>
          <a:srgbClr val="FF0000"/>
        </a:solidFill>
        <a:latin typeface="Times New Roman" panose="02020603050405020304" pitchFamily="18" charset="0"/>
        <a:ea typeface="黑体" panose="02010609060101010101" pitchFamily="49" charset="-122"/>
        <a:cs typeface="+mn-cs"/>
      </a:defRPr>
    </a:lvl2pPr>
    <a:lvl3pPr marL="914400" algn="l" rtl="0" fontAlgn="base">
      <a:spcBef>
        <a:spcPct val="0"/>
      </a:spcBef>
      <a:spcAft>
        <a:spcPct val="0"/>
      </a:spcAft>
      <a:buFont typeface="Arial" panose="020B0604020202020204" pitchFamily="34" charset="0"/>
      <a:defRPr sz="3200" b="1" kern="1200">
        <a:solidFill>
          <a:srgbClr val="FF0000"/>
        </a:solidFill>
        <a:latin typeface="Times New Roman" panose="02020603050405020304" pitchFamily="18" charset="0"/>
        <a:ea typeface="黑体" panose="02010609060101010101" pitchFamily="49" charset="-122"/>
        <a:cs typeface="+mn-cs"/>
      </a:defRPr>
    </a:lvl3pPr>
    <a:lvl4pPr marL="1371600" algn="l" rtl="0" fontAlgn="base">
      <a:spcBef>
        <a:spcPct val="0"/>
      </a:spcBef>
      <a:spcAft>
        <a:spcPct val="0"/>
      </a:spcAft>
      <a:buFont typeface="Arial" panose="020B0604020202020204" pitchFamily="34" charset="0"/>
      <a:defRPr sz="3200" b="1" kern="1200">
        <a:solidFill>
          <a:srgbClr val="FF0000"/>
        </a:solidFill>
        <a:latin typeface="Times New Roman" panose="02020603050405020304" pitchFamily="18" charset="0"/>
        <a:ea typeface="黑体" panose="02010609060101010101" pitchFamily="49" charset="-122"/>
        <a:cs typeface="+mn-cs"/>
      </a:defRPr>
    </a:lvl4pPr>
    <a:lvl5pPr marL="1828800" algn="l" rtl="0" fontAlgn="base">
      <a:spcBef>
        <a:spcPct val="0"/>
      </a:spcBef>
      <a:spcAft>
        <a:spcPct val="0"/>
      </a:spcAft>
      <a:buFont typeface="Arial" panose="020B0604020202020204" pitchFamily="34" charset="0"/>
      <a:defRPr sz="3200" b="1" kern="1200">
        <a:solidFill>
          <a:srgbClr val="FF0000"/>
        </a:solidFill>
        <a:latin typeface="Times New Roman" panose="02020603050405020304" pitchFamily="18" charset="0"/>
        <a:ea typeface="黑体" panose="02010609060101010101" pitchFamily="49" charset="-122"/>
        <a:cs typeface="+mn-cs"/>
      </a:defRPr>
    </a:lvl5pPr>
    <a:lvl6pPr marL="2286000" algn="l" defTabSz="914400" rtl="0" eaLnBrk="1" latinLnBrk="0" hangingPunct="1">
      <a:defRPr sz="3200" b="1" kern="1200">
        <a:solidFill>
          <a:srgbClr val="FF0000"/>
        </a:solidFill>
        <a:latin typeface="Times New Roman" panose="02020603050405020304" pitchFamily="18" charset="0"/>
        <a:ea typeface="黑体" panose="02010609060101010101" pitchFamily="49" charset="-122"/>
        <a:cs typeface="+mn-cs"/>
      </a:defRPr>
    </a:lvl6pPr>
    <a:lvl7pPr marL="2743200" algn="l" defTabSz="914400" rtl="0" eaLnBrk="1" latinLnBrk="0" hangingPunct="1">
      <a:defRPr sz="3200" b="1" kern="1200">
        <a:solidFill>
          <a:srgbClr val="FF0000"/>
        </a:solidFill>
        <a:latin typeface="Times New Roman" panose="02020603050405020304" pitchFamily="18" charset="0"/>
        <a:ea typeface="黑体" panose="02010609060101010101" pitchFamily="49" charset="-122"/>
        <a:cs typeface="+mn-cs"/>
      </a:defRPr>
    </a:lvl7pPr>
    <a:lvl8pPr marL="3200400" algn="l" defTabSz="914400" rtl="0" eaLnBrk="1" latinLnBrk="0" hangingPunct="1">
      <a:defRPr sz="3200" b="1" kern="1200">
        <a:solidFill>
          <a:srgbClr val="FF0000"/>
        </a:solidFill>
        <a:latin typeface="Times New Roman" panose="02020603050405020304" pitchFamily="18" charset="0"/>
        <a:ea typeface="黑体" panose="02010609060101010101" pitchFamily="49" charset="-122"/>
        <a:cs typeface="+mn-cs"/>
      </a:defRPr>
    </a:lvl8pPr>
    <a:lvl9pPr marL="3657600" algn="l" defTabSz="914400" rtl="0" eaLnBrk="1" latinLnBrk="0" hangingPunct="1">
      <a:defRPr sz="3200" b="1" kern="1200">
        <a:solidFill>
          <a:srgbClr val="FF0000"/>
        </a:solidFill>
        <a:latin typeface="Times New Roman" panose="02020603050405020304" pitchFamily="18" charset="0"/>
        <a:ea typeface="黑体" panose="02010609060101010101" pitchFamily="49" charset="-122"/>
        <a:cs typeface="+mn-cs"/>
      </a:defRPr>
    </a:lvl9pPr>
  </p:defaultTextStyle>
  <p:extLst>
    <p:ext uri="{EFAFB233-063F-42B5-8137-9DF3F51BA10A}">
      <p15:sldGuideLst xmlns:p15="http://schemas.microsoft.com/office/powerpoint/2012/main">
        <p15:guide id="1" orient="horz" pos="2059">
          <p15:clr>
            <a:srgbClr val="A4A3A4"/>
          </p15:clr>
        </p15:guide>
        <p15:guide id="2" pos="3629">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6600"/>
    <a:srgbClr val="FF9933"/>
    <a:srgbClr val="FF3399"/>
    <a:srgbClr val="FF7C80"/>
    <a:srgbClr val="FFFFFF"/>
    <a:srgbClr val="C6A7DD"/>
    <a:srgbClr val="9E5ECE"/>
    <a:srgbClr val="D60093"/>
    <a:srgbClr val="934BC9"/>
    <a:srgbClr val="3399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4" autoAdjust="0"/>
    <p:restoredTop sz="94591" autoAdjust="0"/>
  </p:normalViewPr>
  <p:slideViewPr>
    <p:cSldViewPr>
      <p:cViewPr varScale="1">
        <p:scale>
          <a:sx n="97" d="100"/>
          <a:sy n="97" d="100"/>
        </p:scale>
        <p:origin x="504" y="78"/>
      </p:cViewPr>
      <p:guideLst>
        <p:guide orient="horz" pos="2059"/>
        <p:guide pos="3629"/>
      </p:guideLst>
    </p:cSldViewPr>
  </p:slideViewPr>
  <p:outlineViewPr>
    <p:cViewPr>
      <p:scale>
        <a:sx n="33" d="100"/>
        <a:sy n="33" d="100"/>
      </p:scale>
      <p:origin x="0" y="0"/>
    </p:cViewPr>
  </p:outlineViewPr>
  <p:notesTextViewPr>
    <p:cViewPr>
      <p:scale>
        <a:sx n="3" d="2"/>
        <a:sy n="3" d="2"/>
      </p:scale>
      <p:origin x="0" y="0"/>
    </p:cViewPr>
  </p:notesTextViewPr>
  <p:sorterViewPr>
    <p:cViewPr>
      <p:scale>
        <a:sx n="130" d="100"/>
        <a:sy n="13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9.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1.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2.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4.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19.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25.e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26.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buFontTx/>
              <a:buNone/>
              <a:defRPr sz="1200" b="0">
                <a:solidFill>
                  <a:schemeClr val="tx1"/>
                </a:solidFill>
                <a:latin typeface="+mn-lt"/>
                <a:ea typeface="+mn-ea"/>
              </a:defRPr>
            </a:lvl1pPr>
          </a:lstStyle>
          <a:p>
            <a:pPr>
              <a:defRPr/>
            </a:pPr>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buFontTx/>
              <a:buNone/>
              <a:defRPr sz="1200" b="0">
                <a:solidFill>
                  <a:schemeClr val="tx1"/>
                </a:solidFill>
                <a:latin typeface="+mn-lt"/>
                <a:ea typeface="+mn-ea"/>
              </a:defRPr>
            </a:lvl1pPr>
          </a:lstStyle>
          <a:p>
            <a:pPr>
              <a:defRPr/>
            </a:pPr>
            <a:endParaRPr lang="zh-CN" altLang="en-US"/>
          </a:p>
        </p:txBody>
      </p:sp>
      <p:sp>
        <p:nvSpPr>
          <p:cNvPr id="5124" name="幻灯片图像占位符 3"/>
          <p:cNvSpPr>
            <a:spLocks noGrp="1" noRot="1" noChangeAspect="1" noChangeArrowheads="1"/>
          </p:cNvSpPr>
          <p:nvPr>
            <p:ph type="sldImg" idx="4294967295"/>
          </p:nvPr>
        </p:nvSpPr>
        <p:spPr bwMode="auto">
          <a:xfrm>
            <a:off x="381000" y="685800"/>
            <a:ext cx="6096000" cy="3429000"/>
          </a:xfrm>
          <a:prstGeom prst="rect">
            <a:avLst/>
          </a:prstGeom>
          <a:noFill/>
          <a:ln w="12700">
            <a:solidFill>
              <a:srgbClr val="000000"/>
            </a:solidFill>
            <a:miter lim="800000"/>
          </a:ln>
          <a:extLst>
            <a:ext uri="{909E8E84-426E-40DD-AFC4-6F175D3DCCD1}">
              <a14:hiddenFill xmlns:a14="http://schemas.microsoft.com/office/drawing/2010/main">
                <a:solidFill>
                  <a:srgbClr val="FFFFFF"/>
                </a:solidFill>
              </a14:hiddenFill>
            </a:ext>
          </a:extLst>
        </p:spPr>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buFontTx/>
              <a:buNone/>
              <a:defRPr sz="1200" b="0">
                <a:solidFill>
                  <a:schemeClr val="tx1"/>
                </a:solidFill>
                <a:latin typeface="+mn-lt"/>
                <a:ea typeface="+mn-ea"/>
              </a:defRPr>
            </a:lvl1pPr>
          </a:lstStyle>
          <a:p>
            <a:pPr>
              <a:defRPr/>
            </a:pPr>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b="0" noProof="1" dirty="0">
                <a:ea typeface="黑体" panose="02010609060101010101" pitchFamily="49" charset="-122"/>
              </a:defRPr>
            </a:lvl1pPr>
          </a:lstStyle>
          <a:p>
            <a:fld id="{A64CA497-71E0-4184-919F-D45F39379D11}" type="slidenum">
              <a:rPr lang="zh-CN" altLang="en-US"/>
              <a:pPr/>
              <a:t>‹#›</a:t>
            </a:fld>
            <a:endParaRPr lang="zh-CN" altLang="en-US">
              <a:ea typeface="黑体" panose="02010609060101010101" pitchFamily="49" charset="-122"/>
            </a:endParaRPr>
          </a:p>
        </p:txBody>
      </p:sp>
    </p:spTree>
    <p:extLst>
      <p:ext uri="{BB962C8B-B14F-4D97-AF65-F5344CB8AC3E}">
        <p14:creationId xmlns:p14="http://schemas.microsoft.com/office/powerpoint/2010/main" val="1747822530"/>
      </p:ext>
    </p:extLst>
  </p:cSld>
  <p:clrMap bg1="lt1" tx1="dk1" bg2="lt2" tx2="dk2" accent1="accent1" accent2="accent2" accent3="accent3" accent4="accent4" accent5="accent5" accent6="accent6" hlink="hlink" folHlink="folHlink"/>
  <p:notesStyle>
    <a:lvl1pPr algn="l" rtl="0" fontAlgn="base">
      <a:spcBef>
        <a:spcPct val="0"/>
      </a:spcBef>
      <a:spcAft>
        <a:spcPct val="0"/>
      </a:spcAft>
      <a:defRPr sz="1200" kern="1200">
        <a:solidFill>
          <a:schemeClr val="tx1"/>
        </a:solidFill>
        <a:latin typeface="+mn-lt"/>
        <a:ea typeface="+mn-ea"/>
        <a:cs typeface="+mn-cs"/>
      </a:defRPr>
    </a:lvl1pPr>
    <a:lvl2pPr marL="457200" algn="l" rtl="0" fontAlgn="base">
      <a:spcBef>
        <a:spcPct val="0"/>
      </a:spcBef>
      <a:spcAft>
        <a:spcPct val="0"/>
      </a:spcAft>
      <a:defRPr sz="1200" kern="1200">
        <a:solidFill>
          <a:schemeClr val="tx1"/>
        </a:solidFill>
        <a:latin typeface="+mn-lt"/>
        <a:ea typeface="+mn-ea"/>
        <a:cs typeface="+mn-cs"/>
      </a:defRPr>
    </a:lvl2pPr>
    <a:lvl3pPr marL="914400" algn="l" rtl="0" fontAlgn="base">
      <a:spcBef>
        <a:spcPct val="0"/>
      </a:spcBef>
      <a:spcAft>
        <a:spcPct val="0"/>
      </a:spcAft>
      <a:defRPr sz="1200" kern="1200">
        <a:solidFill>
          <a:schemeClr val="tx1"/>
        </a:solidFill>
        <a:latin typeface="+mn-lt"/>
        <a:ea typeface="+mn-ea"/>
        <a:cs typeface="+mn-cs"/>
      </a:defRPr>
    </a:lvl3pPr>
    <a:lvl4pPr marL="1371600" algn="l" rtl="0" fontAlgn="base">
      <a:spcBef>
        <a:spcPct val="0"/>
      </a:spcBef>
      <a:spcAft>
        <a:spcPct val="0"/>
      </a:spcAft>
      <a:defRPr sz="1200" kern="1200">
        <a:solidFill>
          <a:schemeClr val="tx1"/>
        </a:solidFill>
        <a:latin typeface="+mn-lt"/>
        <a:ea typeface="+mn-ea"/>
        <a:cs typeface="+mn-cs"/>
      </a:defRPr>
    </a:lvl4pPr>
    <a:lvl5pPr marL="1828800" algn="l" rtl="0" fontAlgn="base">
      <a:spcBef>
        <a:spcPct val="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64CA497-71E0-4184-919F-D45F39379D11}" type="slidenum">
              <a:rPr lang="zh-CN" altLang="en-US" smtClean="0"/>
              <a:pPr/>
              <a:t>49</a:t>
            </a:fld>
            <a:endParaRPr lang="zh-CN" altLang="en-US">
              <a:ea typeface="黑体" panose="02010609060101010101" pitchFamily="49" charset="-122"/>
            </a:endParaRPr>
          </a:p>
        </p:txBody>
      </p:sp>
    </p:spTree>
    <p:extLst>
      <p:ext uri="{BB962C8B-B14F-4D97-AF65-F5344CB8AC3E}">
        <p14:creationId xmlns:p14="http://schemas.microsoft.com/office/powerpoint/2010/main" val="85814764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61196167"/>
      </p:ext>
    </p:extLst>
  </p:cSld>
  <p:clrMapOvr>
    <a:masterClrMapping/>
  </p:clrMapOvr>
  <p:transition>
    <p:fade/>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2_标题幻灯片">
    <p:bg>
      <p:bgPr>
        <a:pattFill prst="lgGrid">
          <a:fgClr>
            <a:schemeClr val="bg2">
              <a:lumMod val="90000"/>
            </a:schemeClr>
          </a:fgClr>
          <a:bgClr>
            <a:schemeClr val="bg1"/>
          </a:bgClr>
        </a:pattFill>
        <a:effectLst/>
      </p:bgPr>
    </p:bg>
    <p:spTree>
      <p:nvGrpSpPr>
        <p:cNvPr id="1" name=""/>
        <p:cNvGrpSpPr/>
        <p:nvPr/>
      </p:nvGrpSpPr>
      <p:grpSpPr>
        <a:xfrm>
          <a:off x="0" y="0"/>
          <a:ext cx="0" cy="0"/>
          <a:chOff x="0" y="0"/>
          <a:chExt cx="0" cy="0"/>
        </a:xfrm>
      </p:grpSpPr>
      <p:sp>
        <p:nvSpPr>
          <p:cNvPr id="8" name="云形标注 7"/>
          <p:cNvSpPr/>
          <p:nvPr userDrawn="1"/>
        </p:nvSpPr>
        <p:spPr>
          <a:xfrm>
            <a:off x="8868398" y="132726"/>
            <a:ext cx="2460413" cy="1360458"/>
          </a:xfrm>
          <a:prstGeom prst="cloudCallou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zh-CN" altLang="en-US" sz="6600" dirty="0" smtClean="0">
                <a:solidFill>
                  <a:srgbClr val="FF0000"/>
                </a:solidFill>
              </a:rPr>
              <a:t>   </a:t>
            </a:r>
            <a:r>
              <a:rPr lang="zh-CN" altLang="en-US" sz="8800" dirty="0" smtClean="0">
                <a:solidFill>
                  <a:srgbClr val="FF0000"/>
                </a:solidFill>
              </a:rPr>
              <a:t>？</a:t>
            </a:r>
            <a:endParaRPr lang="zh-CN" altLang="en-US" dirty="0">
              <a:solidFill>
                <a:srgbClr val="FF0000"/>
              </a:solidFill>
            </a:endParaRPr>
          </a:p>
        </p:txBody>
      </p:sp>
    </p:spTree>
    <p:extLst>
      <p:ext uri="{BB962C8B-B14F-4D97-AF65-F5344CB8AC3E}">
        <p14:creationId xmlns:p14="http://schemas.microsoft.com/office/powerpoint/2010/main" val="339271659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2" presetClass="entr" presetSubtype="0" fill="hold" grpId="1" nodeType="afterEffect">
                                  <p:stCondLst>
                                    <p:cond delay="0"/>
                                  </p:stCondLst>
                                  <p:childTnLst>
                                    <p:set>
                                      <p:cBhvr>
                                        <p:cTn id="6" dur="1" fill="hold">
                                          <p:stCondLst>
                                            <p:cond delay="0"/>
                                          </p:stCondLst>
                                        </p:cTn>
                                        <p:tgtEl>
                                          <p:spTgt spid="8"/>
                                        </p:tgtEl>
                                        <p:attrNameLst>
                                          <p:attrName>style.visibility</p:attrName>
                                        </p:attrNameLst>
                                      </p:cBhvr>
                                      <p:to>
                                        <p:strVal val="visible"/>
                                      </p:to>
                                    </p:set>
                                    <p:animScale>
                                      <p:cBhvr>
                                        <p:cTn id="7" dur="1000" decel="50000" fill="hold">
                                          <p:stCondLst>
                                            <p:cond delay="0"/>
                                          </p:stCondLst>
                                        </p:cTn>
                                        <p:tgtEl>
                                          <p:spTgt spid="8"/>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8" dur="1000" decel="50000" fill="hold">
                                          <p:stCondLst>
                                            <p:cond delay="0"/>
                                          </p:stCondLst>
                                        </p:cTn>
                                        <p:tgtEl>
                                          <p:spTgt spid="8"/>
                                        </p:tgtEl>
                                        <p:attrNameLst>
                                          <p:attrName>ppt_x</p:attrName>
                                          <p:attrName>ppt_y</p:attrName>
                                        </p:attrNameLst>
                                      </p:cBhvr>
                                    </p:animMotion>
                                    <p:animEffect transition="in" filter="fade">
                                      <p:cBhvr>
                                        <p:cTn id="9"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1" animBg="1"/>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3_标题幻灯片">
    <p:bg>
      <p:bgPr>
        <a:pattFill prst="pct5">
          <a:fgClr>
            <a:schemeClr val="bg2">
              <a:lumMod val="75000"/>
            </a:schemeClr>
          </a:fgClr>
          <a:bgClr>
            <a:schemeClr val="bg1"/>
          </a:bgClr>
        </a:patt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75108201"/>
      </p:ext>
    </p:extLst>
  </p:cSld>
  <p:clrMapOvr>
    <a:masterClrMapping/>
  </p:clrMapOvr>
  <p:transition>
    <p:fade/>
  </p:transition>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3752469556"/>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3841037021"/>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171289420"/>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1_标题幻灯片">
    <p:bg>
      <p:bgPr>
        <a:gradFill>
          <a:gsLst>
            <a:gs pos="61000">
              <a:schemeClr val="bg2">
                <a:lumMod val="90000"/>
              </a:schemeClr>
            </a:gs>
            <a:gs pos="100000">
              <a:schemeClr val="bg2">
                <a:lumMod val="50000"/>
              </a:schemeClr>
            </a:gs>
            <a:gs pos="0">
              <a:schemeClr val="bg2">
                <a:lumMod val="50000"/>
              </a:schemeClr>
            </a:gs>
            <a:gs pos="40000">
              <a:schemeClr val="bg2">
                <a:lumMod val="90000"/>
              </a:schemeClr>
            </a:gs>
          </a:gsLst>
          <a:lin ang="5400000" scaled="1"/>
        </a:gradFill>
        <a:effectLst/>
      </p:bgPr>
    </p:bg>
    <p:spTree>
      <p:nvGrpSpPr>
        <p:cNvPr id="1" name=""/>
        <p:cNvGrpSpPr/>
        <p:nvPr/>
      </p:nvGrpSpPr>
      <p:grpSpPr>
        <a:xfrm>
          <a:off x="0" y="0"/>
          <a:ext cx="0" cy="0"/>
          <a:chOff x="0" y="0"/>
          <a:chExt cx="0" cy="0"/>
        </a:xfrm>
      </p:grpSpPr>
      <p:sp>
        <p:nvSpPr>
          <p:cNvPr id="2" name="矩形 1"/>
          <p:cNvSpPr/>
          <p:nvPr userDrawn="1"/>
        </p:nvSpPr>
        <p:spPr>
          <a:xfrm>
            <a:off x="801617" y="1129203"/>
            <a:ext cx="10071988" cy="3046988"/>
          </a:xfrm>
          <a:prstGeom prst="rect">
            <a:avLst/>
          </a:prstGeom>
          <a:noFill/>
        </p:spPr>
        <p:txBody>
          <a:bodyPr wrap="none" lIns="91440" tIns="45720" rIns="91440" bIns="45720">
            <a:spAutoFit/>
          </a:bodyPr>
          <a:lstStyle/>
          <a:p>
            <a:r>
              <a:rPr lang="zh-CN" altLang="en-US" sz="9600" dirty="0" smtClean="0">
                <a:solidFill>
                  <a:schemeClr val="accent2"/>
                </a:solidFill>
                <a:effectLst>
                  <a:outerShdw dist="50800" dir="5400000" algn="ctr" rotWithShape="0">
                    <a:srgbClr val="000000">
                      <a:alpha val="60000"/>
                    </a:srgbClr>
                  </a:outerShdw>
                </a:effectLst>
                <a:latin typeface="隶书" panose="02010509060101010101" pitchFamily="49" charset="-122"/>
                <a:ea typeface="隶书" panose="02010509060101010101" pitchFamily="49" charset="-122"/>
              </a:rPr>
              <a:t>十年寒窗磨利剑，</a:t>
            </a:r>
            <a:endParaRPr lang="en-US" altLang="zh-CN" sz="9600" dirty="0" smtClean="0">
              <a:solidFill>
                <a:schemeClr val="accent2"/>
              </a:solidFill>
              <a:effectLst>
                <a:outerShdw dist="50800" dir="5400000" algn="ctr" rotWithShape="0">
                  <a:srgbClr val="000000">
                    <a:alpha val="60000"/>
                  </a:srgbClr>
                </a:outerShdw>
              </a:effectLst>
              <a:latin typeface="隶书" panose="02010509060101010101" pitchFamily="49" charset="-122"/>
              <a:ea typeface="隶书" panose="02010509060101010101" pitchFamily="49" charset="-122"/>
            </a:endParaRPr>
          </a:p>
          <a:p>
            <a:r>
              <a:rPr lang="zh-CN" altLang="en-US" sz="9600" dirty="0" smtClean="0">
                <a:solidFill>
                  <a:schemeClr val="accent2"/>
                </a:solidFill>
                <a:effectLst>
                  <a:outerShdw dist="50800" dir="5400000" algn="ctr" rotWithShape="0">
                    <a:srgbClr val="000000">
                      <a:alpha val="60000"/>
                    </a:srgbClr>
                  </a:outerShdw>
                </a:effectLst>
                <a:latin typeface="隶书" panose="02010509060101010101" pitchFamily="49" charset="-122"/>
                <a:ea typeface="隶书" panose="02010509060101010101" pitchFamily="49" charset="-122"/>
              </a:rPr>
              <a:t>一朝折桂展宏图！</a:t>
            </a:r>
            <a:endParaRPr lang="en-US" altLang="zh-CN" sz="9600" dirty="0" smtClean="0">
              <a:solidFill>
                <a:schemeClr val="accent2"/>
              </a:solidFill>
              <a:effectLst>
                <a:outerShdw dist="50800" dir="5400000" algn="ctr" rotWithShape="0">
                  <a:srgbClr val="000000">
                    <a:alpha val="60000"/>
                  </a:srgbClr>
                </a:outerShdw>
              </a:effectLst>
              <a:latin typeface="隶书" panose="02010509060101010101" pitchFamily="49" charset="-122"/>
              <a:ea typeface="隶书" panose="02010509060101010101" pitchFamily="49" charset="-122"/>
            </a:endParaRPr>
          </a:p>
        </p:txBody>
      </p:sp>
    </p:spTree>
    <p:extLst>
      <p:ext uri="{BB962C8B-B14F-4D97-AF65-F5344CB8AC3E}">
        <p14:creationId xmlns:p14="http://schemas.microsoft.com/office/powerpoint/2010/main" val="342607902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audio" Target="../media/audio1.wav"/><Relationship Id="rId5" Type="http://schemas.openxmlformats.org/officeDocument/2006/relationships/slideLayout" Target="../slideLayouts/slideLayout5.xml"/><Relationship Id="rId10" Type="http://schemas.openxmlformats.org/officeDocument/2006/relationships/slide" Target="../slides/slide4.xml"/><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4" name="组合 3"/>
          <p:cNvGrpSpPr/>
          <p:nvPr userDrawn="1"/>
        </p:nvGrpSpPr>
        <p:grpSpPr>
          <a:xfrm>
            <a:off x="-1" y="36116"/>
            <a:ext cx="11522075" cy="611683"/>
            <a:chOff x="-1" y="36116"/>
            <a:chExt cx="11522075" cy="611683"/>
          </a:xfrm>
        </p:grpSpPr>
        <p:sp>
          <p:nvSpPr>
            <p:cNvPr id="7" name="矩形 6"/>
            <p:cNvSpPr/>
            <p:nvPr userDrawn="1"/>
          </p:nvSpPr>
          <p:spPr>
            <a:xfrm>
              <a:off x="-1" y="359767"/>
              <a:ext cx="11522075" cy="288032"/>
            </a:xfrm>
            <a:prstGeom prst="rect">
              <a:avLst/>
            </a:prstGeom>
            <a:gradFill flip="none" rotWithShape="1">
              <a:gsLst>
                <a:gs pos="65000">
                  <a:schemeClr val="bg2">
                    <a:lumMod val="90000"/>
                  </a:schemeClr>
                </a:gs>
                <a:gs pos="38000">
                  <a:schemeClr val="bg2">
                    <a:lumMod val="75000"/>
                  </a:schemeClr>
                </a:gs>
                <a:gs pos="1000">
                  <a:srgbClr val="0070C0"/>
                </a:gs>
                <a:gs pos="100000">
                  <a:schemeClr val="bg1"/>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288429" y="36116"/>
              <a:ext cx="576064" cy="576064"/>
            </a:xfrm>
            <a:prstGeom prst="rect">
              <a:avLst/>
            </a:prstGeom>
          </p:spPr>
        </p:pic>
      </p:grpSp>
      <p:sp>
        <p:nvSpPr>
          <p:cNvPr id="9" name="矩形 8"/>
          <p:cNvSpPr/>
          <p:nvPr userDrawn="1"/>
        </p:nvSpPr>
        <p:spPr>
          <a:xfrm>
            <a:off x="-9728" y="6404527"/>
            <a:ext cx="11522074" cy="72008"/>
          </a:xfrm>
          <a:prstGeom prst="rect">
            <a:avLst/>
          </a:prstGeom>
          <a:solidFill>
            <a:schemeClr val="bg2">
              <a:lumMod val="50000"/>
            </a:schemeClr>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chemeClr val="bg2">
                    <a:lumMod val="50000"/>
                  </a:schemeClr>
                </a:solidFill>
              </a:ln>
              <a:solidFill>
                <a:schemeClr val="bg2">
                  <a:lumMod val="50000"/>
                </a:schemeClr>
              </a:solidFill>
            </a:endParaRPr>
          </a:p>
        </p:txBody>
      </p:sp>
      <p:sp>
        <p:nvSpPr>
          <p:cNvPr id="10" name="云形标注 9">
            <a:hlinkClick r:id="rId10" action="ppaction://hlinksldjump">
              <a:snd r:embed="rId11" name="camera.wav"/>
            </a:hlinkClick>
          </p:cNvPr>
          <p:cNvSpPr/>
          <p:nvPr userDrawn="1"/>
        </p:nvSpPr>
        <p:spPr>
          <a:xfrm>
            <a:off x="10441557" y="42551"/>
            <a:ext cx="864096" cy="432048"/>
          </a:xfrm>
          <a:prstGeom prst="cloudCallou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zh-CN" altLang="en-US" dirty="0" smtClean="0"/>
              <a:t>  </a:t>
            </a:r>
            <a:r>
              <a:rPr lang="zh-CN" altLang="en-US" dirty="0" smtClean="0">
                <a:solidFill>
                  <a:srgbClr val="FF0000"/>
                </a:solidFill>
              </a:rPr>
              <a:t>？</a:t>
            </a:r>
            <a:endParaRPr lang="zh-CN" altLang="en-US" dirty="0">
              <a:solidFill>
                <a:srgbClr val="FF0000"/>
              </a:solidFill>
            </a:endParaRPr>
          </a:p>
        </p:txBody>
      </p:sp>
    </p:spTree>
    <p:extLst>
      <p:ext uri="{BB962C8B-B14F-4D97-AF65-F5344CB8AC3E}">
        <p14:creationId xmlns:p14="http://schemas.microsoft.com/office/powerpoint/2010/main" val="1345586147"/>
      </p:ext>
    </p:extLst>
  </p:cSld>
  <p:clrMap bg1="lt1" tx1="dk1" bg2="lt2" tx2="dk2" accent1="accent1" accent2="accent2" accent3="accent3" accent4="accent4" accent5="accent5" accent6="accent6" hlink="hlink" folHlink="folHlink"/>
  <p:sldLayoutIdLst>
    <p:sldLayoutId id="2147483661" r:id="rId1"/>
    <p:sldLayoutId id="2147483695" r:id="rId2"/>
    <p:sldLayoutId id="2147483697" r:id="rId3"/>
    <p:sldLayoutId id="2147483690" r:id="rId4"/>
    <p:sldLayoutId id="2147483691" r:id="rId5"/>
    <p:sldLayoutId id="2147483692" r:id="rId6"/>
    <p:sldLayoutId id="2147483694" r:id="rId7"/>
  </p:sldLayoutIdLst>
  <p:timing>
    <p:tnLst>
      <p:par>
        <p:cTn id="1" dur="indefinite" restart="never" nodeType="tmRoot"/>
      </p:par>
    </p:tnLst>
  </p:timing>
  <p:txStyles>
    <p:titleStyle>
      <a:lvl1pPr algn="ctr" rtl="0" eaLnBrk="1" fontAlgn="base" hangingPunct="1">
        <a:spcBef>
          <a:spcPct val="0"/>
        </a:spcBef>
        <a:spcAft>
          <a:spcPct val="0"/>
        </a:spcAft>
        <a:defRPr sz="4158" kern="1200">
          <a:solidFill>
            <a:schemeClr val="tx1"/>
          </a:solidFill>
          <a:latin typeface="+mj-lt"/>
          <a:ea typeface="+mj-ea"/>
          <a:cs typeface="+mj-cs"/>
        </a:defRPr>
      </a:lvl1pPr>
      <a:lvl2pPr algn="ctr" rtl="0" eaLnBrk="1" fontAlgn="base" hangingPunct="1">
        <a:spcBef>
          <a:spcPct val="0"/>
        </a:spcBef>
        <a:spcAft>
          <a:spcPct val="0"/>
        </a:spcAft>
        <a:defRPr sz="4158">
          <a:solidFill>
            <a:schemeClr val="tx1"/>
          </a:solidFill>
          <a:latin typeface="Arial" charset="0"/>
          <a:ea typeface="黑体" pitchFamily="2" charset="-122"/>
        </a:defRPr>
      </a:lvl2pPr>
      <a:lvl3pPr algn="ctr" rtl="0" eaLnBrk="1" fontAlgn="base" hangingPunct="1">
        <a:spcBef>
          <a:spcPct val="0"/>
        </a:spcBef>
        <a:spcAft>
          <a:spcPct val="0"/>
        </a:spcAft>
        <a:defRPr sz="4158">
          <a:solidFill>
            <a:schemeClr val="tx1"/>
          </a:solidFill>
          <a:latin typeface="Arial" charset="0"/>
          <a:ea typeface="黑体" pitchFamily="2" charset="-122"/>
        </a:defRPr>
      </a:lvl3pPr>
      <a:lvl4pPr algn="ctr" rtl="0" eaLnBrk="1" fontAlgn="base" hangingPunct="1">
        <a:spcBef>
          <a:spcPct val="0"/>
        </a:spcBef>
        <a:spcAft>
          <a:spcPct val="0"/>
        </a:spcAft>
        <a:defRPr sz="4158">
          <a:solidFill>
            <a:schemeClr val="tx1"/>
          </a:solidFill>
          <a:latin typeface="Arial" charset="0"/>
          <a:ea typeface="黑体" pitchFamily="2" charset="-122"/>
        </a:defRPr>
      </a:lvl4pPr>
      <a:lvl5pPr algn="ctr" rtl="0" eaLnBrk="1" fontAlgn="base" hangingPunct="1">
        <a:spcBef>
          <a:spcPct val="0"/>
        </a:spcBef>
        <a:spcAft>
          <a:spcPct val="0"/>
        </a:spcAft>
        <a:defRPr sz="4158">
          <a:solidFill>
            <a:schemeClr val="tx1"/>
          </a:solidFill>
          <a:latin typeface="Arial" charset="0"/>
          <a:ea typeface="黑体" pitchFamily="2" charset="-122"/>
        </a:defRPr>
      </a:lvl5pPr>
      <a:lvl6pPr marL="432008" algn="ctr" rtl="0" eaLnBrk="1" fontAlgn="base" hangingPunct="1">
        <a:spcBef>
          <a:spcPct val="0"/>
        </a:spcBef>
        <a:spcAft>
          <a:spcPct val="0"/>
        </a:spcAft>
        <a:defRPr sz="4158">
          <a:solidFill>
            <a:schemeClr val="tx1"/>
          </a:solidFill>
          <a:latin typeface="Arial" charset="0"/>
          <a:ea typeface="黑体" pitchFamily="2" charset="-122"/>
        </a:defRPr>
      </a:lvl6pPr>
      <a:lvl7pPr marL="864017" algn="ctr" rtl="0" eaLnBrk="1" fontAlgn="base" hangingPunct="1">
        <a:spcBef>
          <a:spcPct val="0"/>
        </a:spcBef>
        <a:spcAft>
          <a:spcPct val="0"/>
        </a:spcAft>
        <a:defRPr sz="4158">
          <a:solidFill>
            <a:schemeClr val="tx1"/>
          </a:solidFill>
          <a:latin typeface="Arial" charset="0"/>
          <a:ea typeface="黑体" pitchFamily="2" charset="-122"/>
        </a:defRPr>
      </a:lvl7pPr>
      <a:lvl8pPr marL="1296025" algn="ctr" rtl="0" eaLnBrk="1" fontAlgn="base" hangingPunct="1">
        <a:spcBef>
          <a:spcPct val="0"/>
        </a:spcBef>
        <a:spcAft>
          <a:spcPct val="0"/>
        </a:spcAft>
        <a:defRPr sz="4158">
          <a:solidFill>
            <a:schemeClr val="tx1"/>
          </a:solidFill>
          <a:latin typeface="Arial" charset="0"/>
          <a:ea typeface="黑体" pitchFamily="2" charset="-122"/>
        </a:defRPr>
      </a:lvl8pPr>
      <a:lvl9pPr marL="1728033" algn="ctr" rtl="0" eaLnBrk="1" fontAlgn="base" hangingPunct="1">
        <a:spcBef>
          <a:spcPct val="0"/>
        </a:spcBef>
        <a:spcAft>
          <a:spcPct val="0"/>
        </a:spcAft>
        <a:defRPr sz="4158">
          <a:solidFill>
            <a:schemeClr val="tx1"/>
          </a:solidFill>
          <a:latin typeface="Arial" charset="0"/>
          <a:ea typeface="黑体" pitchFamily="2" charset="-122"/>
        </a:defRPr>
      </a:lvl9pPr>
    </p:titleStyle>
    <p:bodyStyle>
      <a:lvl1pPr marL="324006" indent="-324006" algn="l" rtl="0" eaLnBrk="1" fontAlgn="base" hangingPunct="1">
        <a:spcBef>
          <a:spcPct val="20000"/>
        </a:spcBef>
        <a:spcAft>
          <a:spcPct val="0"/>
        </a:spcAft>
        <a:buFont typeface="Arial" charset="0"/>
        <a:buChar char="•"/>
        <a:defRPr sz="3024" kern="1200">
          <a:solidFill>
            <a:schemeClr val="tx1"/>
          </a:solidFill>
          <a:latin typeface="+mn-lt"/>
          <a:ea typeface="+mn-ea"/>
          <a:cs typeface="+mn-cs"/>
        </a:defRPr>
      </a:lvl1pPr>
      <a:lvl2pPr marL="702013" indent="-270005" algn="l" rtl="0" eaLnBrk="1" fontAlgn="base" hangingPunct="1">
        <a:spcBef>
          <a:spcPct val="20000"/>
        </a:spcBef>
        <a:spcAft>
          <a:spcPct val="0"/>
        </a:spcAft>
        <a:buFont typeface="Arial" charset="0"/>
        <a:buChar char="–"/>
        <a:defRPr sz="2646" kern="1200">
          <a:solidFill>
            <a:schemeClr val="tx1"/>
          </a:solidFill>
          <a:latin typeface="+mn-lt"/>
          <a:ea typeface="+mn-ea"/>
          <a:cs typeface="+mn-cs"/>
        </a:defRPr>
      </a:lvl2pPr>
      <a:lvl3pPr marL="1080021" indent="-216004" algn="l" rtl="0" eaLnBrk="1" fontAlgn="base" hangingPunct="1">
        <a:spcBef>
          <a:spcPct val="20000"/>
        </a:spcBef>
        <a:spcAft>
          <a:spcPct val="0"/>
        </a:spcAft>
        <a:buFont typeface="Arial" charset="0"/>
        <a:buChar char="•"/>
        <a:defRPr sz="2268" kern="1200">
          <a:solidFill>
            <a:schemeClr val="tx1"/>
          </a:solidFill>
          <a:latin typeface="+mn-lt"/>
          <a:ea typeface="+mn-ea"/>
          <a:cs typeface="+mn-cs"/>
        </a:defRPr>
      </a:lvl3pPr>
      <a:lvl4pPr marL="1512029" indent="-216004" algn="l" rtl="0" eaLnBrk="1" fontAlgn="base" hangingPunct="1">
        <a:spcBef>
          <a:spcPct val="20000"/>
        </a:spcBef>
        <a:spcAft>
          <a:spcPct val="0"/>
        </a:spcAft>
        <a:buFont typeface="Arial" charset="0"/>
        <a:buChar char="–"/>
        <a:defRPr sz="1890" kern="1200">
          <a:solidFill>
            <a:schemeClr val="tx1"/>
          </a:solidFill>
          <a:latin typeface="+mn-lt"/>
          <a:ea typeface="+mn-ea"/>
          <a:cs typeface="+mn-cs"/>
        </a:defRPr>
      </a:lvl4pPr>
      <a:lvl5pPr marL="1944037" indent="-216004" algn="l" rtl="0" eaLnBrk="1" fontAlgn="base" hangingPunct="1">
        <a:spcBef>
          <a:spcPct val="20000"/>
        </a:spcBef>
        <a:spcAft>
          <a:spcPct val="0"/>
        </a:spcAft>
        <a:buFont typeface="Arial" charset="0"/>
        <a:buChar char="»"/>
        <a:defRPr sz="1890" kern="1200">
          <a:solidFill>
            <a:schemeClr val="tx1"/>
          </a:solidFill>
          <a:latin typeface="+mn-lt"/>
          <a:ea typeface="+mn-ea"/>
          <a:cs typeface="+mn-cs"/>
        </a:defRPr>
      </a:lvl5pPr>
      <a:lvl6pPr marL="2376046" indent="-216004" algn="l" defTabSz="864017" rtl="0" eaLnBrk="1" latinLnBrk="0" hangingPunct="1">
        <a:spcBef>
          <a:spcPct val="20000"/>
        </a:spcBef>
        <a:buFont typeface="Arial" pitchFamily="34" charset="0"/>
        <a:buChar char="•"/>
        <a:defRPr sz="1890" kern="1200">
          <a:solidFill>
            <a:schemeClr val="tx1"/>
          </a:solidFill>
          <a:latin typeface="+mn-lt"/>
          <a:ea typeface="+mn-ea"/>
          <a:cs typeface="+mn-cs"/>
        </a:defRPr>
      </a:lvl6pPr>
      <a:lvl7pPr marL="2808054" indent="-216004" algn="l" defTabSz="864017" rtl="0" eaLnBrk="1" latinLnBrk="0" hangingPunct="1">
        <a:spcBef>
          <a:spcPct val="20000"/>
        </a:spcBef>
        <a:buFont typeface="Arial" pitchFamily="34" charset="0"/>
        <a:buChar char="•"/>
        <a:defRPr sz="1890" kern="1200">
          <a:solidFill>
            <a:schemeClr val="tx1"/>
          </a:solidFill>
          <a:latin typeface="+mn-lt"/>
          <a:ea typeface="+mn-ea"/>
          <a:cs typeface="+mn-cs"/>
        </a:defRPr>
      </a:lvl7pPr>
      <a:lvl8pPr marL="3240062" indent="-216004" algn="l" defTabSz="864017" rtl="0" eaLnBrk="1" latinLnBrk="0" hangingPunct="1">
        <a:spcBef>
          <a:spcPct val="20000"/>
        </a:spcBef>
        <a:buFont typeface="Arial" pitchFamily="34" charset="0"/>
        <a:buChar char="•"/>
        <a:defRPr sz="1890" kern="1200">
          <a:solidFill>
            <a:schemeClr val="tx1"/>
          </a:solidFill>
          <a:latin typeface="+mn-lt"/>
          <a:ea typeface="+mn-ea"/>
          <a:cs typeface="+mn-cs"/>
        </a:defRPr>
      </a:lvl8pPr>
      <a:lvl9pPr marL="3672070" indent="-216004" algn="l" defTabSz="864017" rtl="0" eaLnBrk="1" latinLnBrk="0" hangingPunct="1">
        <a:spcBef>
          <a:spcPct val="20000"/>
        </a:spcBef>
        <a:buFont typeface="Arial" pitchFamily="34" charset="0"/>
        <a:buChar char="•"/>
        <a:defRPr sz="1890" kern="1200">
          <a:solidFill>
            <a:schemeClr val="tx1"/>
          </a:solidFill>
          <a:latin typeface="+mn-lt"/>
          <a:ea typeface="+mn-ea"/>
          <a:cs typeface="+mn-cs"/>
        </a:defRPr>
      </a:lvl9pPr>
    </p:bodyStyle>
    <p:otherStyle>
      <a:defPPr>
        <a:defRPr lang="zh-CN"/>
      </a:defPPr>
      <a:lvl1pPr marL="0" algn="l" defTabSz="864017" rtl="0" eaLnBrk="1" latinLnBrk="0" hangingPunct="1">
        <a:defRPr sz="1701" kern="1200">
          <a:solidFill>
            <a:schemeClr val="tx1"/>
          </a:solidFill>
          <a:latin typeface="+mn-lt"/>
          <a:ea typeface="+mn-ea"/>
          <a:cs typeface="+mn-cs"/>
        </a:defRPr>
      </a:lvl1pPr>
      <a:lvl2pPr marL="432008" algn="l" defTabSz="864017" rtl="0" eaLnBrk="1" latinLnBrk="0" hangingPunct="1">
        <a:defRPr sz="1701" kern="1200">
          <a:solidFill>
            <a:schemeClr val="tx1"/>
          </a:solidFill>
          <a:latin typeface="+mn-lt"/>
          <a:ea typeface="+mn-ea"/>
          <a:cs typeface="+mn-cs"/>
        </a:defRPr>
      </a:lvl2pPr>
      <a:lvl3pPr marL="864017" algn="l" defTabSz="864017" rtl="0" eaLnBrk="1" latinLnBrk="0" hangingPunct="1">
        <a:defRPr sz="1701" kern="1200">
          <a:solidFill>
            <a:schemeClr val="tx1"/>
          </a:solidFill>
          <a:latin typeface="+mn-lt"/>
          <a:ea typeface="+mn-ea"/>
          <a:cs typeface="+mn-cs"/>
        </a:defRPr>
      </a:lvl3pPr>
      <a:lvl4pPr marL="1296025" algn="l" defTabSz="864017" rtl="0" eaLnBrk="1" latinLnBrk="0" hangingPunct="1">
        <a:defRPr sz="1701" kern="1200">
          <a:solidFill>
            <a:schemeClr val="tx1"/>
          </a:solidFill>
          <a:latin typeface="+mn-lt"/>
          <a:ea typeface="+mn-ea"/>
          <a:cs typeface="+mn-cs"/>
        </a:defRPr>
      </a:lvl4pPr>
      <a:lvl5pPr marL="1728033" algn="l" defTabSz="864017" rtl="0" eaLnBrk="1" latinLnBrk="0" hangingPunct="1">
        <a:defRPr sz="1701" kern="1200">
          <a:solidFill>
            <a:schemeClr val="tx1"/>
          </a:solidFill>
          <a:latin typeface="+mn-lt"/>
          <a:ea typeface="+mn-ea"/>
          <a:cs typeface="+mn-cs"/>
        </a:defRPr>
      </a:lvl5pPr>
      <a:lvl6pPr marL="2160041" algn="l" defTabSz="864017" rtl="0" eaLnBrk="1" latinLnBrk="0" hangingPunct="1">
        <a:defRPr sz="1701" kern="1200">
          <a:solidFill>
            <a:schemeClr val="tx1"/>
          </a:solidFill>
          <a:latin typeface="+mn-lt"/>
          <a:ea typeface="+mn-ea"/>
          <a:cs typeface="+mn-cs"/>
        </a:defRPr>
      </a:lvl6pPr>
      <a:lvl7pPr marL="2592050" algn="l" defTabSz="864017" rtl="0" eaLnBrk="1" latinLnBrk="0" hangingPunct="1">
        <a:defRPr sz="1701" kern="1200">
          <a:solidFill>
            <a:schemeClr val="tx1"/>
          </a:solidFill>
          <a:latin typeface="+mn-lt"/>
          <a:ea typeface="+mn-ea"/>
          <a:cs typeface="+mn-cs"/>
        </a:defRPr>
      </a:lvl7pPr>
      <a:lvl8pPr marL="3024058" algn="l" defTabSz="864017" rtl="0" eaLnBrk="1" latinLnBrk="0" hangingPunct="1">
        <a:defRPr sz="1701" kern="1200">
          <a:solidFill>
            <a:schemeClr val="tx1"/>
          </a:solidFill>
          <a:latin typeface="+mn-lt"/>
          <a:ea typeface="+mn-ea"/>
          <a:cs typeface="+mn-cs"/>
        </a:defRPr>
      </a:lvl8pPr>
      <a:lvl9pPr marL="3456066" algn="l" defTabSz="864017" rtl="0" eaLnBrk="1" latinLnBrk="0" hangingPunct="1">
        <a:defRPr sz="1701"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slide" Target="slide5.xml"/><Relationship Id="rId1" Type="http://schemas.openxmlformats.org/officeDocument/2006/relationships/slideLayout" Target="../slideLayouts/slideLayout3.xml"/><Relationship Id="rId6" Type="http://schemas.openxmlformats.org/officeDocument/2006/relationships/slide" Target="slide41.xml"/><Relationship Id="rId5" Type="http://schemas.openxmlformats.org/officeDocument/2006/relationships/slide" Target="slide31.xml"/><Relationship Id="rId4" Type="http://schemas.openxmlformats.org/officeDocument/2006/relationships/slide" Target="slide1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5.xml"/><Relationship Id="rId1" Type="http://schemas.openxmlformats.org/officeDocument/2006/relationships/vmlDrawing" Target="../drawings/vmlDrawing1.vml"/><Relationship Id="rId5" Type="http://schemas.openxmlformats.org/officeDocument/2006/relationships/image" Target="../media/image3.emf"/><Relationship Id="rId4" Type="http://schemas.openxmlformats.org/officeDocument/2006/relationships/package" Target="../embeddings/Microsoft_Word___1.docx"/></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4.xml"/><Relationship Id="rId1" Type="http://schemas.openxmlformats.org/officeDocument/2006/relationships/vmlDrawing" Target="../drawings/vmlDrawing2.vml"/><Relationship Id="rId5" Type="http://schemas.openxmlformats.org/officeDocument/2006/relationships/image" Target="../media/image5.emf"/><Relationship Id="rId4" Type="http://schemas.openxmlformats.org/officeDocument/2006/relationships/package" Target="../embeddings/Microsoft_Word___2.docx"/></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4.xml"/><Relationship Id="rId1" Type="http://schemas.openxmlformats.org/officeDocument/2006/relationships/vmlDrawing" Target="../drawings/vmlDrawing3.vml"/><Relationship Id="rId6" Type="http://schemas.openxmlformats.org/officeDocument/2006/relationships/image" Target="../media/image8.jpeg"/><Relationship Id="rId5" Type="http://schemas.openxmlformats.org/officeDocument/2006/relationships/image" Target="../media/image7.emf"/><Relationship Id="rId4" Type="http://schemas.openxmlformats.org/officeDocument/2006/relationships/package" Target="../embeddings/Microsoft_Word___3.docx"/></Relationships>
</file>

<file path=ppt/slides/_rels/slide22.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slideLayout" Target="../slideLayouts/slideLayout4.xml"/><Relationship Id="rId1" Type="http://schemas.openxmlformats.org/officeDocument/2006/relationships/vmlDrawing" Target="../drawings/vmlDrawing4.vml"/><Relationship Id="rId6" Type="http://schemas.openxmlformats.org/officeDocument/2006/relationships/image" Target="../media/image9.emf"/><Relationship Id="rId5" Type="http://schemas.openxmlformats.org/officeDocument/2006/relationships/package" Target="../embeddings/Microsoft_Word___4.docx"/><Relationship Id="rId4" Type="http://schemas.openxmlformats.org/officeDocument/2006/relationships/oleObject" Target="../embeddings/oleObject4.bin"/></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4.xml"/><Relationship Id="rId1" Type="http://schemas.openxmlformats.org/officeDocument/2006/relationships/vmlDrawing" Target="../drawings/vmlDrawing5.vml"/><Relationship Id="rId5" Type="http://schemas.openxmlformats.org/officeDocument/2006/relationships/image" Target="../media/image11.emf"/><Relationship Id="rId4" Type="http://schemas.openxmlformats.org/officeDocument/2006/relationships/package" Target="../embeddings/Microsoft_Word___5.docx"/></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4.xml"/><Relationship Id="rId1" Type="http://schemas.openxmlformats.org/officeDocument/2006/relationships/vmlDrawing" Target="../drawings/vmlDrawing6.vml"/><Relationship Id="rId5" Type="http://schemas.openxmlformats.org/officeDocument/2006/relationships/image" Target="../media/image12.emf"/><Relationship Id="rId4" Type="http://schemas.openxmlformats.org/officeDocument/2006/relationships/package" Target="../embeddings/Microsoft_Word___6.docx"/></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4.xml"/><Relationship Id="rId1" Type="http://schemas.openxmlformats.org/officeDocument/2006/relationships/vmlDrawing" Target="../drawings/vmlDrawing7.vml"/><Relationship Id="rId5" Type="http://schemas.openxmlformats.org/officeDocument/2006/relationships/image" Target="../media/image14.emf"/><Relationship Id="rId4" Type="http://schemas.openxmlformats.org/officeDocument/2006/relationships/package" Target="../embeddings/Microsoft_Word___7.docx"/></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4.xml"/><Relationship Id="rId1" Type="http://schemas.openxmlformats.org/officeDocument/2006/relationships/vmlDrawing" Target="../drawings/vmlDrawing8.vml"/><Relationship Id="rId5" Type="http://schemas.openxmlformats.org/officeDocument/2006/relationships/image" Target="../media/image15.emf"/><Relationship Id="rId4" Type="http://schemas.openxmlformats.org/officeDocument/2006/relationships/package" Target="../embeddings/Microsoft_Word___8.docx"/></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4.xml"/><Relationship Id="rId1" Type="http://schemas.openxmlformats.org/officeDocument/2006/relationships/vmlDrawing" Target="../drawings/vmlDrawing9.vml"/><Relationship Id="rId5" Type="http://schemas.openxmlformats.org/officeDocument/2006/relationships/image" Target="../media/image17.emf"/><Relationship Id="rId4" Type="http://schemas.openxmlformats.org/officeDocument/2006/relationships/package" Target="../embeddings/Microsoft_Word___9.docx"/></Relationships>
</file>

<file path=ppt/slides/_rels/slide34.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4.xml"/><Relationship Id="rId1" Type="http://schemas.openxmlformats.org/officeDocument/2006/relationships/vmlDrawing" Target="../drawings/vmlDrawing10.vml"/><Relationship Id="rId5" Type="http://schemas.openxmlformats.org/officeDocument/2006/relationships/image" Target="../media/image18.emf"/><Relationship Id="rId4" Type="http://schemas.openxmlformats.org/officeDocument/2006/relationships/package" Target="../embeddings/Microsoft_Word___10.docx"/></Relationships>
</file>

<file path=ppt/slides/_rels/slide35.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4.xml"/><Relationship Id="rId1" Type="http://schemas.openxmlformats.org/officeDocument/2006/relationships/vmlDrawing" Target="../drawings/vmlDrawing11.vml"/><Relationship Id="rId5" Type="http://schemas.openxmlformats.org/officeDocument/2006/relationships/image" Target="../media/image19.emf"/><Relationship Id="rId4" Type="http://schemas.openxmlformats.org/officeDocument/2006/relationships/package" Target="../embeddings/Microsoft_Word___11.docx"/></Relationships>
</file>

<file path=ppt/slides/_rels/slide36.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Layout" Target="../slideLayouts/slideLayout4.xml"/><Relationship Id="rId1" Type="http://schemas.openxmlformats.org/officeDocument/2006/relationships/vmlDrawing" Target="../drawings/vmlDrawing12.vml"/><Relationship Id="rId5" Type="http://schemas.openxmlformats.org/officeDocument/2006/relationships/image" Target="../media/image20.emf"/><Relationship Id="rId4" Type="http://schemas.openxmlformats.org/officeDocument/2006/relationships/package" Target="../embeddings/Microsoft_Word___12.docx"/></Relationships>
</file>

<file path=ppt/slides/_rels/slide37.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Layout" Target="../slideLayouts/slideLayout4.xml"/><Relationship Id="rId1" Type="http://schemas.openxmlformats.org/officeDocument/2006/relationships/vmlDrawing" Target="../drawings/vmlDrawing13.vml"/><Relationship Id="rId5" Type="http://schemas.openxmlformats.org/officeDocument/2006/relationships/image" Target="../media/image21.emf"/><Relationship Id="rId4" Type="http://schemas.openxmlformats.org/officeDocument/2006/relationships/package" Target="../embeddings/Microsoft_Word___13.docx"/></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Layout" Target="../slideLayouts/slideLayout4.xml"/><Relationship Id="rId1" Type="http://schemas.openxmlformats.org/officeDocument/2006/relationships/vmlDrawing" Target="../drawings/vmlDrawing14.vml"/><Relationship Id="rId5" Type="http://schemas.openxmlformats.org/officeDocument/2006/relationships/image" Target="../media/image23.emf"/><Relationship Id="rId4" Type="http://schemas.openxmlformats.org/officeDocument/2006/relationships/package" Target="../embeddings/Microsoft_Word___14.docx"/></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Layout" Target="../slideLayouts/slideLayout4.xml"/><Relationship Id="rId1" Type="http://schemas.openxmlformats.org/officeDocument/2006/relationships/vmlDrawing" Target="../drawings/vmlDrawing15.vml"/><Relationship Id="rId5" Type="http://schemas.openxmlformats.org/officeDocument/2006/relationships/image" Target="../media/image24.emf"/><Relationship Id="rId4" Type="http://schemas.openxmlformats.org/officeDocument/2006/relationships/package" Target="../embeddings/Microsoft_Word___15.docx"/></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Layout" Target="../slideLayouts/slideLayout4.xml"/><Relationship Id="rId1" Type="http://schemas.openxmlformats.org/officeDocument/2006/relationships/vmlDrawing" Target="../drawings/vmlDrawing16.vml"/><Relationship Id="rId5" Type="http://schemas.openxmlformats.org/officeDocument/2006/relationships/image" Target="../media/image25.emf"/><Relationship Id="rId4" Type="http://schemas.openxmlformats.org/officeDocument/2006/relationships/package" Target="../embeddings/Microsoft_Word___16.docx"/></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Layout" Target="../slideLayouts/slideLayout4.xml"/><Relationship Id="rId1" Type="http://schemas.openxmlformats.org/officeDocument/2006/relationships/vmlDrawing" Target="../drawings/vmlDrawing17.vml"/><Relationship Id="rId5" Type="http://schemas.openxmlformats.org/officeDocument/2006/relationships/image" Target="../media/image26.emf"/><Relationship Id="rId4" Type="http://schemas.openxmlformats.org/officeDocument/2006/relationships/package" Target="../embeddings/Microsoft_Word___17.docx"/></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83513369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pattFill prst="lgGrid">
          <a:fgClr>
            <a:schemeClr val="bg2"/>
          </a:fgClr>
          <a:bgClr>
            <a:schemeClr val="bg1"/>
          </a:bgClr>
        </a:pattFill>
        <a:effectLst/>
      </p:bgPr>
    </p:bg>
    <p:spTree>
      <p:nvGrpSpPr>
        <p:cNvPr id="1" name=""/>
        <p:cNvGrpSpPr/>
        <p:nvPr/>
      </p:nvGrpSpPr>
      <p:grpSpPr>
        <a:xfrm>
          <a:off x="0" y="0"/>
          <a:ext cx="0" cy="0"/>
          <a:chOff x="0" y="0"/>
          <a:chExt cx="0" cy="0"/>
        </a:xfrm>
      </p:grpSpPr>
      <p:sp>
        <p:nvSpPr>
          <p:cNvPr id="10" name="矩形 9"/>
          <p:cNvSpPr>
            <a:spLocks noChangeAspect="1"/>
          </p:cNvSpPr>
          <p:nvPr/>
        </p:nvSpPr>
        <p:spPr>
          <a:xfrm>
            <a:off x="361950" y="2289764"/>
            <a:ext cx="10807700" cy="1094339"/>
          </a:xfrm>
          <a:prstGeom prst="rect">
            <a:avLst/>
          </a:prstGeom>
        </p:spPr>
        <p:txBody>
          <a:bodyPr>
            <a:spAutoFit/>
          </a:bodyPr>
          <a:lstStyle/>
          <a:p>
            <a:pPr algn="ctr">
              <a:lnSpc>
                <a:spcPct val="120000"/>
              </a:lnSpc>
            </a:pPr>
            <a:r>
              <a:rPr lang="en-US" altLang="zh-CN" sz="6000" dirty="0">
                <a:solidFill>
                  <a:srgbClr val="002060"/>
                </a:solidFill>
                <a:ea typeface="宋体" panose="02010600030101010101" pitchFamily="2" charset="-122"/>
              </a:rPr>
              <a:t>3.4</a:t>
            </a:r>
            <a:r>
              <a:rPr lang="zh-CN" altLang="zh-CN" sz="6000" dirty="0">
                <a:solidFill>
                  <a:srgbClr val="002060"/>
                </a:solidFill>
                <a:ea typeface="宋体" panose="02010600030101010101" pitchFamily="2" charset="-122"/>
                <a:cs typeface="Times New Roman" panose="02020603050405020304" pitchFamily="18" charset="0"/>
              </a:rPr>
              <a:t>　</a:t>
            </a:r>
            <a:r>
              <a:rPr lang="zh-CN" altLang="zh-CN" sz="6000" dirty="0">
                <a:solidFill>
                  <a:srgbClr val="002060"/>
                </a:solidFill>
                <a:latin typeface="Arial" panose="020B0604020202020204" pitchFamily="34" charset="0"/>
                <a:cs typeface="Times New Roman" panose="02020603050405020304" pitchFamily="18" charset="0"/>
              </a:rPr>
              <a:t>函数的应用</a:t>
            </a:r>
            <a:r>
              <a:rPr lang="en-US" altLang="zh-CN" sz="6000" dirty="0">
                <a:solidFill>
                  <a:srgbClr val="002060"/>
                </a:solidFill>
                <a:ea typeface="宋体" panose="02010600030101010101" pitchFamily="2" charset="-122"/>
              </a:rPr>
              <a:t>(</a:t>
            </a:r>
            <a:r>
              <a:rPr lang="zh-CN" altLang="zh-CN" sz="6000" dirty="0">
                <a:solidFill>
                  <a:srgbClr val="002060"/>
                </a:solidFill>
                <a:latin typeface="Arial" panose="020B0604020202020204" pitchFamily="34" charset="0"/>
                <a:cs typeface="Times New Roman" panose="02020603050405020304" pitchFamily="18" charset="0"/>
              </a:rPr>
              <a:t>一</a:t>
            </a:r>
            <a:r>
              <a:rPr lang="en-US" altLang="zh-CN" sz="6000" dirty="0">
                <a:solidFill>
                  <a:srgbClr val="002060"/>
                </a:solidFill>
                <a:ea typeface="宋体" panose="02010600030101010101" pitchFamily="2" charset="-122"/>
              </a:rPr>
              <a:t>)</a:t>
            </a:r>
            <a:endParaRPr lang="zh-CN" altLang="en-US" sz="6000" dirty="0">
              <a:solidFill>
                <a:srgbClr val="002060"/>
              </a:solidFill>
            </a:endParaRPr>
          </a:p>
        </p:txBody>
      </p:sp>
    </p:spTree>
    <p:extLst>
      <p:ext uri="{BB962C8B-B14F-4D97-AF65-F5344CB8AC3E}">
        <p14:creationId xmlns:p14="http://schemas.microsoft.com/office/powerpoint/2010/main" val="75423352"/>
      </p:ext>
    </p:extLst>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ntr" presetSubtype="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down)">
                                      <p:cBhvr>
                                        <p:cTn id="7" dur="580">
                                          <p:stCondLst>
                                            <p:cond delay="0"/>
                                          </p:stCondLst>
                                        </p:cTn>
                                        <p:tgtEl>
                                          <p:spTgt spid="10"/>
                                        </p:tgtEl>
                                      </p:cBhvr>
                                    </p:animEffect>
                                    <p:anim calcmode="lin" valueType="num">
                                      <p:cBhvr>
                                        <p:cTn id="8" dur="1822" tmFilter="0,0; 0.14,0.36; 0.43,0.73; 0.71,0.91; 1.0,1.0">
                                          <p:stCondLst>
                                            <p:cond delay="0"/>
                                          </p:stCondLst>
                                        </p:cTn>
                                        <p:tgtEl>
                                          <p:spTgt spid="10"/>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10"/>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10"/>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10"/>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10"/>
                                        </p:tgtEl>
                                        <p:attrNameLst>
                                          <p:attrName>ppt_y</p:attrName>
                                        </p:attrNameLst>
                                      </p:cBhvr>
                                      <p:tavLst>
                                        <p:tav tm="0" fmla="#ppt_y-sin(pi*$)/81">
                                          <p:val>
                                            <p:fltVal val="0"/>
                                          </p:val>
                                        </p:tav>
                                        <p:tav tm="100000">
                                          <p:val>
                                            <p:fltVal val="1"/>
                                          </p:val>
                                        </p:tav>
                                      </p:tavLst>
                                    </p:anim>
                                    <p:animScale>
                                      <p:cBhvr>
                                        <p:cTn id="13" dur="26">
                                          <p:stCondLst>
                                            <p:cond delay="650"/>
                                          </p:stCondLst>
                                        </p:cTn>
                                        <p:tgtEl>
                                          <p:spTgt spid="10"/>
                                        </p:tgtEl>
                                      </p:cBhvr>
                                      <p:to x="100000" y="60000"/>
                                    </p:animScale>
                                    <p:animScale>
                                      <p:cBhvr>
                                        <p:cTn id="14" dur="166" decel="50000">
                                          <p:stCondLst>
                                            <p:cond delay="676"/>
                                          </p:stCondLst>
                                        </p:cTn>
                                        <p:tgtEl>
                                          <p:spTgt spid="10"/>
                                        </p:tgtEl>
                                      </p:cBhvr>
                                      <p:to x="100000" y="100000"/>
                                    </p:animScale>
                                    <p:animScale>
                                      <p:cBhvr>
                                        <p:cTn id="15" dur="26">
                                          <p:stCondLst>
                                            <p:cond delay="1312"/>
                                          </p:stCondLst>
                                        </p:cTn>
                                        <p:tgtEl>
                                          <p:spTgt spid="10"/>
                                        </p:tgtEl>
                                      </p:cBhvr>
                                      <p:to x="100000" y="80000"/>
                                    </p:animScale>
                                    <p:animScale>
                                      <p:cBhvr>
                                        <p:cTn id="16" dur="166" decel="50000">
                                          <p:stCondLst>
                                            <p:cond delay="1338"/>
                                          </p:stCondLst>
                                        </p:cTn>
                                        <p:tgtEl>
                                          <p:spTgt spid="10"/>
                                        </p:tgtEl>
                                      </p:cBhvr>
                                      <p:to x="100000" y="100000"/>
                                    </p:animScale>
                                    <p:animScale>
                                      <p:cBhvr>
                                        <p:cTn id="17" dur="26">
                                          <p:stCondLst>
                                            <p:cond delay="1642"/>
                                          </p:stCondLst>
                                        </p:cTn>
                                        <p:tgtEl>
                                          <p:spTgt spid="10"/>
                                        </p:tgtEl>
                                      </p:cBhvr>
                                      <p:to x="100000" y="90000"/>
                                    </p:animScale>
                                    <p:animScale>
                                      <p:cBhvr>
                                        <p:cTn id="18" dur="166" decel="50000">
                                          <p:stCondLst>
                                            <p:cond delay="1668"/>
                                          </p:stCondLst>
                                        </p:cTn>
                                        <p:tgtEl>
                                          <p:spTgt spid="10"/>
                                        </p:tgtEl>
                                      </p:cBhvr>
                                      <p:to x="100000" y="100000"/>
                                    </p:animScale>
                                    <p:animScale>
                                      <p:cBhvr>
                                        <p:cTn id="19" dur="26">
                                          <p:stCondLst>
                                            <p:cond delay="1808"/>
                                          </p:stCondLst>
                                        </p:cTn>
                                        <p:tgtEl>
                                          <p:spTgt spid="10"/>
                                        </p:tgtEl>
                                      </p:cBhvr>
                                      <p:to x="100000" y="95000"/>
                                    </p:animScale>
                                    <p:animScale>
                                      <p:cBhvr>
                                        <p:cTn id="20" dur="166" decel="50000">
                                          <p:stCondLst>
                                            <p:cond delay="1834"/>
                                          </p:stCondLst>
                                        </p:cTn>
                                        <p:tgtEl>
                                          <p:spTgt spid="10"/>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360437" y="1421602"/>
            <a:ext cx="10729192" cy="3802024"/>
            <a:chOff x="360437" y="1575584"/>
            <a:chExt cx="10729192" cy="3802024"/>
          </a:xfrm>
        </p:grpSpPr>
        <p:grpSp>
          <p:nvGrpSpPr>
            <p:cNvPr id="13" name="组合 12"/>
            <p:cNvGrpSpPr/>
            <p:nvPr/>
          </p:nvGrpSpPr>
          <p:grpSpPr>
            <a:xfrm>
              <a:off x="360437" y="1575584"/>
              <a:ext cx="10729192" cy="3802024"/>
              <a:chOff x="360437" y="2047221"/>
              <a:chExt cx="10729192" cy="2596834"/>
            </a:xfrm>
          </p:grpSpPr>
          <p:sp>
            <p:nvSpPr>
              <p:cNvPr id="2" name="圆角矩形 1"/>
              <p:cNvSpPr/>
              <p:nvPr/>
            </p:nvSpPr>
            <p:spPr>
              <a:xfrm>
                <a:off x="360437" y="2047221"/>
                <a:ext cx="10729192" cy="2596834"/>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CN" altLang="en-US"/>
              </a:p>
            </p:txBody>
          </p:sp>
          <p:cxnSp>
            <p:nvCxnSpPr>
              <p:cNvPr id="12" name="直接连接符 11"/>
              <p:cNvCxnSpPr/>
              <p:nvPr/>
            </p:nvCxnSpPr>
            <p:spPr>
              <a:xfrm>
                <a:off x="2448669" y="2092811"/>
                <a:ext cx="0" cy="2488633"/>
              </a:xfrm>
              <a:prstGeom prst="line">
                <a:avLst/>
              </a:prstGeom>
            </p:spPr>
            <p:style>
              <a:lnRef idx="3">
                <a:schemeClr val="accent4"/>
              </a:lnRef>
              <a:fillRef idx="0">
                <a:schemeClr val="accent4"/>
              </a:fillRef>
              <a:effectRef idx="2">
                <a:schemeClr val="accent4"/>
              </a:effectRef>
              <a:fontRef idx="minor">
                <a:schemeClr val="tx1"/>
              </a:fontRef>
            </p:style>
          </p:cxnSp>
        </p:grpSp>
        <p:sp>
          <p:nvSpPr>
            <p:cNvPr id="14" name="矩形 13"/>
            <p:cNvSpPr>
              <a:spLocks noChangeAspect="1"/>
            </p:cNvSpPr>
            <p:nvPr/>
          </p:nvSpPr>
          <p:spPr>
            <a:xfrm>
              <a:off x="360437" y="2558263"/>
              <a:ext cx="2086719" cy="1195712"/>
            </a:xfrm>
            <a:prstGeom prst="rect">
              <a:avLst/>
            </a:prstGeom>
          </p:spPr>
          <p:txBody>
            <a:bodyPr wrap="square">
              <a:spAutoFit/>
            </a:bodyPr>
            <a:lstStyle/>
            <a:p>
              <a:pPr algn="ctr">
                <a:lnSpc>
                  <a:spcPct val="120000"/>
                </a:lnSpc>
                <a:spcAft>
                  <a:spcPts val="0"/>
                </a:spcAft>
                <a:tabLst>
                  <a:tab pos="1188085" algn="l"/>
                  <a:tab pos="2163445" algn="l"/>
                  <a:tab pos="3142615" algn="l"/>
                  <a:tab pos="4190365" algn="l"/>
                </a:tabLst>
              </a:pPr>
              <a:r>
                <a:rPr lang="zh-CN" altLang="zh-CN" dirty="0">
                  <a:solidFill>
                    <a:srgbClr val="000000"/>
                  </a:solidFill>
                  <a:latin typeface="Arial" panose="020B0604020202020204" pitchFamily="34" charset="0"/>
                  <a:cs typeface="Times New Roman" panose="02020603050405020304" pitchFamily="18" charset="0"/>
                </a:rPr>
                <a:t>课标定位</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gn="ctr">
                <a:lnSpc>
                  <a:spcPct val="120000"/>
                </a:lnSpc>
                <a:spcAft>
                  <a:spcPts val="0"/>
                </a:spcAft>
                <a:tabLst>
                  <a:tab pos="1188085" algn="l"/>
                  <a:tab pos="2163445" algn="l"/>
                  <a:tab pos="3142615" algn="l"/>
                  <a:tab pos="4190365" algn="l"/>
                </a:tabLst>
              </a:pPr>
              <a:r>
                <a:rPr lang="zh-CN" altLang="zh-CN" dirty="0">
                  <a:solidFill>
                    <a:srgbClr val="000000"/>
                  </a:solidFill>
                  <a:latin typeface="Arial" panose="020B0604020202020204" pitchFamily="34" charset="0"/>
                  <a:cs typeface="Times New Roman" panose="02020603050405020304" pitchFamily="18" charset="0"/>
                </a:rPr>
                <a:t>素养阐释</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
          <p:nvSpPr>
            <p:cNvPr id="15" name="矩形 14"/>
            <p:cNvSpPr>
              <a:spLocks noChangeAspect="1"/>
            </p:cNvSpPr>
            <p:nvPr/>
          </p:nvSpPr>
          <p:spPr>
            <a:xfrm>
              <a:off x="2552207" y="1689813"/>
              <a:ext cx="8496944" cy="3637919"/>
            </a:xfrm>
            <a:prstGeom prst="rect">
              <a:avLst/>
            </a:prstGeom>
          </p:spPr>
          <p:txBody>
            <a:bodyPr wrap="square">
              <a:spAutoFit/>
            </a:bodyPr>
            <a:lstStyle/>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体会函数与现实世界的密切联系</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初步理解函数模型是描述客观世界中变量关系和规律的重要数学语言和工具</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能够根据题意建立函数模型并解决实际问题</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pPr>
              <a:r>
                <a:rPr lang="en-US" altLang="zh-CN" dirty="0">
                  <a:solidFill>
                    <a:srgbClr val="000000"/>
                  </a:solidFill>
                  <a:ea typeface="宋体" panose="02010600030101010101" pitchFamily="2" charset="-122"/>
                </a:rPr>
                <a:t>3</a:t>
              </a:r>
              <a:r>
                <a:rPr lang="en-US" altLang="zh-CN" i="1" dirty="0">
                  <a:solidFill>
                    <a:srgbClr val="000000"/>
                  </a:solidFill>
                  <a:ea typeface="宋体" panose="02010600030101010101" pitchFamily="2" charset="-122"/>
                </a:rPr>
                <a:t>.</a:t>
              </a:r>
              <a:r>
                <a:rPr lang="zh-CN" altLang="zh-CN" dirty="0">
                  <a:solidFill>
                    <a:srgbClr val="000000"/>
                  </a:solidFill>
                  <a:ea typeface="楷体" panose="02010609060101010101" pitchFamily="49" charset="-122"/>
                  <a:cs typeface="Times New Roman" panose="02020603050405020304" pitchFamily="18" charset="0"/>
                </a:rPr>
                <a:t>感受数学抽象以及逻辑推理的过程</a:t>
              </a:r>
              <a:r>
                <a:rPr lang="en-US" altLang="zh-CN" dirty="0" smtClean="0">
                  <a:solidFill>
                    <a:srgbClr val="000000"/>
                  </a:solidFill>
                  <a:ea typeface="宋体" panose="02010600030101010101" pitchFamily="2" charset="-122"/>
                </a:rPr>
                <a:t>,</a:t>
              </a:r>
              <a:r>
                <a:rPr lang="zh-CN" altLang="en-US" dirty="0" smtClean="0">
                  <a:solidFill>
                    <a:srgbClr val="000000"/>
                  </a:solidFill>
                  <a:ea typeface="楷体" panose="02010609060101010101" pitchFamily="49" charset="-122"/>
                  <a:cs typeface="Times New Roman" panose="02020603050405020304" pitchFamily="18" charset="0"/>
                </a:rPr>
                <a:t>提升</a:t>
              </a:r>
              <a:r>
                <a:rPr lang="zh-CN" altLang="zh-CN" dirty="0" smtClean="0">
                  <a:solidFill>
                    <a:srgbClr val="000000"/>
                  </a:solidFill>
                  <a:ea typeface="楷体" panose="02010609060101010101" pitchFamily="49" charset="-122"/>
                  <a:cs typeface="Times New Roman" panose="02020603050405020304" pitchFamily="18" charset="0"/>
                </a:rPr>
                <a:t>数学</a:t>
              </a:r>
              <a:r>
                <a:rPr lang="zh-CN" altLang="zh-CN" dirty="0">
                  <a:solidFill>
                    <a:srgbClr val="000000"/>
                  </a:solidFill>
                  <a:ea typeface="楷体" panose="02010609060101010101" pitchFamily="49" charset="-122"/>
                  <a:cs typeface="Times New Roman" panose="02020603050405020304" pitchFamily="18" charset="0"/>
                </a:rPr>
                <a:t>建模素养</a:t>
              </a:r>
              <a:r>
                <a:rPr lang="en-US" altLang="zh-CN" i="1" dirty="0">
                  <a:solidFill>
                    <a:srgbClr val="000000"/>
                  </a:solidFill>
                  <a:ea typeface="宋体" panose="02010600030101010101" pitchFamily="2" charset="-122"/>
                </a:rPr>
                <a:t>.</a:t>
              </a:r>
              <a:endParaRPr lang="zh-CN" altLang="en-US" dirty="0"/>
            </a:p>
          </p:txBody>
        </p:sp>
      </p:grpSp>
    </p:spTree>
    <p:extLst>
      <p:ext uri="{BB962C8B-B14F-4D97-AF65-F5344CB8AC3E}">
        <p14:creationId xmlns:p14="http://schemas.microsoft.com/office/powerpoint/2010/main" val="3430740809"/>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图文框 2">
            <a:hlinkClick r:id="rId2" action="ppaction://hlinksldjump">
              <a:snd r:embed="rId3" name="chimes.wav"/>
            </a:hlinkClick>
          </p:cNvPr>
          <p:cNvSpPr/>
          <p:nvPr/>
        </p:nvSpPr>
        <p:spPr>
          <a:xfrm>
            <a:off x="1728589" y="503783"/>
            <a:ext cx="8136904" cy="1008112"/>
          </a:xfrm>
          <a:prstGeom prst="fram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zh-CN" sz="4400" dirty="0">
                <a:solidFill>
                  <a:srgbClr val="0070C0"/>
                </a:solidFill>
                <a:latin typeface="华文新魏" panose="02010800040101010101" pitchFamily="2" charset="-122"/>
                <a:ea typeface="华文新魏" panose="02010800040101010101" pitchFamily="2" charset="-122"/>
              </a:rPr>
              <a:t>自主</a:t>
            </a:r>
            <a:r>
              <a:rPr lang="zh-CN" altLang="zh-CN" sz="4400" dirty="0" smtClean="0">
                <a:solidFill>
                  <a:srgbClr val="0070C0"/>
                </a:solidFill>
                <a:latin typeface="华文新魏" panose="02010800040101010101" pitchFamily="2" charset="-122"/>
                <a:ea typeface="华文新魏" panose="02010800040101010101" pitchFamily="2" charset="-122"/>
              </a:rPr>
              <a:t>预习</a:t>
            </a:r>
            <a:r>
              <a:rPr lang="en-US" altLang="zh-CN" sz="4400" dirty="0" smtClean="0">
                <a:solidFill>
                  <a:srgbClr val="0070C0"/>
                </a:solidFill>
                <a:latin typeface="华文新魏" panose="02010800040101010101" pitchFamily="2" charset="-122"/>
                <a:ea typeface="华文新魏" panose="02010800040101010101" pitchFamily="2" charset="-122"/>
              </a:rPr>
              <a:t>·</a:t>
            </a:r>
            <a:r>
              <a:rPr lang="zh-CN" altLang="zh-CN" sz="4400" dirty="0" smtClean="0">
                <a:solidFill>
                  <a:srgbClr val="0070C0"/>
                </a:solidFill>
                <a:latin typeface="华文新魏" panose="02010800040101010101" pitchFamily="2" charset="-122"/>
                <a:ea typeface="华文新魏" panose="02010800040101010101" pitchFamily="2" charset="-122"/>
              </a:rPr>
              <a:t>新知</a:t>
            </a:r>
            <a:r>
              <a:rPr lang="zh-CN" altLang="zh-CN" sz="4400" dirty="0">
                <a:solidFill>
                  <a:srgbClr val="0070C0"/>
                </a:solidFill>
                <a:latin typeface="华文新魏" panose="02010800040101010101" pitchFamily="2" charset="-122"/>
                <a:ea typeface="华文新魏" panose="02010800040101010101" pitchFamily="2" charset="-122"/>
              </a:rPr>
              <a:t>导学</a:t>
            </a:r>
          </a:p>
        </p:txBody>
      </p:sp>
      <p:sp>
        <p:nvSpPr>
          <p:cNvPr id="4" name="图文框 3">
            <a:hlinkClick r:id="rId4" action="ppaction://hlinksldjump">
              <a:snd r:embed="rId3" name="chimes.wav"/>
            </a:hlinkClick>
          </p:cNvPr>
          <p:cNvSpPr/>
          <p:nvPr/>
        </p:nvSpPr>
        <p:spPr>
          <a:xfrm>
            <a:off x="1728589" y="1871935"/>
            <a:ext cx="8136904" cy="1008112"/>
          </a:xfrm>
          <a:prstGeom prst="fram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zh-CN" sz="4400" dirty="0">
                <a:solidFill>
                  <a:srgbClr val="0070C0"/>
                </a:solidFill>
                <a:latin typeface="华文新魏" panose="02010800040101010101" pitchFamily="2" charset="-122"/>
                <a:ea typeface="华文新魏" panose="02010800040101010101" pitchFamily="2" charset="-122"/>
              </a:rPr>
              <a:t>合作</a:t>
            </a:r>
            <a:r>
              <a:rPr lang="zh-CN" altLang="zh-CN" sz="4400" dirty="0" smtClean="0">
                <a:solidFill>
                  <a:srgbClr val="0070C0"/>
                </a:solidFill>
                <a:latin typeface="华文新魏" panose="02010800040101010101" pitchFamily="2" charset="-122"/>
                <a:ea typeface="华文新魏" panose="02010800040101010101" pitchFamily="2" charset="-122"/>
              </a:rPr>
              <a:t>探究</a:t>
            </a:r>
            <a:r>
              <a:rPr lang="en-US" altLang="zh-CN" sz="4400" dirty="0" smtClean="0">
                <a:solidFill>
                  <a:srgbClr val="0070C0"/>
                </a:solidFill>
                <a:latin typeface="华文新魏" panose="02010800040101010101" pitchFamily="2" charset="-122"/>
                <a:ea typeface="华文新魏" panose="02010800040101010101" pitchFamily="2" charset="-122"/>
              </a:rPr>
              <a:t>·</a:t>
            </a:r>
            <a:r>
              <a:rPr lang="zh-CN" altLang="zh-CN" sz="4400" dirty="0" smtClean="0">
                <a:solidFill>
                  <a:srgbClr val="0070C0"/>
                </a:solidFill>
                <a:latin typeface="华文新魏" panose="02010800040101010101" pitchFamily="2" charset="-122"/>
                <a:ea typeface="华文新魏" panose="02010800040101010101" pitchFamily="2" charset="-122"/>
              </a:rPr>
              <a:t>释疑</a:t>
            </a:r>
            <a:r>
              <a:rPr lang="zh-CN" altLang="zh-CN" sz="4400" dirty="0">
                <a:solidFill>
                  <a:srgbClr val="0070C0"/>
                </a:solidFill>
                <a:latin typeface="华文新魏" panose="02010800040101010101" pitchFamily="2" charset="-122"/>
                <a:ea typeface="华文新魏" panose="02010800040101010101" pitchFamily="2" charset="-122"/>
              </a:rPr>
              <a:t>解惑</a:t>
            </a:r>
          </a:p>
        </p:txBody>
      </p:sp>
      <p:sp>
        <p:nvSpPr>
          <p:cNvPr id="7" name="图文框 6">
            <a:hlinkClick r:id="rId5" action="ppaction://hlinksldjump">
              <a:snd r:embed="rId3" name="chimes.wav"/>
            </a:hlinkClick>
          </p:cNvPr>
          <p:cNvSpPr/>
          <p:nvPr/>
        </p:nvSpPr>
        <p:spPr>
          <a:xfrm>
            <a:off x="1728589" y="3279437"/>
            <a:ext cx="8136904" cy="1008112"/>
          </a:xfrm>
          <a:prstGeom prst="fram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zh-CN" sz="4400" dirty="0" smtClean="0">
                <a:solidFill>
                  <a:srgbClr val="0070C0"/>
                </a:solidFill>
                <a:latin typeface="华文新魏" panose="02010800040101010101" pitchFamily="2" charset="-122"/>
                <a:ea typeface="华文新魏" panose="02010800040101010101" pitchFamily="2" charset="-122"/>
              </a:rPr>
              <a:t>易</a:t>
            </a:r>
            <a:r>
              <a:rPr lang="en-US" altLang="zh-CN" sz="4400" dirty="0" smtClean="0">
                <a:solidFill>
                  <a:srgbClr val="0070C0"/>
                </a:solidFill>
                <a:latin typeface="华文新魏" panose="02010800040101010101" pitchFamily="2" charset="-122"/>
                <a:ea typeface="华文新魏" panose="02010800040101010101" pitchFamily="2" charset="-122"/>
              </a:rPr>
              <a:t>  </a:t>
            </a:r>
            <a:r>
              <a:rPr lang="zh-CN" altLang="zh-CN" sz="4400" dirty="0" smtClean="0">
                <a:solidFill>
                  <a:srgbClr val="0070C0"/>
                </a:solidFill>
                <a:latin typeface="华文新魏" panose="02010800040101010101" pitchFamily="2" charset="-122"/>
                <a:ea typeface="华文新魏" panose="02010800040101010101" pitchFamily="2" charset="-122"/>
              </a:rPr>
              <a:t>错</a:t>
            </a:r>
            <a:r>
              <a:rPr lang="en-US" altLang="zh-CN" sz="4400" dirty="0" smtClean="0">
                <a:solidFill>
                  <a:srgbClr val="0070C0"/>
                </a:solidFill>
                <a:latin typeface="华文新魏" panose="02010800040101010101" pitchFamily="2" charset="-122"/>
                <a:ea typeface="华文新魏" panose="02010800040101010101" pitchFamily="2" charset="-122"/>
              </a:rPr>
              <a:t>  </a:t>
            </a:r>
            <a:r>
              <a:rPr lang="zh-CN" altLang="zh-CN" sz="4400" dirty="0" smtClean="0">
                <a:solidFill>
                  <a:srgbClr val="0070C0"/>
                </a:solidFill>
                <a:latin typeface="华文新魏" panose="02010800040101010101" pitchFamily="2" charset="-122"/>
                <a:ea typeface="华文新魏" panose="02010800040101010101" pitchFamily="2" charset="-122"/>
              </a:rPr>
              <a:t>辨</a:t>
            </a:r>
            <a:r>
              <a:rPr lang="en-US" altLang="zh-CN" sz="4400" dirty="0" smtClean="0">
                <a:solidFill>
                  <a:srgbClr val="0070C0"/>
                </a:solidFill>
                <a:latin typeface="华文新魏" panose="02010800040101010101" pitchFamily="2" charset="-122"/>
                <a:ea typeface="华文新魏" panose="02010800040101010101" pitchFamily="2" charset="-122"/>
              </a:rPr>
              <a:t>  </a:t>
            </a:r>
            <a:r>
              <a:rPr lang="zh-CN" altLang="zh-CN" sz="4400" dirty="0" smtClean="0">
                <a:solidFill>
                  <a:srgbClr val="0070C0"/>
                </a:solidFill>
                <a:latin typeface="华文新魏" panose="02010800040101010101" pitchFamily="2" charset="-122"/>
                <a:ea typeface="华文新魏" panose="02010800040101010101" pitchFamily="2" charset="-122"/>
              </a:rPr>
              <a:t>析</a:t>
            </a:r>
            <a:endParaRPr lang="zh-CN" altLang="zh-CN" sz="4400" dirty="0">
              <a:solidFill>
                <a:srgbClr val="0070C0"/>
              </a:solidFill>
              <a:latin typeface="华文新魏" panose="02010800040101010101" pitchFamily="2" charset="-122"/>
              <a:ea typeface="华文新魏" panose="02010800040101010101" pitchFamily="2" charset="-122"/>
            </a:endParaRPr>
          </a:p>
        </p:txBody>
      </p:sp>
      <p:sp>
        <p:nvSpPr>
          <p:cNvPr id="8" name="图文框 7">
            <a:hlinkClick r:id="rId6" action="ppaction://hlinksldjump">
              <a:snd r:embed="rId3" name="chimes.wav"/>
            </a:hlinkClick>
          </p:cNvPr>
          <p:cNvSpPr/>
          <p:nvPr/>
        </p:nvSpPr>
        <p:spPr>
          <a:xfrm>
            <a:off x="1728589" y="4647589"/>
            <a:ext cx="8136904" cy="1008112"/>
          </a:xfrm>
          <a:prstGeom prst="fram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zh-CN" sz="4400" dirty="0" smtClean="0">
                <a:solidFill>
                  <a:srgbClr val="0070C0"/>
                </a:solidFill>
                <a:latin typeface="华文新魏" panose="02010800040101010101" pitchFamily="2" charset="-122"/>
                <a:ea typeface="华文新魏" panose="02010800040101010101" pitchFamily="2" charset="-122"/>
              </a:rPr>
              <a:t>随</a:t>
            </a:r>
            <a:r>
              <a:rPr lang="en-US" altLang="zh-CN" sz="4400" dirty="0" smtClean="0">
                <a:solidFill>
                  <a:srgbClr val="0070C0"/>
                </a:solidFill>
                <a:latin typeface="华文新魏" panose="02010800040101010101" pitchFamily="2" charset="-122"/>
                <a:ea typeface="华文新魏" panose="02010800040101010101" pitchFamily="2" charset="-122"/>
              </a:rPr>
              <a:t>  </a:t>
            </a:r>
            <a:r>
              <a:rPr lang="zh-CN" altLang="zh-CN" sz="4400" dirty="0" smtClean="0">
                <a:solidFill>
                  <a:srgbClr val="0070C0"/>
                </a:solidFill>
                <a:latin typeface="华文新魏" panose="02010800040101010101" pitchFamily="2" charset="-122"/>
                <a:ea typeface="华文新魏" panose="02010800040101010101" pitchFamily="2" charset="-122"/>
              </a:rPr>
              <a:t>堂</a:t>
            </a:r>
            <a:r>
              <a:rPr lang="en-US" altLang="zh-CN" sz="4400" dirty="0" smtClean="0">
                <a:solidFill>
                  <a:srgbClr val="0070C0"/>
                </a:solidFill>
                <a:latin typeface="华文新魏" panose="02010800040101010101" pitchFamily="2" charset="-122"/>
                <a:ea typeface="华文新魏" panose="02010800040101010101" pitchFamily="2" charset="-122"/>
              </a:rPr>
              <a:t>  </a:t>
            </a:r>
            <a:r>
              <a:rPr lang="zh-CN" altLang="zh-CN" sz="4400" dirty="0" smtClean="0">
                <a:solidFill>
                  <a:srgbClr val="0070C0"/>
                </a:solidFill>
                <a:latin typeface="华文新魏" panose="02010800040101010101" pitchFamily="2" charset="-122"/>
                <a:ea typeface="华文新魏" panose="02010800040101010101" pitchFamily="2" charset="-122"/>
              </a:rPr>
              <a:t>练</a:t>
            </a:r>
            <a:r>
              <a:rPr lang="en-US" altLang="zh-CN" sz="4400" dirty="0" smtClean="0">
                <a:solidFill>
                  <a:srgbClr val="0070C0"/>
                </a:solidFill>
                <a:latin typeface="华文新魏" panose="02010800040101010101" pitchFamily="2" charset="-122"/>
                <a:ea typeface="华文新魏" panose="02010800040101010101" pitchFamily="2" charset="-122"/>
              </a:rPr>
              <a:t>  </a:t>
            </a:r>
            <a:r>
              <a:rPr lang="zh-CN" altLang="zh-CN" sz="4400" dirty="0" smtClean="0">
                <a:solidFill>
                  <a:srgbClr val="0070C0"/>
                </a:solidFill>
                <a:latin typeface="华文新魏" panose="02010800040101010101" pitchFamily="2" charset="-122"/>
                <a:ea typeface="华文新魏" panose="02010800040101010101" pitchFamily="2" charset="-122"/>
              </a:rPr>
              <a:t>习</a:t>
            </a:r>
            <a:endParaRPr lang="zh-CN" altLang="zh-CN" sz="4400" dirty="0">
              <a:solidFill>
                <a:srgbClr val="0070C0"/>
              </a:solidFill>
              <a:latin typeface="华文新魏" panose="02010800040101010101" pitchFamily="2" charset="-122"/>
              <a:ea typeface="华文新魏" panose="02010800040101010101" pitchFamily="2" charset="-122"/>
            </a:endParaRPr>
          </a:p>
        </p:txBody>
      </p:sp>
    </p:spTree>
    <p:extLst>
      <p:ext uri="{BB962C8B-B14F-4D97-AF65-F5344CB8AC3E}">
        <p14:creationId xmlns:p14="http://schemas.microsoft.com/office/powerpoint/2010/main" val="2621409961"/>
      </p:ext>
    </p:extLst>
  </p:cSld>
  <p:clrMapOvr>
    <a:masterClrMapping/>
  </p:clrMapOvr>
  <p:transition spd="med">
    <p:pull/>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虚尾箭头 3"/>
          <p:cNvSpPr/>
          <p:nvPr/>
        </p:nvSpPr>
        <p:spPr>
          <a:xfrm>
            <a:off x="432445" y="1295871"/>
            <a:ext cx="10657184" cy="3528392"/>
          </a:xfrm>
          <a:prstGeom prst="stripedRightArrow">
            <a:avLst/>
          </a:prstGeom>
        </p:spPr>
        <p:style>
          <a:lnRef idx="1">
            <a:schemeClr val="accent4"/>
          </a:lnRef>
          <a:fillRef idx="2">
            <a:schemeClr val="accent4"/>
          </a:fillRef>
          <a:effectRef idx="1">
            <a:schemeClr val="accent4"/>
          </a:effectRef>
          <a:fontRef idx="minor">
            <a:schemeClr val="dk1"/>
          </a:fontRef>
        </p:style>
        <p:txBody>
          <a:bodyPr rtlCol="0" anchor="ctr"/>
          <a:lstStyle/>
          <a:p>
            <a:r>
              <a:rPr lang="en-US" altLang="zh-CN" sz="6600" dirty="0" smtClean="0">
                <a:solidFill>
                  <a:srgbClr val="0070C0"/>
                </a:solidFill>
                <a:latin typeface="华文新魏" panose="02010800040101010101" pitchFamily="2" charset="-122"/>
                <a:ea typeface="华文新魏" panose="02010800040101010101" pitchFamily="2" charset="-122"/>
              </a:rPr>
              <a:t>  </a:t>
            </a:r>
            <a:r>
              <a:rPr lang="zh-CN" altLang="zh-CN" sz="6600" dirty="0" smtClean="0">
                <a:solidFill>
                  <a:srgbClr val="0070C0"/>
                </a:solidFill>
                <a:latin typeface="华文新魏" panose="02010800040101010101" pitchFamily="2" charset="-122"/>
                <a:ea typeface="华文新魏" panose="02010800040101010101" pitchFamily="2" charset="-122"/>
              </a:rPr>
              <a:t>自主</a:t>
            </a:r>
            <a:r>
              <a:rPr lang="zh-CN" altLang="zh-CN" sz="6600" dirty="0">
                <a:solidFill>
                  <a:srgbClr val="0070C0"/>
                </a:solidFill>
                <a:latin typeface="华文新魏" panose="02010800040101010101" pitchFamily="2" charset="-122"/>
                <a:ea typeface="华文新魏" panose="02010800040101010101" pitchFamily="2" charset="-122"/>
              </a:rPr>
              <a:t>预习</a:t>
            </a:r>
            <a:r>
              <a:rPr lang="en-US" altLang="zh-CN" sz="6600" dirty="0">
                <a:solidFill>
                  <a:srgbClr val="0070C0"/>
                </a:solidFill>
                <a:latin typeface="华文新魏" panose="02010800040101010101" pitchFamily="2" charset="-122"/>
                <a:ea typeface="华文新魏" panose="02010800040101010101" pitchFamily="2" charset="-122"/>
              </a:rPr>
              <a:t>·</a:t>
            </a:r>
            <a:r>
              <a:rPr lang="zh-CN" altLang="zh-CN" sz="6600" dirty="0">
                <a:solidFill>
                  <a:srgbClr val="0070C0"/>
                </a:solidFill>
                <a:latin typeface="华文新魏" panose="02010800040101010101" pitchFamily="2" charset="-122"/>
                <a:ea typeface="华文新魏" panose="02010800040101010101" pitchFamily="2" charset="-122"/>
              </a:rPr>
              <a:t>新知导学</a:t>
            </a:r>
          </a:p>
        </p:txBody>
      </p:sp>
    </p:spTree>
    <p:extLst>
      <p:ext uri="{BB962C8B-B14F-4D97-AF65-F5344CB8AC3E}">
        <p14:creationId xmlns:p14="http://schemas.microsoft.com/office/powerpoint/2010/main" val="2722224656"/>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5"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decel="50000" fill="hold">
                                          <p:stCondLst>
                                            <p:cond delay="0"/>
                                          </p:stCondLst>
                                        </p:cTn>
                                        <p:tgtEl>
                                          <p:spTgt spid="4"/>
                                        </p:tgtEl>
                                        <p:attrNameLst>
                                          <p:attrName>style.rotation</p:attrName>
                                        </p:attrNameLst>
                                      </p:cBhvr>
                                      <p:tavLst>
                                        <p:tav tm="0">
                                          <p:val>
                                            <p:fltVal val="-90"/>
                                          </p:val>
                                        </p:tav>
                                        <p:tav tm="100000">
                                          <p:val>
                                            <p:fltVal val="0"/>
                                          </p:val>
                                        </p:tav>
                                      </p:tavLst>
                                    </p:anim>
                                    <p:anim calcmode="lin" valueType="num">
                                      <p:cBhvr>
                                        <p:cTn id="8" dur="500" decel="50000" fill="hold">
                                          <p:stCondLst>
                                            <p:cond delay="0"/>
                                          </p:stCondLst>
                                        </p:cTn>
                                        <p:tgtEl>
                                          <p:spTgt spid="4"/>
                                        </p:tgtEl>
                                        <p:attrNameLst>
                                          <p:attrName>ppt_w</p:attrName>
                                        </p:attrNameLst>
                                      </p:cBhvr>
                                      <p:tavLst>
                                        <p:tav tm="0">
                                          <p:val>
                                            <p:strVal val="#ppt_w"/>
                                          </p:val>
                                        </p:tav>
                                        <p:tav tm="100000">
                                          <p:val>
                                            <p:strVal val="#ppt_w*.05"/>
                                          </p:val>
                                        </p:tav>
                                      </p:tavLst>
                                    </p:anim>
                                    <p:anim calcmode="lin" valueType="num">
                                      <p:cBhvr>
                                        <p:cTn id="9" dur="500" accel="50000" fill="hold">
                                          <p:stCondLst>
                                            <p:cond delay="500"/>
                                          </p:stCondLst>
                                        </p:cTn>
                                        <p:tgtEl>
                                          <p:spTgt spid="4"/>
                                        </p:tgtEl>
                                        <p:attrNameLst>
                                          <p:attrName>ppt_w</p:attrName>
                                        </p:attrNameLst>
                                      </p:cBhvr>
                                      <p:tavLst>
                                        <p:tav tm="0">
                                          <p:val>
                                            <p:strVal val="#ppt_w*.05"/>
                                          </p:val>
                                        </p:tav>
                                        <p:tav tm="100000">
                                          <p:val>
                                            <p:strVal val="#ppt_w"/>
                                          </p:val>
                                        </p:tav>
                                      </p:tavLst>
                                    </p:anim>
                                    <p:anim calcmode="lin" valueType="num">
                                      <p:cBhvr>
                                        <p:cTn id="10" dur="1000" fill="hold"/>
                                        <p:tgtEl>
                                          <p:spTgt spid="4"/>
                                        </p:tgtEl>
                                        <p:attrNameLst>
                                          <p:attrName>ppt_h</p:attrName>
                                        </p:attrNameLst>
                                      </p:cBhvr>
                                      <p:tavLst>
                                        <p:tav tm="0">
                                          <p:val>
                                            <p:strVal val="#ppt_h"/>
                                          </p:val>
                                        </p:tav>
                                        <p:tav tm="100000">
                                          <p:val>
                                            <p:strVal val="#ppt_h"/>
                                          </p:val>
                                        </p:tav>
                                      </p:tavLst>
                                    </p:anim>
                                    <p:anim calcmode="lin" valueType="num">
                                      <p:cBhvr>
                                        <p:cTn id="11" dur="500" decel="50000" fill="hold">
                                          <p:stCondLst>
                                            <p:cond delay="0"/>
                                          </p:stCondLst>
                                        </p:cTn>
                                        <p:tgtEl>
                                          <p:spTgt spid="4"/>
                                        </p:tgtEl>
                                        <p:attrNameLst>
                                          <p:attrName>ppt_x</p:attrName>
                                        </p:attrNameLst>
                                      </p:cBhvr>
                                      <p:tavLst>
                                        <p:tav tm="0">
                                          <p:val>
                                            <p:strVal val="#ppt_x+.4"/>
                                          </p:val>
                                        </p:tav>
                                        <p:tav tm="100000">
                                          <p:val>
                                            <p:strVal val="#ppt_x"/>
                                          </p:val>
                                        </p:tav>
                                      </p:tavLst>
                                    </p:anim>
                                    <p:anim calcmode="lin" valueType="num">
                                      <p:cBhvr>
                                        <p:cTn id="12" dur="500" decel="50000" fill="hold">
                                          <p:stCondLst>
                                            <p:cond delay="0"/>
                                          </p:stCondLst>
                                        </p:cTn>
                                        <p:tgtEl>
                                          <p:spTgt spid="4"/>
                                        </p:tgtEl>
                                        <p:attrNameLst>
                                          <p:attrName>ppt_y</p:attrName>
                                        </p:attrNameLst>
                                      </p:cBhvr>
                                      <p:tavLst>
                                        <p:tav tm="0">
                                          <p:val>
                                            <p:strVal val="#ppt_y-.2"/>
                                          </p:val>
                                        </p:tav>
                                        <p:tav tm="100000">
                                          <p:val>
                                            <p:strVal val="#ppt_y+.1"/>
                                          </p:val>
                                        </p:tav>
                                      </p:tavLst>
                                    </p:anim>
                                    <p:anim calcmode="lin" valueType="num">
                                      <p:cBhvr>
                                        <p:cTn id="13" dur="500" accel="50000" fill="hold">
                                          <p:stCondLst>
                                            <p:cond delay="500"/>
                                          </p:stCondLst>
                                        </p:cTn>
                                        <p:tgtEl>
                                          <p:spTgt spid="4"/>
                                        </p:tgtEl>
                                        <p:attrNameLst>
                                          <p:attrName>ppt_y</p:attrName>
                                        </p:attrNameLst>
                                      </p:cBhvr>
                                      <p:tavLst>
                                        <p:tav tm="0">
                                          <p:val>
                                            <p:strVal val="#ppt_y+.1"/>
                                          </p:val>
                                        </p:tav>
                                        <p:tav tm="100000">
                                          <p:val>
                                            <p:strVal val="#ppt_y"/>
                                          </p:val>
                                        </p:tav>
                                      </p:tavLst>
                                    </p:anim>
                                    <p:animEffect transition="in" filter="fade">
                                      <p:cBhvr>
                                        <p:cTn id="14" dur="1000" decel="50000">
                                          <p:stCondLst>
                                            <p:cond delay="0"/>
                                          </p:stCondLst>
                                        </p:cTn>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1367879"/>
            <a:ext cx="10807700" cy="3637919"/>
          </a:xfrm>
          <a:prstGeom prst="rect">
            <a:avLst/>
          </a:prstGeom>
        </p:spPr>
        <p:txBody>
          <a:bodyPr>
            <a:spAutoFit/>
          </a:bodyPr>
          <a:lstStyle/>
          <a:p>
            <a:pPr indent="355600">
              <a:lnSpc>
                <a:spcPct val="120000"/>
              </a:lnSpc>
              <a:spcAft>
                <a:spcPts val="0"/>
              </a:spcAft>
              <a:tabLst>
                <a:tab pos="1188085" algn="l"/>
                <a:tab pos="2163445" algn="l"/>
                <a:tab pos="3142615" algn="l"/>
                <a:tab pos="4190365" algn="l"/>
              </a:tabLst>
            </a:pPr>
            <a:r>
              <a:rPr lang="zh-CN" altLang="zh-CN" dirty="0">
                <a:solidFill>
                  <a:srgbClr val="000000"/>
                </a:solidFill>
                <a:latin typeface="NEU-BZ-S92"/>
                <a:ea typeface="方正正中黑简体"/>
                <a:cs typeface="Times New Roman" panose="02020603050405020304" pitchFamily="18" charset="0"/>
              </a:rPr>
              <a:t>一、常见的函数模型</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indent="267970">
              <a:lnSpc>
                <a:spcPct val="120000"/>
              </a:lnSpc>
              <a:spcAft>
                <a:spcPts val="0"/>
              </a:spcAft>
              <a:tabLst>
                <a:tab pos="1188085" algn="l"/>
                <a:tab pos="2163445" algn="l"/>
                <a:tab pos="3142615" algn="l"/>
                <a:tab pos="4190365" algn="l"/>
              </a:tabLst>
            </a:pPr>
            <a:r>
              <a:rPr lang="en-US" altLang="zh-CN" dirty="0" smtClean="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在现实生活、生产中</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有许多问题蕴含着量与量之间的关系</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可通过建立变量之间的函数关系并对所得函数进行研究的方式</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使问题得到解决</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我们已经学过的函数模型有哪些</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indent="266700">
              <a:lnSpc>
                <a:spcPct val="120000"/>
              </a:lnSpc>
              <a:spcAft>
                <a:spcPts val="0"/>
              </a:spcAft>
              <a:tabLst>
                <a:tab pos="1188085" algn="l"/>
                <a:tab pos="2163445" algn="l"/>
                <a:tab pos="3142615" algn="l"/>
                <a:tab pos="4190365" algn="l"/>
              </a:tabLst>
            </a:pPr>
            <a:r>
              <a:rPr lang="zh-CN" altLang="zh-CN" dirty="0" smtClean="0">
                <a:latin typeface="Arial" panose="020B0604020202020204" pitchFamily="34" charset="0"/>
                <a:cs typeface="Times New Roman" panose="02020603050405020304" pitchFamily="18" charset="0"/>
              </a:rPr>
              <a:t>提示</a:t>
            </a:r>
            <a:r>
              <a:rPr lang="en-US" altLang="zh-CN" dirty="0" smtClean="0">
                <a:latin typeface="Arial" panose="020B0604020202020204" pitchFamily="34" charset="0"/>
                <a:cs typeface="Times New Roman" panose="02020603050405020304" pitchFamily="18" charset="0"/>
              </a:rPr>
              <a:t>:</a:t>
            </a:r>
            <a:r>
              <a:rPr lang="zh-CN" altLang="zh-CN" dirty="0" smtClean="0">
                <a:solidFill>
                  <a:srgbClr val="000000"/>
                </a:solidFill>
                <a:ea typeface="楷体" panose="02010609060101010101" pitchFamily="49" charset="-122"/>
                <a:cs typeface="Times New Roman" panose="02020603050405020304" pitchFamily="18" charset="0"/>
              </a:rPr>
              <a:t>一次函数</a:t>
            </a:r>
            <a:r>
              <a:rPr lang="zh-CN" altLang="zh-CN" dirty="0">
                <a:solidFill>
                  <a:srgbClr val="000000"/>
                </a:solidFill>
                <a:ea typeface="楷体" panose="02010609060101010101" pitchFamily="49" charset="-122"/>
                <a:cs typeface="Times New Roman" panose="02020603050405020304" pitchFamily="18" charset="0"/>
              </a:rPr>
              <a:t>、二次函数、分段函数、幂函数、反比例函数</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1864289175"/>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animEffect transition="in" filter="randombar(horizontal)">
                                      <p:cBhvr>
                                        <p:cTn id="7" dur="5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361950" y="764771"/>
            <a:ext cx="10807700" cy="683264"/>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smtClean="0">
                <a:solidFill>
                  <a:srgbClr val="000000"/>
                </a:solidFill>
                <a:ea typeface="宋体" panose="02010600030101010101" pitchFamily="2" charset="-122"/>
                <a:cs typeface="Times New Roman" panose="02020603050405020304" pitchFamily="18" charset="0"/>
              </a:rPr>
              <a:t>.</a:t>
            </a:r>
            <a:r>
              <a:rPr lang="zh-CN" altLang="zh-CN" dirty="0" smtClean="0">
                <a:solidFill>
                  <a:srgbClr val="000000"/>
                </a:solidFill>
                <a:latin typeface="Arial" panose="020B0604020202020204" pitchFamily="34" charset="0"/>
                <a:cs typeface="Times New Roman" panose="02020603050405020304" pitchFamily="18" charset="0"/>
              </a:rPr>
              <a:t>常见</a:t>
            </a:r>
            <a:r>
              <a:rPr lang="zh-CN" altLang="zh-CN" dirty="0">
                <a:solidFill>
                  <a:srgbClr val="000000"/>
                </a:solidFill>
                <a:latin typeface="Arial" panose="020B0604020202020204" pitchFamily="34" charset="0"/>
                <a:cs typeface="Times New Roman" panose="02020603050405020304" pitchFamily="18" charset="0"/>
              </a:rPr>
              <a:t>的几种函数模型</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3461996124"/>
              </p:ext>
            </p:extLst>
          </p:nvPr>
        </p:nvGraphicFramePr>
        <p:xfrm>
          <a:off x="144413" y="1475019"/>
          <a:ext cx="11844910" cy="5129780"/>
        </p:xfrm>
        <a:graphic>
          <a:graphicData uri="http://schemas.openxmlformats.org/presentationml/2006/ole">
            <mc:AlternateContent xmlns:mc="http://schemas.openxmlformats.org/markup-compatibility/2006">
              <mc:Choice xmlns:v="urn:schemas-microsoft-com:vml" Requires="v">
                <p:oleObj spid="_x0000_s1039" name="文档" r:id="rId4" imgW="3883577" imgH="1681895" progId="Word.Document.12">
                  <p:embed/>
                </p:oleObj>
              </mc:Choice>
              <mc:Fallback>
                <p:oleObj name="文档" r:id="rId4" imgW="3883577" imgH="1681895" progId="Word.Document.12">
                  <p:embed/>
                  <p:pic>
                    <p:nvPicPr>
                      <p:cNvPr id="0" name=""/>
                      <p:cNvPicPr/>
                      <p:nvPr/>
                    </p:nvPicPr>
                    <p:blipFill>
                      <a:blip r:embed="rId5"/>
                      <a:stretch>
                        <a:fillRect/>
                      </a:stretch>
                    </p:blipFill>
                    <p:spPr>
                      <a:xfrm>
                        <a:off x="144413" y="1475019"/>
                        <a:ext cx="11844910" cy="5129780"/>
                      </a:xfrm>
                      <a:prstGeom prst="rect">
                        <a:avLst/>
                      </a:prstGeom>
                    </p:spPr>
                  </p:pic>
                </p:oleObj>
              </mc:Fallback>
            </mc:AlternateContent>
          </a:graphicData>
        </a:graphic>
      </p:graphicFrame>
      <p:sp>
        <p:nvSpPr>
          <p:cNvPr id="5" name="矩形 4"/>
          <p:cNvSpPr/>
          <p:nvPr/>
        </p:nvSpPr>
        <p:spPr>
          <a:xfrm>
            <a:off x="5926569" y="2221468"/>
            <a:ext cx="2397780" cy="38263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5922576" y="2623874"/>
            <a:ext cx="2395066" cy="0"/>
          </a:xfrm>
          <a:prstGeom prst="line">
            <a:avLst/>
          </a:prstGeom>
        </p:spPr>
        <p:style>
          <a:lnRef idx="2">
            <a:schemeClr val="dk1"/>
          </a:lnRef>
          <a:fillRef idx="0">
            <a:schemeClr val="dk1"/>
          </a:fillRef>
          <a:effectRef idx="1">
            <a:schemeClr val="dk1"/>
          </a:effectRef>
          <a:fontRef idx="minor">
            <a:schemeClr val="tx1"/>
          </a:fontRef>
        </p:style>
      </p:cxnSp>
      <p:sp>
        <p:nvSpPr>
          <p:cNvPr id="7" name="矩形 6"/>
          <p:cNvSpPr/>
          <p:nvPr/>
        </p:nvSpPr>
        <p:spPr>
          <a:xfrm>
            <a:off x="5977061" y="2776240"/>
            <a:ext cx="2736304" cy="38263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8" name="直接连接符 7"/>
          <p:cNvCxnSpPr/>
          <p:nvPr/>
        </p:nvCxnSpPr>
        <p:spPr>
          <a:xfrm>
            <a:off x="5973068" y="3178646"/>
            <a:ext cx="2733207" cy="0"/>
          </a:xfrm>
          <a:prstGeom prst="line">
            <a:avLst/>
          </a:prstGeom>
        </p:spPr>
        <p:style>
          <a:lnRef idx="2">
            <a:schemeClr val="dk1"/>
          </a:lnRef>
          <a:fillRef idx="0">
            <a:schemeClr val="dk1"/>
          </a:fillRef>
          <a:effectRef idx="1">
            <a:schemeClr val="dk1"/>
          </a:effectRef>
          <a:fontRef idx="minor">
            <a:schemeClr val="tx1"/>
          </a:fontRef>
        </p:style>
      </p:cxnSp>
      <p:sp>
        <p:nvSpPr>
          <p:cNvPr id="9" name="矩形 8"/>
          <p:cNvSpPr/>
          <p:nvPr/>
        </p:nvSpPr>
        <p:spPr>
          <a:xfrm>
            <a:off x="5977061" y="3350551"/>
            <a:ext cx="2736304" cy="109752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 name="直接连接符 9"/>
          <p:cNvCxnSpPr/>
          <p:nvPr/>
        </p:nvCxnSpPr>
        <p:spPr>
          <a:xfrm>
            <a:off x="5973068" y="4467849"/>
            <a:ext cx="2733207" cy="0"/>
          </a:xfrm>
          <a:prstGeom prst="line">
            <a:avLst/>
          </a:prstGeom>
        </p:spPr>
        <p:style>
          <a:lnRef idx="2">
            <a:schemeClr val="dk1"/>
          </a:lnRef>
          <a:fillRef idx="0">
            <a:schemeClr val="dk1"/>
          </a:fillRef>
          <a:effectRef idx="1">
            <a:schemeClr val="dk1"/>
          </a:effectRef>
          <a:fontRef idx="minor">
            <a:schemeClr val="tx1"/>
          </a:fontRef>
        </p:style>
      </p:cxnSp>
      <p:sp>
        <p:nvSpPr>
          <p:cNvPr id="11" name="矩形 10"/>
          <p:cNvSpPr/>
          <p:nvPr/>
        </p:nvSpPr>
        <p:spPr>
          <a:xfrm>
            <a:off x="5962310" y="4619981"/>
            <a:ext cx="2397780" cy="38263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2" name="直接连接符 11"/>
          <p:cNvCxnSpPr/>
          <p:nvPr/>
        </p:nvCxnSpPr>
        <p:spPr>
          <a:xfrm>
            <a:off x="5958317" y="5022387"/>
            <a:ext cx="2395066" cy="0"/>
          </a:xfrm>
          <a:prstGeom prst="line">
            <a:avLst/>
          </a:prstGeom>
        </p:spPr>
        <p:style>
          <a:lnRef idx="2">
            <a:schemeClr val="dk1"/>
          </a:lnRef>
          <a:fillRef idx="0">
            <a:schemeClr val="dk1"/>
          </a:fillRef>
          <a:effectRef idx="1">
            <a:schemeClr val="dk1"/>
          </a:effectRef>
          <a:fontRef idx="minor">
            <a:schemeClr val="tx1"/>
          </a:fontRef>
        </p:style>
      </p:cxnSp>
      <p:sp>
        <p:nvSpPr>
          <p:cNvPr id="13" name="矩形 12"/>
          <p:cNvSpPr/>
          <p:nvPr/>
        </p:nvSpPr>
        <p:spPr>
          <a:xfrm>
            <a:off x="5983826" y="5154746"/>
            <a:ext cx="2397780" cy="61547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4" name="直接连接符 13"/>
          <p:cNvCxnSpPr/>
          <p:nvPr/>
        </p:nvCxnSpPr>
        <p:spPr>
          <a:xfrm>
            <a:off x="5979833" y="5789991"/>
            <a:ext cx="2395066" cy="0"/>
          </a:xfrm>
          <a:prstGeom prst="line">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2884537200"/>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xit" presetSubtype="10" fill="hold" grpId="0" nodeType="clickEffect">
                                  <p:stCondLst>
                                    <p:cond delay="0"/>
                                  </p:stCondLst>
                                  <p:childTnLst>
                                    <p:animEffect transition="out" filter="randombar(horizontal)">
                                      <p:cBhvr>
                                        <p:cTn id="6" dur="500"/>
                                        <p:tgtEl>
                                          <p:spTgt spid="5"/>
                                        </p:tgtEl>
                                      </p:cBhvr>
                                    </p:animEffect>
                                    <p:set>
                                      <p:cBhvr>
                                        <p:cTn id="7" dur="1" fill="hold">
                                          <p:stCondLst>
                                            <p:cond delay="499"/>
                                          </p:stCondLst>
                                        </p:cTn>
                                        <p:tgtEl>
                                          <p:spTgt spid="5"/>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4" presetClass="exit" presetSubtype="10" fill="hold" grpId="0" nodeType="clickEffect">
                                  <p:stCondLst>
                                    <p:cond delay="0"/>
                                  </p:stCondLst>
                                  <p:childTnLst>
                                    <p:animEffect transition="out" filter="randombar(horizontal)">
                                      <p:cBhvr>
                                        <p:cTn id="11" dur="500"/>
                                        <p:tgtEl>
                                          <p:spTgt spid="7"/>
                                        </p:tgtEl>
                                      </p:cBhvr>
                                    </p:animEffect>
                                    <p:set>
                                      <p:cBhvr>
                                        <p:cTn id="12" dur="1" fill="hold">
                                          <p:stCondLst>
                                            <p:cond delay="499"/>
                                          </p:stCondLst>
                                        </p:cTn>
                                        <p:tgtEl>
                                          <p:spTgt spid="7"/>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4" presetClass="exit" presetSubtype="10" fill="hold" grpId="0" nodeType="clickEffect">
                                  <p:stCondLst>
                                    <p:cond delay="0"/>
                                  </p:stCondLst>
                                  <p:childTnLst>
                                    <p:animEffect transition="out" filter="randombar(horizontal)">
                                      <p:cBhvr>
                                        <p:cTn id="16" dur="500"/>
                                        <p:tgtEl>
                                          <p:spTgt spid="9"/>
                                        </p:tgtEl>
                                      </p:cBhvr>
                                    </p:animEffect>
                                    <p:set>
                                      <p:cBhvr>
                                        <p:cTn id="17" dur="1" fill="hold">
                                          <p:stCondLst>
                                            <p:cond delay="499"/>
                                          </p:stCondLst>
                                        </p:cTn>
                                        <p:tgtEl>
                                          <p:spTgt spid="9"/>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14" presetClass="exit" presetSubtype="10" fill="hold" grpId="0" nodeType="clickEffect">
                                  <p:stCondLst>
                                    <p:cond delay="0"/>
                                  </p:stCondLst>
                                  <p:childTnLst>
                                    <p:animEffect transition="out" filter="randombar(horizontal)">
                                      <p:cBhvr>
                                        <p:cTn id="21" dur="500"/>
                                        <p:tgtEl>
                                          <p:spTgt spid="11"/>
                                        </p:tgtEl>
                                      </p:cBhvr>
                                    </p:animEffect>
                                    <p:set>
                                      <p:cBhvr>
                                        <p:cTn id="22" dur="1" fill="hold">
                                          <p:stCondLst>
                                            <p:cond delay="499"/>
                                          </p:stCondLst>
                                        </p:cTn>
                                        <p:tgtEl>
                                          <p:spTgt spid="11"/>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4" presetClass="exit" presetSubtype="10" fill="hold" grpId="0" nodeType="clickEffect">
                                  <p:stCondLst>
                                    <p:cond delay="0"/>
                                  </p:stCondLst>
                                  <p:childTnLst>
                                    <p:animEffect transition="out" filter="randombar(horizontal)">
                                      <p:cBhvr>
                                        <p:cTn id="26" dur="500"/>
                                        <p:tgtEl>
                                          <p:spTgt spid="13"/>
                                        </p:tgtEl>
                                      </p:cBhvr>
                                    </p:animEffect>
                                    <p:set>
                                      <p:cBhvr>
                                        <p:cTn id="27" dur="1" fill="hold">
                                          <p:stCondLst>
                                            <p:cond delay="499"/>
                                          </p:stCondLst>
                                        </p:cTn>
                                        <p:tgtEl>
                                          <p:spTgt spid="1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9" grpId="0" animBg="1"/>
      <p:bldP spid="11" grpId="0" animBg="1"/>
      <p:bldP spid="13"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1439887"/>
            <a:ext cx="10807700" cy="3046988"/>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solidFill>
                  <a:srgbClr val="000000"/>
                </a:solidFill>
                <a:latin typeface="NEU-BZ-S92"/>
                <a:ea typeface="方正正中黑简体"/>
                <a:cs typeface="Times New Roman" panose="02020603050405020304" pitchFamily="18" charset="0"/>
              </a:rPr>
              <a:t>二、解决函数实际应用问题的基本步骤</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smtClean="0">
                <a:solidFill>
                  <a:srgbClr val="000000"/>
                </a:solidFill>
                <a:ea typeface="宋体" panose="02010600030101010101" pitchFamily="2" charset="-122"/>
                <a:cs typeface="Times New Roman" panose="02020603050405020304" pitchFamily="18" charset="0"/>
              </a:rPr>
              <a:t>解决</a:t>
            </a:r>
            <a:r>
              <a:rPr lang="zh-CN" altLang="zh-CN" dirty="0">
                <a:solidFill>
                  <a:srgbClr val="000000"/>
                </a:solidFill>
                <a:ea typeface="宋体" panose="02010600030101010101" pitchFamily="2" charset="-122"/>
                <a:cs typeface="Times New Roman" panose="02020603050405020304" pitchFamily="18" charset="0"/>
              </a:rPr>
              <a:t>函数实际应用问题的关键是将实际问题转化为数学问题</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即建立函数模型</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通过对函数性质的研究解决数学问题</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从而达到解决实际问题的目的</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solidFill>
                  <a:srgbClr val="000000"/>
                </a:solidFill>
                <a:ea typeface="宋体" panose="02010600030101010101" pitchFamily="2" charset="-122"/>
                <a:cs typeface="Times New Roman" panose="02020603050405020304" pitchFamily="18" charset="0"/>
              </a:rPr>
              <a:t>解决函数实际应用问题的一般步骤是怎样的</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455637963"/>
      </p:ext>
    </p:extLst>
  </p:cSld>
  <p:clrMapOvr>
    <a:masterClrMapping/>
  </p:clrMapOvr>
  <p:transition spd="slow">
    <p:wheel spokes="1"/>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1089637"/>
            <a:ext cx="10807700" cy="4228850"/>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提示</a:t>
            </a:r>
            <a:r>
              <a:rPr lang="en-US" altLang="zh-CN" dirty="0">
                <a:latin typeface="Arial" panose="020B0604020202020204" pitchFamily="34" charset="0"/>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楷体" panose="02010609060101010101" pitchFamily="49" charset="-122"/>
                <a:cs typeface="Times New Roman" panose="02020603050405020304" pitchFamily="18" charset="0"/>
              </a:rPr>
              <a:t>设恰当的变量</a:t>
            </a:r>
            <a:r>
              <a:rPr lang="en-US" altLang="zh-CN" dirty="0" smtClean="0">
                <a:solidFill>
                  <a:srgbClr val="000000"/>
                </a:solidFill>
                <a:ea typeface="宋体" panose="02010600030101010101" pitchFamily="2" charset="-122"/>
                <a:cs typeface="Times New Roman" panose="02020603050405020304" pitchFamily="18" charset="0"/>
              </a:rPr>
              <a:t>:</a:t>
            </a:r>
            <a:r>
              <a:rPr lang="zh-CN" altLang="zh-CN" dirty="0" smtClean="0">
                <a:solidFill>
                  <a:srgbClr val="000000"/>
                </a:solidFill>
                <a:ea typeface="楷体" panose="02010609060101010101" pitchFamily="49" charset="-122"/>
                <a:cs typeface="Times New Roman" panose="02020603050405020304" pitchFamily="18" charset="0"/>
              </a:rPr>
              <a:t>用</a:t>
            </a:r>
            <a:r>
              <a:rPr lang="en-US" altLang="zh-CN" i="1" dirty="0" err="1">
                <a:solidFill>
                  <a:srgbClr val="000000"/>
                </a:solidFill>
                <a:ea typeface="宋体" panose="02010600030101010101" pitchFamily="2" charset="-122"/>
                <a:cs typeface="Times New Roman" panose="02020603050405020304" pitchFamily="18" charset="0"/>
              </a:rPr>
              <a:t>x</a:t>
            </a:r>
            <a:r>
              <a:rPr lang="en-US" altLang="zh-CN" dirty="0" err="1">
                <a:solidFill>
                  <a:srgbClr val="000000"/>
                </a:solidFill>
                <a:ea typeface="宋体" panose="02010600030101010101" pitchFamily="2" charset="-122"/>
                <a:cs typeface="Times New Roman" panose="02020603050405020304" pitchFamily="18" charset="0"/>
              </a:rPr>
              <a:t>,</a:t>
            </a:r>
            <a:r>
              <a:rPr lang="en-US" altLang="zh-CN" i="1" dirty="0" err="1">
                <a:solidFill>
                  <a:srgbClr val="000000"/>
                </a:solidFill>
                <a:ea typeface="宋体" panose="02010600030101010101" pitchFamily="2" charset="-122"/>
                <a:cs typeface="Times New Roman" panose="02020603050405020304" pitchFamily="18" charset="0"/>
              </a:rPr>
              <a:t>y</a:t>
            </a:r>
            <a:r>
              <a:rPr lang="zh-CN" altLang="zh-CN" dirty="0">
                <a:solidFill>
                  <a:srgbClr val="000000"/>
                </a:solidFill>
                <a:ea typeface="楷体" panose="02010609060101010101" pitchFamily="49" charset="-122"/>
                <a:cs typeface="Times New Roman" panose="02020603050405020304" pitchFamily="18" charset="0"/>
              </a:rPr>
              <a:t>表示问题中的变量</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楷体" panose="02010609060101010101" pitchFamily="49" charset="-122"/>
                <a:cs typeface="Times New Roman" panose="02020603050405020304" pitchFamily="18" charset="0"/>
              </a:rPr>
              <a:t>建立函数模型</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将</a:t>
            </a:r>
            <a:r>
              <a:rPr lang="en-US" altLang="zh-CN" i="1" dirty="0">
                <a:solidFill>
                  <a:srgbClr val="000000"/>
                </a:solidFill>
                <a:ea typeface="宋体" panose="02010600030101010101" pitchFamily="2" charset="-122"/>
                <a:cs typeface="Times New Roman" panose="02020603050405020304" pitchFamily="18" charset="0"/>
              </a:rPr>
              <a:t>y</a:t>
            </a:r>
            <a:r>
              <a:rPr lang="zh-CN" altLang="zh-CN" dirty="0">
                <a:solidFill>
                  <a:srgbClr val="000000"/>
                </a:solidFill>
                <a:ea typeface="楷体" panose="02010609060101010101" pitchFamily="49" charset="-122"/>
                <a:cs typeface="Times New Roman" panose="02020603050405020304" pitchFamily="18" charset="0"/>
              </a:rPr>
              <a:t>表示为</a:t>
            </a:r>
            <a:r>
              <a:rPr lang="en-US" altLang="zh-CN" i="1" dirty="0">
                <a:solidFill>
                  <a:srgbClr val="000000"/>
                </a:solidFill>
                <a:ea typeface="宋体" panose="02010600030101010101" pitchFamily="2" charset="-122"/>
                <a:cs typeface="Times New Roman" panose="02020603050405020304" pitchFamily="18" charset="0"/>
              </a:rPr>
              <a:t>x</a:t>
            </a:r>
            <a:r>
              <a:rPr lang="zh-CN" altLang="zh-CN" dirty="0">
                <a:solidFill>
                  <a:srgbClr val="000000"/>
                </a:solidFill>
                <a:ea typeface="楷体" panose="02010609060101010101" pitchFamily="49" charset="-122"/>
                <a:cs typeface="Times New Roman" panose="02020603050405020304" pitchFamily="18" charset="0"/>
              </a:rPr>
              <a:t>的函数</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写出</a:t>
            </a:r>
            <a:r>
              <a:rPr lang="en-US" altLang="zh-CN" i="1" dirty="0">
                <a:solidFill>
                  <a:srgbClr val="000000"/>
                </a:solidFill>
                <a:ea typeface="宋体" panose="02010600030101010101" pitchFamily="2" charset="-122"/>
                <a:cs typeface="Times New Roman" panose="02020603050405020304" pitchFamily="18" charset="0"/>
              </a:rPr>
              <a:t>y</a:t>
            </a:r>
            <a:r>
              <a:rPr lang="zh-CN" altLang="zh-CN" dirty="0">
                <a:solidFill>
                  <a:srgbClr val="000000"/>
                </a:solidFill>
                <a:ea typeface="楷体" panose="02010609060101010101" pitchFamily="49" charset="-122"/>
                <a:cs typeface="Times New Roman" panose="02020603050405020304" pitchFamily="18" charset="0"/>
              </a:rPr>
              <a:t>关于</a:t>
            </a:r>
            <a:r>
              <a:rPr lang="en-US" altLang="zh-CN" i="1" dirty="0">
                <a:solidFill>
                  <a:srgbClr val="000000"/>
                </a:solidFill>
                <a:ea typeface="宋体" panose="02010600030101010101" pitchFamily="2" charset="-122"/>
                <a:cs typeface="Times New Roman" panose="02020603050405020304" pitchFamily="18" charset="0"/>
              </a:rPr>
              <a:t>x</a:t>
            </a:r>
            <a:r>
              <a:rPr lang="zh-CN" altLang="zh-CN" dirty="0">
                <a:solidFill>
                  <a:srgbClr val="000000"/>
                </a:solidFill>
                <a:ea typeface="楷体" panose="02010609060101010101" pitchFamily="49" charset="-122"/>
                <a:cs typeface="Times New Roman" panose="02020603050405020304" pitchFamily="18" charset="0"/>
              </a:rPr>
              <a:t>的解析式</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smtClean="0">
                <a:solidFill>
                  <a:srgbClr val="000000"/>
                </a:solidFill>
                <a:ea typeface="楷体" panose="02010609060101010101" pitchFamily="49" charset="-122"/>
                <a:cs typeface="Times New Roman" panose="02020603050405020304" pitchFamily="18" charset="0"/>
              </a:rPr>
              <a:t>并标明</a:t>
            </a:r>
            <a:r>
              <a:rPr lang="zh-CN" altLang="zh-CN" dirty="0">
                <a:solidFill>
                  <a:srgbClr val="000000"/>
                </a:solidFill>
                <a:ea typeface="楷体" panose="02010609060101010101" pitchFamily="49" charset="-122"/>
                <a:cs typeface="Times New Roman" panose="02020603050405020304" pitchFamily="18" charset="0"/>
              </a:rPr>
              <a:t>函数的定义域</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(3)</a:t>
            </a:r>
            <a:r>
              <a:rPr lang="zh-CN" altLang="zh-CN" dirty="0">
                <a:solidFill>
                  <a:srgbClr val="000000"/>
                </a:solidFill>
                <a:ea typeface="楷体" panose="02010609060101010101" pitchFamily="49" charset="-122"/>
                <a:cs typeface="Times New Roman" panose="02020603050405020304" pitchFamily="18" charset="0"/>
              </a:rPr>
              <a:t>求解函数模型</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根据函数模型及其定义域</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利用相应的函数知识求解函数模型</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(4)</a:t>
            </a:r>
            <a:r>
              <a:rPr lang="zh-CN" altLang="zh-CN" dirty="0">
                <a:solidFill>
                  <a:srgbClr val="000000"/>
                </a:solidFill>
                <a:ea typeface="楷体" panose="02010609060101010101" pitchFamily="49" charset="-122"/>
                <a:cs typeface="Times New Roman" panose="02020603050405020304" pitchFamily="18" charset="0"/>
              </a:rPr>
              <a:t>给出实际问题的解</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将数学模型的解还原为实际问题的解</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得出实际问题的解</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2443257908"/>
      </p:ext>
    </p:extLst>
  </p:cSld>
  <p:clrMapOvr>
    <a:masterClrMapping/>
  </p:clrMapOvr>
  <p:transition spd="slow">
    <p:wheel spokes="1"/>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843292"/>
            <a:ext cx="10807700" cy="4763227"/>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solidFill>
                  <a:srgbClr val="000000"/>
                </a:solidFill>
                <a:latin typeface="Arial" panose="020B0604020202020204" pitchFamily="34" charset="0"/>
                <a:cs typeface="Times New Roman" panose="02020603050405020304" pitchFamily="18" charset="0"/>
              </a:rPr>
              <a:t>【思考辨析】</a:t>
            </a:r>
            <a:r>
              <a:rPr lang="zh-CN" altLang="zh-CN" dirty="0">
                <a:solidFill>
                  <a:srgbClr val="000000"/>
                </a:solidFill>
                <a:latin typeface="NEU-BZ-S92"/>
                <a:ea typeface="Arial" panose="020B0604020202020204" pitchFamily="34" charset="0"/>
                <a:cs typeface="Times New Roman" panose="02020603050405020304" pitchFamily="18" charset="0"/>
              </a:rPr>
              <a:t> </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solidFill>
                  <a:srgbClr val="000000"/>
                </a:solidFill>
                <a:ea typeface="宋体" panose="02010600030101010101" pitchFamily="2" charset="-122"/>
                <a:cs typeface="Times New Roman" panose="02020603050405020304" pitchFamily="18" charset="0"/>
              </a:rPr>
              <a:t>判断下列说法是否正确</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正确的在后面的括号内打</a:t>
            </a:r>
            <a:r>
              <a:rPr lang="en-US" altLang="zh-CN"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latin typeface="Cambria Math" panose="02040503050406030204" pitchFamily="18" charset="0"/>
                <a:ea typeface="NEU-BZ-S9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错误的打</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利润</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销售单价</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销售量</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  </a:t>
            </a:r>
            <a:r>
              <a:rPr lang="en-US" altLang="zh-CN" dirty="0">
                <a:latin typeface="宋体" panose="02010600030101010101" pitchFamily="2" charset="-122"/>
                <a:ea typeface="方正书宋_GBK" panose="03000509000000000000" pitchFamily="65"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  )</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宋体" panose="02010600030101010101" pitchFamily="2" charset="-122"/>
                <a:cs typeface="Times New Roman" panose="02020603050405020304" pitchFamily="18" charset="0"/>
              </a:rPr>
              <a:t>实际应用问题中自变量的取值范围由所得的函数解析式唯一确定</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  </a:t>
            </a:r>
            <a:r>
              <a:rPr lang="en-US" altLang="zh-CN" dirty="0">
                <a:latin typeface="宋体" panose="02010600030101010101" pitchFamily="2" charset="-122"/>
                <a:ea typeface="方正书宋_GBK" panose="03000509000000000000" pitchFamily="65"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  )</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(3)</a:t>
            </a:r>
            <a:r>
              <a:rPr lang="zh-CN" altLang="zh-CN" dirty="0">
                <a:solidFill>
                  <a:srgbClr val="000000"/>
                </a:solidFill>
                <a:ea typeface="宋体" panose="02010600030101010101" pitchFamily="2" charset="-122"/>
                <a:cs typeface="Times New Roman" panose="02020603050405020304" pitchFamily="18" charset="0"/>
              </a:rPr>
              <a:t>解函数应用题的基本步骤可概括为</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四步八字</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即</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审题、建模、解模、还原</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  </a:t>
            </a:r>
            <a:r>
              <a:rPr lang="en-US" altLang="zh-CN" dirty="0">
                <a:latin typeface="宋体" panose="02010600030101010101" pitchFamily="2" charset="-122"/>
                <a:ea typeface="方正书宋_GBK" panose="03000509000000000000" pitchFamily="65"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  )</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p:txBody>
      </p:sp>
      <p:sp>
        <p:nvSpPr>
          <p:cNvPr id="3" name="矩形 2"/>
          <p:cNvSpPr/>
          <p:nvPr/>
        </p:nvSpPr>
        <p:spPr>
          <a:xfrm>
            <a:off x="5617021" y="2732551"/>
            <a:ext cx="482545"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2520677" y="3888159"/>
            <a:ext cx="482545"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a:off x="4320877" y="5040287"/>
            <a:ext cx="482545"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993853288"/>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xit" presetSubtype="10" fill="hold" grpId="0" nodeType="clickEffect">
                                  <p:stCondLst>
                                    <p:cond delay="0"/>
                                  </p:stCondLst>
                                  <p:childTnLst>
                                    <p:animEffect transition="out" filter="randombar(horizontal)">
                                      <p:cBhvr>
                                        <p:cTn id="6" dur="500"/>
                                        <p:tgtEl>
                                          <p:spTgt spid="3"/>
                                        </p:tgtEl>
                                      </p:cBhvr>
                                    </p:animEffect>
                                    <p:set>
                                      <p:cBhvr>
                                        <p:cTn id="7" dur="1" fill="hold">
                                          <p:stCondLst>
                                            <p:cond delay="499"/>
                                          </p:stCondLst>
                                        </p:cTn>
                                        <p:tgtEl>
                                          <p:spTgt spid="3"/>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4" presetClass="exit" presetSubtype="10" fill="hold" grpId="0" nodeType="clickEffect">
                                  <p:stCondLst>
                                    <p:cond delay="0"/>
                                  </p:stCondLst>
                                  <p:childTnLst>
                                    <p:animEffect transition="out" filter="randombar(horizontal)">
                                      <p:cBhvr>
                                        <p:cTn id="11" dur="500"/>
                                        <p:tgtEl>
                                          <p:spTgt spid="4"/>
                                        </p:tgtEl>
                                      </p:cBhvr>
                                    </p:animEffect>
                                    <p:set>
                                      <p:cBhvr>
                                        <p:cTn id="12" dur="1" fill="hold">
                                          <p:stCondLst>
                                            <p:cond delay="499"/>
                                          </p:stCondLst>
                                        </p:cTn>
                                        <p:tgtEl>
                                          <p:spTgt spid="4"/>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4" presetClass="exit" presetSubtype="10" fill="hold" grpId="0" nodeType="clickEffect">
                                  <p:stCondLst>
                                    <p:cond delay="0"/>
                                  </p:stCondLst>
                                  <p:childTnLst>
                                    <p:animEffect transition="out" filter="randombar(horizontal)">
                                      <p:cBhvr>
                                        <p:cTn id="16" dur="500"/>
                                        <p:tgtEl>
                                          <p:spTgt spid="5"/>
                                        </p:tgtEl>
                                      </p:cBhvr>
                                    </p:animEffect>
                                    <p:set>
                                      <p:cBhvr>
                                        <p:cTn id="17" dur="1" fill="hold">
                                          <p:stCondLst>
                                            <p:cond delay="499"/>
                                          </p:stCondLst>
                                        </p:cTn>
                                        <p:tgtEl>
                                          <p:spTgt spid="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虚尾箭头 1"/>
          <p:cNvSpPr/>
          <p:nvPr/>
        </p:nvSpPr>
        <p:spPr>
          <a:xfrm>
            <a:off x="432445" y="1295871"/>
            <a:ext cx="10657184" cy="3528392"/>
          </a:xfrm>
          <a:prstGeom prst="stripedRightArrow">
            <a:avLst/>
          </a:prstGeom>
        </p:spPr>
        <p:style>
          <a:lnRef idx="1">
            <a:schemeClr val="accent4"/>
          </a:lnRef>
          <a:fillRef idx="2">
            <a:schemeClr val="accent4"/>
          </a:fillRef>
          <a:effectRef idx="1">
            <a:schemeClr val="accent4"/>
          </a:effectRef>
          <a:fontRef idx="minor">
            <a:schemeClr val="dk1"/>
          </a:fontRef>
        </p:style>
        <p:txBody>
          <a:bodyPr rtlCol="0" anchor="ctr"/>
          <a:lstStyle/>
          <a:p>
            <a:r>
              <a:rPr lang="en-US" altLang="zh-CN" sz="6600" dirty="0" smtClean="0">
                <a:solidFill>
                  <a:srgbClr val="0070C0"/>
                </a:solidFill>
                <a:latin typeface="华文新魏" panose="02010800040101010101" pitchFamily="2" charset="-122"/>
                <a:ea typeface="华文新魏" panose="02010800040101010101" pitchFamily="2" charset="-122"/>
              </a:rPr>
              <a:t>  </a:t>
            </a:r>
            <a:r>
              <a:rPr lang="zh-CN" altLang="zh-CN" sz="6600" dirty="0" smtClean="0">
                <a:solidFill>
                  <a:srgbClr val="0070C0"/>
                </a:solidFill>
                <a:latin typeface="华文新魏" panose="02010800040101010101" pitchFamily="2" charset="-122"/>
                <a:ea typeface="华文新魏" panose="02010800040101010101" pitchFamily="2" charset="-122"/>
              </a:rPr>
              <a:t>合作</a:t>
            </a:r>
            <a:r>
              <a:rPr lang="zh-CN" altLang="zh-CN" sz="6600" dirty="0">
                <a:solidFill>
                  <a:srgbClr val="0070C0"/>
                </a:solidFill>
                <a:latin typeface="华文新魏" panose="02010800040101010101" pitchFamily="2" charset="-122"/>
                <a:ea typeface="华文新魏" panose="02010800040101010101" pitchFamily="2" charset="-122"/>
              </a:rPr>
              <a:t>探究</a:t>
            </a:r>
            <a:r>
              <a:rPr lang="en-US" altLang="zh-CN" sz="6600" dirty="0">
                <a:solidFill>
                  <a:srgbClr val="0070C0"/>
                </a:solidFill>
                <a:latin typeface="华文新魏" panose="02010800040101010101" pitchFamily="2" charset="-122"/>
                <a:ea typeface="华文新魏" panose="02010800040101010101" pitchFamily="2" charset="-122"/>
              </a:rPr>
              <a:t>·</a:t>
            </a:r>
            <a:r>
              <a:rPr lang="zh-CN" altLang="zh-CN" sz="6600" dirty="0">
                <a:solidFill>
                  <a:srgbClr val="0070C0"/>
                </a:solidFill>
                <a:latin typeface="华文新魏" panose="02010800040101010101" pitchFamily="2" charset="-122"/>
                <a:ea typeface="华文新魏" panose="02010800040101010101" pitchFamily="2" charset="-122"/>
              </a:rPr>
              <a:t>释疑解惑</a:t>
            </a:r>
          </a:p>
        </p:txBody>
      </p:sp>
    </p:spTree>
    <p:extLst>
      <p:ext uri="{BB962C8B-B14F-4D97-AF65-F5344CB8AC3E}">
        <p14:creationId xmlns:p14="http://schemas.microsoft.com/office/powerpoint/2010/main" val="916960461"/>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5"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decel="50000" fill="hold">
                                          <p:stCondLst>
                                            <p:cond delay="0"/>
                                          </p:stCondLst>
                                        </p:cTn>
                                        <p:tgtEl>
                                          <p:spTgt spid="2"/>
                                        </p:tgtEl>
                                        <p:attrNameLst>
                                          <p:attrName>style.rotation</p:attrName>
                                        </p:attrNameLst>
                                      </p:cBhvr>
                                      <p:tavLst>
                                        <p:tav tm="0">
                                          <p:val>
                                            <p:fltVal val="-90"/>
                                          </p:val>
                                        </p:tav>
                                        <p:tav tm="100000">
                                          <p:val>
                                            <p:fltVal val="0"/>
                                          </p:val>
                                        </p:tav>
                                      </p:tavLst>
                                    </p:anim>
                                    <p:anim calcmode="lin" valueType="num">
                                      <p:cBhvr>
                                        <p:cTn id="8" dur="500" decel="50000" fill="hold">
                                          <p:stCondLst>
                                            <p:cond delay="0"/>
                                          </p:stCondLst>
                                        </p:cTn>
                                        <p:tgtEl>
                                          <p:spTgt spid="2"/>
                                        </p:tgtEl>
                                        <p:attrNameLst>
                                          <p:attrName>ppt_w</p:attrName>
                                        </p:attrNameLst>
                                      </p:cBhvr>
                                      <p:tavLst>
                                        <p:tav tm="0">
                                          <p:val>
                                            <p:strVal val="#ppt_w"/>
                                          </p:val>
                                        </p:tav>
                                        <p:tav tm="100000">
                                          <p:val>
                                            <p:strVal val="#ppt_w*.05"/>
                                          </p:val>
                                        </p:tav>
                                      </p:tavLst>
                                    </p:anim>
                                    <p:anim calcmode="lin" valueType="num">
                                      <p:cBhvr>
                                        <p:cTn id="9" dur="500" accel="50000" fill="hold">
                                          <p:stCondLst>
                                            <p:cond delay="500"/>
                                          </p:stCondLst>
                                        </p:cTn>
                                        <p:tgtEl>
                                          <p:spTgt spid="2"/>
                                        </p:tgtEl>
                                        <p:attrNameLst>
                                          <p:attrName>ppt_w</p:attrName>
                                        </p:attrNameLst>
                                      </p:cBhvr>
                                      <p:tavLst>
                                        <p:tav tm="0">
                                          <p:val>
                                            <p:strVal val="#ppt_w*.05"/>
                                          </p:val>
                                        </p:tav>
                                        <p:tav tm="100000">
                                          <p:val>
                                            <p:strVal val="#ppt_w"/>
                                          </p:val>
                                        </p:tav>
                                      </p:tavLst>
                                    </p:anim>
                                    <p:anim calcmode="lin" valueType="num">
                                      <p:cBhvr>
                                        <p:cTn id="10" dur="1000" fill="hold"/>
                                        <p:tgtEl>
                                          <p:spTgt spid="2"/>
                                        </p:tgtEl>
                                        <p:attrNameLst>
                                          <p:attrName>ppt_h</p:attrName>
                                        </p:attrNameLst>
                                      </p:cBhvr>
                                      <p:tavLst>
                                        <p:tav tm="0">
                                          <p:val>
                                            <p:strVal val="#ppt_h"/>
                                          </p:val>
                                        </p:tav>
                                        <p:tav tm="100000">
                                          <p:val>
                                            <p:strVal val="#ppt_h"/>
                                          </p:val>
                                        </p:tav>
                                      </p:tavLst>
                                    </p:anim>
                                    <p:anim calcmode="lin" valueType="num">
                                      <p:cBhvr>
                                        <p:cTn id="11" dur="500" decel="50000" fill="hold">
                                          <p:stCondLst>
                                            <p:cond delay="0"/>
                                          </p:stCondLst>
                                        </p:cTn>
                                        <p:tgtEl>
                                          <p:spTgt spid="2"/>
                                        </p:tgtEl>
                                        <p:attrNameLst>
                                          <p:attrName>ppt_x</p:attrName>
                                        </p:attrNameLst>
                                      </p:cBhvr>
                                      <p:tavLst>
                                        <p:tav tm="0">
                                          <p:val>
                                            <p:strVal val="#ppt_x+.4"/>
                                          </p:val>
                                        </p:tav>
                                        <p:tav tm="100000">
                                          <p:val>
                                            <p:strVal val="#ppt_x"/>
                                          </p:val>
                                        </p:tav>
                                      </p:tavLst>
                                    </p:anim>
                                    <p:anim calcmode="lin" valueType="num">
                                      <p:cBhvr>
                                        <p:cTn id="12" dur="500" decel="50000" fill="hold">
                                          <p:stCondLst>
                                            <p:cond delay="0"/>
                                          </p:stCondLst>
                                        </p:cTn>
                                        <p:tgtEl>
                                          <p:spTgt spid="2"/>
                                        </p:tgtEl>
                                        <p:attrNameLst>
                                          <p:attrName>ppt_y</p:attrName>
                                        </p:attrNameLst>
                                      </p:cBhvr>
                                      <p:tavLst>
                                        <p:tav tm="0">
                                          <p:val>
                                            <p:strVal val="#ppt_y-.2"/>
                                          </p:val>
                                        </p:tav>
                                        <p:tav tm="100000">
                                          <p:val>
                                            <p:strVal val="#ppt_y+.1"/>
                                          </p:val>
                                        </p:tav>
                                      </p:tavLst>
                                    </p:anim>
                                    <p:anim calcmode="lin" valueType="num">
                                      <p:cBhvr>
                                        <p:cTn id="13" dur="500" accel="50000" fill="hold">
                                          <p:stCondLst>
                                            <p:cond delay="500"/>
                                          </p:stCondLst>
                                        </p:cTn>
                                        <p:tgtEl>
                                          <p:spTgt spid="2"/>
                                        </p:tgtEl>
                                        <p:attrNameLst>
                                          <p:attrName>ppt_y</p:attrName>
                                        </p:attrNameLst>
                                      </p:cBhvr>
                                      <p:tavLst>
                                        <p:tav tm="0">
                                          <p:val>
                                            <p:strVal val="#ppt_y+.1"/>
                                          </p:val>
                                        </p:tav>
                                        <p:tav tm="100000">
                                          <p:val>
                                            <p:strVal val="#ppt_y"/>
                                          </p:val>
                                        </p:tav>
                                      </p:tavLst>
                                    </p:anim>
                                    <p:animEffect transition="in" filter="fade">
                                      <p:cBhvr>
                                        <p:cTn id="14" dur="1000" decel="50000">
                                          <p:stCondLst>
                                            <p:cond delay="0"/>
                                          </p:stCondLst>
                                        </p:cTn>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燕尾形 2"/>
          <p:cNvSpPr/>
          <p:nvPr/>
        </p:nvSpPr>
        <p:spPr>
          <a:xfrm>
            <a:off x="1239655" y="719807"/>
            <a:ext cx="8625838" cy="576064"/>
          </a:xfrm>
          <a:prstGeom prst="chevron">
            <a:avLst/>
          </a:prstGeom>
        </p:spPr>
        <p:style>
          <a:lnRef idx="1">
            <a:schemeClr val="dk1"/>
          </a:lnRef>
          <a:fillRef idx="2">
            <a:schemeClr val="dk1"/>
          </a:fillRef>
          <a:effectRef idx="1">
            <a:schemeClr val="dk1"/>
          </a:effectRef>
          <a:fontRef idx="minor">
            <a:schemeClr val="dk1"/>
          </a:fontRef>
        </p:style>
        <p:txBody>
          <a:bodyPr rtlCol="0" anchor="ctr"/>
          <a:lstStyle/>
          <a:p>
            <a:pPr algn="ctr"/>
            <a:r>
              <a:rPr lang="zh-CN" altLang="zh-CN" dirty="0"/>
              <a:t>探究</a:t>
            </a:r>
            <a:r>
              <a:rPr lang="zh-CN" altLang="zh-CN" dirty="0" smtClean="0"/>
              <a:t>一</a:t>
            </a:r>
            <a:r>
              <a:rPr lang="en-US" altLang="zh-CN" dirty="0" smtClean="0"/>
              <a:t>  </a:t>
            </a:r>
            <a:r>
              <a:rPr lang="zh-CN" altLang="zh-CN" dirty="0" smtClean="0"/>
              <a:t>一次函数</a:t>
            </a:r>
            <a:r>
              <a:rPr lang="zh-CN" altLang="zh-CN" dirty="0"/>
              <a:t>模型的应用</a:t>
            </a:r>
          </a:p>
        </p:txBody>
      </p:sp>
      <p:grpSp>
        <p:nvGrpSpPr>
          <p:cNvPr id="5" name="组合 4"/>
          <p:cNvGrpSpPr/>
          <p:nvPr/>
        </p:nvGrpSpPr>
        <p:grpSpPr>
          <a:xfrm>
            <a:off x="361950" y="1444642"/>
            <a:ext cx="10871695" cy="4819781"/>
            <a:chOff x="361950" y="1444642"/>
            <a:chExt cx="10871695" cy="4819781"/>
          </a:xfrm>
        </p:grpSpPr>
        <p:sp>
          <p:nvSpPr>
            <p:cNvPr id="2" name="矩形 1"/>
            <p:cNvSpPr>
              <a:spLocks noChangeAspect="1"/>
            </p:cNvSpPr>
            <p:nvPr/>
          </p:nvSpPr>
          <p:spPr>
            <a:xfrm>
              <a:off x="361950" y="1444642"/>
              <a:ext cx="6335191" cy="4819781"/>
            </a:xfrm>
            <a:prstGeom prst="rect">
              <a:avLst/>
            </a:prstGeom>
          </p:spPr>
          <p:txBody>
            <a:bodyPr wrap="square">
              <a:spAutoFit/>
            </a:bodyPr>
            <a:lstStyle/>
            <a:p>
              <a:pPr>
                <a:lnSpc>
                  <a:spcPct val="120000"/>
                </a:lnSpc>
              </a:pPr>
              <a:r>
                <a:rPr lang="zh-CN" altLang="zh-CN" dirty="0">
                  <a:solidFill>
                    <a:srgbClr val="000000"/>
                  </a:solidFill>
                  <a:latin typeface="Arial" panose="020B0604020202020204" pitchFamily="34" charset="0"/>
                  <a:cs typeface="Times New Roman" panose="02020603050405020304" pitchFamily="18" charset="0"/>
                </a:rPr>
                <a:t>【例</a:t>
              </a:r>
              <a:r>
                <a:rPr lang="en-US" altLang="zh-CN" dirty="0">
                  <a:solidFill>
                    <a:srgbClr val="000000"/>
                  </a:solidFill>
                  <a:ea typeface="宋体" panose="02010600030101010101" pitchFamily="2" charset="-122"/>
                </a:rPr>
                <a:t>1</a:t>
              </a:r>
              <a:r>
                <a:rPr lang="zh-CN" altLang="zh-CN" dirty="0">
                  <a:solidFill>
                    <a:srgbClr val="000000"/>
                  </a:solidFill>
                  <a:latin typeface="Arial" panose="020B0604020202020204" pitchFamily="34" charset="0"/>
                  <a:cs typeface="Times New Roman" panose="02020603050405020304" pitchFamily="18" charset="0"/>
                </a:rPr>
                <a:t>】</a:t>
              </a:r>
              <a:r>
                <a:rPr lang="zh-CN" altLang="zh-CN" dirty="0">
                  <a:solidFill>
                    <a:srgbClr val="000000"/>
                  </a:solidFill>
                  <a:ea typeface="Arial" panose="020B0604020202020204" pitchFamily="34" charset="0"/>
                  <a:cs typeface="Times New Roman" panose="02020603050405020304" pitchFamily="18" charset="0"/>
                </a:rPr>
                <a:t> </a:t>
              </a:r>
              <a:r>
                <a:rPr lang="zh-CN" altLang="zh-CN" dirty="0">
                  <a:solidFill>
                    <a:srgbClr val="000000"/>
                  </a:solidFill>
                  <a:ea typeface="宋体" panose="02010600030101010101" pitchFamily="2" charset="-122"/>
                  <a:cs typeface="Times New Roman" panose="02020603050405020304" pitchFamily="18" charset="0"/>
                </a:rPr>
                <a:t>某音乐会预算票价为每张</a:t>
              </a:r>
              <a:r>
                <a:rPr lang="en-US" altLang="zh-CN" dirty="0">
                  <a:solidFill>
                    <a:srgbClr val="000000"/>
                  </a:solidFill>
                  <a:ea typeface="宋体" panose="02010600030101010101" pitchFamily="2" charset="-122"/>
                </a:rPr>
                <a:t>100</a:t>
              </a:r>
              <a:r>
                <a:rPr lang="zh-CN" altLang="zh-CN" dirty="0">
                  <a:solidFill>
                    <a:srgbClr val="000000"/>
                  </a:solidFill>
                  <a:ea typeface="宋体" panose="02010600030101010101" pitchFamily="2" charset="-122"/>
                  <a:cs typeface="Times New Roman" panose="02020603050405020304" pitchFamily="18" charset="0"/>
                </a:rPr>
                <a:t>元</a:t>
              </a:r>
              <a:r>
                <a:rPr lang="en-US" altLang="zh-CN"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容纳</a:t>
              </a:r>
              <a:r>
                <a:rPr lang="zh-CN" altLang="zh-CN" dirty="0" smtClean="0">
                  <a:solidFill>
                    <a:srgbClr val="000000"/>
                  </a:solidFill>
                  <a:ea typeface="宋体" panose="02010600030101010101" pitchFamily="2" charset="-122"/>
                  <a:cs typeface="Times New Roman" panose="02020603050405020304" pitchFamily="18" charset="0"/>
                </a:rPr>
                <a:t>观众不</a:t>
              </a:r>
              <a:r>
                <a:rPr lang="zh-CN" altLang="zh-CN" dirty="0">
                  <a:solidFill>
                    <a:srgbClr val="000000"/>
                  </a:solidFill>
                  <a:ea typeface="宋体" panose="02010600030101010101" pitchFamily="2" charset="-122"/>
                  <a:cs typeface="Times New Roman" panose="02020603050405020304" pitchFamily="18" charset="0"/>
                </a:rPr>
                <a:t>超过</a:t>
              </a:r>
              <a:r>
                <a:rPr lang="en-US" altLang="zh-CN" dirty="0">
                  <a:solidFill>
                    <a:srgbClr val="000000"/>
                  </a:solidFill>
                  <a:ea typeface="宋体" panose="02010600030101010101" pitchFamily="2" charset="-122"/>
                </a:rPr>
                <a:t>2 000</a:t>
              </a:r>
              <a:r>
                <a:rPr lang="zh-CN" altLang="zh-CN" dirty="0">
                  <a:solidFill>
                    <a:srgbClr val="000000"/>
                  </a:solidFill>
                  <a:ea typeface="宋体" panose="02010600030101010101" pitchFamily="2" charset="-122"/>
                  <a:cs typeface="Times New Roman" panose="02020603050405020304" pitchFamily="18" charset="0"/>
                </a:rPr>
                <a:t>人</a:t>
              </a:r>
              <a:r>
                <a:rPr lang="en-US" altLang="zh-CN"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毛利润</a:t>
              </a:r>
              <a:r>
                <a:rPr lang="en-US" altLang="zh-CN" i="1" dirty="0">
                  <a:solidFill>
                    <a:srgbClr val="000000"/>
                  </a:solidFill>
                  <a:ea typeface="宋体" panose="02010600030101010101" pitchFamily="2" charset="-122"/>
                </a:rPr>
                <a:t>y</a:t>
              </a:r>
              <a:r>
                <a:rPr lang="en-US" altLang="zh-CN"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单位</a:t>
              </a:r>
              <a:r>
                <a:rPr lang="en-US" altLang="zh-CN"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百元</a:t>
              </a:r>
              <a:r>
                <a:rPr lang="en-US" altLang="zh-CN"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关于观众人数</a:t>
              </a:r>
              <a:r>
                <a:rPr lang="en-US" altLang="zh-CN" i="1" dirty="0">
                  <a:solidFill>
                    <a:srgbClr val="000000"/>
                  </a:solidFill>
                  <a:ea typeface="宋体" panose="02010600030101010101" pitchFamily="2" charset="-122"/>
                </a:rPr>
                <a:t>x</a:t>
              </a:r>
              <a:r>
                <a:rPr lang="en-US" altLang="zh-CN"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单位</a:t>
              </a:r>
              <a:r>
                <a:rPr lang="en-US" altLang="zh-CN"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百人</a:t>
              </a:r>
              <a:r>
                <a:rPr lang="en-US" altLang="zh-CN"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之间的函数图象如下图所示</a:t>
              </a:r>
              <a:r>
                <a:rPr lang="en-US" altLang="zh-CN"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当</a:t>
              </a:r>
              <a:r>
                <a:rPr lang="zh-CN" altLang="zh-CN" dirty="0" smtClean="0">
                  <a:solidFill>
                    <a:srgbClr val="000000"/>
                  </a:solidFill>
                  <a:ea typeface="宋体" panose="02010600030101010101" pitchFamily="2" charset="-122"/>
                  <a:cs typeface="Times New Roman" panose="02020603050405020304" pitchFamily="18" charset="0"/>
                </a:rPr>
                <a:t>观众超过</a:t>
              </a:r>
              <a:r>
                <a:rPr lang="en-US" altLang="zh-CN" dirty="0">
                  <a:solidFill>
                    <a:srgbClr val="000000"/>
                  </a:solidFill>
                  <a:ea typeface="宋体" panose="02010600030101010101" pitchFamily="2" charset="-122"/>
                </a:rPr>
                <a:t>1 000</a:t>
              </a:r>
              <a:r>
                <a:rPr lang="zh-CN" altLang="zh-CN" dirty="0">
                  <a:solidFill>
                    <a:srgbClr val="000000"/>
                  </a:solidFill>
                  <a:ea typeface="宋体" panose="02010600030101010101" pitchFamily="2" charset="-122"/>
                  <a:cs typeface="Times New Roman" panose="02020603050405020304" pitchFamily="18" charset="0"/>
                </a:rPr>
                <a:t>人时</a:t>
              </a:r>
              <a:r>
                <a:rPr lang="en-US" altLang="zh-CN"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音乐会组织者需向保险公司缴纳定额保险费</a:t>
              </a:r>
              <a:r>
                <a:rPr lang="en-US" altLang="zh-CN" dirty="0">
                  <a:solidFill>
                    <a:srgbClr val="000000"/>
                  </a:solidFill>
                  <a:ea typeface="宋体" panose="02010600030101010101" pitchFamily="2" charset="-122"/>
                </a:rPr>
                <a:t>5 000</a:t>
              </a:r>
              <a:r>
                <a:rPr lang="zh-CN" altLang="zh-CN" dirty="0">
                  <a:solidFill>
                    <a:srgbClr val="000000"/>
                  </a:solidFill>
                  <a:ea typeface="宋体" panose="02010600030101010101" pitchFamily="2" charset="-122"/>
                  <a:cs typeface="Times New Roman" panose="02020603050405020304" pitchFamily="18" charset="0"/>
                </a:rPr>
                <a:t>元</a:t>
              </a:r>
              <a:r>
                <a:rPr lang="en-US" altLang="zh-CN"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不列入成本费用</a:t>
              </a:r>
              <a:r>
                <a:rPr lang="en-US" altLang="zh-CN" dirty="0">
                  <a:solidFill>
                    <a:srgbClr val="000000"/>
                  </a:solidFill>
                  <a:ea typeface="宋体" panose="02010600030101010101" pitchFamily="2" charset="-122"/>
                </a:rPr>
                <a:t>)</a:t>
              </a:r>
              <a:r>
                <a:rPr lang="en-US" altLang="zh-CN" i="1"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请解答下列问题</a:t>
              </a:r>
              <a:r>
                <a:rPr lang="en-US" altLang="zh-CN" dirty="0">
                  <a:solidFill>
                    <a:srgbClr val="000000"/>
                  </a:solidFill>
                  <a:ea typeface="宋体" panose="02010600030101010101" pitchFamily="2" charset="-122"/>
                </a:rPr>
                <a:t>:</a:t>
              </a:r>
              <a:endParaRPr lang="zh-CN" altLang="en-US" dirty="0"/>
            </a:p>
          </p:txBody>
        </p:sp>
        <p:pic>
          <p:nvPicPr>
            <p:cNvPr id="4" name="NMG1TRA74.eps" descr="id:2147496009;FounderCES"/>
            <p:cNvPicPr/>
            <p:nvPr/>
          </p:nvPicPr>
          <p:blipFill>
            <a:blip r:embed="rId2"/>
            <a:stretch>
              <a:fillRect/>
            </a:stretch>
          </p:blipFill>
          <p:spPr>
            <a:xfrm>
              <a:off x="6841157" y="1943943"/>
              <a:ext cx="4392488" cy="3861729"/>
            </a:xfrm>
            <a:prstGeom prst="rect">
              <a:avLst/>
            </a:prstGeom>
          </p:spPr>
        </p:pic>
      </p:grpSp>
    </p:spTree>
    <p:extLst>
      <p:ext uri="{BB962C8B-B14F-4D97-AF65-F5344CB8AC3E}">
        <p14:creationId xmlns:p14="http://schemas.microsoft.com/office/powerpoint/2010/main" val="2026412995"/>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a:spLocks noChangeAspect="1"/>
          </p:cNvSpPr>
          <p:nvPr/>
        </p:nvSpPr>
        <p:spPr>
          <a:xfrm>
            <a:off x="361950" y="863823"/>
            <a:ext cx="10807700" cy="4780861"/>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求当</a:t>
            </a:r>
            <a:r>
              <a:rPr lang="zh-CN" altLang="zh-CN" dirty="0" smtClean="0">
                <a:solidFill>
                  <a:srgbClr val="000000"/>
                </a:solidFill>
                <a:ea typeface="宋体" panose="02010600030101010101" pitchFamily="2" charset="-122"/>
                <a:cs typeface="Times New Roman" panose="02020603050405020304" pitchFamily="18" charset="0"/>
              </a:rPr>
              <a:t>观众不</a:t>
            </a:r>
            <a:r>
              <a:rPr lang="zh-CN" altLang="zh-CN" dirty="0">
                <a:solidFill>
                  <a:srgbClr val="000000"/>
                </a:solidFill>
                <a:ea typeface="宋体" panose="02010600030101010101" pitchFamily="2" charset="-122"/>
                <a:cs typeface="Times New Roman" panose="02020603050405020304" pitchFamily="18" charset="0"/>
              </a:rPr>
              <a:t>超过</a:t>
            </a:r>
            <a:r>
              <a:rPr lang="en-US" altLang="zh-CN" dirty="0">
                <a:solidFill>
                  <a:srgbClr val="000000"/>
                </a:solidFill>
                <a:ea typeface="宋体" panose="02010600030101010101" pitchFamily="2" charset="-122"/>
                <a:cs typeface="Times New Roman" panose="02020603050405020304" pitchFamily="18" charset="0"/>
              </a:rPr>
              <a:t>1 000</a:t>
            </a:r>
            <a:r>
              <a:rPr lang="zh-CN" altLang="zh-CN" dirty="0">
                <a:solidFill>
                  <a:srgbClr val="000000"/>
                </a:solidFill>
                <a:ea typeface="宋体" panose="02010600030101010101" pitchFamily="2" charset="-122"/>
                <a:cs typeface="Times New Roman" panose="02020603050405020304" pitchFamily="18" charset="0"/>
              </a:rPr>
              <a:t>人时</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毛利润</a:t>
            </a:r>
            <a:r>
              <a:rPr lang="en-US" altLang="zh-CN" i="1" dirty="0">
                <a:solidFill>
                  <a:srgbClr val="000000"/>
                </a:solidFill>
                <a:ea typeface="宋体" panose="02010600030101010101" pitchFamily="2" charset="-122"/>
                <a:cs typeface="Times New Roman" panose="02020603050405020304" pitchFamily="18" charset="0"/>
              </a:rPr>
              <a:t>y</a:t>
            </a:r>
            <a:r>
              <a:rPr lang="zh-CN" altLang="zh-CN" dirty="0">
                <a:solidFill>
                  <a:srgbClr val="000000"/>
                </a:solidFill>
                <a:ea typeface="宋体" panose="02010600030101010101" pitchFamily="2" charset="-122"/>
                <a:cs typeface="Times New Roman" panose="02020603050405020304" pitchFamily="18" charset="0"/>
              </a:rPr>
              <a:t>关于观众人数</a:t>
            </a:r>
            <a:r>
              <a:rPr lang="en-US" altLang="zh-CN" i="1" dirty="0">
                <a:solidFill>
                  <a:srgbClr val="000000"/>
                </a:solidFill>
                <a:ea typeface="宋体" panose="02010600030101010101" pitchFamily="2" charset="-122"/>
                <a:cs typeface="Times New Roman" panose="02020603050405020304" pitchFamily="18" charset="0"/>
              </a:rPr>
              <a:t>x</a:t>
            </a:r>
            <a:r>
              <a:rPr lang="zh-CN" altLang="zh-CN" dirty="0">
                <a:solidFill>
                  <a:srgbClr val="000000"/>
                </a:solidFill>
                <a:ea typeface="宋体" panose="02010600030101010101" pitchFamily="2" charset="-122"/>
                <a:cs typeface="Times New Roman" panose="02020603050405020304" pitchFamily="18" charset="0"/>
              </a:rPr>
              <a:t>的函数解析式和成本费用</a:t>
            </a:r>
            <a:r>
              <a:rPr lang="en-US" altLang="zh-CN" i="1" dirty="0">
                <a:solidFill>
                  <a:srgbClr val="000000"/>
                </a:solidFill>
                <a:ea typeface="宋体" panose="02010600030101010101" pitchFamily="2" charset="-122"/>
                <a:cs typeface="Times New Roman" panose="02020603050405020304" pitchFamily="18" charset="0"/>
              </a:rPr>
              <a:t>S</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单位</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百元</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关于观众人数</a:t>
            </a:r>
            <a:r>
              <a:rPr lang="en-US" altLang="zh-CN" i="1" dirty="0">
                <a:solidFill>
                  <a:srgbClr val="000000"/>
                </a:solidFill>
                <a:ea typeface="宋体" panose="02010600030101010101" pitchFamily="2" charset="-122"/>
                <a:cs typeface="Times New Roman" panose="02020603050405020304" pitchFamily="18" charset="0"/>
              </a:rPr>
              <a:t>x</a:t>
            </a:r>
            <a:r>
              <a:rPr lang="zh-CN" altLang="zh-CN" dirty="0">
                <a:solidFill>
                  <a:srgbClr val="000000"/>
                </a:solidFill>
                <a:ea typeface="宋体" panose="02010600030101010101" pitchFamily="2" charset="-122"/>
                <a:cs typeface="Times New Roman" panose="02020603050405020304" pitchFamily="18" charset="0"/>
              </a:rPr>
              <a:t>的函数解析式</a:t>
            </a:r>
            <a:r>
              <a:rPr lang="en-US" altLang="zh-CN" dirty="0" smtClean="0">
                <a:solidFill>
                  <a:srgbClr val="000000"/>
                </a:solidFill>
                <a:ea typeface="宋体" panose="02010600030101010101" pitchFamily="2" charset="-122"/>
                <a:cs typeface="Times New Roman" panose="02020603050405020304" pitchFamily="18" charset="0"/>
              </a:rPr>
              <a:t>;</a:t>
            </a:r>
            <a:endParaRPr lang="en-US"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smtClean="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宋体" panose="02010600030101010101" pitchFamily="2" charset="-122"/>
                <a:cs typeface="Times New Roman" panose="02020603050405020304" pitchFamily="18" charset="0"/>
              </a:rPr>
              <a:t>若要使这次音乐会获得</a:t>
            </a:r>
            <a:r>
              <a:rPr lang="en-US" altLang="zh-CN" dirty="0">
                <a:solidFill>
                  <a:srgbClr val="000000"/>
                </a:solidFill>
                <a:ea typeface="宋体" panose="02010600030101010101" pitchFamily="2" charset="-122"/>
                <a:cs typeface="Times New Roman" panose="02020603050405020304" pitchFamily="18" charset="0"/>
              </a:rPr>
              <a:t>36 000</a:t>
            </a:r>
            <a:r>
              <a:rPr lang="zh-CN" altLang="zh-CN" dirty="0">
                <a:solidFill>
                  <a:srgbClr val="000000"/>
                </a:solidFill>
                <a:ea typeface="宋体" panose="02010600030101010101" pitchFamily="2" charset="-122"/>
                <a:cs typeface="Times New Roman" panose="02020603050405020304" pitchFamily="18" charset="0"/>
              </a:rPr>
              <a:t>元的毛利润</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则需售出多少张门票</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需付成本费多少元</a:t>
            </a:r>
            <a:r>
              <a:rPr lang="en-US" altLang="zh-CN" dirty="0" smtClean="0">
                <a:solidFill>
                  <a:srgbClr val="000000"/>
                </a:solidFill>
                <a:ea typeface="宋体" panose="02010600030101010101" pitchFamily="2" charset="-122"/>
                <a:cs typeface="Times New Roman" panose="02020603050405020304" pitchFamily="18" charset="0"/>
              </a:rPr>
              <a:t>?</a:t>
            </a:r>
            <a:endParaRPr lang="en-US" altLang="zh-CN" dirty="0" smtClean="0">
              <a:solidFill>
                <a:srgbClr val="000000"/>
              </a:solidFill>
              <a:latin typeface="NEU-BZ-S92" panose="02020503000000020003" pitchFamily="18" charset="-122"/>
              <a:ea typeface="NEU-BZ-S92" panose="02020503000000020003" pitchFamily="18"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smtClean="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注</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当</a:t>
            </a:r>
            <a:r>
              <a:rPr lang="zh-CN" altLang="zh-CN" dirty="0" smtClean="0">
                <a:solidFill>
                  <a:srgbClr val="000000"/>
                </a:solidFill>
                <a:ea typeface="宋体" panose="02010600030101010101" pitchFamily="2" charset="-122"/>
                <a:cs typeface="Times New Roman" panose="02020603050405020304" pitchFamily="18" charset="0"/>
              </a:rPr>
              <a:t>观众不</a:t>
            </a:r>
            <a:r>
              <a:rPr lang="zh-CN" altLang="zh-CN" dirty="0">
                <a:solidFill>
                  <a:srgbClr val="000000"/>
                </a:solidFill>
                <a:ea typeface="宋体" panose="02010600030101010101" pitchFamily="2" charset="-122"/>
                <a:cs typeface="Times New Roman" panose="02020603050405020304" pitchFamily="18" charset="0"/>
              </a:rPr>
              <a:t>超过</a:t>
            </a:r>
            <a:r>
              <a:rPr lang="en-US" altLang="zh-CN" dirty="0">
                <a:solidFill>
                  <a:srgbClr val="000000"/>
                </a:solidFill>
                <a:ea typeface="宋体" panose="02010600030101010101" pitchFamily="2" charset="-122"/>
                <a:cs typeface="Times New Roman" panose="02020603050405020304" pitchFamily="18" charset="0"/>
              </a:rPr>
              <a:t>1 000</a:t>
            </a:r>
            <a:r>
              <a:rPr lang="zh-CN" altLang="zh-CN" dirty="0">
                <a:solidFill>
                  <a:srgbClr val="000000"/>
                </a:solidFill>
                <a:ea typeface="宋体" panose="02010600030101010101" pitchFamily="2" charset="-122"/>
                <a:cs typeface="Times New Roman" panose="02020603050405020304" pitchFamily="18" charset="0"/>
              </a:rPr>
              <a:t>人时</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音乐会的毛利润</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门票收入</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成本费用</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当</a:t>
            </a:r>
            <a:r>
              <a:rPr lang="zh-CN" altLang="zh-CN" dirty="0" smtClean="0">
                <a:solidFill>
                  <a:srgbClr val="000000"/>
                </a:solidFill>
                <a:ea typeface="宋体" panose="02010600030101010101" pitchFamily="2" charset="-122"/>
                <a:cs typeface="Times New Roman" panose="02020603050405020304" pitchFamily="18" charset="0"/>
              </a:rPr>
              <a:t>观众超过</a:t>
            </a:r>
            <a:r>
              <a:rPr lang="en-US" altLang="zh-CN" dirty="0">
                <a:solidFill>
                  <a:srgbClr val="000000"/>
                </a:solidFill>
                <a:ea typeface="宋体" panose="02010600030101010101" pitchFamily="2" charset="-122"/>
                <a:cs typeface="Times New Roman" panose="02020603050405020304" pitchFamily="18" charset="0"/>
              </a:rPr>
              <a:t>1 000</a:t>
            </a:r>
            <a:r>
              <a:rPr lang="zh-CN" altLang="zh-CN" dirty="0">
                <a:solidFill>
                  <a:srgbClr val="000000"/>
                </a:solidFill>
                <a:ea typeface="宋体" panose="02010600030101010101" pitchFamily="2" charset="-122"/>
                <a:cs typeface="Times New Roman" panose="02020603050405020304" pitchFamily="18" charset="0"/>
              </a:rPr>
              <a:t>人时</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音乐会的毛利润</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门票收入</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成本费用</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保险费</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panose="02020503000000020003" pitchFamily="18" charset="-122"/>
              <a:ea typeface="NEU-BZ-S92" panose="02020503000000020003" pitchFamily="18" charset="-122"/>
              <a:cs typeface="Times New Roman" panose="02020603050405020304" pitchFamily="18" charset="0"/>
            </a:endParaRPr>
          </a:p>
        </p:txBody>
      </p:sp>
    </p:spTree>
    <p:extLst>
      <p:ext uri="{BB962C8B-B14F-4D97-AF65-F5344CB8AC3E}">
        <p14:creationId xmlns:p14="http://schemas.microsoft.com/office/powerpoint/2010/main" val="3482655073"/>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a:spLocks noChangeAspect="1"/>
          </p:cNvSpPr>
          <p:nvPr/>
        </p:nvSpPr>
        <p:spPr>
          <a:xfrm>
            <a:off x="361950" y="1017629"/>
            <a:ext cx="10807700" cy="4228850"/>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解</a:t>
            </a:r>
            <a:r>
              <a:rPr lang="en-US" altLang="zh-CN" dirty="0">
                <a:latin typeface="Arial" panose="020B0604020202020204" pitchFamily="34" charset="0"/>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楷体" panose="02010609060101010101" pitchFamily="49" charset="-122"/>
                <a:cs typeface="Times New Roman" panose="02020603050405020304" pitchFamily="18" charset="0"/>
              </a:rPr>
              <a:t>当</a:t>
            </a:r>
            <a:r>
              <a:rPr lang="en-US" altLang="zh-CN" dirty="0">
                <a:solidFill>
                  <a:srgbClr val="000000"/>
                </a:solidFill>
                <a:ea typeface="宋体" panose="02010600030101010101" pitchFamily="2" charset="-122"/>
                <a:cs typeface="Times New Roman" panose="02020603050405020304" pitchFamily="18" charset="0"/>
              </a:rPr>
              <a:t>0</a:t>
            </a:r>
            <a:r>
              <a:rPr lang="en-US" altLang="zh-CN"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10</a:t>
            </a:r>
            <a:r>
              <a:rPr lang="zh-CN" altLang="zh-CN" dirty="0">
                <a:solidFill>
                  <a:srgbClr val="000000"/>
                </a:solidFill>
                <a:ea typeface="楷体" panose="02010609060101010101" pitchFamily="49" charset="-122"/>
                <a:cs typeface="Times New Roman" panose="02020603050405020304" pitchFamily="18" charset="0"/>
              </a:rPr>
              <a:t>时</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solidFill>
                  <a:srgbClr val="000000"/>
                </a:solidFill>
                <a:ea typeface="楷体" panose="02010609060101010101" pitchFamily="49" charset="-122"/>
                <a:cs typeface="Times New Roman" panose="02020603050405020304" pitchFamily="18" charset="0"/>
              </a:rPr>
              <a:t>设</a:t>
            </a:r>
            <a:r>
              <a:rPr lang="en-US" altLang="zh-CN" i="1" dirty="0">
                <a:solidFill>
                  <a:srgbClr val="000000"/>
                </a:solidFill>
                <a:ea typeface="宋体" panose="02010600030101010101" pitchFamily="2" charset="-122"/>
                <a:cs typeface="Times New Roman" panose="02020603050405020304" pitchFamily="18" charset="0"/>
              </a:rPr>
              <a:t>y</a:t>
            </a:r>
            <a:r>
              <a:rPr lang="zh-CN" altLang="zh-CN" dirty="0">
                <a:solidFill>
                  <a:srgbClr val="000000"/>
                </a:solidFill>
                <a:ea typeface="楷体" panose="02010609060101010101" pitchFamily="49" charset="-122"/>
                <a:cs typeface="Times New Roman" panose="02020603050405020304" pitchFamily="18" charset="0"/>
              </a:rPr>
              <a:t>关于</a:t>
            </a:r>
            <a:r>
              <a:rPr lang="en-US" altLang="zh-CN" i="1" dirty="0">
                <a:solidFill>
                  <a:srgbClr val="000000"/>
                </a:solidFill>
                <a:ea typeface="宋体" panose="02010600030101010101" pitchFamily="2" charset="-122"/>
                <a:cs typeface="Times New Roman" panose="02020603050405020304" pitchFamily="18" charset="0"/>
              </a:rPr>
              <a:t>x</a:t>
            </a:r>
            <a:r>
              <a:rPr lang="zh-CN" altLang="zh-CN" dirty="0">
                <a:solidFill>
                  <a:srgbClr val="000000"/>
                </a:solidFill>
                <a:ea typeface="楷体" panose="02010609060101010101" pitchFamily="49" charset="-122"/>
                <a:cs typeface="Times New Roman" panose="02020603050405020304" pitchFamily="18" charset="0"/>
              </a:rPr>
              <a:t>的函数解析式为</a:t>
            </a:r>
            <a:r>
              <a:rPr lang="en-US" altLang="zh-CN" i="1" dirty="0">
                <a:solidFill>
                  <a:srgbClr val="000000"/>
                </a:solidFill>
                <a:ea typeface="宋体" panose="02010600030101010101" pitchFamily="2" charset="-122"/>
                <a:cs typeface="Times New Roman" panose="02020603050405020304" pitchFamily="18" charset="0"/>
              </a:rPr>
              <a:t>y=kx-</a:t>
            </a:r>
            <a:r>
              <a:rPr lang="en-US" altLang="zh-CN" dirty="0">
                <a:solidFill>
                  <a:srgbClr val="000000"/>
                </a:solidFill>
                <a:ea typeface="宋体" panose="02010600030101010101" pitchFamily="2" charset="-122"/>
                <a:cs typeface="Times New Roman" panose="02020603050405020304" pitchFamily="18" charset="0"/>
              </a:rPr>
              <a:t>100</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solidFill>
                  <a:srgbClr val="000000"/>
                </a:solidFill>
                <a:ea typeface="楷体" panose="02010609060101010101" pitchFamily="49" charset="-122"/>
                <a:cs typeface="Times New Roman" panose="02020603050405020304" pitchFamily="18" charset="0"/>
              </a:rPr>
              <a:t>由</a:t>
            </a:r>
            <a:r>
              <a:rPr lang="en-US" altLang="zh-CN" dirty="0">
                <a:solidFill>
                  <a:srgbClr val="000000"/>
                </a:solidFill>
                <a:ea typeface="宋体" panose="02010600030101010101" pitchFamily="2" charset="-122"/>
                <a:cs typeface="Times New Roman" panose="02020603050405020304" pitchFamily="18" charset="0"/>
              </a:rPr>
              <a:t>400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10</a:t>
            </a:r>
            <a:r>
              <a:rPr lang="en-US" altLang="zh-CN" i="1" dirty="0">
                <a:solidFill>
                  <a:srgbClr val="000000"/>
                </a:solidFill>
                <a:ea typeface="宋体" panose="02010600030101010101" pitchFamily="2" charset="-122"/>
                <a:cs typeface="Times New Roman" panose="02020603050405020304" pitchFamily="18" charset="0"/>
              </a:rPr>
              <a:t>k-</a:t>
            </a:r>
            <a:r>
              <a:rPr lang="en-US" altLang="zh-CN" dirty="0">
                <a:solidFill>
                  <a:srgbClr val="000000"/>
                </a:solidFill>
                <a:ea typeface="宋体" panose="02010600030101010101" pitchFamily="2" charset="-122"/>
                <a:cs typeface="Times New Roman" panose="02020603050405020304" pitchFamily="18" charset="0"/>
              </a:rPr>
              <a:t>100,</a:t>
            </a:r>
            <a:r>
              <a:rPr lang="zh-CN" altLang="zh-CN" dirty="0">
                <a:solidFill>
                  <a:srgbClr val="000000"/>
                </a:solidFill>
                <a:ea typeface="楷体" panose="02010609060101010101" pitchFamily="49" charset="-122"/>
                <a:cs typeface="Times New Roman" panose="02020603050405020304" pitchFamily="18" charset="0"/>
              </a:rPr>
              <a:t>得</a:t>
            </a:r>
            <a:r>
              <a:rPr lang="en-US" altLang="zh-CN" i="1" dirty="0">
                <a:solidFill>
                  <a:srgbClr val="000000"/>
                </a:solidFill>
                <a:ea typeface="宋体" panose="02010600030101010101" pitchFamily="2" charset="-122"/>
                <a:cs typeface="Times New Roman" panose="02020603050405020304" pitchFamily="18" charset="0"/>
              </a:rPr>
              <a:t>k=</a:t>
            </a:r>
            <a:r>
              <a:rPr lang="en-US" altLang="zh-CN" dirty="0">
                <a:solidFill>
                  <a:srgbClr val="000000"/>
                </a:solidFill>
                <a:ea typeface="宋体" panose="02010600030101010101" pitchFamily="2" charset="-122"/>
                <a:cs typeface="Times New Roman" panose="02020603050405020304" pitchFamily="18" charset="0"/>
              </a:rPr>
              <a:t>50,</a:t>
            </a:r>
            <a:r>
              <a:rPr lang="zh-CN" altLang="zh-CN" dirty="0">
                <a:solidFill>
                  <a:srgbClr val="000000"/>
                </a:solidFill>
                <a:ea typeface="楷体" panose="02010609060101010101" pitchFamily="49" charset="-122"/>
                <a:cs typeface="Times New Roman" panose="02020603050405020304" pitchFamily="18" charset="0"/>
              </a:rPr>
              <a:t>即</a:t>
            </a:r>
            <a:r>
              <a:rPr lang="en-US" altLang="zh-CN" i="1" dirty="0">
                <a:solidFill>
                  <a:srgbClr val="000000"/>
                </a:solidFill>
                <a:ea typeface="宋体" panose="02010600030101010101" pitchFamily="2" charset="-122"/>
                <a:cs typeface="Times New Roman" panose="02020603050405020304" pitchFamily="18" charset="0"/>
              </a:rPr>
              <a:t>y=</a:t>
            </a:r>
            <a:r>
              <a:rPr lang="en-US" altLang="zh-CN" dirty="0">
                <a:solidFill>
                  <a:srgbClr val="000000"/>
                </a:solidFill>
                <a:ea typeface="宋体" panose="02010600030101010101" pitchFamily="2" charset="-122"/>
                <a:cs typeface="Times New Roman" panose="02020603050405020304" pitchFamily="18" charset="0"/>
              </a:rPr>
              <a:t>50</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100</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i="1" dirty="0">
                <a:solidFill>
                  <a:srgbClr val="000000"/>
                </a:solidFill>
                <a:ea typeface="宋体" panose="02010600030101010101" pitchFamily="2" charset="-122"/>
                <a:cs typeface="Times New Roman" panose="02020603050405020304" pitchFamily="18" charset="0"/>
              </a:rPr>
              <a:t>S=</a:t>
            </a:r>
            <a:r>
              <a:rPr lang="en-US" altLang="zh-CN" dirty="0">
                <a:solidFill>
                  <a:srgbClr val="000000"/>
                </a:solidFill>
                <a:ea typeface="宋体" panose="02010600030101010101" pitchFamily="2" charset="-122"/>
                <a:cs typeface="Times New Roman" panose="02020603050405020304" pitchFamily="18" charset="0"/>
              </a:rPr>
              <a:t>100</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(50</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100),</a:t>
            </a:r>
            <a:r>
              <a:rPr lang="zh-CN" altLang="zh-CN" dirty="0">
                <a:solidFill>
                  <a:srgbClr val="000000"/>
                </a:solidFill>
                <a:ea typeface="楷体" panose="02010609060101010101" pitchFamily="49" charset="-122"/>
                <a:cs typeface="Times New Roman" panose="02020603050405020304" pitchFamily="18" charset="0"/>
              </a:rPr>
              <a:t>即</a:t>
            </a:r>
            <a:r>
              <a:rPr lang="en-US" altLang="zh-CN" i="1" dirty="0">
                <a:solidFill>
                  <a:srgbClr val="000000"/>
                </a:solidFill>
                <a:ea typeface="宋体" panose="02010600030101010101" pitchFamily="2" charset="-122"/>
                <a:cs typeface="Times New Roman" panose="02020603050405020304" pitchFamily="18" charset="0"/>
              </a:rPr>
              <a:t>S=</a:t>
            </a:r>
            <a:r>
              <a:rPr lang="en-US" altLang="zh-CN" dirty="0">
                <a:solidFill>
                  <a:srgbClr val="000000"/>
                </a:solidFill>
                <a:ea typeface="宋体" panose="02010600030101010101" pitchFamily="2" charset="-122"/>
                <a:cs typeface="Times New Roman" panose="02020603050405020304" pitchFamily="18" charset="0"/>
              </a:rPr>
              <a:t>50</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100</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楷体" panose="02010609060101010101" pitchFamily="49" charset="-122"/>
                <a:cs typeface="Times New Roman" panose="02020603050405020304" pitchFamily="18" charset="0"/>
              </a:rPr>
              <a:t>当</a:t>
            </a:r>
            <a:r>
              <a:rPr lang="en-US" altLang="zh-CN" dirty="0">
                <a:solidFill>
                  <a:srgbClr val="000000"/>
                </a:solidFill>
                <a:ea typeface="宋体" panose="02010600030101010101" pitchFamily="2" charset="-122"/>
                <a:cs typeface="Times New Roman" panose="02020603050405020304" pitchFamily="18" charset="0"/>
              </a:rPr>
              <a:t>0</a:t>
            </a:r>
            <a:r>
              <a:rPr lang="en-US" altLang="zh-CN"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10</a:t>
            </a:r>
            <a:r>
              <a:rPr lang="zh-CN" altLang="zh-CN" dirty="0">
                <a:solidFill>
                  <a:srgbClr val="000000"/>
                </a:solidFill>
                <a:ea typeface="楷体" panose="02010609060101010101" pitchFamily="49" charset="-122"/>
                <a:cs typeface="Times New Roman" panose="02020603050405020304" pitchFamily="18" charset="0"/>
              </a:rPr>
              <a:t>时</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由题意得</a:t>
            </a:r>
            <a:r>
              <a:rPr lang="en-US" altLang="zh-CN" dirty="0">
                <a:solidFill>
                  <a:srgbClr val="000000"/>
                </a:solidFill>
                <a:ea typeface="宋体" panose="02010600030101010101" pitchFamily="2" charset="-122"/>
                <a:cs typeface="Times New Roman" panose="02020603050405020304" pitchFamily="18" charset="0"/>
              </a:rPr>
              <a:t>50</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100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360,</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solidFill>
                  <a:srgbClr val="000000"/>
                </a:solidFill>
                <a:ea typeface="楷体" panose="02010609060101010101" pitchFamily="49" charset="-122"/>
                <a:cs typeface="Times New Roman" panose="02020603050405020304" pitchFamily="18" charset="0"/>
              </a:rPr>
              <a:t>解得</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9</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楷体" panose="02010609060101010101" pitchFamily="49" charset="-122"/>
                <a:cs typeface="Times New Roman" panose="02020603050405020304" pitchFamily="18" charset="0"/>
              </a:rPr>
              <a:t>百张</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920(</a:t>
            </a:r>
            <a:r>
              <a:rPr lang="zh-CN" altLang="zh-CN" dirty="0">
                <a:solidFill>
                  <a:srgbClr val="000000"/>
                </a:solidFill>
                <a:ea typeface="楷体" panose="02010609060101010101" pitchFamily="49" charset="-122"/>
                <a:cs typeface="Times New Roman" panose="02020603050405020304" pitchFamily="18" charset="0"/>
              </a:rPr>
              <a:t>张</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solidFill>
                  <a:srgbClr val="000000"/>
                </a:solidFill>
                <a:ea typeface="楷体" panose="02010609060101010101" pitchFamily="49" charset="-122"/>
                <a:cs typeface="Times New Roman" panose="02020603050405020304" pitchFamily="18" charset="0"/>
              </a:rPr>
              <a:t>即</a:t>
            </a:r>
            <a:r>
              <a:rPr lang="en-US" altLang="zh-CN" i="1" dirty="0">
                <a:solidFill>
                  <a:srgbClr val="000000"/>
                </a:solidFill>
                <a:ea typeface="宋体" panose="02010600030101010101" pitchFamily="2" charset="-122"/>
                <a:cs typeface="Times New Roman" panose="02020603050405020304" pitchFamily="18" charset="0"/>
              </a:rPr>
              <a:t>S=</a:t>
            </a:r>
            <a:r>
              <a:rPr lang="en-US" altLang="zh-CN" dirty="0">
                <a:solidFill>
                  <a:srgbClr val="000000"/>
                </a:solidFill>
                <a:ea typeface="宋体" panose="02010600030101010101" pitchFamily="2" charset="-122"/>
                <a:cs typeface="Times New Roman" panose="02020603050405020304" pitchFamily="18" charset="0"/>
              </a:rPr>
              <a:t>50</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100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50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9</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100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560(</a:t>
            </a:r>
            <a:r>
              <a:rPr lang="zh-CN" altLang="zh-CN" dirty="0">
                <a:solidFill>
                  <a:srgbClr val="000000"/>
                </a:solidFill>
                <a:ea typeface="楷体" panose="02010609060101010101" pitchFamily="49" charset="-122"/>
                <a:cs typeface="Times New Roman" panose="02020603050405020304" pitchFamily="18" charset="0"/>
              </a:rPr>
              <a:t>百元</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56</a:t>
            </a:r>
            <a:r>
              <a:rPr lang="en-US" altLang="zh-CN" dirty="0">
                <a:solidFill>
                  <a:srgbClr val="000000"/>
                </a:solidFill>
                <a:ea typeface="楷体" panose="02010609060101010101" pitchFamily="49"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000(</a:t>
            </a:r>
            <a:r>
              <a:rPr lang="zh-CN" altLang="zh-CN" dirty="0">
                <a:solidFill>
                  <a:srgbClr val="000000"/>
                </a:solidFill>
                <a:ea typeface="楷体" panose="02010609060101010101" pitchFamily="49" charset="-122"/>
                <a:cs typeface="Times New Roman" panose="02020603050405020304" pitchFamily="18" charset="0"/>
              </a:rPr>
              <a:t>元</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1292211943"/>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355600" y="794761"/>
            <a:ext cx="11660188" cy="5253638"/>
            <a:chOff x="355600" y="794761"/>
            <a:chExt cx="11660188" cy="5253638"/>
          </a:xfrm>
        </p:grpSpPr>
        <p:sp>
          <p:nvSpPr>
            <p:cNvPr id="2" name="矩形 1"/>
            <p:cNvSpPr>
              <a:spLocks noChangeAspect="1"/>
            </p:cNvSpPr>
            <p:nvPr/>
          </p:nvSpPr>
          <p:spPr>
            <a:xfrm>
              <a:off x="361950" y="794761"/>
              <a:ext cx="10807700" cy="626710"/>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smtClean="0">
                  <a:solidFill>
                    <a:srgbClr val="000000"/>
                  </a:solidFill>
                  <a:ea typeface="楷体" panose="02010609060101010101" pitchFamily="49" charset="-122"/>
                  <a:cs typeface="Times New Roman" panose="02020603050405020304" pitchFamily="18" charset="0"/>
                </a:rPr>
                <a:t>当</a:t>
              </a:r>
              <a:r>
                <a:rPr lang="en-US" altLang="zh-CN" dirty="0">
                  <a:solidFill>
                    <a:srgbClr val="000000"/>
                  </a:solidFill>
                  <a:ea typeface="宋体" panose="02010600030101010101" pitchFamily="2" charset="-122"/>
                  <a:cs typeface="Times New Roman" panose="02020603050405020304" pitchFamily="18" charset="0"/>
                </a:rPr>
                <a:t>10</a:t>
              </a:r>
              <a:r>
                <a:rPr lang="en-US" altLang="zh-CN" i="1" dirty="0">
                  <a:solidFill>
                    <a:srgbClr val="000000"/>
                  </a:solidFill>
                  <a:ea typeface="宋体" panose="02010600030101010101" pitchFamily="2" charset="-122"/>
                  <a:cs typeface="Times New Roman" panose="02020603050405020304" pitchFamily="18" charset="0"/>
                </a:rPr>
                <a:t>&lt;x</a:t>
              </a:r>
              <a:r>
                <a:rPr lang="en-US" altLang="zh-CN"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20</a:t>
              </a:r>
              <a:r>
                <a:rPr lang="zh-CN" altLang="zh-CN" dirty="0">
                  <a:solidFill>
                    <a:srgbClr val="000000"/>
                  </a:solidFill>
                  <a:ea typeface="楷体" panose="02010609060101010101" pitchFamily="49" charset="-122"/>
                  <a:cs typeface="Times New Roman" panose="02020603050405020304" pitchFamily="18" charset="0"/>
                </a:rPr>
                <a:t>时</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设此时函数解析式为</a:t>
              </a:r>
              <a:r>
                <a:rPr lang="en-US" altLang="zh-CN" i="1" dirty="0">
                  <a:solidFill>
                    <a:srgbClr val="000000"/>
                  </a:solidFill>
                  <a:ea typeface="宋体" panose="02010600030101010101" pitchFamily="2" charset="-122"/>
                  <a:cs typeface="Times New Roman" panose="02020603050405020304" pitchFamily="18" charset="0"/>
                </a:rPr>
                <a:t>y=</a:t>
              </a:r>
              <a:r>
                <a:rPr lang="en-US" altLang="zh-CN" i="1" dirty="0" err="1">
                  <a:solidFill>
                    <a:srgbClr val="000000"/>
                  </a:solidFill>
                  <a:ea typeface="宋体" panose="02010600030101010101" pitchFamily="2" charset="-122"/>
                  <a:cs typeface="Times New Roman" panose="02020603050405020304" pitchFamily="18" charset="0"/>
                </a:rPr>
                <a:t>mx+n</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4112815354"/>
                </p:ext>
              </p:extLst>
            </p:nvPr>
          </p:nvGraphicFramePr>
          <p:xfrm>
            <a:off x="355600" y="1452563"/>
            <a:ext cx="11660188" cy="1000125"/>
          </p:xfrm>
          <a:graphic>
            <a:graphicData uri="http://schemas.openxmlformats.org/presentationml/2006/ole">
              <mc:AlternateContent xmlns:mc="http://schemas.openxmlformats.org/markup-compatibility/2006">
                <mc:Choice xmlns:v="urn:schemas-microsoft-com:vml" Requires="v">
                  <p:oleObj spid="_x0000_s2063" name="文档" r:id="rId4" imgW="3837724" imgH="332449" progId="Word.Document.12">
                    <p:embed/>
                  </p:oleObj>
                </mc:Choice>
                <mc:Fallback>
                  <p:oleObj name="文档" r:id="rId4" imgW="3837724" imgH="332449" progId="Word.Document.12">
                    <p:embed/>
                    <p:pic>
                      <p:nvPicPr>
                        <p:cNvPr id="0" name=""/>
                        <p:cNvPicPr/>
                        <p:nvPr/>
                      </p:nvPicPr>
                      <p:blipFill>
                        <a:blip r:embed="rId5"/>
                        <a:stretch>
                          <a:fillRect/>
                        </a:stretch>
                      </p:blipFill>
                      <p:spPr>
                        <a:xfrm>
                          <a:off x="355600" y="1452563"/>
                          <a:ext cx="11660188" cy="1000125"/>
                        </a:xfrm>
                        <a:prstGeom prst="rect">
                          <a:avLst/>
                        </a:prstGeom>
                      </p:spPr>
                    </p:pic>
                  </p:oleObj>
                </mc:Fallback>
              </mc:AlternateContent>
            </a:graphicData>
          </a:graphic>
        </p:graphicFrame>
        <p:sp>
          <p:nvSpPr>
            <p:cNvPr id="4" name="矩形 3"/>
            <p:cNvSpPr>
              <a:spLocks noChangeAspect="1"/>
            </p:cNvSpPr>
            <p:nvPr/>
          </p:nvSpPr>
          <p:spPr>
            <a:xfrm>
              <a:off x="361950" y="2467034"/>
              <a:ext cx="10807700" cy="3581365"/>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zh-CN" altLang="zh-CN" dirty="0">
                  <a:solidFill>
                    <a:srgbClr val="000000"/>
                  </a:solidFill>
                  <a:ea typeface="楷体" panose="02010609060101010101" pitchFamily="49" charset="-122"/>
                  <a:cs typeface="Times New Roman" panose="02020603050405020304" pitchFamily="18" charset="0"/>
                </a:rPr>
                <a:t>可得</a:t>
              </a:r>
              <a:r>
                <a:rPr lang="en-US" altLang="zh-CN" i="1" dirty="0">
                  <a:solidFill>
                    <a:srgbClr val="000000"/>
                  </a:solidFill>
                  <a:ea typeface="宋体" panose="02010600030101010101" pitchFamily="2" charset="-122"/>
                  <a:cs typeface="Times New Roman" panose="02020603050405020304" pitchFamily="18" charset="0"/>
                </a:rPr>
                <a:t>y=</a:t>
              </a:r>
              <a:r>
                <a:rPr lang="en-US" altLang="zh-CN" dirty="0">
                  <a:solidFill>
                    <a:srgbClr val="000000"/>
                  </a:solidFill>
                  <a:ea typeface="宋体" panose="02010600030101010101" pitchFamily="2" charset="-122"/>
                  <a:cs typeface="Times New Roman" panose="02020603050405020304" pitchFamily="18" charset="0"/>
                </a:rPr>
                <a:t>50</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150,</a:t>
              </a:r>
              <a:r>
                <a:rPr lang="en-US" altLang="zh-CN" i="1" dirty="0">
                  <a:solidFill>
                    <a:srgbClr val="000000"/>
                  </a:solidFill>
                  <a:ea typeface="宋体" panose="02010600030101010101" pitchFamily="2" charset="-122"/>
                  <a:cs typeface="Times New Roman" panose="02020603050405020304" pitchFamily="18" charset="0"/>
                </a:rPr>
                <a:t>S=</a:t>
              </a:r>
              <a:r>
                <a:rPr lang="en-US" altLang="zh-CN" dirty="0">
                  <a:solidFill>
                    <a:srgbClr val="000000"/>
                  </a:solidFill>
                  <a:ea typeface="宋体" panose="02010600030101010101" pitchFamily="2" charset="-122"/>
                  <a:cs typeface="Times New Roman" panose="02020603050405020304" pitchFamily="18" charset="0"/>
                </a:rPr>
                <a:t>100</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(50</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150)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50,</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solidFill>
                    <a:srgbClr val="000000"/>
                  </a:solidFill>
                  <a:ea typeface="楷体" panose="02010609060101010101" pitchFamily="49" charset="-122"/>
                  <a:cs typeface="Times New Roman" panose="02020603050405020304" pitchFamily="18" charset="0"/>
                </a:rPr>
                <a:t>即</a:t>
              </a:r>
              <a:r>
                <a:rPr lang="en-US" altLang="zh-CN" i="1" dirty="0">
                  <a:solidFill>
                    <a:srgbClr val="000000"/>
                  </a:solidFill>
                  <a:ea typeface="宋体" panose="02010600030101010101" pitchFamily="2" charset="-122"/>
                  <a:cs typeface="Times New Roman" panose="02020603050405020304" pitchFamily="18" charset="0"/>
                </a:rPr>
                <a:t>S=</a:t>
              </a:r>
              <a:r>
                <a:rPr lang="en-US" altLang="zh-CN" dirty="0">
                  <a:solidFill>
                    <a:srgbClr val="000000"/>
                  </a:solidFill>
                  <a:ea typeface="宋体" panose="02010600030101010101" pitchFamily="2" charset="-122"/>
                  <a:cs typeface="Times New Roman" panose="02020603050405020304" pitchFamily="18" charset="0"/>
                </a:rPr>
                <a:t>50</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100</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solidFill>
                    <a:srgbClr val="000000"/>
                  </a:solidFill>
                  <a:ea typeface="楷体" panose="02010609060101010101" pitchFamily="49" charset="-122"/>
                  <a:cs typeface="Times New Roman" panose="02020603050405020304" pitchFamily="18" charset="0"/>
                </a:rPr>
                <a:t>由</a:t>
              </a:r>
              <a:r>
                <a:rPr lang="en-US" altLang="zh-CN" dirty="0">
                  <a:solidFill>
                    <a:srgbClr val="000000"/>
                  </a:solidFill>
                  <a:ea typeface="宋体" panose="02010600030101010101" pitchFamily="2" charset="-122"/>
                  <a:cs typeface="Times New Roman" panose="02020603050405020304" pitchFamily="18" charset="0"/>
                </a:rPr>
                <a:t>50</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150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360,</a:t>
              </a:r>
              <a:r>
                <a:rPr lang="zh-CN" altLang="zh-CN" dirty="0">
                  <a:solidFill>
                    <a:srgbClr val="000000"/>
                  </a:solidFill>
                  <a:ea typeface="楷体" panose="02010609060101010101" pitchFamily="49" charset="-122"/>
                  <a:cs typeface="Times New Roman" panose="02020603050405020304" pitchFamily="18" charset="0"/>
                </a:rPr>
                <a:t>解得</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10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楷体" panose="02010609060101010101" pitchFamily="49" charset="-122"/>
                  <a:cs typeface="Times New Roman" panose="02020603050405020304" pitchFamily="18" charset="0"/>
                </a:rPr>
                <a:t>百张</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en-US" altLang="zh-CN" dirty="0">
                  <a:solidFill>
                    <a:srgbClr val="000000"/>
                  </a:solidFill>
                  <a:ea typeface="楷体" panose="02010609060101010101" pitchFamily="49"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020(</a:t>
              </a:r>
              <a:r>
                <a:rPr lang="zh-CN" altLang="zh-CN" dirty="0">
                  <a:solidFill>
                    <a:srgbClr val="000000"/>
                  </a:solidFill>
                  <a:ea typeface="楷体" panose="02010609060101010101" pitchFamily="49" charset="-122"/>
                  <a:cs typeface="Times New Roman" panose="02020603050405020304" pitchFamily="18" charset="0"/>
                </a:rPr>
                <a:t>张</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i="1" dirty="0">
                  <a:solidFill>
                    <a:srgbClr val="000000"/>
                  </a:solidFill>
                  <a:ea typeface="宋体" panose="02010600030101010101" pitchFamily="2" charset="-122"/>
                  <a:cs typeface="Times New Roman" panose="02020603050405020304" pitchFamily="18" charset="0"/>
                </a:rPr>
                <a:t>S=</a:t>
              </a:r>
              <a:r>
                <a:rPr lang="en-US" altLang="zh-CN" dirty="0">
                  <a:solidFill>
                    <a:srgbClr val="000000"/>
                  </a:solidFill>
                  <a:ea typeface="宋体" panose="02010600030101010101" pitchFamily="2" charset="-122"/>
                  <a:cs typeface="Times New Roman" panose="02020603050405020304" pitchFamily="18" charset="0"/>
                </a:rPr>
                <a:t>50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100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610(</a:t>
              </a:r>
              <a:r>
                <a:rPr lang="zh-CN" altLang="zh-CN" dirty="0">
                  <a:solidFill>
                    <a:srgbClr val="000000"/>
                  </a:solidFill>
                  <a:ea typeface="楷体" panose="02010609060101010101" pitchFamily="49" charset="-122"/>
                  <a:cs typeface="Times New Roman" panose="02020603050405020304" pitchFamily="18" charset="0"/>
                </a:rPr>
                <a:t>百元</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61</a:t>
              </a:r>
              <a:r>
                <a:rPr lang="en-US" altLang="zh-CN" dirty="0">
                  <a:solidFill>
                    <a:srgbClr val="000000"/>
                  </a:solidFill>
                  <a:ea typeface="楷体" panose="02010609060101010101" pitchFamily="49"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000(</a:t>
              </a:r>
              <a:r>
                <a:rPr lang="zh-CN" altLang="zh-CN" dirty="0">
                  <a:solidFill>
                    <a:srgbClr val="000000"/>
                  </a:solidFill>
                  <a:ea typeface="楷体" panose="02010609060101010101" pitchFamily="49" charset="-122"/>
                  <a:cs typeface="Times New Roman" panose="02020603050405020304" pitchFamily="18" charset="0"/>
                </a:rPr>
                <a:t>元</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solidFill>
                    <a:srgbClr val="000000"/>
                  </a:solidFill>
                  <a:ea typeface="楷体" panose="02010609060101010101" pitchFamily="49" charset="-122"/>
                  <a:cs typeface="Times New Roman" panose="02020603050405020304" pitchFamily="18" charset="0"/>
                </a:rPr>
                <a:t>故需售门票</a:t>
              </a:r>
              <a:r>
                <a:rPr lang="en-US" altLang="zh-CN" dirty="0">
                  <a:solidFill>
                    <a:srgbClr val="000000"/>
                  </a:solidFill>
                  <a:ea typeface="宋体" panose="02010600030101010101" pitchFamily="2" charset="-122"/>
                  <a:cs typeface="Times New Roman" panose="02020603050405020304" pitchFamily="18" charset="0"/>
                </a:rPr>
                <a:t>920</a:t>
              </a:r>
              <a:r>
                <a:rPr lang="zh-CN" altLang="zh-CN" dirty="0">
                  <a:solidFill>
                    <a:srgbClr val="000000"/>
                  </a:solidFill>
                  <a:ea typeface="楷体" panose="02010609060101010101" pitchFamily="49" charset="-122"/>
                  <a:cs typeface="Times New Roman" panose="02020603050405020304" pitchFamily="18" charset="0"/>
                </a:rPr>
                <a:t>张或</a:t>
              </a:r>
              <a:r>
                <a:rPr lang="en-US" altLang="zh-CN" dirty="0">
                  <a:solidFill>
                    <a:srgbClr val="000000"/>
                  </a:solidFill>
                  <a:ea typeface="宋体" panose="02010600030101010101" pitchFamily="2" charset="-122"/>
                  <a:cs typeface="Times New Roman" panose="02020603050405020304" pitchFamily="18" charset="0"/>
                </a:rPr>
                <a:t>1</a:t>
              </a:r>
              <a:r>
                <a:rPr lang="en-US" altLang="zh-CN" dirty="0">
                  <a:solidFill>
                    <a:srgbClr val="000000"/>
                  </a:solidFill>
                  <a:ea typeface="楷体" panose="02010609060101010101" pitchFamily="49"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020</a:t>
              </a:r>
              <a:r>
                <a:rPr lang="zh-CN" altLang="zh-CN" dirty="0">
                  <a:solidFill>
                    <a:srgbClr val="000000"/>
                  </a:solidFill>
                  <a:ea typeface="楷体" panose="02010609060101010101" pitchFamily="49" charset="-122"/>
                  <a:cs typeface="Times New Roman" panose="02020603050405020304" pitchFamily="18" charset="0"/>
                </a:rPr>
                <a:t>张</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相应地需支付成本费用分别为</a:t>
              </a:r>
              <a:r>
                <a:rPr lang="en-US" altLang="zh-CN" dirty="0">
                  <a:solidFill>
                    <a:srgbClr val="000000"/>
                  </a:solidFill>
                  <a:ea typeface="宋体" panose="02010600030101010101" pitchFamily="2" charset="-122"/>
                  <a:cs typeface="Times New Roman" panose="02020603050405020304" pitchFamily="18" charset="0"/>
                </a:rPr>
                <a:t>56</a:t>
              </a:r>
              <a:r>
                <a:rPr lang="en-US" altLang="zh-CN" dirty="0">
                  <a:solidFill>
                    <a:srgbClr val="000000"/>
                  </a:solidFill>
                  <a:ea typeface="楷体" panose="02010609060101010101" pitchFamily="49"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000</a:t>
              </a:r>
              <a:r>
                <a:rPr lang="zh-CN" altLang="zh-CN" dirty="0">
                  <a:solidFill>
                    <a:srgbClr val="000000"/>
                  </a:solidFill>
                  <a:ea typeface="楷体" panose="02010609060101010101" pitchFamily="49" charset="-122"/>
                  <a:cs typeface="Times New Roman" panose="02020603050405020304" pitchFamily="18" charset="0"/>
                </a:rPr>
                <a:t>元或</a:t>
              </a:r>
              <a:r>
                <a:rPr lang="en-US" altLang="zh-CN" dirty="0">
                  <a:solidFill>
                    <a:srgbClr val="000000"/>
                  </a:solidFill>
                  <a:ea typeface="宋体" panose="02010600030101010101" pitchFamily="2" charset="-122"/>
                  <a:cs typeface="Times New Roman" panose="02020603050405020304" pitchFamily="18" charset="0"/>
                </a:rPr>
                <a:t>61</a:t>
              </a:r>
              <a:r>
                <a:rPr lang="en-US" altLang="zh-CN" dirty="0">
                  <a:solidFill>
                    <a:srgbClr val="000000"/>
                  </a:solidFill>
                  <a:ea typeface="楷体" panose="02010609060101010101" pitchFamily="49"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000</a:t>
              </a:r>
              <a:r>
                <a:rPr lang="zh-CN" altLang="zh-CN" dirty="0">
                  <a:solidFill>
                    <a:srgbClr val="000000"/>
                  </a:solidFill>
                  <a:ea typeface="楷体" panose="02010609060101010101" pitchFamily="49" charset="-122"/>
                  <a:cs typeface="Times New Roman" panose="02020603050405020304" pitchFamily="18" charset="0"/>
                </a:rPr>
                <a:t>元</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p:txBody>
        </p:sp>
      </p:grpSp>
    </p:spTree>
    <p:extLst>
      <p:ext uri="{BB962C8B-B14F-4D97-AF65-F5344CB8AC3E}">
        <p14:creationId xmlns:p14="http://schemas.microsoft.com/office/powerpoint/2010/main" val="3520719058"/>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a:spLocks noChangeAspect="1"/>
          </p:cNvSpPr>
          <p:nvPr/>
        </p:nvSpPr>
        <p:spPr>
          <a:xfrm>
            <a:off x="361950" y="1648126"/>
            <a:ext cx="10807700" cy="2456057"/>
          </a:xfrm>
          <a:prstGeom prst="rect">
            <a:avLst/>
          </a:prstGeom>
          <a:ln>
            <a:solidFill>
              <a:schemeClr val="tx1"/>
            </a:solidFill>
          </a:ln>
        </p:spPr>
        <p:txBody>
          <a:bodyPr>
            <a:spAutoFit/>
          </a:bodyPr>
          <a:lstStyle/>
          <a:p>
            <a:pPr>
              <a:lnSpc>
                <a:spcPct val="120000"/>
              </a:lnSpc>
              <a:spcAft>
                <a:spcPts val="0"/>
              </a:spcAft>
              <a:tabLst>
                <a:tab pos="1029335" algn="l"/>
                <a:tab pos="1850390" algn="l"/>
                <a:tab pos="2538095" algn="l"/>
                <a:tab pos="3221990" algn="l"/>
              </a:tabLst>
            </a:pPr>
            <a:r>
              <a:rPr lang="zh-CN" altLang="en-US" dirty="0">
                <a:solidFill>
                  <a:srgbClr val="000000"/>
                </a:solidFill>
                <a:latin typeface="黑体" panose="02010609060101010101" pitchFamily="49" charset="-122"/>
                <a:cs typeface="Times New Roman" panose="02020603050405020304" pitchFamily="18" charset="0"/>
              </a:rPr>
              <a:t>反思感悟</a:t>
            </a:r>
            <a:endParaRPr lang="zh-CN" altLang="zh-CN" dirty="0">
              <a:solidFill>
                <a:srgbClr val="000000"/>
              </a:solidFill>
              <a:latin typeface="黑体" panose="02010609060101010101" pitchFamily="49"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smtClean="0">
                <a:solidFill>
                  <a:srgbClr val="000000"/>
                </a:solidFill>
                <a:ea typeface="仿宋" panose="02010609060101010101" pitchFamily="49" charset="-122"/>
                <a:cs typeface="Times New Roman" panose="02020603050405020304" pitchFamily="18" charset="0"/>
              </a:rPr>
              <a:t>在</a:t>
            </a:r>
            <a:r>
              <a:rPr lang="zh-CN" altLang="zh-CN" dirty="0">
                <a:solidFill>
                  <a:srgbClr val="000000"/>
                </a:solidFill>
                <a:ea typeface="仿宋" panose="02010609060101010101" pitchFamily="49" charset="-122"/>
                <a:cs typeface="Times New Roman" panose="02020603050405020304" pitchFamily="18" charset="0"/>
              </a:rPr>
              <a:t>实际问题中</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如果给出的两个变量之间满足一次函数关系或给出的函数图象是直线</a:t>
            </a:r>
            <a:r>
              <a:rPr lang="en-US" altLang="zh-CN" dirty="0" smtClean="0">
                <a:solidFill>
                  <a:srgbClr val="000000"/>
                </a:solidFill>
                <a:ea typeface="宋体" panose="02010600030101010101" pitchFamily="2" charset="-122"/>
                <a:cs typeface="Times New Roman" panose="02020603050405020304" pitchFamily="18" charset="0"/>
              </a:rPr>
              <a:t>,</a:t>
            </a:r>
            <a:r>
              <a:rPr lang="zh-CN" altLang="zh-CN" dirty="0" smtClean="0">
                <a:solidFill>
                  <a:srgbClr val="000000"/>
                </a:solidFill>
                <a:ea typeface="仿宋" panose="02010609060101010101" pitchFamily="49" charset="-122"/>
                <a:cs typeface="Times New Roman" panose="02020603050405020304" pitchFamily="18" charset="0"/>
              </a:rPr>
              <a:t>可</a:t>
            </a:r>
            <a:r>
              <a:rPr lang="zh-CN" altLang="zh-CN" dirty="0">
                <a:solidFill>
                  <a:srgbClr val="000000"/>
                </a:solidFill>
                <a:ea typeface="仿宋" panose="02010609060101010101" pitchFamily="49" charset="-122"/>
                <a:cs typeface="Times New Roman" panose="02020603050405020304" pitchFamily="18" charset="0"/>
              </a:rPr>
              <a:t>建立一次函数模型</a:t>
            </a:r>
            <a:r>
              <a:rPr lang="en-US" altLang="zh-CN" i="1" dirty="0" smtClean="0">
                <a:solidFill>
                  <a:srgbClr val="000000"/>
                </a:solidFill>
                <a:ea typeface="宋体" panose="02010600030101010101" pitchFamily="2" charset="-122"/>
                <a:cs typeface="Times New Roman" panose="02020603050405020304" pitchFamily="18" charset="0"/>
              </a:rPr>
              <a:t>y=</a:t>
            </a:r>
            <a:r>
              <a:rPr lang="en-US" altLang="zh-CN" i="1" dirty="0" err="1" smtClean="0">
                <a:solidFill>
                  <a:srgbClr val="000000"/>
                </a:solidFill>
                <a:ea typeface="宋体" panose="02010600030101010101" pitchFamily="2" charset="-122"/>
                <a:cs typeface="Times New Roman" panose="02020603050405020304" pitchFamily="18" charset="0"/>
              </a:rPr>
              <a:t>kx+b</a:t>
            </a:r>
            <a:r>
              <a:rPr lang="en-US" altLang="zh-CN" i="1" dirty="0" smtClean="0">
                <a:solidFill>
                  <a:srgbClr val="000000"/>
                </a:solidFill>
                <a:ea typeface="宋体" panose="02010600030101010101" pitchFamily="2" charset="-122"/>
                <a:cs typeface="Times New Roman" panose="02020603050405020304" pitchFamily="18" charset="0"/>
              </a:rPr>
              <a:t> </a:t>
            </a:r>
            <a:r>
              <a:rPr lang="en-US" altLang="zh-CN" dirty="0" smtClean="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k</a:t>
            </a:r>
            <a:r>
              <a:rPr lang="en-US" altLang="zh-CN" dirty="0">
                <a:solidFill>
                  <a:srgbClr val="000000"/>
                </a:solidFill>
                <a:ea typeface="宋体" panose="02010600030101010101" pitchFamily="2" charset="-122"/>
                <a:cs typeface="Times New Roman" panose="02020603050405020304" pitchFamily="18" charset="0"/>
              </a:rPr>
              <a:t>≠0),</a:t>
            </a:r>
            <a:r>
              <a:rPr lang="zh-CN" altLang="zh-CN" dirty="0">
                <a:solidFill>
                  <a:srgbClr val="000000"/>
                </a:solidFill>
                <a:ea typeface="仿宋" panose="02010609060101010101" pitchFamily="49" charset="-122"/>
                <a:cs typeface="Times New Roman" panose="02020603050405020304" pitchFamily="18" charset="0"/>
              </a:rPr>
              <a:t>利用一次函数的有关性质解决问题</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603687156"/>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a:spLocks noChangeAspect="1"/>
          </p:cNvSpPr>
          <p:nvPr/>
        </p:nvSpPr>
        <p:spPr>
          <a:xfrm>
            <a:off x="361950" y="853124"/>
            <a:ext cx="10807700" cy="4819781"/>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solidFill>
                  <a:srgbClr val="000000"/>
                </a:solidFill>
                <a:latin typeface="Arial" panose="020B0604020202020204" pitchFamily="34" charset="0"/>
                <a:cs typeface="Times New Roman" panose="02020603050405020304" pitchFamily="18" charset="0"/>
              </a:rPr>
              <a:t>【变式训练</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latin typeface="Arial" panose="020B0604020202020204" pitchFamily="34" charset="0"/>
                <a:cs typeface="Times New Roman" panose="02020603050405020304" pitchFamily="18" charset="0"/>
              </a:rPr>
              <a:t>】</a:t>
            </a:r>
            <a:r>
              <a:rPr lang="zh-CN" altLang="zh-CN" dirty="0">
                <a:solidFill>
                  <a:srgbClr val="000000"/>
                </a:solidFill>
                <a:latin typeface="NEU-BZ-S92"/>
                <a:ea typeface="Arial" panose="020B0604020202020204" pitchFamily="34" charset="0"/>
                <a:cs typeface="Times New Roman" panose="02020603050405020304" pitchFamily="18" charset="0"/>
              </a:rPr>
              <a:t> </a:t>
            </a:r>
            <a:r>
              <a:rPr lang="zh-CN" altLang="zh-CN" dirty="0">
                <a:solidFill>
                  <a:srgbClr val="000000"/>
                </a:solidFill>
                <a:ea typeface="宋体" panose="02010600030101010101" pitchFamily="2" charset="-122"/>
                <a:cs typeface="Times New Roman" panose="02020603050405020304" pitchFamily="18" charset="0"/>
              </a:rPr>
              <a:t>某工厂生产某种产品</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每件产品的出厂价为</a:t>
            </a:r>
            <a:r>
              <a:rPr lang="en-US" altLang="zh-CN" dirty="0">
                <a:solidFill>
                  <a:srgbClr val="000000"/>
                </a:solidFill>
                <a:ea typeface="宋体" panose="02010600030101010101" pitchFamily="2" charset="-122"/>
                <a:cs typeface="Times New Roman" panose="02020603050405020304" pitchFamily="18" charset="0"/>
              </a:rPr>
              <a:t>50</a:t>
            </a:r>
            <a:r>
              <a:rPr lang="zh-CN" altLang="zh-CN" dirty="0">
                <a:solidFill>
                  <a:srgbClr val="000000"/>
                </a:solidFill>
                <a:ea typeface="宋体" panose="02010600030101010101" pitchFamily="2" charset="-122"/>
                <a:cs typeface="Times New Roman" panose="02020603050405020304" pitchFamily="18" charset="0"/>
              </a:rPr>
              <a:t>元</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其成本为</a:t>
            </a:r>
            <a:r>
              <a:rPr lang="en-US" altLang="zh-CN" dirty="0">
                <a:solidFill>
                  <a:srgbClr val="000000"/>
                </a:solidFill>
                <a:ea typeface="宋体" panose="02010600030101010101" pitchFamily="2" charset="-122"/>
                <a:cs typeface="Times New Roman" panose="02020603050405020304" pitchFamily="18" charset="0"/>
              </a:rPr>
              <a:t>25</a:t>
            </a:r>
            <a:r>
              <a:rPr lang="zh-CN" altLang="zh-CN" dirty="0">
                <a:solidFill>
                  <a:srgbClr val="000000"/>
                </a:solidFill>
                <a:ea typeface="宋体" panose="02010600030101010101" pitchFamily="2" charset="-122"/>
                <a:cs typeface="Times New Roman" panose="02020603050405020304" pitchFamily="18" charset="0"/>
              </a:rPr>
              <a:t>元</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件</a:t>
            </a:r>
            <a:r>
              <a:rPr lang="en-US" altLang="zh-CN" i="1" dirty="0" smtClean="0">
                <a:solidFill>
                  <a:srgbClr val="000000"/>
                </a:solidFill>
                <a:ea typeface="宋体" panose="02010600030101010101" pitchFamily="2" charset="-122"/>
                <a:cs typeface="Times New Roman" panose="02020603050405020304" pitchFamily="18" charset="0"/>
              </a:rPr>
              <a:t>.</a:t>
            </a:r>
            <a:r>
              <a:rPr lang="zh-CN" altLang="zh-CN" dirty="0" smtClean="0">
                <a:solidFill>
                  <a:srgbClr val="000000"/>
                </a:solidFill>
                <a:ea typeface="宋体" panose="02010600030101010101" pitchFamily="2" charset="-122"/>
                <a:cs typeface="Times New Roman" panose="02020603050405020304" pitchFamily="18" charset="0"/>
              </a:rPr>
              <a:t>在</a:t>
            </a:r>
            <a:r>
              <a:rPr lang="zh-CN" altLang="zh-CN" dirty="0">
                <a:solidFill>
                  <a:srgbClr val="000000"/>
                </a:solidFill>
                <a:ea typeface="宋体" panose="02010600030101010101" pitchFamily="2" charset="-122"/>
                <a:cs typeface="Times New Roman" panose="02020603050405020304" pitchFamily="18" charset="0"/>
              </a:rPr>
              <a:t>生产过程中</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平均每生产一件产品有</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5</a:t>
            </a:r>
            <a:r>
              <a:rPr lang="zh-CN" altLang="zh-CN" dirty="0">
                <a:solidFill>
                  <a:srgbClr val="000000"/>
                </a:solidFill>
                <a:ea typeface="宋体" panose="02010600030101010101" pitchFamily="2" charset="-122"/>
                <a:cs typeface="Times New Roman" panose="02020603050405020304" pitchFamily="18" charset="0"/>
              </a:rPr>
              <a:t>立方米污水排出</a:t>
            </a:r>
            <a:r>
              <a:rPr lang="en-US" altLang="zh-CN" dirty="0" smtClean="0">
                <a:solidFill>
                  <a:srgbClr val="000000"/>
                </a:solidFill>
                <a:ea typeface="宋体" panose="02010600030101010101" pitchFamily="2" charset="-122"/>
                <a:cs typeface="Times New Roman" panose="02020603050405020304" pitchFamily="18" charset="0"/>
              </a:rPr>
              <a:t>,</a:t>
            </a:r>
            <a:r>
              <a:rPr lang="zh-CN" altLang="zh-CN" dirty="0" smtClean="0">
                <a:solidFill>
                  <a:srgbClr val="000000"/>
                </a:solidFill>
                <a:ea typeface="宋体" panose="02010600030101010101" pitchFamily="2" charset="-122"/>
                <a:cs typeface="Times New Roman" panose="02020603050405020304" pitchFamily="18" charset="0"/>
              </a:rPr>
              <a:t>为了</a:t>
            </a:r>
            <a:r>
              <a:rPr lang="zh-CN" altLang="zh-CN" dirty="0">
                <a:solidFill>
                  <a:srgbClr val="000000"/>
                </a:solidFill>
                <a:ea typeface="宋体" panose="02010600030101010101" pitchFamily="2" charset="-122"/>
                <a:cs typeface="Times New Roman" panose="02020603050405020304" pitchFamily="18" charset="0"/>
              </a:rPr>
              <a:t>净化环境</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工厂设计两种方案对污水进行处理</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并准备实施</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solidFill>
                  <a:srgbClr val="000000"/>
                </a:solidFill>
                <a:ea typeface="宋体" panose="02010600030101010101" pitchFamily="2" charset="-122"/>
                <a:cs typeface="Times New Roman" panose="02020603050405020304" pitchFamily="18" charset="0"/>
              </a:rPr>
              <a:t>方案一</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工厂污水先净化处理后再排出</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每处理</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立方米污水所用原料费为</a:t>
            </a: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宋体" panose="02010600030101010101" pitchFamily="2" charset="-122"/>
                <a:cs typeface="Times New Roman" panose="02020603050405020304" pitchFamily="18" charset="0"/>
              </a:rPr>
              <a:t>元</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并且每月的排污设备损耗费为</a:t>
            </a:r>
            <a:r>
              <a:rPr lang="en-US" altLang="zh-CN" dirty="0">
                <a:solidFill>
                  <a:srgbClr val="000000"/>
                </a:solidFill>
                <a:ea typeface="宋体" panose="02010600030101010101" pitchFamily="2" charset="-122"/>
                <a:cs typeface="Times New Roman" panose="02020603050405020304" pitchFamily="18" charset="0"/>
              </a:rPr>
              <a:t>30 000</a:t>
            </a:r>
            <a:r>
              <a:rPr lang="zh-CN" altLang="zh-CN" dirty="0">
                <a:solidFill>
                  <a:srgbClr val="000000"/>
                </a:solidFill>
                <a:ea typeface="宋体" panose="02010600030101010101" pitchFamily="2" charset="-122"/>
                <a:cs typeface="Times New Roman" panose="02020603050405020304" pitchFamily="18" charset="0"/>
              </a:rPr>
              <a:t>元</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solidFill>
                  <a:srgbClr val="000000"/>
                </a:solidFill>
                <a:ea typeface="宋体" panose="02010600030101010101" pitchFamily="2" charset="-122"/>
                <a:cs typeface="Times New Roman" panose="02020603050405020304" pitchFamily="18" charset="0"/>
              </a:rPr>
              <a:t>方案二</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工厂将污水排到污水厂处理</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每处理</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立方米需付</a:t>
            </a:r>
            <a:r>
              <a:rPr lang="en-US" altLang="zh-CN" dirty="0">
                <a:solidFill>
                  <a:srgbClr val="000000"/>
                </a:solidFill>
                <a:ea typeface="宋体" panose="02010600030101010101" pitchFamily="2" charset="-122"/>
                <a:cs typeface="Times New Roman" panose="02020603050405020304" pitchFamily="18" charset="0"/>
              </a:rPr>
              <a:t>14</a:t>
            </a:r>
            <a:r>
              <a:rPr lang="zh-CN" altLang="zh-CN" dirty="0">
                <a:solidFill>
                  <a:srgbClr val="000000"/>
                </a:solidFill>
                <a:ea typeface="宋体" panose="02010600030101010101" pitchFamily="2" charset="-122"/>
                <a:cs typeface="Times New Roman" panose="02020603050405020304" pitchFamily="18" charset="0"/>
              </a:rPr>
              <a:t>元的排污费</a:t>
            </a:r>
            <a:r>
              <a:rPr lang="en-US" altLang="zh-CN" i="1" dirty="0" smtClean="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3276174784"/>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a:spLocks noChangeAspect="1"/>
          </p:cNvSpPr>
          <p:nvPr/>
        </p:nvSpPr>
        <p:spPr>
          <a:xfrm>
            <a:off x="361950" y="1367879"/>
            <a:ext cx="10807700" cy="3046988"/>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solidFill>
                  <a:srgbClr val="000000"/>
                </a:solidFill>
                <a:ea typeface="宋体" panose="02010600030101010101" pitchFamily="2" charset="-122"/>
                <a:cs typeface="Times New Roman" panose="02020603050405020304" pitchFamily="18" charset="0"/>
              </a:rPr>
              <a:t>问</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若工厂每月生产</a:t>
            </a:r>
            <a:r>
              <a:rPr lang="en-US" altLang="zh-CN" i="1" dirty="0">
                <a:solidFill>
                  <a:srgbClr val="000000"/>
                </a:solidFill>
                <a:ea typeface="宋体" panose="02010600030101010101" pitchFamily="2" charset="-122"/>
                <a:cs typeface="Times New Roman" panose="02020603050405020304" pitchFamily="18" charset="0"/>
              </a:rPr>
              <a:t>x</a:t>
            </a:r>
            <a:r>
              <a:rPr lang="zh-CN" altLang="zh-CN" dirty="0">
                <a:solidFill>
                  <a:srgbClr val="000000"/>
                </a:solidFill>
                <a:ea typeface="宋体" panose="02010600030101010101" pitchFamily="2" charset="-122"/>
                <a:cs typeface="Times New Roman" panose="02020603050405020304" pitchFamily="18" charset="0"/>
              </a:rPr>
              <a:t>件产品</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每月利润为</a:t>
            </a:r>
            <a:r>
              <a:rPr lang="en-US" altLang="zh-CN" i="1" dirty="0">
                <a:solidFill>
                  <a:srgbClr val="000000"/>
                </a:solidFill>
                <a:ea typeface="宋体" panose="02010600030101010101" pitchFamily="2" charset="-122"/>
                <a:cs typeface="Times New Roman" panose="02020603050405020304" pitchFamily="18" charset="0"/>
              </a:rPr>
              <a:t>y</a:t>
            </a:r>
            <a:r>
              <a:rPr lang="zh-CN" altLang="zh-CN" dirty="0">
                <a:solidFill>
                  <a:srgbClr val="000000"/>
                </a:solidFill>
                <a:ea typeface="宋体" panose="02010600030101010101" pitchFamily="2" charset="-122"/>
                <a:cs typeface="Times New Roman" panose="02020603050405020304" pitchFamily="18" charset="0"/>
              </a:rPr>
              <a:t>元</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分别求出依方案一和方案二处理污水时</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y</a:t>
            </a:r>
            <a:r>
              <a:rPr lang="zh-CN" altLang="zh-CN" dirty="0">
                <a:solidFill>
                  <a:srgbClr val="000000"/>
                </a:solidFill>
                <a:ea typeface="宋体" panose="02010600030101010101" pitchFamily="2" charset="-122"/>
                <a:cs typeface="Times New Roman" panose="02020603050405020304" pitchFamily="18" charset="0"/>
              </a:rPr>
              <a:t>关于</a:t>
            </a:r>
            <a:r>
              <a:rPr lang="en-US" altLang="zh-CN" i="1" dirty="0">
                <a:solidFill>
                  <a:srgbClr val="000000"/>
                </a:solidFill>
                <a:ea typeface="宋体" panose="02010600030101010101" pitchFamily="2" charset="-122"/>
                <a:cs typeface="Times New Roman" panose="02020603050405020304" pitchFamily="18" charset="0"/>
              </a:rPr>
              <a:t>x</a:t>
            </a:r>
            <a:r>
              <a:rPr lang="zh-CN" altLang="zh-CN" dirty="0">
                <a:solidFill>
                  <a:srgbClr val="000000"/>
                </a:solidFill>
                <a:ea typeface="宋体" panose="02010600030101010101" pitchFamily="2" charset="-122"/>
                <a:cs typeface="Times New Roman" panose="02020603050405020304" pitchFamily="18" charset="0"/>
              </a:rPr>
              <a:t>的解析式</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利润</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总收入</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总支出</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宋体" panose="02010600030101010101" pitchFamily="2" charset="-122"/>
                <a:cs typeface="Times New Roman" panose="02020603050405020304" pitchFamily="18" charset="0"/>
              </a:rPr>
              <a:t>当工厂每月生产</a:t>
            </a:r>
            <a:r>
              <a:rPr lang="en-US" altLang="zh-CN" dirty="0">
                <a:solidFill>
                  <a:srgbClr val="000000"/>
                </a:solidFill>
                <a:ea typeface="宋体" panose="02010600030101010101" pitchFamily="2" charset="-122"/>
                <a:cs typeface="Times New Roman" panose="02020603050405020304" pitchFamily="18" charset="0"/>
              </a:rPr>
              <a:t>6 000</a:t>
            </a:r>
            <a:r>
              <a:rPr lang="zh-CN" altLang="zh-CN" dirty="0">
                <a:solidFill>
                  <a:srgbClr val="000000"/>
                </a:solidFill>
                <a:ea typeface="宋体" panose="02010600030101010101" pitchFamily="2" charset="-122"/>
                <a:cs typeface="Times New Roman" panose="02020603050405020304" pitchFamily="18" charset="0"/>
              </a:rPr>
              <a:t>件产品时</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采用哪种污水处理方案可以节约支出</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使工厂得到更多的利润</a:t>
            </a:r>
            <a:r>
              <a:rPr lang="en-US" altLang="zh-CN" dirty="0" smtClean="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3051761848"/>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a:spLocks noChangeAspect="1"/>
          </p:cNvSpPr>
          <p:nvPr/>
        </p:nvSpPr>
        <p:spPr>
          <a:xfrm>
            <a:off x="361950" y="1151855"/>
            <a:ext cx="10807700" cy="3581365"/>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解</a:t>
            </a:r>
            <a:r>
              <a:rPr lang="en-US" altLang="zh-CN" dirty="0">
                <a:latin typeface="Arial" panose="020B0604020202020204" pitchFamily="34" charset="0"/>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楷体" panose="02010609060101010101" pitchFamily="49" charset="-122"/>
                <a:cs typeface="Times New Roman" panose="02020603050405020304" pitchFamily="18" charset="0"/>
              </a:rPr>
              <a:t>设工厂生产</a:t>
            </a:r>
            <a:r>
              <a:rPr lang="en-US" altLang="zh-CN" i="1" dirty="0">
                <a:solidFill>
                  <a:srgbClr val="000000"/>
                </a:solidFill>
                <a:ea typeface="宋体" panose="02010600030101010101" pitchFamily="2" charset="-122"/>
                <a:cs typeface="Times New Roman" panose="02020603050405020304" pitchFamily="18" charset="0"/>
              </a:rPr>
              <a:t>x</a:t>
            </a:r>
            <a:r>
              <a:rPr lang="zh-CN" altLang="zh-CN" dirty="0">
                <a:solidFill>
                  <a:srgbClr val="000000"/>
                </a:solidFill>
                <a:ea typeface="楷体" panose="02010609060101010101" pitchFamily="49" charset="-122"/>
                <a:cs typeface="Times New Roman" panose="02020603050405020304" pitchFamily="18" charset="0"/>
              </a:rPr>
              <a:t>件产品时</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依方案一的利润为</a:t>
            </a:r>
            <a:r>
              <a:rPr lang="en-US" altLang="zh-CN" i="1" dirty="0">
                <a:solidFill>
                  <a:srgbClr val="000000"/>
                </a:solidFill>
                <a:ea typeface="宋体" panose="02010600030101010101" pitchFamily="2" charset="-122"/>
                <a:cs typeface="Times New Roman" panose="02020603050405020304" pitchFamily="18" charset="0"/>
              </a:rPr>
              <a:t>y</a:t>
            </a:r>
            <a:r>
              <a:rPr lang="en-US" altLang="zh-CN" baseline="-25000"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楷体" panose="02010609060101010101" pitchFamily="49" charset="-122"/>
                <a:cs typeface="Times New Roman" panose="02020603050405020304" pitchFamily="18" charset="0"/>
              </a:rPr>
              <a:t>元</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依方案二的利润为</a:t>
            </a:r>
            <a:r>
              <a:rPr lang="en-US" altLang="zh-CN" i="1" dirty="0">
                <a:solidFill>
                  <a:srgbClr val="000000"/>
                </a:solidFill>
                <a:ea typeface="宋体" panose="02010600030101010101" pitchFamily="2" charset="-122"/>
                <a:cs typeface="Times New Roman" panose="02020603050405020304" pitchFamily="18" charset="0"/>
              </a:rPr>
              <a:t>y</a:t>
            </a:r>
            <a:r>
              <a:rPr lang="en-US" altLang="zh-CN" baseline="-25000"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楷体" panose="02010609060101010101" pitchFamily="49" charset="-122"/>
                <a:cs typeface="Times New Roman" panose="02020603050405020304" pitchFamily="18" charset="0"/>
              </a:rPr>
              <a:t>元</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则</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i="1" dirty="0">
                <a:solidFill>
                  <a:srgbClr val="000000"/>
                </a:solidFill>
                <a:ea typeface="宋体" panose="02010600030101010101" pitchFamily="2" charset="-122"/>
                <a:cs typeface="Times New Roman" panose="02020603050405020304" pitchFamily="18" charset="0"/>
              </a:rPr>
              <a:t>y</a:t>
            </a:r>
            <a:r>
              <a:rPr lang="en-US" altLang="zh-CN" baseline="-25000"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(50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25)</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5</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30</a:t>
            </a:r>
            <a:r>
              <a:rPr lang="en-US" altLang="zh-CN" dirty="0">
                <a:solidFill>
                  <a:srgbClr val="000000"/>
                </a:solidFill>
                <a:ea typeface="楷体" panose="02010609060101010101" pitchFamily="49"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000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24</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30</a:t>
            </a:r>
            <a:r>
              <a:rPr lang="en-US" altLang="zh-CN" dirty="0">
                <a:solidFill>
                  <a:srgbClr val="000000"/>
                </a:solidFill>
                <a:ea typeface="楷体" panose="02010609060101010101" pitchFamily="49"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000,</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i="1" dirty="0">
                <a:solidFill>
                  <a:srgbClr val="000000"/>
                </a:solidFill>
                <a:ea typeface="宋体" panose="02010600030101010101" pitchFamily="2" charset="-122"/>
                <a:cs typeface="Times New Roman" panose="02020603050405020304" pitchFamily="18" charset="0"/>
              </a:rPr>
              <a:t>y</a:t>
            </a:r>
            <a:r>
              <a:rPr lang="en-US" altLang="zh-CN" baseline="-25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(50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25)</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14</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5</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18</a:t>
            </a:r>
            <a:r>
              <a:rPr lang="en-US" altLang="zh-CN" i="1" dirty="0">
                <a:solidFill>
                  <a:srgbClr val="000000"/>
                </a:solidFill>
                <a:ea typeface="宋体" panose="02010600030101010101" pitchFamily="2" charset="-122"/>
                <a:cs typeface="Times New Roman" panose="02020603050405020304" pitchFamily="18" charset="0"/>
              </a:rPr>
              <a:t>x.</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楷体" panose="02010609060101010101" pitchFamily="49" charset="-122"/>
                <a:cs typeface="Times New Roman" panose="02020603050405020304" pitchFamily="18" charset="0"/>
              </a:rPr>
              <a:t>当</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6</a:t>
            </a:r>
            <a:r>
              <a:rPr lang="en-US" altLang="zh-CN" dirty="0">
                <a:solidFill>
                  <a:srgbClr val="000000"/>
                </a:solidFill>
                <a:ea typeface="楷体" panose="02010609060101010101" pitchFamily="49"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000</a:t>
            </a:r>
            <a:r>
              <a:rPr lang="zh-CN" altLang="zh-CN" dirty="0">
                <a:solidFill>
                  <a:srgbClr val="000000"/>
                </a:solidFill>
                <a:ea typeface="楷体" panose="02010609060101010101" pitchFamily="49" charset="-122"/>
                <a:cs typeface="Times New Roman" panose="02020603050405020304" pitchFamily="18" charset="0"/>
              </a:rPr>
              <a:t>时</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y</a:t>
            </a:r>
            <a:r>
              <a:rPr lang="en-US" altLang="zh-CN" baseline="-25000"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114</a:t>
            </a:r>
            <a:r>
              <a:rPr lang="en-US" altLang="zh-CN" dirty="0">
                <a:solidFill>
                  <a:srgbClr val="000000"/>
                </a:solidFill>
                <a:ea typeface="楷体" panose="02010609060101010101" pitchFamily="49"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000</a:t>
            </a:r>
            <a:r>
              <a:rPr lang="zh-CN" altLang="zh-CN" dirty="0">
                <a:solidFill>
                  <a:srgbClr val="000000"/>
                </a:solidFill>
                <a:ea typeface="楷体" panose="02010609060101010101" pitchFamily="49" charset="-122"/>
                <a:cs typeface="Times New Roman" panose="02020603050405020304" pitchFamily="18" charset="0"/>
              </a:rPr>
              <a:t>元</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y</a:t>
            </a:r>
            <a:r>
              <a:rPr lang="en-US" altLang="zh-CN" baseline="-25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108</a:t>
            </a:r>
            <a:r>
              <a:rPr lang="en-US" altLang="zh-CN" dirty="0">
                <a:solidFill>
                  <a:srgbClr val="000000"/>
                </a:solidFill>
                <a:ea typeface="楷体" panose="02010609060101010101" pitchFamily="49"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000</a:t>
            </a:r>
            <a:r>
              <a:rPr lang="zh-CN" altLang="zh-CN" dirty="0">
                <a:solidFill>
                  <a:srgbClr val="000000"/>
                </a:solidFill>
                <a:ea typeface="楷体" panose="02010609060101010101" pitchFamily="49" charset="-122"/>
                <a:cs typeface="Times New Roman" panose="02020603050405020304" pitchFamily="18" charset="0"/>
              </a:rPr>
              <a:t>元</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solidFill>
                  <a:srgbClr val="000000"/>
                </a:solidFill>
                <a:ea typeface="楷体" panose="02010609060101010101" pitchFamily="49" charset="-122"/>
                <a:cs typeface="Times New Roman" panose="02020603050405020304" pitchFamily="18" charset="0"/>
              </a:rPr>
              <a:t>由</a:t>
            </a:r>
            <a:r>
              <a:rPr lang="en-US" altLang="zh-CN" i="1" dirty="0">
                <a:solidFill>
                  <a:srgbClr val="000000"/>
                </a:solidFill>
                <a:ea typeface="宋体" panose="02010600030101010101" pitchFamily="2" charset="-122"/>
                <a:cs typeface="Times New Roman" panose="02020603050405020304" pitchFamily="18" charset="0"/>
              </a:rPr>
              <a:t>y</a:t>
            </a:r>
            <a:r>
              <a:rPr lang="en-US" altLang="zh-CN" baseline="-25000"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&gt;y</a:t>
            </a:r>
            <a:r>
              <a:rPr lang="en-US" altLang="zh-CN" baseline="-25000" dirty="0">
                <a:solidFill>
                  <a:srgbClr val="000000"/>
                </a:solidFill>
                <a:ea typeface="宋体" panose="02010600030101010101" pitchFamily="2" charset="-122"/>
                <a:cs typeface="Times New Roman" panose="02020603050405020304" pitchFamily="18" charset="0"/>
              </a:rPr>
              <a:t>2</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知应选择方案一处理污水</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1486468080"/>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燕尾形 2"/>
          <p:cNvSpPr/>
          <p:nvPr/>
        </p:nvSpPr>
        <p:spPr>
          <a:xfrm>
            <a:off x="1239655" y="719807"/>
            <a:ext cx="8625838" cy="576064"/>
          </a:xfrm>
          <a:prstGeom prst="chevron">
            <a:avLst/>
          </a:prstGeom>
        </p:spPr>
        <p:style>
          <a:lnRef idx="1">
            <a:schemeClr val="dk1"/>
          </a:lnRef>
          <a:fillRef idx="2">
            <a:schemeClr val="dk1"/>
          </a:fillRef>
          <a:effectRef idx="1">
            <a:schemeClr val="dk1"/>
          </a:effectRef>
          <a:fontRef idx="minor">
            <a:schemeClr val="dk1"/>
          </a:fontRef>
        </p:style>
        <p:txBody>
          <a:bodyPr rtlCol="0" anchor="ctr"/>
          <a:lstStyle/>
          <a:p>
            <a:pPr algn="ctr"/>
            <a:r>
              <a:rPr lang="zh-CN" altLang="zh-CN" dirty="0"/>
              <a:t>探究</a:t>
            </a:r>
            <a:r>
              <a:rPr lang="zh-CN" altLang="zh-CN" dirty="0" smtClean="0"/>
              <a:t>二</a:t>
            </a:r>
            <a:r>
              <a:rPr lang="en-US" altLang="zh-CN" dirty="0" smtClean="0"/>
              <a:t>  </a:t>
            </a:r>
            <a:r>
              <a:rPr lang="zh-CN" altLang="zh-CN" dirty="0" smtClean="0"/>
              <a:t>二次函数</a:t>
            </a:r>
            <a:r>
              <a:rPr lang="zh-CN" altLang="zh-CN" dirty="0"/>
              <a:t>模型的应用</a:t>
            </a:r>
          </a:p>
        </p:txBody>
      </p:sp>
      <p:grpSp>
        <p:nvGrpSpPr>
          <p:cNvPr id="5" name="组合 4"/>
          <p:cNvGrpSpPr/>
          <p:nvPr/>
        </p:nvGrpSpPr>
        <p:grpSpPr>
          <a:xfrm>
            <a:off x="361950" y="1392298"/>
            <a:ext cx="10807700" cy="4819781"/>
            <a:chOff x="361950" y="1358047"/>
            <a:chExt cx="10807700" cy="4819781"/>
          </a:xfrm>
        </p:grpSpPr>
        <p:sp>
          <p:nvSpPr>
            <p:cNvPr id="2" name="矩形 1"/>
            <p:cNvSpPr>
              <a:spLocks noChangeAspect="1"/>
            </p:cNvSpPr>
            <p:nvPr/>
          </p:nvSpPr>
          <p:spPr>
            <a:xfrm>
              <a:off x="361950" y="1358047"/>
              <a:ext cx="10807700" cy="4819781"/>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solidFill>
                    <a:srgbClr val="000000"/>
                  </a:solidFill>
                  <a:latin typeface="Arial" panose="020B0604020202020204" pitchFamily="34" charset="0"/>
                  <a:cs typeface="Times New Roman" panose="02020603050405020304" pitchFamily="18" charset="0"/>
                </a:rPr>
                <a:t>【例</a:t>
              </a: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latin typeface="Arial" panose="020B0604020202020204" pitchFamily="34" charset="0"/>
                  <a:cs typeface="Times New Roman" panose="02020603050405020304" pitchFamily="18" charset="0"/>
                </a:rPr>
                <a:t>】</a:t>
              </a:r>
              <a:r>
                <a:rPr lang="zh-CN" altLang="zh-CN" dirty="0">
                  <a:solidFill>
                    <a:srgbClr val="000000"/>
                  </a:solidFill>
                  <a:latin typeface="NEU-BZ-S92"/>
                  <a:ea typeface="Arial" panose="020B0604020202020204" pitchFamily="34" charset="0"/>
                  <a:cs typeface="Times New Roman" panose="02020603050405020304" pitchFamily="18" charset="0"/>
                </a:rPr>
                <a:t> </a:t>
              </a:r>
              <a:r>
                <a:rPr lang="zh-CN" altLang="zh-CN" dirty="0">
                  <a:solidFill>
                    <a:srgbClr val="000000"/>
                  </a:solidFill>
                  <a:ea typeface="宋体" panose="02010600030101010101" pitchFamily="2" charset="-122"/>
                  <a:cs typeface="Times New Roman" panose="02020603050405020304" pitchFamily="18" charset="0"/>
                </a:rPr>
                <a:t>如图所示</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已知边长为</a:t>
              </a:r>
              <a:r>
                <a:rPr lang="en-US" altLang="zh-CN" dirty="0">
                  <a:solidFill>
                    <a:srgbClr val="000000"/>
                  </a:solidFill>
                  <a:ea typeface="宋体" panose="02010600030101010101" pitchFamily="2" charset="-122"/>
                  <a:cs typeface="Times New Roman" panose="02020603050405020304" pitchFamily="18" charset="0"/>
                </a:rPr>
                <a:t>8</a:t>
              </a:r>
              <a:r>
                <a:rPr lang="zh-CN" altLang="zh-CN" dirty="0">
                  <a:solidFill>
                    <a:srgbClr val="000000"/>
                  </a:solidFill>
                  <a:ea typeface="宋体" panose="02010600030101010101" pitchFamily="2" charset="-122"/>
                  <a:cs typeface="Times New Roman" panose="02020603050405020304" pitchFamily="18" charset="0"/>
                </a:rPr>
                <a:t>米的正方形钢板有一个角被锈蚀</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其中</a:t>
              </a:r>
              <a:r>
                <a:rPr lang="en-US" altLang="zh-CN" i="1" dirty="0">
                  <a:solidFill>
                    <a:srgbClr val="000000"/>
                  </a:solidFill>
                  <a:ea typeface="宋体" panose="02010600030101010101" pitchFamily="2" charset="-122"/>
                  <a:cs typeface="Times New Roman" panose="02020603050405020304" pitchFamily="18" charset="0"/>
                </a:rPr>
                <a:t>AE=</a:t>
              </a:r>
              <a:r>
                <a:rPr lang="en-US" altLang="zh-CN" dirty="0">
                  <a:solidFill>
                    <a:srgbClr val="000000"/>
                  </a:solidFill>
                  <a:ea typeface="宋体" panose="02010600030101010101" pitchFamily="2" charset="-122"/>
                  <a:cs typeface="Times New Roman" panose="02020603050405020304" pitchFamily="18" charset="0"/>
                </a:rPr>
                <a:t>4</a:t>
              </a:r>
              <a:r>
                <a:rPr lang="zh-CN" altLang="zh-CN" dirty="0">
                  <a:solidFill>
                    <a:srgbClr val="000000"/>
                  </a:solidFill>
                  <a:ea typeface="宋体" panose="02010600030101010101" pitchFamily="2" charset="-122"/>
                  <a:cs typeface="Times New Roman" panose="02020603050405020304" pitchFamily="18" charset="0"/>
                </a:rPr>
                <a:t>米</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CD=</a:t>
              </a:r>
              <a:r>
                <a:rPr lang="en-US" altLang="zh-CN" dirty="0">
                  <a:solidFill>
                    <a:srgbClr val="000000"/>
                  </a:solidFill>
                  <a:ea typeface="宋体" panose="02010600030101010101" pitchFamily="2" charset="-122"/>
                  <a:cs typeface="Times New Roman" panose="02020603050405020304" pitchFamily="18" charset="0"/>
                </a:rPr>
                <a:t>6</a:t>
              </a:r>
              <a:r>
                <a:rPr lang="zh-CN" altLang="zh-CN" dirty="0">
                  <a:solidFill>
                    <a:srgbClr val="000000"/>
                  </a:solidFill>
                  <a:ea typeface="宋体" panose="02010600030101010101" pitchFamily="2" charset="-122"/>
                  <a:cs typeface="Times New Roman" panose="02020603050405020304" pitchFamily="18" charset="0"/>
                </a:rPr>
                <a:t>米</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为了合理利用这块钢板</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在五边形</a:t>
              </a:r>
              <a:r>
                <a:rPr lang="en-US" altLang="zh-CN" i="1" dirty="0">
                  <a:solidFill>
                    <a:srgbClr val="000000"/>
                  </a:solidFill>
                  <a:ea typeface="宋体" panose="02010600030101010101" pitchFamily="2" charset="-122"/>
                  <a:cs typeface="Times New Roman" panose="02020603050405020304" pitchFamily="18" charset="0"/>
                </a:rPr>
                <a:t>ABCDE</a:t>
              </a:r>
              <a:r>
                <a:rPr lang="zh-CN" altLang="zh-CN" dirty="0">
                  <a:solidFill>
                    <a:srgbClr val="000000"/>
                  </a:solidFill>
                  <a:ea typeface="宋体" panose="02010600030101010101" pitchFamily="2" charset="-122"/>
                  <a:cs typeface="Times New Roman" panose="02020603050405020304" pitchFamily="18" charset="0"/>
                </a:rPr>
                <a:t>内截取一个矩形</a:t>
              </a:r>
              <a:r>
                <a:rPr lang="en-US" altLang="zh-CN" i="1" dirty="0">
                  <a:solidFill>
                    <a:srgbClr val="000000"/>
                  </a:solidFill>
                  <a:ea typeface="宋体" panose="02010600030101010101" pitchFamily="2" charset="-122"/>
                  <a:cs typeface="Times New Roman" panose="02020603050405020304" pitchFamily="18" charset="0"/>
                </a:rPr>
                <a:t>BNPM</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使点</a:t>
              </a:r>
              <a:r>
                <a:rPr lang="en-US" altLang="zh-CN" i="1" dirty="0">
                  <a:solidFill>
                    <a:srgbClr val="000000"/>
                  </a:solidFill>
                  <a:ea typeface="宋体" panose="02010600030101010101" pitchFamily="2" charset="-122"/>
                  <a:cs typeface="Times New Roman" panose="02020603050405020304" pitchFamily="18" charset="0"/>
                </a:rPr>
                <a:t>P</a:t>
              </a:r>
              <a:r>
                <a:rPr lang="zh-CN" altLang="zh-CN" dirty="0">
                  <a:solidFill>
                    <a:srgbClr val="000000"/>
                  </a:solidFill>
                  <a:ea typeface="宋体" panose="02010600030101010101" pitchFamily="2" charset="-122"/>
                  <a:cs typeface="Times New Roman" panose="02020603050405020304" pitchFamily="18" charset="0"/>
                </a:rPr>
                <a:t>在边</a:t>
              </a:r>
              <a:r>
                <a:rPr lang="en-US" altLang="zh-CN" i="1" dirty="0">
                  <a:solidFill>
                    <a:srgbClr val="000000"/>
                  </a:solidFill>
                  <a:ea typeface="宋体" panose="02010600030101010101" pitchFamily="2" charset="-122"/>
                  <a:cs typeface="Times New Roman" panose="02020603050405020304" pitchFamily="18" charset="0"/>
                </a:rPr>
                <a:t>DE</a:t>
              </a:r>
              <a:r>
                <a:rPr lang="zh-CN" altLang="zh-CN" dirty="0">
                  <a:solidFill>
                    <a:srgbClr val="000000"/>
                  </a:solidFill>
                  <a:ea typeface="宋体" panose="02010600030101010101" pitchFamily="2" charset="-122"/>
                  <a:cs typeface="Times New Roman" panose="02020603050405020304" pitchFamily="18" charset="0"/>
                </a:rPr>
                <a:t>上</a:t>
              </a:r>
              <a:r>
                <a:rPr lang="en-US" altLang="zh-CN" i="1" dirty="0" smtClean="0">
                  <a:solidFill>
                    <a:srgbClr val="000000"/>
                  </a:solidFill>
                  <a:ea typeface="宋体" panose="02010600030101010101" pitchFamily="2" charset="-122"/>
                  <a:cs typeface="Times New Roman" panose="02020603050405020304" pitchFamily="18" charset="0"/>
                </a:rPr>
                <a:t>.</a:t>
              </a:r>
            </a:p>
            <a:p>
              <a:pPr>
                <a:lnSpc>
                  <a:spcPct val="120000"/>
                </a:lnSpc>
                <a:spcAft>
                  <a:spcPts val="0"/>
                </a:spcAft>
                <a:tabLst>
                  <a:tab pos="1029335" algn="l"/>
                  <a:tab pos="1850390" algn="l"/>
                  <a:tab pos="2538095" algn="l"/>
                  <a:tab pos="3221990" algn="l"/>
                </a:tabLst>
              </a:pPr>
              <a:endParaRPr lang="en-US" altLang="zh-CN" i="1" dirty="0">
                <a:solidFill>
                  <a:srgbClr val="000000"/>
                </a:solidFill>
                <a:latin typeface="NEU-BZ-S92"/>
                <a:ea typeface="宋体" panose="02010600030101010101" pitchFamily="2"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设</a:t>
              </a:r>
              <a:r>
                <a:rPr lang="en-US" altLang="zh-CN" i="1" dirty="0">
                  <a:solidFill>
                    <a:srgbClr val="000000"/>
                  </a:solidFill>
                  <a:ea typeface="宋体" panose="02010600030101010101" pitchFamily="2" charset="-122"/>
                  <a:cs typeface="Times New Roman" panose="02020603050405020304" pitchFamily="18" charset="0"/>
                </a:rPr>
                <a:t>MP=x</a:t>
              </a:r>
              <a:r>
                <a:rPr lang="zh-CN" altLang="zh-CN" dirty="0">
                  <a:solidFill>
                    <a:srgbClr val="000000"/>
                  </a:solidFill>
                  <a:ea typeface="宋体" panose="02010600030101010101" pitchFamily="2" charset="-122"/>
                  <a:cs typeface="Times New Roman" panose="02020603050405020304" pitchFamily="18" charset="0"/>
                </a:rPr>
                <a:t>米</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PN=y</a:t>
              </a:r>
              <a:r>
                <a:rPr lang="zh-CN" altLang="zh-CN" dirty="0">
                  <a:solidFill>
                    <a:srgbClr val="000000"/>
                  </a:solidFill>
                  <a:ea typeface="宋体" panose="02010600030101010101" pitchFamily="2" charset="-122"/>
                  <a:cs typeface="Times New Roman" panose="02020603050405020304" pitchFamily="18" charset="0"/>
                </a:rPr>
                <a:t>米</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将</a:t>
              </a:r>
              <a:r>
                <a:rPr lang="en-US" altLang="zh-CN" i="1" dirty="0">
                  <a:solidFill>
                    <a:srgbClr val="000000"/>
                  </a:solidFill>
                  <a:ea typeface="宋体" panose="02010600030101010101" pitchFamily="2" charset="-122"/>
                  <a:cs typeface="Times New Roman" panose="02020603050405020304" pitchFamily="18" charset="0"/>
                </a:rPr>
                <a:t>y</a:t>
              </a:r>
              <a:r>
                <a:rPr lang="zh-CN" altLang="zh-CN" dirty="0">
                  <a:solidFill>
                    <a:srgbClr val="000000"/>
                  </a:solidFill>
                  <a:ea typeface="宋体" panose="02010600030101010101" pitchFamily="2" charset="-122"/>
                  <a:cs typeface="Times New Roman" panose="02020603050405020304" pitchFamily="18" charset="0"/>
                </a:rPr>
                <a:t>表示成</a:t>
              </a:r>
              <a:r>
                <a:rPr lang="en-US" altLang="zh-CN" i="1" dirty="0">
                  <a:solidFill>
                    <a:srgbClr val="000000"/>
                  </a:solidFill>
                  <a:ea typeface="宋体" panose="02010600030101010101" pitchFamily="2" charset="-122"/>
                  <a:cs typeface="Times New Roman" panose="02020603050405020304" pitchFamily="18" charset="0"/>
                </a:rPr>
                <a:t>x</a:t>
              </a:r>
              <a:r>
                <a:rPr lang="zh-CN" altLang="zh-CN" dirty="0">
                  <a:solidFill>
                    <a:srgbClr val="000000"/>
                  </a:solidFill>
                  <a:ea typeface="宋体" panose="02010600030101010101" pitchFamily="2" charset="-122"/>
                  <a:cs typeface="Times New Roman" panose="02020603050405020304" pitchFamily="18" charset="0"/>
                </a:rPr>
                <a:t>的函数</a:t>
              </a:r>
              <a:r>
                <a:rPr lang="en-US" altLang="zh-CN" dirty="0" smtClean="0">
                  <a:solidFill>
                    <a:srgbClr val="000000"/>
                  </a:solidFill>
                  <a:ea typeface="宋体" panose="02010600030101010101" pitchFamily="2" charset="-122"/>
                  <a:cs typeface="Times New Roman" panose="02020603050405020304" pitchFamily="18" charset="0"/>
                </a:rPr>
                <a:t>,</a:t>
              </a:r>
            </a:p>
            <a:p>
              <a:pPr>
                <a:lnSpc>
                  <a:spcPct val="120000"/>
                </a:lnSpc>
                <a:spcAft>
                  <a:spcPts val="0"/>
                </a:spcAft>
                <a:tabLst>
                  <a:tab pos="1029335" algn="l"/>
                  <a:tab pos="1850390" algn="l"/>
                  <a:tab pos="2538095" algn="l"/>
                  <a:tab pos="3221990" algn="l"/>
                </a:tabLst>
              </a:pPr>
              <a:r>
                <a:rPr lang="zh-CN" altLang="zh-CN" dirty="0" smtClean="0">
                  <a:solidFill>
                    <a:srgbClr val="000000"/>
                  </a:solidFill>
                  <a:ea typeface="宋体" panose="02010600030101010101" pitchFamily="2" charset="-122"/>
                  <a:cs typeface="Times New Roman" panose="02020603050405020304" pitchFamily="18" charset="0"/>
                </a:rPr>
                <a:t>求</a:t>
              </a:r>
              <a:r>
                <a:rPr lang="zh-CN" altLang="zh-CN" dirty="0">
                  <a:solidFill>
                    <a:srgbClr val="000000"/>
                  </a:solidFill>
                  <a:ea typeface="宋体" panose="02010600030101010101" pitchFamily="2" charset="-122"/>
                  <a:cs typeface="Times New Roman" panose="02020603050405020304" pitchFamily="18" charset="0"/>
                </a:rPr>
                <a:t>该函数的解析式及定义域</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宋体" panose="02010600030101010101" pitchFamily="2" charset="-122"/>
                  <a:cs typeface="Times New Roman" panose="02020603050405020304" pitchFamily="18" charset="0"/>
                </a:rPr>
                <a:t>求矩形</a:t>
              </a:r>
              <a:r>
                <a:rPr lang="en-US" altLang="zh-CN" i="1" dirty="0">
                  <a:solidFill>
                    <a:srgbClr val="000000"/>
                  </a:solidFill>
                  <a:ea typeface="宋体" panose="02010600030101010101" pitchFamily="2" charset="-122"/>
                  <a:cs typeface="Times New Roman" panose="02020603050405020304" pitchFamily="18" charset="0"/>
                </a:rPr>
                <a:t>BNPM</a:t>
              </a:r>
              <a:r>
                <a:rPr lang="zh-CN" altLang="zh-CN" dirty="0">
                  <a:solidFill>
                    <a:srgbClr val="000000"/>
                  </a:solidFill>
                  <a:ea typeface="宋体" panose="02010600030101010101" pitchFamily="2" charset="-122"/>
                  <a:cs typeface="Times New Roman" panose="02020603050405020304" pitchFamily="18" charset="0"/>
                </a:rPr>
                <a:t>面积的最大值</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pic>
          <p:nvPicPr>
            <p:cNvPr id="4" name="NMG1TRA75.eps" descr="id:2147496030;FounderCES"/>
            <p:cNvPicPr/>
            <p:nvPr/>
          </p:nvPicPr>
          <p:blipFill>
            <a:blip r:embed="rId2"/>
            <a:stretch>
              <a:fillRect/>
            </a:stretch>
          </p:blipFill>
          <p:spPr>
            <a:xfrm>
              <a:off x="7993285" y="3168079"/>
              <a:ext cx="2888333" cy="2966559"/>
            </a:xfrm>
            <a:prstGeom prst="rect">
              <a:avLst/>
            </a:prstGeom>
          </p:spPr>
        </p:pic>
      </p:grpSp>
    </p:spTree>
    <p:extLst>
      <p:ext uri="{BB962C8B-B14F-4D97-AF65-F5344CB8AC3E}">
        <p14:creationId xmlns:p14="http://schemas.microsoft.com/office/powerpoint/2010/main" val="2584994891"/>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p:cNvGrpSpPr/>
          <p:nvPr/>
        </p:nvGrpSpPr>
        <p:grpSpPr>
          <a:xfrm>
            <a:off x="361950" y="575791"/>
            <a:ext cx="11788775" cy="5852312"/>
            <a:chOff x="361950" y="575791"/>
            <a:chExt cx="11788775" cy="5852312"/>
          </a:xfrm>
        </p:grpSpPr>
        <p:sp>
          <p:nvSpPr>
            <p:cNvPr id="6" name="矩形 5"/>
            <p:cNvSpPr>
              <a:spLocks noChangeAspect="1"/>
            </p:cNvSpPr>
            <p:nvPr/>
          </p:nvSpPr>
          <p:spPr>
            <a:xfrm>
              <a:off x="361950" y="575791"/>
              <a:ext cx="10807700" cy="1217641"/>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latin typeface="+mn-lt"/>
                  <a:cs typeface="Times New Roman" panose="02020603050405020304" pitchFamily="18" charset="0"/>
                </a:rPr>
                <a:t>解</a:t>
              </a:r>
              <a:r>
                <a:rPr lang="en-US" altLang="zh-CN" dirty="0">
                  <a:latin typeface="+mn-lt"/>
                  <a:cs typeface="Times New Roman" panose="02020603050405020304" pitchFamily="18" charset="0"/>
                </a:rPr>
                <a:t>:</a:t>
              </a:r>
              <a:r>
                <a:rPr lang="en-US" altLang="zh-CN" dirty="0">
                  <a:solidFill>
                    <a:srgbClr val="000000"/>
                  </a:solidFill>
                  <a:latin typeface="+mn-lt"/>
                  <a:ea typeface="宋体" panose="02010600030101010101" pitchFamily="2" charset="-122"/>
                  <a:cs typeface="Times New Roman" panose="02020603050405020304" pitchFamily="18" charset="0"/>
                </a:rPr>
                <a:t>(1</a:t>
              </a:r>
              <a:r>
                <a:rPr lang="en-US" altLang="zh-CN" dirty="0" smtClean="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如图</a:t>
              </a:r>
              <a:r>
                <a:rPr lang="en-US" altLang="zh-CN" dirty="0">
                  <a:solidFill>
                    <a:srgbClr val="000000"/>
                  </a:solidFill>
                  <a:ea typeface="宋体" panose="02010600030101010101" pitchFamily="2" charset="-122"/>
                </a:rPr>
                <a:t>,</a:t>
              </a:r>
              <a:r>
                <a:rPr lang="zh-CN" altLang="zh-CN" dirty="0">
                  <a:solidFill>
                    <a:srgbClr val="000000"/>
                  </a:solidFill>
                  <a:ea typeface="楷体" panose="02010609060101010101" pitchFamily="49" charset="-122"/>
                  <a:cs typeface="Times New Roman" panose="02020603050405020304" pitchFamily="18" charset="0"/>
                </a:rPr>
                <a:t>作</a:t>
              </a:r>
              <a:r>
                <a:rPr lang="en-US" altLang="zh-CN" i="1" dirty="0">
                  <a:solidFill>
                    <a:srgbClr val="000000"/>
                  </a:solidFill>
                  <a:ea typeface="宋体" panose="02010600030101010101" pitchFamily="2" charset="-122"/>
                </a:rPr>
                <a:t>PQ</a:t>
              </a:r>
              <a:r>
                <a:rPr lang="zh-CN" altLang="zh-CN" dirty="0">
                  <a:solidFill>
                    <a:srgbClr val="000000"/>
                  </a:solidFill>
                  <a:ea typeface="宋体" panose="02010600030101010101" pitchFamily="2" charset="-122"/>
                  <a:cs typeface="宋体" panose="02010600030101010101" pitchFamily="2" charset="-122"/>
                </a:rPr>
                <a:t>⊥</a:t>
              </a:r>
              <a:r>
                <a:rPr lang="en-US" altLang="zh-CN" i="1" dirty="0">
                  <a:solidFill>
                    <a:srgbClr val="000000"/>
                  </a:solidFill>
                  <a:ea typeface="宋体" panose="02010600030101010101" pitchFamily="2" charset="-122"/>
                </a:rPr>
                <a:t>AF</a:t>
              </a:r>
              <a:r>
                <a:rPr lang="en-US" altLang="zh-CN" dirty="0">
                  <a:solidFill>
                    <a:srgbClr val="000000"/>
                  </a:solidFill>
                  <a:ea typeface="宋体" panose="02010600030101010101" pitchFamily="2" charset="-122"/>
                </a:rPr>
                <a:t>,</a:t>
              </a:r>
              <a:r>
                <a:rPr lang="zh-CN" altLang="zh-CN" dirty="0">
                  <a:solidFill>
                    <a:srgbClr val="000000"/>
                  </a:solidFill>
                  <a:ea typeface="楷体" panose="02010609060101010101" pitchFamily="49" charset="-122"/>
                  <a:cs typeface="Times New Roman" panose="02020603050405020304" pitchFamily="18" charset="0"/>
                </a:rPr>
                <a:t>垂足为点</a:t>
              </a:r>
              <a:r>
                <a:rPr lang="en-US" altLang="zh-CN" i="1" dirty="0" smtClean="0">
                  <a:solidFill>
                    <a:srgbClr val="000000"/>
                  </a:solidFill>
                  <a:ea typeface="宋体" panose="02010600030101010101" pitchFamily="2" charset="-122"/>
                </a:rPr>
                <a:t>Q</a:t>
              </a:r>
              <a:r>
                <a:rPr lang="en-US" altLang="zh-CN" dirty="0" smtClean="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楷体" panose="02010609060101010101" pitchFamily="49" charset="-122"/>
                  <a:cs typeface="Times New Roman" panose="02020603050405020304" pitchFamily="18" charset="0"/>
                </a:rPr>
                <a:t>则</a:t>
              </a:r>
              <a:r>
                <a:rPr lang="en-US" altLang="zh-CN" i="1" dirty="0">
                  <a:solidFill>
                    <a:srgbClr val="000000"/>
                  </a:solidFill>
                  <a:latin typeface="+mn-lt"/>
                  <a:ea typeface="宋体" panose="02010600030101010101" pitchFamily="2" charset="-122"/>
                  <a:cs typeface="Times New Roman" panose="02020603050405020304" pitchFamily="18" charset="0"/>
                </a:rPr>
                <a:t>PQ=</a:t>
              </a:r>
              <a:r>
                <a:rPr lang="en-US" altLang="zh-CN" dirty="0">
                  <a:solidFill>
                    <a:srgbClr val="000000"/>
                  </a:solidFill>
                  <a:latin typeface="+mn-lt"/>
                  <a:ea typeface="宋体" panose="02010600030101010101" pitchFamily="2" charset="-122"/>
                  <a:cs typeface="Times New Roman" panose="02020603050405020304" pitchFamily="18" charset="0"/>
                </a:rPr>
                <a:t>(8</a:t>
              </a:r>
              <a:r>
                <a:rPr lang="en-US" altLang="zh-CN" i="1" dirty="0">
                  <a:solidFill>
                    <a:srgbClr val="000000"/>
                  </a:solidFill>
                  <a:latin typeface="+mn-lt"/>
                  <a:ea typeface="宋体" panose="02010600030101010101" pitchFamily="2" charset="-122"/>
                  <a:cs typeface="Times New Roman" panose="02020603050405020304" pitchFamily="18" charset="0"/>
                </a:rPr>
                <a:t>-y</a:t>
              </a:r>
              <a:r>
                <a:rPr lang="en-US" altLang="zh-CN" dirty="0">
                  <a:solidFill>
                    <a:srgbClr val="000000"/>
                  </a:solidFill>
                  <a:latin typeface="+mn-lt"/>
                  <a:ea typeface="宋体" panose="02010600030101010101" pitchFamily="2" charset="-122"/>
                  <a:cs typeface="Times New Roman" panose="02020603050405020304" pitchFamily="18" charset="0"/>
                </a:rPr>
                <a:t>)</a:t>
              </a:r>
              <a:r>
                <a:rPr lang="zh-CN" altLang="zh-CN" dirty="0">
                  <a:solidFill>
                    <a:srgbClr val="000000"/>
                  </a:solidFill>
                  <a:latin typeface="+mn-lt"/>
                  <a:ea typeface="楷体" panose="02010609060101010101" pitchFamily="49" charset="-122"/>
                  <a:cs typeface="Times New Roman" panose="02020603050405020304" pitchFamily="18" charset="0"/>
                </a:rPr>
                <a:t>米</a:t>
              </a:r>
              <a:r>
                <a:rPr lang="en-US" altLang="zh-CN" dirty="0">
                  <a:solidFill>
                    <a:srgbClr val="000000"/>
                  </a:solidFill>
                  <a:latin typeface="+mn-lt"/>
                  <a:ea typeface="宋体" panose="02010600030101010101" pitchFamily="2" charset="-122"/>
                  <a:cs typeface="Times New Roman" panose="02020603050405020304" pitchFamily="18" charset="0"/>
                </a:rPr>
                <a:t>,</a:t>
              </a:r>
              <a:r>
                <a:rPr lang="en-US" altLang="zh-CN" i="1" dirty="0">
                  <a:solidFill>
                    <a:srgbClr val="000000"/>
                  </a:solidFill>
                  <a:latin typeface="+mn-lt"/>
                  <a:ea typeface="宋体" panose="02010600030101010101" pitchFamily="2" charset="-122"/>
                  <a:cs typeface="Times New Roman" panose="02020603050405020304" pitchFamily="18" charset="0"/>
                </a:rPr>
                <a:t>EQ=</a:t>
              </a:r>
              <a:r>
                <a:rPr lang="en-US" altLang="zh-CN" dirty="0">
                  <a:solidFill>
                    <a:srgbClr val="000000"/>
                  </a:solidFill>
                  <a:latin typeface="+mn-lt"/>
                  <a:ea typeface="宋体" panose="02010600030101010101" pitchFamily="2" charset="-122"/>
                  <a:cs typeface="Times New Roman" panose="02020603050405020304" pitchFamily="18" charset="0"/>
                </a:rPr>
                <a:t>(</a:t>
              </a:r>
              <a:r>
                <a:rPr lang="en-US" altLang="zh-CN" i="1" dirty="0">
                  <a:solidFill>
                    <a:srgbClr val="000000"/>
                  </a:solidFill>
                  <a:latin typeface="+mn-lt"/>
                  <a:ea typeface="宋体" panose="02010600030101010101" pitchFamily="2" charset="-122"/>
                  <a:cs typeface="Times New Roman" panose="02020603050405020304" pitchFamily="18" charset="0"/>
                </a:rPr>
                <a:t>x-</a:t>
              </a:r>
              <a:r>
                <a:rPr lang="en-US" altLang="zh-CN" dirty="0">
                  <a:solidFill>
                    <a:srgbClr val="000000"/>
                  </a:solidFill>
                  <a:latin typeface="+mn-lt"/>
                  <a:ea typeface="宋体" panose="02010600030101010101" pitchFamily="2" charset="-122"/>
                  <a:cs typeface="Times New Roman" panose="02020603050405020304" pitchFamily="18" charset="0"/>
                </a:rPr>
                <a:t>4)</a:t>
              </a:r>
              <a:r>
                <a:rPr lang="zh-CN" altLang="zh-CN" dirty="0">
                  <a:solidFill>
                    <a:srgbClr val="000000"/>
                  </a:solidFill>
                  <a:latin typeface="+mn-lt"/>
                  <a:ea typeface="楷体" panose="02010609060101010101" pitchFamily="49" charset="-122"/>
                  <a:cs typeface="Times New Roman" panose="02020603050405020304" pitchFamily="18" charset="0"/>
                </a:rPr>
                <a:t>米</a:t>
              </a:r>
              <a:r>
                <a:rPr lang="en-US" altLang="zh-CN" i="1" dirty="0">
                  <a:solidFill>
                    <a:srgbClr val="000000"/>
                  </a:solidFill>
                  <a:latin typeface="+mn-lt"/>
                  <a:ea typeface="宋体" panose="02010600030101010101" pitchFamily="2" charset="-122"/>
                  <a:cs typeface="Times New Roman" panose="02020603050405020304" pitchFamily="18" charset="0"/>
                </a:rPr>
                <a:t>.</a:t>
              </a:r>
              <a:endParaRPr lang="zh-CN" altLang="zh-CN" dirty="0">
                <a:solidFill>
                  <a:srgbClr val="000000"/>
                </a:solidFill>
                <a:latin typeface="+mn-lt"/>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solidFill>
                    <a:srgbClr val="000000"/>
                  </a:solidFill>
                  <a:latin typeface="+mn-lt"/>
                  <a:ea typeface="楷体" panose="02010609060101010101" pitchFamily="49" charset="-122"/>
                  <a:cs typeface="Times New Roman" panose="02020603050405020304" pitchFamily="18" charset="0"/>
                </a:rPr>
                <a:t>因为</a:t>
              </a:r>
              <a:r>
                <a:rPr lang="en-US" altLang="zh-CN" dirty="0">
                  <a:solidFill>
                    <a:srgbClr val="000000"/>
                  </a:solidFill>
                  <a:latin typeface="+mn-lt"/>
                  <a:ea typeface="宋体" panose="02010600030101010101" pitchFamily="2" charset="-122"/>
                  <a:cs typeface="Cambria Math" panose="02040503050406030204" pitchFamily="18" charset="0"/>
                </a:rPr>
                <a:t>△</a:t>
              </a:r>
              <a:r>
                <a:rPr lang="en-US" altLang="zh-CN" i="1" dirty="0">
                  <a:solidFill>
                    <a:srgbClr val="000000"/>
                  </a:solidFill>
                  <a:latin typeface="+mn-lt"/>
                  <a:ea typeface="宋体" panose="02010600030101010101" pitchFamily="2" charset="-122"/>
                  <a:cs typeface="Times New Roman" panose="02020603050405020304" pitchFamily="18" charset="0"/>
                </a:rPr>
                <a:t>EPQ</a:t>
              </a:r>
              <a:r>
                <a:rPr lang="zh-CN" altLang="zh-CN" dirty="0">
                  <a:solidFill>
                    <a:srgbClr val="000000"/>
                  </a:solidFill>
                  <a:latin typeface="+mn-lt"/>
                  <a:ea typeface="宋体" panose="02010600030101010101" pitchFamily="2" charset="-122"/>
                  <a:cs typeface="宋体" panose="02010600030101010101" pitchFamily="2" charset="-122"/>
                </a:rPr>
                <a:t>∽</a:t>
              </a:r>
              <a:r>
                <a:rPr lang="en-US" altLang="zh-CN" dirty="0">
                  <a:solidFill>
                    <a:srgbClr val="000000"/>
                  </a:solidFill>
                  <a:latin typeface="+mn-lt"/>
                  <a:ea typeface="宋体" panose="02010600030101010101" pitchFamily="2" charset="-122"/>
                  <a:cs typeface="Cambria Math" panose="02040503050406030204" pitchFamily="18" charset="0"/>
                </a:rPr>
                <a:t>△</a:t>
              </a:r>
              <a:r>
                <a:rPr lang="en-US" altLang="zh-CN" i="1" dirty="0">
                  <a:solidFill>
                    <a:srgbClr val="000000"/>
                  </a:solidFill>
                  <a:latin typeface="+mn-lt"/>
                  <a:ea typeface="宋体" panose="02010600030101010101" pitchFamily="2" charset="-122"/>
                  <a:cs typeface="Times New Roman" panose="02020603050405020304" pitchFamily="18" charset="0"/>
                </a:rPr>
                <a:t>EDF</a:t>
              </a:r>
              <a:r>
                <a:rPr lang="en-US" altLang="zh-CN" dirty="0">
                  <a:solidFill>
                    <a:srgbClr val="000000"/>
                  </a:solidFill>
                  <a:latin typeface="+mn-lt"/>
                  <a:ea typeface="宋体" panose="02010600030101010101" pitchFamily="2" charset="-122"/>
                  <a:cs typeface="Times New Roman" panose="02020603050405020304" pitchFamily="18" charset="0"/>
                </a:rPr>
                <a:t>,</a:t>
              </a:r>
              <a:endParaRPr lang="zh-CN" altLang="zh-CN" dirty="0">
                <a:solidFill>
                  <a:srgbClr val="000000"/>
                </a:solidFill>
                <a:effectLst/>
                <a:latin typeface="+mn-lt"/>
                <a:ea typeface="方正书宋_GBK" panose="03000509000000000000" pitchFamily="65" charset="-122"/>
                <a:cs typeface="Times New Roman" panose="02020603050405020304" pitchFamily="18" charset="0"/>
              </a:endParaRPr>
            </a:p>
          </p:txBody>
        </p:sp>
        <p:graphicFrame>
          <p:nvGraphicFramePr>
            <p:cNvPr id="8" name="对象 7"/>
            <p:cNvGraphicFramePr>
              <a:graphicFrameLocks noChangeAspect="1"/>
            </p:cNvGraphicFramePr>
            <p:nvPr>
              <p:extLst>
                <p:ext uri="{D42A27DB-BD31-4B8C-83A1-F6EECF244321}">
                  <p14:modId xmlns:p14="http://schemas.microsoft.com/office/powerpoint/2010/main" val="3328214396"/>
                </p:ext>
              </p:extLst>
            </p:nvPr>
          </p:nvGraphicFramePr>
          <p:xfrm>
            <a:off x="504825" y="1797050"/>
            <a:ext cx="11645900" cy="2795588"/>
          </p:xfrm>
          <a:graphic>
            <a:graphicData uri="http://schemas.openxmlformats.org/presentationml/2006/ole">
              <mc:AlternateContent xmlns:mc="http://schemas.openxmlformats.org/markup-compatibility/2006">
                <mc:Choice xmlns:v="urn:schemas-microsoft-com:vml" Requires="v">
                  <p:oleObj spid="_x0000_s3086" name="文档" r:id="rId4" imgW="3826872" imgH="923245" progId="Word.Document.12">
                    <p:embed/>
                  </p:oleObj>
                </mc:Choice>
                <mc:Fallback>
                  <p:oleObj name="文档" r:id="rId4" imgW="3826872" imgH="923245" progId="Word.Document.12">
                    <p:embed/>
                    <p:pic>
                      <p:nvPicPr>
                        <p:cNvPr id="0" name=""/>
                        <p:cNvPicPr/>
                        <p:nvPr/>
                      </p:nvPicPr>
                      <p:blipFill>
                        <a:blip r:embed="rId5"/>
                        <a:stretch>
                          <a:fillRect/>
                        </a:stretch>
                      </p:blipFill>
                      <p:spPr>
                        <a:xfrm>
                          <a:off x="504825" y="1797050"/>
                          <a:ext cx="11645900" cy="2795588"/>
                        </a:xfrm>
                        <a:prstGeom prst="rect">
                          <a:avLst/>
                        </a:prstGeom>
                      </p:spPr>
                    </p:pic>
                  </p:oleObj>
                </mc:Fallback>
              </mc:AlternateContent>
            </a:graphicData>
          </a:graphic>
        </p:graphicFrame>
        <p:sp>
          <p:nvSpPr>
            <p:cNvPr id="9" name="矩形 8"/>
            <p:cNvSpPr>
              <a:spLocks noChangeAspect="1"/>
            </p:cNvSpPr>
            <p:nvPr/>
          </p:nvSpPr>
          <p:spPr>
            <a:xfrm>
              <a:off x="361950" y="4619531"/>
              <a:ext cx="10807700" cy="1808572"/>
            </a:xfrm>
            <a:prstGeom prst="rect">
              <a:avLst/>
            </a:prstGeom>
          </p:spPr>
          <p:txBody>
            <a:bodyPr>
              <a:spAutoFit/>
            </a:bodyPr>
            <a:lstStyle/>
            <a:p>
              <a:pPr>
                <a:lnSpc>
                  <a:spcPct val="120000"/>
                </a:lnSpc>
              </a:pPr>
              <a:r>
                <a:rPr lang="en-US" altLang="zh-CN" i="1" dirty="0">
                  <a:solidFill>
                    <a:srgbClr val="000000"/>
                  </a:solidFill>
                  <a:latin typeface="+mn-lt"/>
                  <a:ea typeface="宋体" panose="02010600030101010101" pitchFamily="2" charset="-122"/>
                </a:rPr>
                <a:t>S</a:t>
              </a:r>
              <a:r>
                <a:rPr lang="en-US" altLang="zh-CN" dirty="0">
                  <a:solidFill>
                    <a:srgbClr val="000000"/>
                  </a:solidFill>
                  <a:latin typeface="+mn-lt"/>
                  <a:ea typeface="宋体" panose="02010600030101010101" pitchFamily="2" charset="-122"/>
                </a:rPr>
                <a:t>(</a:t>
              </a:r>
              <a:r>
                <a:rPr lang="en-US" altLang="zh-CN" i="1" dirty="0">
                  <a:solidFill>
                    <a:srgbClr val="000000"/>
                  </a:solidFill>
                  <a:latin typeface="+mn-lt"/>
                  <a:ea typeface="宋体" panose="02010600030101010101" pitchFamily="2" charset="-122"/>
                </a:rPr>
                <a:t>x</a:t>
              </a:r>
              <a:r>
                <a:rPr lang="en-US" altLang="zh-CN" dirty="0">
                  <a:solidFill>
                    <a:srgbClr val="000000"/>
                  </a:solidFill>
                  <a:latin typeface="+mn-lt"/>
                  <a:ea typeface="宋体" panose="02010600030101010101" pitchFamily="2" charset="-122"/>
                </a:rPr>
                <a:t>)</a:t>
              </a:r>
              <a:r>
                <a:rPr lang="zh-CN" altLang="zh-CN" dirty="0">
                  <a:solidFill>
                    <a:srgbClr val="000000"/>
                  </a:solidFill>
                  <a:latin typeface="+mn-lt"/>
                  <a:ea typeface="楷体" panose="02010609060101010101" pitchFamily="49" charset="-122"/>
                  <a:cs typeface="Times New Roman" panose="02020603050405020304" pitchFamily="18" charset="0"/>
                </a:rPr>
                <a:t>是关于</a:t>
              </a:r>
              <a:r>
                <a:rPr lang="en-US" altLang="zh-CN" i="1" dirty="0">
                  <a:solidFill>
                    <a:srgbClr val="000000"/>
                  </a:solidFill>
                  <a:latin typeface="+mn-lt"/>
                  <a:ea typeface="宋体" panose="02010600030101010101" pitchFamily="2" charset="-122"/>
                </a:rPr>
                <a:t>x</a:t>
              </a:r>
              <a:r>
                <a:rPr lang="zh-CN" altLang="zh-CN" dirty="0">
                  <a:solidFill>
                    <a:srgbClr val="000000"/>
                  </a:solidFill>
                  <a:latin typeface="+mn-lt"/>
                  <a:ea typeface="楷体" panose="02010609060101010101" pitchFamily="49" charset="-122"/>
                  <a:cs typeface="Times New Roman" panose="02020603050405020304" pitchFamily="18" charset="0"/>
                </a:rPr>
                <a:t>的二次函数</a:t>
              </a:r>
              <a:r>
                <a:rPr lang="en-US" altLang="zh-CN" dirty="0">
                  <a:solidFill>
                    <a:srgbClr val="000000"/>
                  </a:solidFill>
                  <a:latin typeface="+mn-lt"/>
                  <a:ea typeface="宋体" panose="02010600030101010101" pitchFamily="2" charset="-122"/>
                </a:rPr>
                <a:t>,</a:t>
              </a:r>
              <a:r>
                <a:rPr lang="zh-CN" altLang="zh-CN" dirty="0">
                  <a:solidFill>
                    <a:srgbClr val="000000"/>
                  </a:solidFill>
                  <a:latin typeface="+mn-lt"/>
                  <a:ea typeface="楷体" panose="02010609060101010101" pitchFamily="49" charset="-122"/>
                  <a:cs typeface="Times New Roman" panose="02020603050405020304" pitchFamily="18" charset="0"/>
                </a:rPr>
                <a:t>其图象开口向下</a:t>
              </a:r>
              <a:r>
                <a:rPr lang="en-US" altLang="zh-CN" dirty="0">
                  <a:solidFill>
                    <a:srgbClr val="000000"/>
                  </a:solidFill>
                  <a:latin typeface="+mn-lt"/>
                  <a:ea typeface="宋体" panose="02010600030101010101" pitchFamily="2" charset="-122"/>
                </a:rPr>
                <a:t>,</a:t>
              </a:r>
              <a:r>
                <a:rPr lang="zh-CN" altLang="zh-CN" dirty="0">
                  <a:solidFill>
                    <a:srgbClr val="000000"/>
                  </a:solidFill>
                  <a:latin typeface="+mn-lt"/>
                  <a:ea typeface="楷体" panose="02010609060101010101" pitchFamily="49" charset="-122"/>
                  <a:cs typeface="Times New Roman" panose="02020603050405020304" pitchFamily="18" charset="0"/>
                </a:rPr>
                <a:t>对称轴为直线</a:t>
              </a:r>
              <a:r>
                <a:rPr lang="en-US" altLang="zh-CN" i="1" dirty="0">
                  <a:solidFill>
                    <a:srgbClr val="000000"/>
                  </a:solidFill>
                  <a:latin typeface="+mn-lt"/>
                  <a:ea typeface="宋体" panose="02010600030101010101" pitchFamily="2" charset="-122"/>
                </a:rPr>
                <a:t>x=</a:t>
              </a:r>
              <a:r>
                <a:rPr lang="en-US" altLang="zh-CN" dirty="0">
                  <a:solidFill>
                    <a:srgbClr val="000000"/>
                  </a:solidFill>
                  <a:latin typeface="+mn-lt"/>
                  <a:ea typeface="宋体" panose="02010600030101010101" pitchFamily="2" charset="-122"/>
                </a:rPr>
                <a:t>10,</a:t>
              </a:r>
              <a:r>
                <a:rPr lang="zh-CN" altLang="zh-CN" dirty="0">
                  <a:solidFill>
                    <a:srgbClr val="000000"/>
                  </a:solidFill>
                  <a:latin typeface="+mn-lt"/>
                  <a:ea typeface="楷体" panose="02010609060101010101" pitchFamily="49" charset="-122"/>
                  <a:cs typeface="Times New Roman" panose="02020603050405020304" pitchFamily="18" charset="0"/>
                </a:rPr>
                <a:t>即当</a:t>
              </a:r>
              <a:r>
                <a:rPr lang="en-US" altLang="zh-CN" i="1" dirty="0">
                  <a:solidFill>
                    <a:srgbClr val="000000"/>
                  </a:solidFill>
                  <a:latin typeface="+mn-lt"/>
                  <a:ea typeface="宋体" panose="02010600030101010101" pitchFamily="2" charset="-122"/>
                </a:rPr>
                <a:t>x</a:t>
              </a:r>
              <a:r>
                <a:rPr lang="zh-CN" altLang="zh-CN" dirty="0">
                  <a:solidFill>
                    <a:srgbClr val="000000"/>
                  </a:solidFill>
                  <a:latin typeface="+mn-lt"/>
                  <a:ea typeface="宋体" panose="02010600030101010101" pitchFamily="2" charset="-122"/>
                  <a:cs typeface="宋体" panose="02010600030101010101" pitchFamily="2" charset="-122"/>
                </a:rPr>
                <a:t>∈</a:t>
              </a:r>
              <a:r>
                <a:rPr lang="en-US" altLang="zh-CN" dirty="0">
                  <a:solidFill>
                    <a:srgbClr val="000000"/>
                  </a:solidFill>
                  <a:latin typeface="+mn-lt"/>
                  <a:ea typeface="宋体" panose="02010600030101010101" pitchFamily="2" charset="-122"/>
                </a:rPr>
                <a:t>[4,8]</a:t>
              </a:r>
              <a:r>
                <a:rPr lang="zh-CN" altLang="zh-CN" dirty="0">
                  <a:solidFill>
                    <a:srgbClr val="000000"/>
                  </a:solidFill>
                  <a:latin typeface="+mn-lt"/>
                  <a:ea typeface="楷体" panose="02010609060101010101" pitchFamily="49" charset="-122"/>
                  <a:cs typeface="Times New Roman" panose="02020603050405020304" pitchFamily="18" charset="0"/>
                </a:rPr>
                <a:t>时</a:t>
              </a:r>
              <a:r>
                <a:rPr lang="en-US" altLang="zh-CN" dirty="0">
                  <a:solidFill>
                    <a:srgbClr val="000000"/>
                  </a:solidFill>
                  <a:latin typeface="+mn-lt"/>
                  <a:ea typeface="宋体" panose="02010600030101010101" pitchFamily="2" charset="-122"/>
                </a:rPr>
                <a:t>,</a:t>
              </a:r>
              <a:r>
                <a:rPr lang="en-US" altLang="zh-CN" i="1" dirty="0">
                  <a:solidFill>
                    <a:srgbClr val="000000"/>
                  </a:solidFill>
                  <a:latin typeface="+mn-lt"/>
                  <a:ea typeface="宋体" panose="02010600030101010101" pitchFamily="2" charset="-122"/>
                </a:rPr>
                <a:t>S</a:t>
              </a:r>
              <a:r>
                <a:rPr lang="en-US" altLang="zh-CN" dirty="0">
                  <a:solidFill>
                    <a:srgbClr val="000000"/>
                  </a:solidFill>
                  <a:latin typeface="+mn-lt"/>
                  <a:ea typeface="宋体" panose="02010600030101010101" pitchFamily="2" charset="-122"/>
                </a:rPr>
                <a:t>(</a:t>
              </a:r>
              <a:r>
                <a:rPr lang="en-US" altLang="zh-CN" i="1" dirty="0">
                  <a:solidFill>
                    <a:srgbClr val="000000"/>
                  </a:solidFill>
                  <a:latin typeface="+mn-lt"/>
                  <a:ea typeface="宋体" panose="02010600030101010101" pitchFamily="2" charset="-122"/>
                </a:rPr>
                <a:t>x</a:t>
              </a:r>
              <a:r>
                <a:rPr lang="en-US" altLang="zh-CN" dirty="0">
                  <a:solidFill>
                    <a:srgbClr val="000000"/>
                  </a:solidFill>
                  <a:latin typeface="+mn-lt"/>
                  <a:ea typeface="宋体" panose="02010600030101010101" pitchFamily="2" charset="-122"/>
                </a:rPr>
                <a:t>)</a:t>
              </a:r>
              <a:r>
                <a:rPr lang="zh-CN" altLang="zh-CN" dirty="0">
                  <a:solidFill>
                    <a:srgbClr val="000000"/>
                  </a:solidFill>
                  <a:latin typeface="+mn-lt"/>
                  <a:ea typeface="楷体" panose="02010609060101010101" pitchFamily="49" charset="-122"/>
                  <a:cs typeface="Times New Roman" panose="02020603050405020304" pitchFamily="18" charset="0"/>
                </a:rPr>
                <a:t>单调递增</a:t>
              </a:r>
              <a:r>
                <a:rPr lang="en-US" altLang="zh-CN" dirty="0">
                  <a:solidFill>
                    <a:srgbClr val="000000"/>
                  </a:solidFill>
                  <a:latin typeface="+mn-lt"/>
                  <a:ea typeface="宋体" panose="02010600030101010101" pitchFamily="2" charset="-122"/>
                </a:rPr>
                <a:t>,</a:t>
              </a:r>
              <a:r>
                <a:rPr lang="zh-CN" altLang="zh-CN" dirty="0">
                  <a:solidFill>
                    <a:srgbClr val="000000"/>
                  </a:solidFill>
                  <a:latin typeface="+mn-lt"/>
                  <a:ea typeface="楷体" panose="02010609060101010101" pitchFamily="49" charset="-122"/>
                  <a:cs typeface="Times New Roman" panose="02020603050405020304" pitchFamily="18" charset="0"/>
                </a:rPr>
                <a:t>故当</a:t>
              </a:r>
              <a:r>
                <a:rPr lang="en-US" altLang="zh-CN" i="1" dirty="0">
                  <a:solidFill>
                    <a:srgbClr val="000000"/>
                  </a:solidFill>
                  <a:latin typeface="+mn-lt"/>
                  <a:ea typeface="宋体" panose="02010600030101010101" pitchFamily="2" charset="-122"/>
                </a:rPr>
                <a:t>x=</a:t>
              </a:r>
              <a:r>
                <a:rPr lang="en-US" altLang="zh-CN" dirty="0">
                  <a:solidFill>
                    <a:srgbClr val="000000"/>
                  </a:solidFill>
                  <a:latin typeface="+mn-lt"/>
                  <a:ea typeface="宋体" panose="02010600030101010101" pitchFamily="2" charset="-122"/>
                </a:rPr>
                <a:t>8</a:t>
              </a:r>
              <a:r>
                <a:rPr lang="zh-CN" altLang="zh-CN" dirty="0">
                  <a:solidFill>
                    <a:srgbClr val="000000"/>
                  </a:solidFill>
                  <a:latin typeface="+mn-lt"/>
                  <a:ea typeface="楷体" panose="02010609060101010101" pitchFamily="49" charset="-122"/>
                  <a:cs typeface="Times New Roman" panose="02020603050405020304" pitchFamily="18" charset="0"/>
                </a:rPr>
                <a:t>米时</a:t>
              </a:r>
              <a:r>
                <a:rPr lang="en-US" altLang="zh-CN" dirty="0">
                  <a:solidFill>
                    <a:srgbClr val="000000"/>
                  </a:solidFill>
                  <a:latin typeface="+mn-lt"/>
                  <a:ea typeface="宋体" panose="02010600030101010101" pitchFamily="2" charset="-122"/>
                </a:rPr>
                <a:t>,</a:t>
              </a:r>
              <a:r>
                <a:rPr lang="zh-CN" altLang="zh-CN" dirty="0">
                  <a:solidFill>
                    <a:srgbClr val="000000"/>
                  </a:solidFill>
                  <a:latin typeface="+mn-lt"/>
                  <a:ea typeface="楷体" panose="02010609060101010101" pitchFamily="49" charset="-122"/>
                  <a:cs typeface="Times New Roman" panose="02020603050405020304" pitchFamily="18" charset="0"/>
                </a:rPr>
                <a:t>矩形</a:t>
              </a:r>
              <a:r>
                <a:rPr lang="en-US" altLang="zh-CN" i="1" dirty="0">
                  <a:solidFill>
                    <a:srgbClr val="000000"/>
                  </a:solidFill>
                  <a:latin typeface="+mn-lt"/>
                  <a:ea typeface="宋体" panose="02010600030101010101" pitchFamily="2" charset="-122"/>
                </a:rPr>
                <a:t>BNPM</a:t>
              </a:r>
              <a:r>
                <a:rPr lang="zh-CN" altLang="zh-CN" dirty="0">
                  <a:solidFill>
                    <a:srgbClr val="000000"/>
                  </a:solidFill>
                  <a:latin typeface="+mn-lt"/>
                  <a:ea typeface="楷体" panose="02010609060101010101" pitchFamily="49" charset="-122"/>
                  <a:cs typeface="Times New Roman" panose="02020603050405020304" pitchFamily="18" charset="0"/>
                </a:rPr>
                <a:t>的面积取得最大值</a:t>
              </a:r>
              <a:r>
                <a:rPr lang="en-US" altLang="zh-CN" dirty="0">
                  <a:solidFill>
                    <a:srgbClr val="000000"/>
                  </a:solidFill>
                  <a:latin typeface="+mn-lt"/>
                  <a:ea typeface="宋体" panose="02010600030101010101" pitchFamily="2" charset="-122"/>
                </a:rPr>
                <a:t>,</a:t>
              </a:r>
              <a:r>
                <a:rPr lang="zh-CN" altLang="zh-CN" dirty="0">
                  <a:solidFill>
                    <a:srgbClr val="000000"/>
                  </a:solidFill>
                  <a:latin typeface="+mn-lt"/>
                  <a:ea typeface="楷体" panose="02010609060101010101" pitchFamily="49" charset="-122"/>
                  <a:cs typeface="Times New Roman" panose="02020603050405020304" pitchFamily="18" charset="0"/>
                </a:rPr>
                <a:t>最大面积为</a:t>
              </a:r>
              <a:r>
                <a:rPr lang="en-US" altLang="zh-CN" dirty="0">
                  <a:solidFill>
                    <a:srgbClr val="000000"/>
                  </a:solidFill>
                  <a:latin typeface="+mn-lt"/>
                  <a:ea typeface="宋体" panose="02010600030101010101" pitchFamily="2" charset="-122"/>
                </a:rPr>
                <a:t>48</a:t>
              </a:r>
              <a:r>
                <a:rPr lang="zh-CN" altLang="zh-CN" dirty="0">
                  <a:solidFill>
                    <a:srgbClr val="000000"/>
                  </a:solidFill>
                  <a:latin typeface="+mn-lt"/>
                  <a:ea typeface="楷体" panose="02010609060101010101" pitchFamily="49" charset="-122"/>
                  <a:cs typeface="Times New Roman" panose="02020603050405020304" pitchFamily="18" charset="0"/>
                </a:rPr>
                <a:t>平方米</a:t>
              </a:r>
              <a:r>
                <a:rPr lang="en-US" altLang="zh-CN" i="1" dirty="0">
                  <a:solidFill>
                    <a:srgbClr val="000000"/>
                  </a:solidFill>
                  <a:latin typeface="+mn-lt"/>
                  <a:ea typeface="宋体" panose="02010600030101010101" pitchFamily="2" charset="-122"/>
                </a:rPr>
                <a:t>.</a:t>
              </a:r>
              <a:endParaRPr lang="zh-CN" altLang="en-US" dirty="0">
                <a:latin typeface="+mn-lt"/>
              </a:endParaRPr>
            </a:p>
          </p:txBody>
        </p:sp>
        <p:pic>
          <p:nvPicPr>
            <p:cNvPr id="10" name="NMG1TRA76.eps" descr="id:2147496037;FounderCES"/>
            <p:cNvPicPr/>
            <p:nvPr/>
          </p:nvPicPr>
          <p:blipFill>
            <a:blip r:embed="rId6"/>
            <a:stretch>
              <a:fillRect/>
            </a:stretch>
          </p:blipFill>
          <p:spPr>
            <a:xfrm>
              <a:off x="7489229" y="1295871"/>
              <a:ext cx="3096344" cy="3221058"/>
            </a:xfrm>
            <a:prstGeom prst="rect">
              <a:avLst/>
            </a:prstGeom>
          </p:spPr>
        </p:pic>
      </p:grpSp>
    </p:spTree>
    <p:extLst>
      <p:ext uri="{BB962C8B-B14F-4D97-AF65-F5344CB8AC3E}">
        <p14:creationId xmlns:p14="http://schemas.microsoft.com/office/powerpoint/2010/main" val="1241430853"/>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延伸探究H.eps" descr="id:2147492067;FounderCES"/>
          <p:cNvPicPr/>
          <p:nvPr/>
        </p:nvPicPr>
        <p:blipFill>
          <a:blip r:embed="rId3"/>
          <a:stretch>
            <a:fillRect/>
          </a:stretch>
        </p:blipFill>
        <p:spPr>
          <a:xfrm>
            <a:off x="4062812" y="758954"/>
            <a:ext cx="2740119" cy="499725"/>
          </a:xfrm>
          <a:prstGeom prst="rect">
            <a:avLst/>
          </a:prstGeom>
        </p:spPr>
      </p:pic>
      <p:sp>
        <p:nvSpPr>
          <p:cNvPr id="2" name="矩形 1"/>
          <p:cNvSpPr>
            <a:spLocks noChangeAspect="1"/>
          </p:cNvSpPr>
          <p:nvPr/>
        </p:nvSpPr>
        <p:spPr>
          <a:xfrm>
            <a:off x="361950" y="1258679"/>
            <a:ext cx="10807700" cy="1217641"/>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solidFill>
                  <a:srgbClr val="000000"/>
                </a:solidFill>
                <a:ea typeface="宋体" panose="02010600030101010101" pitchFamily="2" charset="-122"/>
                <a:cs typeface="Times New Roman" panose="02020603050405020304" pitchFamily="18" charset="0"/>
              </a:rPr>
              <a:t>本例中</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将</a:t>
            </a: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宋体" panose="02010600030101010101" pitchFamily="2" charset="-122"/>
                <a:cs typeface="Times New Roman" panose="02020603050405020304" pitchFamily="18" charset="0"/>
              </a:rPr>
              <a:t>改为</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若所截取的矩形</a:t>
            </a:r>
            <a:r>
              <a:rPr lang="en-US" altLang="zh-CN" i="1" dirty="0">
                <a:solidFill>
                  <a:srgbClr val="000000"/>
                </a:solidFill>
                <a:ea typeface="宋体" panose="02010600030101010101" pitchFamily="2" charset="-122"/>
                <a:cs typeface="Times New Roman" panose="02020603050405020304" pitchFamily="18" charset="0"/>
              </a:rPr>
              <a:t>BNPM</a:t>
            </a:r>
            <a:r>
              <a:rPr lang="zh-CN" altLang="zh-CN" dirty="0">
                <a:solidFill>
                  <a:srgbClr val="000000"/>
                </a:solidFill>
                <a:ea typeface="宋体" panose="02010600030101010101" pitchFamily="2" charset="-122"/>
                <a:cs typeface="Times New Roman" panose="02020603050405020304" pitchFamily="18" charset="0"/>
              </a:rPr>
              <a:t>的面积不小于</a:t>
            </a:r>
            <a:r>
              <a:rPr lang="en-US" altLang="zh-CN" dirty="0">
                <a:solidFill>
                  <a:srgbClr val="000000"/>
                </a:solidFill>
                <a:ea typeface="宋体" panose="02010600030101010101" pitchFamily="2" charset="-122"/>
                <a:cs typeface="Times New Roman" panose="02020603050405020304" pitchFamily="18" charset="0"/>
              </a:rPr>
              <a:t>42</a:t>
            </a:r>
            <a:r>
              <a:rPr lang="zh-CN" altLang="zh-CN" dirty="0">
                <a:solidFill>
                  <a:srgbClr val="000000"/>
                </a:solidFill>
                <a:ea typeface="宋体" panose="02010600030101010101" pitchFamily="2" charset="-122"/>
                <a:cs typeface="Times New Roman" panose="02020603050405020304" pitchFamily="18" charset="0"/>
              </a:rPr>
              <a:t>平方米</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试求</a:t>
            </a:r>
            <a:r>
              <a:rPr lang="en-US" altLang="zh-CN" i="1" dirty="0">
                <a:solidFill>
                  <a:srgbClr val="000000"/>
                </a:solidFill>
                <a:ea typeface="宋体" panose="02010600030101010101" pitchFamily="2" charset="-122"/>
                <a:cs typeface="Times New Roman" panose="02020603050405020304" pitchFamily="18" charset="0"/>
              </a:rPr>
              <a:t>x</a:t>
            </a:r>
            <a:r>
              <a:rPr lang="zh-CN" altLang="zh-CN" dirty="0">
                <a:solidFill>
                  <a:srgbClr val="000000"/>
                </a:solidFill>
                <a:ea typeface="宋体" panose="02010600030101010101" pitchFamily="2" charset="-122"/>
                <a:cs typeface="Times New Roman" panose="02020603050405020304" pitchFamily="18" charset="0"/>
              </a:rPr>
              <a:t>的取值范围</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2846449717"/>
              </p:ext>
            </p:extLst>
          </p:nvPr>
        </p:nvGraphicFramePr>
        <p:xfrm>
          <a:off x="484188" y="2479675"/>
          <a:ext cx="11644312" cy="3521075"/>
        </p:xfrm>
        <a:graphic>
          <a:graphicData uri="http://schemas.openxmlformats.org/presentationml/2006/ole">
            <mc:AlternateContent xmlns:mc="http://schemas.openxmlformats.org/markup-compatibility/2006">
              <mc:Choice xmlns:v="urn:schemas-microsoft-com:vml" Requires="v">
                <p:oleObj spid="_x0000_s4110" name="文档" r:id="rId5" imgW="3826872" imgH="1160076" progId="Word.Document.12">
                  <p:embed/>
                </p:oleObj>
              </mc:Choice>
              <mc:Fallback>
                <p:oleObj name="文档" r:id="rId5" imgW="3826872" imgH="1160076" progId="Word.Document.12">
                  <p:embed/>
                  <p:pic>
                    <p:nvPicPr>
                      <p:cNvPr id="0" name=""/>
                      <p:cNvPicPr/>
                      <p:nvPr/>
                    </p:nvPicPr>
                    <p:blipFill>
                      <a:blip r:embed="rId6"/>
                      <a:stretch>
                        <a:fillRect/>
                      </a:stretch>
                    </p:blipFill>
                    <p:spPr>
                      <a:xfrm>
                        <a:off x="484188" y="2479675"/>
                        <a:ext cx="11644312" cy="3521075"/>
                      </a:xfrm>
                      <a:prstGeom prst="rect">
                        <a:avLst/>
                      </a:prstGeom>
                    </p:spPr>
                  </p:pic>
                </p:oleObj>
              </mc:Fallback>
            </mc:AlternateContent>
          </a:graphicData>
        </a:graphic>
      </p:graphicFrame>
    </p:spTree>
    <p:extLst>
      <p:ext uri="{BB962C8B-B14F-4D97-AF65-F5344CB8AC3E}">
        <p14:creationId xmlns:p14="http://schemas.microsoft.com/office/powerpoint/2010/main" val="3878194356"/>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a:spLocks noChangeAspect="1"/>
          </p:cNvSpPr>
          <p:nvPr/>
        </p:nvSpPr>
        <p:spPr>
          <a:xfrm>
            <a:off x="361950" y="1114336"/>
            <a:ext cx="10807700" cy="3637919"/>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en-US" dirty="0">
                <a:solidFill>
                  <a:srgbClr val="000000"/>
                </a:solidFill>
                <a:latin typeface="黑体" panose="02010609060101010101" pitchFamily="49" charset="-122"/>
                <a:cs typeface="Times New Roman" panose="02020603050405020304" pitchFamily="18" charset="0"/>
              </a:rPr>
              <a:t>反思感悟</a:t>
            </a:r>
            <a:endParaRPr lang="zh-CN" altLang="zh-CN" dirty="0">
              <a:solidFill>
                <a:srgbClr val="000000"/>
              </a:solidFill>
              <a:latin typeface="黑体" panose="02010609060101010101" pitchFamily="49"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smtClean="0">
                <a:solidFill>
                  <a:srgbClr val="000000"/>
                </a:solidFill>
                <a:ea typeface="仿宋" panose="02010609060101010101" pitchFamily="49" charset="-122"/>
                <a:cs typeface="Times New Roman" panose="02020603050405020304" pitchFamily="18" charset="0"/>
              </a:rPr>
              <a:t>解</a:t>
            </a:r>
            <a:r>
              <a:rPr lang="zh-CN" altLang="zh-CN" dirty="0">
                <a:solidFill>
                  <a:srgbClr val="000000"/>
                </a:solidFill>
                <a:ea typeface="仿宋" panose="02010609060101010101" pitchFamily="49" charset="-122"/>
                <a:cs typeface="Times New Roman" panose="02020603050405020304" pitchFamily="18" charset="0"/>
              </a:rPr>
              <a:t>二次函数模型的策略</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仿宋" panose="02010609060101010101" pitchFamily="49" charset="-122"/>
                <a:cs typeface="Times New Roman" panose="02020603050405020304" pitchFamily="18" charset="0"/>
              </a:rPr>
              <a:t>根据实际问题建立函数解析式</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即二次函数解析式</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仿宋" panose="02010609060101010101" pitchFamily="49" charset="-122"/>
                <a:cs typeface="Times New Roman" panose="02020603050405020304" pitchFamily="18" charset="0"/>
              </a:rPr>
              <a:t>利用配方法、判别式法、换元法、函数的单调性等方法求函数的最值</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从而解决实际问题中的最值问题</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(3)</a:t>
            </a:r>
            <a:r>
              <a:rPr lang="zh-CN" altLang="zh-CN" dirty="0">
                <a:solidFill>
                  <a:srgbClr val="000000"/>
                </a:solidFill>
                <a:ea typeface="仿宋" panose="02010609060101010101" pitchFamily="49" charset="-122"/>
                <a:cs typeface="Times New Roman" panose="02020603050405020304" pitchFamily="18" charset="0"/>
              </a:rPr>
              <a:t>解答二次函数最值问题最好结合二次函数的图象</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390083633"/>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燕尾形 2"/>
          <p:cNvSpPr/>
          <p:nvPr/>
        </p:nvSpPr>
        <p:spPr>
          <a:xfrm>
            <a:off x="1239655" y="719807"/>
            <a:ext cx="8625838" cy="576064"/>
          </a:xfrm>
          <a:prstGeom prst="chevron">
            <a:avLst/>
          </a:prstGeom>
        </p:spPr>
        <p:style>
          <a:lnRef idx="1">
            <a:schemeClr val="dk1"/>
          </a:lnRef>
          <a:fillRef idx="2">
            <a:schemeClr val="dk1"/>
          </a:fillRef>
          <a:effectRef idx="1">
            <a:schemeClr val="dk1"/>
          </a:effectRef>
          <a:fontRef idx="minor">
            <a:schemeClr val="dk1"/>
          </a:fontRef>
        </p:style>
        <p:txBody>
          <a:bodyPr rtlCol="0" anchor="ctr"/>
          <a:lstStyle/>
          <a:p>
            <a:pPr algn="ctr"/>
            <a:r>
              <a:rPr lang="zh-CN" altLang="zh-CN" dirty="0"/>
              <a:t>探究</a:t>
            </a:r>
            <a:r>
              <a:rPr lang="zh-CN" altLang="zh-CN" dirty="0" smtClean="0"/>
              <a:t>三</a:t>
            </a:r>
            <a:r>
              <a:rPr lang="en-US" altLang="zh-CN" dirty="0" smtClean="0"/>
              <a:t>  </a:t>
            </a:r>
            <a:r>
              <a:rPr lang="zh-CN" altLang="zh-CN" dirty="0" smtClean="0"/>
              <a:t>分段</a:t>
            </a:r>
            <a:r>
              <a:rPr lang="zh-CN" altLang="zh-CN" dirty="0"/>
              <a:t>函数模型的应用</a:t>
            </a:r>
          </a:p>
        </p:txBody>
      </p:sp>
      <p:sp>
        <p:nvSpPr>
          <p:cNvPr id="2" name="矩形 1"/>
          <p:cNvSpPr>
            <a:spLocks noChangeAspect="1"/>
          </p:cNvSpPr>
          <p:nvPr/>
        </p:nvSpPr>
        <p:spPr>
          <a:xfrm>
            <a:off x="361950" y="1233695"/>
            <a:ext cx="10807700" cy="5309915"/>
          </a:xfrm>
          <a:prstGeom prst="rect">
            <a:avLst/>
          </a:prstGeom>
        </p:spPr>
        <p:txBody>
          <a:bodyPr>
            <a:spAutoFit/>
          </a:bodyPr>
          <a:lstStyle/>
          <a:p>
            <a:pPr>
              <a:lnSpc>
                <a:spcPts val="4100"/>
              </a:lnSpc>
              <a:spcAft>
                <a:spcPts val="0"/>
              </a:spcAft>
              <a:tabLst>
                <a:tab pos="1029335" algn="l"/>
                <a:tab pos="1850390" algn="l"/>
                <a:tab pos="2538095" algn="l"/>
                <a:tab pos="3221990" algn="l"/>
              </a:tabLst>
            </a:pPr>
            <a:r>
              <a:rPr lang="zh-CN" altLang="zh-CN" dirty="0">
                <a:solidFill>
                  <a:srgbClr val="000000"/>
                </a:solidFill>
                <a:latin typeface="Arial" panose="020B0604020202020204" pitchFamily="34" charset="0"/>
                <a:cs typeface="Times New Roman" panose="02020603050405020304" pitchFamily="18" charset="0"/>
              </a:rPr>
              <a:t>【例</a:t>
            </a:r>
            <a:r>
              <a:rPr lang="en-US" altLang="zh-CN" dirty="0">
                <a:solidFill>
                  <a:srgbClr val="000000"/>
                </a:solidFill>
                <a:ea typeface="宋体" panose="02010600030101010101" pitchFamily="2" charset="-122"/>
                <a:cs typeface="Times New Roman" panose="02020603050405020304" pitchFamily="18" charset="0"/>
              </a:rPr>
              <a:t>3</a:t>
            </a:r>
            <a:r>
              <a:rPr lang="zh-CN" altLang="zh-CN" dirty="0">
                <a:solidFill>
                  <a:srgbClr val="000000"/>
                </a:solidFill>
                <a:latin typeface="Arial" panose="020B0604020202020204" pitchFamily="34" charset="0"/>
                <a:cs typeface="Times New Roman" panose="02020603050405020304" pitchFamily="18" charset="0"/>
              </a:rPr>
              <a:t>】</a:t>
            </a:r>
            <a:r>
              <a:rPr lang="zh-CN" altLang="zh-CN" dirty="0">
                <a:solidFill>
                  <a:srgbClr val="000000"/>
                </a:solidFill>
                <a:latin typeface="NEU-BZ-S92"/>
                <a:ea typeface="Arial" panose="020B0604020202020204" pitchFamily="34" charset="0"/>
                <a:cs typeface="Times New Roman" panose="02020603050405020304" pitchFamily="18" charset="0"/>
              </a:rPr>
              <a:t> </a:t>
            </a:r>
            <a:r>
              <a:rPr lang="zh-CN" altLang="zh-CN" dirty="0">
                <a:solidFill>
                  <a:srgbClr val="000000"/>
                </a:solidFill>
                <a:ea typeface="宋体" panose="02010600030101010101" pitchFamily="2" charset="-122"/>
                <a:cs typeface="Times New Roman" panose="02020603050405020304" pitchFamily="18" charset="0"/>
              </a:rPr>
              <a:t>提高过江大桥的车辆通行能力可改善整个城市的交通状况</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在一般情况下</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大桥上的车流速度</a:t>
            </a:r>
            <a:r>
              <a:rPr lang="en-US" altLang="zh-CN" i="1" dirty="0">
                <a:solidFill>
                  <a:srgbClr val="000000"/>
                </a:solidFill>
                <a:ea typeface="宋体" panose="02010600030101010101" pitchFamily="2" charset="-122"/>
                <a:cs typeface="Times New Roman" panose="02020603050405020304" pitchFamily="18" charset="0"/>
              </a:rPr>
              <a:t>v</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单位</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千米</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时</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是车流密度</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单位</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辆</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千米</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的函数</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当桥上的车流密度达到</a:t>
            </a:r>
            <a:r>
              <a:rPr lang="en-US" altLang="zh-CN" dirty="0">
                <a:solidFill>
                  <a:srgbClr val="000000"/>
                </a:solidFill>
                <a:ea typeface="宋体" panose="02010600030101010101" pitchFamily="2" charset="-122"/>
                <a:cs typeface="Times New Roman" panose="02020603050405020304" pitchFamily="18" charset="0"/>
              </a:rPr>
              <a:t>200</a:t>
            </a:r>
            <a:r>
              <a:rPr lang="zh-CN" altLang="zh-CN" dirty="0">
                <a:solidFill>
                  <a:srgbClr val="000000"/>
                </a:solidFill>
                <a:ea typeface="宋体" panose="02010600030101010101" pitchFamily="2" charset="-122"/>
                <a:cs typeface="Times New Roman" panose="02020603050405020304" pitchFamily="18" charset="0"/>
              </a:rPr>
              <a:t>辆</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千米时</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造成堵塞</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此时车流速度为</a:t>
            </a:r>
            <a:r>
              <a:rPr lang="en-US" altLang="zh-CN" dirty="0">
                <a:solidFill>
                  <a:srgbClr val="000000"/>
                </a:solidFill>
                <a:ea typeface="宋体" panose="02010600030101010101" pitchFamily="2" charset="-122"/>
                <a:cs typeface="Times New Roman" panose="02020603050405020304" pitchFamily="18" charset="0"/>
              </a:rPr>
              <a:t>0;</a:t>
            </a:r>
            <a:r>
              <a:rPr lang="zh-CN" altLang="zh-CN" dirty="0">
                <a:solidFill>
                  <a:srgbClr val="000000"/>
                </a:solidFill>
                <a:ea typeface="宋体" panose="02010600030101010101" pitchFamily="2" charset="-122"/>
                <a:cs typeface="Times New Roman" panose="02020603050405020304" pitchFamily="18" charset="0"/>
              </a:rPr>
              <a:t>当车流密度不超过</a:t>
            </a:r>
            <a:r>
              <a:rPr lang="en-US" altLang="zh-CN" dirty="0">
                <a:solidFill>
                  <a:srgbClr val="000000"/>
                </a:solidFill>
                <a:ea typeface="宋体" panose="02010600030101010101" pitchFamily="2" charset="-122"/>
                <a:cs typeface="Times New Roman" panose="02020603050405020304" pitchFamily="18" charset="0"/>
              </a:rPr>
              <a:t>20</a:t>
            </a:r>
            <a:r>
              <a:rPr lang="zh-CN" altLang="zh-CN" dirty="0">
                <a:solidFill>
                  <a:srgbClr val="000000"/>
                </a:solidFill>
                <a:ea typeface="宋体" panose="02010600030101010101" pitchFamily="2" charset="-122"/>
                <a:cs typeface="Times New Roman" panose="02020603050405020304" pitchFamily="18" charset="0"/>
              </a:rPr>
              <a:t>辆</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千米时</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车流速度为</a:t>
            </a:r>
            <a:r>
              <a:rPr lang="en-US" altLang="zh-CN" dirty="0">
                <a:solidFill>
                  <a:srgbClr val="000000"/>
                </a:solidFill>
                <a:ea typeface="宋体" panose="02010600030101010101" pitchFamily="2" charset="-122"/>
                <a:cs typeface="Times New Roman" panose="02020603050405020304" pitchFamily="18" charset="0"/>
              </a:rPr>
              <a:t>60</a:t>
            </a:r>
            <a:r>
              <a:rPr lang="zh-CN" altLang="zh-CN" dirty="0">
                <a:solidFill>
                  <a:srgbClr val="000000"/>
                </a:solidFill>
                <a:ea typeface="宋体" panose="02010600030101010101" pitchFamily="2" charset="-122"/>
                <a:cs typeface="Times New Roman" panose="02020603050405020304" pitchFamily="18" charset="0"/>
              </a:rPr>
              <a:t>千米</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时</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研究表明</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当</a:t>
            </a:r>
            <a:r>
              <a:rPr lang="en-US" altLang="zh-CN" dirty="0">
                <a:solidFill>
                  <a:srgbClr val="000000"/>
                </a:solidFill>
                <a:ea typeface="宋体" panose="02010600030101010101" pitchFamily="2" charset="-122"/>
                <a:cs typeface="Times New Roman" panose="02020603050405020304" pitchFamily="18" charset="0"/>
              </a:rPr>
              <a:t>20</a:t>
            </a:r>
            <a:r>
              <a:rPr lang="en-US" altLang="zh-CN"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200</a:t>
            </a:r>
            <a:r>
              <a:rPr lang="zh-CN" altLang="zh-CN" dirty="0">
                <a:solidFill>
                  <a:srgbClr val="000000"/>
                </a:solidFill>
                <a:ea typeface="宋体" panose="02010600030101010101" pitchFamily="2" charset="-122"/>
                <a:cs typeface="Times New Roman" panose="02020603050405020304" pitchFamily="18" charset="0"/>
              </a:rPr>
              <a:t>时</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车流速度</a:t>
            </a:r>
            <a:r>
              <a:rPr lang="en-US" altLang="zh-CN" i="1" dirty="0">
                <a:solidFill>
                  <a:srgbClr val="000000"/>
                </a:solidFill>
                <a:ea typeface="宋体" panose="02010600030101010101" pitchFamily="2" charset="-122"/>
                <a:cs typeface="Times New Roman" panose="02020603050405020304" pitchFamily="18" charset="0"/>
              </a:rPr>
              <a:t>v</a:t>
            </a:r>
            <a:r>
              <a:rPr lang="zh-CN" altLang="zh-CN" dirty="0">
                <a:solidFill>
                  <a:srgbClr val="000000"/>
                </a:solidFill>
                <a:ea typeface="宋体" panose="02010600030101010101" pitchFamily="2" charset="-122"/>
                <a:cs typeface="Times New Roman" panose="02020603050405020304" pitchFamily="18" charset="0"/>
              </a:rPr>
              <a:t>是车流密度</a:t>
            </a:r>
            <a:r>
              <a:rPr lang="en-US" altLang="zh-CN" i="1" dirty="0">
                <a:solidFill>
                  <a:srgbClr val="000000"/>
                </a:solidFill>
                <a:ea typeface="宋体" panose="02010600030101010101" pitchFamily="2" charset="-122"/>
                <a:cs typeface="Times New Roman" panose="02020603050405020304" pitchFamily="18" charset="0"/>
              </a:rPr>
              <a:t>x</a:t>
            </a:r>
            <a:r>
              <a:rPr lang="zh-CN" altLang="zh-CN" dirty="0">
                <a:solidFill>
                  <a:srgbClr val="000000"/>
                </a:solidFill>
                <a:ea typeface="宋体" panose="02010600030101010101" pitchFamily="2" charset="-122"/>
                <a:cs typeface="Times New Roman" panose="02020603050405020304" pitchFamily="18" charset="0"/>
              </a:rPr>
              <a:t>的一次函数</a:t>
            </a:r>
            <a:r>
              <a:rPr lang="en-US" altLang="zh-CN" i="1" dirty="0" smtClean="0">
                <a:solidFill>
                  <a:srgbClr val="000000"/>
                </a:solidFill>
                <a:ea typeface="宋体" panose="02010600030101010101" pitchFamily="2" charset="-122"/>
                <a:cs typeface="Times New Roman" panose="02020603050405020304" pitchFamily="18" charset="0"/>
              </a:rPr>
              <a:t>.</a:t>
            </a:r>
          </a:p>
          <a:p>
            <a:pPr>
              <a:lnSpc>
                <a:spcPts val="41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rPr>
              <a:t>(1)</a:t>
            </a:r>
            <a:r>
              <a:rPr lang="zh-CN" altLang="zh-CN" dirty="0">
                <a:solidFill>
                  <a:srgbClr val="000000"/>
                </a:solidFill>
                <a:ea typeface="宋体" panose="02010600030101010101" pitchFamily="2" charset="-122"/>
                <a:cs typeface="Times New Roman" panose="02020603050405020304" pitchFamily="18" charset="0"/>
              </a:rPr>
              <a:t>当</a:t>
            </a:r>
            <a:r>
              <a:rPr lang="en-US" altLang="zh-CN" dirty="0">
                <a:solidFill>
                  <a:srgbClr val="000000"/>
                </a:solidFill>
                <a:ea typeface="宋体" panose="02010600030101010101" pitchFamily="2" charset="-122"/>
              </a:rPr>
              <a:t>0</a:t>
            </a:r>
            <a:r>
              <a:rPr lang="en-US" altLang="zh-CN" i="1" dirty="0">
                <a:solidFill>
                  <a:srgbClr val="000000"/>
                </a:solidFill>
                <a:ea typeface="宋体" panose="02010600030101010101" pitchFamily="2" charset="-122"/>
              </a:rPr>
              <a:t>&lt;x</a:t>
            </a:r>
            <a:r>
              <a:rPr lang="en-US" altLang="zh-CN" dirty="0">
                <a:solidFill>
                  <a:srgbClr val="000000"/>
                </a:solidFill>
                <a:latin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rPr>
              <a:t>200</a:t>
            </a:r>
            <a:r>
              <a:rPr lang="zh-CN" altLang="zh-CN" dirty="0">
                <a:solidFill>
                  <a:srgbClr val="000000"/>
                </a:solidFill>
                <a:ea typeface="宋体" panose="02010600030101010101" pitchFamily="2" charset="-122"/>
                <a:cs typeface="Times New Roman" panose="02020603050405020304" pitchFamily="18" charset="0"/>
              </a:rPr>
              <a:t>时</a:t>
            </a:r>
            <a:r>
              <a:rPr lang="en-US" altLang="zh-CN"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求函数</a:t>
            </a:r>
            <a:r>
              <a:rPr lang="en-US" altLang="zh-CN" i="1" dirty="0">
                <a:solidFill>
                  <a:srgbClr val="000000"/>
                </a:solidFill>
                <a:ea typeface="宋体" panose="02010600030101010101" pitchFamily="2" charset="-122"/>
              </a:rPr>
              <a:t>v</a:t>
            </a:r>
            <a:r>
              <a:rPr lang="en-US" altLang="zh-CN" dirty="0">
                <a:solidFill>
                  <a:srgbClr val="000000"/>
                </a:solidFill>
                <a:ea typeface="宋体" panose="02010600030101010101" pitchFamily="2" charset="-122"/>
              </a:rPr>
              <a:t>(</a:t>
            </a:r>
            <a:r>
              <a:rPr lang="en-US" altLang="zh-CN" i="1" dirty="0">
                <a:solidFill>
                  <a:srgbClr val="000000"/>
                </a:solidFill>
                <a:ea typeface="宋体" panose="02010600030101010101" pitchFamily="2" charset="-122"/>
              </a:rPr>
              <a:t>x</a:t>
            </a:r>
            <a:r>
              <a:rPr lang="en-US" altLang="zh-CN" dirty="0">
                <a:solidFill>
                  <a:srgbClr val="000000"/>
                </a:solidFill>
                <a:ea typeface="宋体" panose="02010600030101010101" pitchFamily="2" charset="-122"/>
              </a:rPr>
              <a:t>)</a:t>
            </a:r>
            <a:r>
              <a:rPr lang="zh-CN" altLang="zh-CN" dirty="0">
                <a:solidFill>
                  <a:srgbClr val="000000"/>
                </a:solidFill>
                <a:ea typeface="宋体" panose="02010600030101010101" pitchFamily="2" charset="-122"/>
                <a:cs typeface="Times New Roman" panose="02020603050405020304" pitchFamily="18" charset="0"/>
              </a:rPr>
              <a:t>的解析式</a:t>
            </a:r>
            <a:r>
              <a:rPr lang="en-US" altLang="zh-CN" dirty="0">
                <a:solidFill>
                  <a:srgbClr val="000000"/>
                </a:solidFill>
                <a:ea typeface="宋体" panose="02010600030101010101" pitchFamily="2" charset="-122"/>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ts val="41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宋体" panose="02010600030101010101" pitchFamily="2" charset="-122"/>
                <a:cs typeface="Times New Roman" panose="02020603050405020304" pitchFamily="18" charset="0"/>
              </a:rPr>
              <a:t>当车流密度</a:t>
            </a:r>
            <a:r>
              <a:rPr lang="en-US" altLang="zh-CN" i="1" dirty="0">
                <a:solidFill>
                  <a:srgbClr val="000000"/>
                </a:solidFill>
                <a:ea typeface="宋体" panose="02010600030101010101" pitchFamily="2" charset="-122"/>
                <a:cs typeface="Times New Roman" panose="02020603050405020304" pitchFamily="18" charset="0"/>
              </a:rPr>
              <a:t>x</a:t>
            </a:r>
            <a:r>
              <a:rPr lang="zh-CN" altLang="zh-CN" dirty="0">
                <a:solidFill>
                  <a:srgbClr val="000000"/>
                </a:solidFill>
                <a:ea typeface="宋体" panose="02010600030101010101" pitchFamily="2" charset="-122"/>
                <a:cs typeface="Times New Roman" panose="02020603050405020304" pitchFamily="18" charset="0"/>
              </a:rPr>
              <a:t>为多大时</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车流量</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单位时间内通过桥上某观测点的车辆数</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单位</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辆</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时</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f</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i="1" dirty="0" err="1">
                <a:solidFill>
                  <a:srgbClr val="000000"/>
                </a:solidFill>
                <a:ea typeface="宋体" panose="02010600030101010101" pitchFamily="2" charset="-122"/>
                <a:cs typeface="Times New Roman" panose="02020603050405020304" pitchFamily="18" charset="0"/>
              </a:rPr>
              <a:t>x</a:t>
            </a:r>
            <a:r>
              <a:rPr lang="en-US" altLang="zh-CN" dirty="0" err="1">
                <a:solidFill>
                  <a:srgbClr val="000000"/>
                </a:solidFill>
                <a:ea typeface="宋体" panose="02010600030101010101" pitchFamily="2" charset="-122"/>
                <a:cs typeface="Times New Roman" panose="02020603050405020304" pitchFamily="18" charset="0"/>
              </a:rPr>
              <a:t>·</a:t>
            </a:r>
            <a:r>
              <a:rPr lang="en-US" altLang="zh-CN" i="1" dirty="0" err="1">
                <a:solidFill>
                  <a:srgbClr val="000000"/>
                </a:solidFill>
                <a:ea typeface="宋体" panose="02010600030101010101" pitchFamily="2" charset="-122"/>
                <a:cs typeface="Times New Roman" panose="02020603050405020304" pitchFamily="18" charset="0"/>
              </a:rPr>
              <a:t>v</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可以达到最大</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并求出最大值</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精确到</a:t>
            </a: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辆</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时</a:t>
            </a:r>
            <a:r>
              <a:rPr lang="en-US" altLang="zh-CN" dirty="0" smtClean="0">
                <a:solidFill>
                  <a:srgbClr val="000000"/>
                </a:solidFill>
                <a:ea typeface="宋体" panose="02010600030101010101" pitchFamily="2" charset="-122"/>
                <a:cs typeface="Times New Roman" panose="02020603050405020304" pitchFamily="18" charset="0"/>
              </a:rPr>
              <a:t>)</a:t>
            </a:r>
            <a:r>
              <a:rPr lang="en-US" altLang="zh-CN" i="1" dirty="0" smtClean="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695607708"/>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对象 3"/>
          <p:cNvGraphicFramePr>
            <a:graphicFrameLocks noChangeAspect="1"/>
          </p:cNvGraphicFramePr>
          <p:nvPr>
            <p:extLst>
              <p:ext uri="{D42A27DB-BD31-4B8C-83A1-F6EECF244321}">
                <p14:modId xmlns:p14="http://schemas.microsoft.com/office/powerpoint/2010/main" val="1062045019"/>
              </p:ext>
            </p:extLst>
          </p:nvPr>
        </p:nvGraphicFramePr>
        <p:xfrm>
          <a:off x="504825" y="1215649"/>
          <a:ext cx="11645900" cy="3867150"/>
        </p:xfrm>
        <a:graphic>
          <a:graphicData uri="http://schemas.openxmlformats.org/presentationml/2006/ole">
            <mc:AlternateContent xmlns:mc="http://schemas.openxmlformats.org/markup-compatibility/2006">
              <mc:Choice xmlns:v="urn:schemas-microsoft-com:vml" Requires="v">
                <p:oleObj spid="_x0000_s5134" name="文档" r:id="rId4" imgW="3826872" imgH="1272203" progId="Word.Document.12">
                  <p:embed/>
                </p:oleObj>
              </mc:Choice>
              <mc:Fallback>
                <p:oleObj name="文档" r:id="rId4" imgW="3826872" imgH="1272203" progId="Word.Document.12">
                  <p:embed/>
                  <p:pic>
                    <p:nvPicPr>
                      <p:cNvPr id="0" name=""/>
                      <p:cNvPicPr/>
                      <p:nvPr/>
                    </p:nvPicPr>
                    <p:blipFill>
                      <a:blip r:embed="rId5"/>
                      <a:stretch>
                        <a:fillRect/>
                      </a:stretch>
                    </p:blipFill>
                    <p:spPr>
                      <a:xfrm>
                        <a:off x="504825" y="1215649"/>
                        <a:ext cx="11645900" cy="3867150"/>
                      </a:xfrm>
                      <a:prstGeom prst="rect">
                        <a:avLst/>
                      </a:prstGeom>
                    </p:spPr>
                  </p:pic>
                </p:oleObj>
              </mc:Fallback>
            </mc:AlternateContent>
          </a:graphicData>
        </a:graphic>
      </p:graphicFrame>
    </p:spTree>
    <p:extLst>
      <p:ext uri="{BB962C8B-B14F-4D97-AF65-F5344CB8AC3E}">
        <p14:creationId xmlns:p14="http://schemas.microsoft.com/office/powerpoint/2010/main" val="2563026842"/>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3504087120"/>
              </p:ext>
            </p:extLst>
          </p:nvPr>
        </p:nvGraphicFramePr>
        <p:xfrm>
          <a:off x="504454" y="628135"/>
          <a:ext cx="9361040" cy="5786283"/>
        </p:xfrm>
        <a:graphic>
          <a:graphicData uri="http://schemas.openxmlformats.org/presentationml/2006/ole">
            <mc:AlternateContent xmlns:mc="http://schemas.openxmlformats.org/markup-compatibility/2006">
              <mc:Choice xmlns:v="urn:schemas-microsoft-com:vml" Requires="v">
                <p:oleObj spid="_x0000_s6158" name="文档" r:id="rId4" imgW="3467489" imgH="2143338" progId="Word.Document.12">
                  <p:embed/>
                </p:oleObj>
              </mc:Choice>
              <mc:Fallback>
                <p:oleObj name="文档" r:id="rId4" imgW="3467489" imgH="2143338" progId="Word.Document.12">
                  <p:embed/>
                  <p:pic>
                    <p:nvPicPr>
                      <p:cNvPr id="0" name=""/>
                      <p:cNvPicPr/>
                      <p:nvPr/>
                    </p:nvPicPr>
                    <p:blipFill>
                      <a:blip r:embed="rId5"/>
                      <a:stretch>
                        <a:fillRect/>
                      </a:stretch>
                    </p:blipFill>
                    <p:spPr>
                      <a:xfrm>
                        <a:off x="504454" y="628135"/>
                        <a:ext cx="9361040" cy="5786283"/>
                      </a:xfrm>
                      <a:prstGeom prst="rect">
                        <a:avLst/>
                      </a:prstGeom>
                    </p:spPr>
                  </p:pic>
                </p:oleObj>
              </mc:Fallback>
            </mc:AlternateContent>
          </a:graphicData>
        </a:graphic>
      </p:graphicFrame>
    </p:spTree>
    <p:extLst>
      <p:ext uri="{BB962C8B-B14F-4D97-AF65-F5344CB8AC3E}">
        <p14:creationId xmlns:p14="http://schemas.microsoft.com/office/powerpoint/2010/main" val="2225387778"/>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1561251"/>
            <a:ext cx="10807700" cy="3046988"/>
          </a:xfrm>
          <a:prstGeom prst="rect">
            <a:avLst/>
          </a:prstGeom>
          <a:ln>
            <a:solidFill>
              <a:schemeClr val="tx1"/>
            </a:solidFill>
          </a:ln>
        </p:spPr>
        <p:txBody>
          <a:bodyPr>
            <a:spAutoFit/>
          </a:bodyPr>
          <a:lstStyle/>
          <a:p>
            <a:pPr>
              <a:lnSpc>
                <a:spcPct val="120000"/>
              </a:lnSpc>
              <a:spcAft>
                <a:spcPts val="0"/>
              </a:spcAft>
              <a:tabLst>
                <a:tab pos="1029335" algn="l"/>
                <a:tab pos="1850390" algn="l"/>
                <a:tab pos="2538095" algn="l"/>
                <a:tab pos="3221990" algn="l"/>
              </a:tabLst>
            </a:pPr>
            <a:r>
              <a:rPr lang="zh-CN" altLang="en-US" dirty="0">
                <a:solidFill>
                  <a:srgbClr val="000000"/>
                </a:solidFill>
                <a:latin typeface="黑体" panose="02010609060101010101" pitchFamily="49" charset="-122"/>
                <a:cs typeface="Times New Roman" panose="02020603050405020304" pitchFamily="18" charset="0"/>
              </a:rPr>
              <a:t>反思感悟</a:t>
            </a:r>
            <a:endParaRPr lang="zh-CN" altLang="zh-CN" dirty="0">
              <a:solidFill>
                <a:srgbClr val="000000"/>
              </a:solidFill>
              <a:latin typeface="黑体" panose="02010609060101010101" pitchFamily="49"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smtClean="0">
                <a:solidFill>
                  <a:srgbClr val="000000"/>
                </a:solidFill>
                <a:ea typeface="仿宋" panose="02010609060101010101" pitchFamily="49" charset="-122"/>
                <a:cs typeface="Times New Roman" panose="02020603050405020304" pitchFamily="18" charset="0"/>
              </a:rPr>
              <a:t>构建</a:t>
            </a:r>
            <a:r>
              <a:rPr lang="zh-CN" altLang="zh-CN" dirty="0">
                <a:solidFill>
                  <a:srgbClr val="000000"/>
                </a:solidFill>
                <a:ea typeface="仿宋" panose="02010609060101010101" pitchFamily="49" charset="-122"/>
                <a:cs typeface="Times New Roman" panose="02020603050405020304" pitchFamily="18" charset="0"/>
              </a:rPr>
              <a:t>分段函数模型的关键点</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solidFill>
                  <a:srgbClr val="000000"/>
                </a:solidFill>
                <a:ea typeface="仿宋" panose="02010609060101010101" pitchFamily="49" charset="-122"/>
                <a:cs typeface="Times New Roman" panose="02020603050405020304" pitchFamily="18" charset="0"/>
              </a:rPr>
              <a:t>建立分段函数模型的关键是确定分段的各边界点</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即明确自变量的取值区间</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对每一区间进行分类讨论</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从而写出函数的解析式</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359898639"/>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361950" y="531148"/>
            <a:ext cx="10807700" cy="6001643"/>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solidFill>
                  <a:srgbClr val="000000"/>
                </a:solidFill>
                <a:latin typeface="Arial" panose="020B0604020202020204" pitchFamily="34" charset="0"/>
                <a:cs typeface="Times New Roman" panose="02020603050405020304" pitchFamily="18" charset="0"/>
              </a:rPr>
              <a:t>【变式训练</a:t>
            </a: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latin typeface="Arial" panose="020B0604020202020204" pitchFamily="34" charset="0"/>
                <a:cs typeface="Times New Roman" panose="02020603050405020304" pitchFamily="18" charset="0"/>
              </a:rPr>
              <a:t>】</a:t>
            </a:r>
            <a:r>
              <a:rPr lang="zh-CN" altLang="zh-CN" dirty="0">
                <a:solidFill>
                  <a:srgbClr val="000000"/>
                </a:solidFill>
                <a:latin typeface="NEU-BZ-S92"/>
                <a:ea typeface="Arial" panose="020B0604020202020204" pitchFamily="34" charset="0"/>
                <a:cs typeface="Times New Roman" panose="02020603050405020304" pitchFamily="18" charset="0"/>
              </a:rPr>
              <a:t> </a:t>
            </a:r>
            <a:r>
              <a:rPr lang="zh-CN" altLang="zh-CN" dirty="0">
                <a:solidFill>
                  <a:srgbClr val="000000"/>
                </a:solidFill>
                <a:ea typeface="宋体" panose="02010600030101010101" pitchFamily="2" charset="-122"/>
                <a:cs typeface="Times New Roman" panose="02020603050405020304" pitchFamily="18" charset="0"/>
              </a:rPr>
              <a:t>某医疗研究所开发一种新药</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如果成人按规定的剂量服用</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据监测</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服药后每毫升血液中的含药量</a:t>
            </a:r>
            <a:r>
              <a:rPr lang="en-US" altLang="zh-CN" i="1" dirty="0">
                <a:solidFill>
                  <a:srgbClr val="000000"/>
                </a:solidFill>
                <a:ea typeface="宋体" panose="02010600030101010101" pitchFamily="2" charset="-122"/>
                <a:cs typeface="Times New Roman" panose="02020603050405020304" pitchFamily="18" charset="0"/>
              </a:rPr>
              <a:t>y</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单位</a:t>
            </a:r>
            <a:r>
              <a:rPr lang="en-US" altLang="zh-CN" dirty="0" smtClean="0">
                <a:solidFill>
                  <a:srgbClr val="000000"/>
                </a:solidFill>
                <a:ea typeface="宋体" panose="02010600030101010101" pitchFamily="2" charset="-122"/>
                <a:cs typeface="Times New Roman" panose="02020603050405020304" pitchFamily="18" charset="0"/>
              </a:rPr>
              <a:t>: </a:t>
            </a:r>
            <a:r>
              <a:rPr lang="en-US" altLang="zh-CN" dirty="0" err="1" smtClean="0">
                <a:solidFill>
                  <a:srgbClr val="000000"/>
                </a:solidFill>
                <a:ea typeface="Microsoft Yi Baiti" panose="03000500000000000000" pitchFamily="66" charset="0"/>
                <a:cs typeface="Times New Roman" panose="02020603050405020304" pitchFamily="18" charset="0"/>
              </a:rPr>
              <a:t>μ</a:t>
            </a:r>
            <a:r>
              <a:rPr lang="en-US" altLang="zh-CN" dirty="0" err="1" smtClean="0">
                <a:solidFill>
                  <a:srgbClr val="000000"/>
                </a:solidFill>
                <a:ea typeface="宋体" panose="02010600030101010101" pitchFamily="2" charset="-122"/>
                <a:cs typeface="Times New Roman" panose="02020603050405020304" pitchFamily="18" charset="0"/>
              </a:rPr>
              <a:t>g</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与时间</a:t>
            </a:r>
            <a:r>
              <a:rPr lang="en-US" altLang="zh-CN" i="1" dirty="0">
                <a:solidFill>
                  <a:srgbClr val="000000"/>
                </a:solidFill>
                <a:ea typeface="宋体" panose="02010600030101010101" pitchFamily="2" charset="-122"/>
                <a:cs typeface="Times New Roman" panose="02020603050405020304" pitchFamily="18" charset="0"/>
              </a:rPr>
              <a:t>t</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单位</a:t>
            </a:r>
            <a:r>
              <a:rPr lang="en-US" altLang="zh-CN" dirty="0">
                <a:solidFill>
                  <a:srgbClr val="000000"/>
                </a:solidFill>
                <a:ea typeface="宋体" panose="02010600030101010101" pitchFamily="2" charset="-122"/>
                <a:cs typeface="Times New Roman" panose="02020603050405020304" pitchFamily="18" charset="0"/>
              </a:rPr>
              <a:t>:h)</a:t>
            </a:r>
            <a:r>
              <a:rPr lang="zh-CN" altLang="zh-CN" dirty="0">
                <a:solidFill>
                  <a:srgbClr val="000000"/>
                </a:solidFill>
                <a:ea typeface="宋体" panose="02010600030101010101" pitchFamily="2" charset="-122"/>
                <a:cs typeface="Times New Roman" panose="02020603050405020304" pitchFamily="18" charset="0"/>
              </a:rPr>
              <a:t>之间近似满足如图所示的</a:t>
            </a:r>
            <a:r>
              <a:rPr lang="zh-CN" altLang="zh-CN" dirty="0" smtClean="0">
                <a:solidFill>
                  <a:srgbClr val="000000"/>
                </a:solidFill>
                <a:ea typeface="宋体" panose="02010600030101010101" pitchFamily="2" charset="-122"/>
                <a:cs typeface="Times New Roman" panose="02020603050405020304" pitchFamily="18" charset="0"/>
              </a:rPr>
              <a:t>折线</a:t>
            </a:r>
            <a:r>
              <a:rPr lang="zh-CN" altLang="en-US" dirty="0" smtClean="0">
                <a:solidFill>
                  <a:srgbClr val="000000"/>
                </a:solidFill>
                <a:ea typeface="宋体" panose="02010600030101010101" pitchFamily="2" charset="-122"/>
                <a:cs typeface="Times New Roman" panose="02020603050405020304" pitchFamily="18" charset="0"/>
              </a:rPr>
              <a:t>关系</a:t>
            </a:r>
            <a:r>
              <a:rPr lang="en-US" altLang="zh-CN" i="1" dirty="0" smtClean="0">
                <a:solidFill>
                  <a:srgbClr val="000000"/>
                </a:solidFill>
                <a:ea typeface="宋体" panose="02010600030101010101" pitchFamily="2" charset="-122"/>
                <a:cs typeface="Times New Roman" panose="02020603050405020304" pitchFamily="18" charset="0"/>
              </a:rPr>
              <a:t>.</a:t>
            </a:r>
          </a:p>
          <a:p>
            <a:pPr>
              <a:lnSpc>
                <a:spcPct val="120000"/>
              </a:lnSpc>
              <a:spcAft>
                <a:spcPts val="0"/>
              </a:spcAft>
              <a:tabLst>
                <a:tab pos="1029335" algn="l"/>
                <a:tab pos="1850390" algn="l"/>
                <a:tab pos="2538095" algn="l"/>
                <a:tab pos="3221990" algn="l"/>
              </a:tabLst>
            </a:pPr>
            <a:endParaRPr lang="en-US" altLang="zh-CN" i="1" dirty="0">
              <a:solidFill>
                <a:srgbClr val="000000"/>
              </a:solidFill>
              <a:latin typeface="NEU-BZ-S92"/>
              <a:ea typeface="宋体" panose="02010600030101010101" pitchFamily="2"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endParaRPr lang="en-US" altLang="zh-CN" i="1" dirty="0" smtClean="0">
              <a:solidFill>
                <a:srgbClr val="000000"/>
              </a:solidFill>
              <a:latin typeface="NEU-BZ-S92"/>
              <a:ea typeface="宋体" panose="02010600030101010101" pitchFamily="2"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写出服药后</a:t>
            </a:r>
            <a:r>
              <a:rPr lang="en-US" altLang="zh-CN" i="1" dirty="0">
                <a:solidFill>
                  <a:srgbClr val="000000"/>
                </a:solidFill>
                <a:ea typeface="宋体" panose="02010600030101010101" pitchFamily="2" charset="-122"/>
                <a:cs typeface="Times New Roman" panose="02020603050405020304" pitchFamily="18" charset="0"/>
              </a:rPr>
              <a:t>y</a:t>
            </a:r>
            <a:r>
              <a:rPr lang="zh-CN" altLang="zh-CN" dirty="0">
                <a:solidFill>
                  <a:srgbClr val="000000"/>
                </a:solidFill>
                <a:ea typeface="宋体" panose="02010600030101010101" pitchFamily="2" charset="-122"/>
                <a:cs typeface="Times New Roman" panose="02020603050405020304" pitchFamily="18" charset="0"/>
              </a:rPr>
              <a:t>与</a:t>
            </a:r>
            <a:r>
              <a:rPr lang="en-US" altLang="zh-CN" i="1" dirty="0">
                <a:solidFill>
                  <a:srgbClr val="000000"/>
                </a:solidFill>
                <a:ea typeface="宋体" panose="02010600030101010101" pitchFamily="2" charset="-122"/>
                <a:cs typeface="Times New Roman" panose="02020603050405020304" pitchFamily="18" charset="0"/>
              </a:rPr>
              <a:t>t</a:t>
            </a:r>
            <a:r>
              <a:rPr lang="zh-CN" altLang="zh-CN" dirty="0">
                <a:solidFill>
                  <a:srgbClr val="000000"/>
                </a:solidFill>
                <a:ea typeface="宋体" panose="02010600030101010101" pitchFamily="2" charset="-122"/>
                <a:cs typeface="Times New Roman" panose="02020603050405020304" pitchFamily="18" charset="0"/>
              </a:rPr>
              <a:t>之间的函数解析式</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宋体" panose="02010600030101010101" pitchFamily="2" charset="-122"/>
                <a:cs typeface="Times New Roman" panose="02020603050405020304" pitchFamily="18" charset="0"/>
              </a:rPr>
              <a:t>据测定</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每毫升血液中含药量不少于</a:t>
            </a:r>
            <a:r>
              <a:rPr lang="en-US" altLang="zh-CN" dirty="0">
                <a:solidFill>
                  <a:srgbClr val="000000"/>
                </a:solidFill>
                <a:ea typeface="宋体" panose="02010600030101010101" pitchFamily="2" charset="-122"/>
                <a:cs typeface="Times New Roman" panose="02020603050405020304" pitchFamily="18" charset="0"/>
              </a:rPr>
              <a:t>4 </a:t>
            </a:r>
            <a:r>
              <a:rPr lang="en-US" altLang="zh-CN" dirty="0" err="1">
                <a:solidFill>
                  <a:srgbClr val="000000"/>
                </a:solidFill>
                <a:ea typeface="Microsoft Yi Baiti" panose="03000500000000000000" pitchFamily="66" charset="0"/>
                <a:cs typeface="Times New Roman" panose="02020603050405020304" pitchFamily="18" charset="0"/>
              </a:rPr>
              <a:t>μ</a:t>
            </a:r>
            <a:r>
              <a:rPr lang="en-US" altLang="zh-CN" dirty="0" err="1">
                <a:solidFill>
                  <a:srgbClr val="000000"/>
                </a:solidFill>
                <a:ea typeface="宋体" panose="02010600030101010101" pitchFamily="2" charset="-122"/>
                <a:cs typeface="Times New Roman" panose="02020603050405020304" pitchFamily="18" charset="0"/>
              </a:rPr>
              <a:t>g</a:t>
            </a:r>
            <a:r>
              <a:rPr lang="zh-CN" altLang="zh-CN" dirty="0">
                <a:solidFill>
                  <a:srgbClr val="000000"/>
                </a:solidFill>
                <a:ea typeface="宋体" panose="02010600030101010101" pitchFamily="2" charset="-122"/>
                <a:cs typeface="Times New Roman" panose="02020603050405020304" pitchFamily="18" charset="0"/>
              </a:rPr>
              <a:t>时治疗疾病有效</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假若某病人一天中第一次服药为上午</a:t>
            </a:r>
            <a:r>
              <a:rPr lang="en-US" altLang="zh-CN" dirty="0">
                <a:solidFill>
                  <a:srgbClr val="000000"/>
                </a:solidFill>
                <a:ea typeface="宋体" panose="02010600030101010101" pitchFamily="2" charset="-122"/>
                <a:cs typeface="Times New Roman" panose="02020603050405020304" pitchFamily="18" charset="0"/>
              </a:rPr>
              <a:t>7:00,</a:t>
            </a:r>
            <a:r>
              <a:rPr lang="zh-CN" altLang="zh-CN" dirty="0">
                <a:solidFill>
                  <a:srgbClr val="000000"/>
                </a:solidFill>
                <a:ea typeface="宋体" panose="02010600030101010101" pitchFamily="2" charset="-122"/>
                <a:cs typeface="Times New Roman" panose="02020603050405020304" pitchFamily="18" charset="0"/>
              </a:rPr>
              <a:t>问一天中怎样安排服药时间</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共</a:t>
            </a:r>
            <a:r>
              <a:rPr lang="en-US" altLang="zh-CN" dirty="0">
                <a:solidFill>
                  <a:srgbClr val="000000"/>
                </a:solidFill>
                <a:ea typeface="宋体" panose="02010600030101010101" pitchFamily="2" charset="-122"/>
                <a:cs typeface="Times New Roman" panose="02020603050405020304" pitchFamily="18" charset="0"/>
              </a:rPr>
              <a:t>4</a:t>
            </a:r>
            <a:r>
              <a:rPr lang="zh-CN" altLang="zh-CN" dirty="0">
                <a:solidFill>
                  <a:srgbClr val="000000"/>
                </a:solidFill>
                <a:ea typeface="宋体" panose="02010600030101010101" pitchFamily="2" charset="-122"/>
                <a:cs typeface="Times New Roman" panose="02020603050405020304" pitchFamily="18" charset="0"/>
              </a:rPr>
              <a:t>次</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效果最佳</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pic>
        <p:nvPicPr>
          <p:cNvPr id="4" name="NMG1TRA77.eps" descr="id:2147496072;FounderCES"/>
          <p:cNvPicPr/>
          <p:nvPr/>
        </p:nvPicPr>
        <p:blipFill>
          <a:blip r:embed="rId2"/>
          <a:stretch>
            <a:fillRect/>
          </a:stretch>
        </p:blipFill>
        <p:spPr>
          <a:xfrm>
            <a:off x="7201197" y="2303983"/>
            <a:ext cx="3680421" cy="2371636"/>
          </a:xfrm>
          <a:prstGeom prst="rect">
            <a:avLst/>
          </a:prstGeom>
        </p:spPr>
      </p:pic>
    </p:spTree>
    <p:extLst>
      <p:ext uri="{BB962C8B-B14F-4D97-AF65-F5344CB8AC3E}">
        <p14:creationId xmlns:p14="http://schemas.microsoft.com/office/powerpoint/2010/main" val="3724066215"/>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对象 4"/>
          <p:cNvGraphicFramePr>
            <a:graphicFrameLocks noChangeAspect="1"/>
          </p:cNvGraphicFramePr>
          <p:nvPr>
            <p:extLst>
              <p:ext uri="{D42A27DB-BD31-4B8C-83A1-F6EECF244321}">
                <p14:modId xmlns:p14="http://schemas.microsoft.com/office/powerpoint/2010/main" val="534579616"/>
              </p:ext>
            </p:extLst>
          </p:nvPr>
        </p:nvGraphicFramePr>
        <p:xfrm>
          <a:off x="355600" y="1076325"/>
          <a:ext cx="11660188" cy="4141788"/>
        </p:xfrm>
        <a:graphic>
          <a:graphicData uri="http://schemas.openxmlformats.org/presentationml/2006/ole">
            <mc:AlternateContent xmlns:mc="http://schemas.openxmlformats.org/markup-compatibility/2006">
              <mc:Choice xmlns:v="urn:schemas-microsoft-com:vml" Requires="v">
                <p:oleObj spid="_x0000_s7182" name="文档" r:id="rId4" imgW="3837724" imgH="1365855" progId="Word.Document.12">
                  <p:embed/>
                </p:oleObj>
              </mc:Choice>
              <mc:Fallback>
                <p:oleObj name="文档" r:id="rId4" imgW="3837724" imgH="1365855" progId="Word.Document.12">
                  <p:embed/>
                  <p:pic>
                    <p:nvPicPr>
                      <p:cNvPr id="0" name=""/>
                      <p:cNvPicPr/>
                      <p:nvPr/>
                    </p:nvPicPr>
                    <p:blipFill>
                      <a:blip r:embed="rId5"/>
                      <a:stretch>
                        <a:fillRect/>
                      </a:stretch>
                    </p:blipFill>
                    <p:spPr>
                      <a:xfrm>
                        <a:off x="355600" y="1076325"/>
                        <a:ext cx="11660188" cy="4141788"/>
                      </a:xfrm>
                      <a:prstGeom prst="rect">
                        <a:avLst/>
                      </a:prstGeom>
                    </p:spPr>
                  </p:pic>
                </p:oleObj>
              </mc:Fallback>
            </mc:AlternateContent>
          </a:graphicData>
        </a:graphic>
      </p:graphicFrame>
    </p:spTree>
    <p:extLst>
      <p:ext uri="{BB962C8B-B14F-4D97-AF65-F5344CB8AC3E}">
        <p14:creationId xmlns:p14="http://schemas.microsoft.com/office/powerpoint/2010/main" val="578327823"/>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2264495581"/>
              </p:ext>
            </p:extLst>
          </p:nvPr>
        </p:nvGraphicFramePr>
        <p:xfrm>
          <a:off x="334110" y="1897387"/>
          <a:ext cx="11671959" cy="2278804"/>
        </p:xfrm>
        <a:graphic>
          <a:graphicData uri="http://schemas.openxmlformats.org/presentationml/2006/ole">
            <mc:AlternateContent xmlns:mc="http://schemas.openxmlformats.org/markup-compatibility/2006">
              <mc:Choice xmlns:v="urn:schemas-microsoft-com:vml" Requires="v">
                <p:oleObj spid="_x0000_s8206" name="文档" r:id="rId4" imgW="3837724" imgH="749634" progId="Word.Document.12">
                  <p:embed/>
                </p:oleObj>
              </mc:Choice>
              <mc:Fallback>
                <p:oleObj name="文档" r:id="rId4" imgW="3837724" imgH="749634" progId="Word.Document.12">
                  <p:embed/>
                  <p:pic>
                    <p:nvPicPr>
                      <p:cNvPr id="0" name=""/>
                      <p:cNvPicPr/>
                      <p:nvPr/>
                    </p:nvPicPr>
                    <p:blipFill>
                      <a:blip r:embed="rId5"/>
                      <a:stretch>
                        <a:fillRect/>
                      </a:stretch>
                    </p:blipFill>
                    <p:spPr>
                      <a:xfrm>
                        <a:off x="334110" y="1897387"/>
                        <a:ext cx="11671959" cy="2278804"/>
                      </a:xfrm>
                      <a:prstGeom prst="rect">
                        <a:avLst/>
                      </a:prstGeom>
                    </p:spPr>
                  </p:pic>
                </p:oleObj>
              </mc:Fallback>
            </mc:AlternateContent>
          </a:graphicData>
        </a:graphic>
      </p:graphicFrame>
    </p:spTree>
    <p:extLst>
      <p:ext uri="{BB962C8B-B14F-4D97-AF65-F5344CB8AC3E}">
        <p14:creationId xmlns:p14="http://schemas.microsoft.com/office/powerpoint/2010/main" val="1441597896"/>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虚尾箭头 1"/>
          <p:cNvSpPr/>
          <p:nvPr/>
        </p:nvSpPr>
        <p:spPr>
          <a:xfrm>
            <a:off x="432445" y="1295871"/>
            <a:ext cx="10657184" cy="3528392"/>
          </a:xfrm>
          <a:prstGeom prst="stripedRightArrow">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zh-CN" sz="6600" dirty="0">
                <a:solidFill>
                  <a:srgbClr val="0070C0"/>
                </a:solidFill>
                <a:latin typeface="华文新魏" panose="02010800040101010101" pitchFamily="2" charset="-122"/>
                <a:ea typeface="华文新魏" panose="02010800040101010101" pitchFamily="2" charset="-122"/>
              </a:rPr>
              <a:t>易</a:t>
            </a:r>
            <a:r>
              <a:rPr lang="en-US" altLang="zh-CN" sz="6600" dirty="0">
                <a:solidFill>
                  <a:srgbClr val="0070C0"/>
                </a:solidFill>
                <a:latin typeface="华文新魏" panose="02010800040101010101" pitchFamily="2" charset="-122"/>
                <a:ea typeface="华文新魏" panose="02010800040101010101" pitchFamily="2" charset="-122"/>
              </a:rPr>
              <a:t>  </a:t>
            </a:r>
            <a:r>
              <a:rPr lang="zh-CN" altLang="zh-CN" sz="6600" dirty="0">
                <a:solidFill>
                  <a:srgbClr val="0070C0"/>
                </a:solidFill>
                <a:latin typeface="华文新魏" panose="02010800040101010101" pitchFamily="2" charset="-122"/>
                <a:ea typeface="华文新魏" panose="02010800040101010101" pitchFamily="2" charset="-122"/>
              </a:rPr>
              <a:t>错</a:t>
            </a:r>
            <a:r>
              <a:rPr lang="en-US" altLang="zh-CN" sz="6600" dirty="0">
                <a:solidFill>
                  <a:srgbClr val="0070C0"/>
                </a:solidFill>
                <a:latin typeface="华文新魏" panose="02010800040101010101" pitchFamily="2" charset="-122"/>
                <a:ea typeface="华文新魏" panose="02010800040101010101" pitchFamily="2" charset="-122"/>
              </a:rPr>
              <a:t>  </a:t>
            </a:r>
            <a:r>
              <a:rPr lang="zh-CN" altLang="zh-CN" sz="6600" dirty="0">
                <a:solidFill>
                  <a:srgbClr val="0070C0"/>
                </a:solidFill>
                <a:latin typeface="华文新魏" panose="02010800040101010101" pitchFamily="2" charset="-122"/>
                <a:ea typeface="华文新魏" panose="02010800040101010101" pitchFamily="2" charset="-122"/>
              </a:rPr>
              <a:t>辨</a:t>
            </a:r>
            <a:r>
              <a:rPr lang="en-US" altLang="zh-CN" sz="6600" dirty="0">
                <a:solidFill>
                  <a:srgbClr val="0070C0"/>
                </a:solidFill>
                <a:latin typeface="华文新魏" panose="02010800040101010101" pitchFamily="2" charset="-122"/>
                <a:ea typeface="华文新魏" panose="02010800040101010101" pitchFamily="2" charset="-122"/>
              </a:rPr>
              <a:t>  </a:t>
            </a:r>
            <a:r>
              <a:rPr lang="zh-CN" altLang="zh-CN" sz="6600" dirty="0">
                <a:solidFill>
                  <a:srgbClr val="0070C0"/>
                </a:solidFill>
                <a:latin typeface="华文新魏" panose="02010800040101010101" pitchFamily="2" charset="-122"/>
                <a:ea typeface="华文新魏" panose="02010800040101010101" pitchFamily="2" charset="-122"/>
              </a:rPr>
              <a:t>析</a:t>
            </a:r>
          </a:p>
        </p:txBody>
      </p:sp>
    </p:spTree>
    <p:extLst>
      <p:ext uri="{BB962C8B-B14F-4D97-AF65-F5344CB8AC3E}">
        <p14:creationId xmlns:p14="http://schemas.microsoft.com/office/powerpoint/2010/main" val="4161990442"/>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5"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decel="50000" fill="hold">
                                          <p:stCondLst>
                                            <p:cond delay="0"/>
                                          </p:stCondLst>
                                        </p:cTn>
                                        <p:tgtEl>
                                          <p:spTgt spid="2"/>
                                        </p:tgtEl>
                                        <p:attrNameLst>
                                          <p:attrName>style.rotation</p:attrName>
                                        </p:attrNameLst>
                                      </p:cBhvr>
                                      <p:tavLst>
                                        <p:tav tm="0">
                                          <p:val>
                                            <p:fltVal val="-90"/>
                                          </p:val>
                                        </p:tav>
                                        <p:tav tm="100000">
                                          <p:val>
                                            <p:fltVal val="0"/>
                                          </p:val>
                                        </p:tav>
                                      </p:tavLst>
                                    </p:anim>
                                    <p:anim calcmode="lin" valueType="num">
                                      <p:cBhvr>
                                        <p:cTn id="8" dur="500" decel="50000" fill="hold">
                                          <p:stCondLst>
                                            <p:cond delay="0"/>
                                          </p:stCondLst>
                                        </p:cTn>
                                        <p:tgtEl>
                                          <p:spTgt spid="2"/>
                                        </p:tgtEl>
                                        <p:attrNameLst>
                                          <p:attrName>ppt_w</p:attrName>
                                        </p:attrNameLst>
                                      </p:cBhvr>
                                      <p:tavLst>
                                        <p:tav tm="0">
                                          <p:val>
                                            <p:strVal val="#ppt_w"/>
                                          </p:val>
                                        </p:tav>
                                        <p:tav tm="100000">
                                          <p:val>
                                            <p:strVal val="#ppt_w*.05"/>
                                          </p:val>
                                        </p:tav>
                                      </p:tavLst>
                                    </p:anim>
                                    <p:anim calcmode="lin" valueType="num">
                                      <p:cBhvr>
                                        <p:cTn id="9" dur="500" accel="50000" fill="hold">
                                          <p:stCondLst>
                                            <p:cond delay="500"/>
                                          </p:stCondLst>
                                        </p:cTn>
                                        <p:tgtEl>
                                          <p:spTgt spid="2"/>
                                        </p:tgtEl>
                                        <p:attrNameLst>
                                          <p:attrName>ppt_w</p:attrName>
                                        </p:attrNameLst>
                                      </p:cBhvr>
                                      <p:tavLst>
                                        <p:tav tm="0">
                                          <p:val>
                                            <p:strVal val="#ppt_w*.05"/>
                                          </p:val>
                                        </p:tav>
                                        <p:tav tm="100000">
                                          <p:val>
                                            <p:strVal val="#ppt_w"/>
                                          </p:val>
                                        </p:tav>
                                      </p:tavLst>
                                    </p:anim>
                                    <p:anim calcmode="lin" valueType="num">
                                      <p:cBhvr>
                                        <p:cTn id="10" dur="1000" fill="hold"/>
                                        <p:tgtEl>
                                          <p:spTgt spid="2"/>
                                        </p:tgtEl>
                                        <p:attrNameLst>
                                          <p:attrName>ppt_h</p:attrName>
                                        </p:attrNameLst>
                                      </p:cBhvr>
                                      <p:tavLst>
                                        <p:tav tm="0">
                                          <p:val>
                                            <p:strVal val="#ppt_h"/>
                                          </p:val>
                                        </p:tav>
                                        <p:tav tm="100000">
                                          <p:val>
                                            <p:strVal val="#ppt_h"/>
                                          </p:val>
                                        </p:tav>
                                      </p:tavLst>
                                    </p:anim>
                                    <p:anim calcmode="lin" valueType="num">
                                      <p:cBhvr>
                                        <p:cTn id="11" dur="500" decel="50000" fill="hold">
                                          <p:stCondLst>
                                            <p:cond delay="0"/>
                                          </p:stCondLst>
                                        </p:cTn>
                                        <p:tgtEl>
                                          <p:spTgt spid="2"/>
                                        </p:tgtEl>
                                        <p:attrNameLst>
                                          <p:attrName>ppt_x</p:attrName>
                                        </p:attrNameLst>
                                      </p:cBhvr>
                                      <p:tavLst>
                                        <p:tav tm="0">
                                          <p:val>
                                            <p:strVal val="#ppt_x+.4"/>
                                          </p:val>
                                        </p:tav>
                                        <p:tav tm="100000">
                                          <p:val>
                                            <p:strVal val="#ppt_x"/>
                                          </p:val>
                                        </p:tav>
                                      </p:tavLst>
                                    </p:anim>
                                    <p:anim calcmode="lin" valueType="num">
                                      <p:cBhvr>
                                        <p:cTn id="12" dur="500" decel="50000" fill="hold">
                                          <p:stCondLst>
                                            <p:cond delay="0"/>
                                          </p:stCondLst>
                                        </p:cTn>
                                        <p:tgtEl>
                                          <p:spTgt spid="2"/>
                                        </p:tgtEl>
                                        <p:attrNameLst>
                                          <p:attrName>ppt_y</p:attrName>
                                        </p:attrNameLst>
                                      </p:cBhvr>
                                      <p:tavLst>
                                        <p:tav tm="0">
                                          <p:val>
                                            <p:strVal val="#ppt_y-.2"/>
                                          </p:val>
                                        </p:tav>
                                        <p:tav tm="100000">
                                          <p:val>
                                            <p:strVal val="#ppt_y+.1"/>
                                          </p:val>
                                        </p:tav>
                                      </p:tavLst>
                                    </p:anim>
                                    <p:anim calcmode="lin" valueType="num">
                                      <p:cBhvr>
                                        <p:cTn id="13" dur="500" accel="50000" fill="hold">
                                          <p:stCondLst>
                                            <p:cond delay="500"/>
                                          </p:stCondLst>
                                        </p:cTn>
                                        <p:tgtEl>
                                          <p:spTgt spid="2"/>
                                        </p:tgtEl>
                                        <p:attrNameLst>
                                          <p:attrName>ppt_y</p:attrName>
                                        </p:attrNameLst>
                                      </p:cBhvr>
                                      <p:tavLst>
                                        <p:tav tm="0">
                                          <p:val>
                                            <p:strVal val="#ppt_y+.1"/>
                                          </p:val>
                                        </p:tav>
                                        <p:tav tm="100000">
                                          <p:val>
                                            <p:strVal val="#ppt_y"/>
                                          </p:val>
                                        </p:tav>
                                      </p:tavLst>
                                    </p:anim>
                                    <p:animEffect transition="in" filter="fade">
                                      <p:cBhvr>
                                        <p:cTn id="14" dur="1000" decel="50000">
                                          <p:stCondLst>
                                            <p:cond delay="0"/>
                                          </p:stCondLst>
                                        </p:cTn>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361950" y="523447"/>
            <a:ext cx="10807700" cy="6001643"/>
            <a:chOff x="361950" y="523447"/>
            <a:chExt cx="10807700" cy="6001643"/>
          </a:xfrm>
        </p:grpSpPr>
        <p:sp>
          <p:nvSpPr>
            <p:cNvPr id="3" name="矩形 2"/>
            <p:cNvSpPr>
              <a:spLocks noChangeAspect="1"/>
            </p:cNvSpPr>
            <p:nvPr/>
          </p:nvSpPr>
          <p:spPr>
            <a:xfrm>
              <a:off x="361950" y="523447"/>
              <a:ext cx="10807700" cy="6001643"/>
            </a:xfrm>
            <a:prstGeom prst="rect">
              <a:avLst/>
            </a:prstGeom>
          </p:spPr>
          <p:txBody>
            <a:bodyPr>
              <a:spAutoFit/>
            </a:bodyPr>
            <a:lstStyle/>
            <a:p>
              <a:pPr algn="ctr">
                <a:lnSpc>
                  <a:spcPct val="120000"/>
                </a:lnSpc>
                <a:spcAft>
                  <a:spcPts val="0"/>
                </a:spcAft>
                <a:tabLst>
                  <a:tab pos="1188085" algn="l"/>
                  <a:tab pos="2163445" algn="l"/>
                  <a:tab pos="3142615" algn="l"/>
                  <a:tab pos="4190365" algn="l"/>
                </a:tabLst>
              </a:pPr>
              <a:r>
                <a:rPr lang="zh-CN" altLang="zh-CN" dirty="0">
                  <a:solidFill>
                    <a:srgbClr val="000000"/>
                  </a:solidFill>
                  <a:latin typeface="Arial" panose="020B0604020202020204" pitchFamily="34" charset="0"/>
                  <a:cs typeface="Times New Roman" panose="02020603050405020304" pitchFamily="18" charset="0"/>
                </a:rPr>
                <a:t>解决实际问题时忽视函数的定义域致错</a:t>
              </a:r>
              <a:endParaRPr lang="zh-CN" altLang="zh-CN" dirty="0">
                <a:solidFill>
                  <a:srgbClr val="000000"/>
                </a:solidFill>
                <a:latin typeface="NEU-BZ-S92" panose="02020503000000020003" pitchFamily="18" charset="-122"/>
                <a:ea typeface="NEU-BZ-S92" panose="02020503000000020003" pitchFamily="18"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smtClean="0">
                  <a:solidFill>
                    <a:srgbClr val="000000"/>
                  </a:solidFill>
                  <a:latin typeface="Arial" panose="020B0604020202020204" pitchFamily="34" charset="0"/>
                  <a:cs typeface="Times New Roman" panose="02020603050405020304" pitchFamily="18" charset="0"/>
                </a:rPr>
                <a:t>【典例】</a:t>
              </a:r>
              <a:r>
                <a:rPr lang="zh-CN" altLang="zh-CN" dirty="0" smtClean="0">
                  <a:solidFill>
                    <a:srgbClr val="000000"/>
                  </a:solidFill>
                  <a:latin typeface="NEU-BZ-S92"/>
                  <a:ea typeface="Arial" panose="020B0604020202020204" pitchFamily="34" charset="0"/>
                  <a:cs typeface="Times New Roman" panose="02020603050405020304" pitchFamily="18" charset="0"/>
                </a:rPr>
                <a:t> </a:t>
              </a:r>
              <a:r>
                <a:rPr lang="zh-CN" altLang="zh-CN" dirty="0">
                  <a:solidFill>
                    <a:srgbClr val="000000"/>
                  </a:solidFill>
                  <a:ea typeface="宋体" panose="02010600030101010101" pitchFamily="2" charset="-122"/>
                  <a:cs typeface="Times New Roman" panose="02020603050405020304" pitchFamily="18" charset="0"/>
                </a:rPr>
                <a:t>如图</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有一块矩形空地</a:t>
              </a:r>
              <a:r>
                <a:rPr lang="en-US" altLang="zh-CN" i="1" dirty="0">
                  <a:solidFill>
                    <a:srgbClr val="000000"/>
                  </a:solidFill>
                  <a:ea typeface="宋体" panose="02010600030101010101" pitchFamily="2" charset="-122"/>
                  <a:cs typeface="Times New Roman" panose="02020603050405020304" pitchFamily="18" charset="0"/>
                </a:rPr>
                <a:t>ABCD</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要在这块空地上开辟一个内接四边形</a:t>
              </a:r>
              <a:r>
                <a:rPr lang="en-US" altLang="zh-CN" i="1" dirty="0">
                  <a:solidFill>
                    <a:srgbClr val="000000"/>
                  </a:solidFill>
                  <a:ea typeface="宋体" panose="02010600030101010101" pitchFamily="2" charset="-122"/>
                  <a:cs typeface="Times New Roman" panose="02020603050405020304" pitchFamily="18" charset="0"/>
                </a:rPr>
                <a:t>EFGH</a:t>
              </a:r>
              <a:r>
                <a:rPr lang="zh-CN" altLang="zh-CN" dirty="0">
                  <a:solidFill>
                    <a:srgbClr val="000000"/>
                  </a:solidFill>
                  <a:ea typeface="宋体" panose="02010600030101010101" pitchFamily="2" charset="-122"/>
                  <a:cs typeface="Times New Roman" panose="02020603050405020304" pitchFamily="18" charset="0"/>
                </a:rPr>
                <a:t>为绿地</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使其四个顶点分别落在矩形的四条边上</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包括端点</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已知</a:t>
              </a:r>
              <a:r>
                <a:rPr lang="en-US" altLang="zh-CN" i="1" dirty="0">
                  <a:solidFill>
                    <a:srgbClr val="000000"/>
                  </a:solidFill>
                  <a:ea typeface="宋体" panose="02010600030101010101" pitchFamily="2" charset="-122"/>
                  <a:cs typeface="Times New Roman" panose="02020603050405020304" pitchFamily="18" charset="0"/>
                </a:rPr>
                <a:t>AB=a</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a&gt;</a:t>
              </a: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BC=</a:t>
              </a: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宋体" panose="02010600030101010101" pitchFamily="2" charset="-122"/>
                  <a:cs typeface="Times New Roman" panose="02020603050405020304" pitchFamily="18" charset="0"/>
                </a:rPr>
                <a:t>且</a:t>
              </a:r>
              <a:r>
                <a:rPr lang="en-US" altLang="zh-CN" i="1" dirty="0" smtClean="0">
                  <a:solidFill>
                    <a:srgbClr val="000000"/>
                  </a:solidFill>
                  <a:ea typeface="宋体" panose="02010600030101010101" pitchFamily="2" charset="-122"/>
                  <a:cs typeface="Times New Roman" panose="02020603050405020304" pitchFamily="18" charset="0"/>
                </a:rPr>
                <a:t>AE=AH=CF =</a:t>
              </a:r>
              <a:r>
                <a:rPr lang="en-US" altLang="zh-CN" i="1" dirty="0">
                  <a:solidFill>
                    <a:srgbClr val="000000"/>
                  </a:solidFill>
                  <a:ea typeface="宋体" panose="02010600030101010101" pitchFamily="2" charset="-122"/>
                  <a:cs typeface="Times New Roman" panose="02020603050405020304" pitchFamily="18" charset="0"/>
                </a:rPr>
                <a:t>CG</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设</a:t>
              </a:r>
              <a:r>
                <a:rPr lang="en-US" altLang="zh-CN" i="1" dirty="0">
                  <a:solidFill>
                    <a:srgbClr val="000000"/>
                  </a:solidFill>
                  <a:ea typeface="宋体" panose="02010600030101010101" pitchFamily="2" charset="-122"/>
                  <a:cs typeface="Times New Roman" panose="02020603050405020304" pitchFamily="18" charset="0"/>
                </a:rPr>
                <a:t>AE=x</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绿地</a:t>
              </a:r>
              <a:r>
                <a:rPr lang="en-US" altLang="zh-CN" i="1" dirty="0">
                  <a:solidFill>
                    <a:srgbClr val="000000"/>
                  </a:solidFill>
                  <a:ea typeface="宋体" panose="02010600030101010101" pitchFamily="2" charset="-122"/>
                  <a:cs typeface="Times New Roman" panose="02020603050405020304" pitchFamily="18" charset="0"/>
                </a:rPr>
                <a:t>EFGH</a:t>
              </a:r>
              <a:r>
                <a:rPr lang="zh-CN" altLang="zh-CN" dirty="0">
                  <a:solidFill>
                    <a:srgbClr val="000000"/>
                  </a:solidFill>
                  <a:ea typeface="宋体" panose="02010600030101010101" pitchFamily="2" charset="-122"/>
                  <a:cs typeface="Times New Roman" panose="02020603050405020304" pitchFamily="18" charset="0"/>
                </a:rPr>
                <a:t>的面积为</a:t>
              </a:r>
              <a:r>
                <a:rPr lang="en-US" altLang="zh-CN" i="1" dirty="0">
                  <a:solidFill>
                    <a:srgbClr val="000000"/>
                  </a:solidFill>
                  <a:ea typeface="宋体" panose="02010600030101010101" pitchFamily="2" charset="-122"/>
                  <a:cs typeface="Times New Roman" panose="02020603050405020304" pitchFamily="18" charset="0"/>
                </a:rPr>
                <a:t>y</a:t>
              </a:r>
              <a:r>
                <a:rPr lang="en-US" altLang="zh-CN" i="1" dirty="0" smtClean="0">
                  <a:solidFill>
                    <a:srgbClr val="000000"/>
                  </a:solidFill>
                  <a:ea typeface="宋体" panose="02010600030101010101" pitchFamily="2" charset="-122"/>
                  <a:cs typeface="Times New Roman" panose="02020603050405020304" pitchFamily="18" charset="0"/>
                </a:rPr>
                <a:t>.</a:t>
              </a:r>
            </a:p>
            <a:p>
              <a:pPr>
                <a:lnSpc>
                  <a:spcPct val="120000"/>
                </a:lnSpc>
                <a:spcAft>
                  <a:spcPts val="0"/>
                </a:spcAft>
                <a:tabLst>
                  <a:tab pos="1029335" algn="l"/>
                  <a:tab pos="1850390" algn="l"/>
                  <a:tab pos="2538095" algn="l"/>
                  <a:tab pos="3221990" algn="l"/>
                </a:tabLst>
              </a:pPr>
              <a:endParaRPr lang="en-US" altLang="zh-CN" i="1" dirty="0">
                <a:solidFill>
                  <a:srgbClr val="000000"/>
                </a:solidFill>
                <a:latin typeface="NEU-BZ-S92"/>
                <a:ea typeface="宋体" panose="02010600030101010101" pitchFamily="2"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endParaRPr lang="en-US" altLang="zh-CN" i="1" dirty="0" smtClean="0">
                <a:solidFill>
                  <a:srgbClr val="000000"/>
                </a:solidFill>
                <a:latin typeface="NEU-BZ-S92"/>
                <a:ea typeface="宋体" panose="02010600030101010101" pitchFamily="2"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写出</a:t>
              </a:r>
              <a:r>
                <a:rPr lang="en-US" altLang="zh-CN" i="1" dirty="0">
                  <a:solidFill>
                    <a:srgbClr val="000000"/>
                  </a:solidFill>
                  <a:ea typeface="宋体" panose="02010600030101010101" pitchFamily="2" charset="-122"/>
                  <a:cs typeface="Times New Roman" panose="02020603050405020304" pitchFamily="18" charset="0"/>
                </a:rPr>
                <a:t>y</a:t>
              </a:r>
              <a:r>
                <a:rPr lang="zh-CN" altLang="zh-CN" dirty="0">
                  <a:solidFill>
                    <a:srgbClr val="000000"/>
                  </a:solidFill>
                  <a:ea typeface="宋体" panose="02010600030101010101" pitchFamily="2" charset="-122"/>
                  <a:cs typeface="Times New Roman" panose="02020603050405020304" pitchFamily="18" charset="0"/>
                </a:rPr>
                <a:t>关于</a:t>
              </a:r>
              <a:r>
                <a:rPr lang="en-US" altLang="zh-CN" i="1" dirty="0">
                  <a:solidFill>
                    <a:srgbClr val="000000"/>
                  </a:solidFill>
                  <a:ea typeface="宋体" panose="02010600030101010101" pitchFamily="2" charset="-122"/>
                  <a:cs typeface="Times New Roman" panose="02020603050405020304" pitchFamily="18" charset="0"/>
                </a:rPr>
                <a:t>x</a:t>
              </a:r>
              <a:r>
                <a:rPr lang="zh-CN" altLang="zh-CN" dirty="0">
                  <a:solidFill>
                    <a:srgbClr val="000000"/>
                  </a:solidFill>
                  <a:ea typeface="宋体" panose="02010600030101010101" pitchFamily="2" charset="-122"/>
                  <a:cs typeface="Times New Roman" panose="02020603050405020304" pitchFamily="18" charset="0"/>
                </a:rPr>
                <a:t>的函数解析式</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并求出它的定义域</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宋体" panose="02010600030101010101" pitchFamily="2" charset="-122"/>
                  <a:cs typeface="Times New Roman" panose="02020603050405020304" pitchFamily="18" charset="0"/>
                </a:rPr>
                <a:t>当</a:t>
              </a:r>
              <a:r>
                <a:rPr lang="en-US" altLang="zh-CN" i="1" dirty="0">
                  <a:solidFill>
                    <a:srgbClr val="000000"/>
                  </a:solidFill>
                  <a:ea typeface="宋体" panose="02010600030101010101" pitchFamily="2" charset="-122"/>
                  <a:cs typeface="Times New Roman" panose="02020603050405020304" pitchFamily="18" charset="0"/>
                </a:rPr>
                <a:t>x</a:t>
              </a:r>
              <a:r>
                <a:rPr lang="zh-CN" altLang="zh-CN" dirty="0">
                  <a:solidFill>
                    <a:srgbClr val="000000"/>
                  </a:solidFill>
                  <a:ea typeface="宋体" panose="02010600030101010101" pitchFamily="2" charset="-122"/>
                  <a:cs typeface="Times New Roman" panose="02020603050405020304" pitchFamily="18" charset="0"/>
                </a:rPr>
                <a:t>为何值时</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绿地面积</a:t>
              </a:r>
              <a:r>
                <a:rPr lang="en-US" altLang="zh-CN" i="1" dirty="0">
                  <a:solidFill>
                    <a:srgbClr val="000000"/>
                  </a:solidFill>
                  <a:ea typeface="宋体" panose="02010600030101010101" pitchFamily="2" charset="-122"/>
                  <a:cs typeface="Times New Roman" panose="02020603050405020304" pitchFamily="18" charset="0"/>
                </a:rPr>
                <a:t>y</a:t>
              </a:r>
              <a:r>
                <a:rPr lang="zh-CN" altLang="zh-CN" dirty="0">
                  <a:solidFill>
                    <a:srgbClr val="000000"/>
                  </a:solidFill>
                  <a:ea typeface="宋体" panose="02010600030101010101" pitchFamily="2" charset="-122"/>
                  <a:cs typeface="Times New Roman" panose="02020603050405020304" pitchFamily="18" charset="0"/>
                </a:rPr>
                <a:t>最大</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并求出最大值</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pic>
          <p:nvPicPr>
            <p:cNvPr id="4" name="NMG1TRA78.eps" descr="id:2147496086;FounderCES"/>
            <p:cNvPicPr/>
            <p:nvPr/>
          </p:nvPicPr>
          <p:blipFill>
            <a:blip r:embed="rId2"/>
            <a:stretch>
              <a:fillRect/>
            </a:stretch>
          </p:blipFill>
          <p:spPr>
            <a:xfrm>
              <a:off x="7273205" y="2909543"/>
              <a:ext cx="2880320" cy="2324566"/>
            </a:xfrm>
            <a:prstGeom prst="rect">
              <a:avLst/>
            </a:prstGeom>
          </p:spPr>
        </p:pic>
      </p:grpSp>
    </p:spTree>
    <p:extLst>
      <p:ext uri="{BB962C8B-B14F-4D97-AF65-F5344CB8AC3E}">
        <p14:creationId xmlns:p14="http://schemas.microsoft.com/office/powerpoint/2010/main" val="2343944478"/>
      </p:ext>
    </p:extLst>
  </p:cSld>
  <p:clrMapOvr>
    <a:masterClrMapping/>
  </p:clrMapOvr>
  <p:transition spd="slow">
    <p:randomBar dir="vert"/>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3280288904"/>
              </p:ext>
            </p:extLst>
          </p:nvPr>
        </p:nvGraphicFramePr>
        <p:xfrm>
          <a:off x="504825" y="936625"/>
          <a:ext cx="11661775" cy="4506913"/>
        </p:xfrm>
        <a:graphic>
          <a:graphicData uri="http://schemas.openxmlformats.org/presentationml/2006/ole">
            <mc:AlternateContent xmlns:mc="http://schemas.openxmlformats.org/markup-compatibility/2006">
              <mc:Choice xmlns:v="urn:schemas-microsoft-com:vml" Requires="v">
                <p:oleObj spid="_x0000_s9229" name="文档" r:id="rId4" imgW="3837724" imgH="1486287" progId="Word.Document.12">
                  <p:embed/>
                </p:oleObj>
              </mc:Choice>
              <mc:Fallback>
                <p:oleObj name="文档" r:id="rId4" imgW="3837724" imgH="1486287" progId="Word.Document.12">
                  <p:embed/>
                  <p:pic>
                    <p:nvPicPr>
                      <p:cNvPr id="0" name=""/>
                      <p:cNvPicPr/>
                      <p:nvPr/>
                    </p:nvPicPr>
                    <p:blipFill>
                      <a:blip r:embed="rId5"/>
                      <a:stretch>
                        <a:fillRect/>
                      </a:stretch>
                    </p:blipFill>
                    <p:spPr>
                      <a:xfrm>
                        <a:off x="504825" y="936625"/>
                        <a:ext cx="11661775" cy="4506913"/>
                      </a:xfrm>
                      <a:prstGeom prst="rect">
                        <a:avLst/>
                      </a:prstGeom>
                    </p:spPr>
                  </p:pic>
                </p:oleObj>
              </mc:Fallback>
            </mc:AlternateContent>
          </a:graphicData>
        </a:graphic>
      </p:graphicFrame>
    </p:spTree>
    <p:extLst>
      <p:ext uri="{BB962C8B-B14F-4D97-AF65-F5344CB8AC3E}">
        <p14:creationId xmlns:p14="http://schemas.microsoft.com/office/powerpoint/2010/main" val="1973998014"/>
      </p:ext>
    </p:extLst>
  </p:cSld>
  <p:clrMapOvr>
    <a:masterClrMapping/>
  </p:clrMapOvr>
  <p:transition spd="slow">
    <p:randomBar dir="vert"/>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352118" y="1295871"/>
            <a:ext cx="11752286" cy="3737921"/>
            <a:chOff x="352118" y="1439887"/>
            <a:chExt cx="11752286" cy="3737921"/>
          </a:xfrm>
        </p:grpSpPr>
        <p:graphicFrame>
          <p:nvGraphicFramePr>
            <p:cNvPr id="3" name="对象 2"/>
            <p:cNvGraphicFramePr>
              <a:graphicFrameLocks noChangeAspect="1"/>
            </p:cNvGraphicFramePr>
            <p:nvPr>
              <p:extLst>
                <p:ext uri="{D42A27DB-BD31-4B8C-83A1-F6EECF244321}">
                  <p14:modId xmlns:p14="http://schemas.microsoft.com/office/powerpoint/2010/main" val="3035324547"/>
                </p:ext>
              </p:extLst>
            </p:nvPr>
          </p:nvGraphicFramePr>
          <p:xfrm>
            <a:off x="432445" y="1439887"/>
            <a:ext cx="11671959" cy="2416915"/>
          </p:xfrm>
          <a:graphic>
            <a:graphicData uri="http://schemas.openxmlformats.org/presentationml/2006/ole">
              <mc:AlternateContent xmlns:mc="http://schemas.openxmlformats.org/markup-compatibility/2006">
                <mc:Choice xmlns:v="urn:schemas-microsoft-com:vml" Requires="v">
                  <p:oleObj spid="_x0000_s10253" name="文档" r:id="rId4" imgW="3837724" imgH="819585" progId="Word.Document.12">
                    <p:embed/>
                  </p:oleObj>
                </mc:Choice>
                <mc:Fallback>
                  <p:oleObj name="文档" r:id="rId4" imgW="3837724" imgH="819585" progId="Word.Document.12">
                    <p:embed/>
                    <p:pic>
                      <p:nvPicPr>
                        <p:cNvPr id="0" name=""/>
                        <p:cNvPicPr/>
                        <p:nvPr/>
                      </p:nvPicPr>
                      <p:blipFill>
                        <a:blip r:embed="rId5"/>
                        <a:stretch>
                          <a:fillRect/>
                        </a:stretch>
                      </p:blipFill>
                      <p:spPr>
                        <a:xfrm>
                          <a:off x="432445" y="1439887"/>
                          <a:ext cx="11671959" cy="2416915"/>
                        </a:xfrm>
                        <a:prstGeom prst="rect">
                          <a:avLst/>
                        </a:prstGeom>
                      </p:spPr>
                    </p:pic>
                  </p:oleObj>
                </mc:Fallback>
              </mc:AlternateContent>
            </a:graphicData>
          </a:graphic>
        </p:graphicFrame>
        <p:sp>
          <p:nvSpPr>
            <p:cNvPr id="4" name="矩形 3"/>
            <p:cNvSpPr>
              <a:spLocks noChangeAspect="1"/>
            </p:cNvSpPr>
            <p:nvPr/>
          </p:nvSpPr>
          <p:spPr>
            <a:xfrm>
              <a:off x="352118" y="3960167"/>
              <a:ext cx="10807700" cy="1217641"/>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solidFill>
                    <a:srgbClr val="000000"/>
                  </a:solidFill>
                  <a:ea typeface="宋体" panose="02010600030101010101" pitchFamily="2" charset="-122"/>
                  <a:cs typeface="Times New Roman" panose="02020603050405020304" pitchFamily="18" charset="0"/>
                </a:rPr>
                <a:t>以上解答过程中都有哪些错误</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出错的原因是什么</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你如何改正</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你如何防范</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pSp>
    </p:spTree>
    <p:extLst>
      <p:ext uri="{BB962C8B-B14F-4D97-AF65-F5344CB8AC3E}">
        <p14:creationId xmlns:p14="http://schemas.microsoft.com/office/powerpoint/2010/main" val="1646039658"/>
      </p:ext>
    </p:extLst>
  </p:cSld>
  <p:clrMapOvr>
    <a:masterClrMapping/>
  </p:clrMapOvr>
  <p:transition spd="slow">
    <p:randomBar dir="vert"/>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2761465373"/>
              </p:ext>
            </p:extLst>
          </p:nvPr>
        </p:nvGraphicFramePr>
        <p:xfrm>
          <a:off x="451841" y="2206625"/>
          <a:ext cx="11645900" cy="1735138"/>
        </p:xfrm>
        <a:graphic>
          <a:graphicData uri="http://schemas.openxmlformats.org/presentationml/2006/ole">
            <mc:AlternateContent xmlns:mc="http://schemas.openxmlformats.org/markup-compatibility/2006">
              <mc:Choice xmlns:v="urn:schemas-microsoft-com:vml" Requires="v">
                <p:oleObj spid="_x0000_s11277" name="文档" r:id="rId4" imgW="3826872" imgH="573929" progId="Word.Document.12">
                  <p:embed/>
                </p:oleObj>
              </mc:Choice>
              <mc:Fallback>
                <p:oleObj name="文档" r:id="rId4" imgW="3826872" imgH="573929" progId="Word.Document.12">
                  <p:embed/>
                  <p:pic>
                    <p:nvPicPr>
                      <p:cNvPr id="0" name=""/>
                      <p:cNvPicPr/>
                      <p:nvPr/>
                    </p:nvPicPr>
                    <p:blipFill>
                      <a:blip r:embed="rId5"/>
                      <a:stretch>
                        <a:fillRect/>
                      </a:stretch>
                    </p:blipFill>
                    <p:spPr>
                      <a:xfrm>
                        <a:off x="451841" y="2206625"/>
                        <a:ext cx="11645900" cy="1735138"/>
                      </a:xfrm>
                      <a:prstGeom prst="rect">
                        <a:avLst/>
                      </a:prstGeom>
                    </p:spPr>
                  </p:pic>
                </p:oleObj>
              </mc:Fallback>
            </mc:AlternateContent>
          </a:graphicData>
        </a:graphic>
      </p:graphicFrame>
    </p:spTree>
    <p:extLst>
      <p:ext uri="{BB962C8B-B14F-4D97-AF65-F5344CB8AC3E}">
        <p14:creationId xmlns:p14="http://schemas.microsoft.com/office/powerpoint/2010/main" val="3092922548"/>
      </p:ext>
    </p:extLst>
  </p:cSld>
  <p:clrMapOvr>
    <a:masterClrMapping/>
  </p:clrMapOvr>
  <p:transition spd="slow">
    <p:randomBar dir="vert"/>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p:cNvGraphicFramePr>
            <a:graphicFrameLocks noChangeAspect="1"/>
          </p:cNvGraphicFramePr>
          <p:nvPr>
            <p:extLst>
              <p:ext uri="{D42A27DB-BD31-4B8C-83A1-F6EECF244321}">
                <p14:modId xmlns:p14="http://schemas.microsoft.com/office/powerpoint/2010/main" val="4126504326"/>
              </p:ext>
            </p:extLst>
          </p:nvPr>
        </p:nvGraphicFramePr>
        <p:xfrm>
          <a:off x="504453" y="953086"/>
          <a:ext cx="11671959" cy="4519249"/>
        </p:xfrm>
        <a:graphic>
          <a:graphicData uri="http://schemas.openxmlformats.org/presentationml/2006/ole">
            <mc:AlternateContent xmlns:mc="http://schemas.openxmlformats.org/markup-compatibility/2006">
              <mc:Choice xmlns:v="urn:schemas-microsoft-com:vml" Requires="v">
                <p:oleObj spid="_x0000_s12301" name="文档" r:id="rId4" imgW="3837724" imgH="1486287" progId="Word.Document.12">
                  <p:embed/>
                </p:oleObj>
              </mc:Choice>
              <mc:Fallback>
                <p:oleObj name="文档" r:id="rId4" imgW="3837724" imgH="1486287" progId="Word.Document.12">
                  <p:embed/>
                  <p:pic>
                    <p:nvPicPr>
                      <p:cNvPr id="0" name=""/>
                      <p:cNvPicPr/>
                      <p:nvPr/>
                    </p:nvPicPr>
                    <p:blipFill>
                      <a:blip r:embed="rId5"/>
                      <a:stretch>
                        <a:fillRect/>
                      </a:stretch>
                    </p:blipFill>
                    <p:spPr>
                      <a:xfrm>
                        <a:off x="504453" y="953086"/>
                        <a:ext cx="11671959" cy="4519249"/>
                      </a:xfrm>
                      <a:prstGeom prst="rect">
                        <a:avLst/>
                      </a:prstGeom>
                    </p:spPr>
                  </p:pic>
                </p:oleObj>
              </mc:Fallback>
            </mc:AlternateContent>
          </a:graphicData>
        </a:graphic>
      </p:graphicFrame>
    </p:spTree>
    <p:extLst>
      <p:ext uri="{BB962C8B-B14F-4D97-AF65-F5344CB8AC3E}">
        <p14:creationId xmlns:p14="http://schemas.microsoft.com/office/powerpoint/2010/main" val="785493474"/>
      </p:ext>
    </p:extLst>
  </p:cSld>
  <p:clrMapOvr>
    <a:masterClrMapping/>
  </p:clrMapOvr>
  <p:transition spd="slow">
    <p:randomBar dir="vert"/>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499325662"/>
              </p:ext>
            </p:extLst>
          </p:nvPr>
        </p:nvGraphicFramePr>
        <p:xfrm>
          <a:off x="430213" y="729639"/>
          <a:ext cx="11661775" cy="5434012"/>
        </p:xfrm>
        <a:graphic>
          <a:graphicData uri="http://schemas.openxmlformats.org/presentationml/2006/ole">
            <mc:AlternateContent xmlns:mc="http://schemas.openxmlformats.org/markup-compatibility/2006">
              <mc:Choice xmlns:v="urn:schemas-microsoft-com:vml" Requires="v">
                <p:oleObj spid="_x0000_s13325" name="文档" r:id="rId4" imgW="3837724" imgH="1789169" progId="Word.Document.12">
                  <p:embed/>
                </p:oleObj>
              </mc:Choice>
              <mc:Fallback>
                <p:oleObj name="文档" r:id="rId4" imgW="3837724" imgH="1789169" progId="Word.Document.12">
                  <p:embed/>
                  <p:pic>
                    <p:nvPicPr>
                      <p:cNvPr id="0" name=""/>
                      <p:cNvPicPr/>
                      <p:nvPr/>
                    </p:nvPicPr>
                    <p:blipFill>
                      <a:blip r:embed="rId5"/>
                      <a:stretch>
                        <a:fillRect/>
                      </a:stretch>
                    </p:blipFill>
                    <p:spPr>
                      <a:xfrm>
                        <a:off x="430213" y="729639"/>
                        <a:ext cx="11661775" cy="5434012"/>
                      </a:xfrm>
                      <a:prstGeom prst="rect">
                        <a:avLst/>
                      </a:prstGeom>
                    </p:spPr>
                  </p:pic>
                </p:oleObj>
              </mc:Fallback>
            </mc:AlternateContent>
          </a:graphicData>
        </a:graphic>
      </p:graphicFrame>
    </p:spTree>
    <p:extLst>
      <p:ext uri="{BB962C8B-B14F-4D97-AF65-F5344CB8AC3E}">
        <p14:creationId xmlns:p14="http://schemas.microsoft.com/office/powerpoint/2010/main" val="3060031534"/>
      </p:ext>
    </p:extLst>
  </p:cSld>
  <p:clrMapOvr>
    <a:masterClrMapping/>
  </p:clrMapOvr>
  <p:transition spd="slow">
    <p:randomBar dir="vert"/>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361950" y="2095041"/>
            <a:ext cx="10807700" cy="1865126"/>
          </a:xfrm>
          <a:prstGeom prst="rect">
            <a:avLst/>
          </a:prstGeom>
          <a:ln>
            <a:solidFill>
              <a:schemeClr val="tx1"/>
            </a:solidFill>
          </a:ln>
        </p:spPr>
        <p:txBody>
          <a:bodyPr>
            <a:spAutoFit/>
          </a:bodyPr>
          <a:lstStyle/>
          <a:p>
            <a:pPr>
              <a:lnSpc>
                <a:spcPct val="120000"/>
              </a:lnSpc>
              <a:spcAft>
                <a:spcPts val="0"/>
              </a:spcAft>
              <a:tabLst>
                <a:tab pos="1029335" algn="l"/>
                <a:tab pos="1850390" algn="l"/>
                <a:tab pos="2538095" algn="l"/>
                <a:tab pos="3221990" algn="l"/>
              </a:tabLst>
            </a:pPr>
            <a:r>
              <a:rPr lang="zh-CN" altLang="en-US" dirty="0">
                <a:solidFill>
                  <a:srgbClr val="000000"/>
                </a:solidFill>
                <a:latin typeface="黑体" panose="02010609060101010101" pitchFamily="49" charset="-122"/>
                <a:cs typeface="Times New Roman" panose="02020603050405020304" pitchFamily="18" charset="0"/>
              </a:rPr>
              <a:t>防范措施</a:t>
            </a:r>
            <a:endParaRPr lang="zh-CN" altLang="zh-CN" dirty="0">
              <a:solidFill>
                <a:srgbClr val="000000"/>
              </a:solidFill>
              <a:latin typeface="黑体" panose="02010609060101010101" pitchFamily="49"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zh-CN" altLang="zh-CN" dirty="0">
                <a:solidFill>
                  <a:srgbClr val="000000"/>
                </a:solidFill>
                <a:ea typeface="仿宋" panose="02010609060101010101" pitchFamily="49" charset="-122"/>
                <a:cs typeface="Times New Roman" panose="02020603050405020304" pitchFamily="18" charset="0"/>
              </a:rPr>
              <a:t>解决实际问题时</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结合问题的实际意义</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根据该函数模型中自变量的取值范围求解</a:t>
            </a:r>
            <a:r>
              <a:rPr lang="en-US" altLang="zh-CN" i="1" dirty="0" smtClean="0">
                <a:solidFill>
                  <a:srgbClr val="000000"/>
                </a:solidFill>
                <a:ea typeface="宋体" panose="02010600030101010101" pitchFamily="2" charset="-122"/>
                <a:cs typeface="Times New Roman" panose="02020603050405020304" pitchFamily="18" charset="0"/>
              </a:rPr>
              <a:t>.</a:t>
            </a:r>
            <a:r>
              <a:rPr lang="zh-CN" altLang="zh-CN" dirty="0" smtClean="0">
                <a:solidFill>
                  <a:srgbClr val="000000"/>
                </a:solidFill>
                <a:ea typeface="仿宋" panose="02010609060101010101" pitchFamily="49" charset="-122"/>
                <a:cs typeface="Times New Roman" panose="02020603050405020304" pitchFamily="18" charset="0"/>
              </a:rPr>
              <a:t>含有</a:t>
            </a:r>
            <a:r>
              <a:rPr lang="zh-CN" altLang="zh-CN" dirty="0">
                <a:solidFill>
                  <a:srgbClr val="000000"/>
                </a:solidFill>
                <a:ea typeface="仿宋" panose="02010609060101010101" pitchFamily="49" charset="-122"/>
                <a:cs typeface="Times New Roman" panose="02020603050405020304" pitchFamily="18" charset="0"/>
              </a:rPr>
              <a:t>参数时</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应注意分类讨论</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panose="02020503000000020003" pitchFamily="18" charset="-122"/>
              <a:ea typeface="NEU-BZ-S92" panose="02020503000000020003" pitchFamily="18" charset="-122"/>
              <a:cs typeface="Times New Roman" panose="02020603050405020304" pitchFamily="18" charset="0"/>
            </a:endParaRPr>
          </a:p>
        </p:txBody>
      </p:sp>
    </p:spTree>
    <p:extLst>
      <p:ext uri="{BB962C8B-B14F-4D97-AF65-F5344CB8AC3E}">
        <p14:creationId xmlns:p14="http://schemas.microsoft.com/office/powerpoint/2010/main" val="999507557"/>
      </p:ext>
    </p:extLst>
  </p:cSld>
  <p:clrMapOvr>
    <a:masterClrMapping/>
  </p:clrMapOvr>
  <p:transition spd="slow">
    <p:randomBar dir="vert"/>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361950" y="585623"/>
            <a:ext cx="10807700" cy="6001643"/>
            <a:chOff x="361950" y="585623"/>
            <a:chExt cx="10807700" cy="6001643"/>
          </a:xfrm>
        </p:grpSpPr>
        <p:sp>
          <p:nvSpPr>
            <p:cNvPr id="2" name="矩形 1"/>
            <p:cNvSpPr>
              <a:spLocks noChangeAspect="1"/>
            </p:cNvSpPr>
            <p:nvPr/>
          </p:nvSpPr>
          <p:spPr>
            <a:xfrm>
              <a:off x="361950" y="585623"/>
              <a:ext cx="10807700" cy="6001643"/>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solidFill>
                    <a:srgbClr val="000000"/>
                  </a:solidFill>
                  <a:latin typeface="Arial" panose="020B0604020202020204" pitchFamily="34" charset="0"/>
                  <a:cs typeface="Times New Roman" panose="02020603050405020304" pitchFamily="18" charset="0"/>
                </a:rPr>
                <a:t>【变式训练】</a:t>
              </a:r>
              <a:r>
                <a:rPr lang="zh-CN" altLang="zh-CN" dirty="0">
                  <a:solidFill>
                    <a:srgbClr val="000000"/>
                  </a:solidFill>
                  <a:latin typeface="NEU-BZ-S92"/>
                  <a:ea typeface="Arial" panose="020B0604020202020204" pitchFamily="34" charset="0"/>
                  <a:cs typeface="Times New Roman" panose="02020603050405020304" pitchFamily="18" charset="0"/>
                </a:rPr>
                <a:t> </a:t>
              </a:r>
              <a:r>
                <a:rPr lang="zh-CN" altLang="zh-CN" dirty="0">
                  <a:solidFill>
                    <a:srgbClr val="000000"/>
                  </a:solidFill>
                  <a:ea typeface="宋体" panose="02010600030101010101" pitchFamily="2" charset="-122"/>
                  <a:cs typeface="Times New Roman" panose="02020603050405020304" pitchFamily="18" charset="0"/>
                </a:rPr>
                <a:t>某汽车运输公司购买了一批豪华大客车投入营运</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据市场分析</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每辆客车营运的总利润</a:t>
              </a:r>
              <a:r>
                <a:rPr lang="en-US" altLang="zh-CN" i="1" dirty="0">
                  <a:solidFill>
                    <a:srgbClr val="000000"/>
                  </a:solidFill>
                  <a:ea typeface="宋体" panose="02010600030101010101" pitchFamily="2" charset="-122"/>
                  <a:cs typeface="Times New Roman" panose="02020603050405020304" pitchFamily="18" charset="0"/>
                </a:rPr>
                <a:t>y</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单位</a:t>
              </a:r>
              <a:r>
                <a:rPr lang="en-US" altLang="zh-CN" dirty="0" smtClean="0">
                  <a:solidFill>
                    <a:srgbClr val="000000"/>
                  </a:solidFill>
                  <a:ea typeface="宋体" panose="02010600030101010101" pitchFamily="2" charset="-122"/>
                  <a:cs typeface="Times New Roman" panose="02020603050405020304" pitchFamily="18" charset="0"/>
                </a:rPr>
                <a:t>:</a:t>
              </a:r>
              <a:r>
                <a:rPr lang="zh-CN" altLang="zh-CN" dirty="0" smtClean="0">
                  <a:solidFill>
                    <a:srgbClr val="000000"/>
                  </a:solidFill>
                  <a:ea typeface="宋体" panose="02010600030101010101" pitchFamily="2" charset="-122"/>
                  <a:cs typeface="Times New Roman" panose="02020603050405020304" pitchFamily="18" charset="0"/>
                </a:rPr>
                <a:t>万</a:t>
              </a:r>
              <a:r>
                <a:rPr lang="zh-CN" altLang="zh-CN" dirty="0">
                  <a:solidFill>
                    <a:srgbClr val="000000"/>
                  </a:solidFill>
                  <a:ea typeface="宋体" panose="02010600030101010101" pitchFamily="2" charset="-122"/>
                  <a:cs typeface="Times New Roman" panose="02020603050405020304" pitchFamily="18" charset="0"/>
                </a:rPr>
                <a:t>元</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与营运年数</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zh-CN" altLang="zh-CN" dirty="0">
                  <a:solidFill>
                    <a:srgbClr val="000000"/>
                  </a:solidFill>
                  <a:latin typeface="NEU-BZ-S92"/>
                  <a:ea typeface="宋体" panose="02010600030101010101" pitchFamily="2" charset="-122"/>
                  <a:cs typeface="宋体" panose="02010600030101010101" pitchFamily="2" charset="-122"/>
                </a:rPr>
                <a:t>∈</a:t>
              </a:r>
              <a:r>
                <a:rPr lang="en-US" altLang="zh-CN" dirty="0">
                  <a:solidFill>
                    <a:srgbClr val="000000"/>
                  </a:solidFill>
                  <a:ea typeface="宋体" panose="02010600030101010101" pitchFamily="2" charset="-122"/>
                  <a:cs typeface="Times New Roman" panose="02020603050405020304" pitchFamily="18" charset="0"/>
                </a:rPr>
                <a:t>N)</a:t>
              </a:r>
              <a:r>
                <a:rPr lang="zh-CN" altLang="zh-CN" dirty="0">
                  <a:solidFill>
                    <a:srgbClr val="000000"/>
                  </a:solidFill>
                  <a:ea typeface="宋体" panose="02010600030101010101" pitchFamily="2" charset="-122"/>
                  <a:cs typeface="Times New Roman" panose="02020603050405020304" pitchFamily="18" charset="0"/>
                </a:rPr>
                <a:t>为二次函数关系</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如图</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则要使每辆客车营运的年平均利润最大</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需营运的年数是</a:t>
              </a:r>
              <a:r>
                <a:rPr lang="en-US" altLang="zh-CN" dirty="0">
                  <a:solidFill>
                    <a:srgbClr val="000000"/>
                  </a:solidFill>
                  <a:ea typeface="宋体" panose="02010600030101010101" pitchFamily="2" charset="-122"/>
                  <a:cs typeface="Times New Roman" panose="02020603050405020304" pitchFamily="18" charset="0"/>
                </a:rPr>
                <a:t>(</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i="1" dirty="0">
                  <a:solidFill>
                    <a:srgbClr val="000000"/>
                  </a:solidFill>
                  <a:ea typeface="宋体" panose="02010600030101010101" pitchFamily="2" charset="-122"/>
                  <a:cs typeface="Times New Roman" panose="02020603050405020304" pitchFamily="18" charset="0"/>
                </a:rPr>
                <a:t>　　　　　　</a:t>
              </a:r>
              <a:endParaRPr lang="en-US" altLang="zh-CN" i="1" dirty="0" smtClean="0">
                <a:solidFill>
                  <a:srgbClr val="000000"/>
                </a:solidFill>
                <a:ea typeface="宋体" panose="02010600030101010101" pitchFamily="2"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i="1" dirty="0">
                  <a:solidFill>
                    <a:srgbClr val="000000"/>
                  </a:solidFill>
                  <a:ea typeface="宋体" panose="02010600030101010101" pitchFamily="2" charset="-122"/>
                  <a:cs typeface="Times New Roman" panose="02020603050405020304" pitchFamily="18" charset="0"/>
                </a:rPr>
                <a:t>　</a:t>
              </a:r>
              <a:endParaRPr lang="en-US" altLang="zh-CN" i="1" dirty="0" smtClean="0">
                <a:solidFill>
                  <a:srgbClr val="000000"/>
                </a:solidFill>
                <a:ea typeface="宋体" panose="02010600030101010101" pitchFamily="2"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endParaRPr lang="en-US" altLang="zh-CN" i="1" dirty="0">
                <a:solidFill>
                  <a:srgbClr val="000000"/>
                </a:solidFill>
                <a:ea typeface="宋体" panose="02010600030101010101" pitchFamily="2"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i="1" dirty="0">
                  <a:solidFill>
                    <a:srgbClr val="000000"/>
                  </a:solidFill>
                  <a:ea typeface="宋体" panose="02010600030101010101" pitchFamily="2" charset="-122"/>
                  <a:cs typeface="Times New Roman" panose="02020603050405020304" pitchFamily="18" charset="0"/>
                </a:rPr>
                <a:t>　　　　　　　　　</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A.3	</a:t>
              </a:r>
              <a:r>
                <a:rPr lang="en-US" altLang="zh-CN" dirty="0" smtClean="0">
                  <a:solidFill>
                    <a:srgbClr val="000000"/>
                  </a:solidFill>
                  <a:ea typeface="宋体" panose="02010600030101010101" pitchFamily="2" charset="-122"/>
                  <a:cs typeface="Times New Roman" panose="02020603050405020304" pitchFamily="18" charset="0"/>
                </a:rPr>
                <a:t>	B.4</a:t>
              </a:r>
              <a:r>
                <a:rPr lang="en-US" altLang="zh-CN" dirty="0">
                  <a:solidFill>
                    <a:srgbClr val="000000"/>
                  </a:solidFill>
                  <a:ea typeface="宋体" panose="02010600030101010101" pitchFamily="2" charset="-122"/>
                  <a:cs typeface="Times New Roman" panose="02020603050405020304" pitchFamily="18" charset="0"/>
                </a:rPr>
                <a:t>	</a:t>
              </a:r>
              <a:endParaRPr lang="en-US" altLang="zh-CN" dirty="0" smtClean="0">
                <a:solidFill>
                  <a:srgbClr val="000000"/>
                </a:solidFill>
                <a:ea typeface="宋体" panose="02010600030101010101" pitchFamily="2"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smtClean="0">
                  <a:solidFill>
                    <a:srgbClr val="000000"/>
                  </a:solidFill>
                  <a:ea typeface="宋体" panose="02010600030101010101" pitchFamily="2" charset="-122"/>
                  <a:cs typeface="Times New Roman" panose="02020603050405020304" pitchFamily="18" charset="0"/>
                </a:rPr>
                <a:t>C.5</a:t>
              </a:r>
              <a:r>
                <a:rPr lang="en-US" altLang="zh-CN" dirty="0">
                  <a:solidFill>
                    <a:srgbClr val="000000"/>
                  </a:solidFill>
                  <a:ea typeface="宋体" panose="02010600030101010101" pitchFamily="2" charset="-122"/>
                  <a:cs typeface="Times New Roman" panose="02020603050405020304" pitchFamily="18" charset="0"/>
                </a:rPr>
                <a:t>	</a:t>
              </a:r>
              <a:r>
                <a:rPr lang="en-US" altLang="zh-CN" dirty="0" smtClean="0">
                  <a:solidFill>
                    <a:srgbClr val="000000"/>
                  </a:solidFill>
                  <a:ea typeface="宋体" panose="02010600030101010101" pitchFamily="2" charset="-122"/>
                  <a:cs typeface="Times New Roman" panose="02020603050405020304" pitchFamily="18" charset="0"/>
                </a:rPr>
                <a:t>	D.6</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pic>
          <p:nvPicPr>
            <p:cNvPr id="4" name="NMG1TRA79.eps" descr="id:2147496100;FounderCES"/>
            <p:cNvPicPr/>
            <p:nvPr/>
          </p:nvPicPr>
          <p:blipFill>
            <a:blip r:embed="rId2"/>
            <a:stretch>
              <a:fillRect/>
            </a:stretch>
          </p:blipFill>
          <p:spPr>
            <a:xfrm>
              <a:off x="5184973" y="2949752"/>
              <a:ext cx="3035265" cy="3370869"/>
            </a:xfrm>
            <a:prstGeom prst="rect">
              <a:avLst/>
            </a:prstGeom>
          </p:spPr>
        </p:pic>
      </p:grpSp>
    </p:spTree>
    <p:extLst>
      <p:ext uri="{BB962C8B-B14F-4D97-AF65-F5344CB8AC3E}">
        <p14:creationId xmlns:p14="http://schemas.microsoft.com/office/powerpoint/2010/main" val="3500730581"/>
      </p:ext>
    </p:extLst>
  </p:cSld>
  <p:clrMapOvr>
    <a:masterClrMapping/>
  </p:clrMapOvr>
  <p:transition spd="slow">
    <p:randomBar dir="vert"/>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p:cNvGraphicFramePr>
            <a:graphicFrameLocks noChangeAspect="1"/>
          </p:cNvGraphicFramePr>
          <p:nvPr>
            <p:extLst>
              <p:ext uri="{D42A27DB-BD31-4B8C-83A1-F6EECF244321}">
                <p14:modId xmlns:p14="http://schemas.microsoft.com/office/powerpoint/2010/main" val="1678277236"/>
              </p:ext>
            </p:extLst>
          </p:nvPr>
        </p:nvGraphicFramePr>
        <p:xfrm>
          <a:off x="581025" y="1054487"/>
          <a:ext cx="11661775" cy="3506787"/>
        </p:xfrm>
        <a:graphic>
          <a:graphicData uri="http://schemas.openxmlformats.org/presentationml/2006/ole">
            <mc:AlternateContent xmlns:mc="http://schemas.openxmlformats.org/markup-compatibility/2006">
              <mc:Choice xmlns:v="urn:schemas-microsoft-com:vml" Requires="v">
                <p:oleObj spid="_x0000_s14349" name="文档" r:id="rId4" imgW="3837724" imgH="1159246" progId="Word.Document.12">
                  <p:embed/>
                </p:oleObj>
              </mc:Choice>
              <mc:Fallback>
                <p:oleObj name="文档" r:id="rId4" imgW="3837724" imgH="1159246" progId="Word.Document.12">
                  <p:embed/>
                  <p:pic>
                    <p:nvPicPr>
                      <p:cNvPr id="0" name=""/>
                      <p:cNvPicPr/>
                      <p:nvPr/>
                    </p:nvPicPr>
                    <p:blipFill>
                      <a:blip r:embed="rId5"/>
                      <a:stretch>
                        <a:fillRect/>
                      </a:stretch>
                    </p:blipFill>
                    <p:spPr>
                      <a:xfrm>
                        <a:off x="581025" y="1054487"/>
                        <a:ext cx="11661775" cy="3506787"/>
                      </a:xfrm>
                      <a:prstGeom prst="rect">
                        <a:avLst/>
                      </a:prstGeom>
                    </p:spPr>
                  </p:pic>
                </p:oleObj>
              </mc:Fallback>
            </mc:AlternateContent>
          </a:graphicData>
        </a:graphic>
      </p:graphicFrame>
      <p:sp>
        <p:nvSpPr>
          <p:cNvPr id="6" name="矩形 5"/>
          <p:cNvSpPr>
            <a:spLocks noChangeAspect="1"/>
          </p:cNvSpPr>
          <p:nvPr/>
        </p:nvSpPr>
        <p:spPr>
          <a:xfrm>
            <a:off x="576461" y="4582879"/>
            <a:ext cx="1544012" cy="683264"/>
          </a:xfrm>
          <a:prstGeom prst="rect">
            <a:avLst/>
          </a:prstGeom>
        </p:spPr>
        <p:txBody>
          <a:bodyPr wrap="none">
            <a:spAutoFit/>
          </a:bodyPr>
          <a:lstStyle/>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答案</a:t>
            </a:r>
            <a:r>
              <a:rPr lang="en-US" altLang="zh-CN" dirty="0">
                <a:latin typeface="Arial" panose="020B0604020202020204" pitchFamily="34" charset="0"/>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C </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359654898"/>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randombar(horizont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虚尾箭头 1"/>
          <p:cNvSpPr/>
          <p:nvPr/>
        </p:nvSpPr>
        <p:spPr>
          <a:xfrm>
            <a:off x="432445" y="1367879"/>
            <a:ext cx="10657184" cy="3528392"/>
          </a:xfrm>
          <a:prstGeom prst="stripedRightArrow">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zh-CN" sz="6600" dirty="0">
                <a:solidFill>
                  <a:srgbClr val="0070C0"/>
                </a:solidFill>
                <a:latin typeface="华文新魏" panose="02010800040101010101" pitchFamily="2" charset="-122"/>
                <a:ea typeface="华文新魏" panose="02010800040101010101" pitchFamily="2" charset="-122"/>
              </a:rPr>
              <a:t>随</a:t>
            </a:r>
            <a:r>
              <a:rPr lang="en-US" altLang="zh-CN" sz="6600" dirty="0">
                <a:solidFill>
                  <a:srgbClr val="0070C0"/>
                </a:solidFill>
                <a:latin typeface="华文新魏" panose="02010800040101010101" pitchFamily="2" charset="-122"/>
                <a:ea typeface="华文新魏" panose="02010800040101010101" pitchFamily="2" charset="-122"/>
              </a:rPr>
              <a:t>  </a:t>
            </a:r>
            <a:r>
              <a:rPr lang="zh-CN" altLang="zh-CN" sz="6600" dirty="0">
                <a:solidFill>
                  <a:srgbClr val="0070C0"/>
                </a:solidFill>
                <a:latin typeface="华文新魏" panose="02010800040101010101" pitchFamily="2" charset="-122"/>
                <a:ea typeface="华文新魏" panose="02010800040101010101" pitchFamily="2" charset="-122"/>
              </a:rPr>
              <a:t>堂</a:t>
            </a:r>
            <a:r>
              <a:rPr lang="en-US" altLang="zh-CN" sz="6600" dirty="0">
                <a:solidFill>
                  <a:srgbClr val="0070C0"/>
                </a:solidFill>
                <a:latin typeface="华文新魏" panose="02010800040101010101" pitchFamily="2" charset="-122"/>
                <a:ea typeface="华文新魏" panose="02010800040101010101" pitchFamily="2" charset="-122"/>
              </a:rPr>
              <a:t>  </a:t>
            </a:r>
            <a:r>
              <a:rPr lang="zh-CN" altLang="zh-CN" sz="6600" dirty="0">
                <a:solidFill>
                  <a:srgbClr val="0070C0"/>
                </a:solidFill>
                <a:latin typeface="华文新魏" panose="02010800040101010101" pitchFamily="2" charset="-122"/>
                <a:ea typeface="华文新魏" panose="02010800040101010101" pitchFamily="2" charset="-122"/>
              </a:rPr>
              <a:t>练</a:t>
            </a:r>
            <a:r>
              <a:rPr lang="en-US" altLang="zh-CN" sz="6600" dirty="0">
                <a:solidFill>
                  <a:srgbClr val="0070C0"/>
                </a:solidFill>
                <a:latin typeface="华文新魏" panose="02010800040101010101" pitchFamily="2" charset="-122"/>
                <a:ea typeface="华文新魏" panose="02010800040101010101" pitchFamily="2" charset="-122"/>
              </a:rPr>
              <a:t>  </a:t>
            </a:r>
            <a:r>
              <a:rPr lang="zh-CN" altLang="zh-CN" sz="6600" dirty="0">
                <a:solidFill>
                  <a:srgbClr val="0070C0"/>
                </a:solidFill>
                <a:latin typeface="华文新魏" panose="02010800040101010101" pitchFamily="2" charset="-122"/>
                <a:ea typeface="华文新魏" panose="02010800040101010101" pitchFamily="2" charset="-122"/>
              </a:rPr>
              <a:t>习</a:t>
            </a:r>
          </a:p>
        </p:txBody>
      </p:sp>
    </p:spTree>
    <p:extLst>
      <p:ext uri="{BB962C8B-B14F-4D97-AF65-F5344CB8AC3E}">
        <p14:creationId xmlns:p14="http://schemas.microsoft.com/office/powerpoint/2010/main" val="4075514661"/>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5"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decel="50000" fill="hold">
                                          <p:stCondLst>
                                            <p:cond delay="0"/>
                                          </p:stCondLst>
                                        </p:cTn>
                                        <p:tgtEl>
                                          <p:spTgt spid="2"/>
                                        </p:tgtEl>
                                        <p:attrNameLst>
                                          <p:attrName>style.rotation</p:attrName>
                                        </p:attrNameLst>
                                      </p:cBhvr>
                                      <p:tavLst>
                                        <p:tav tm="0">
                                          <p:val>
                                            <p:fltVal val="-90"/>
                                          </p:val>
                                        </p:tav>
                                        <p:tav tm="100000">
                                          <p:val>
                                            <p:fltVal val="0"/>
                                          </p:val>
                                        </p:tav>
                                      </p:tavLst>
                                    </p:anim>
                                    <p:anim calcmode="lin" valueType="num">
                                      <p:cBhvr>
                                        <p:cTn id="8" dur="500" decel="50000" fill="hold">
                                          <p:stCondLst>
                                            <p:cond delay="0"/>
                                          </p:stCondLst>
                                        </p:cTn>
                                        <p:tgtEl>
                                          <p:spTgt spid="2"/>
                                        </p:tgtEl>
                                        <p:attrNameLst>
                                          <p:attrName>ppt_w</p:attrName>
                                        </p:attrNameLst>
                                      </p:cBhvr>
                                      <p:tavLst>
                                        <p:tav tm="0">
                                          <p:val>
                                            <p:strVal val="#ppt_w"/>
                                          </p:val>
                                        </p:tav>
                                        <p:tav tm="100000">
                                          <p:val>
                                            <p:strVal val="#ppt_w*.05"/>
                                          </p:val>
                                        </p:tav>
                                      </p:tavLst>
                                    </p:anim>
                                    <p:anim calcmode="lin" valueType="num">
                                      <p:cBhvr>
                                        <p:cTn id="9" dur="500" accel="50000" fill="hold">
                                          <p:stCondLst>
                                            <p:cond delay="500"/>
                                          </p:stCondLst>
                                        </p:cTn>
                                        <p:tgtEl>
                                          <p:spTgt spid="2"/>
                                        </p:tgtEl>
                                        <p:attrNameLst>
                                          <p:attrName>ppt_w</p:attrName>
                                        </p:attrNameLst>
                                      </p:cBhvr>
                                      <p:tavLst>
                                        <p:tav tm="0">
                                          <p:val>
                                            <p:strVal val="#ppt_w*.05"/>
                                          </p:val>
                                        </p:tav>
                                        <p:tav tm="100000">
                                          <p:val>
                                            <p:strVal val="#ppt_w"/>
                                          </p:val>
                                        </p:tav>
                                      </p:tavLst>
                                    </p:anim>
                                    <p:anim calcmode="lin" valueType="num">
                                      <p:cBhvr>
                                        <p:cTn id="10" dur="1000" fill="hold"/>
                                        <p:tgtEl>
                                          <p:spTgt spid="2"/>
                                        </p:tgtEl>
                                        <p:attrNameLst>
                                          <p:attrName>ppt_h</p:attrName>
                                        </p:attrNameLst>
                                      </p:cBhvr>
                                      <p:tavLst>
                                        <p:tav tm="0">
                                          <p:val>
                                            <p:strVal val="#ppt_h"/>
                                          </p:val>
                                        </p:tav>
                                        <p:tav tm="100000">
                                          <p:val>
                                            <p:strVal val="#ppt_h"/>
                                          </p:val>
                                        </p:tav>
                                      </p:tavLst>
                                    </p:anim>
                                    <p:anim calcmode="lin" valueType="num">
                                      <p:cBhvr>
                                        <p:cTn id="11" dur="500" decel="50000" fill="hold">
                                          <p:stCondLst>
                                            <p:cond delay="0"/>
                                          </p:stCondLst>
                                        </p:cTn>
                                        <p:tgtEl>
                                          <p:spTgt spid="2"/>
                                        </p:tgtEl>
                                        <p:attrNameLst>
                                          <p:attrName>ppt_x</p:attrName>
                                        </p:attrNameLst>
                                      </p:cBhvr>
                                      <p:tavLst>
                                        <p:tav tm="0">
                                          <p:val>
                                            <p:strVal val="#ppt_x+.4"/>
                                          </p:val>
                                        </p:tav>
                                        <p:tav tm="100000">
                                          <p:val>
                                            <p:strVal val="#ppt_x"/>
                                          </p:val>
                                        </p:tav>
                                      </p:tavLst>
                                    </p:anim>
                                    <p:anim calcmode="lin" valueType="num">
                                      <p:cBhvr>
                                        <p:cTn id="12" dur="500" decel="50000" fill="hold">
                                          <p:stCondLst>
                                            <p:cond delay="0"/>
                                          </p:stCondLst>
                                        </p:cTn>
                                        <p:tgtEl>
                                          <p:spTgt spid="2"/>
                                        </p:tgtEl>
                                        <p:attrNameLst>
                                          <p:attrName>ppt_y</p:attrName>
                                        </p:attrNameLst>
                                      </p:cBhvr>
                                      <p:tavLst>
                                        <p:tav tm="0">
                                          <p:val>
                                            <p:strVal val="#ppt_y-.2"/>
                                          </p:val>
                                        </p:tav>
                                        <p:tav tm="100000">
                                          <p:val>
                                            <p:strVal val="#ppt_y+.1"/>
                                          </p:val>
                                        </p:tav>
                                      </p:tavLst>
                                    </p:anim>
                                    <p:anim calcmode="lin" valueType="num">
                                      <p:cBhvr>
                                        <p:cTn id="13" dur="500" accel="50000" fill="hold">
                                          <p:stCondLst>
                                            <p:cond delay="500"/>
                                          </p:stCondLst>
                                        </p:cTn>
                                        <p:tgtEl>
                                          <p:spTgt spid="2"/>
                                        </p:tgtEl>
                                        <p:attrNameLst>
                                          <p:attrName>ppt_y</p:attrName>
                                        </p:attrNameLst>
                                      </p:cBhvr>
                                      <p:tavLst>
                                        <p:tav tm="0">
                                          <p:val>
                                            <p:strVal val="#ppt_y+.1"/>
                                          </p:val>
                                        </p:tav>
                                        <p:tav tm="100000">
                                          <p:val>
                                            <p:strVal val="#ppt_y"/>
                                          </p:val>
                                        </p:tav>
                                      </p:tavLst>
                                    </p:anim>
                                    <p:animEffect transition="in" filter="fade">
                                      <p:cBhvr>
                                        <p:cTn id="14" dur="1000" decel="50000">
                                          <p:stCondLst>
                                            <p:cond delay="0"/>
                                          </p:stCondLst>
                                        </p:cTn>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1242898"/>
            <a:ext cx="10807700" cy="3581365"/>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若等腰三角形的周长为</a:t>
            </a:r>
            <a:r>
              <a:rPr lang="en-US" altLang="zh-CN" dirty="0">
                <a:solidFill>
                  <a:srgbClr val="000000"/>
                </a:solidFill>
                <a:ea typeface="宋体" panose="02010600030101010101" pitchFamily="2" charset="-122"/>
                <a:cs typeface="Times New Roman" panose="02020603050405020304" pitchFamily="18" charset="0"/>
              </a:rPr>
              <a:t>20,</a:t>
            </a:r>
            <a:r>
              <a:rPr lang="zh-CN" altLang="zh-CN" dirty="0">
                <a:solidFill>
                  <a:srgbClr val="000000"/>
                </a:solidFill>
                <a:ea typeface="宋体" panose="02010600030101010101" pitchFamily="2" charset="-122"/>
                <a:cs typeface="Times New Roman" panose="02020603050405020304" pitchFamily="18" charset="0"/>
              </a:rPr>
              <a:t>底边长</a:t>
            </a:r>
            <a:r>
              <a:rPr lang="en-US" altLang="zh-CN" i="1" dirty="0">
                <a:solidFill>
                  <a:srgbClr val="000000"/>
                </a:solidFill>
                <a:ea typeface="宋体" panose="02010600030101010101" pitchFamily="2" charset="-122"/>
                <a:cs typeface="Times New Roman" panose="02020603050405020304" pitchFamily="18" charset="0"/>
              </a:rPr>
              <a:t>y</a:t>
            </a:r>
            <a:r>
              <a:rPr lang="zh-CN" altLang="zh-CN" dirty="0">
                <a:solidFill>
                  <a:srgbClr val="000000"/>
                </a:solidFill>
                <a:ea typeface="宋体" panose="02010600030101010101" pitchFamily="2" charset="-122"/>
                <a:cs typeface="Times New Roman" panose="02020603050405020304" pitchFamily="18" charset="0"/>
              </a:rPr>
              <a:t>是关于腰长</a:t>
            </a:r>
            <a:r>
              <a:rPr lang="en-US" altLang="zh-CN" i="1" dirty="0">
                <a:solidFill>
                  <a:srgbClr val="000000"/>
                </a:solidFill>
                <a:ea typeface="宋体" panose="02010600030101010101" pitchFamily="2" charset="-122"/>
                <a:cs typeface="Times New Roman" panose="02020603050405020304" pitchFamily="18" charset="0"/>
              </a:rPr>
              <a:t>x</a:t>
            </a:r>
            <a:r>
              <a:rPr lang="zh-CN" altLang="zh-CN" dirty="0">
                <a:solidFill>
                  <a:srgbClr val="000000"/>
                </a:solidFill>
                <a:ea typeface="宋体" panose="02010600030101010101" pitchFamily="2" charset="-122"/>
                <a:cs typeface="Times New Roman" panose="02020603050405020304" pitchFamily="18" charset="0"/>
              </a:rPr>
              <a:t>的函数</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则它的解析式为</a:t>
            </a:r>
            <a:r>
              <a:rPr lang="en-US" altLang="zh-CN" dirty="0">
                <a:solidFill>
                  <a:srgbClr val="000000"/>
                </a:solidFill>
                <a:ea typeface="宋体" panose="02010600030101010101" pitchFamily="2" charset="-122"/>
                <a:cs typeface="Times New Roman" panose="02020603050405020304" pitchFamily="18" charset="0"/>
              </a:rPr>
              <a:t>(</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err="1">
                <a:solidFill>
                  <a:srgbClr val="000000"/>
                </a:solidFill>
                <a:ea typeface="宋体" panose="02010600030101010101" pitchFamily="2" charset="-122"/>
                <a:cs typeface="Times New Roman" panose="02020603050405020304" pitchFamily="18" charset="0"/>
              </a:rPr>
              <a:t>A.</a:t>
            </a:r>
            <a:r>
              <a:rPr lang="en-US" altLang="zh-CN" i="1" dirty="0" err="1">
                <a:solidFill>
                  <a:srgbClr val="000000"/>
                </a:solidFill>
                <a:ea typeface="宋体" panose="02010600030101010101" pitchFamily="2" charset="-122"/>
                <a:cs typeface="Times New Roman" panose="02020603050405020304" pitchFamily="18" charset="0"/>
              </a:rPr>
              <a:t>y</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10)</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err="1">
                <a:solidFill>
                  <a:srgbClr val="000000"/>
                </a:solidFill>
                <a:ea typeface="宋体" panose="02010600030101010101" pitchFamily="2" charset="-122"/>
                <a:cs typeface="Times New Roman" panose="02020603050405020304" pitchFamily="18" charset="0"/>
              </a:rPr>
              <a:t>B.</a:t>
            </a:r>
            <a:r>
              <a:rPr lang="en-US" altLang="zh-CN" i="1" dirty="0" err="1">
                <a:solidFill>
                  <a:srgbClr val="000000"/>
                </a:solidFill>
                <a:ea typeface="宋体" panose="02010600030101010101" pitchFamily="2" charset="-122"/>
                <a:cs typeface="Times New Roman" panose="02020603050405020304" pitchFamily="18" charset="0"/>
              </a:rPr>
              <a:t>y</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x&lt;</a:t>
            </a:r>
            <a:r>
              <a:rPr lang="en-US" altLang="zh-CN" dirty="0">
                <a:solidFill>
                  <a:srgbClr val="000000"/>
                </a:solidFill>
                <a:ea typeface="宋体" panose="02010600030101010101" pitchFamily="2" charset="-122"/>
                <a:cs typeface="Times New Roman" panose="02020603050405020304" pitchFamily="18" charset="0"/>
              </a:rPr>
              <a:t>10)</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err="1">
                <a:solidFill>
                  <a:srgbClr val="000000"/>
                </a:solidFill>
                <a:ea typeface="宋体" panose="02010600030101010101" pitchFamily="2" charset="-122"/>
                <a:cs typeface="Times New Roman" panose="02020603050405020304" pitchFamily="18" charset="0"/>
              </a:rPr>
              <a:t>C.</a:t>
            </a:r>
            <a:r>
              <a:rPr lang="en-US" altLang="zh-CN" i="1" dirty="0" err="1">
                <a:solidFill>
                  <a:srgbClr val="000000"/>
                </a:solidFill>
                <a:ea typeface="宋体" panose="02010600030101010101" pitchFamily="2" charset="-122"/>
                <a:cs typeface="Times New Roman" panose="02020603050405020304" pitchFamily="18" charset="0"/>
              </a:rPr>
              <a:t>y</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(5</a:t>
            </a:r>
            <a:r>
              <a:rPr lang="en-US" altLang="zh-CN"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10)</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err="1">
                <a:solidFill>
                  <a:srgbClr val="000000"/>
                </a:solidFill>
                <a:ea typeface="宋体" panose="02010600030101010101" pitchFamily="2" charset="-122"/>
                <a:cs typeface="Times New Roman" panose="02020603050405020304" pitchFamily="18" charset="0"/>
              </a:rPr>
              <a:t>D.</a:t>
            </a:r>
            <a:r>
              <a:rPr lang="en-US" altLang="zh-CN" i="1" dirty="0" err="1">
                <a:solidFill>
                  <a:srgbClr val="000000"/>
                </a:solidFill>
                <a:ea typeface="宋体" panose="02010600030101010101" pitchFamily="2" charset="-122"/>
                <a:cs typeface="Times New Roman" panose="02020603050405020304" pitchFamily="18" charset="0"/>
              </a:rPr>
              <a:t>y</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(5</a:t>
            </a:r>
            <a:r>
              <a:rPr lang="en-US" altLang="zh-CN" i="1" dirty="0">
                <a:solidFill>
                  <a:srgbClr val="000000"/>
                </a:solidFill>
                <a:ea typeface="宋体" panose="02010600030101010101" pitchFamily="2" charset="-122"/>
                <a:cs typeface="Times New Roman" panose="02020603050405020304" pitchFamily="18" charset="0"/>
              </a:rPr>
              <a:t>&lt;x&lt;</a:t>
            </a:r>
            <a:r>
              <a:rPr lang="en-US" altLang="zh-CN" dirty="0">
                <a:solidFill>
                  <a:srgbClr val="000000"/>
                </a:solidFill>
                <a:ea typeface="宋体" panose="02010600030101010101" pitchFamily="2" charset="-122"/>
                <a:cs typeface="Times New Roman" panose="02020603050405020304" pitchFamily="18" charset="0"/>
              </a:rPr>
              <a:t>10)</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962406242"/>
      </p:ext>
    </p:extLst>
  </p:cSld>
  <p:clrMapOvr>
    <a:masterClrMapping/>
  </p:clrMapOvr>
  <p:transition spd="slow">
    <p:comb/>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361950" y="739471"/>
            <a:ext cx="10807700" cy="2456057"/>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解析</a:t>
            </a:r>
            <a:r>
              <a:rPr lang="en-US" altLang="zh-CN" dirty="0">
                <a:latin typeface="Arial" panose="020B0604020202020204" pitchFamily="34" charset="0"/>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由题意</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得</a:t>
            </a: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x+y=</a:t>
            </a:r>
            <a:r>
              <a:rPr lang="en-US" altLang="zh-CN" dirty="0">
                <a:solidFill>
                  <a:srgbClr val="000000"/>
                </a:solidFill>
                <a:ea typeface="宋体" panose="02010600030101010101" pitchFamily="2" charset="-122"/>
                <a:cs typeface="Times New Roman" panose="02020603050405020304" pitchFamily="18" charset="0"/>
              </a:rPr>
              <a:t>20</a:t>
            </a:r>
            <a:r>
              <a:rPr lang="en-US" altLang="zh-CN" dirty="0" smtClean="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即</a:t>
            </a:r>
            <a:r>
              <a:rPr lang="en-US" altLang="zh-CN" i="1" dirty="0" smtClean="0">
                <a:solidFill>
                  <a:srgbClr val="000000"/>
                </a:solidFill>
                <a:ea typeface="宋体" panose="02010600030101010101" pitchFamily="2" charset="-122"/>
                <a:cs typeface="Times New Roman" panose="02020603050405020304" pitchFamily="18" charset="0"/>
              </a:rPr>
              <a:t>y=</a:t>
            </a:r>
            <a:r>
              <a:rPr lang="en-US" altLang="zh-CN" dirty="0" smtClean="0">
                <a:solidFill>
                  <a:srgbClr val="000000"/>
                </a:solidFill>
                <a:ea typeface="宋体" panose="02010600030101010101" pitchFamily="2" charset="-122"/>
                <a:cs typeface="Times New Roman" panose="02020603050405020304" pitchFamily="18" charset="0"/>
              </a:rPr>
              <a:t>20</a:t>
            </a:r>
            <a:r>
              <a:rPr lang="en-US" altLang="zh-CN" i="1" dirty="0" smtClean="0">
                <a:solidFill>
                  <a:srgbClr val="000000"/>
                </a:solidFill>
                <a:ea typeface="宋体" panose="02010600030101010101" pitchFamily="2" charset="-122"/>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2</a:t>
            </a:r>
            <a:r>
              <a:rPr lang="en-US" altLang="zh-CN" i="1" dirty="0" smtClean="0">
                <a:solidFill>
                  <a:srgbClr val="000000"/>
                </a:solidFill>
                <a:ea typeface="宋体" panose="02010600030101010101" pitchFamily="2" charset="-122"/>
                <a:cs typeface="Times New Roman" panose="02020603050405020304" pitchFamily="18" charset="0"/>
              </a:rPr>
              <a:t>x</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i="1" dirty="0">
                <a:solidFill>
                  <a:srgbClr val="000000"/>
                </a:solidFill>
                <a:latin typeface="NEU-BZ-S92"/>
                <a:ea typeface="宋体" panose="02010600030101010101" pitchFamily="2" charset="-122"/>
                <a:cs typeface="宋体" panose="02010600030101010101" pitchFamily="2" charset="-122"/>
              </a:rPr>
              <a:t>∵</a:t>
            </a:r>
            <a:r>
              <a:rPr lang="en-US" altLang="zh-CN" i="1" dirty="0">
                <a:solidFill>
                  <a:srgbClr val="000000"/>
                </a:solidFill>
                <a:ea typeface="宋体" panose="02010600030101010101" pitchFamily="2" charset="-122"/>
                <a:cs typeface="Times New Roman" panose="02020603050405020304" pitchFamily="18" charset="0"/>
              </a:rPr>
              <a:t>y&gt;</a:t>
            </a:r>
            <a:r>
              <a:rPr lang="en-US" altLang="zh-CN" dirty="0">
                <a:solidFill>
                  <a:srgbClr val="000000"/>
                </a:solidFill>
                <a:ea typeface="宋体" panose="02010600030101010101" pitchFamily="2" charset="-122"/>
                <a:cs typeface="Times New Roman" panose="02020603050405020304" pitchFamily="18" charset="0"/>
              </a:rPr>
              <a:t>0,</a:t>
            </a:r>
            <a:r>
              <a:rPr lang="zh-CN" altLang="zh-CN" i="1" dirty="0">
                <a:solidFill>
                  <a:srgbClr val="000000"/>
                </a:solidFill>
                <a:latin typeface="NEU-BZ-S92"/>
                <a:ea typeface="宋体" panose="02010600030101010101" pitchFamily="2" charset="-122"/>
                <a:cs typeface="宋体" panose="02010600030101010101" pitchFamily="2" charset="-122"/>
              </a:rPr>
              <a:t>∴</a:t>
            </a:r>
            <a:r>
              <a:rPr lang="en-US" altLang="zh-CN" dirty="0">
                <a:solidFill>
                  <a:srgbClr val="000000"/>
                </a:solidFill>
                <a:ea typeface="宋体" panose="02010600030101010101" pitchFamily="2" charset="-122"/>
                <a:cs typeface="Times New Roman" panose="02020603050405020304" pitchFamily="18" charset="0"/>
              </a:rPr>
              <a:t>20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x&gt;</a:t>
            </a:r>
            <a:r>
              <a:rPr lang="en-US" altLang="zh-CN" dirty="0">
                <a:solidFill>
                  <a:srgbClr val="000000"/>
                </a:solidFill>
                <a:ea typeface="宋体" panose="02010600030101010101" pitchFamily="2" charset="-122"/>
                <a:cs typeface="Times New Roman" panose="02020603050405020304" pitchFamily="18" charset="0"/>
              </a:rPr>
              <a:t>0,</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i="1" dirty="0">
                <a:solidFill>
                  <a:srgbClr val="000000"/>
                </a:solidFill>
                <a:latin typeface="NEU-BZ-S92"/>
                <a:ea typeface="宋体" panose="02010600030101010101" pitchFamily="2" charset="-122"/>
                <a:cs typeface="宋体" panose="02010600030101010101" pitchFamily="2" charset="-122"/>
              </a:rPr>
              <a:t>∴</a:t>
            </a:r>
            <a:r>
              <a:rPr lang="en-US" altLang="zh-CN" i="1" dirty="0">
                <a:solidFill>
                  <a:srgbClr val="000000"/>
                </a:solidFill>
                <a:ea typeface="宋体" panose="02010600030101010101" pitchFamily="2" charset="-122"/>
                <a:cs typeface="Times New Roman" panose="02020603050405020304" pitchFamily="18" charset="0"/>
              </a:rPr>
              <a:t>x&lt;</a:t>
            </a:r>
            <a:r>
              <a:rPr lang="en-US" altLang="zh-CN" dirty="0">
                <a:solidFill>
                  <a:srgbClr val="000000"/>
                </a:solidFill>
                <a:ea typeface="宋体" panose="02010600030101010101" pitchFamily="2" charset="-122"/>
                <a:cs typeface="Times New Roman" panose="02020603050405020304" pitchFamily="18" charset="0"/>
              </a:rPr>
              <a:t>10</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solidFill>
                  <a:srgbClr val="000000"/>
                </a:solidFill>
                <a:ea typeface="楷体" panose="02010609060101010101" pitchFamily="49" charset="-122"/>
                <a:cs typeface="Times New Roman" panose="02020603050405020304" pitchFamily="18" charset="0"/>
              </a:rPr>
              <a:t>又三角形两边之和大于第三边</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529723851"/>
              </p:ext>
            </p:extLst>
          </p:nvPr>
        </p:nvGraphicFramePr>
        <p:xfrm>
          <a:off x="361950" y="3129142"/>
          <a:ext cx="11671959" cy="1016092"/>
        </p:xfrm>
        <a:graphic>
          <a:graphicData uri="http://schemas.openxmlformats.org/presentationml/2006/ole">
            <mc:AlternateContent xmlns:mc="http://schemas.openxmlformats.org/markup-compatibility/2006">
              <mc:Choice xmlns:v="urn:schemas-microsoft-com:vml" Requires="v">
                <p:oleObj spid="_x0000_s15372" name="文档" r:id="rId4" imgW="3826872" imgH="333145" progId="Word.Document.12">
                  <p:embed/>
                </p:oleObj>
              </mc:Choice>
              <mc:Fallback>
                <p:oleObj name="文档" r:id="rId4" imgW="3826872" imgH="333145" progId="Word.Document.12">
                  <p:embed/>
                  <p:pic>
                    <p:nvPicPr>
                      <p:cNvPr id="0" name=""/>
                      <p:cNvPicPr/>
                      <p:nvPr/>
                    </p:nvPicPr>
                    <p:blipFill>
                      <a:blip r:embed="rId5"/>
                      <a:stretch>
                        <a:fillRect/>
                      </a:stretch>
                    </p:blipFill>
                    <p:spPr>
                      <a:xfrm>
                        <a:off x="361950" y="3129142"/>
                        <a:ext cx="11671959" cy="1016092"/>
                      </a:xfrm>
                      <a:prstGeom prst="rect">
                        <a:avLst/>
                      </a:prstGeom>
                    </p:spPr>
                  </p:pic>
                </p:oleObj>
              </mc:Fallback>
            </mc:AlternateContent>
          </a:graphicData>
        </a:graphic>
      </p:graphicFrame>
      <p:sp>
        <p:nvSpPr>
          <p:cNvPr id="5" name="矩形 4"/>
          <p:cNvSpPr>
            <a:spLocks noChangeAspect="1"/>
          </p:cNvSpPr>
          <p:nvPr/>
        </p:nvSpPr>
        <p:spPr>
          <a:xfrm>
            <a:off x="361950" y="4225351"/>
            <a:ext cx="10807700" cy="1808572"/>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i="1" dirty="0">
                <a:solidFill>
                  <a:srgbClr val="000000"/>
                </a:solidFill>
                <a:latin typeface="NEU-BZ-S92"/>
                <a:ea typeface="宋体" panose="02010600030101010101" pitchFamily="2" charset="-122"/>
                <a:cs typeface="宋体" panose="02010600030101010101" pitchFamily="2" charset="-122"/>
              </a:rPr>
              <a:t>∴</a:t>
            </a:r>
            <a:r>
              <a:rPr lang="en-US" altLang="zh-CN" dirty="0">
                <a:solidFill>
                  <a:srgbClr val="000000"/>
                </a:solidFill>
                <a:ea typeface="宋体" panose="02010600030101010101" pitchFamily="2" charset="-122"/>
                <a:cs typeface="Times New Roman" panose="02020603050405020304" pitchFamily="18" charset="0"/>
              </a:rPr>
              <a:t>5</a:t>
            </a:r>
            <a:r>
              <a:rPr lang="en-US" altLang="zh-CN" i="1" dirty="0">
                <a:solidFill>
                  <a:srgbClr val="000000"/>
                </a:solidFill>
                <a:ea typeface="宋体" panose="02010600030101010101" pitchFamily="2" charset="-122"/>
                <a:cs typeface="Times New Roman" panose="02020603050405020304" pitchFamily="18" charset="0"/>
              </a:rPr>
              <a:t>&lt;x&lt;</a:t>
            </a:r>
            <a:r>
              <a:rPr lang="en-US" altLang="zh-CN" dirty="0">
                <a:solidFill>
                  <a:srgbClr val="000000"/>
                </a:solidFill>
                <a:ea typeface="宋体" panose="02010600030101010101" pitchFamily="2" charset="-122"/>
                <a:cs typeface="Times New Roman" panose="02020603050405020304" pitchFamily="18" charset="0"/>
              </a:rPr>
              <a:t>10</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solidFill>
                  <a:srgbClr val="000000"/>
                </a:solidFill>
                <a:ea typeface="楷体" panose="02010609060101010101" pitchFamily="49" charset="-122"/>
                <a:cs typeface="Times New Roman" panose="02020603050405020304" pitchFamily="18" charset="0"/>
              </a:rPr>
              <a:t>故选</a:t>
            </a:r>
            <a:r>
              <a:rPr lang="en-US" altLang="zh-CN" dirty="0">
                <a:solidFill>
                  <a:srgbClr val="000000"/>
                </a:solidFill>
                <a:ea typeface="宋体" panose="02010600030101010101" pitchFamily="2" charset="-122"/>
                <a:cs typeface="Times New Roman" panose="02020603050405020304" pitchFamily="18" charset="0"/>
              </a:rPr>
              <a:t>D</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答案</a:t>
            </a:r>
            <a:r>
              <a:rPr lang="en-US" altLang="zh-CN" dirty="0">
                <a:latin typeface="Arial" panose="020B0604020202020204" pitchFamily="34" charset="0"/>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D</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666942287"/>
      </p:ext>
    </p:extLst>
  </p:cSld>
  <p:clrMapOvr>
    <a:masterClrMapping/>
  </p:clrMapOvr>
  <p:transition spd="slow">
    <p:comb/>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animEffect transition="in" filter="randombar(horizontal)">
                                      <p:cBhvr>
                                        <p:cTn id="7" dur="5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555022"/>
            <a:ext cx="10807700" cy="5945089"/>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某公司在甲、乙两地销售一种品牌车</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利润</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单位</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万元</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分别为</a:t>
            </a:r>
            <a:r>
              <a:rPr lang="en-US" altLang="zh-CN" i="1" dirty="0">
                <a:solidFill>
                  <a:srgbClr val="000000"/>
                </a:solidFill>
                <a:ea typeface="宋体" panose="02010600030101010101" pitchFamily="2" charset="-122"/>
                <a:cs typeface="Times New Roman" panose="02020603050405020304" pitchFamily="18" charset="0"/>
              </a:rPr>
              <a:t>L</a:t>
            </a:r>
            <a:r>
              <a:rPr lang="en-US" altLang="zh-CN" baseline="-25000"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5</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06</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15</a:t>
            </a:r>
            <a:r>
              <a:rPr lang="en-US" altLang="zh-CN" i="1" dirty="0">
                <a:solidFill>
                  <a:srgbClr val="000000"/>
                </a:solidFill>
                <a:ea typeface="宋体" panose="02010600030101010101" pitchFamily="2" charset="-122"/>
                <a:cs typeface="Times New Roman" panose="02020603050405020304" pitchFamily="18" charset="0"/>
              </a:rPr>
              <a:t>x</a:t>
            </a:r>
            <a:r>
              <a:rPr lang="en-US" altLang="zh-CN" baseline="30000" dirty="0">
                <a:solidFill>
                  <a:srgbClr val="000000"/>
                </a:solidFill>
                <a:ea typeface="宋体" panose="02010600030101010101" pitchFamily="2" charset="-122"/>
                <a:cs typeface="Times New Roman" panose="02020603050405020304" pitchFamily="18" charset="0"/>
              </a:rPr>
              <a:t>2</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zh-CN" altLang="zh-CN" dirty="0">
                <a:solidFill>
                  <a:srgbClr val="000000"/>
                </a:solidFill>
                <a:latin typeface="NEU-BZ-S92"/>
                <a:ea typeface="宋体" panose="02010600030101010101" pitchFamily="2" charset="-122"/>
                <a:cs typeface="宋体" panose="02010600030101010101" pitchFamily="2" charset="-122"/>
              </a:rPr>
              <a:t>∈</a:t>
            </a:r>
            <a:r>
              <a:rPr lang="en-US" altLang="zh-CN" dirty="0">
                <a:solidFill>
                  <a:srgbClr val="000000"/>
                </a:solidFill>
                <a:ea typeface="宋体" panose="02010600030101010101" pitchFamily="2" charset="-122"/>
                <a:cs typeface="Times New Roman" panose="02020603050405020304" pitchFamily="18" charset="0"/>
              </a:rPr>
              <a:t>N)</a:t>
            </a:r>
            <a:r>
              <a:rPr lang="zh-CN" altLang="zh-CN" dirty="0">
                <a:solidFill>
                  <a:srgbClr val="000000"/>
                </a:solidFill>
                <a:ea typeface="宋体" panose="02010600030101010101" pitchFamily="2" charset="-122"/>
                <a:cs typeface="Times New Roman" panose="02020603050405020304" pitchFamily="18" charset="0"/>
              </a:rPr>
              <a:t>和</a:t>
            </a:r>
            <a:r>
              <a:rPr lang="en-US" altLang="zh-CN" i="1" dirty="0">
                <a:solidFill>
                  <a:srgbClr val="000000"/>
                </a:solidFill>
                <a:ea typeface="宋体" panose="02010600030101010101" pitchFamily="2" charset="-122"/>
                <a:cs typeface="Times New Roman" panose="02020603050405020304" pitchFamily="18" charset="0"/>
              </a:rPr>
              <a:t>L</a:t>
            </a:r>
            <a:r>
              <a:rPr lang="en-US" altLang="zh-CN" baseline="-25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x</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x</a:t>
            </a:r>
            <a:r>
              <a:rPr lang="zh-CN" altLang="zh-CN" dirty="0">
                <a:solidFill>
                  <a:srgbClr val="000000"/>
                </a:solidFill>
                <a:latin typeface="NEU-BZ-S92"/>
                <a:ea typeface="宋体" panose="02010600030101010101" pitchFamily="2" charset="-122"/>
                <a:cs typeface="宋体" panose="02010600030101010101" pitchFamily="2" charset="-122"/>
              </a:rPr>
              <a:t>∈</a:t>
            </a:r>
            <a:r>
              <a:rPr lang="en-US" altLang="zh-CN" dirty="0">
                <a:solidFill>
                  <a:srgbClr val="000000"/>
                </a:solidFill>
                <a:ea typeface="宋体" panose="02010600030101010101" pitchFamily="2" charset="-122"/>
                <a:cs typeface="Times New Roman" panose="02020603050405020304" pitchFamily="18" charset="0"/>
              </a:rPr>
              <a:t>N),</a:t>
            </a:r>
            <a:r>
              <a:rPr lang="zh-CN" altLang="zh-CN" dirty="0">
                <a:solidFill>
                  <a:srgbClr val="000000"/>
                </a:solidFill>
                <a:ea typeface="宋体" panose="02010600030101010101" pitchFamily="2" charset="-122"/>
                <a:cs typeface="Times New Roman" panose="02020603050405020304" pitchFamily="18" charset="0"/>
              </a:rPr>
              <a:t>其中</a:t>
            </a:r>
            <a:r>
              <a:rPr lang="en-US" altLang="zh-CN" i="1" dirty="0">
                <a:solidFill>
                  <a:srgbClr val="000000"/>
                </a:solidFill>
                <a:ea typeface="宋体" panose="02010600030101010101" pitchFamily="2" charset="-122"/>
                <a:cs typeface="Times New Roman" panose="02020603050405020304" pitchFamily="18" charset="0"/>
              </a:rPr>
              <a:t>x</a:t>
            </a:r>
            <a:r>
              <a:rPr lang="zh-CN" altLang="zh-CN" dirty="0">
                <a:solidFill>
                  <a:srgbClr val="000000"/>
                </a:solidFill>
                <a:ea typeface="宋体" panose="02010600030101010101" pitchFamily="2" charset="-122"/>
                <a:cs typeface="Times New Roman" panose="02020603050405020304" pitchFamily="18" charset="0"/>
              </a:rPr>
              <a:t>为销售量</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单位</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辆</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若该公司在这两地共销售</a:t>
            </a:r>
            <a:r>
              <a:rPr lang="en-US" altLang="zh-CN" dirty="0">
                <a:solidFill>
                  <a:srgbClr val="000000"/>
                </a:solidFill>
                <a:ea typeface="宋体" panose="02010600030101010101" pitchFamily="2" charset="-122"/>
                <a:cs typeface="Times New Roman" panose="02020603050405020304" pitchFamily="18" charset="0"/>
              </a:rPr>
              <a:t>15</a:t>
            </a:r>
            <a:r>
              <a:rPr lang="zh-CN" altLang="zh-CN" dirty="0">
                <a:solidFill>
                  <a:srgbClr val="000000"/>
                </a:solidFill>
                <a:ea typeface="宋体" panose="02010600030101010101" pitchFamily="2" charset="-122"/>
                <a:cs typeface="Times New Roman" panose="02020603050405020304" pitchFamily="18" charset="0"/>
              </a:rPr>
              <a:t>辆车</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则可能获得的最大利润为</a:t>
            </a:r>
            <a:r>
              <a:rPr lang="en-US" altLang="zh-CN" dirty="0">
                <a:solidFill>
                  <a:srgbClr val="000000"/>
                </a:solidFill>
                <a:ea typeface="宋体" panose="02010600030101010101" pitchFamily="2" charset="-122"/>
                <a:cs typeface="Times New Roman" panose="02020603050405020304" pitchFamily="18" charset="0"/>
              </a:rPr>
              <a:t>(</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A.45</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606</a:t>
            </a:r>
            <a:r>
              <a:rPr lang="zh-CN" altLang="zh-CN" dirty="0">
                <a:solidFill>
                  <a:srgbClr val="000000"/>
                </a:solidFill>
                <a:ea typeface="宋体" panose="02010600030101010101" pitchFamily="2" charset="-122"/>
                <a:cs typeface="Times New Roman" panose="02020603050405020304" pitchFamily="18" charset="0"/>
              </a:rPr>
              <a:t>万元</a:t>
            </a:r>
            <a:r>
              <a:rPr lang="en-US" altLang="zh-CN" dirty="0">
                <a:solidFill>
                  <a:srgbClr val="000000"/>
                </a:solidFill>
                <a:ea typeface="宋体" panose="02010600030101010101" pitchFamily="2" charset="-122"/>
                <a:cs typeface="Times New Roman" panose="02020603050405020304" pitchFamily="18" charset="0"/>
              </a:rPr>
              <a:t>	B.45</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6</a:t>
            </a:r>
            <a:r>
              <a:rPr lang="zh-CN" altLang="zh-CN" dirty="0">
                <a:solidFill>
                  <a:srgbClr val="000000"/>
                </a:solidFill>
                <a:ea typeface="宋体" panose="02010600030101010101" pitchFamily="2" charset="-122"/>
                <a:cs typeface="Times New Roman" panose="02020603050405020304" pitchFamily="18" charset="0"/>
              </a:rPr>
              <a:t>万元</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C.45</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56</a:t>
            </a:r>
            <a:r>
              <a:rPr lang="zh-CN" altLang="zh-CN" dirty="0">
                <a:solidFill>
                  <a:srgbClr val="000000"/>
                </a:solidFill>
                <a:ea typeface="宋体" panose="02010600030101010101" pitchFamily="2" charset="-122"/>
                <a:cs typeface="Times New Roman" panose="02020603050405020304" pitchFamily="18" charset="0"/>
              </a:rPr>
              <a:t>万元</a:t>
            </a:r>
            <a:r>
              <a:rPr lang="en-US" altLang="zh-CN" dirty="0">
                <a:solidFill>
                  <a:srgbClr val="000000"/>
                </a:solidFill>
                <a:ea typeface="宋体" panose="02010600030101010101" pitchFamily="2" charset="-122"/>
                <a:cs typeface="Times New Roman" panose="02020603050405020304" pitchFamily="18" charset="0"/>
              </a:rPr>
              <a:t>	D.45</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51</a:t>
            </a:r>
            <a:r>
              <a:rPr lang="zh-CN" altLang="zh-CN" dirty="0">
                <a:solidFill>
                  <a:srgbClr val="000000"/>
                </a:solidFill>
                <a:ea typeface="宋体" panose="02010600030101010101" pitchFamily="2" charset="-122"/>
                <a:cs typeface="Times New Roman" panose="02020603050405020304" pitchFamily="18" charset="0"/>
              </a:rPr>
              <a:t>万元</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解析</a:t>
            </a:r>
            <a:r>
              <a:rPr lang="en-US" altLang="zh-CN" dirty="0" smtClean="0">
                <a:latin typeface="Arial" panose="020B0604020202020204" pitchFamily="34" charset="0"/>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题意可设在甲地销售</a:t>
            </a:r>
            <a:r>
              <a:rPr lang="en-US" altLang="zh-CN" i="1" dirty="0">
                <a:solidFill>
                  <a:srgbClr val="000000"/>
                </a:solidFill>
                <a:ea typeface="宋体" panose="02010600030101010101" pitchFamily="2" charset="-122"/>
              </a:rPr>
              <a:t>x</a:t>
            </a:r>
            <a:r>
              <a:rPr lang="zh-CN" altLang="zh-CN" dirty="0">
                <a:solidFill>
                  <a:srgbClr val="000000"/>
                </a:solidFill>
                <a:ea typeface="楷体" panose="02010609060101010101" pitchFamily="49" charset="-122"/>
                <a:cs typeface="Times New Roman" panose="02020603050405020304" pitchFamily="18" charset="0"/>
              </a:rPr>
              <a:t>辆</a:t>
            </a:r>
            <a:r>
              <a:rPr lang="en-US" altLang="zh-CN" dirty="0">
                <a:solidFill>
                  <a:srgbClr val="000000"/>
                </a:solidFill>
                <a:ea typeface="宋体" panose="02010600030101010101" pitchFamily="2" charset="-122"/>
              </a:rPr>
              <a:t>,</a:t>
            </a:r>
            <a:r>
              <a:rPr lang="zh-CN" altLang="zh-CN" dirty="0">
                <a:solidFill>
                  <a:srgbClr val="000000"/>
                </a:solidFill>
                <a:ea typeface="楷体" panose="02010609060101010101" pitchFamily="49" charset="-122"/>
                <a:cs typeface="Times New Roman" panose="02020603050405020304" pitchFamily="18" charset="0"/>
              </a:rPr>
              <a:t>则在乙地销售</a:t>
            </a:r>
            <a:r>
              <a:rPr lang="en-US" altLang="zh-CN" dirty="0">
                <a:solidFill>
                  <a:srgbClr val="000000"/>
                </a:solidFill>
                <a:ea typeface="宋体" panose="02010600030101010101" pitchFamily="2" charset="-122"/>
              </a:rPr>
              <a:t>(15</a:t>
            </a:r>
            <a:r>
              <a:rPr lang="en-US" altLang="zh-CN" i="1" dirty="0">
                <a:solidFill>
                  <a:srgbClr val="000000"/>
                </a:solidFill>
                <a:ea typeface="宋体" panose="02010600030101010101" pitchFamily="2" charset="-122"/>
              </a:rPr>
              <a:t>-x</a:t>
            </a:r>
            <a:r>
              <a:rPr lang="en-US" altLang="zh-CN" dirty="0">
                <a:solidFill>
                  <a:srgbClr val="000000"/>
                </a:solidFill>
                <a:ea typeface="宋体" panose="02010600030101010101" pitchFamily="2" charset="-122"/>
              </a:rPr>
              <a:t>)</a:t>
            </a:r>
            <a:r>
              <a:rPr lang="zh-CN" altLang="zh-CN" dirty="0">
                <a:solidFill>
                  <a:srgbClr val="000000"/>
                </a:solidFill>
                <a:ea typeface="楷体" panose="02010609060101010101" pitchFamily="49" charset="-122"/>
                <a:cs typeface="Times New Roman" panose="02020603050405020304" pitchFamily="18" charset="0"/>
              </a:rPr>
              <a:t>辆</a:t>
            </a:r>
            <a:r>
              <a:rPr lang="en-US" altLang="zh-CN" dirty="0">
                <a:solidFill>
                  <a:srgbClr val="000000"/>
                </a:solidFill>
                <a:ea typeface="宋体" panose="02010600030101010101" pitchFamily="2" charset="-122"/>
              </a:rPr>
              <a:t>,</a:t>
            </a:r>
            <a:r>
              <a:rPr lang="zh-CN" altLang="zh-CN" dirty="0">
                <a:solidFill>
                  <a:srgbClr val="000000"/>
                </a:solidFill>
                <a:ea typeface="楷体" panose="02010609060101010101" pitchFamily="49" charset="-122"/>
                <a:cs typeface="Times New Roman" panose="02020603050405020304" pitchFamily="18" charset="0"/>
              </a:rPr>
              <a:t>总利润</a:t>
            </a:r>
            <a:r>
              <a:rPr lang="en-US" altLang="zh-CN" i="1" dirty="0">
                <a:solidFill>
                  <a:srgbClr val="000000"/>
                </a:solidFill>
                <a:ea typeface="宋体" panose="02010600030101010101" pitchFamily="2" charset="-122"/>
              </a:rPr>
              <a:t>S=</a:t>
            </a:r>
            <a:r>
              <a:rPr lang="en-US" altLang="zh-CN" dirty="0">
                <a:solidFill>
                  <a:srgbClr val="000000"/>
                </a:solidFill>
                <a:ea typeface="宋体" panose="02010600030101010101" pitchFamily="2" charset="-122"/>
              </a:rPr>
              <a:t>5</a:t>
            </a:r>
            <a:r>
              <a:rPr lang="en-US" altLang="zh-CN" i="1" dirty="0">
                <a:solidFill>
                  <a:srgbClr val="000000"/>
                </a:solidFill>
                <a:ea typeface="宋体" panose="02010600030101010101" pitchFamily="2" charset="-122"/>
              </a:rPr>
              <a:t>.</a:t>
            </a:r>
            <a:r>
              <a:rPr lang="en-US" altLang="zh-CN" dirty="0">
                <a:solidFill>
                  <a:srgbClr val="000000"/>
                </a:solidFill>
                <a:ea typeface="宋体" panose="02010600030101010101" pitchFamily="2" charset="-122"/>
              </a:rPr>
              <a:t>06</a:t>
            </a:r>
            <a:r>
              <a:rPr lang="en-US" altLang="zh-CN" i="1" dirty="0">
                <a:solidFill>
                  <a:srgbClr val="000000"/>
                </a:solidFill>
                <a:ea typeface="宋体" panose="02010600030101010101" pitchFamily="2" charset="-122"/>
              </a:rPr>
              <a:t>x-</a:t>
            </a:r>
            <a:r>
              <a:rPr lang="en-US" altLang="zh-CN" dirty="0">
                <a:solidFill>
                  <a:srgbClr val="000000"/>
                </a:solidFill>
                <a:ea typeface="宋体" panose="02010600030101010101" pitchFamily="2" charset="-122"/>
              </a:rPr>
              <a:t>0</a:t>
            </a:r>
            <a:r>
              <a:rPr lang="en-US" altLang="zh-CN" i="1" dirty="0">
                <a:solidFill>
                  <a:srgbClr val="000000"/>
                </a:solidFill>
                <a:ea typeface="宋体" panose="02010600030101010101" pitchFamily="2" charset="-122"/>
              </a:rPr>
              <a:t>.</a:t>
            </a:r>
            <a:r>
              <a:rPr lang="en-US" altLang="zh-CN" dirty="0">
                <a:solidFill>
                  <a:srgbClr val="000000"/>
                </a:solidFill>
                <a:ea typeface="宋体" panose="02010600030101010101" pitchFamily="2" charset="-122"/>
              </a:rPr>
              <a:t>15</a:t>
            </a:r>
            <a:r>
              <a:rPr lang="en-US" altLang="zh-CN" i="1" dirty="0">
                <a:solidFill>
                  <a:srgbClr val="000000"/>
                </a:solidFill>
                <a:ea typeface="宋体" panose="02010600030101010101" pitchFamily="2" charset="-122"/>
              </a:rPr>
              <a:t>x</a:t>
            </a:r>
            <a:r>
              <a:rPr lang="en-US" altLang="zh-CN" baseline="30000" dirty="0">
                <a:solidFill>
                  <a:srgbClr val="000000"/>
                </a:solidFill>
                <a:ea typeface="宋体" panose="02010600030101010101" pitchFamily="2" charset="-122"/>
              </a:rPr>
              <a:t>2</a:t>
            </a:r>
            <a:r>
              <a:rPr lang="en-US" altLang="zh-CN" i="1" dirty="0">
                <a:solidFill>
                  <a:srgbClr val="000000"/>
                </a:solidFill>
                <a:ea typeface="宋体" panose="02010600030101010101" pitchFamily="2" charset="-122"/>
              </a:rPr>
              <a:t>+</a:t>
            </a:r>
            <a:r>
              <a:rPr lang="en-US" altLang="zh-CN" dirty="0">
                <a:solidFill>
                  <a:srgbClr val="000000"/>
                </a:solidFill>
                <a:ea typeface="宋体" panose="02010600030101010101" pitchFamily="2" charset="-122"/>
              </a:rPr>
              <a:t>2(15</a:t>
            </a:r>
            <a:r>
              <a:rPr lang="en-US" altLang="zh-CN" i="1" dirty="0">
                <a:solidFill>
                  <a:srgbClr val="000000"/>
                </a:solidFill>
                <a:ea typeface="宋体" panose="02010600030101010101" pitchFamily="2" charset="-122"/>
              </a:rPr>
              <a:t>-x</a:t>
            </a:r>
            <a:r>
              <a:rPr lang="en-US" altLang="zh-CN" dirty="0">
                <a:solidFill>
                  <a:srgbClr val="000000"/>
                </a:solidFill>
                <a:ea typeface="宋体" panose="02010600030101010101" pitchFamily="2" charset="-122"/>
              </a:rPr>
              <a:t>)</a:t>
            </a:r>
            <a:r>
              <a:rPr lang="en-US" altLang="zh-CN" i="1" dirty="0">
                <a:solidFill>
                  <a:srgbClr val="000000"/>
                </a:solidFill>
                <a:ea typeface="宋体" panose="02010600030101010101" pitchFamily="2" charset="-122"/>
              </a:rPr>
              <a:t>=-</a:t>
            </a:r>
            <a:r>
              <a:rPr lang="en-US" altLang="zh-CN" dirty="0">
                <a:solidFill>
                  <a:srgbClr val="000000"/>
                </a:solidFill>
                <a:ea typeface="宋体" panose="02010600030101010101" pitchFamily="2" charset="-122"/>
              </a:rPr>
              <a:t>0</a:t>
            </a:r>
            <a:r>
              <a:rPr lang="en-US" altLang="zh-CN" i="1" dirty="0">
                <a:solidFill>
                  <a:srgbClr val="000000"/>
                </a:solidFill>
                <a:ea typeface="宋体" panose="02010600030101010101" pitchFamily="2" charset="-122"/>
              </a:rPr>
              <a:t>.</a:t>
            </a:r>
            <a:r>
              <a:rPr lang="en-US" altLang="zh-CN" dirty="0">
                <a:solidFill>
                  <a:srgbClr val="000000"/>
                </a:solidFill>
                <a:ea typeface="宋体" panose="02010600030101010101" pitchFamily="2" charset="-122"/>
              </a:rPr>
              <a:t>15</a:t>
            </a:r>
            <a:r>
              <a:rPr lang="en-US" altLang="zh-CN" i="1" dirty="0">
                <a:solidFill>
                  <a:srgbClr val="000000"/>
                </a:solidFill>
                <a:ea typeface="宋体" panose="02010600030101010101" pitchFamily="2" charset="-122"/>
              </a:rPr>
              <a:t>x</a:t>
            </a:r>
            <a:r>
              <a:rPr lang="en-US" altLang="zh-CN" baseline="30000" dirty="0">
                <a:solidFill>
                  <a:srgbClr val="000000"/>
                </a:solidFill>
                <a:ea typeface="宋体" panose="02010600030101010101" pitchFamily="2" charset="-122"/>
              </a:rPr>
              <a:t>2</a:t>
            </a:r>
            <a:r>
              <a:rPr lang="en-US" altLang="zh-CN" i="1" dirty="0">
                <a:solidFill>
                  <a:srgbClr val="000000"/>
                </a:solidFill>
                <a:ea typeface="宋体" panose="02010600030101010101" pitchFamily="2" charset="-122"/>
              </a:rPr>
              <a:t>+</a:t>
            </a:r>
            <a:r>
              <a:rPr lang="en-US" altLang="zh-CN" dirty="0">
                <a:solidFill>
                  <a:srgbClr val="000000"/>
                </a:solidFill>
                <a:ea typeface="宋体" panose="02010600030101010101" pitchFamily="2" charset="-122"/>
              </a:rPr>
              <a:t>3</a:t>
            </a:r>
            <a:r>
              <a:rPr lang="en-US" altLang="zh-CN" i="1" dirty="0">
                <a:solidFill>
                  <a:srgbClr val="000000"/>
                </a:solidFill>
                <a:ea typeface="宋体" panose="02010600030101010101" pitchFamily="2" charset="-122"/>
              </a:rPr>
              <a:t>.</a:t>
            </a:r>
            <a:r>
              <a:rPr lang="en-US" altLang="zh-CN" dirty="0">
                <a:solidFill>
                  <a:srgbClr val="000000"/>
                </a:solidFill>
                <a:ea typeface="宋体" panose="02010600030101010101" pitchFamily="2" charset="-122"/>
              </a:rPr>
              <a:t>06</a:t>
            </a:r>
            <a:r>
              <a:rPr lang="en-US" altLang="zh-CN" i="1" dirty="0">
                <a:solidFill>
                  <a:srgbClr val="000000"/>
                </a:solidFill>
                <a:ea typeface="宋体" panose="02010600030101010101" pitchFamily="2" charset="-122"/>
              </a:rPr>
              <a:t>x+</a:t>
            </a:r>
            <a:r>
              <a:rPr lang="en-US" altLang="zh-CN" dirty="0">
                <a:solidFill>
                  <a:srgbClr val="000000"/>
                </a:solidFill>
                <a:ea typeface="宋体" panose="02010600030101010101" pitchFamily="2" charset="-122"/>
              </a:rPr>
              <a:t>30(0</a:t>
            </a:r>
            <a:r>
              <a:rPr lang="en-US" altLang="zh-CN" dirty="0">
                <a:solidFill>
                  <a:srgbClr val="000000"/>
                </a:solidFill>
                <a:latin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rPr>
              <a:t>x</a:t>
            </a:r>
            <a:r>
              <a:rPr lang="en-US" altLang="zh-CN" dirty="0">
                <a:solidFill>
                  <a:srgbClr val="000000"/>
                </a:solidFill>
                <a:latin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rPr>
              <a:t>15,</a:t>
            </a:r>
            <a:r>
              <a:rPr lang="en-US" altLang="zh-CN" i="1" dirty="0">
                <a:solidFill>
                  <a:srgbClr val="000000"/>
                </a:solidFill>
                <a:ea typeface="宋体" panose="02010600030101010101" pitchFamily="2" charset="-122"/>
              </a:rPr>
              <a:t>x</a:t>
            </a:r>
            <a:r>
              <a:rPr lang="zh-CN" altLang="zh-CN" dirty="0">
                <a:solidFill>
                  <a:srgbClr val="000000"/>
                </a:solidFill>
                <a:ea typeface="宋体" panose="02010600030101010101" pitchFamily="2" charset="-122"/>
                <a:cs typeface="宋体" panose="02010600030101010101" pitchFamily="2" charset="-122"/>
              </a:rPr>
              <a:t>∈</a:t>
            </a:r>
            <a:r>
              <a:rPr lang="en-US" altLang="zh-CN" dirty="0">
                <a:solidFill>
                  <a:srgbClr val="000000"/>
                </a:solidFill>
                <a:ea typeface="宋体" panose="02010600030101010101" pitchFamily="2" charset="-122"/>
              </a:rPr>
              <a:t>N),</a:t>
            </a:r>
            <a:r>
              <a:rPr lang="zh-CN" altLang="zh-CN" dirty="0">
                <a:solidFill>
                  <a:srgbClr val="000000"/>
                </a:solidFill>
                <a:ea typeface="楷体" panose="02010609060101010101" pitchFamily="49" charset="-122"/>
                <a:cs typeface="Times New Roman" panose="02020603050405020304" pitchFamily="18" charset="0"/>
              </a:rPr>
              <a:t>故当</a:t>
            </a:r>
            <a:r>
              <a:rPr lang="en-US" altLang="zh-CN" i="1" dirty="0">
                <a:solidFill>
                  <a:srgbClr val="000000"/>
                </a:solidFill>
                <a:ea typeface="宋体" panose="02010600030101010101" pitchFamily="2" charset="-122"/>
              </a:rPr>
              <a:t>x=</a:t>
            </a:r>
            <a:r>
              <a:rPr lang="en-US" altLang="zh-CN" dirty="0">
                <a:solidFill>
                  <a:srgbClr val="000000"/>
                </a:solidFill>
                <a:ea typeface="宋体" panose="02010600030101010101" pitchFamily="2" charset="-122"/>
              </a:rPr>
              <a:t>10</a:t>
            </a:r>
            <a:r>
              <a:rPr lang="zh-CN" altLang="zh-CN" dirty="0">
                <a:solidFill>
                  <a:srgbClr val="000000"/>
                </a:solidFill>
                <a:ea typeface="楷体" panose="02010609060101010101" pitchFamily="49" charset="-122"/>
                <a:cs typeface="Times New Roman" panose="02020603050405020304" pitchFamily="18" charset="0"/>
              </a:rPr>
              <a:t>时</a:t>
            </a:r>
            <a:r>
              <a:rPr lang="en-US" altLang="zh-CN" dirty="0">
                <a:solidFill>
                  <a:srgbClr val="000000"/>
                </a:solidFill>
                <a:ea typeface="宋体" panose="02010600030101010101" pitchFamily="2" charset="-122"/>
              </a:rPr>
              <a:t>,</a:t>
            </a:r>
            <a:r>
              <a:rPr lang="en-US" altLang="zh-CN" i="1" dirty="0" err="1">
                <a:solidFill>
                  <a:srgbClr val="000000"/>
                </a:solidFill>
                <a:ea typeface="宋体" panose="02010600030101010101" pitchFamily="2" charset="-122"/>
              </a:rPr>
              <a:t>S</a:t>
            </a:r>
            <a:r>
              <a:rPr lang="en-US" altLang="zh-CN" baseline="-25000" dirty="0" err="1">
                <a:solidFill>
                  <a:srgbClr val="000000"/>
                </a:solidFill>
                <a:ea typeface="宋体" panose="02010600030101010101" pitchFamily="2" charset="-122"/>
              </a:rPr>
              <a:t>max</a:t>
            </a:r>
            <a:r>
              <a:rPr lang="en-US" altLang="zh-CN" i="1" dirty="0">
                <a:solidFill>
                  <a:srgbClr val="000000"/>
                </a:solidFill>
                <a:ea typeface="宋体" panose="02010600030101010101" pitchFamily="2" charset="-122"/>
              </a:rPr>
              <a:t>=</a:t>
            </a:r>
            <a:r>
              <a:rPr lang="en-US" altLang="zh-CN" dirty="0">
                <a:solidFill>
                  <a:srgbClr val="000000"/>
                </a:solidFill>
                <a:ea typeface="宋体" panose="02010600030101010101" pitchFamily="2" charset="-122"/>
              </a:rPr>
              <a:t>45</a:t>
            </a:r>
            <a:r>
              <a:rPr lang="en-US" altLang="zh-CN" i="1" dirty="0">
                <a:solidFill>
                  <a:srgbClr val="000000"/>
                </a:solidFill>
                <a:ea typeface="宋体" panose="02010600030101010101" pitchFamily="2" charset="-122"/>
              </a:rPr>
              <a:t>.</a:t>
            </a:r>
            <a:r>
              <a:rPr lang="en-US" altLang="zh-CN" dirty="0">
                <a:solidFill>
                  <a:srgbClr val="000000"/>
                </a:solidFill>
                <a:ea typeface="宋体" panose="02010600030101010101" pitchFamily="2" charset="-122"/>
              </a:rPr>
              <a:t>6</a:t>
            </a:r>
            <a:r>
              <a:rPr lang="en-US" altLang="zh-CN" i="1" dirty="0">
                <a:solidFill>
                  <a:srgbClr val="000000"/>
                </a:solidFill>
                <a:ea typeface="宋体" panose="02010600030101010101" pitchFamily="2" charset="-122"/>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答案</a:t>
            </a:r>
            <a:r>
              <a:rPr lang="en-US" altLang="zh-CN" dirty="0">
                <a:latin typeface="Arial" panose="020B0604020202020204" pitchFamily="34" charset="0"/>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B</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531741145"/>
      </p:ext>
    </p:extLst>
  </p:cSld>
  <p:clrMapOvr>
    <a:masterClrMapping/>
  </p:clrMapOvr>
  <p:transition spd="slow">
    <p:comb/>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xEl>
                                              <p:pRg st="3" end="3"/>
                                            </p:txEl>
                                          </p:spTgt>
                                        </p:tgtEl>
                                        <p:attrNameLst>
                                          <p:attrName>style.visibility</p:attrName>
                                        </p:attrNameLst>
                                      </p:cBhvr>
                                      <p:to>
                                        <p:strVal val="visible"/>
                                      </p:to>
                                    </p:set>
                                    <p:animEffect transition="in" filter="randombar(horizontal)">
                                      <p:cBhvr>
                                        <p:cTn id="7" dur="500"/>
                                        <p:tgtEl>
                                          <p:spTgt spid="2">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2">
                                            <p:txEl>
                                              <p:pRg st="4" end="4"/>
                                            </p:txEl>
                                          </p:spTgt>
                                        </p:tgtEl>
                                        <p:attrNameLst>
                                          <p:attrName>style.visibility</p:attrName>
                                        </p:attrNameLst>
                                      </p:cBhvr>
                                      <p:to>
                                        <p:strVal val="visible"/>
                                      </p:to>
                                    </p:set>
                                    <p:animEffect transition="in" filter="randombar(horizontal)">
                                      <p:cBhvr>
                                        <p:cTn id="12" dur="5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361950" y="1185757"/>
            <a:ext cx="10807700" cy="2990434"/>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3</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某市为鼓励居民节约用水</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规定</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每户居民每月用水不超过</a:t>
            </a:r>
            <a:r>
              <a:rPr lang="en-US" altLang="zh-CN" dirty="0">
                <a:solidFill>
                  <a:srgbClr val="000000"/>
                </a:solidFill>
                <a:ea typeface="宋体" panose="02010600030101010101" pitchFamily="2" charset="-122"/>
                <a:cs typeface="Times New Roman" panose="02020603050405020304" pitchFamily="18" charset="0"/>
              </a:rPr>
              <a:t>10 m</a:t>
            </a:r>
            <a:r>
              <a:rPr lang="en-US" altLang="zh-CN" baseline="30000" dirty="0">
                <a:solidFill>
                  <a:srgbClr val="000000"/>
                </a:solidFill>
                <a:ea typeface="宋体" panose="02010600030101010101" pitchFamily="2" charset="-122"/>
                <a:cs typeface="Times New Roman" panose="02020603050405020304" pitchFamily="18" charset="0"/>
              </a:rPr>
              <a:t>3</a:t>
            </a:r>
            <a:r>
              <a:rPr lang="zh-CN" altLang="zh-CN" dirty="0">
                <a:solidFill>
                  <a:srgbClr val="000000"/>
                </a:solidFill>
                <a:ea typeface="宋体" panose="02010600030101010101" pitchFamily="2" charset="-122"/>
                <a:cs typeface="Times New Roman" panose="02020603050405020304" pitchFamily="18" charset="0"/>
              </a:rPr>
              <a:t>时</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按</a:t>
            </a:r>
            <a:r>
              <a:rPr lang="en-US" altLang="zh-CN" dirty="0">
                <a:solidFill>
                  <a:srgbClr val="000000"/>
                </a:solidFill>
                <a:ea typeface="宋体" panose="02010600030101010101" pitchFamily="2" charset="-122"/>
                <a:cs typeface="Times New Roman" panose="02020603050405020304" pitchFamily="18" charset="0"/>
              </a:rPr>
              <a:t>3</a:t>
            </a:r>
            <a:r>
              <a:rPr lang="zh-CN" altLang="zh-CN" dirty="0">
                <a:solidFill>
                  <a:srgbClr val="000000"/>
                </a:solidFill>
                <a:ea typeface="宋体" panose="02010600030101010101" pitchFamily="2" charset="-122"/>
                <a:cs typeface="Times New Roman" panose="02020603050405020304" pitchFamily="18" charset="0"/>
              </a:rPr>
              <a:t>元</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m</a:t>
            </a:r>
            <a:r>
              <a:rPr lang="en-US" altLang="zh-CN" baseline="30000" dirty="0">
                <a:solidFill>
                  <a:srgbClr val="000000"/>
                </a:solidFill>
                <a:ea typeface="宋体" panose="02010600030101010101" pitchFamily="2" charset="-122"/>
                <a:cs typeface="Times New Roman" panose="02020603050405020304" pitchFamily="18" charset="0"/>
              </a:rPr>
              <a:t>3</a:t>
            </a:r>
            <a:r>
              <a:rPr lang="zh-CN" altLang="zh-CN" dirty="0">
                <a:solidFill>
                  <a:srgbClr val="000000"/>
                </a:solidFill>
                <a:ea typeface="宋体" panose="02010600030101010101" pitchFamily="2" charset="-122"/>
                <a:cs typeface="Times New Roman" panose="02020603050405020304" pitchFamily="18" charset="0"/>
              </a:rPr>
              <a:t>收费</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用水超过</a:t>
            </a:r>
            <a:r>
              <a:rPr lang="en-US" altLang="zh-CN" dirty="0">
                <a:solidFill>
                  <a:srgbClr val="000000"/>
                </a:solidFill>
                <a:ea typeface="宋体" panose="02010600030101010101" pitchFamily="2" charset="-122"/>
                <a:cs typeface="Times New Roman" panose="02020603050405020304" pitchFamily="18" charset="0"/>
              </a:rPr>
              <a:t>10 m</a:t>
            </a:r>
            <a:r>
              <a:rPr lang="en-US" altLang="zh-CN" baseline="30000" dirty="0">
                <a:solidFill>
                  <a:srgbClr val="000000"/>
                </a:solidFill>
                <a:ea typeface="宋体" panose="02010600030101010101" pitchFamily="2" charset="-122"/>
                <a:cs typeface="Times New Roman" panose="02020603050405020304" pitchFamily="18" charset="0"/>
              </a:rPr>
              <a:t>3</a:t>
            </a:r>
            <a:r>
              <a:rPr lang="zh-CN" altLang="zh-CN" dirty="0">
                <a:solidFill>
                  <a:srgbClr val="000000"/>
                </a:solidFill>
                <a:ea typeface="宋体" panose="02010600030101010101" pitchFamily="2" charset="-122"/>
                <a:cs typeface="Times New Roman" panose="02020603050405020304" pitchFamily="18" charset="0"/>
              </a:rPr>
              <a:t>时</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超过的部分按</a:t>
            </a:r>
            <a:r>
              <a:rPr lang="en-US" altLang="zh-CN" dirty="0">
                <a:solidFill>
                  <a:srgbClr val="000000"/>
                </a:solidFill>
                <a:ea typeface="宋体" panose="02010600030101010101" pitchFamily="2" charset="-122"/>
                <a:cs typeface="Times New Roman" panose="02020603050405020304" pitchFamily="18" charset="0"/>
              </a:rPr>
              <a:t>5</a:t>
            </a:r>
            <a:r>
              <a:rPr lang="zh-CN" altLang="zh-CN" dirty="0">
                <a:solidFill>
                  <a:srgbClr val="000000"/>
                </a:solidFill>
                <a:ea typeface="宋体" panose="02010600030101010101" pitchFamily="2" charset="-122"/>
                <a:cs typeface="Times New Roman" panose="02020603050405020304" pitchFamily="18" charset="0"/>
              </a:rPr>
              <a:t>元</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m</a:t>
            </a:r>
            <a:r>
              <a:rPr lang="en-US" altLang="zh-CN" baseline="30000" dirty="0">
                <a:solidFill>
                  <a:srgbClr val="000000"/>
                </a:solidFill>
                <a:ea typeface="宋体" panose="02010600030101010101" pitchFamily="2" charset="-122"/>
                <a:cs typeface="Times New Roman" panose="02020603050405020304" pitchFamily="18" charset="0"/>
              </a:rPr>
              <a:t>3</a:t>
            </a:r>
            <a:r>
              <a:rPr lang="zh-CN" altLang="zh-CN" dirty="0">
                <a:solidFill>
                  <a:srgbClr val="000000"/>
                </a:solidFill>
                <a:ea typeface="宋体" panose="02010600030101010101" pitchFamily="2" charset="-122"/>
                <a:cs typeface="Times New Roman" panose="02020603050405020304" pitchFamily="18" charset="0"/>
              </a:rPr>
              <a:t>收费</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某户居民某月缴水费</a:t>
            </a:r>
            <a:r>
              <a:rPr lang="en-US" altLang="zh-CN" dirty="0">
                <a:solidFill>
                  <a:srgbClr val="000000"/>
                </a:solidFill>
                <a:ea typeface="宋体" panose="02010600030101010101" pitchFamily="2" charset="-122"/>
                <a:cs typeface="Times New Roman" panose="02020603050405020304" pitchFamily="18" charset="0"/>
              </a:rPr>
              <a:t>55</a:t>
            </a:r>
            <a:r>
              <a:rPr lang="zh-CN" altLang="zh-CN" dirty="0">
                <a:solidFill>
                  <a:srgbClr val="000000"/>
                </a:solidFill>
                <a:ea typeface="宋体" panose="02010600030101010101" pitchFamily="2" charset="-122"/>
                <a:cs typeface="Times New Roman" panose="02020603050405020304" pitchFamily="18" charset="0"/>
              </a:rPr>
              <a:t>元</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则该户居民该月实际用水为</a:t>
            </a:r>
            <a:r>
              <a:rPr lang="en-US" altLang="zh-CN" dirty="0">
                <a:solidFill>
                  <a:srgbClr val="000000"/>
                </a:solidFill>
                <a:ea typeface="宋体" panose="02010600030101010101" pitchFamily="2" charset="-122"/>
                <a:cs typeface="Times New Roman" panose="02020603050405020304" pitchFamily="18" charset="0"/>
              </a:rPr>
              <a:t>(</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panose="02020503000000020003" pitchFamily="18" charset="-122"/>
              <a:ea typeface="NEU-BZ-S92" panose="02020503000000020003" pitchFamily="18"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smtClean="0">
                <a:solidFill>
                  <a:srgbClr val="000000"/>
                </a:solidFill>
                <a:ea typeface="宋体" panose="02010600030101010101" pitchFamily="2" charset="-122"/>
                <a:cs typeface="Times New Roman" panose="02020603050405020304" pitchFamily="18" charset="0"/>
              </a:rPr>
              <a:t>A.13 </a:t>
            </a:r>
            <a:r>
              <a:rPr lang="en-US" altLang="zh-CN" dirty="0">
                <a:solidFill>
                  <a:srgbClr val="000000"/>
                </a:solidFill>
                <a:ea typeface="宋体" panose="02010600030101010101" pitchFamily="2" charset="-122"/>
                <a:cs typeface="Times New Roman" panose="02020603050405020304" pitchFamily="18" charset="0"/>
              </a:rPr>
              <a:t>m</a:t>
            </a:r>
            <a:r>
              <a:rPr lang="en-US" altLang="zh-CN" baseline="30000" dirty="0">
                <a:solidFill>
                  <a:srgbClr val="000000"/>
                </a:solidFill>
                <a:ea typeface="宋体" panose="02010600030101010101" pitchFamily="2" charset="-122"/>
                <a:cs typeface="Times New Roman" panose="02020603050405020304" pitchFamily="18" charset="0"/>
              </a:rPr>
              <a:t>3</a:t>
            </a:r>
            <a:r>
              <a:rPr lang="en-US" altLang="zh-CN" dirty="0">
                <a:solidFill>
                  <a:srgbClr val="000000"/>
                </a:solidFill>
                <a:ea typeface="宋体" panose="02010600030101010101" pitchFamily="2" charset="-122"/>
                <a:cs typeface="Times New Roman" panose="02020603050405020304" pitchFamily="18" charset="0"/>
              </a:rPr>
              <a:t>	B.14 m</a:t>
            </a:r>
            <a:r>
              <a:rPr lang="en-US" altLang="zh-CN" baseline="30000" dirty="0">
                <a:solidFill>
                  <a:srgbClr val="000000"/>
                </a:solidFill>
                <a:ea typeface="宋体" panose="02010600030101010101" pitchFamily="2" charset="-122"/>
                <a:cs typeface="Times New Roman" panose="02020603050405020304" pitchFamily="18" charset="0"/>
              </a:rPr>
              <a:t>3</a:t>
            </a:r>
            <a:r>
              <a:rPr lang="en-US" altLang="zh-CN" dirty="0">
                <a:solidFill>
                  <a:srgbClr val="000000"/>
                </a:solidFill>
                <a:ea typeface="宋体" panose="02010600030101010101" pitchFamily="2" charset="-122"/>
                <a:cs typeface="Times New Roman" panose="02020603050405020304" pitchFamily="18" charset="0"/>
              </a:rPr>
              <a:t>	C.15 m</a:t>
            </a:r>
            <a:r>
              <a:rPr lang="en-US" altLang="zh-CN" baseline="30000" dirty="0">
                <a:solidFill>
                  <a:srgbClr val="000000"/>
                </a:solidFill>
                <a:ea typeface="宋体" panose="02010600030101010101" pitchFamily="2" charset="-122"/>
                <a:cs typeface="Times New Roman" panose="02020603050405020304" pitchFamily="18" charset="0"/>
              </a:rPr>
              <a:t>3</a:t>
            </a:r>
            <a:r>
              <a:rPr lang="en-US" altLang="zh-CN" dirty="0">
                <a:solidFill>
                  <a:srgbClr val="000000"/>
                </a:solidFill>
                <a:ea typeface="宋体" panose="02010600030101010101" pitchFamily="2" charset="-122"/>
                <a:cs typeface="Times New Roman" panose="02020603050405020304" pitchFamily="18" charset="0"/>
              </a:rPr>
              <a:t>	D.16 m</a:t>
            </a:r>
            <a:r>
              <a:rPr lang="en-US" altLang="zh-CN" baseline="30000" dirty="0">
                <a:solidFill>
                  <a:srgbClr val="000000"/>
                </a:solidFill>
                <a:ea typeface="宋体" panose="02010600030101010101" pitchFamily="2" charset="-122"/>
                <a:cs typeface="Times New Roman" panose="02020603050405020304" pitchFamily="18" charset="0"/>
              </a:rPr>
              <a:t>3</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928786502"/>
      </p:ext>
    </p:extLst>
  </p:cSld>
  <p:clrMapOvr>
    <a:masterClrMapping/>
  </p:clrMapOvr>
  <p:transition spd="slow">
    <p:comb/>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860422835"/>
              </p:ext>
            </p:extLst>
          </p:nvPr>
        </p:nvGraphicFramePr>
        <p:xfrm>
          <a:off x="504825" y="971743"/>
          <a:ext cx="11661775" cy="2516188"/>
        </p:xfrm>
        <a:graphic>
          <a:graphicData uri="http://schemas.openxmlformats.org/presentationml/2006/ole">
            <mc:AlternateContent xmlns:mc="http://schemas.openxmlformats.org/markup-compatibility/2006">
              <mc:Choice xmlns:v="urn:schemas-microsoft-com:vml" Requires="v">
                <p:oleObj spid="_x0000_s16395" name="文档" r:id="rId4" imgW="3837724" imgH="831484" progId="Word.Document.12">
                  <p:embed/>
                </p:oleObj>
              </mc:Choice>
              <mc:Fallback>
                <p:oleObj name="文档" r:id="rId4" imgW="3837724" imgH="831484" progId="Word.Document.12">
                  <p:embed/>
                  <p:pic>
                    <p:nvPicPr>
                      <p:cNvPr id="0" name=""/>
                      <p:cNvPicPr/>
                      <p:nvPr/>
                    </p:nvPicPr>
                    <p:blipFill>
                      <a:blip r:embed="rId5"/>
                      <a:stretch>
                        <a:fillRect/>
                      </a:stretch>
                    </p:blipFill>
                    <p:spPr>
                      <a:xfrm>
                        <a:off x="504825" y="971743"/>
                        <a:ext cx="11661775" cy="2516188"/>
                      </a:xfrm>
                      <a:prstGeom prst="rect">
                        <a:avLst/>
                      </a:prstGeom>
                    </p:spPr>
                  </p:pic>
                </p:oleObj>
              </mc:Fallback>
            </mc:AlternateContent>
          </a:graphicData>
        </a:graphic>
      </p:graphicFrame>
      <p:sp>
        <p:nvSpPr>
          <p:cNvPr id="4" name="矩形 3"/>
          <p:cNvSpPr>
            <a:spLocks noChangeAspect="1"/>
          </p:cNvSpPr>
          <p:nvPr/>
        </p:nvSpPr>
        <p:spPr>
          <a:xfrm>
            <a:off x="361950" y="3554865"/>
            <a:ext cx="10807700" cy="1865126"/>
          </a:xfrm>
          <a:prstGeom prst="rect">
            <a:avLst/>
          </a:prstGeom>
        </p:spPr>
        <p:txBody>
          <a:bodyPr>
            <a:spAutoFit/>
          </a:bodyPr>
          <a:lstStyle/>
          <a:p>
            <a:pPr>
              <a:lnSpc>
                <a:spcPct val="120000"/>
              </a:lnSpc>
            </a:pPr>
            <a:r>
              <a:rPr lang="zh-CN" altLang="zh-CN" dirty="0">
                <a:solidFill>
                  <a:srgbClr val="000000"/>
                </a:solidFill>
                <a:ea typeface="楷体" panose="02010609060101010101" pitchFamily="49" charset="-122"/>
                <a:cs typeface="Times New Roman" panose="02020603050405020304" pitchFamily="18" charset="0"/>
              </a:rPr>
              <a:t>某户居民某月缴水费</a:t>
            </a:r>
            <a:r>
              <a:rPr lang="en-US" altLang="zh-CN" dirty="0">
                <a:solidFill>
                  <a:srgbClr val="000000"/>
                </a:solidFill>
                <a:ea typeface="宋体" panose="02010600030101010101" pitchFamily="2" charset="-122"/>
              </a:rPr>
              <a:t>55</a:t>
            </a:r>
            <a:r>
              <a:rPr lang="zh-CN" altLang="zh-CN" dirty="0">
                <a:solidFill>
                  <a:srgbClr val="000000"/>
                </a:solidFill>
                <a:ea typeface="楷体" panose="02010609060101010101" pitchFamily="49" charset="-122"/>
                <a:cs typeface="Times New Roman" panose="02020603050405020304" pitchFamily="18" charset="0"/>
              </a:rPr>
              <a:t>元</a:t>
            </a:r>
            <a:r>
              <a:rPr lang="en-US" altLang="zh-CN" dirty="0">
                <a:solidFill>
                  <a:srgbClr val="000000"/>
                </a:solidFill>
                <a:ea typeface="宋体" panose="02010600030101010101" pitchFamily="2" charset="-122"/>
              </a:rPr>
              <a:t>,</a:t>
            </a:r>
            <a:r>
              <a:rPr lang="zh-CN" altLang="zh-CN" dirty="0">
                <a:solidFill>
                  <a:srgbClr val="000000"/>
                </a:solidFill>
                <a:ea typeface="楷体" panose="02010609060101010101" pitchFamily="49" charset="-122"/>
                <a:cs typeface="Times New Roman" panose="02020603050405020304" pitchFamily="18" charset="0"/>
              </a:rPr>
              <a:t>易知该户居民这个月的实际用水量超过</a:t>
            </a:r>
            <a:r>
              <a:rPr lang="en-US" altLang="zh-CN" dirty="0">
                <a:solidFill>
                  <a:srgbClr val="000000"/>
                </a:solidFill>
                <a:ea typeface="宋体" panose="02010600030101010101" pitchFamily="2" charset="-122"/>
              </a:rPr>
              <a:t>10</a:t>
            </a:r>
            <a:r>
              <a:rPr lang="en-US" altLang="zh-CN" dirty="0">
                <a:solidFill>
                  <a:srgbClr val="000000"/>
                </a:solidFill>
                <a:ea typeface="楷体" panose="02010609060101010101" pitchFamily="49" charset="-122"/>
              </a:rPr>
              <a:t> </a:t>
            </a:r>
            <a:r>
              <a:rPr lang="en-US" altLang="zh-CN" dirty="0">
                <a:solidFill>
                  <a:srgbClr val="000000"/>
                </a:solidFill>
                <a:ea typeface="宋体" panose="02010600030101010101" pitchFamily="2" charset="-122"/>
              </a:rPr>
              <a:t>m</a:t>
            </a:r>
            <a:r>
              <a:rPr lang="en-US" altLang="zh-CN" baseline="30000" dirty="0">
                <a:solidFill>
                  <a:srgbClr val="000000"/>
                </a:solidFill>
                <a:ea typeface="宋体" panose="02010600030101010101" pitchFamily="2" charset="-122"/>
              </a:rPr>
              <a:t>3</a:t>
            </a:r>
            <a:r>
              <a:rPr lang="en-US" altLang="zh-CN" dirty="0">
                <a:solidFill>
                  <a:srgbClr val="000000"/>
                </a:solidFill>
                <a:ea typeface="宋体" panose="02010600030101010101" pitchFamily="2" charset="-122"/>
              </a:rPr>
              <a:t>,</a:t>
            </a:r>
            <a:r>
              <a:rPr lang="zh-CN" altLang="zh-CN" dirty="0">
                <a:solidFill>
                  <a:srgbClr val="000000"/>
                </a:solidFill>
                <a:ea typeface="楷体" panose="02010609060101010101" pitchFamily="49" charset="-122"/>
                <a:cs typeface="Times New Roman" panose="02020603050405020304" pitchFamily="18" charset="0"/>
              </a:rPr>
              <a:t>即</a:t>
            </a:r>
            <a:r>
              <a:rPr lang="en-US" altLang="zh-CN" dirty="0">
                <a:solidFill>
                  <a:srgbClr val="000000"/>
                </a:solidFill>
                <a:ea typeface="宋体" panose="02010600030101010101" pitchFamily="2" charset="-122"/>
              </a:rPr>
              <a:t>5</a:t>
            </a:r>
            <a:r>
              <a:rPr lang="en-US" altLang="zh-CN" i="1" dirty="0">
                <a:solidFill>
                  <a:srgbClr val="000000"/>
                </a:solidFill>
                <a:ea typeface="宋体" panose="02010600030101010101" pitchFamily="2" charset="-122"/>
              </a:rPr>
              <a:t>x-</a:t>
            </a:r>
            <a:r>
              <a:rPr lang="en-US" altLang="zh-CN" dirty="0">
                <a:solidFill>
                  <a:srgbClr val="000000"/>
                </a:solidFill>
                <a:ea typeface="宋体" panose="02010600030101010101" pitchFamily="2" charset="-122"/>
              </a:rPr>
              <a:t>20</a:t>
            </a:r>
            <a:r>
              <a:rPr lang="en-US" altLang="zh-CN" i="1" dirty="0">
                <a:solidFill>
                  <a:srgbClr val="000000"/>
                </a:solidFill>
                <a:ea typeface="宋体" panose="02010600030101010101" pitchFamily="2" charset="-122"/>
              </a:rPr>
              <a:t>=</a:t>
            </a:r>
            <a:r>
              <a:rPr lang="en-US" altLang="zh-CN" dirty="0">
                <a:solidFill>
                  <a:srgbClr val="000000"/>
                </a:solidFill>
                <a:ea typeface="宋体" panose="02010600030101010101" pitchFamily="2" charset="-122"/>
              </a:rPr>
              <a:t>55,</a:t>
            </a:r>
            <a:r>
              <a:rPr lang="zh-CN" altLang="zh-CN" dirty="0">
                <a:solidFill>
                  <a:srgbClr val="000000"/>
                </a:solidFill>
                <a:ea typeface="楷体" panose="02010609060101010101" pitchFamily="49" charset="-122"/>
                <a:cs typeface="Times New Roman" panose="02020603050405020304" pitchFamily="18" charset="0"/>
              </a:rPr>
              <a:t>解得</a:t>
            </a:r>
            <a:r>
              <a:rPr lang="en-US" altLang="zh-CN" i="1" dirty="0">
                <a:solidFill>
                  <a:srgbClr val="000000"/>
                </a:solidFill>
                <a:ea typeface="宋体" panose="02010600030101010101" pitchFamily="2" charset="-122"/>
              </a:rPr>
              <a:t>x=</a:t>
            </a:r>
            <a:r>
              <a:rPr lang="en-US" altLang="zh-CN" dirty="0">
                <a:solidFill>
                  <a:srgbClr val="000000"/>
                </a:solidFill>
                <a:ea typeface="宋体" panose="02010600030101010101" pitchFamily="2" charset="-122"/>
              </a:rPr>
              <a:t>15</a:t>
            </a:r>
            <a:r>
              <a:rPr lang="en-US" altLang="zh-CN" i="1" dirty="0">
                <a:solidFill>
                  <a:srgbClr val="000000"/>
                </a:solidFill>
                <a:ea typeface="宋体" panose="02010600030101010101" pitchFamily="2" charset="-122"/>
              </a:rPr>
              <a:t>.</a:t>
            </a:r>
            <a:endParaRPr lang="zh-CN" altLang="en-US" dirty="0"/>
          </a:p>
          <a:p>
            <a:pPr>
              <a:lnSpc>
                <a:spcPct val="120000"/>
              </a:lnSpc>
              <a:spcAft>
                <a:spcPts val="0"/>
              </a:spcAft>
              <a:tabLst>
                <a:tab pos="1029335" algn="l"/>
                <a:tab pos="1850390" algn="l"/>
                <a:tab pos="2538095" algn="l"/>
                <a:tab pos="3221990" algn="l"/>
              </a:tabLst>
            </a:pPr>
            <a:r>
              <a:rPr lang="zh-CN" altLang="zh-CN" dirty="0" smtClean="0">
                <a:latin typeface="Arial" panose="020B0604020202020204" pitchFamily="34" charset="0"/>
                <a:cs typeface="Times New Roman" panose="02020603050405020304" pitchFamily="18" charset="0"/>
              </a:rPr>
              <a:t>答案</a:t>
            </a:r>
            <a:r>
              <a:rPr lang="en-US" altLang="zh-CN" dirty="0">
                <a:latin typeface="Arial" panose="020B0604020202020204" pitchFamily="34" charset="0"/>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C</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4225286634"/>
      </p:ext>
    </p:extLst>
  </p:cSld>
  <p:clrMapOvr>
    <a:masterClrMapping/>
  </p:clrMapOvr>
  <p:transition spd="slow">
    <p:comb/>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randombar(horizontal)">
                                      <p:cBhvr>
                                        <p:cTn id="7" dur="500"/>
                                        <p:tgtEl>
                                          <p:spTgt spid="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361950" y="920922"/>
            <a:ext cx="10807700" cy="4819781"/>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4</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一艘轮船在匀速行驶过程中每小时的燃料费与速度</a:t>
            </a:r>
            <a:r>
              <a:rPr lang="en-US" altLang="zh-CN" i="1" dirty="0">
                <a:solidFill>
                  <a:srgbClr val="000000"/>
                </a:solidFill>
                <a:ea typeface="宋体" panose="02010600030101010101" pitchFamily="2" charset="-122"/>
                <a:cs typeface="Times New Roman" panose="02020603050405020304" pitchFamily="18" charset="0"/>
              </a:rPr>
              <a:t>v</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单位</a:t>
            </a:r>
            <a:r>
              <a:rPr lang="en-US" altLang="zh-CN" dirty="0">
                <a:solidFill>
                  <a:srgbClr val="000000"/>
                </a:solidFill>
                <a:ea typeface="宋体" panose="02010600030101010101" pitchFamily="2" charset="-122"/>
                <a:cs typeface="Times New Roman" panose="02020603050405020304" pitchFamily="18" charset="0"/>
              </a:rPr>
              <a:t>:km/h)</a:t>
            </a:r>
            <a:r>
              <a:rPr lang="zh-CN" altLang="zh-CN" dirty="0">
                <a:solidFill>
                  <a:srgbClr val="000000"/>
                </a:solidFill>
                <a:ea typeface="宋体" panose="02010600030101010101" pitchFamily="2" charset="-122"/>
                <a:cs typeface="Times New Roman" panose="02020603050405020304" pitchFamily="18" charset="0"/>
              </a:rPr>
              <a:t>的平方成正比</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且比例系数为</a:t>
            </a:r>
            <a:r>
              <a:rPr lang="en-US" altLang="zh-CN" i="1" dirty="0">
                <a:solidFill>
                  <a:srgbClr val="000000"/>
                </a:solidFill>
                <a:ea typeface="宋体" panose="02010600030101010101" pitchFamily="2" charset="-122"/>
                <a:cs typeface="Times New Roman" panose="02020603050405020304" pitchFamily="18" charset="0"/>
              </a:rPr>
              <a:t>k</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除燃料费外其他费用为</a:t>
            </a:r>
            <a:r>
              <a:rPr lang="en-US" altLang="zh-CN" dirty="0">
                <a:solidFill>
                  <a:srgbClr val="000000"/>
                </a:solidFill>
                <a:ea typeface="宋体" panose="02010600030101010101" pitchFamily="2" charset="-122"/>
                <a:cs typeface="Times New Roman" panose="02020603050405020304" pitchFamily="18" charset="0"/>
              </a:rPr>
              <a:t>96</a:t>
            </a:r>
            <a:r>
              <a:rPr lang="zh-CN" altLang="zh-CN" dirty="0">
                <a:solidFill>
                  <a:srgbClr val="000000"/>
                </a:solidFill>
                <a:ea typeface="宋体" panose="02010600030101010101" pitchFamily="2" charset="-122"/>
                <a:cs typeface="Times New Roman" panose="02020603050405020304" pitchFamily="18" charset="0"/>
              </a:rPr>
              <a:t>元</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h</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当速度为</a:t>
            </a:r>
            <a:r>
              <a:rPr lang="en-US" altLang="zh-CN" dirty="0">
                <a:solidFill>
                  <a:srgbClr val="000000"/>
                </a:solidFill>
                <a:ea typeface="宋体" panose="02010600030101010101" pitchFamily="2" charset="-122"/>
                <a:cs typeface="Times New Roman" panose="02020603050405020304" pitchFamily="18" charset="0"/>
              </a:rPr>
              <a:t>10 km/h</a:t>
            </a:r>
            <a:r>
              <a:rPr lang="zh-CN" altLang="zh-CN" dirty="0">
                <a:solidFill>
                  <a:srgbClr val="000000"/>
                </a:solidFill>
                <a:ea typeface="宋体" panose="02010600030101010101" pitchFamily="2" charset="-122"/>
                <a:cs typeface="Times New Roman" panose="02020603050405020304" pitchFamily="18" charset="0"/>
              </a:rPr>
              <a:t>时</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每小时的燃料费是</a:t>
            </a:r>
            <a:r>
              <a:rPr lang="en-US" altLang="zh-CN" dirty="0">
                <a:solidFill>
                  <a:srgbClr val="000000"/>
                </a:solidFill>
                <a:ea typeface="宋体" panose="02010600030101010101" pitchFamily="2" charset="-122"/>
                <a:cs typeface="Times New Roman" panose="02020603050405020304" pitchFamily="18" charset="0"/>
              </a:rPr>
              <a:t>6</a:t>
            </a:r>
            <a:r>
              <a:rPr lang="zh-CN" altLang="zh-CN" dirty="0">
                <a:solidFill>
                  <a:srgbClr val="000000"/>
                </a:solidFill>
                <a:ea typeface="宋体" panose="02010600030101010101" pitchFamily="2" charset="-122"/>
                <a:cs typeface="Times New Roman" panose="02020603050405020304" pitchFamily="18" charset="0"/>
              </a:rPr>
              <a:t>元</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若匀速行驶</a:t>
            </a:r>
            <a:r>
              <a:rPr lang="en-US" altLang="zh-CN" dirty="0">
                <a:solidFill>
                  <a:srgbClr val="000000"/>
                </a:solidFill>
                <a:ea typeface="宋体" panose="02010600030101010101" pitchFamily="2" charset="-122"/>
                <a:cs typeface="Times New Roman" panose="02020603050405020304" pitchFamily="18" charset="0"/>
              </a:rPr>
              <a:t>10 km,</a:t>
            </a:r>
            <a:r>
              <a:rPr lang="zh-CN" altLang="zh-CN" dirty="0">
                <a:solidFill>
                  <a:srgbClr val="000000"/>
                </a:solidFill>
                <a:ea typeface="宋体" panose="02010600030101010101" pitchFamily="2" charset="-122"/>
                <a:cs typeface="Times New Roman" panose="02020603050405020304" pitchFamily="18" charset="0"/>
              </a:rPr>
              <a:t>则当这艘轮船的速度为</a:t>
            </a:r>
            <a:r>
              <a:rPr lang="zh-CN" altLang="zh-CN" i="1" u="sng" dirty="0">
                <a:uFill>
                  <a:solidFill>
                    <a:srgbClr val="000000"/>
                  </a:solidFill>
                </a:u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 km/h</a:t>
            </a:r>
            <a:r>
              <a:rPr lang="zh-CN" altLang="zh-CN" dirty="0">
                <a:solidFill>
                  <a:srgbClr val="000000"/>
                </a:solidFill>
                <a:ea typeface="宋体" panose="02010600030101010101" pitchFamily="2" charset="-122"/>
                <a:cs typeface="Times New Roman" panose="02020603050405020304" pitchFamily="18" charset="0"/>
              </a:rPr>
              <a:t>时</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总费用最少</a:t>
            </a:r>
            <a:r>
              <a:rPr lang="en-US" altLang="zh-CN" i="1"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 </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smtClean="0">
                <a:latin typeface="Arial" panose="020B0604020202020204" pitchFamily="34" charset="0"/>
                <a:cs typeface="Times New Roman" panose="02020603050405020304" pitchFamily="18" charset="0"/>
              </a:rPr>
              <a:t>解析</a:t>
            </a:r>
            <a:r>
              <a:rPr lang="en-US" altLang="zh-CN" dirty="0">
                <a:latin typeface="Arial" panose="020B0604020202020204" pitchFamily="34" charset="0"/>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设每小时轮船行驶的总费用为</a:t>
            </a:r>
            <a:r>
              <a:rPr lang="en-US" altLang="zh-CN" i="1" dirty="0">
                <a:solidFill>
                  <a:srgbClr val="000000"/>
                </a:solidFill>
                <a:ea typeface="宋体" panose="02010600030101010101" pitchFamily="2" charset="-122"/>
                <a:cs typeface="Times New Roman" panose="02020603050405020304" pitchFamily="18" charset="0"/>
              </a:rPr>
              <a:t>y</a:t>
            </a:r>
            <a:r>
              <a:rPr lang="zh-CN" altLang="zh-CN" dirty="0">
                <a:solidFill>
                  <a:srgbClr val="000000"/>
                </a:solidFill>
                <a:ea typeface="楷体" panose="02010609060101010101" pitchFamily="49" charset="-122"/>
                <a:cs typeface="Times New Roman" panose="02020603050405020304" pitchFamily="18" charset="0"/>
              </a:rPr>
              <a:t>元</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则</a:t>
            </a:r>
            <a:r>
              <a:rPr lang="en-US" altLang="zh-CN" i="1" dirty="0">
                <a:solidFill>
                  <a:srgbClr val="000000"/>
                </a:solidFill>
                <a:ea typeface="宋体" panose="02010600030101010101" pitchFamily="2" charset="-122"/>
                <a:cs typeface="Times New Roman" panose="02020603050405020304" pitchFamily="18" charset="0"/>
              </a:rPr>
              <a:t>y=kv</a:t>
            </a:r>
            <a:r>
              <a:rPr lang="en-US" altLang="zh-CN" baseline="30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96,</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en-US" dirty="0" smtClean="0">
                <a:solidFill>
                  <a:srgbClr val="000000"/>
                </a:solidFill>
                <a:ea typeface="楷体" panose="02010609060101010101" pitchFamily="49" charset="-122"/>
                <a:cs typeface="Times New Roman" panose="02020603050405020304" pitchFamily="18" charset="0"/>
              </a:rPr>
              <a:t>因为</a:t>
            </a:r>
            <a:r>
              <a:rPr lang="zh-CN" altLang="zh-CN" dirty="0" smtClean="0">
                <a:solidFill>
                  <a:srgbClr val="000000"/>
                </a:solidFill>
                <a:ea typeface="楷体" panose="02010609060101010101" pitchFamily="49" charset="-122"/>
                <a:cs typeface="Times New Roman" panose="02020603050405020304" pitchFamily="18" charset="0"/>
              </a:rPr>
              <a:t>当</a:t>
            </a:r>
            <a:r>
              <a:rPr lang="en-US" altLang="zh-CN" i="1" dirty="0">
                <a:solidFill>
                  <a:srgbClr val="000000"/>
                </a:solidFill>
                <a:ea typeface="宋体" panose="02010600030101010101" pitchFamily="2" charset="-122"/>
                <a:cs typeface="Times New Roman" panose="02020603050405020304" pitchFamily="18" charset="0"/>
              </a:rPr>
              <a:t>v=</a:t>
            </a:r>
            <a:r>
              <a:rPr lang="en-US" altLang="zh-CN" dirty="0">
                <a:solidFill>
                  <a:srgbClr val="000000"/>
                </a:solidFill>
                <a:ea typeface="宋体" panose="02010600030101010101" pitchFamily="2" charset="-122"/>
                <a:cs typeface="Times New Roman" panose="02020603050405020304" pitchFamily="18" charset="0"/>
              </a:rPr>
              <a:t>10</a:t>
            </a:r>
            <a:r>
              <a:rPr lang="zh-CN" altLang="zh-CN" dirty="0">
                <a:solidFill>
                  <a:srgbClr val="000000"/>
                </a:solidFill>
                <a:ea typeface="楷体" panose="02010609060101010101" pitchFamily="49" charset="-122"/>
                <a:cs typeface="Times New Roman" panose="02020603050405020304" pitchFamily="18" charset="0"/>
              </a:rPr>
              <a:t>时</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每小时的燃料费是</a:t>
            </a:r>
            <a:r>
              <a:rPr lang="en-US" altLang="zh-CN" dirty="0">
                <a:solidFill>
                  <a:srgbClr val="000000"/>
                </a:solidFill>
                <a:ea typeface="宋体" panose="02010600030101010101" pitchFamily="2" charset="-122"/>
                <a:cs typeface="Times New Roman" panose="02020603050405020304" pitchFamily="18" charset="0"/>
              </a:rPr>
              <a:t>6</a:t>
            </a:r>
            <a:r>
              <a:rPr lang="zh-CN" altLang="zh-CN" dirty="0">
                <a:solidFill>
                  <a:srgbClr val="000000"/>
                </a:solidFill>
                <a:ea typeface="楷体" panose="02010609060101010101" pitchFamily="49" charset="-122"/>
                <a:cs typeface="Times New Roman" panose="02020603050405020304" pitchFamily="18" charset="0"/>
              </a:rPr>
              <a:t>元</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solidFill>
                  <a:srgbClr val="000000"/>
                </a:solidFill>
                <a:ea typeface="楷体" panose="02010609060101010101" pitchFamily="49" charset="-122"/>
                <a:cs typeface="Times New Roman" panose="02020603050405020304" pitchFamily="18" charset="0"/>
              </a:rPr>
              <a:t>所以</a:t>
            </a:r>
            <a:r>
              <a:rPr lang="en-US" altLang="zh-CN" i="1" dirty="0">
                <a:solidFill>
                  <a:srgbClr val="000000"/>
                </a:solidFill>
                <a:ea typeface="宋体" panose="02010600030101010101" pitchFamily="2" charset="-122"/>
                <a:cs typeface="Times New Roman" panose="02020603050405020304" pitchFamily="18" charset="0"/>
              </a:rPr>
              <a:t>k×</a:t>
            </a:r>
            <a:r>
              <a:rPr lang="en-US" altLang="zh-CN" dirty="0">
                <a:solidFill>
                  <a:srgbClr val="000000"/>
                </a:solidFill>
                <a:ea typeface="宋体" panose="02010600030101010101" pitchFamily="2" charset="-122"/>
                <a:cs typeface="Times New Roman" panose="02020603050405020304" pitchFamily="18" charset="0"/>
              </a:rPr>
              <a:t>10</a:t>
            </a:r>
            <a:r>
              <a:rPr lang="en-US" altLang="zh-CN" baseline="30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6,</a:t>
            </a:r>
            <a:r>
              <a:rPr lang="zh-CN" altLang="zh-CN" dirty="0">
                <a:solidFill>
                  <a:srgbClr val="000000"/>
                </a:solidFill>
                <a:ea typeface="楷体" panose="02010609060101010101" pitchFamily="49" charset="-122"/>
                <a:cs typeface="Times New Roman" panose="02020603050405020304" pitchFamily="18" charset="0"/>
              </a:rPr>
              <a:t>解得</a:t>
            </a:r>
            <a:r>
              <a:rPr lang="en-US" altLang="zh-CN" i="1" dirty="0">
                <a:solidFill>
                  <a:srgbClr val="000000"/>
                </a:solidFill>
                <a:ea typeface="宋体" panose="02010600030101010101" pitchFamily="2" charset="-122"/>
                <a:cs typeface="Times New Roman" panose="02020603050405020304" pitchFamily="18" charset="0"/>
              </a:rPr>
              <a:t>k=</a:t>
            </a:r>
            <a:r>
              <a:rPr lang="en-US" altLang="zh-CN" dirty="0">
                <a:solidFill>
                  <a:srgbClr val="000000"/>
                </a:solidFill>
                <a:ea typeface="宋体" panose="02010600030101010101" pitchFamily="2" charset="-122"/>
                <a:cs typeface="Times New Roman" panose="02020603050405020304" pitchFamily="18" charset="0"/>
              </a:rPr>
              <a:t>0</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06</a:t>
            </a:r>
            <a:r>
              <a:rPr lang="en-US" altLang="zh-CN" dirty="0" smtClean="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2631499874"/>
      </p:ext>
    </p:extLst>
  </p:cSld>
  <p:clrMapOvr>
    <a:masterClrMapping/>
  </p:clrMapOvr>
  <p:transition spd="slow">
    <p:comb/>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randombar(horizontal)">
                                      <p:cBhvr>
                                        <p:cTn id="7" dur="500"/>
                                        <p:tgtEl>
                                          <p:spTgt spid="3">
                                            <p:txEl>
                                              <p:pRg st="1" end="1"/>
                                            </p:txEl>
                                          </p:spTgt>
                                        </p:tgtEl>
                                      </p:cBhvr>
                                    </p:animEffect>
                                  </p:childTnLst>
                                </p:cTn>
                              </p:par>
                              <p:par>
                                <p:cTn id="8" presetID="14" presetClass="entr" presetSubtype="1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randombar(horizontal)">
                                      <p:cBhvr>
                                        <p:cTn id="10" dur="500"/>
                                        <p:tgtEl>
                                          <p:spTgt spid="3">
                                            <p:txEl>
                                              <p:pRg st="2" end="2"/>
                                            </p:txEl>
                                          </p:spTgt>
                                        </p:tgtEl>
                                      </p:cBhvr>
                                    </p:animEffect>
                                  </p:childTnLst>
                                </p:cTn>
                              </p:par>
                              <p:par>
                                <p:cTn id="11" presetID="14" presetClass="entr" presetSubtype="1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randombar(horizontal)">
                                      <p:cBhvr>
                                        <p:cTn id="13"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2785437122"/>
              </p:ext>
            </p:extLst>
          </p:nvPr>
        </p:nvGraphicFramePr>
        <p:xfrm>
          <a:off x="504453" y="952983"/>
          <a:ext cx="11671959" cy="3970100"/>
        </p:xfrm>
        <a:graphic>
          <a:graphicData uri="http://schemas.openxmlformats.org/presentationml/2006/ole">
            <mc:AlternateContent xmlns:mc="http://schemas.openxmlformats.org/markup-compatibility/2006">
              <mc:Choice xmlns:v="urn:schemas-microsoft-com:vml" Requires="v">
                <p:oleObj spid="_x0000_s17419" name="文档" r:id="rId4" imgW="3826872" imgH="1301672" progId="Word.Document.12">
                  <p:embed/>
                </p:oleObj>
              </mc:Choice>
              <mc:Fallback>
                <p:oleObj name="文档" r:id="rId4" imgW="3826872" imgH="1301672" progId="Word.Document.12">
                  <p:embed/>
                  <p:pic>
                    <p:nvPicPr>
                      <p:cNvPr id="0" name=""/>
                      <p:cNvPicPr/>
                      <p:nvPr/>
                    </p:nvPicPr>
                    <p:blipFill>
                      <a:blip r:embed="rId5"/>
                      <a:stretch>
                        <a:fillRect/>
                      </a:stretch>
                    </p:blipFill>
                    <p:spPr>
                      <a:xfrm>
                        <a:off x="504453" y="952983"/>
                        <a:ext cx="11671959" cy="3970100"/>
                      </a:xfrm>
                      <a:prstGeom prst="rect">
                        <a:avLst/>
                      </a:prstGeom>
                    </p:spPr>
                  </p:pic>
                </p:oleObj>
              </mc:Fallback>
            </mc:AlternateContent>
          </a:graphicData>
        </a:graphic>
      </p:graphicFrame>
      <p:sp>
        <p:nvSpPr>
          <p:cNvPr id="4" name="矩形 3"/>
          <p:cNvSpPr>
            <a:spLocks noChangeAspect="1"/>
          </p:cNvSpPr>
          <p:nvPr/>
        </p:nvSpPr>
        <p:spPr>
          <a:xfrm>
            <a:off x="432445" y="4985431"/>
            <a:ext cx="1657826" cy="683264"/>
          </a:xfrm>
          <a:prstGeom prst="rect">
            <a:avLst/>
          </a:prstGeom>
        </p:spPr>
        <p:txBody>
          <a:bodyPr wrap="none">
            <a:spAutoFit/>
          </a:bodyPr>
          <a:lstStyle/>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答案</a:t>
            </a:r>
            <a:r>
              <a:rPr lang="en-US" altLang="zh-CN" dirty="0">
                <a:latin typeface="Arial" panose="020B0604020202020204" pitchFamily="34" charset="0"/>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40 </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794440887"/>
      </p:ext>
    </p:extLst>
  </p:cSld>
  <p:clrMapOvr>
    <a:masterClrMapping/>
  </p:clrMapOvr>
  <p:transition spd="slow">
    <p:comb/>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979081906"/>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timing>
    <p:tnLst>
      <p:par>
        <p:cTn id="1" dur="indefinite" restart="never" nodeType="tmRoot"/>
      </p:par>
    </p:tnLst>
  </p:timing>
</p:sld>
</file>

<file path=ppt/theme/theme1.xml><?xml version="1.0" encoding="utf-8"?>
<a:theme xmlns:a="http://schemas.openxmlformats.org/drawingml/2006/main" name="专业教辅课件Q:251490010">
  <a:themeElements>
    <a:clrScheme name="穿越">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Office 经典">
      <a:maj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Times New Roman"/>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演示文稿3" id="{7F1B58FA-3D69-4926-A2BA-EEBABBAD5E6B}" vid="{76CC91B4-AC1E-4E21-9BDB-923C2B156DCE}"/>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新教材 高中同步</Template>
  <TotalTime>28</TotalTime>
  <Words>2263</Words>
  <Application>Microsoft Office PowerPoint</Application>
  <PresentationFormat>自定义</PresentationFormat>
  <Paragraphs>134</Paragraphs>
  <Slides>49</Slides>
  <Notes>1</Notes>
  <HiddenSlides>0</HiddenSlides>
  <MMClips>0</MMClips>
  <ScaleCrop>false</ScaleCrop>
  <HeadingPairs>
    <vt:vector size="8" baseType="variant">
      <vt:variant>
        <vt:lpstr>已用的字体</vt:lpstr>
      </vt:variant>
      <vt:variant>
        <vt:i4>14</vt:i4>
      </vt:variant>
      <vt:variant>
        <vt:lpstr>主题</vt:lpstr>
      </vt:variant>
      <vt:variant>
        <vt:i4>1</vt:i4>
      </vt:variant>
      <vt:variant>
        <vt:lpstr>嵌入 OLE 服务器</vt:lpstr>
      </vt:variant>
      <vt:variant>
        <vt:i4>1</vt:i4>
      </vt:variant>
      <vt:variant>
        <vt:lpstr>幻灯片标题</vt:lpstr>
      </vt:variant>
      <vt:variant>
        <vt:i4>49</vt:i4>
      </vt:variant>
    </vt:vector>
  </HeadingPairs>
  <TitlesOfParts>
    <vt:vector size="65" baseType="lpstr">
      <vt:lpstr>NEU-BZ-S92</vt:lpstr>
      <vt:lpstr>方正书宋_GBK</vt:lpstr>
      <vt:lpstr>方正正中黑简体</vt:lpstr>
      <vt:lpstr>仿宋</vt:lpstr>
      <vt:lpstr>黑体</vt:lpstr>
      <vt:lpstr>华文新魏</vt:lpstr>
      <vt:lpstr>楷体</vt:lpstr>
      <vt:lpstr>隶书</vt:lpstr>
      <vt:lpstr>宋体</vt:lpstr>
      <vt:lpstr>Arial</vt:lpstr>
      <vt:lpstr>Calibri</vt:lpstr>
      <vt:lpstr>Cambria Math</vt:lpstr>
      <vt:lpstr>Microsoft Yi Baiti</vt:lpstr>
      <vt:lpstr>Times New Roman</vt:lpstr>
      <vt:lpstr>专业教辅课件Q:251490010</vt:lpstr>
      <vt:lpstr>文档</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微软中国</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Microsoft</cp:lastModifiedBy>
  <cp:revision>16</cp:revision>
  <dcterms:created xsi:type="dcterms:W3CDTF">2020-09-12T05:36:12Z</dcterms:created>
  <dcterms:modified xsi:type="dcterms:W3CDTF">2025-08-18T05:14:33Z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XTAG2">
    <vt:lpwstr>0008007650000000000001024140</vt:lpwstr>
  </property>
  <property fmtid="{D5CDD505-2E9C-101B-9397-08002B2CF9AE}" pid="3" name="KSOProductBuildVer">
    <vt:lpwstr>2052-10.1.0.7698</vt:lpwstr>
  </property>
</Properties>
</file>