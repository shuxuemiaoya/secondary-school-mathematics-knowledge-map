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37" r:id="rId13"/>
    <p:sldId id="750" r:id="rId14"/>
    <p:sldId id="763" r:id="rId15"/>
    <p:sldId id="764" r:id="rId16"/>
    <p:sldId id="779" r:id="rId17"/>
    <p:sldId id="780" r:id="rId18"/>
    <p:sldId id="754" r:id="rId19"/>
    <p:sldId id="765" r:id="rId20"/>
    <p:sldId id="766" r:id="rId21"/>
    <p:sldId id="781" r:id="rId22"/>
    <p:sldId id="768" r:id="rId23"/>
    <p:sldId id="769" r:id="rId24"/>
    <p:sldId id="755" r:id="rId25"/>
    <p:sldId id="770" r:id="rId26"/>
    <p:sldId id="771" r:id="rId27"/>
    <p:sldId id="772" r:id="rId28"/>
    <p:sldId id="782" r:id="rId29"/>
    <p:sldId id="747" r:id="rId30"/>
    <p:sldId id="751" r:id="rId31"/>
    <p:sldId id="773" r:id="rId32"/>
    <p:sldId id="774" r:id="rId33"/>
    <p:sldId id="775" r:id="rId34"/>
    <p:sldId id="783" r:id="rId35"/>
    <p:sldId id="784" r:id="rId36"/>
    <p:sldId id="785" r:id="rId37"/>
    <p:sldId id="748" r:id="rId38"/>
    <p:sldId id="752" r:id="rId39"/>
    <p:sldId id="776" r:id="rId40"/>
    <p:sldId id="777" r:id="rId41"/>
    <p:sldId id="778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-19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29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1.doc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2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jpeg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3.doc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jpeg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4.docx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5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6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8.docx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9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0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1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2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3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4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6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17.docx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943943"/>
            <a:ext cx="10807700" cy="22023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单调性与最大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</a:t>
            </a:r>
            <a:endParaRPr lang="en-US" altLang="zh-CN" sz="6000" dirty="0" smtClean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函数的最大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小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值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439888"/>
            <a:ext cx="10729192" cy="3456385"/>
            <a:chOff x="360437" y="1439888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439888"/>
              <a:ext cx="10729192" cy="3456385"/>
              <a:chOff x="360437" y="1954536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54536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92833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83903"/>
              <a:ext cx="84969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借助函数的图象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会用符号语言表达函数的最大值、最小值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理解函数的最大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值的作用和实际意义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会根据问题的实际意义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求函数的最大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想象、数学抽象和逻辑推理素养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81983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函数的最大值、最小值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观察下面两个函数的图象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回答下列问题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21Q06a.eps" descr="id:214749633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448669" y="2152292"/>
            <a:ext cx="5616624" cy="2594066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480694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比较两个函数的图象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它们是否都有最高点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通过观察图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你能发现什么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93557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的图象上有一个最高点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的图象上没有最高点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对任意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8400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463773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的图象有一个最低点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的图象没有最低点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对任意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1950" y="533279"/>
            <a:ext cx="10807700" cy="4228850"/>
            <a:chOff x="361950" y="513615"/>
            <a:chExt cx="10807700" cy="4228850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513615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观察下面两个函数的图象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回答下列问题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比较两个函数的图象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它们是否都有最低点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通过观察图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你能发现什么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21Q06b.eps" descr="id:2147496343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36701" y="1140142"/>
              <a:ext cx="5184576" cy="2363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41978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9975"/>
            <a:ext cx="595035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324864"/>
              </p:ext>
            </p:extLst>
          </p:nvPr>
        </p:nvGraphicFramePr>
        <p:xfrm>
          <a:off x="357188" y="1419225"/>
          <a:ext cx="10836275" cy="525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文档" r:id="rId4" imgW="3547869" imgH="1724302" progId="Word.Document.12">
                  <p:embed/>
                </p:oleObj>
              </mc:Choice>
              <mc:Fallback>
                <p:oleObj name="文档" r:id="rId4" imgW="3547869" imgH="17243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1419225"/>
                        <a:ext cx="10836275" cy="5254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522336" y="2673855"/>
            <a:ext cx="164125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518164" y="3076261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852648" y="2673855"/>
            <a:ext cx="164125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8848476" y="3076261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666352" y="3249919"/>
            <a:ext cx="164125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662180" y="3652325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448670" y="4330039"/>
            <a:ext cx="136815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444497" y="4732445"/>
            <a:ext cx="13666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811550" y="4338442"/>
            <a:ext cx="136815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6807377" y="4740848"/>
            <a:ext cx="13666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8389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658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则该函数的最小值、最大值分别是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　　　　　　　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2),0	B.0,2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2),2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(2),2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由题图可知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该函数的最小值为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最大值为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21Q07.eps" descr="id:214749636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112965" y="1970721"/>
            <a:ext cx="3456384" cy="288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41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ChangeAspect="1"/>
          </p:cNvSpPr>
          <p:nvPr/>
        </p:nvSpPr>
        <p:spPr>
          <a:xfrm>
            <a:off x="361950" y="77215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任何函数都有最大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上的最值一定是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若对任意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的最大值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如果一个函数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上的最大值是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22394" y="2654191"/>
            <a:ext cx="435648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289429" y="3283918"/>
            <a:ext cx="435648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297541" y="4392215"/>
            <a:ext cx="435648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08909" y="5544343"/>
            <a:ext cx="435648" cy="509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0346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函数的图象求函数的最值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36787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说明函数的单调性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并判断其是否存在最大值和最小值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去绝对值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分段函数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识图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结论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344419"/>
              </p:ext>
            </p:extLst>
          </p:nvPr>
        </p:nvGraphicFramePr>
        <p:xfrm>
          <a:off x="462135" y="3220479"/>
          <a:ext cx="10607329" cy="274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文档" r:id="rId4" imgW="3477813" imgH="900354" progId="Word.Document.12">
                  <p:embed/>
                </p:oleObj>
              </mc:Choice>
              <mc:Fallback>
                <p:oleObj name="文档" r:id="rId4" imgW="3477813" imgH="9003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135" y="3220479"/>
                        <a:ext cx="10607329" cy="2746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773679"/>
              </p:ext>
            </p:extLst>
          </p:nvPr>
        </p:nvGraphicFramePr>
        <p:xfrm>
          <a:off x="504453" y="1223864"/>
          <a:ext cx="10607329" cy="4345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文档" r:id="rId4" imgW="3477813" imgH="1424629" progId="Word.Document.12">
                  <p:embed/>
                </p:oleObj>
              </mc:Choice>
              <mc:Fallback>
                <p:oleObj name="文档" r:id="rId4" imgW="3477813" imgH="14246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23864"/>
                        <a:ext cx="10607329" cy="43451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1Q08.eps" descr="id:214749638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6481117" y="791815"/>
            <a:ext cx="2880320" cy="268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01647"/>
            <a:ext cx="3995004" cy="1274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图象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法求最值的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lang="en-US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Q09.eps" descr="id:214749640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152525" y="2073323"/>
            <a:ext cx="9073008" cy="35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4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23906"/>
              </p:ext>
            </p:extLst>
          </p:nvPr>
        </p:nvGraphicFramePr>
        <p:xfrm>
          <a:off x="360437" y="647799"/>
          <a:ext cx="10607329" cy="1246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文档" r:id="rId4" imgW="3477813" imgH="408531" progId="Word.Document.12">
                  <p:embed/>
                </p:oleObj>
              </mc:Choice>
              <mc:Fallback>
                <p:oleObj name="文档" r:id="rId4" imgW="3477813" imgH="4085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647799"/>
                        <a:ext cx="10607329" cy="1246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189381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在给定的平面直角坐标系内作出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由图象指出当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取什么值时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Q10.eps" descr="id:214749640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672805" y="3111460"/>
            <a:ext cx="3456384" cy="321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8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13615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1,2]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=-x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其图象为二次函数图象的一部分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(2,5]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其图象为一次函数图象的一部分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由图象可知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有最大值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有最小值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21Q11.eps" descr="id:214749641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729884" y="2054514"/>
            <a:ext cx="3312368" cy="2985773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556928"/>
            <a:ext cx="108077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899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函数的单调性求函数的最值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61950" y="1526448"/>
            <a:ext cx="15159929" cy="1839052"/>
            <a:chOff x="361950" y="1526448"/>
            <a:chExt cx="15159929" cy="183905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已知函数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[1,2]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上的单调性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根据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的单调性求出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[1,2]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上的最值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8521460"/>
                </p:ext>
              </p:extLst>
            </p:nvPr>
          </p:nvGraphicFramePr>
          <p:xfrm>
            <a:off x="3816821" y="1526448"/>
            <a:ext cx="11705058" cy="726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7" name="文档" r:id="rId4" imgW="3837724" imgH="238340" progId="Word.Document.12">
                    <p:embed/>
                  </p:oleObj>
                </mc:Choice>
                <mc:Fallback>
                  <p:oleObj name="文档" r:id="rId4" imgW="3837724" imgH="2383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16821" y="1526448"/>
                          <a:ext cx="11705058" cy="726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337573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证明单调性的流程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判断符号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借助函数的最值与单调性的关系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写出函数的最值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669161"/>
            <a:ext cx="17012654" cy="5667270"/>
            <a:chOff x="361950" y="669161"/>
            <a:chExt cx="17012654" cy="5667270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69161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[1,2]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上的任意两个实数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510877"/>
                </p:ext>
              </p:extLst>
            </p:nvPr>
          </p:nvGraphicFramePr>
          <p:xfrm>
            <a:off x="410292" y="1273567"/>
            <a:ext cx="10607329" cy="88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8" name="文档" r:id="rId4" imgW="3477813" imgH="290623" progId="Word.Document.12">
                    <p:embed/>
                  </p:oleObj>
                </mc:Choice>
                <mc:Fallback>
                  <p:oleObj name="文档" r:id="rId4" imgW="3477813" imgH="2906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0292" y="1273567"/>
                          <a:ext cx="10607329" cy="88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164135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[1,2]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上单调递减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的最小值为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(2),  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的最大值为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[1,2]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上的最小值为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最大值为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3935559"/>
                </p:ext>
              </p:extLst>
            </p:nvPr>
          </p:nvGraphicFramePr>
          <p:xfrm>
            <a:off x="5669546" y="4443903"/>
            <a:ext cx="11705058" cy="724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9" name="文档" r:id="rId7" imgW="3837724" imgH="237618" progId="Word.Document.12">
                    <p:embed/>
                  </p:oleObj>
                </mc:Choice>
                <mc:Fallback>
                  <p:oleObj name="文档" r:id="rId7" imgW="3837724" imgH="23761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669546" y="4443903"/>
                          <a:ext cx="11705058" cy="7247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458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724138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本例已知条件不变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[1,3]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[1,3]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61950" y="2461168"/>
            <a:ext cx="10807700" cy="3390871"/>
            <a:chOff x="361950" y="2441504"/>
            <a:chExt cx="10807700" cy="339087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441504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任取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[1,3],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由本例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7368608"/>
                </p:ext>
              </p:extLst>
            </p:nvPr>
          </p:nvGraphicFramePr>
          <p:xfrm>
            <a:off x="462135" y="3068214"/>
            <a:ext cx="10607329" cy="88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7" name="文档" r:id="rId5" imgW="3477813" imgH="290623" progId="Word.Document.12">
                    <p:embed/>
                  </p:oleObj>
                </mc:Choice>
                <mc:Fallback>
                  <p:oleObj name="文档" r:id="rId5" imgW="3477813" imgH="2906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2135" y="3068214"/>
                          <a:ext cx="10607329" cy="88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361950" y="402380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[1,2]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上单调递减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(2,3]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625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089317"/>
              </p:ext>
            </p:extLst>
          </p:nvPr>
        </p:nvGraphicFramePr>
        <p:xfrm>
          <a:off x="432445" y="1943943"/>
          <a:ext cx="10607329" cy="1980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文档" r:id="rId4" imgW="3477813" imgH="649394" progId="Word.Document.12">
                  <p:embed/>
                </p:oleObj>
              </mc:Choice>
              <mc:Fallback>
                <p:oleObj name="文档" r:id="rId4" imgW="3477813" imgH="6493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943943"/>
                        <a:ext cx="10607329" cy="19806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886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83903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利用函数的单调性求函数最值的一般步骤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判断函数的单调性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利用函数的单调性写出函数的最值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67463"/>
            <a:ext cx="10807700" cy="56850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44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函数的最值与单调性的关系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4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上的最小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值是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值是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4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上的最大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值是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值是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中较小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的一个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4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上的图象是一条连续不断的曲线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上一定有最值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4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求最值时一定要注意所给区间的开闭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若是开区间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则不一定有最大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50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5248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与</a:t>
            </a:r>
            <a:r>
              <a:rPr lang="zh-CN" altLang="zh-CN" dirty="0"/>
              <a:t>函数的最值有关的应用问题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235305"/>
              </p:ext>
            </p:extLst>
          </p:nvPr>
        </p:nvGraphicFramePr>
        <p:xfrm>
          <a:off x="360437" y="1452903"/>
          <a:ext cx="10607329" cy="2830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文档" r:id="rId4" imgW="3477813" imgH="928118" progId="Word.Document.12">
                  <p:embed/>
                </p:oleObj>
              </mc:Choice>
              <mc:Fallback>
                <p:oleObj name="文档" r:id="rId4" imgW="3477813" imgH="9281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52903"/>
                        <a:ext cx="10607329" cy="2830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288429" y="428796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设该商品的日销售额为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请写出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的函数解析式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求该商品的日销售额的最大值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并指出哪一天的销售额最大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729639"/>
            <a:ext cx="10807700" cy="5388348"/>
            <a:chOff x="361950" y="729639"/>
            <a:chExt cx="10807700" cy="538834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2963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-t+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40)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=-t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-t+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40)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4069286"/>
                </p:ext>
              </p:extLst>
            </p:nvPr>
          </p:nvGraphicFramePr>
          <p:xfrm>
            <a:off x="504453" y="1911263"/>
            <a:ext cx="10607329" cy="12460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4" name="文档" r:id="rId4" imgW="3477813" imgH="408531" progId="Word.Document.12">
                    <p:embed/>
                  </p:oleObj>
                </mc:Choice>
                <mc:Fallback>
                  <p:oleObj name="文档" r:id="rId4" imgW="3477813" imgH="40853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1911263"/>
                          <a:ext cx="10607329" cy="12460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3127553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&lt;t&lt;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y=-t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有最大值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900;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单调递减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有最大值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675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故所求日销售额的最大值为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,11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日日销售额最大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571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9191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解函数应用题的一般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审题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弄清题意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分清条件和结论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理顺数量关系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建模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将文字语言转化成数学语言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用数学知识建立相应的数学模型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求解数学模型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得到数学结论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还原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将用数学方法得到的结论还原为实际问题的答案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反思回顾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对于数学模型得到的解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必须验证这个解对实际问题的合理性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88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某租赁公司拥有汽车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当每辆车的月租金为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可全部租出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每辆车的月租金每增加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未租出的车将会增加一辆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租出的车每辆每月需要维护费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未租出的车每辆每月需要维护费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当每辆车的月租金为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3 600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能租出多少辆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当每辆车的月租金为多少元时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租赁公司的月收益最大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最大月收益是多少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01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049708"/>
              </p:ext>
            </p:extLst>
          </p:nvPr>
        </p:nvGraphicFramePr>
        <p:xfrm>
          <a:off x="360437" y="1007839"/>
          <a:ext cx="10607329" cy="4536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文档" r:id="rId4" imgW="3477813" imgH="1487368" progId="Word.Document.12">
                  <p:embed/>
                </p:oleObj>
              </mc:Choice>
              <mc:Fallback>
                <p:oleObj name="文档" r:id="rId4" imgW="3477813" imgH="14873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07839"/>
                        <a:ext cx="10607329" cy="4536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307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利用数形结合思想与分类讨论思想求二次函数的最值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审题视角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对称轴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与定区间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的相对位置关系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结合函数的单调性与图象求解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3000824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是函数的单调递增区间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故函数在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处取得最小值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处取得最大值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Q12.eps" descr="id:2147496464;FounderCES"/>
          <p:cNvPicPr/>
          <p:nvPr/>
        </p:nvPicPr>
        <p:blipFill rotWithShape="1">
          <a:blip r:embed="rId2"/>
          <a:srcRect r="50302" b="51732"/>
          <a:stretch/>
        </p:blipFill>
        <p:spPr>
          <a:xfrm>
            <a:off x="7921278" y="2808039"/>
            <a:ext cx="3248372" cy="305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4058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结合函数图象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处取得最小值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处取得最大值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结合图象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处取得最小值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处取得最大值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Q12.eps" descr="id:2147496464;FounderCES"/>
          <p:cNvPicPr/>
          <p:nvPr/>
        </p:nvPicPr>
        <p:blipFill rotWithShape="1">
          <a:blip r:embed="rId2"/>
          <a:srcRect l="52621" b="51732"/>
          <a:stretch/>
        </p:blipFill>
        <p:spPr>
          <a:xfrm>
            <a:off x="7345213" y="673805"/>
            <a:ext cx="2808312" cy="2772474"/>
          </a:xfrm>
          <a:prstGeom prst="rect">
            <a:avLst/>
          </a:prstGeom>
        </p:spPr>
      </p:pic>
      <p:pic>
        <p:nvPicPr>
          <p:cNvPr id="7" name="21Q12.eps" descr="id:2147496464;FounderCES"/>
          <p:cNvPicPr/>
          <p:nvPr/>
        </p:nvPicPr>
        <p:blipFill rotWithShape="1">
          <a:blip r:embed="rId2"/>
          <a:srcRect t="51796" r="52900"/>
          <a:stretch/>
        </p:blipFill>
        <p:spPr>
          <a:xfrm>
            <a:off x="7289761" y="3423568"/>
            <a:ext cx="2791756" cy="276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9622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0969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是函数的单调递减区间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处取得最大值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处取得最小值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综上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[0,2]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最小值为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最大值为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[0,2]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最小值为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最大值为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上的最小值为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最大值为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上的最小值为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最大值为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21Q12.eps" descr="id:2147496464;FounderCES"/>
          <p:cNvPicPr/>
          <p:nvPr/>
        </p:nvPicPr>
        <p:blipFill rotWithShape="1">
          <a:blip r:embed="rId2"/>
          <a:srcRect l="52923" t="50000"/>
          <a:stretch/>
        </p:blipFill>
        <p:spPr>
          <a:xfrm>
            <a:off x="6625133" y="1301255"/>
            <a:ext cx="3096344" cy="318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3746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14336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方法点睛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探求二次函数在给定区间上的最值问题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一般要先作出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的草图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再根据图象的单调性进行研究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要注意二次函数图象的对称轴与所给区间的位置关系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二次函数图象的对称轴与所给区间的位置关系通常有三种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对称轴在所给区间的右侧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对称轴在所给区间的左侧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对称轴在所给区间内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5353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5430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上的最值可作如下讨论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783492"/>
              </p:ext>
            </p:extLst>
          </p:nvPr>
        </p:nvGraphicFramePr>
        <p:xfrm>
          <a:off x="147638" y="1828800"/>
          <a:ext cx="11245850" cy="509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文档" r:id="rId4" imgW="4461246" imgH="2023664" progId="Word.Document.12">
                  <p:embed/>
                </p:oleObj>
              </mc:Choice>
              <mc:Fallback>
                <p:oleObj name="文档" r:id="rId4" imgW="4461246" imgH="20236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7638" y="1828800"/>
                        <a:ext cx="11245850" cy="5097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52633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244642"/>
              </p:ext>
            </p:extLst>
          </p:nvPr>
        </p:nvGraphicFramePr>
        <p:xfrm>
          <a:off x="504453" y="821311"/>
          <a:ext cx="10607329" cy="170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文档" r:id="rId4" imgW="3477813" imgH="558529" progId="Word.Document.12">
                  <p:embed/>
                </p:oleObj>
              </mc:Choice>
              <mc:Fallback>
                <p:oleObj name="文档" r:id="rId4" imgW="3477813" imgH="5585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21311"/>
                        <a:ext cx="10607329" cy="1703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262797"/>
              </p:ext>
            </p:extLst>
          </p:nvPr>
        </p:nvGraphicFramePr>
        <p:xfrm>
          <a:off x="525451" y="2612746"/>
          <a:ext cx="10607329" cy="3167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文档" r:id="rId7" imgW="3477813" imgH="1038454" progId="Word.Document.12">
                  <p:embed/>
                </p:oleObj>
              </mc:Choice>
              <mc:Fallback>
                <p:oleObj name="文档" r:id="rId7" imgW="3477813" imgH="10384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451" y="2612746"/>
                        <a:ext cx="10607329" cy="3167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423541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386466"/>
              </p:ext>
            </p:extLst>
          </p:nvPr>
        </p:nvGraphicFramePr>
        <p:xfrm>
          <a:off x="504453" y="1007839"/>
          <a:ext cx="10607329" cy="4433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文档" r:id="rId4" imgW="3477813" imgH="1453474" progId="Word.Document.12">
                  <p:embed/>
                </p:oleObj>
              </mc:Choice>
              <mc:Fallback>
                <p:oleObj name="文档" r:id="rId4" imgW="3477813" imgH="14534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07839"/>
                        <a:ext cx="10607329" cy="4433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7714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695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的最小值是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A.0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D.3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1950" y="1914600"/>
            <a:ext cx="10807700" cy="3637919"/>
            <a:chOff x="361950" y="1865440"/>
            <a:chExt cx="10807700" cy="3637919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865440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y=|x+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的图象如图所示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由图可知函数的最小值为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2" name="21Q13.eps" descr="id:2147496493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409109" y="2159967"/>
              <a:ext cx="3168352" cy="2879840"/>
            </a:xfrm>
            <a:prstGeom prst="rect">
              <a:avLst/>
            </a:prstGeom>
          </p:spPr>
        </p:pic>
      </p:grpSp>
      <p:sp>
        <p:nvSpPr>
          <p:cNvPr id="14" name="矩形 13"/>
          <p:cNvSpPr>
            <a:spLocks noChangeAspect="1"/>
          </p:cNvSpPr>
          <p:nvPr/>
        </p:nvSpPr>
        <p:spPr>
          <a:xfrm>
            <a:off x="361950" y="545680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5185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[0,3])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A.[0,3]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1,0]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	D.[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1,3]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取得最小值为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函数取得最大值为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故函数的值域为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1,3],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187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1189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[1,3]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上的最大值为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[1,3]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94418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697970"/>
              </p:ext>
            </p:extLst>
          </p:nvPr>
        </p:nvGraphicFramePr>
        <p:xfrm>
          <a:off x="432445" y="1178740"/>
          <a:ext cx="10607329" cy="1246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文档" r:id="rId4" imgW="3477813" imgH="408531" progId="Word.Document.12">
                  <p:embed/>
                </p:oleObj>
              </mc:Choice>
              <mc:Fallback>
                <p:oleObj name="文档" r:id="rId4" imgW="3477813" imgH="4085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178740"/>
                        <a:ext cx="10607329" cy="1246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49676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[1,2]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其最大值为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4,1]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其最大值为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的最大值为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0447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70</TotalTime>
  <Words>2010</Words>
  <Application>Microsoft Office PowerPoint</Application>
  <PresentationFormat>自定义</PresentationFormat>
  <Paragraphs>158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31</cp:revision>
  <dcterms:created xsi:type="dcterms:W3CDTF">2020-09-12T05:36:12Z</dcterms:created>
  <dcterms:modified xsi:type="dcterms:W3CDTF">2025-08-18T03:27:52Z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