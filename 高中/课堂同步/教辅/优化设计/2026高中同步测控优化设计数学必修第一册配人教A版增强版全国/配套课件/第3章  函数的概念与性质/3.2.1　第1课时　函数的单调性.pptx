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62" r:id="rId11"/>
    <p:sldId id="737" r:id="rId12"/>
    <p:sldId id="750" r:id="rId13"/>
    <p:sldId id="763" r:id="rId14"/>
    <p:sldId id="764" r:id="rId15"/>
    <p:sldId id="754" r:id="rId16"/>
    <p:sldId id="765" r:id="rId17"/>
    <p:sldId id="766" r:id="rId18"/>
    <p:sldId id="768" r:id="rId19"/>
    <p:sldId id="769" r:id="rId20"/>
    <p:sldId id="779" r:id="rId21"/>
    <p:sldId id="781" r:id="rId22"/>
    <p:sldId id="780" r:id="rId23"/>
    <p:sldId id="755" r:id="rId24"/>
    <p:sldId id="770" r:id="rId25"/>
    <p:sldId id="771" r:id="rId26"/>
    <p:sldId id="772" r:id="rId27"/>
    <p:sldId id="782" r:id="rId28"/>
    <p:sldId id="747" r:id="rId29"/>
    <p:sldId id="751" r:id="rId30"/>
    <p:sldId id="773" r:id="rId31"/>
    <p:sldId id="774" r:id="rId32"/>
    <p:sldId id="775" r:id="rId33"/>
    <p:sldId id="748" r:id="rId34"/>
    <p:sldId id="752" r:id="rId35"/>
    <p:sldId id="776" r:id="rId36"/>
    <p:sldId id="777" r:id="rId37"/>
    <p:sldId id="778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3.xml"/><Relationship Id="rId5" Type="http://schemas.openxmlformats.org/officeDocument/2006/relationships/slide" Target="slide28.xml"/><Relationship Id="rId4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package" Target="../embeddings/Microsoft_Word___3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4.docx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9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1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2.docx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4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5.bin"/><Relationship Id="rId7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5.docx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19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1943943"/>
            <a:ext cx="108077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单调性与最大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小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值</a:t>
            </a:r>
            <a:endParaRPr lang="en-US" altLang="zh-CN" sz="6000" dirty="0" smtClean="0">
              <a:solidFill>
                <a:srgbClr val="002060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函数的</a:t>
            </a:r>
            <a:r>
              <a:rPr lang="zh-CN" altLang="zh-CN" sz="6000" dirty="0" smtClean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单调性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459550"/>
            <a:ext cx="10729192" cy="3456385"/>
            <a:chOff x="360437" y="1459550"/>
            <a:chExt cx="10729192" cy="3456385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459550"/>
              <a:ext cx="10729192" cy="3456385"/>
              <a:chOff x="360437" y="1967967"/>
              <a:chExt cx="10729192" cy="2360758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967967"/>
                <a:ext cx="10729192" cy="2360758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06265"/>
                <a:ext cx="0" cy="226239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655911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借助函数的图象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会用符号语言表达函数的单调性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理解函数的单调性的作用和实际意义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会用定义证明简单函数的单调性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提升直观想象、数学抽象和逻辑推理能力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增函数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、减函数、单调区间的定义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结合下列函数的图象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分析其变化规律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回答下列问题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图象从左到右是上升还是下降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函数值随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的增大而增大还是减小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图象从左到右是上升还是下降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函数值随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的增大而增大还是减小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图象从左到右是上升还是下降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函数值随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的增大而增大还是减小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减小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增大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220663" y="556127"/>
            <a:ext cx="11887201" cy="6464105"/>
            <a:chOff x="-220663" y="556127"/>
            <a:chExt cx="11887201" cy="6464105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556127"/>
              <a:ext cx="1072730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(1) 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435053"/>
                </p:ext>
              </p:extLst>
            </p:nvPr>
          </p:nvGraphicFramePr>
          <p:xfrm>
            <a:off x="-220663" y="1176645"/>
            <a:ext cx="11887201" cy="5843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1" name="文档" r:id="rId4" imgW="3907623" imgH="1925554" progId="Word.Document.12">
                    <p:embed/>
                  </p:oleObj>
                </mc:Choice>
                <mc:Fallback>
                  <p:oleObj name="文档" r:id="rId4" imgW="3907623" imgH="19255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220663" y="1176645"/>
                          <a:ext cx="11887201" cy="58435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2258154" y="2383675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254161" y="2847773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65180" y="2383675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961187" y="2847773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8400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在它的定义域上单调递增时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称它是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在它的定义域上单调递减时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称它是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减函数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单调递增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那么就说函数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在这一区间具有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严格的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单调区间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969123" y="1583903"/>
            <a:ext cx="11951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964778" y="2048001"/>
            <a:ext cx="1193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8091154" y="2152387"/>
            <a:ext cx="11951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086809" y="2616485"/>
            <a:ext cx="1193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5491223" y="2736031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5487051" y="3200129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536434" y="2736031"/>
            <a:ext cx="161973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7532262" y="3200129"/>
            <a:ext cx="16179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635891" y="3329321"/>
            <a:ext cx="119516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6631546" y="3793419"/>
            <a:ext cx="11938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864494" y="3909675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860321" y="4373773"/>
            <a:ext cx="15931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1978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  <p:bldP spid="13" grpId="0" animBg="1"/>
      <p:bldP spid="16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721231"/>
              </p:ext>
            </p:extLst>
          </p:nvPr>
        </p:nvGraphicFramePr>
        <p:xfrm>
          <a:off x="504453" y="880975"/>
          <a:ext cx="11671959" cy="1693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0" name="文档" r:id="rId4" imgW="3826872" imgH="555241" progId="Word.Document.12">
                  <p:embed/>
                </p:oleObj>
              </mc:Choice>
              <mc:Fallback>
                <p:oleObj name="文档" r:id="rId4" imgW="3826872" imgH="5552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880975"/>
                        <a:ext cx="11671959" cy="1693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4013092"/>
              </p:ext>
            </p:extLst>
          </p:nvPr>
        </p:nvGraphicFramePr>
        <p:xfrm>
          <a:off x="504825" y="2711450"/>
          <a:ext cx="11661775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文档" r:id="rId7" imgW="3837724" imgH="760451" progId="Word.Document.12">
                  <p:embed/>
                </p:oleObj>
              </mc:Choice>
              <mc:Fallback>
                <p:oleObj name="文档" r:id="rId7" imgW="3837724" imgH="7604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825" y="2711450"/>
                        <a:ext cx="11661775" cy="2301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505743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389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1762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上的减函数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内都单调递增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25533" y="288030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849269" y="347183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464893" y="468050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4965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证明</a:t>
            </a:r>
            <a:r>
              <a:rPr lang="zh-CN" altLang="zh-CN" dirty="0"/>
              <a:t>函数的单调性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957389"/>
              </p:ext>
            </p:extLst>
          </p:nvPr>
        </p:nvGraphicFramePr>
        <p:xfrm>
          <a:off x="360437" y="1439989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0" name="文档" r:id="rId4" imgW="3826872" imgH="229284" progId="Word.Document.12">
                  <p:embed/>
                </p:oleObj>
              </mc:Choice>
              <mc:Fallback>
                <p:oleObj name="文档" r:id="rId4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439989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445190"/>
              </p:ext>
            </p:extLst>
          </p:nvPr>
        </p:nvGraphicFramePr>
        <p:xfrm>
          <a:off x="432445" y="2225848"/>
          <a:ext cx="11671959" cy="3678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1" name="文档" r:id="rId7" imgW="3826872" imgH="1206077" progId="Word.Document.12">
                  <p:embed/>
                </p:oleObj>
              </mc:Choice>
              <mc:Fallback>
                <p:oleObj name="文档" r:id="rId7" imgW="3826872" imgH="12060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225848"/>
                        <a:ext cx="11671959" cy="3678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29639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用函数单调性的定义证明函数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的一般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步骤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取值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 panose="02020503000000020003" pitchFamily="18" charset="-12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作差变形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作差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并利用因式分解、配方、通分、分子分母有理化等方法对差式进行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变形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定号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的正负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当符号不确定时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需要进行分类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下结论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根据函数单调递增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的定义得出结论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5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8344158"/>
              </p:ext>
            </p:extLst>
          </p:nvPr>
        </p:nvGraphicFramePr>
        <p:xfrm>
          <a:off x="360437" y="628135"/>
          <a:ext cx="11671959" cy="1226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文档" r:id="rId4" imgW="3826872" imgH="402145" progId="Word.Document.12">
                  <p:embed/>
                </p:oleObj>
              </mc:Choice>
              <mc:Fallback>
                <p:oleObj name="文档" r:id="rId4" imgW="3826872" imgH="4021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628135"/>
                        <a:ext cx="11671959" cy="1226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6849520"/>
              </p:ext>
            </p:extLst>
          </p:nvPr>
        </p:nvGraphicFramePr>
        <p:xfrm>
          <a:off x="355600" y="1882775"/>
          <a:ext cx="11660188" cy="445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文档" r:id="rId7" imgW="3837724" imgH="1470061" progId="Word.Document.12">
                  <p:embed/>
                </p:oleObj>
              </mc:Choice>
              <mc:Fallback>
                <p:oleObj name="文档" r:id="rId7" imgW="3837724" imgH="14700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600" y="1882775"/>
                        <a:ext cx="11660188" cy="445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4249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函数的单调区间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77668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求下列函数的单调区间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|+|x-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由函数图象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因此函数的单调递减区间是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无单调递增区间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其图象是开口向上的抛物线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抛物线的对称轴是直线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该函数的单调递增区间是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单调递减区间是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070015"/>
            <a:ext cx="11752286" cy="4305026"/>
            <a:chOff x="361950" y="935831"/>
            <a:chExt cx="11752286" cy="430502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935831"/>
              <a:ext cx="4661854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的定义域为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5468267"/>
                </p:ext>
              </p:extLst>
            </p:nvPr>
          </p:nvGraphicFramePr>
          <p:xfrm>
            <a:off x="442277" y="1646079"/>
            <a:ext cx="11671959" cy="1718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2" name="文档" r:id="rId4" imgW="3826872" imgH="563507" progId="Word.Document.12">
                    <p:embed/>
                  </p:oleObj>
                </mc:Choice>
                <mc:Fallback>
                  <p:oleObj name="文档" r:id="rId4" imgW="3826872" imgH="56350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1646079"/>
                          <a:ext cx="11671959" cy="171869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375731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该函数的大致图象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图所示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由图象可知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该函数的单调递增区间是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递减区间是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1]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8" name="NMG1TRA55.eps" descr="id:2147495454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993285" y="935831"/>
              <a:ext cx="2953240" cy="30243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625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7579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dirty="0" smtClean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r>
              <a:rPr lang="en-US" altLang="zh-CN" dirty="0" smtClean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函数单调区间的基本方法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利用常用函数的单调性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一次函数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kx+b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3865499"/>
              </p:ext>
            </p:extLst>
          </p:nvPr>
        </p:nvGraphicFramePr>
        <p:xfrm>
          <a:off x="360437" y="2880047"/>
          <a:ext cx="10607329" cy="3510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文档" r:id="rId4" imgW="3477813" imgH="1150953" progId="Word.Document.12">
                  <p:embed/>
                </p:oleObj>
              </mc:Choice>
              <mc:Fallback>
                <p:oleObj name="文档" r:id="rId4" imgW="3477813" imgH="11509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2880047"/>
                        <a:ext cx="10607329" cy="35104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735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231975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对于分段函数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可以先画出函数的图象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再结合图象观察分析得到其单调区间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对于含有绝对值的函数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通常可以转化为分段函数后再通过图象得到其单调区间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50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238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求下列函数的单调区间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并指出该函数在其单调区间上单调递增还是单调递减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774199"/>
              </p:ext>
            </p:extLst>
          </p:nvPr>
        </p:nvGraphicFramePr>
        <p:xfrm>
          <a:off x="574344" y="2441504"/>
          <a:ext cx="10607329" cy="2200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文档" r:id="rId4" imgW="3477813" imgH="721509" progId="Word.Document.12">
                  <p:embed/>
                </p:oleObj>
              </mc:Choice>
              <mc:Fallback>
                <p:oleObj name="文档" r:id="rId4" imgW="3477813" imgH="721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4344" y="2441504"/>
                        <a:ext cx="10607329" cy="22006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7299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367879"/>
            <a:ext cx="12559864" cy="3062442"/>
            <a:chOff x="361950" y="1367879"/>
            <a:chExt cx="12559864" cy="3062442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439887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的单调区间为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,0),(0,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其在区间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 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内都单调递增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单调递减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的单调区间为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,1),[1,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并且函数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内单调递减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075757"/>
                </p:ext>
              </p:extLst>
            </p:nvPr>
          </p:nvGraphicFramePr>
          <p:xfrm>
            <a:off x="2314485" y="1367879"/>
            <a:ext cx="10607329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7" name="文档" r:id="rId4" imgW="3477813" imgH="238700" progId="Word.Document.12">
                    <p:embed/>
                  </p:oleObj>
                </mc:Choice>
                <mc:Fallback>
                  <p:oleObj name="文档" r:id="rId4" imgW="3477813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14485" y="1367879"/>
                          <a:ext cx="10607329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5707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1Q06.eps" descr="id:2147496230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816821" y="1799927"/>
            <a:ext cx="2592288" cy="2355134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53154"/>
              </p:ext>
            </p:extLst>
          </p:nvPr>
        </p:nvGraphicFramePr>
        <p:xfrm>
          <a:off x="554308" y="647799"/>
          <a:ext cx="10607329" cy="1126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文档" r:id="rId5" imgW="3477813" imgH="369228" progId="Word.Document.12">
                  <p:embed/>
                </p:oleObj>
              </mc:Choice>
              <mc:Fallback>
                <p:oleObj name="文档" r:id="rId5" imgW="3477813" imgH="3692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4308" y="647799"/>
                        <a:ext cx="10607329" cy="1126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408067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根据解析式可作出函数的图象如图所示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由图象可知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的单调区间为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1],(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1,0),[0,1),[1,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1],[0,1)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1,0),[1,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26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函数</a:t>
            </a:r>
            <a:r>
              <a:rPr lang="zh-CN" altLang="zh-CN" dirty="0"/>
              <a:t>单调性的应用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416648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3645358"/>
            <a:ext cx="20920569" cy="2570296"/>
            <a:chOff x="361950" y="3645358"/>
            <a:chExt cx="20920569" cy="2570296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3816151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图象的对称轴是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endPara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=-a-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依题意有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-a-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上的增函数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5210376"/>
                </p:ext>
              </p:extLst>
            </p:nvPr>
          </p:nvGraphicFramePr>
          <p:xfrm>
            <a:off x="9577461" y="3645358"/>
            <a:ext cx="11705058" cy="908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81" name="文档" r:id="rId4" imgW="3837724" imgH="297834" progId="Word.Document.12">
                    <p:embed/>
                  </p:oleObj>
                </mc:Choice>
                <mc:Fallback>
                  <p:oleObj name="文档" r:id="rId4" imgW="3837724" imgH="2978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577461" y="3645358"/>
                          <a:ext cx="11705058" cy="9083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/>
          <p:cNvSpPr>
            <a:spLocks noChangeAspect="1"/>
          </p:cNvSpPr>
          <p:nvPr/>
        </p:nvSpPr>
        <p:spPr>
          <a:xfrm>
            <a:off x="5328989" y="5578309"/>
            <a:ext cx="477085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4]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1624096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223603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上不是单调函数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的取值范围又如何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知其图象的对称轴为直线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71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487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研究二次函数的单调性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首先应明确二次函数图象的开口方向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二次项系数的正负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与二次函数图象的对称轴方程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已知二次函数在某一区间的单调性求参数的取值范围时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通常根据对称轴与区间端点的大小关系建立不等式求解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解抽象函数不等式问题的方法</a:t>
            </a:r>
            <a: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利用函数的单调性解不等式主要依据函数单调性的定义和性质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首先去掉符号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列出关于未知量的不等式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注意函数的定义域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88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7690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是定义在区间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上的减函数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A.(3,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	B.(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,3)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C.[2,3)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.[0,3)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上是单调函数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1,3]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C.[3,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1]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9102351"/>
              </p:ext>
            </p:extLst>
          </p:nvPr>
        </p:nvGraphicFramePr>
        <p:xfrm>
          <a:off x="462135" y="2133606"/>
          <a:ext cx="10607329" cy="1126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文档" r:id="rId4" imgW="3477813" imgH="369228" progId="Word.Document.12">
                  <p:embed/>
                </p:oleObj>
              </mc:Choice>
              <mc:Fallback>
                <p:oleObj name="文档" r:id="rId4" imgW="3477813" imgH="3692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2135" y="2133606"/>
                        <a:ext cx="10607329" cy="1126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3302263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的图象开口向上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对称轴方程为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上是单调函数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(1)C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797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52943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混淆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在区间上单调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G1TRA56.eps" descr="id:214749549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2902895"/>
            <a:ext cx="2376264" cy="181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错解是由于对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函数的单调区间是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,6]”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理解不清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将二者等同起来而导致的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二者的含义是不同的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正解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y=|x-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见错解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,6]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49622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46731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单调区间是一个整体的概念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例如函数的单调递减区间是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指的是函数递减的最大范围是区间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而函数在区间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则区间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是相应单调递减区间的子区间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在解决此类问题时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一定要将两种不同的说法</a:t>
            </a:r>
            <a:r>
              <a:rPr lang="zh-CN" altLang="zh-CN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区分</a:t>
            </a:r>
            <a:r>
              <a:rPr lang="zh-CN" altLang="zh-CN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开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13746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163688"/>
              </p:ext>
            </p:extLst>
          </p:nvPr>
        </p:nvGraphicFramePr>
        <p:xfrm>
          <a:off x="360437" y="1161687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161687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761904"/>
              </p:ext>
            </p:extLst>
          </p:nvPr>
        </p:nvGraphicFramePr>
        <p:xfrm>
          <a:off x="357188" y="2459038"/>
          <a:ext cx="11645900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7" name="文档" r:id="rId7" imgW="3826872" imgH="574647" progId="Word.Document.12">
                  <p:embed/>
                </p:oleObj>
              </mc:Choice>
              <mc:Fallback>
                <p:oleObj name="文档" r:id="rId7" imgW="3826872" imgH="5746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188" y="2459038"/>
                        <a:ext cx="11645900" cy="1744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0437" y="4281201"/>
            <a:ext cx="3018775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m|m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1}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5353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75791"/>
            <a:ext cx="13100446" cy="3637919"/>
            <a:chOff x="361950" y="-215865"/>
            <a:chExt cx="13100446" cy="363791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-215865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多选题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下列说法正确的是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若存在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内单调递减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-mx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的单调递减区间是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,1],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6491776"/>
                </p:ext>
              </p:extLst>
            </p:nvPr>
          </p:nvGraphicFramePr>
          <p:xfrm>
            <a:off x="1790437" y="1462368"/>
            <a:ext cx="11671959" cy="699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4" name="文档" r:id="rId4" imgW="3826872" imgH="229284" progId="Word.Document.12">
                    <p:embed/>
                  </p:oleObj>
                </mc:Choice>
                <mc:Fallback>
                  <p:oleObj name="文档" r:id="rId4" imgW="3826872" imgH="22928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90437" y="1462368"/>
                          <a:ext cx="11671959" cy="69931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61950" y="4104183"/>
            <a:ext cx="14190726" cy="1865713"/>
            <a:chOff x="361950" y="4326702"/>
            <a:chExt cx="14190726" cy="1865713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326702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根据单调性的定义知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不正确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-mx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的单调递减区间是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,1],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所以函数图象的对称轴为直线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</a:rPr>
                <a:t>   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正确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5190885"/>
                </p:ext>
              </p:extLst>
            </p:nvPr>
          </p:nvGraphicFramePr>
          <p:xfrm>
            <a:off x="2880717" y="5547904"/>
            <a:ext cx="11671959" cy="6445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75" name="文档" r:id="rId7" imgW="3826872" imgH="211315" progId="Word.Document.12">
                    <p:embed/>
                  </p:oleObj>
                </mc:Choice>
                <mc:Fallback>
                  <p:oleObj name="文档" r:id="rId7" imgW="3826872" imgH="21131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80717" y="5547904"/>
                          <a:ext cx="11671959" cy="6445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75275" y="5787023"/>
            <a:ext cx="2114681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7511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则此函数的单调递增区间是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2,0]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.[0,1]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2,1]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1,1]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1" name="NMG1TRA57.eps" descr="id:214749551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617021" y="1985525"/>
            <a:ext cx="3528392" cy="24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187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615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,4]	B.(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C.[4,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	D.(4,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700859"/>
              </p:ext>
            </p:extLst>
          </p:nvPr>
        </p:nvGraphicFramePr>
        <p:xfrm>
          <a:off x="452303" y="3404076"/>
          <a:ext cx="10607329" cy="119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文档" r:id="rId4" imgW="3477813" imgH="391584" progId="Word.Document.12">
                  <p:embed/>
                </p:oleObj>
              </mc:Choice>
              <mc:Fallback>
                <p:oleObj name="文档" r:id="rId4" imgW="3477813" imgH="3915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303" y="3404076"/>
                        <a:ext cx="10607329" cy="1194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4608239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4418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791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是定义在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题意知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2,1)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0447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64</TotalTime>
  <Words>1763</Words>
  <Application>Microsoft Office PowerPoint</Application>
  <PresentationFormat>自定义</PresentationFormat>
  <Paragraphs>113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36</cp:revision>
  <dcterms:created xsi:type="dcterms:W3CDTF">2020-09-12T05:36:12Z</dcterms:created>
  <dcterms:modified xsi:type="dcterms:W3CDTF">2025-08-18T03:26:49Z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