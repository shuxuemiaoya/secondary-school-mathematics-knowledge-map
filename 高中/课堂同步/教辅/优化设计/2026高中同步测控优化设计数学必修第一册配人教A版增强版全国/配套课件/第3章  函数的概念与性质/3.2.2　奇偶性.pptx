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37" r:id="rId15"/>
    <p:sldId id="750" r:id="rId16"/>
    <p:sldId id="763" r:id="rId17"/>
    <p:sldId id="780" r:id="rId18"/>
    <p:sldId id="764" r:id="rId19"/>
    <p:sldId id="765" r:id="rId20"/>
    <p:sldId id="754" r:id="rId21"/>
    <p:sldId id="766" r:id="rId22"/>
    <p:sldId id="767" r:id="rId23"/>
    <p:sldId id="768" r:id="rId24"/>
    <p:sldId id="755" r:id="rId25"/>
    <p:sldId id="769" r:id="rId26"/>
    <p:sldId id="770" r:id="rId27"/>
    <p:sldId id="771" r:id="rId28"/>
    <p:sldId id="747" r:id="rId29"/>
    <p:sldId id="751" r:id="rId30"/>
    <p:sldId id="772" r:id="rId31"/>
    <p:sldId id="774" r:id="rId32"/>
    <p:sldId id="775" r:id="rId33"/>
    <p:sldId id="748" r:id="rId34"/>
    <p:sldId id="752" r:id="rId35"/>
    <p:sldId id="776" r:id="rId36"/>
    <p:sldId id="777" r:id="rId37"/>
    <p:sldId id="778" r:id="rId38"/>
    <p:sldId id="779" r:id="rId39"/>
    <p:sldId id="735" r:id="rId4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2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39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3.xml"/><Relationship Id="rId5" Type="http://schemas.openxmlformats.org/officeDocument/2006/relationships/slide" Target="slide28.xml"/><Relationship Id="rId4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1.jpeg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4.jpeg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9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6.jpeg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0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1.docx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2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3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4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6.docx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17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18.docx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75681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奇偶性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011911"/>
            <a:ext cx="10729192" cy="4182224"/>
            <a:chOff x="360437" y="1011911"/>
            <a:chExt cx="10729192" cy="4182224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011911"/>
              <a:ext cx="10729192" cy="4182224"/>
              <a:chOff x="360437" y="1662223"/>
              <a:chExt cx="10729192" cy="2856516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662223"/>
                <a:ext cx="10729192" cy="2856516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710848"/>
                <a:ext cx="0" cy="2737494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375991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3581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结合具体函数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了解奇偶性的概念和几何意义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了解奇函数、偶函数的图象特征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掌握判断函数的奇偶性的方法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能够利用函数的奇偶性解决简单的问题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体会数学抽象的过程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感受直观想象在解决问题中的应用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提升数学运算以及逻辑推理能力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935831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一、偶函数和奇函数的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定义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953702"/>
              </p:ext>
            </p:extLst>
          </p:nvPr>
        </p:nvGraphicFramePr>
        <p:xfrm>
          <a:off x="562321" y="1622508"/>
          <a:ext cx="10607329" cy="127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文档" r:id="rId4" imgW="3477813" imgH="418627" progId="Word.Document.12">
                  <p:embed/>
                </p:oleObj>
              </mc:Choice>
              <mc:Fallback>
                <p:oleObj name="文档" r:id="rId4" imgW="3477813" imgH="4186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2321" y="1622508"/>
                        <a:ext cx="10607329" cy="1276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50" y="2918984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试分别针对上述函数计算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具有怎样的关系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②⑤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既不满足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也不满足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36787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3674258"/>
              </p:ext>
            </p:extLst>
          </p:nvPr>
        </p:nvGraphicFramePr>
        <p:xfrm>
          <a:off x="577850" y="1987243"/>
          <a:ext cx="10920413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文档" r:id="rId4" imgW="3576577" imgH="989012" progId="Word.Document.12">
                  <p:embed/>
                </p:oleObj>
              </mc:Choice>
              <mc:Fallback>
                <p:oleObj name="文档" r:id="rId4" imgW="3576577" imgH="9890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7850" y="1987243"/>
                        <a:ext cx="10920413" cy="301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2655845" y="3215533"/>
            <a:ext cx="224109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651215" y="3609303"/>
            <a:ext cx="22385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789469" y="3215533"/>
            <a:ext cx="235755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6784839" y="3609303"/>
            <a:ext cx="23548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18389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295871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函数中是奇函数的是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84506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371544"/>
            <a:ext cx="15602137" cy="1865126"/>
            <a:chOff x="361950" y="1568965"/>
            <a:chExt cx="15602137" cy="1865126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568965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3556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二、偶函数和奇函数的图象特征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797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考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察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作出它们的图象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分别是偶函数还是奇函数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它们的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图象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对称性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上有什么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特征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1671943"/>
                </p:ext>
              </p:extLst>
            </p:nvPr>
          </p:nvGraphicFramePr>
          <p:xfrm>
            <a:off x="4259029" y="2067639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1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59029" y="2067639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61950" y="316807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图象关于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图象关于原点对称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3352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223863"/>
            <a:ext cx="11742454" cy="2872916"/>
            <a:chOff x="361950" y="863823"/>
            <a:chExt cx="11742454" cy="2872916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863823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偶函数的图象关于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轴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对称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奇函数的图象关于</a:t>
              </a:r>
              <a:r>
                <a:rPr lang="zh-CN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原点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对称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图象关于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轴对称的是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9651227"/>
                </p:ext>
              </p:extLst>
            </p:nvPr>
          </p:nvGraphicFramePr>
          <p:xfrm>
            <a:off x="432445" y="2045447"/>
            <a:ext cx="11671959" cy="1691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文档" r:id="rId4" imgW="3826872" imgH="554522" progId="Word.Document.12">
                    <p:embed/>
                  </p:oleObj>
                </mc:Choice>
                <mc:Fallback>
                  <p:oleObj name="文档" r:id="rId4" imgW="3826872" imgH="55452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045447"/>
                          <a:ext cx="11671959" cy="16912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/>
          <p:nvPr/>
        </p:nvSpPr>
        <p:spPr>
          <a:xfrm>
            <a:off x="4041105" y="1325367"/>
            <a:ext cx="64226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036439" y="1789465"/>
            <a:ext cx="6415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901820" y="1308805"/>
            <a:ext cx="7771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8897230" y="177290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>
            <a:spLocks noChangeAspect="1"/>
          </p:cNvSpPr>
          <p:nvPr/>
        </p:nvSpPr>
        <p:spPr>
          <a:xfrm>
            <a:off x="361950" y="4133679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26968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51855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三、函数的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奇偶性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287516"/>
              </p:ext>
            </p:extLst>
          </p:nvPr>
        </p:nvGraphicFramePr>
        <p:xfrm>
          <a:off x="432445" y="1865996"/>
          <a:ext cx="11671959" cy="1518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文档" r:id="rId4" imgW="3826872" imgH="497740" progId="Word.Document.12">
                  <p:embed/>
                </p:oleObj>
              </mc:Choice>
              <mc:Fallback>
                <p:oleObj name="文档" r:id="rId4" imgW="3826872" imgH="4977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865996"/>
                        <a:ext cx="11671959" cy="15181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428075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定义域是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也是偶函数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奇函数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那么就说函数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具有奇偶性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21798" y="4082891"/>
            <a:ext cx="118800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3417453" y="4546989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042593" y="4082891"/>
            <a:ext cx="118800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038248" y="4546989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60333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215159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函数按照奇偶性可分为奇函数、偶函数、非奇非偶函数、既奇又偶函数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其中既奇又偶函数的解析式可以有多种形式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但其定义域一定关于原点对称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且解析式经化简后一定为零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27617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66249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若函数的定义域关于原点对称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则该函数是奇函数或偶函数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奇函数的图象一定经过原点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偶函数的图象一定与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轴相交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则必有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则必有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74607" y="324008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265093" y="381615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409109" y="439221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345213" y="496827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921277" y="561635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0512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判断</a:t>
            </a:r>
            <a:r>
              <a:rPr lang="zh-CN" altLang="zh-CN" dirty="0"/>
              <a:t>函数的奇偶性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509864"/>
              </p:ext>
            </p:extLst>
          </p:nvPr>
        </p:nvGraphicFramePr>
        <p:xfrm>
          <a:off x="430213" y="1655911"/>
          <a:ext cx="11661775" cy="344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文档" r:id="rId4" imgW="3837724" imgH="1138333" progId="Word.Document.12">
                  <p:embed/>
                </p:oleObj>
              </mc:Choice>
              <mc:Fallback>
                <p:oleObj name="文档" r:id="rId4" imgW="3837724" imgH="11383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655911"/>
                        <a:ext cx="11661775" cy="344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007839"/>
            <a:ext cx="11742454" cy="4275515"/>
            <a:chOff x="361950" y="965997"/>
            <a:chExt cx="11742454" cy="4275515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965997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的定义域为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不关于原点对称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是非奇非偶函数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的定义域为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因为对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都有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是奇函数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5162886"/>
                </p:ext>
              </p:extLst>
            </p:nvPr>
          </p:nvGraphicFramePr>
          <p:xfrm>
            <a:off x="432445" y="3421974"/>
            <a:ext cx="11671959" cy="1819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6" name="文档" r:id="rId4" imgW="3826872" imgH="596570" progId="Word.Document.12">
                    <p:embed/>
                  </p:oleObj>
                </mc:Choice>
                <mc:Fallback>
                  <p:oleObj name="文档" r:id="rId4" imgW="3826872" imgH="59657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421974"/>
                          <a:ext cx="11671959" cy="18195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33313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09975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函数的定义域关于原点对称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是偶函数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145818"/>
              </p:ext>
            </p:extLst>
          </p:nvPr>
        </p:nvGraphicFramePr>
        <p:xfrm>
          <a:off x="361950" y="4291340"/>
          <a:ext cx="10607329" cy="1004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文档" r:id="rId4" imgW="3477813" imgH="329204" progId="Word.Document.12">
                  <p:embed/>
                </p:oleObj>
              </mc:Choice>
              <mc:Fallback>
                <p:oleObj name="文档" r:id="rId4" imgW="3477813" imgH="3292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4291340"/>
                        <a:ext cx="10607329" cy="1004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21Q14.eps" descr="id:2147496572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6913165" y="1448119"/>
            <a:ext cx="2952328" cy="2798784"/>
          </a:xfrm>
          <a:prstGeom prst="rect">
            <a:avLst/>
          </a:prstGeom>
        </p:spPr>
      </p:pic>
      <p:sp>
        <p:nvSpPr>
          <p:cNvPr id="8" name="矩形 7"/>
          <p:cNvSpPr>
            <a:spLocks noChangeAspect="1"/>
          </p:cNvSpPr>
          <p:nvPr/>
        </p:nvSpPr>
        <p:spPr>
          <a:xfrm>
            <a:off x="361950" y="533984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图象关于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是偶函数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42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65457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给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出函数的解析式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判断函数奇偶性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的步骤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NMG1TRA60.eps" descr="id:214752454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1512565" y="1969929"/>
            <a:ext cx="8280920" cy="399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9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513615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判断下列函数的奇偶性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|+|x+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的定义域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不关于原点对称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为非奇非偶函数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关于原点对称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=|-x-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|+|-x+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|=|x+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|+|x-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为偶函数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既是奇函数又是偶函数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10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函数</a:t>
            </a:r>
            <a:r>
              <a:rPr lang="zh-CN" altLang="zh-CN" dirty="0"/>
              <a:t>奇偶性的图象特征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58775" y="1655911"/>
            <a:ext cx="10700290" cy="3744416"/>
            <a:chOff x="358775" y="1655911"/>
            <a:chExt cx="10700290" cy="3744416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546629"/>
                </p:ext>
              </p:extLst>
            </p:nvPr>
          </p:nvGraphicFramePr>
          <p:xfrm>
            <a:off x="358775" y="2094904"/>
            <a:ext cx="4899025" cy="287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9" name="文档" r:id="rId4" imgW="1615679" imgH="943371" progId="Word.Document.12">
                    <p:embed/>
                  </p:oleObj>
                </mc:Choice>
                <mc:Fallback>
                  <p:oleObj name="文档" r:id="rId4" imgW="1615679" imgH="94337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58775" y="2094904"/>
                          <a:ext cx="4899025" cy="2873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" name="NMG1TRA61.eps" descr="id:2147495595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400997" y="1655911"/>
              <a:ext cx="5658068" cy="37444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801506"/>
              </p:ext>
            </p:extLst>
          </p:nvPr>
        </p:nvGraphicFramePr>
        <p:xfrm>
          <a:off x="504825" y="655638"/>
          <a:ext cx="11661775" cy="206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文档" r:id="rId4" imgW="3837724" imgH="684009" progId="Word.Document.12">
                  <p:embed/>
                </p:oleObj>
              </mc:Choice>
              <mc:Fallback>
                <p:oleObj name="文档" r:id="rId4" imgW="3837724" imgH="6840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655638"/>
                        <a:ext cx="11661775" cy="2065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NMG1TRA62.eps" descr="id:2147495602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2478165" y="2673199"/>
            <a:ext cx="5688632" cy="367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863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根据奇函数、偶函数的图象特征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可以解决作图问题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如果一个函数是偶函数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那么已知其在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轴一侧的部分图象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可以作出其关于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轴对称的部分图象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轴另一侧的图象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如果一个函数是奇函数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那么已知其在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轴一侧的部分图象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可以作出其关于原点对称的部分图象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轴另一侧的图象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12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595455"/>
            <a:ext cx="10807700" cy="2821176"/>
            <a:chOff x="361950" y="595455"/>
            <a:chExt cx="10807700" cy="282117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595455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已知奇函数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的定义域为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[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5,5],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其在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轴右侧的图象如图所示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写出使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的取值集合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pic>
          <p:nvPicPr>
            <p:cNvPr id="4" name="NMG1TRA63.eps" descr="id:2147495616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168749" y="1814903"/>
              <a:ext cx="4248472" cy="1601728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361950" y="3456111"/>
            <a:ext cx="11015711" cy="3046988"/>
            <a:chOff x="361950" y="3456111"/>
            <a:chExt cx="11015711" cy="304698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3456111"/>
              <a:ext cx="7703343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由于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奇函数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已知</a:t>
              </a:r>
              <a:r>
                <a:rPr lang="zh-CN" altLang="en-US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其在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右侧</a:t>
              </a:r>
              <a:r>
                <a:rPr lang="zh-CN" altLang="en-US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图象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结合奇函数图象关于原点对称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画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出</a:t>
              </a:r>
              <a:r>
                <a:rPr lang="zh-CN" altLang="en-US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其在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左侧</a:t>
              </a:r>
              <a:r>
                <a:rPr lang="zh-CN" altLang="en-US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图象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如图所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示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图象知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(0,2)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0;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5,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所以使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的取值集合为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5,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(0,2)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NMG1TRA64.eps" descr="id:2147495623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849269" y="3888159"/>
              <a:ext cx="3528392" cy="1346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290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函数</a:t>
            </a:r>
            <a:r>
              <a:rPr lang="zh-CN" altLang="zh-CN" dirty="0"/>
              <a:t>奇偶性的应用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598728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为偶函数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zh-CN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x+a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x+a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)·(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</a:p>
          <a:p>
            <a:pPr>
              <a:lnSpc>
                <a:spcPct val="120000"/>
              </a:lnSpc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-a=-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64779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是定义在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的解析式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是定义在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上的奇函数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(0),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209877"/>
              </p:ext>
            </p:extLst>
          </p:nvPr>
        </p:nvGraphicFramePr>
        <p:xfrm>
          <a:off x="442277" y="4781751"/>
          <a:ext cx="11671959" cy="155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" name="文档" r:id="rId4" imgW="3826872" imgH="509959" progId="Word.Document.12">
                  <p:embed/>
                </p:oleObj>
              </mc:Choice>
              <mc:Fallback>
                <p:oleObj name="文档" r:id="rId4" imgW="3826872" imgH="5099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77" y="4781751"/>
                        <a:ext cx="11671959" cy="155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243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62812" y="1376217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926326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)[1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32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13992"/>
            <a:ext cx="10807700" cy="54784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利用函数的奇偶性求参数值的常见类型及求解策略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函数的定义域含参数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根据定义域关于原点对称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可以利用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求参数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函数的解析式含参数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列式可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已知函数的奇偶性和函数在某区间上的解析式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求该函数在与已知区间关于原点对称的区间上的解析式时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首先设出所求区间上的自变量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利用奇函数、偶函数的定义域关于原点对称的特点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把它转化到已知解析式的区间上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代入已知的解析式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然后利用函数的奇偶性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647799"/>
            <a:ext cx="11804278" cy="4598680"/>
            <a:chOff x="361950" y="677295"/>
            <a:chExt cx="11804278" cy="459868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77295"/>
              <a:ext cx="10807700" cy="604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判断函数的奇偶性时忽视函数的定义域致错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7692479"/>
                </p:ext>
              </p:extLst>
            </p:nvPr>
          </p:nvGraphicFramePr>
          <p:xfrm>
            <a:off x="504453" y="1296113"/>
            <a:ext cx="11661775" cy="3979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0" name="文档" r:id="rId4" imgW="3837724" imgH="1312129" progId="Word.Document.12">
                    <p:embed/>
                  </p:oleObj>
                </mc:Choice>
                <mc:Fallback>
                  <p:oleObj name="文档" r:id="rId4" imgW="3837724" imgH="131212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1296113"/>
                          <a:ext cx="11661775" cy="39798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61950" y="5190798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00783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错解中忽视了对函数定义域的分析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事实上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由于定义域是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1,1],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不关于原点对称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此时再去研究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的关系是多余的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该函数一定是非奇非偶函数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61950" y="2906015"/>
            <a:ext cx="11807799" cy="2278288"/>
            <a:chOff x="361950" y="1681879"/>
            <a:chExt cx="11807799" cy="2278288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8149782"/>
                </p:ext>
              </p:extLst>
            </p:nvPr>
          </p:nvGraphicFramePr>
          <p:xfrm>
            <a:off x="497790" y="1681879"/>
            <a:ext cx="11671959" cy="991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0" name="文档" r:id="rId4" imgW="3826872" imgH="325238" progId="Word.Document.12">
                    <p:embed/>
                  </p:oleObj>
                </mc:Choice>
                <mc:Fallback>
                  <p:oleObj name="文档" r:id="rId4" imgW="3826872" imgH="32523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97790" y="1681879"/>
                          <a:ext cx="11671959" cy="991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742526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即函数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的定义域是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&lt;x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因为函数的定义域不关于坐标原点对称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所以该函数既不是奇函数又不是偶函数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290124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521727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给定函数的解析式判断其奇偶性时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求出函数的定义域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若定义域关于原点对称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研究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最后结合奇函数与偶函数的定义得出结论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若定义域不关于原点对称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则该函数就是非奇非偶函数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6850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414681"/>
              </p:ext>
            </p:extLst>
          </p:nvPr>
        </p:nvGraphicFramePr>
        <p:xfrm>
          <a:off x="410292" y="1007839"/>
          <a:ext cx="10607329" cy="99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4" name="文档" r:id="rId4" imgW="3477813" imgH="325959" progId="Word.Document.12">
                  <p:embed/>
                </p:oleObj>
              </mc:Choice>
              <mc:Fallback>
                <p:oleObj name="文档" r:id="rId4" imgW="3477813" imgH="3259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0292" y="1007839"/>
                        <a:ext cx="10607329" cy="994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059370"/>
              </p:ext>
            </p:extLst>
          </p:nvPr>
        </p:nvGraphicFramePr>
        <p:xfrm>
          <a:off x="410292" y="2087959"/>
          <a:ext cx="10607329" cy="2798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5" name="文档" r:id="rId7" imgW="3477813" imgH="917661" progId="Word.Document.12">
                  <p:embed/>
                </p:oleObj>
              </mc:Choice>
              <mc:Fallback>
                <p:oleObj name="文档" r:id="rId7" imgW="3477813" imgH="9176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0292" y="2087959"/>
                        <a:ext cx="10607329" cy="2798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601273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236644"/>
              </p:ext>
            </p:extLst>
          </p:nvPr>
        </p:nvGraphicFramePr>
        <p:xfrm>
          <a:off x="527050" y="1657350"/>
          <a:ext cx="11661775" cy="176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文档" r:id="rId4" imgW="3837724" imgH="585212" progId="Word.Document.12">
                  <p:embed/>
                </p:oleObj>
              </mc:Choice>
              <mc:Fallback>
                <p:oleObj name="文档" r:id="rId4" imgW="3837724" imgH="585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7050" y="1657350"/>
                        <a:ext cx="11661775" cy="176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452109" y="3535439"/>
            <a:ext cx="213712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68882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下列图象表示的函数中具有奇偶性的是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NMG1TRA65.eps" descr="id:214749567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520677" y="1353834"/>
            <a:ext cx="6408712" cy="4283879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/>
        </p:nvSpPr>
        <p:spPr>
          <a:xfrm>
            <a:off x="361950" y="5637713"/>
            <a:ext cx="1521570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67800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765623"/>
              </p:ext>
            </p:extLst>
          </p:nvPr>
        </p:nvGraphicFramePr>
        <p:xfrm>
          <a:off x="425782" y="1007839"/>
          <a:ext cx="11671959" cy="1624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name="文档" r:id="rId4" imgW="3826872" imgH="532600" progId="Word.Document.12">
                  <p:embed/>
                </p:oleObj>
              </mc:Choice>
              <mc:Fallback>
                <p:oleObj name="文档" r:id="rId4" imgW="3826872" imgH="5326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1007839"/>
                        <a:ext cx="11671959" cy="1624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2726199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A.0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	D.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由已知得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时有意义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43149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200757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04249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184414"/>
              </p:ext>
            </p:extLst>
          </p:nvPr>
        </p:nvGraphicFramePr>
        <p:xfrm>
          <a:off x="432445" y="1007839"/>
          <a:ext cx="11671959" cy="1700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0" name="文档" r:id="rId4" imgW="3826872" imgH="557397" progId="Word.Document.12">
                  <p:embed/>
                </p:oleObj>
              </mc:Choice>
              <mc:Fallback>
                <p:oleObj name="文档" r:id="rId4" imgW="3826872" imgH="5573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07839"/>
                        <a:ext cx="11671959" cy="1700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25634"/>
              </p:ext>
            </p:extLst>
          </p:nvPr>
        </p:nvGraphicFramePr>
        <p:xfrm>
          <a:off x="432445" y="2798207"/>
          <a:ext cx="11671959" cy="252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1" name="文档" r:id="rId7" imgW="3826872" imgH="829447" progId="Word.Document.12">
                  <p:embed/>
                </p:oleObj>
              </mc:Choice>
              <mc:Fallback>
                <p:oleObj name="文档" r:id="rId7" imgW="3826872" imgH="8294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798207"/>
                        <a:ext cx="11671959" cy="2529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826513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43</TotalTime>
  <Words>1586</Words>
  <Application>Microsoft Office PowerPoint</Application>
  <PresentationFormat>自定义</PresentationFormat>
  <Paragraphs>106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5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23</cp:revision>
  <dcterms:created xsi:type="dcterms:W3CDTF">2020-09-12T05:36:12Z</dcterms:created>
  <dcterms:modified xsi:type="dcterms:W3CDTF">2025-08-18T03:28:50Z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